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62"/>
  </p:notesMasterIdLst>
  <p:handoutMasterIdLst>
    <p:handoutMasterId r:id="rId63"/>
  </p:handoutMasterIdLst>
  <p:sldIdLst>
    <p:sldId id="689" r:id="rId3"/>
    <p:sldId id="691" r:id="rId4"/>
    <p:sldId id="692" r:id="rId5"/>
    <p:sldId id="697" r:id="rId6"/>
    <p:sldId id="703" r:id="rId7"/>
    <p:sldId id="704" r:id="rId8"/>
    <p:sldId id="696" r:id="rId9"/>
    <p:sldId id="701" r:id="rId10"/>
    <p:sldId id="693" r:id="rId11"/>
    <p:sldId id="694" r:id="rId12"/>
    <p:sldId id="695" r:id="rId13"/>
    <p:sldId id="718" r:id="rId14"/>
    <p:sldId id="711" r:id="rId15"/>
    <p:sldId id="705" r:id="rId16"/>
    <p:sldId id="707" r:id="rId17"/>
    <p:sldId id="706" r:id="rId18"/>
    <p:sldId id="708" r:id="rId19"/>
    <p:sldId id="709" r:id="rId20"/>
    <p:sldId id="710" r:id="rId21"/>
    <p:sldId id="712" r:id="rId22"/>
    <p:sldId id="713" r:id="rId23"/>
    <p:sldId id="714" r:id="rId24"/>
    <p:sldId id="715" r:id="rId25"/>
    <p:sldId id="716" r:id="rId26"/>
    <p:sldId id="717" r:id="rId27"/>
    <p:sldId id="719" r:id="rId28"/>
    <p:sldId id="720" r:id="rId29"/>
    <p:sldId id="721" r:id="rId30"/>
    <p:sldId id="722" r:id="rId31"/>
    <p:sldId id="723" r:id="rId32"/>
    <p:sldId id="724" r:id="rId33"/>
    <p:sldId id="725" r:id="rId34"/>
    <p:sldId id="726" r:id="rId35"/>
    <p:sldId id="727" r:id="rId36"/>
    <p:sldId id="728" r:id="rId37"/>
    <p:sldId id="729" r:id="rId38"/>
    <p:sldId id="730" r:id="rId39"/>
    <p:sldId id="731" r:id="rId40"/>
    <p:sldId id="732" r:id="rId41"/>
    <p:sldId id="733" r:id="rId42"/>
    <p:sldId id="738" r:id="rId43"/>
    <p:sldId id="334" r:id="rId44"/>
    <p:sldId id="512" r:id="rId45"/>
    <p:sldId id="511" r:id="rId46"/>
    <p:sldId id="513" r:id="rId47"/>
    <p:sldId id="515" r:id="rId48"/>
    <p:sldId id="517" r:id="rId49"/>
    <p:sldId id="518" r:id="rId50"/>
    <p:sldId id="520" r:id="rId51"/>
    <p:sldId id="527" r:id="rId52"/>
    <p:sldId id="739" r:id="rId53"/>
    <p:sldId id="740" r:id="rId54"/>
    <p:sldId id="741" r:id="rId55"/>
    <p:sldId id="735" r:id="rId56"/>
    <p:sldId id="734" r:id="rId57"/>
    <p:sldId id="736" r:id="rId58"/>
    <p:sldId id="737" r:id="rId59"/>
    <p:sldId id="699" r:id="rId60"/>
    <p:sldId id="698" r:id="rId61"/>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47" autoAdjust="0"/>
  </p:normalViewPr>
  <p:slideViewPr>
    <p:cSldViewPr>
      <p:cViewPr varScale="1">
        <p:scale>
          <a:sx n="106" d="100"/>
          <a:sy n="106" d="100"/>
        </p:scale>
        <p:origin x="1548" y="108"/>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9" name="Rectangle 5">
            <a:extLst>
              <a:ext uri="{FF2B5EF4-FFF2-40B4-BE49-F238E27FC236}">
                <a16:creationId xmlns:a16="http://schemas.microsoft.com/office/drawing/2014/main" id="{9A608628-FFB1-8733-B43A-913D3D49634E}"/>
              </a:ext>
            </a:extLst>
          </p:cNvPr>
          <p:cNvSpPr>
            <a:spLocks noGrp="1" noChangeArrowheads="1"/>
          </p:cNvSpPr>
          <p:nvPr>
            <p:ph type="body" idx="1"/>
          </p:nvPr>
        </p:nvSpPr>
        <p:spPr/>
        <p:txBody>
          <a:bodyPr/>
          <a:lstStyle/>
          <a:p>
            <a:r>
              <a:rPr lang="en-US" altLang="ja-JP">
                <a:latin typeface="Arial" panose="020B0604020202020204" pitchFamily="34" charset="0"/>
              </a:rPr>
              <a:t>Ở chương 4 sẽ xử lý những nội dung như sau.</a:t>
            </a:r>
          </a:p>
          <a:p>
            <a:endParaRPr lang="en-US" altLang="ja-JP">
              <a:latin typeface="Arial" panose="020B0604020202020204" pitchFamily="34" charset="0"/>
            </a:endParaRPr>
          </a:p>
          <a:p>
            <a:r>
              <a:rPr lang="en-US" altLang="ja-JP">
                <a:latin typeface="Arial" panose="020B0604020202020204" pitchFamily="34" charset="0"/>
              </a:rPr>
              <a:t>4.1</a:t>
            </a:r>
            <a:r>
              <a:rPr lang="ja-JP" altLang="en-US">
                <a:latin typeface="Arial" panose="020B0604020202020204" pitchFamily="34" charset="0"/>
              </a:rPr>
              <a:t>　</a:t>
            </a:r>
            <a:r>
              <a:rPr lang="en-US" altLang="ja-JP">
                <a:latin typeface="Arial" panose="020B0604020202020204" pitchFamily="34" charset="0"/>
              </a:rPr>
              <a:t>Loại toán tử</a:t>
            </a:r>
          </a:p>
          <a:p>
            <a:r>
              <a:rPr lang="en-US" altLang="ja-JP">
                <a:latin typeface="Arial" panose="020B0604020202020204" pitchFamily="34" charset="0"/>
              </a:rPr>
              <a:t>4.2</a:t>
            </a:r>
            <a:r>
              <a:rPr lang="ja-JP" altLang="en-US">
                <a:latin typeface="Arial" panose="020B0604020202020204" pitchFamily="34" charset="0"/>
              </a:rPr>
              <a:t>　</a:t>
            </a:r>
            <a:r>
              <a:rPr lang="en-US" altLang="ja-JP">
                <a:latin typeface="Arial" panose="020B0604020202020204" pitchFamily="34" charset="0"/>
              </a:rPr>
              <a:t>Toán tử số học</a:t>
            </a:r>
          </a:p>
          <a:p>
            <a:r>
              <a:rPr lang="en-US" altLang="ja-JP">
                <a:latin typeface="Arial" panose="020B0604020202020204" pitchFamily="34" charset="0"/>
              </a:rPr>
              <a:t>4.3</a:t>
            </a:r>
            <a:r>
              <a:rPr lang="ja-JP" altLang="en-US">
                <a:latin typeface="Arial" panose="020B0604020202020204" pitchFamily="34" charset="0"/>
              </a:rPr>
              <a:t>　</a:t>
            </a:r>
            <a:r>
              <a:rPr lang="en-US" altLang="ja-JP">
                <a:latin typeface="Arial" panose="020B0604020202020204" pitchFamily="34" charset="0"/>
              </a:rPr>
              <a:t>Toán tử gán</a:t>
            </a:r>
          </a:p>
          <a:p>
            <a:r>
              <a:rPr lang="en-US" altLang="ja-JP">
                <a:latin typeface="Arial" panose="020B0604020202020204" pitchFamily="34" charset="0"/>
              </a:rPr>
              <a:t>4.4</a:t>
            </a:r>
            <a:r>
              <a:rPr lang="ja-JP" altLang="en-US">
                <a:latin typeface="Arial" panose="020B0604020202020204" pitchFamily="34" charset="0"/>
              </a:rPr>
              <a:t>　</a:t>
            </a:r>
            <a:r>
              <a:rPr lang="en-US" altLang="ja-JP">
                <a:latin typeface="Arial" panose="020B0604020202020204" pitchFamily="34" charset="0"/>
              </a:rPr>
              <a:t>Toán tử increment</a:t>
            </a:r>
            <a:r>
              <a:rPr lang="ja-JP" altLang="en-US">
                <a:latin typeface="Arial" panose="020B0604020202020204" pitchFamily="34" charset="0"/>
              </a:rPr>
              <a:t>／</a:t>
            </a:r>
            <a:r>
              <a:rPr lang="en-US" altLang="ja-JP">
                <a:latin typeface="Arial" panose="020B0604020202020204" pitchFamily="34" charset="0"/>
              </a:rPr>
              <a:t>decrement</a:t>
            </a:r>
          </a:p>
          <a:p>
            <a:r>
              <a:rPr lang="en-US" altLang="ja-JP">
                <a:latin typeface="Arial" panose="020B0604020202020204" pitchFamily="34" charset="0"/>
              </a:rPr>
              <a:t>4.5</a:t>
            </a:r>
            <a:r>
              <a:rPr lang="ja-JP" altLang="en-US">
                <a:latin typeface="Arial" panose="020B0604020202020204" pitchFamily="34" charset="0"/>
              </a:rPr>
              <a:t>　</a:t>
            </a:r>
            <a:r>
              <a:rPr lang="en-US" altLang="ja-JP">
                <a:latin typeface="Arial" panose="020B0604020202020204" pitchFamily="34" charset="0"/>
              </a:rPr>
              <a:t>Toán tử quan hệ</a:t>
            </a:r>
          </a:p>
          <a:p>
            <a:r>
              <a:rPr lang="en-US" altLang="ja-JP">
                <a:latin typeface="Arial" panose="020B0604020202020204" pitchFamily="34" charset="0"/>
              </a:rPr>
              <a:t>4.6</a:t>
            </a:r>
            <a:r>
              <a:rPr lang="ja-JP" altLang="en-US">
                <a:latin typeface="Arial" panose="020B0604020202020204" pitchFamily="34" charset="0"/>
              </a:rPr>
              <a:t>　</a:t>
            </a:r>
            <a:r>
              <a:rPr lang="en-US" altLang="ja-JP">
                <a:latin typeface="Arial" panose="020B0604020202020204" pitchFamily="34" charset="0"/>
              </a:rPr>
              <a:t>Toán tử logic</a:t>
            </a:r>
          </a:p>
          <a:p>
            <a:r>
              <a:rPr lang="en-US" altLang="ja-JP">
                <a:latin typeface="Arial" panose="020B0604020202020204" pitchFamily="34" charset="0"/>
              </a:rPr>
              <a:t>4.7</a:t>
            </a:r>
            <a:r>
              <a:rPr lang="ja-JP" altLang="en-US">
                <a:latin typeface="Arial" panose="020B0604020202020204" pitchFamily="34" charset="0"/>
              </a:rPr>
              <a:t>　</a:t>
            </a:r>
            <a:r>
              <a:rPr lang="en-US" altLang="ja-JP">
                <a:latin typeface="Arial" panose="020B0604020202020204" pitchFamily="34" charset="0"/>
              </a:rPr>
              <a:t>【Bổ sung】Các toán tử khác</a:t>
            </a:r>
          </a:p>
          <a:p>
            <a:r>
              <a:rPr lang="en-US" altLang="ja-JP">
                <a:latin typeface="Arial" panose="020B0604020202020204" pitchFamily="34" charset="0"/>
              </a:rPr>
              <a:t>4.8</a:t>
            </a:r>
            <a:r>
              <a:rPr lang="ja-JP" altLang="en-US">
                <a:latin typeface="Arial" panose="020B0604020202020204" pitchFamily="34" charset="0"/>
              </a:rPr>
              <a:t>　</a:t>
            </a:r>
            <a:r>
              <a:rPr lang="en-US" altLang="ja-JP">
                <a:latin typeface="Arial" panose="020B0604020202020204" pitchFamily="34" charset="0"/>
              </a:rPr>
              <a:t>trật tự ưu tiên của toán tử</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a:extLst>
              <a:ext uri="{FF2B5EF4-FFF2-40B4-BE49-F238E27FC236}">
                <a16:creationId xmlns:a16="http://schemas.microsoft.com/office/drawing/2014/main" id="{4D9D6411-B483-0EB0-B42E-06C6B255C2B2}"/>
              </a:ext>
            </a:extLst>
          </p:cNvPr>
          <p:cNvSpPr>
            <a:spLocks noRot="1" noChangeAspect="1" noChangeArrowheads="1" noTextEdit="1"/>
          </p:cNvSpPr>
          <p:nvPr>
            <p:ph type="sldImg"/>
          </p:nvPr>
        </p:nvSpPr>
        <p:spPr>
          <a:ln/>
        </p:spPr>
      </p:sp>
      <p:sp>
        <p:nvSpPr>
          <p:cNvPr id="693251" name="Rectangle 3">
            <a:extLst>
              <a:ext uri="{FF2B5EF4-FFF2-40B4-BE49-F238E27FC236}">
                <a16:creationId xmlns:a16="http://schemas.microsoft.com/office/drawing/2014/main" id="{322C9FFC-65E0-85FB-FB52-E9394A9B8866}"/>
              </a:ext>
            </a:extLst>
          </p:cNvPr>
          <p:cNvSpPr>
            <a:spLocks noGrp="1" noChangeArrowheads="1"/>
          </p:cNvSpPr>
          <p:nvPr>
            <p:ph type="body" idx="1"/>
          </p:nvPr>
        </p:nvSpPr>
        <p:spPr/>
        <p:txBody>
          <a:bodyPr/>
          <a:lstStyle/>
          <a:p>
            <a:pPr marL="0" indent="0"/>
            <a:r>
              <a:rPr lang="en-US" altLang="ja-JP"/>
              <a:t>■</a:t>
            </a:r>
            <a:r>
              <a:rPr lang="ja-JP" altLang="en-US">
                <a:latin typeface="Arial" panose="020B0604020202020204" pitchFamily="34" charset="0"/>
              </a:rPr>
              <a:t>　</a:t>
            </a:r>
            <a:r>
              <a:rPr lang="en-US" altLang="ja-JP">
                <a:latin typeface="Arial" panose="020B0604020202020204" pitchFamily="34" charset="0"/>
              </a:rPr>
              <a:t>Toán tử là</a:t>
            </a:r>
          </a:p>
          <a:p>
            <a:pPr marL="0" indent="0"/>
            <a:r>
              <a:rPr lang="ja-JP" altLang="en-US">
                <a:latin typeface="Arial" panose="020B0604020202020204" pitchFamily="34" charset="0"/>
              </a:rPr>
              <a:t>　</a:t>
            </a:r>
            <a:r>
              <a:rPr lang="en-US" altLang="ja-JP">
                <a:latin typeface="Arial" panose="020B0604020202020204" pitchFamily="34" charset="0"/>
              </a:rPr>
              <a:t>Computer sẽ thực hiện rất nhiều loại xử lý tính toán như phép cộng và phép nhân, so sánh lớn nhỏ của giá trị.</a:t>
            </a:r>
          </a:p>
          <a:p>
            <a:pPr marL="0" indent="0"/>
            <a:r>
              <a:rPr lang="ja-JP" altLang="en-US">
                <a:latin typeface="Arial" panose="020B0604020202020204" pitchFamily="34" charset="0"/>
              </a:rPr>
              <a:t>　</a:t>
            </a:r>
            <a:r>
              <a:rPr lang="en-US" altLang="ja-JP">
                <a:latin typeface="Arial" panose="020B0604020202020204" pitchFamily="34" charset="0"/>
              </a:rPr>
              <a:t>Gọi các xử lý tính toán này là phép toán (operation).</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Toán tử là kí hiệu chỉ định xem sẽ thực hiện loại phép toán nào.</a:t>
            </a:r>
          </a:p>
          <a:p>
            <a:pPr marL="0" indent="0"/>
            <a:r>
              <a:rPr lang="ja-JP" altLang="en-US">
                <a:latin typeface="Arial" panose="020B0604020202020204" pitchFamily="34" charset="0"/>
              </a:rPr>
              <a:t>　</a:t>
            </a:r>
            <a:r>
              <a:rPr lang="en-US" altLang="ja-JP">
                <a:latin typeface="Arial" panose="020B0604020202020204" pitchFamily="34" charset="0"/>
              </a:rPr>
              <a:t>Toán tử cũng được gọi là operator, được sử dụng tại biểu thức.</a:t>
            </a:r>
          </a:p>
          <a:p>
            <a:pPr marL="0" indent="0"/>
            <a:r>
              <a:rPr lang="ja-JP" altLang="en-US">
                <a:latin typeface="Arial" panose="020B0604020202020204" pitchFamily="34" charset="0"/>
              </a:rPr>
              <a:t>　</a:t>
            </a:r>
            <a:r>
              <a:rPr lang="en-US" altLang="ja-JP">
                <a:latin typeface="Arial" panose="020B0604020202020204" pitchFamily="34" charset="0"/>
              </a:rPr>
              <a:t>Trong biểu thức, gọi giá trị và biến số, biểu thức đối tượng của phép toán là operand.</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Loại toán tử</a:t>
            </a:r>
          </a:p>
          <a:p>
            <a:pPr marL="0" indent="0"/>
            <a:r>
              <a:rPr lang="ja-JP" altLang="en-US">
                <a:latin typeface="Arial" panose="020B0604020202020204" pitchFamily="34" charset="0"/>
              </a:rPr>
              <a:t>　</a:t>
            </a:r>
            <a:r>
              <a:rPr lang="en-US" altLang="ja-JP">
                <a:latin typeface="Arial" panose="020B0604020202020204" pitchFamily="34" charset="0"/>
              </a:rPr>
              <a:t>Ở toán tử biểu diễn mà sử dụng bằng Java thì có những nội dung sau:</a:t>
            </a:r>
          </a:p>
          <a:p>
            <a:pPr marL="0" indent="0"/>
            <a:endParaRPr lang="en-US" altLang="ja-JP">
              <a:latin typeface="Arial" panose="020B0604020202020204" pitchFamily="34" charset="0"/>
            </a:endParaRPr>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r>
              <a:rPr lang="ja-JP" altLang="en-US">
                <a:latin typeface="Arial" panose="020B0604020202020204" pitchFamily="34" charset="0"/>
              </a:rPr>
              <a:t>　</a:t>
            </a:r>
            <a:r>
              <a:rPr lang="en-US" altLang="ja-JP">
                <a:latin typeface="Arial" panose="020B0604020202020204" pitchFamily="34" charset="0"/>
              </a:rPr>
              <a:t>Cũng có toán tử gán phức hợp (compound assignment operator) mà đã kết hợp toán tử gán và các toán tử khác</a:t>
            </a:r>
            <a:r>
              <a:rPr lang="ja-JP" altLang="en-US">
                <a:latin typeface="Arial" panose="020B0604020202020204" pitchFamily="34" charset="0"/>
              </a:rPr>
              <a:t>（</a:t>
            </a:r>
            <a:r>
              <a:rPr lang="en-US" altLang="ja-JP">
                <a:latin typeface="Arial" panose="020B0604020202020204" pitchFamily="34" charset="0"/>
              </a:rPr>
              <a:t>ví dụ như </a:t>
            </a:r>
            <a:r>
              <a:rPr lang="en-US" altLang="ja-JP">
                <a:latin typeface="Arial" panose="020B0604020202020204" pitchFamily="34" charset="0"/>
                <a:ea typeface="ＭＳ ゴシック" panose="020B0609070205080204" pitchFamily="49" charset="-128"/>
              </a:rPr>
              <a:t>+=, *=</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p>
          <a:p>
            <a:pPr marL="0" indent="0"/>
            <a:endParaRPr lang="en-US" altLang="ja-JP"/>
          </a:p>
        </p:txBody>
      </p:sp>
      <p:graphicFrame>
        <p:nvGraphicFramePr>
          <p:cNvPr id="693314" name="Group 66">
            <a:extLst>
              <a:ext uri="{FF2B5EF4-FFF2-40B4-BE49-F238E27FC236}">
                <a16:creationId xmlns:a16="http://schemas.microsoft.com/office/drawing/2014/main" id="{E09A9D12-6C41-E085-9482-F1B3C74CE63E}"/>
              </a:ext>
            </a:extLst>
          </p:cNvPr>
          <p:cNvGraphicFramePr>
            <a:graphicFrameLocks noGrp="1"/>
          </p:cNvGraphicFramePr>
          <p:nvPr/>
        </p:nvGraphicFramePr>
        <p:xfrm>
          <a:off x="701675" y="7018338"/>
          <a:ext cx="5719763" cy="2271717"/>
        </p:xfrm>
        <a:graphic>
          <a:graphicData uri="http://schemas.openxmlformats.org/drawingml/2006/table">
            <a:tbl>
              <a:tblPr/>
              <a:tblGrid>
                <a:gridCol w="2230438">
                  <a:extLst>
                    <a:ext uri="{9D8B030D-6E8A-4147-A177-3AD203B41FA5}">
                      <a16:colId xmlns:a16="http://schemas.microsoft.com/office/drawing/2014/main" val="1039312496"/>
                    </a:ext>
                  </a:extLst>
                </a:gridCol>
                <a:gridCol w="3489325">
                  <a:extLst>
                    <a:ext uri="{9D8B030D-6E8A-4147-A177-3AD203B41FA5}">
                      <a16:colId xmlns:a16="http://schemas.microsoft.com/office/drawing/2014/main" val="3611757256"/>
                    </a:ext>
                  </a:extLst>
                </a:gridCol>
              </a:tblGrid>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Loại phép toán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Toán tử</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159828909"/>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số học</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  *  /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574497"/>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gán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15753870"/>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increment</a:t>
                      </a:r>
                      <a:r>
                        <a:rPr kumimoji="1" lang="ja-JP" altLang="en-US"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decrement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9919219"/>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quan hệ</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&gt;  &gt;=  &lt;  &lt;=  ==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25716185"/>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logic</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&amp;&amp;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96705238"/>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bit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&amp;  |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45114176"/>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shift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&lt;&lt;  &gt;&gt;  &gt;&gt;&gt;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66275212"/>
                  </a:ext>
                </a:extLst>
              </a:tr>
              <a:tr h="252413">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Các toán tử khác</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  [ ]  new  instanceof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24824536"/>
                  </a:ext>
                </a:extLst>
              </a:tr>
            </a:tbl>
          </a:graphicData>
        </a:graphic>
      </p:graphicFrame>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EF167BA5-5942-0F45-BCAF-D40F087AADB3}"/>
              </a:ext>
            </a:extLst>
          </p:cNvPr>
          <p:cNvSpPr>
            <a:spLocks noRot="1" noChangeAspect="1" noChangeArrowheads="1" noTextEdit="1"/>
          </p:cNvSpPr>
          <p:nvPr>
            <p:ph type="sldImg"/>
          </p:nvPr>
        </p:nvSpPr>
        <p:spPr>
          <a:ln/>
        </p:spPr>
      </p:sp>
      <p:sp>
        <p:nvSpPr>
          <p:cNvPr id="691203" name="Rectangle 3">
            <a:extLst>
              <a:ext uri="{FF2B5EF4-FFF2-40B4-BE49-F238E27FC236}">
                <a16:creationId xmlns:a16="http://schemas.microsoft.com/office/drawing/2014/main" id="{127494C7-48AC-443D-2C6C-0B04A829070E}"/>
              </a:ext>
            </a:extLst>
          </p:cNvPr>
          <p:cNvSpPr>
            <a:spLocks noGrp="1" noChangeArrowheads="1"/>
          </p:cNvSpPr>
          <p:nvPr>
            <p:ph type="body" idx="1"/>
          </p:nvPr>
        </p:nvSpPr>
        <p:spPr/>
        <p:txBody>
          <a:bodyPr/>
          <a:lstStyle/>
          <a:p>
            <a:pPr marL="0" indent="0"/>
            <a:r>
              <a:rPr lang="en-US" altLang="ja-JP"/>
              <a:t>■</a:t>
            </a:r>
            <a:r>
              <a:rPr lang="ja-JP" altLang="en-US">
                <a:latin typeface="Arial" panose="020B0604020202020204" pitchFamily="34" charset="0"/>
              </a:rPr>
              <a:t>　</a:t>
            </a:r>
            <a:r>
              <a:rPr lang="en-US" altLang="ja-JP">
                <a:latin typeface="Arial" panose="020B0604020202020204" pitchFamily="34" charset="0"/>
              </a:rPr>
              <a:t>Phép toán số học</a:t>
            </a:r>
          </a:p>
          <a:p>
            <a:pPr marL="0" indent="0"/>
            <a:r>
              <a:rPr lang="ja-JP" altLang="en-US">
                <a:latin typeface="Arial" panose="020B0604020202020204" pitchFamily="34" charset="0"/>
              </a:rPr>
              <a:t>　</a:t>
            </a:r>
            <a:r>
              <a:rPr lang="en-US" altLang="ja-JP">
                <a:latin typeface="Arial" panose="020B0604020202020204" pitchFamily="34" charset="0"/>
              </a:rPr>
              <a:t>Các phép toán số học như cộng trừ nhân chia sẽ là một trong những xử lý được thực hiện nhiều nhất bởi program.</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Ví dụ</a:t>
            </a:r>
          </a:p>
          <a:p>
            <a:pPr marL="0" indent="0"/>
            <a:endParaRPr lang="en-US" altLang="ja-JP">
              <a:latin typeface="Arial" panose="020B0604020202020204" pitchFamily="34" charset="0"/>
            </a:endParaRPr>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endParaRPr lang="en-US" altLang="ja-JP"/>
          </a:p>
          <a:p>
            <a:pPr marL="0" indent="0"/>
            <a:r>
              <a:rPr lang="en-US" altLang="ja-JP"/>
              <a:t>●</a:t>
            </a:r>
            <a:r>
              <a:rPr lang="ja-JP" altLang="en-US"/>
              <a:t>　</a:t>
            </a:r>
            <a:r>
              <a:rPr lang="en-US" altLang="ja-JP">
                <a:latin typeface="Arial" panose="020B0604020202020204" pitchFamily="34" charset="0"/>
              </a:rPr>
              <a:t>Kết quả thực hiện</a:t>
            </a:r>
          </a:p>
          <a:p>
            <a:pPr marL="0" indent="0"/>
            <a:endParaRPr lang="en-US" altLang="ja-JP"/>
          </a:p>
          <a:p>
            <a:pPr marL="0" indent="0"/>
            <a:endParaRPr lang="en-US" altLang="ja-JP"/>
          </a:p>
        </p:txBody>
      </p:sp>
      <p:sp>
        <p:nvSpPr>
          <p:cNvPr id="691213" name="Text Box 13">
            <a:extLst>
              <a:ext uri="{FF2B5EF4-FFF2-40B4-BE49-F238E27FC236}">
                <a16:creationId xmlns:a16="http://schemas.microsoft.com/office/drawing/2014/main" id="{25589BD6-8F49-EFB2-5BAB-94379098F992}"/>
              </a:ext>
            </a:extLst>
          </p:cNvPr>
          <p:cNvSpPr txBox="1">
            <a:spLocks noChangeArrowheads="1"/>
          </p:cNvSpPr>
          <p:nvPr/>
        </p:nvSpPr>
        <p:spPr bwMode="auto">
          <a:xfrm>
            <a:off x="719138" y="6018213"/>
            <a:ext cx="5770562" cy="11779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60363"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en-US" b="0">
                <a:ea typeface="ＭＳ ゴシック" panose="020B0609070205080204" pitchFamily="49" charset="-128"/>
              </a:rPr>
              <a:t>int x = 5, y = 3;</a:t>
            </a:r>
          </a:p>
          <a:p>
            <a:pPr lvl="1" algn="just">
              <a:spcBef>
                <a:spcPct val="10000"/>
              </a:spcBef>
              <a:buFontTx/>
              <a:buAutoNum type="arabicPeriod"/>
            </a:pPr>
            <a:r>
              <a:rPr lang="en-US" altLang="en-US" b="0">
                <a:ea typeface="ＭＳ ゴシック" panose="020B0609070205080204" pitchFamily="49" charset="-128"/>
              </a:rPr>
              <a:t>System.out.println(x + y);</a:t>
            </a:r>
          </a:p>
          <a:p>
            <a:pPr lvl="1" algn="just">
              <a:spcBef>
                <a:spcPct val="10000"/>
              </a:spcBef>
              <a:buFontTx/>
              <a:buAutoNum type="arabicPeriod"/>
            </a:pPr>
            <a:r>
              <a:rPr lang="en-US" altLang="en-US" b="0">
                <a:ea typeface="ＭＳ ゴシック" panose="020B0609070205080204" pitchFamily="49" charset="-128"/>
              </a:rPr>
              <a:t>System.out.println(x - y);</a:t>
            </a:r>
          </a:p>
          <a:p>
            <a:pPr lvl="1" algn="just">
              <a:spcBef>
                <a:spcPct val="10000"/>
              </a:spcBef>
              <a:buFontTx/>
              <a:buAutoNum type="arabicPeriod"/>
            </a:pPr>
            <a:r>
              <a:rPr lang="en-US" altLang="en-US" b="0">
                <a:ea typeface="ＭＳ ゴシック" panose="020B0609070205080204" pitchFamily="49" charset="-128"/>
              </a:rPr>
              <a:t>System.out.println(x * y);</a:t>
            </a:r>
          </a:p>
          <a:p>
            <a:pPr lvl="1" algn="just">
              <a:spcBef>
                <a:spcPct val="10000"/>
              </a:spcBef>
              <a:buFontTx/>
              <a:buAutoNum type="arabicPeriod"/>
            </a:pPr>
            <a:r>
              <a:rPr lang="en-US" altLang="en-US" b="0">
                <a:ea typeface="ＭＳ ゴシック" panose="020B0609070205080204" pitchFamily="49" charset="-128"/>
              </a:rPr>
              <a:t>System.out.println(x / y);</a:t>
            </a:r>
          </a:p>
          <a:p>
            <a:pPr lvl="1" algn="just">
              <a:spcBef>
                <a:spcPct val="10000"/>
              </a:spcBef>
              <a:buFontTx/>
              <a:buAutoNum type="arabicPeriod"/>
            </a:pPr>
            <a:r>
              <a:rPr lang="en-US" altLang="en-US" b="0">
                <a:ea typeface="ＭＳ ゴシック" panose="020B0609070205080204" pitchFamily="49" charset="-128"/>
              </a:rPr>
              <a:t>System.out.println(x % y);</a:t>
            </a:r>
            <a:r>
              <a:rPr lang="en-US" altLang="ja-JP" b="0">
                <a:ea typeface="ＭＳ ゴシック" panose="020B0609070205080204" pitchFamily="49" charset="-128"/>
              </a:rPr>
              <a:t>	</a:t>
            </a:r>
            <a:r>
              <a:rPr lang="en-US" altLang="en-US" b="0">
                <a:ea typeface="ＭＳ ゴシック" panose="020B0609070205080204" pitchFamily="49" charset="-128"/>
              </a:rPr>
              <a:t>	// 5÷3 → thương là 1, dư 2</a:t>
            </a:r>
          </a:p>
        </p:txBody>
      </p:sp>
      <p:sp>
        <p:nvSpPr>
          <p:cNvPr id="691214" name="Text Box 14">
            <a:extLst>
              <a:ext uri="{FF2B5EF4-FFF2-40B4-BE49-F238E27FC236}">
                <a16:creationId xmlns:a16="http://schemas.microsoft.com/office/drawing/2014/main" id="{B23C9FE1-E9A2-1505-C85F-A75EE5E0F580}"/>
              </a:ext>
            </a:extLst>
          </p:cNvPr>
          <p:cNvSpPr txBox="1">
            <a:spLocks noChangeArrowheads="1"/>
          </p:cNvSpPr>
          <p:nvPr/>
        </p:nvSpPr>
        <p:spPr bwMode="auto">
          <a:xfrm>
            <a:off x="719138" y="7739063"/>
            <a:ext cx="5794375" cy="8890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s-ES" altLang="ja-JP" b="0">
                <a:latin typeface="ＭＳ ゴシック" panose="020B0609070205080204" pitchFamily="49" charset="-128"/>
                <a:ea typeface="ＭＳ ゴシック" panose="020B0609070205080204" pitchFamily="49" charset="-128"/>
              </a:rPr>
              <a:t>8</a:t>
            </a:r>
          </a:p>
          <a:p>
            <a:pPr lvl="1" algn="just"/>
            <a:r>
              <a:rPr lang="es-ES" altLang="ja-JP" b="0">
                <a:latin typeface="ＭＳ ゴシック" panose="020B0609070205080204" pitchFamily="49" charset="-128"/>
                <a:ea typeface="ＭＳ ゴシック" panose="020B0609070205080204" pitchFamily="49" charset="-128"/>
              </a:rPr>
              <a:t>2</a:t>
            </a:r>
          </a:p>
          <a:p>
            <a:pPr lvl="1" algn="just"/>
            <a:r>
              <a:rPr lang="es-ES" altLang="ja-JP" b="0">
                <a:latin typeface="ＭＳ ゴシック" panose="020B0609070205080204" pitchFamily="49" charset="-128"/>
                <a:ea typeface="ＭＳ ゴシック" panose="020B0609070205080204" pitchFamily="49" charset="-128"/>
              </a:rPr>
              <a:t>15</a:t>
            </a:r>
          </a:p>
          <a:p>
            <a:pPr lvl="1" algn="just"/>
            <a:r>
              <a:rPr lang="es-ES" altLang="ja-JP" b="0">
                <a:latin typeface="ＭＳ ゴシック" panose="020B0609070205080204" pitchFamily="49" charset="-128"/>
                <a:ea typeface="ＭＳ ゴシック" panose="020B0609070205080204" pitchFamily="49" charset="-128"/>
              </a:rPr>
              <a:t>1</a:t>
            </a:r>
          </a:p>
          <a:p>
            <a:pPr lvl="1" algn="just"/>
            <a:r>
              <a:rPr lang="es-ES" altLang="ja-JP" b="0">
                <a:latin typeface="ＭＳ ゴシック" panose="020B0609070205080204" pitchFamily="49" charset="-128"/>
                <a:ea typeface="ＭＳ ゴシック" panose="020B0609070205080204" pitchFamily="49" charset="-128"/>
              </a:rPr>
              <a:t>2</a:t>
            </a:r>
            <a:endParaRPr lang="en-US" altLang="ja-JP" b="0">
              <a:latin typeface="ＭＳ ゴシック" panose="020B0609070205080204" pitchFamily="49" charset="-128"/>
              <a:ea typeface="ＭＳ ゴシック" panose="020B0609070205080204" pitchFamily="49"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a:extLst>
              <a:ext uri="{FF2B5EF4-FFF2-40B4-BE49-F238E27FC236}">
                <a16:creationId xmlns:a16="http://schemas.microsoft.com/office/drawing/2014/main" id="{FDB24765-F35D-61C5-1DB7-8429E36D5A55}"/>
              </a:ext>
            </a:extLst>
          </p:cNvPr>
          <p:cNvSpPr>
            <a:spLocks noRot="1" noChangeAspect="1" noChangeArrowheads="1" noTextEdit="1"/>
          </p:cNvSpPr>
          <p:nvPr>
            <p:ph type="sldImg"/>
          </p:nvPr>
        </p:nvSpPr>
        <p:spPr>
          <a:ln/>
        </p:spPr>
      </p:sp>
      <p:sp>
        <p:nvSpPr>
          <p:cNvPr id="695299" name="Rectangle 3">
            <a:extLst>
              <a:ext uri="{FF2B5EF4-FFF2-40B4-BE49-F238E27FC236}">
                <a16:creationId xmlns:a16="http://schemas.microsoft.com/office/drawing/2014/main" id="{AB389EA3-D3A3-0FC4-B018-CF08BDE0CF8C}"/>
              </a:ext>
            </a:extLst>
          </p:cNvPr>
          <p:cNvSpPr>
            <a:spLocks noGrp="1" noChangeArrowheads="1"/>
          </p:cNvSpPr>
          <p:nvPr>
            <p:ph type="body" idx="1"/>
          </p:nvPr>
        </p:nvSpPr>
        <p:spPr/>
        <p:txBody>
          <a:bodyPr/>
          <a:lstStyle/>
          <a:p>
            <a:pPr marL="0" indent="0"/>
            <a:r>
              <a:rPr lang="en-US" altLang="ja-JP"/>
              <a:t>■</a:t>
            </a:r>
            <a:r>
              <a:rPr lang="ja-JP" altLang="en-US"/>
              <a:t>　</a:t>
            </a:r>
            <a:r>
              <a:rPr lang="en-US" altLang="ja-JP">
                <a:latin typeface="Arial" panose="020B0604020202020204" pitchFamily="34" charset="0"/>
              </a:rPr>
              <a:t>Toán tử gán</a:t>
            </a:r>
          </a:p>
          <a:p>
            <a:pPr marL="0" indent="0"/>
            <a:r>
              <a:rPr lang="ja-JP" altLang="en-US">
                <a:latin typeface="Arial" panose="020B0604020202020204" pitchFamily="34" charset="0"/>
              </a:rPr>
              <a:t>　</a:t>
            </a:r>
            <a:r>
              <a:rPr lang="en-US" altLang="ja-JP">
                <a:latin typeface="Arial" panose="020B0604020202020204" pitchFamily="34" charset="0"/>
              </a:rPr>
              <a:t>Sử dụng khi thực hiện gán giá trị đối với một biến số.</a:t>
            </a:r>
          </a:p>
          <a:p>
            <a:pPr marL="0" indent="0"/>
            <a:r>
              <a:rPr lang="ja-JP" altLang="en-US">
                <a:latin typeface="Arial" panose="020B0604020202020204" pitchFamily="34" charset="0"/>
              </a:rPr>
              <a:t>　</a:t>
            </a:r>
            <a:r>
              <a:rPr lang="en-US" altLang="ja-JP">
                <a:latin typeface="Arial" panose="020B0604020202020204" pitchFamily="34" charset="0"/>
              </a:rPr>
              <a:t>Phần biểu diễn mà có thể gán vào một biến số là biến số, literal, biểu thức.</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Ví dụ</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Kết quả thực hiện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695300" name="Text Box 4">
            <a:extLst>
              <a:ext uri="{FF2B5EF4-FFF2-40B4-BE49-F238E27FC236}">
                <a16:creationId xmlns:a16="http://schemas.microsoft.com/office/drawing/2014/main" id="{6E9717A8-3FAF-4E00-316D-7AE689AD1E9D}"/>
              </a:ext>
            </a:extLst>
          </p:cNvPr>
          <p:cNvSpPr txBox="1">
            <a:spLocks noChangeArrowheads="1"/>
          </p:cNvSpPr>
          <p:nvPr/>
        </p:nvSpPr>
        <p:spPr bwMode="auto">
          <a:xfrm>
            <a:off x="719138" y="6218238"/>
            <a:ext cx="5770562" cy="8445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60363"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en-US" b="0">
                <a:ea typeface="ＭＳ ゴシック" panose="020B0609070205080204" pitchFamily="49" charset="-128"/>
              </a:rPr>
              <a:t>int x = 5;</a:t>
            </a:r>
          </a:p>
          <a:p>
            <a:pPr lvl="1" algn="just">
              <a:spcBef>
                <a:spcPct val="10000"/>
              </a:spcBef>
              <a:buFontTx/>
              <a:buAutoNum type="arabicPeriod"/>
            </a:pPr>
            <a:r>
              <a:rPr lang="en-US" altLang="en-US" b="0">
                <a:ea typeface="ＭＳ ゴシック" panose="020B0609070205080204" pitchFamily="49" charset="-128"/>
              </a:rPr>
              <a:t>int y = x;</a:t>
            </a:r>
          </a:p>
          <a:p>
            <a:pPr lvl="1" algn="just">
              <a:spcBef>
                <a:spcPct val="10000"/>
              </a:spcBef>
              <a:buFontTx/>
              <a:buAutoNum type="arabicPeriod"/>
            </a:pPr>
            <a:r>
              <a:rPr lang="en-US" altLang="en-US" b="0">
                <a:ea typeface="ＭＳ ゴシック" panose="020B0609070205080204" pitchFamily="49" charset="-128"/>
              </a:rPr>
              <a:t>System.out.println(x);</a:t>
            </a:r>
          </a:p>
          <a:p>
            <a:pPr lvl="1" algn="just">
              <a:spcBef>
                <a:spcPct val="10000"/>
              </a:spcBef>
              <a:buFontTx/>
              <a:buAutoNum type="arabicPeriod"/>
            </a:pPr>
            <a:r>
              <a:rPr lang="en-US" altLang="en-US" b="0">
                <a:ea typeface="ＭＳ ゴシック" panose="020B0609070205080204" pitchFamily="49" charset="-128"/>
              </a:rPr>
              <a:t>System.out.println(y);</a:t>
            </a:r>
          </a:p>
        </p:txBody>
      </p:sp>
      <p:sp>
        <p:nvSpPr>
          <p:cNvPr id="695301" name="Text Box 5">
            <a:extLst>
              <a:ext uri="{FF2B5EF4-FFF2-40B4-BE49-F238E27FC236}">
                <a16:creationId xmlns:a16="http://schemas.microsoft.com/office/drawing/2014/main" id="{DDA639E4-7AEE-3FC9-F4A5-5378420CC449}"/>
              </a:ext>
            </a:extLst>
          </p:cNvPr>
          <p:cNvSpPr txBox="1">
            <a:spLocks noChangeArrowheads="1"/>
          </p:cNvSpPr>
          <p:nvPr/>
        </p:nvSpPr>
        <p:spPr bwMode="auto">
          <a:xfrm>
            <a:off x="719138" y="7653338"/>
            <a:ext cx="5794375" cy="46037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latin typeface="ＭＳ ゴシック" panose="020B0609070205080204" pitchFamily="49" charset="-128"/>
                <a:ea typeface="ＭＳ ゴシック" panose="020B0609070205080204" pitchFamily="49" charset="-128"/>
              </a:rPr>
              <a:t>5</a:t>
            </a:r>
          </a:p>
          <a:p>
            <a:pPr lvl="1" algn="just"/>
            <a:r>
              <a:rPr lang="en-US" altLang="ja-JP" b="0">
                <a:latin typeface="ＭＳ ゴシック" panose="020B0609070205080204" pitchFamily="49" charset="-128"/>
                <a:ea typeface="ＭＳ ゴシック" panose="020B0609070205080204" pitchFamily="49" charset="-128"/>
              </a:rPr>
              <a:t>5</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a:extLst>
              <a:ext uri="{FF2B5EF4-FFF2-40B4-BE49-F238E27FC236}">
                <a16:creationId xmlns:a16="http://schemas.microsoft.com/office/drawing/2014/main" id="{35B398B0-077C-2BCC-2D72-6EC16030FFB0}"/>
              </a:ext>
            </a:extLst>
          </p:cNvPr>
          <p:cNvSpPr>
            <a:spLocks noRot="1" noChangeAspect="1" noChangeArrowheads="1" noTextEdit="1"/>
          </p:cNvSpPr>
          <p:nvPr>
            <p:ph type="sldImg"/>
          </p:nvPr>
        </p:nvSpPr>
        <p:spPr>
          <a:ln/>
        </p:spPr>
      </p:sp>
      <p:sp>
        <p:nvSpPr>
          <p:cNvPr id="699395" name="Rectangle 3">
            <a:extLst>
              <a:ext uri="{FF2B5EF4-FFF2-40B4-BE49-F238E27FC236}">
                <a16:creationId xmlns:a16="http://schemas.microsoft.com/office/drawing/2014/main" id="{DD0AABD7-B0B9-EF45-B404-1F932719F247}"/>
              </a:ext>
            </a:extLst>
          </p:cNvPr>
          <p:cNvSpPr>
            <a:spLocks noGrp="1" noChangeArrowheads="1"/>
          </p:cNvSpPr>
          <p:nvPr>
            <p:ph type="body" idx="1"/>
          </p:nvPr>
        </p:nvSpPr>
        <p:spPr/>
        <p:txBody>
          <a:bodyPr/>
          <a:lstStyle/>
          <a:p>
            <a:pPr marL="0" indent="0"/>
            <a:r>
              <a:rPr lang="en-US" altLang="ja-JP"/>
              <a:t>■</a:t>
            </a:r>
            <a:r>
              <a:rPr lang="ja-JP" altLang="en-US"/>
              <a:t>　</a:t>
            </a:r>
            <a:r>
              <a:rPr lang="en-US" altLang="ja-JP">
                <a:latin typeface="Arial" panose="020B0604020202020204" pitchFamily="34" charset="0"/>
              </a:rPr>
              <a:t>Toán tử increment/decrement</a:t>
            </a:r>
          </a:p>
          <a:p>
            <a:pPr marL="0" indent="0"/>
            <a:r>
              <a:rPr lang="ja-JP" altLang="en-US">
                <a:latin typeface="Arial" panose="020B0604020202020204" pitchFamily="34" charset="0"/>
              </a:rPr>
              <a:t>　</a:t>
            </a:r>
            <a:r>
              <a:rPr lang="en-US" altLang="ja-JP">
                <a:latin typeface="Arial" panose="020B0604020202020204" pitchFamily="34" charset="0"/>
              </a:rPr>
              <a:t>Toán tử increment là </a:t>
            </a:r>
            <a:r>
              <a:rPr lang="ja-JP" altLang="en-US">
                <a:latin typeface="Arial" panose="020B0604020202020204" pitchFamily="34" charset="0"/>
              </a:rPr>
              <a:t>「</a:t>
            </a:r>
            <a:r>
              <a:rPr lang="en-US" altLang="ja-JP">
                <a:latin typeface="Arial" panose="020B0604020202020204" pitchFamily="34" charset="0"/>
                <a:ea typeface="ＭＳ ゴシック" panose="020B0609070205080204" pitchFamily="49" charset="-128"/>
              </a:rPr>
              <a:t>++</a:t>
            </a:r>
            <a:r>
              <a:rPr lang="ja-JP" altLang="en-US">
                <a:latin typeface="Arial" panose="020B0604020202020204" pitchFamily="34" charset="0"/>
              </a:rPr>
              <a:t>」</a:t>
            </a:r>
            <a:r>
              <a:rPr lang="en-US" altLang="ja-JP">
                <a:latin typeface="Arial" panose="020B0604020202020204" pitchFamily="34" charset="0"/>
              </a:rPr>
              <a:t>, toán tử decrement là </a:t>
            </a:r>
            <a:r>
              <a:rPr lang="ja-JP" altLang="en-US">
                <a:latin typeface="Arial" panose="020B0604020202020204" pitchFamily="34" charset="0"/>
              </a:rPr>
              <a:t>「</a:t>
            </a:r>
            <a:r>
              <a:rPr lang="en-US" altLang="ja-JP">
                <a:latin typeface="Arial" panose="020B0604020202020204" pitchFamily="34" charset="0"/>
                <a:ea typeface="ＭＳ ゴシック" panose="020B0609070205080204" pitchFamily="49" charset="-128"/>
              </a:rPr>
              <a:t>--</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Cùng với đó, ở toán tử đơn ngôi thì có 1 operand.</a:t>
            </a:r>
          </a:p>
          <a:p>
            <a:pPr marL="0" indent="0"/>
            <a:r>
              <a:rPr lang="ja-JP" altLang="en-US">
                <a:latin typeface="Arial" panose="020B0604020202020204" pitchFamily="34" charset="0"/>
              </a:rPr>
              <a:t>　</a:t>
            </a:r>
            <a:r>
              <a:rPr lang="en-US" altLang="ja-JP">
                <a:latin typeface="Arial" panose="020B0604020202020204" pitchFamily="34" charset="0"/>
              </a:rPr>
              <a:t>Toán tử increment sẽ tăng lên 1 và toán tử decrement sẽ giảm đi 1.</a:t>
            </a:r>
          </a:p>
          <a:p>
            <a:pPr marL="0" indent="0"/>
            <a:r>
              <a:rPr lang="ja-JP" altLang="en-US">
                <a:latin typeface="Arial" panose="020B0604020202020204" pitchFamily="34" charset="0"/>
              </a:rPr>
              <a:t>　</a:t>
            </a:r>
            <a:r>
              <a:rPr lang="en-US" altLang="ja-JP">
                <a:latin typeface="Arial" panose="020B0604020202020204" pitchFamily="34" charset="0"/>
              </a:rPr>
              <a:t>Toán tử increment/decrement sẽ có thể sử dụng cả đặt trước và đặt sau.</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Đặt trước và đặt sau</a:t>
            </a:r>
          </a:p>
          <a:p>
            <a:pPr marL="0" indent="0"/>
            <a:r>
              <a:rPr lang="ja-JP" altLang="en-US">
                <a:latin typeface="Arial" panose="020B0604020202020204" pitchFamily="34" charset="0"/>
              </a:rPr>
              <a:t>　</a:t>
            </a:r>
            <a:r>
              <a:rPr lang="en-US" altLang="ja-JP">
                <a:latin typeface="Arial" panose="020B0604020202020204" pitchFamily="34" charset="0"/>
              </a:rPr>
              <a:t>Đặt trước thì sẽ trả về giá trị của biểu thức sau khi increment (hoặc decrement).</a:t>
            </a:r>
          </a:p>
          <a:p>
            <a:pPr marL="0" indent="0"/>
            <a:r>
              <a:rPr lang="ja-JP" altLang="en-US">
                <a:latin typeface="Arial" panose="020B0604020202020204" pitchFamily="34" charset="0"/>
              </a:rPr>
              <a:t>　</a:t>
            </a:r>
            <a:r>
              <a:rPr lang="en-US" altLang="ja-JP">
                <a:latin typeface="Arial" panose="020B0604020202020204" pitchFamily="34" charset="0"/>
              </a:rPr>
              <a:t>Đặt sau thì sẽ increment (hoặc decrement) sau khi đã trả về giá trị của biểu thức.</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Ví dụ 1</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Kết quả thực hiện của ví dụ 1</a:t>
            </a:r>
          </a:p>
          <a:p>
            <a:pPr marL="0" indent="0"/>
            <a:endParaRPr lang="en-US" altLang="ja-JP">
              <a:latin typeface="Arial" panose="020B0604020202020204" pitchFamily="34" charset="0"/>
            </a:endParaRPr>
          </a:p>
          <a:p>
            <a:pPr marL="0" indent="0"/>
            <a:endParaRPr lang="en-US" altLang="ja-JP"/>
          </a:p>
        </p:txBody>
      </p:sp>
      <p:sp>
        <p:nvSpPr>
          <p:cNvPr id="699396" name="Text Box 4">
            <a:extLst>
              <a:ext uri="{FF2B5EF4-FFF2-40B4-BE49-F238E27FC236}">
                <a16:creationId xmlns:a16="http://schemas.microsoft.com/office/drawing/2014/main" id="{6E282B7A-BB58-DE12-31F0-FC26B2BB0F84}"/>
              </a:ext>
            </a:extLst>
          </p:cNvPr>
          <p:cNvSpPr txBox="1">
            <a:spLocks noChangeArrowheads="1"/>
          </p:cNvSpPr>
          <p:nvPr/>
        </p:nvSpPr>
        <p:spPr bwMode="auto">
          <a:xfrm>
            <a:off x="719138" y="7123113"/>
            <a:ext cx="5770562" cy="100647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60363"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en-US" b="0">
                <a:ea typeface="ＭＳ ゴシック" panose="020B0609070205080204" pitchFamily="49" charset="-128"/>
              </a:rPr>
              <a:t>int a = 5;</a:t>
            </a:r>
          </a:p>
          <a:p>
            <a:pPr lvl="1" algn="just">
              <a:spcBef>
                <a:spcPct val="10000"/>
              </a:spcBef>
              <a:buFontTx/>
              <a:buAutoNum type="arabicPeriod"/>
            </a:pPr>
            <a:r>
              <a:rPr lang="en-US" altLang="en-US" b="0">
                <a:ea typeface="ＭＳ ゴシック" panose="020B0609070205080204" pitchFamily="49" charset="-128"/>
              </a:rPr>
              <a:t>++a;</a:t>
            </a:r>
          </a:p>
          <a:p>
            <a:pPr lvl="1" algn="just">
              <a:spcBef>
                <a:spcPct val="10000"/>
              </a:spcBef>
              <a:buFontTx/>
              <a:buAutoNum type="arabicPeriod"/>
            </a:pPr>
            <a:r>
              <a:rPr lang="en-US" altLang="en-US" b="0">
                <a:ea typeface="ＭＳ ゴシック" panose="020B0609070205080204" pitchFamily="49" charset="-128"/>
              </a:rPr>
              <a:t>System.out.println(a);</a:t>
            </a:r>
          </a:p>
          <a:p>
            <a:pPr lvl="1" algn="just">
              <a:spcBef>
                <a:spcPct val="10000"/>
              </a:spcBef>
              <a:buFontTx/>
              <a:buAutoNum type="arabicPeriod"/>
            </a:pPr>
            <a:r>
              <a:rPr lang="en-US" altLang="en-US" b="0">
                <a:ea typeface="ＭＳ ゴシック" panose="020B0609070205080204" pitchFamily="49" charset="-128"/>
              </a:rPr>
              <a:t>a++;</a:t>
            </a:r>
          </a:p>
          <a:p>
            <a:pPr lvl="1" algn="just">
              <a:spcBef>
                <a:spcPct val="10000"/>
              </a:spcBef>
              <a:buFontTx/>
              <a:buAutoNum type="arabicPeriod"/>
            </a:pPr>
            <a:r>
              <a:rPr lang="en-US" altLang="en-US" b="0">
                <a:ea typeface="ＭＳ ゴシック" panose="020B0609070205080204" pitchFamily="49" charset="-128"/>
              </a:rPr>
              <a:t>System.out.println(a);</a:t>
            </a:r>
          </a:p>
        </p:txBody>
      </p:sp>
      <p:sp>
        <p:nvSpPr>
          <p:cNvPr id="699397" name="Text Box 5">
            <a:extLst>
              <a:ext uri="{FF2B5EF4-FFF2-40B4-BE49-F238E27FC236}">
                <a16:creationId xmlns:a16="http://schemas.microsoft.com/office/drawing/2014/main" id="{AF147B29-6B2E-2EE6-910D-EED6290825A3}"/>
              </a:ext>
            </a:extLst>
          </p:cNvPr>
          <p:cNvSpPr txBox="1">
            <a:spLocks noChangeArrowheads="1"/>
          </p:cNvSpPr>
          <p:nvPr/>
        </p:nvSpPr>
        <p:spPr bwMode="auto">
          <a:xfrm>
            <a:off x="719138" y="8643938"/>
            <a:ext cx="5794375" cy="46037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ＭＳ ゴシック" panose="020B0609070205080204" pitchFamily="49" charset="-128"/>
              </a:rPr>
              <a:t>6</a:t>
            </a:r>
          </a:p>
          <a:p>
            <a:pPr lvl="1" algn="just"/>
            <a:r>
              <a:rPr lang="en-US" altLang="ja-JP" b="0">
                <a:ea typeface="ＭＳ ゴシック" panose="020B0609070205080204" pitchFamily="49" charset="-128"/>
              </a:rPr>
              <a:t>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a:extLst>
              <a:ext uri="{FF2B5EF4-FFF2-40B4-BE49-F238E27FC236}">
                <a16:creationId xmlns:a16="http://schemas.microsoft.com/office/drawing/2014/main" id="{874758DC-B493-E6B1-F236-10F70B9BC665}"/>
              </a:ext>
            </a:extLst>
          </p:cNvPr>
          <p:cNvSpPr>
            <a:spLocks noRot="1" noChangeAspect="1" noChangeArrowheads="1" noTextEdit="1"/>
          </p:cNvSpPr>
          <p:nvPr>
            <p:ph type="sldImg"/>
          </p:nvPr>
        </p:nvSpPr>
        <p:spPr>
          <a:ln/>
        </p:spPr>
      </p:sp>
      <p:sp>
        <p:nvSpPr>
          <p:cNvPr id="708611" name="Rectangle 3">
            <a:extLst>
              <a:ext uri="{FF2B5EF4-FFF2-40B4-BE49-F238E27FC236}">
                <a16:creationId xmlns:a16="http://schemas.microsoft.com/office/drawing/2014/main" id="{9708BDAD-FE86-9C5C-2B67-5348C2ED5FF2}"/>
              </a:ext>
            </a:extLst>
          </p:cNvPr>
          <p:cNvSpPr>
            <a:spLocks noGrp="1" noChangeArrowheads="1"/>
          </p:cNvSpPr>
          <p:nvPr>
            <p:ph type="body" idx="1"/>
          </p:nvPr>
        </p:nvSpPr>
        <p:spPr/>
        <p:txBody>
          <a:bodyPr/>
          <a:lstStyle/>
          <a:p>
            <a:pPr marL="0" indent="0"/>
            <a:r>
              <a:rPr lang="en-US" altLang="ja-JP"/>
              <a:t>■</a:t>
            </a:r>
            <a:r>
              <a:rPr lang="ja-JP" altLang="en-US"/>
              <a:t>　</a:t>
            </a:r>
            <a:r>
              <a:rPr lang="en-US" altLang="ja-JP">
                <a:latin typeface="Arial" panose="020B0604020202020204" pitchFamily="34" charset="0"/>
              </a:rPr>
              <a:t>Toán tử quan hệ</a:t>
            </a:r>
          </a:p>
          <a:p>
            <a:pPr marL="0" indent="0"/>
            <a:r>
              <a:rPr lang="ja-JP" altLang="en-US">
                <a:latin typeface="Arial" panose="020B0604020202020204" pitchFamily="34" charset="0"/>
              </a:rPr>
              <a:t>　</a:t>
            </a:r>
            <a:r>
              <a:rPr lang="en-US" altLang="ja-JP">
                <a:latin typeface="Arial" panose="020B0604020202020204" pitchFamily="34" charset="0"/>
              </a:rPr>
              <a:t>Toán từ quan hệ sẽ sử dụng trong trường hợp so sánh 2 operand.</a:t>
            </a:r>
          </a:p>
          <a:p>
            <a:pPr marL="0" indent="0"/>
            <a:r>
              <a:rPr lang="ja-JP" altLang="en-US">
                <a:latin typeface="Arial" panose="020B0604020202020204" pitchFamily="34" charset="0"/>
              </a:rPr>
              <a:t>　</a:t>
            </a:r>
            <a:r>
              <a:rPr lang="en-US" altLang="ja-JP">
                <a:latin typeface="Arial" panose="020B0604020202020204" pitchFamily="34" charset="0"/>
              </a:rPr>
              <a:t>Giá trị sau phép toán sẽ là giá trị của kiểu </a:t>
            </a:r>
            <a:r>
              <a:rPr lang="en-US" altLang="ja-JP">
                <a:latin typeface="Arial" panose="020B0604020202020204" pitchFamily="34" charset="0"/>
                <a:ea typeface="ＭＳ ゴシック" panose="020B0609070205080204" pitchFamily="49" charset="-128"/>
              </a:rPr>
              <a:t>boolean</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Nếu biểu thức mà đã dùng kết quả đã so sánh, toán tử quan hệ là chính xác thì là </a:t>
            </a:r>
            <a:r>
              <a:rPr lang="en-US" altLang="ja-JP">
                <a:latin typeface="Arial" panose="020B0604020202020204" pitchFamily="34" charset="0"/>
                <a:ea typeface="ＭＳ ゴシック" panose="020B0609070205080204" pitchFamily="49" charset="-128"/>
              </a:rPr>
              <a:t>true</a:t>
            </a:r>
            <a:r>
              <a:rPr lang="en-US" altLang="ja-JP">
                <a:latin typeface="Arial" panose="020B0604020202020204" pitchFamily="34" charset="0"/>
              </a:rPr>
              <a:t>, nếu không chính xác là </a:t>
            </a:r>
            <a:r>
              <a:rPr lang="en-US" altLang="ja-JP">
                <a:latin typeface="Arial" panose="020B0604020202020204" pitchFamily="34" charset="0"/>
                <a:ea typeface="ＭＳ ゴシック" panose="020B0609070205080204" pitchFamily="49" charset="-128"/>
              </a:rPr>
              <a:t>false</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Ví dụ</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Kết quả thực hiện</a:t>
            </a:r>
          </a:p>
          <a:p>
            <a:pPr marL="0" indent="0"/>
            <a:endParaRPr lang="en-US" altLang="ja-JP">
              <a:latin typeface="Arial" panose="020B0604020202020204" pitchFamily="34" charset="0"/>
            </a:endParaRPr>
          </a:p>
          <a:p>
            <a:pPr marL="0" indent="0"/>
            <a:endParaRPr lang="en-US" altLang="ja-JP"/>
          </a:p>
        </p:txBody>
      </p:sp>
      <p:sp>
        <p:nvSpPr>
          <p:cNvPr id="708612" name="Text Box 4">
            <a:extLst>
              <a:ext uri="{FF2B5EF4-FFF2-40B4-BE49-F238E27FC236}">
                <a16:creationId xmlns:a16="http://schemas.microsoft.com/office/drawing/2014/main" id="{E6625AE3-0197-7E4B-75D0-B5C7C1649CEA}"/>
              </a:ext>
            </a:extLst>
          </p:cNvPr>
          <p:cNvSpPr txBox="1">
            <a:spLocks noChangeArrowheads="1"/>
          </p:cNvSpPr>
          <p:nvPr/>
        </p:nvSpPr>
        <p:spPr bwMode="auto">
          <a:xfrm>
            <a:off x="719138" y="6361113"/>
            <a:ext cx="5770562" cy="17113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60363"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int x = 5;</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int y = 10;</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System.out.println("x &gt; y : " + (x &gt; y));</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System.out.println("x &lt; y : " + (x &lt; y));</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System.out.println("x &gt;= y : " + (x &gt;= y));</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System.out.println("x &lt;= y : " + (x &lt;= y));</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System.out.println("x == y : " + (x == y));</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System.out.println("x != y : " + (x != y));</a:t>
            </a:r>
          </a:p>
        </p:txBody>
      </p:sp>
      <p:sp>
        <p:nvSpPr>
          <p:cNvPr id="708613" name="Text Box 5">
            <a:extLst>
              <a:ext uri="{FF2B5EF4-FFF2-40B4-BE49-F238E27FC236}">
                <a16:creationId xmlns:a16="http://schemas.microsoft.com/office/drawing/2014/main" id="{28561F31-4920-118D-062E-145DA440D949}"/>
              </a:ext>
            </a:extLst>
          </p:cNvPr>
          <p:cNvSpPr txBox="1">
            <a:spLocks noChangeArrowheads="1"/>
          </p:cNvSpPr>
          <p:nvPr/>
        </p:nvSpPr>
        <p:spPr bwMode="auto">
          <a:xfrm>
            <a:off x="719138" y="8567738"/>
            <a:ext cx="5794375" cy="10890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s-ES" altLang="ja-JP" b="0">
                <a:latin typeface="ＭＳ ゴシック" panose="020B0609070205080204" pitchFamily="49" charset="-128"/>
                <a:ea typeface="ＭＳ ゴシック" panose="020B0609070205080204" pitchFamily="49" charset="-128"/>
              </a:rPr>
              <a:t>x &gt; y : false</a:t>
            </a:r>
          </a:p>
          <a:p>
            <a:pPr lvl="1" algn="just"/>
            <a:r>
              <a:rPr lang="es-ES" altLang="ja-JP" b="0">
                <a:latin typeface="ＭＳ ゴシック" panose="020B0609070205080204" pitchFamily="49" charset="-128"/>
                <a:ea typeface="ＭＳ ゴシック" panose="020B0609070205080204" pitchFamily="49" charset="-128"/>
              </a:rPr>
              <a:t>x &lt; y : true</a:t>
            </a:r>
          </a:p>
          <a:p>
            <a:pPr lvl="1" algn="just"/>
            <a:r>
              <a:rPr lang="es-ES" altLang="ja-JP" b="0">
                <a:latin typeface="ＭＳ ゴシック" panose="020B0609070205080204" pitchFamily="49" charset="-128"/>
                <a:ea typeface="ＭＳ ゴシック" panose="020B0609070205080204" pitchFamily="49" charset="-128"/>
              </a:rPr>
              <a:t>x &gt;= y : false</a:t>
            </a:r>
          </a:p>
          <a:p>
            <a:pPr lvl="1" algn="just"/>
            <a:r>
              <a:rPr lang="es-ES" altLang="ja-JP" b="0">
                <a:latin typeface="ＭＳ ゴシック" panose="020B0609070205080204" pitchFamily="49" charset="-128"/>
                <a:ea typeface="ＭＳ ゴシック" panose="020B0609070205080204" pitchFamily="49" charset="-128"/>
              </a:rPr>
              <a:t>x &lt;= y : true</a:t>
            </a:r>
          </a:p>
          <a:p>
            <a:pPr lvl="1" algn="just"/>
            <a:r>
              <a:rPr lang="es-ES" altLang="ja-JP" b="0">
                <a:latin typeface="ＭＳ ゴシック" panose="020B0609070205080204" pitchFamily="49" charset="-128"/>
                <a:ea typeface="ＭＳ ゴシック" panose="020B0609070205080204" pitchFamily="49" charset="-128"/>
              </a:rPr>
              <a:t>x == y : false</a:t>
            </a:r>
          </a:p>
          <a:p>
            <a:pPr lvl="1" algn="just"/>
            <a:r>
              <a:rPr lang="es-ES" altLang="ja-JP" b="0">
                <a:latin typeface="ＭＳ ゴシック" panose="020B0609070205080204" pitchFamily="49" charset="-128"/>
                <a:ea typeface="ＭＳ ゴシック" panose="020B0609070205080204" pitchFamily="49" charset="-128"/>
              </a:rPr>
              <a:t>x != y : true</a:t>
            </a:r>
            <a:endParaRPr lang="en-US" altLang="ja-JP" b="0">
              <a:latin typeface="ＭＳ ゴシック" panose="020B0609070205080204" pitchFamily="49" charset="-128"/>
              <a:ea typeface="ＭＳ ゴシック" panose="020B0609070205080204" pitchFamily="49"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a:extLst>
              <a:ext uri="{FF2B5EF4-FFF2-40B4-BE49-F238E27FC236}">
                <a16:creationId xmlns:a16="http://schemas.microsoft.com/office/drawing/2014/main" id="{DE51D05D-06FC-79CD-DDC2-5BD326F60E40}"/>
              </a:ext>
            </a:extLst>
          </p:cNvPr>
          <p:cNvSpPr>
            <a:spLocks noRot="1" noChangeAspect="1" noChangeArrowheads="1" noTextEdit="1"/>
          </p:cNvSpPr>
          <p:nvPr>
            <p:ph type="sldImg"/>
          </p:nvPr>
        </p:nvSpPr>
        <p:spPr>
          <a:ln/>
        </p:spPr>
      </p:sp>
      <p:sp>
        <p:nvSpPr>
          <p:cNvPr id="710659" name="Rectangle 3">
            <a:extLst>
              <a:ext uri="{FF2B5EF4-FFF2-40B4-BE49-F238E27FC236}">
                <a16:creationId xmlns:a16="http://schemas.microsoft.com/office/drawing/2014/main" id="{59EFF042-1C13-0F25-8F15-F554EF7909AA}"/>
              </a:ext>
            </a:extLst>
          </p:cNvPr>
          <p:cNvSpPr>
            <a:spLocks noGrp="1" noChangeArrowheads="1"/>
          </p:cNvSpPr>
          <p:nvPr>
            <p:ph type="body" idx="1"/>
          </p:nvPr>
        </p:nvSpPr>
        <p:spPr/>
        <p:txBody>
          <a:bodyPr/>
          <a:lstStyle/>
          <a:p>
            <a:pPr marL="0" indent="0"/>
            <a:r>
              <a:rPr lang="en-US" altLang="ja-JP"/>
              <a:t>■</a:t>
            </a:r>
            <a:r>
              <a:rPr lang="ja-JP" altLang="en-US">
                <a:latin typeface="Arial" panose="020B0604020202020204" pitchFamily="34" charset="0"/>
              </a:rPr>
              <a:t>　</a:t>
            </a:r>
            <a:r>
              <a:rPr lang="en-US" altLang="ja-JP">
                <a:latin typeface="Arial" panose="020B0604020202020204" pitchFamily="34" charset="0"/>
              </a:rPr>
              <a:t>Toán tử logic</a:t>
            </a:r>
          </a:p>
          <a:p>
            <a:pPr marL="0" indent="0"/>
            <a:r>
              <a:rPr lang="ja-JP" altLang="en-US">
                <a:latin typeface="Arial" panose="020B0604020202020204" pitchFamily="34" charset="0"/>
              </a:rPr>
              <a:t>　</a:t>
            </a:r>
            <a:r>
              <a:rPr lang="en-US" altLang="ja-JP">
                <a:latin typeface="Arial" panose="020B0604020202020204" pitchFamily="34" charset="0"/>
              </a:rPr>
              <a:t>Toán tử logic là toán tử thực hiện so sánh kiểu </a:t>
            </a:r>
            <a:r>
              <a:rPr lang="en-US" altLang="ja-JP">
                <a:latin typeface="Arial" panose="020B0604020202020204" pitchFamily="34" charset="0"/>
                <a:ea typeface="ＭＳ ゴシック" panose="020B0609070205080204" pitchFamily="49" charset="-128"/>
              </a:rPr>
              <a:t>boolean</a:t>
            </a:r>
            <a:r>
              <a:rPr lang="en-US" altLang="ja-JP">
                <a:latin typeface="Arial" panose="020B0604020202020204" pitchFamily="34" charset="0"/>
              </a:rPr>
              <a:t>, có thể biểu hiện điều kiện AND, điều kiện OR, điều kiện NOT. </a:t>
            </a:r>
            <a:r>
              <a:rPr lang="ja-JP" altLang="en-US">
                <a:latin typeface="Arial" panose="020B0604020202020204" pitchFamily="34" charset="0"/>
              </a:rPr>
              <a:t>　</a:t>
            </a:r>
            <a:r>
              <a:rPr lang="en-US" altLang="ja-JP">
                <a:latin typeface="Arial" panose="020B0604020202020204" pitchFamily="34" charset="0"/>
              </a:rPr>
              <a:t>Giá trị sau phép toán là giá trị kiểu </a:t>
            </a:r>
            <a:r>
              <a:rPr lang="en-US" altLang="ja-JP">
                <a:latin typeface="Arial" panose="020B0604020202020204" pitchFamily="34" charset="0"/>
                <a:ea typeface="ＭＳ ゴシック" panose="020B0609070205080204" pitchFamily="49" charset="-128"/>
              </a:rPr>
              <a:t>boolean hoặc true</a:t>
            </a:r>
            <a:r>
              <a:rPr lang="en-US" altLang="ja-JP">
                <a:latin typeface="Arial" panose="020B0604020202020204" pitchFamily="34" charset="0"/>
              </a:rPr>
              <a:t> hoặc </a:t>
            </a:r>
            <a:r>
              <a:rPr lang="en-US" altLang="ja-JP">
                <a:latin typeface="Arial" panose="020B0604020202020204" pitchFamily="34" charset="0"/>
                <a:ea typeface="ＭＳ ゴシック" panose="020B0609070205080204" pitchFamily="49" charset="-128"/>
              </a:rPr>
              <a:t>false</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Ví dụ</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Kết quả thực hiện</a:t>
            </a:r>
          </a:p>
          <a:p>
            <a:pPr marL="0" indent="0"/>
            <a:endParaRPr lang="en-US" altLang="ja-JP">
              <a:latin typeface="Arial" panose="020B0604020202020204" pitchFamily="34" charset="0"/>
            </a:endParaRPr>
          </a:p>
          <a:p>
            <a:pPr marL="0" indent="0"/>
            <a:endParaRPr lang="en-US" altLang="ja-JP"/>
          </a:p>
        </p:txBody>
      </p:sp>
      <p:sp>
        <p:nvSpPr>
          <p:cNvPr id="710660" name="Text Box 4">
            <a:extLst>
              <a:ext uri="{FF2B5EF4-FFF2-40B4-BE49-F238E27FC236}">
                <a16:creationId xmlns:a16="http://schemas.microsoft.com/office/drawing/2014/main" id="{D224E85F-9B8E-01D8-4E0B-518E9F5EFFCB}"/>
              </a:ext>
            </a:extLst>
          </p:cNvPr>
          <p:cNvSpPr txBox="1">
            <a:spLocks noChangeArrowheads="1"/>
          </p:cNvSpPr>
          <p:nvPr/>
        </p:nvSpPr>
        <p:spPr bwMode="auto">
          <a:xfrm>
            <a:off x="719138" y="6218238"/>
            <a:ext cx="5770562" cy="104457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60363"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int x = 5;</a:t>
            </a:r>
          </a:p>
          <a:p>
            <a:pPr lvl="1" algn="just">
              <a:spcBef>
                <a:spcPct val="10000"/>
              </a:spcBef>
              <a:buFontTx/>
              <a:buAutoNum type="arabicPeriod"/>
            </a:pPr>
            <a:r>
              <a:rPr lang="ja-JP" altLang="en-US" b="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System.out.println(!(x</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&gt;</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0));</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System.out.println((x</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&gt;</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0) &amp;&amp; (x</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&lt;</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10));</a:t>
            </a:r>
          </a:p>
          <a:p>
            <a:pPr lvl="1" algn="just">
              <a:spcBef>
                <a:spcPct val="10000"/>
              </a:spcBef>
              <a:buFontTx/>
              <a:buAutoNum type="arabicPeriod"/>
            </a:pPr>
            <a:r>
              <a:rPr lang="en-US" altLang="en-US" b="0">
                <a:latin typeface="ＭＳ ゴシック" panose="020B0609070205080204" pitchFamily="49" charset="-128"/>
                <a:ea typeface="ＭＳ ゴシック" panose="020B0609070205080204" pitchFamily="49" charset="-128"/>
              </a:rPr>
              <a:t>System.out.println((x</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0) || (x</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a:t>
            </a:r>
            <a:r>
              <a:rPr lang="en-US" altLang="ja-JP" b="0">
                <a:latin typeface="ＭＳ ゴシック" panose="020B0609070205080204" pitchFamily="49" charset="-128"/>
                <a:ea typeface="ＭＳ ゴシック" panose="020B0609070205080204" pitchFamily="49" charset="-128"/>
              </a:rPr>
              <a:t> </a:t>
            </a:r>
            <a:r>
              <a:rPr lang="en-US" altLang="en-US" b="0">
                <a:latin typeface="ＭＳ ゴシック" panose="020B0609070205080204" pitchFamily="49" charset="-128"/>
                <a:ea typeface="ＭＳ ゴシック" panose="020B0609070205080204" pitchFamily="49" charset="-128"/>
              </a:rPr>
              <a:t>1));</a:t>
            </a:r>
          </a:p>
        </p:txBody>
      </p:sp>
      <p:sp>
        <p:nvSpPr>
          <p:cNvPr id="710661" name="Text Box 5">
            <a:extLst>
              <a:ext uri="{FF2B5EF4-FFF2-40B4-BE49-F238E27FC236}">
                <a16:creationId xmlns:a16="http://schemas.microsoft.com/office/drawing/2014/main" id="{B6D9F7BB-077E-0332-6766-0C83E748E26F}"/>
              </a:ext>
            </a:extLst>
          </p:cNvPr>
          <p:cNvSpPr txBox="1">
            <a:spLocks noChangeArrowheads="1"/>
          </p:cNvSpPr>
          <p:nvPr/>
        </p:nvSpPr>
        <p:spPr bwMode="auto">
          <a:xfrm>
            <a:off x="719138" y="7748588"/>
            <a:ext cx="5794375" cy="7080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da-DK" altLang="ja-JP" b="0">
                <a:latin typeface="ＭＳ ゴシック" panose="020B0609070205080204" pitchFamily="49" charset="-128"/>
                <a:ea typeface="ＭＳ ゴシック" panose="020B0609070205080204" pitchFamily="49" charset="-128"/>
              </a:rPr>
              <a:t>false</a:t>
            </a:r>
          </a:p>
          <a:p>
            <a:pPr lvl="1" algn="just"/>
            <a:r>
              <a:rPr lang="da-DK" altLang="ja-JP" b="0">
                <a:latin typeface="ＭＳ ゴシック" panose="020B0609070205080204" pitchFamily="49" charset="-128"/>
                <a:ea typeface="ＭＳ ゴシック" panose="020B0609070205080204" pitchFamily="49" charset="-128"/>
              </a:rPr>
              <a:t>true</a:t>
            </a:r>
          </a:p>
          <a:p>
            <a:pPr lvl="1" algn="just"/>
            <a:r>
              <a:rPr lang="da-DK" altLang="ja-JP" b="0">
                <a:latin typeface="ＭＳ ゴシック" panose="020B0609070205080204" pitchFamily="49" charset="-128"/>
                <a:ea typeface="ＭＳ ゴシック" panose="020B0609070205080204" pitchFamily="49" charset="-128"/>
              </a:rPr>
              <a:t>false</a:t>
            </a:r>
            <a:endParaRPr lang="en-US" altLang="ja-JP" b="0">
              <a:latin typeface="ＭＳ ゴシック" panose="020B0609070205080204" pitchFamily="49" charset="-128"/>
              <a:ea typeface="ＭＳ ゴシック" panose="020B0609070205080204" pitchFamily="49"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8D706783-AC38-9478-149D-C5051A081A37}"/>
              </a:ext>
            </a:extLst>
          </p:cNvPr>
          <p:cNvSpPr>
            <a:spLocks noRot="1" noChangeAspect="1" noChangeArrowheads="1" noTextEdit="1"/>
          </p:cNvSpPr>
          <p:nvPr>
            <p:ph type="sldImg"/>
          </p:nvPr>
        </p:nvSpPr>
        <p:spPr>
          <a:ln/>
        </p:spPr>
      </p:sp>
      <p:sp>
        <p:nvSpPr>
          <p:cNvPr id="714755" name="Rectangle 3">
            <a:extLst>
              <a:ext uri="{FF2B5EF4-FFF2-40B4-BE49-F238E27FC236}">
                <a16:creationId xmlns:a16="http://schemas.microsoft.com/office/drawing/2014/main" id="{5B0588F5-D8D3-9159-F3F0-1BB0E62AB430}"/>
              </a:ext>
            </a:extLst>
          </p:cNvPr>
          <p:cNvSpPr>
            <a:spLocks noGrp="1" noChangeArrowheads="1"/>
          </p:cNvSpPr>
          <p:nvPr>
            <p:ph type="body" idx="1"/>
          </p:nvPr>
        </p:nvSpPr>
        <p:spPr>
          <a:ln>
            <a:solidFill>
              <a:schemeClr val="bg2"/>
            </a:solidFill>
            <a:miter lim="800000"/>
            <a:headEnd/>
            <a:tailEnd/>
          </a:ln>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Toán tử bit và toán tử shift</a:t>
            </a:r>
          </a:p>
          <a:p>
            <a:pPr marL="0" indent="0"/>
            <a:r>
              <a:rPr lang="ja-JP" altLang="en-US">
                <a:latin typeface="Arial" panose="020B0604020202020204" pitchFamily="34" charset="0"/>
              </a:rPr>
              <a:t>　</a:t>
            </a:r>
            <a:r>
              <a:rPr lang="en-US" altLang="ja-JP">
                <a:latin typeface="Arial" panose="020B0604020202020204" pitchFamily="34" charset="0"/>
              </a:rPr>
              <a:t>Toán tử bit và toán tử shift, sẽ sử dụng trong trường hợp thực hiện thao tác ở đơn vị bit đối với kiểu số nguyên hoặc kiểu char.</a:t>
            </a:r>
          </a:p>
          <a:p>
            <a:pPr marL="0" indent="0"/>
            <a:r>
              <a:rPr lang="ja-JP" altLang="en-US">
                <a:latin typeface="Arial" panose="020B0604020202020204" pitchFamily="34" charset="0"/>
              </a:rPr>
              <a:t>　</a:t>
            </a:r>
            <a:r>
              <a:rPr lang="en-US" altLang="ja-JP">
                <a:latin typeface="Arial" panose="020B0604020202020204" pitchFamily="34" charset="0"/>
              </a:rPr>
              <a:t>Đặc biệt, ở program kiểm soát hardware và program của hệ nhúng cần thực hiện xử lý tốc độ cao với lượng memory ít, có nhiều việc thực hiện phép toán theo đơn vị bit.</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Sau đây là những ví dụ tình huống xử lí cụ thể.</a:t>
            </a:r>
          </a:p>
          <a:p>
            <a:pPr marL="0" indent="0"/>
            <a:r>
              <a:rPr lang="ja-JP" altLang="en-US">
                <a:latin typeface="Arial" panose="020B0604020202020204" pitchFamily="34" charset="0"/>
              </a:rPr>
              <a:t>　・　</a:t>
            </a:r>
            <a:r>
              <a:rPr lang="en-US" altLang="ja-JP">
                <a:latin typeface="Arial" panose="020B0604020202020204" pitchFamily="34" charset="0"/>
              </a:rPr>
              <a:t>Phép toán bit	→</a:t>
            </a:r>
            <a:r>
              <a:rPr lang="ja-JP" altLang="en-US">
                <a:latin typeface="Arial" panose="020B0604020202020204" pitchFamily="34" charset="0"/>
              </a:rPr>
              <a:t>　</a:t>
            </a:r>
            <a:r>
              <a:rPr lang="en-US" altLang="ja-JP">
                <a:latin typeface="Arial" panose="020B0604020202020204" pitchFamily="34" charset="0"/>
              </a:rPr>
              <a:t>ví dụ như </a:t>
            </a:r>
            <a:r>
              <a:rPr lang="ja-JP" altLang="en-US">
                <a:latin typeface="Arial" panose="020B0604020202020204" pitchFamily="34" charset="0"/>
              </a:rPr>
              <a:t>「</a:t>
            </a:r>
            <a:r>
              <a:rPr lang="en-US" altLang="ja-JP">
                <a:latin typeface="Arial" panose="020B0604020202020204" pitchFamily="34" charset="0"/>
              </a:rPr>
              <a:t>xử lý nén</a:t>
            </a:r>
            <a:r>
              <a:rPr lang="ja-JP" altLang="en-US">
                <a:latin typeface="Arial" panose="020B0604020202020204" pitchFamily="34" charset="0"/>
              </a:rPr>
              <a:t>」</a:t>
            </a:r>
            <a:r>
              <a:rPr lang="en-US" altLang="ja-JP">
                <a:latin typeface="Arial" panose="020B0604020202020204" pitchFamily="34" charset="0"/>
              </a:rPr>
              <a:t>, </a:t>
            </a:r>
            <a:r>
              <a:rPr lang="ja-JP" altLang="en-US">
                <a:latin typeface="Arial" panose="020B0604020202020204" pitchFamily="34" charset="0"/>
              </a:rPr>
              <a:t>「</a:t>
            </a:r>
            <a:r>
              <a:rPr lang="en-US" altLang="ja-JP">
                <a:latin typeface="Arial" panose="020B0604020202020204" pitchFamily="34" charset="0"/>
              </a:rPr>
              <a:t>xử lý phát hiện lỗi</a:t>
            </a:r>
            <a:r>
              <a:rPr lang="ja-JP" altLang="en-US">
                <a:latin typeface="Arial" panose="020B0604020202020204" pitchFamily="34" charset="0"/>
              </a:rPr>
              <a:t>」</a:t>
            </a:r>
          </a:p>
          <a:p>
            <a:pPr marL="0" indent="0"/>
            <a:r>
              <a:rPr lang="ja-JP" altLang="en-US">
                <a:latin typeface="Arial" panose="020B0604020202020204" pitchFamily="34" charset="0"/>
              </a:rPr>
              <a:t>　・　</a:t>
            </a:r>
            <a:r>
              <a:rPr lang="en-US" altLang="ja-JP">
                <a:latin typeface="Arial" panose="020B0604020202020204" pitchFamily="34" charset="0"/>
              </a:rPr>
              <a:t>Phép toán shift	→</a:t>
            </a:r>
            <a:r>
              <a:rPr lang="ja-JP" altLang="en-US">
                <a:latin typeface="Arial" panose="020B0604020202020204" pitchFamily="34" charset="0"/>
              </a:rPr>
              <a:t>　</a:t>
            </a:r>
            <a:r>
              <a:rPr lang="en-US" altLang="ja-JP">
                <a:latin typeface="Arial" panose="020B0604020202020204" pitchFamily="34" charset="0"/>
              </a:rPr>
              <a:t>ví dụ như xử lý phép nhân, phép chia tốc độ cao ở khía cạnh muốn sử dụng CPU với hiệu suất tốt.</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Bit và byte</a:t>
            </a:r>
          </a:p>
          <a:p>
            <a:pPr marL="0" indent="0"/>
            <a:r>
              <a:rPr lang="ja-JP" altLang="en-US">
                <a:latin typeface="Arial" panose="020B0604020202020204" pitchFamily="34" charset="0"/>
              </a:rPr>
              <a:t>　</a:t>
            </a:r>
            <a:r>
              <a:rPr lang="en-US" altLang="ja-JP">
                <a:latin typeface="Arial" panose="020B0604020202020204" pitchFamily="34" charset="0"/>
              </a:rPr>
              <a:t>Trong computer, toàn bộ thông tin sẽ biểu hiện bằng tổ hợp của việc có dòng điện chạy qua </a:t>
            </a:r>
            <a:r>
              <a:rPr lang="ja-JP" altLang="en-US">
                <a:latin typeface="Arial" panose="020B0604020202020204" pitchFamily="34" charset="0"/>
              </a:rPr>
              <a:t>（</a:t>
            </a:r>
            <a:r>
              <a:rPr lang="en-US" altLang="ja-JP">
                <a:latin typeface="Arial" panose="020B0604020202020204" pitchFamily="34" charset="0"/>
              </a:rPr>
              <a:t>1</a:t>
            </a:r>
            <a:r>
              <a:rPr lang="ja-JP" altLang="en-US">
                <a:latin typeface="Arial" panose="020B0604020202020204" pitchFamily="34" charset="0"/>
              </a:rPr>
              <a:t>） </a:t>
            </a:r>
            <a:r>
              <a:rPr lang="en-US" altLang="ja-JP">
                <a:latin typeface="Arial" panose="020B0604020202020204" pitchFamily="34" charset="0"/>
              </a:rPr>
              <a:t>hay không có dòng điện chạy qua </a:t>
            </a:r>
            <a:r>
              <a:rPr lang="ja-JP" altLang="en-US">
                <a:latin typeface="Arial" panose="020B0604020202020204" pitchFamily="34" charset="0"/>
              </a:rPr>
              <a:t>（</a:t>
            </a:r>
            <a:r>
              <a:rPr lang="en-US" altLang="ja-JP">
                <a:latin typeface="Arial" panose="020B0604020202020204" pitchFamily="34" charset="0"/>
              </a:rPr>
              <a:t>0</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Gọi đơn vị biểu hiện bằng </a:t>
            </a:r>
            <a:r>
              <a:rPr lang="ja-JP" altLang="en-US">
                <a:latin typeface="Arial" panose="020B0604020202020204" pitchFamily="34" charset="0"/>
              </a:rPr>
              <a:t>「</a:t>
            </a:r>
            <a:r>
              <a:rPr lang="en-US" altLang="ja-JP">
                <a:latin typeface="Arial" panose="020B0604020202020204" pitchFamily="34" charset="0"/>
              </a:rPr>
              <a:t>0</a:t>
            </a:r>
            <a:r>
              <a:rPr lang="ja-JP" altLang="en-US">
                <a:latin typeface="Arial" panose="020B0604020202020204" pitchFamily="34" charset="0"/>
              </a:rPr>
              <a:t>」 </a:t>
            </a:r>
            <a:r>
              <a:rPr lang="en-US" altLang="ja-JP">
                <a:latin typeface="Arial" panose="020B0604020202020204" pitchFamily="34" charset="0"/>
              </a:rPr>
              <a:t>và </a:t>
            </a:r>
            <a:r>
              <a:rPr lang="ja-JP" altLang="en-US">
                <a:latin typeface="Arial" panose="020B0604020202020204" pitchFamily="34" charset="0"/>
              </a:rPr>
              <a:t>「</a:t>
            </a:r>
            <a:r>
              <a:rPr lang="en-US" altLang="ja-JP">
                <a:latin typeface="Arial" panose="020B0604020202020204" pitchFamily="34" charset="0"/>
              </a:rPr>
              <a:t>1</a:t>
            </a:r>
            <a:r>
              <a:rPr lang="ja-JP" altLang="en-US">
                <a:latin typeface="Arial" panose="020B0604020202020204" pitchFamily="34" charset="0"/>
              </a:rPr>
              <a:t>」 </a:t>
            </a:r>
            <a:r>
              <a:rPr lang="en-US" altLang="ja-JP">
                <a:latin typeface="Arial" panose="020B0604020202020204" pitchFamily="34" charset="0"/>
              </a:rPr>
              <a:t>này là bit.</a:t>
            </a:r>
          </a:p>
          <a:p>
            <a:pPr marL="0" indent="0"/>
            <a:r>
              <a:rPr lang="ja-JP" altLang="en-US">
                <a:latin typeface="Arial" panose="020B0604020202020204" pitchFamily="34" charset="0"/>
              </a:rPr>
              <a:t>　 </a:t>
            </a:r>
            <a:r>
              <a:rPr lang="en-US" altLang="ja-JP">
                <a:latin typeface="Arial" panose="020B0604020202020204" pitchFamily="34" charset="0"/>
              </a:rPr>
              <a:t>Về bit thì có nhiều xử lý gộp 8 bit lại với nhau, gọi đơn vị đã gộp 8 bit này là byte.</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p>
          <a:p>
            <a:pPr marL="0" indent="0"/>
            <a:endParaRPr lang="en-US" altLang="ja-JP"/>
          </a:p>
          <a:p>
            <a:pPr marL="0" indent="0"/>
            <a:endParaRPr lang="en-US" altLang="ja-JP"/>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Rectangle 2">
            <a:extLst>
              <a:ext uri="{FF2B5EF4-FFF2-40B4-BE49-F238E27FC236}">
                <a16:creationId xmlns:a16="http://schemas.microsoft.com/office/drawing/2014/main" id="{9DBD6D86-4F66-1CD8-AF8E-13CFE0C9B5B9}"/>
              </a:ext>
            </a:extLst>
          </p:cNvPr>
          <p:cNvSpPr>
            <a:spLocks noRot="1" noChangeAspect="1" noChangeArrowheads="1" noTextEdit="1"/>
          </p:cNvSpPr>
          <p:nvPr>
            <p:ph type="sldImg"/>
          </p:nvPr>
        </p:nvSpPr>
        <p:spPr>
          <a:ln/>
        </p:spPr>
      </p:sp>
      <p:sp>
        <p:nvSpPr>
          <p:cNvPr id="729091" name="Rectangle 3">
            <a:extLst>
              <a:ext uri="{FF2B5EF4-FFF2-40B4-BE49-F238E27FC236}">
                <a16:creationId xmlns:a16="http://schemas.microsoft.com/office/drawing/2014/main" id="{2F2B4A1F-569C-50B2-C68C-CA60610C7F3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Trật tự ưu tiên của toán tử.</a:t>
            </a:r>
          </a:p>
          <a:p>
            <a:pPr marL="0" indent="0"/>
            <a:r>
              <a:rPr lang="ja-JP" altLang="en-US">
                <a:latin typeface="Arial" panose="020B0604020202020204" pitchFamily="34" charset="0"/>
              </a:rPr>
              <a:t>　</a:t>
            </a:r>
            <a:r>
              <a:rPr lang="en-US" altLang="ja-JP">
                <a:latin typeface="Arial" panose="020B0604020202020204" pitchFamily="34" charset="0"/>
              </a:rPr>
              <a:t>Trật tự ưu tiên của toán tử sẽ theo như dưới đây.</a:t>
            </a:r>
          </a:p>
        </p:txBody>
      </p:sp>
      <p:graphicFrame>
        <p:nvGraphicFramePr>
          <p:cNvPr id="729274" name="Group 186">
            <a:extLst>
              <a:ext uri="{FF2B5EF4-FFF2-40B4-BE49-F238E27FC236}">
                <a16:creationId xmlns:a16="http://schemas.microsoft.com/office/drawing/2014/main" id="{526D70BA-7995-FA0E-1949-EA17BBFBA58D}"/>
              </a:ext>
            </a:extLst>
          </p:cNvPr>
          <p:cNvGraphicFramePr>
            <a:graphicFrameLocks noGrp="1"/>
          </p:cNvGraphicFramePr>
          <p:nvPr/>
        </p:nvGraphicFramePr>
        <p:xfrm>
          <a:off x="647700" y="5775325"/>
          <a:ext cx="5789613" cy="4135438"/>
        </p:xfrm>
        <a:graphic>
          <a:graphicData uri="http://schemas.openxmlformats.org/drawingml/2006/table">
            <a:tbl>
              <a:tblPr/>
              <a:tblGrid>
                <a:gridCol w="847725">
                  <a:extLst>
                    <a:ext uri="{9D8B030D-6E8A-4147-A177-3AD203B41FA5}">
                      <a16:colId xmlns:a16="http://schemas.microsoft.com/office/drawing/2014/main" val="3939109667"/>
                    </a:ext>
                  </a:extLst>
                </a:gridCol>
                <a:gridCol w="3924300">
                  <a:extLst>
                    <a:ext uri="{9D8B030D-6E8A-4147-A177-3AD203B41FA5}">
                      <a16:colId xmlns:a16="http://schemas.microsoft.com/office/drawing/2014/main" val="2554045057"/>
                    </a:ext>
                  </a:extLst>
                </a:gridCol>
                <a:gridCol w="1017588">
                  <a:extLst>
                    <a:ext uri="{9D8B030D-6E8A-4147-A177-3AD203B41FA5}">
                      <a16:colId xmlns:a16="http://schemas.microsoft.com/office/drawing/2014/main" val="1497600775"/>
                    </a:ext>
                  </a:extLst>
                </a:gridCol>
              </a:tblGrid>
              <a:tr h="249238">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Thứ hạng ưu tiên</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Quy tắc kết hợp</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31028115"/>
                  </a:ext>
                </a:extLst>
              </a:tr>
              <a:tr h="249238">
                <a:tc rowSpan="15">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Cao</a:t>
                      </a: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2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Thấp</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đặt sau</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đặt sau</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a:t>
                      </a: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95307389"/>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đặt trước</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đặt trước</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đơn tử</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đơn tử</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phải </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07031741"/>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new  </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kiểu</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phải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63157678"/>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a:t>
                      </a: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a:t>
                      </a:r>
                      <a:r>
                        <a:rPr kumimoji="1" lang="en-US" altLang="zh-TW" sz="10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á</a:t>
                      </a: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98931141"/>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phép cộng, combine string</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phép trừ</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02137009"/>
                  </a:ext>
                </a:extLst>
              </a:tr>
              <a:tr h="227013">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&lt;&lt;  &gt;&gt;  &gt;&gt;&gt;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4552629"/>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&lt;  &lt;=  &gt;  &gt;=  instanceof</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90880536"/>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41915099"/>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&amp; </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logic, bit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79970815"/>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logic, bit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7275845"/>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logic, bit</a:t>
                      </a:r>
                      <a:r>
                        <a:rPr kumimoji="1" lang="ja-JP" altLang="en-US"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51085128"/>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&amp;&amp;</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02103904"/>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trái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2741761"/>
                  </a:ext>
                </a:extLst>
              </a:tr>
              <a:tr h="249238">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Kết hợp  phải</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7510510"/>
                  </a:ext>
                </a:extLst>
              </a:tr>
              <a:tr h="239713">
                <a:tc vMerge="1">
                  <a:txBody>
                    <a:bodyPr/>
                    <a:lstStyle/>
                    <a:p>
                      <a:endParaRPr kumimoji="1" lang="ja-JP" altLang="en-US"/>
                    </a:p>
                  </a:txBody>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  -=  *=  /=  %=  &lt;&lt;=  &gt;&gt;=  &gt;&gt;&gt;=  &amp;=  ^=  |=</a:t>
                      </a: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66725" defTabSz="954088">
                        <a:defRPr kumimoji="1">
                          <a:solidFill>
                            <a:schemeClr val="tx1"/>
                          </a:solidFill>
                          <a:latin typeface="Arial" panose="020B0604020202020204" pitchFamily="34" charset="0"/>
                          <a:ea typeface="ＭＳ Ｐゴシック" panose="020B0600070205080204" pitchFamily="50" charset="-128"/>
                        </a:defRPr>
                      </a:lvl2pPr>
                      <a:lvl3pPr marL="933450" defTabSz="954088">
                        <a:defRPr kumimoji="1">
                          <a:solidFill>
                            <a:schemeClr val="tx1"/>
                          </a:solidFill>
                          <a:latin typeface="Arial" panose="020B0604020202020204" pitchFamily="34" charset="0"/>
                          <a:ea typeface="ＭＳ Ｐゴシック" panose="020B0600070205080204" pitchFamily="50" charset="-128"/>
                        </a:defRPr>
                      </a:lvl3pPr>
                      <a:lvl4pPr marL="1398588" defTabSz="954088">
                        <a:defRPr kumimoji="1">
                          <a:solidFill>
                            <a:schemeClr val="tx1"/>
                          </a:solidFill>
                          <a:latin typeface="Arial" panose="020B0604020202020204" pitchFamily="34" charset="0"/>
                          <a:ea typeface="ＭＳ Ｐゴシック" panose="020B0600070205080204" pitchFamily="50" charset="-128"/>
                        </a:defRPr>
                      </a:lvl4pPr>
                      <a:lvl5pPr marL="1825625" defTabSz="954088">
                        <a:defRPr kumimoji="1">
                          <a:solidFill>
                            <a:schemeClr val="tx1"/>
                          </a:solidFill>
                          <a:latin typeface="Arial" panose="020B0604020202020204" pitchFamily="34" charset="0"/>
                          <a:ea typeface="ＭＳ Ｐゴシック" panose="020B0600070205080204" pitchFamily="50" charset="-128"/>
                        </a:defRPr>
                      </a:lvl5pPr>
                      <a:lvl6pPr marL="22828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00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72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4425"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54088"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Combine phải </a:t>
                      </a:r>
                      <a:endPar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marL="95423" marR="95423" marT="47711" marB="47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593687026"/>
                  </a:ext>
                </a:extLst>
              </a:tr>
            </a:tbl>
          </a:graphicData>
        </a:graphic>
      </p:graphicFrame>
      <p:sp>
        <p:nvSpPr>
          <p:cNvPr id="729228" name="AutoShape 140">
            <a:extLst>
              <a:ext uri="{FF2B5EF4-FFF2-40B4-BE49-F238E27FC236}">
                <a16:creationId xmlns:a16="http://schemas.microsoft.com/office/drawing/2014/main" id="{0F674724-A42C-ACBC-974F-1210AB240E31}"/>
              </a:ext>
            </a:extLst>
          </p:cNvPr>
          <p:cNvSpPr>
            <a:spLocks noChangeArrowheads="1"/>
          </p:cNvSpPr>
          <p:nvPr/>
        </p:nvSpPr>
        <p:spPr bwMode="auto">
          <a:xfrm>
            <a:off x="971550" y="6581775"/>
            <a:ext cx="200025" cy="2495550"/>
          </a:xfrm>
          <a:prstGeom prst="upDownArrow">
            <a:avLst>
              <a:gd name="adj1" fmla="val 49204"/>
              <a:gd name="adj2" fmla="val 115867"/>
            </a:avLst>
          </a:prstGeom>
          <a:solidFill>
            <a:srgbClr val="00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BBD62-556C-FAFA-4E52-EF865E53A4B9}"/>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able Placeholder 2">
            <a:extLst>
              <a:ext uri="{FF2B5EF4-FFF2-40B4-BE49-F238E27FC236}">
                <a16:creationId xmlns:a16="http://schemas.microsoft.com/office/drawing/2014/main" id="{AE36B7D1-3B97-555A-28AC-E736ADB0646A}"/>
              </a:ext>
            </a:extLst>
          </p:cNvPr>
          <p:cNvSpPr>
            <a:spLocks noGrp="1"/>
          </p:cNvSpPr>
          <p:nvPr>
            <p:ph type="tbl" idx="1"/>
          </p:nvPr>
        </p:nvSpPr>
        <p:spPr>
          <a:xfrm>
            <a:off x="344488" y="796925"/>
            <a:ext cx="9217025" cy="5903913"/>
          </a:xfrm>
        </p:spPr>
        <p:txBody>
          <a:bodyPr/>
          <a:lstStyle/>
          <a:p>
            <a:endParaRPr lang="ja-JP" altLang="en-US"/>
          </a:p>
        </p:txBody>
      </p:sp>
      <p:sp>
        <p:nvSpPr>
          <p:cNvPr id="4" name="Slide Number Placeholder 3">
            <a:extLst>
              <a:ext uri="{FF2B5EF4-FFF2-40B4-BE49-F238E27FC236}">
                <a16:creationId xmlns:a16="http://schemas.microsoft.com/office/drawing/2014/main" id="{E4C872C2-5DD6-C7EF-3217-F89718833E92}"/>
              </a:ext>
            </a:extLst>
          </p:cNvPr>
          <p:cNvSpPr>
            <a:spLocks noGrp="1"/>
          </p:cNvSpPr>
          <p:nvPr>
            <p:ph type="sldNum" sz="quarter" idx="10"/>
          </p:nvPr>
        </p:nvSpPr>
        <p:spPr>
          <a:xfrm>
            <a:off x="7616825" y="6381750"/>
            <a:ext cx="2133600" cy="476250"/>
          </a:xfrm>
        </p:spPr>
        <p:txBody>
          <a:bodyPr/>
          <a:lstStyle>
            <a:lvl1pPr>
              <a:defRPr/>
            </a:lvl1pPr>
          </a:lstStyle>
          <a:p>
            <a:fld id="{0D4DC463-F76C-4D86-9EF4-EE9DFE45F514}" type="slidenum">
              <a:rPr lang="en-US" altLang="ja-JP"/>
              <a:pPr/>
              <a:t>‹#›</a:t>
            </a:fld>
            <a:endParaRPr lang="en-US" altLang="ja-JP"/>
          </a:p>
        </p:txBody>
      </p:sp>
    </p:spTree>
    <p:extLst>
      <p:ext uri="{BB962C8B-B14F-4D97-AF65-F5344CB8AC3E}">
        <p14:creationId xmlns:p14="http://schemas.microsoft.com/office/powerpoint/2010/main" val="1133860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7521D-8E73-E62E-BEAD-B6A06BE2E16B}"/>
              </a:ext>
            </a:extLst>
          </p:cNvPr>
          <p:cNvSpPr>
            <a:spLocks noGrp="1"/>
          </p:cNvSpPr>
          <p:nvPr>
            <p:ph type="title"/>
          </p:nvPr>
        </p:nvSpPr>
        <p:spPr/>
        <p:txBody>
          <a:bodyPr/>
          <a:lstStyle/>
          <a:p>
            <a:r>
              <a:rPr lang="en-US" altLang="ja-JP"/>
              <a:t>Click to edit Master title style</a:t>
            </a:r>
            <a:endParaRPr lang="ja-JP" altLang="en-US"/>
          </a:p>
        </p:txBody>
      </p:sp>
      <p:sp>
        <p:nvSpPr>
          <p:cNvPr id="3" name="Content Placeholder 2">
            <a:extLst>
              <a:ext uri="{FF2B5EF4-FFF2-40B4-BE49-F238E27FC236}">
                <a16:creationId xmlns:a16="http://schemas.microsoft.com/office/drawing/2014/main" id="{CC7DEE26-5732-5881-00CC-6391B4A992E1}"/>
              </a:ext>
            </a:extLst>
          </p:cNvPr>
          <p:cNvSpPr>
            <a:spLocks noGrp="1"/>
          </p:cNvSpPr>
          <p:nvPr>
            <p:ph sz="half" idx="1"/>
          </p:nvPr>
        </p:nvSpPr>
        <p:spPr>
          <a:xfrm>
            <a:off x="344488" y="796925"/>
            <a:ext cx="4532312"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Content Placeholder 3">
            <a:extLst>
              <a:ext uri="{FF2B5EF4-FFF2-40B4-BE49-F238E27FC236}">
                <a16:creationId xmlns:a16="http://schemas.microsoft.com/office/drawing/2014/main" id="{291D4809-0F48-6010-C7E5-37F10CF658DC}"/>
              </a:ext>
            </a:extLst>
          </p:cNvPr>
          <p:cNvSpPr>
            <a:spLocks noGrp="1"/>
          </p:cNvSpPr>
          <p:nvPr>
            <p:ph sz="half" idx="2"/>
          </p:nvPr>
        </p:nvSpPr>
        <p:spPr>
          <a:xfrm>
            <a:off x="5029200" y="796925"/>
            <a:ext cx="4532313"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Slide Number Placeholder 4">
            <a:extLst>
              <a:ext uri="{FF2B5EF4-FFF2-40B4-BE49-F238E27FC236}">
                <a16:creationId xmlns:a16="http://schemas.microsoft.com/office/drawing/2014/main" id="{5B8F05EC-416C-6F7D-685A-E34B11D835EB}"/>
              </a:ext>
            </a:extLst>
          </p:cNvPr>
          <p:cNvSpPr>
            <a:spLocks noGrp="1"/>
          </p:cNvSpPr>
          <p:nvPr>
            <p:ph type="sldNum" sz="quarter" idx="10"/>
          </p:nvPr>
        </p:nvSpPr>
        <p:spPr/>
        <p:txBody>
          <a:bodyPr/>
          <a:lstStyle>
            <a:lvl1pPr>
              <a:defRPr/>
            </a:lvl1pPr>
          </a:lstStyle>
          <a:p>
            <a:fld id="{EB53D777-F67F-425D-97B5-A5CCEB9245C9}" type="slidenum">
              <a:rPr lang="en-US" altLang="ja-JP"/>
              <a:pPr/>
              <a:t>‹#›</a:t>
            </a:fld>
            <a:endParaRPr lang="en-US" altLang="ja-JP"/>
          </a:p>
        </p:txBody>
      </p:sp>
    </p:spTree>
    <p:extLst>
      <p:ext uri="{BB962C8B-B14F-4D97-AF65-F5344CB8AC3E}">
        <p14:creationId xmlns:p14="http://schemas.microsoft.com/office/powerpoint/2010/main" val="4058045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2026/8/3</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5" r:id="rId7"/>
    <p:sldLayoutId id="2147483806" r:id="rId8"/>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2026/8/3</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survey.stackoverflow.co/2024/technology" TargetMode="External"/><Relationship Id="rId2" Type="http://schemas.openxmlformats.org/officeDocument/2006/relationships/hyperlink" Target="https://www.tiobe.com/tiobe-index/"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61E3-7210-D801-C73E-18DF39FE6C40}"/>
              </a:ext>
            </a:extLst>
          </p:cNvPr>
          <p:cNvSpPr>
            <a:spLocks noGrp="1"/>
          </p:cNvSpPr>
          <p:nvPr>
            <p:ph type="ctrTitle"/>
          </p:nvPr>
        </p:nvSpPr>
        <p:spPr>
          <a:xfrm>
            <a:off x="742950" y="2130425"/>
            <a:ext cx="7486650" cy="1470025"/>
          </a:xfrm>
        </p:spPr>
        <p:txBody>
          <a:bodyPr>
            <a:noAutofit/>
          </a:bodyPr>
          <a:lstStyle/>
          <a:p>
            <a:pPr algn="ctr" eaLnBrk="0" hangingPunct="0"/>
            <a:r>
              <a:rPr lang="en-US" altLang="ja-JP" dirty="0">
                <a:latin typeface="+mj-lt"/>
              </a:rPr>
              <a:t>Java Programming</a:t>
            </a:r>
            <a:br>
              <a:rPr lang="en-US" altLang="ja-JP" dirty="0">
                <a:latin typeface="+mj-lt"/>
              </a:rPr>
            </a:br>
            <a:br>
              <a:rPr lang="vi-VN" altLang="ja-JP" kern="1200" dirty="0">
                <a:latin typeface="+mj-lt"/>
              </a:rPr>
            </a:br>
            <a:endParaRPr kumimoji="1" lang="ja-JP" altLang="en-US" dirty="0">
              <a:latin typeface="+mj-lt"/>
              <a:cs typeface="Times New Roman" panose="02020603050405020304" pitchFamily="18" charset="0"/>
            </a:endParaRPr>
          </a:p>
        </p:txBody>
      </p:sp>
      <p:sp>
        <p:nvSpPr>
          <p:cNvPr id="3" name="Subtitle 2">
            <a:extLst>
              <a:ext uri="{FF2B5EF4-FFF2-40B4-BE49-F238E27FC236}">
                <a16:creationId xmlns:a16="http://schemas.microsoft.com/office/drawing/2014/main" id="{708F8EF2-D090-2D87-3C30-91D44315D1EC}"/>
              </a:ext>
            </a:extLst>
          </p:cNvPr>
          <p:cNvSpPr>
            <a:spLocks noGrp="1"/>
          </p:cNvSpPr>
          <p:nvPr>
            <p:ph type="subTitle" idx="1"/>
          </p:nvPr>
        </p:nvSpPr>
        <p:spPr>
          <a:xfrm>
            <a:off x="2231027" y="4419600"/>
            <a:ext cx="6934200" cy="1752600"/>
          </a:xfrm>
        </p:spPr>
        <p:txBody>
          <a:bodyPr>
            <a:normAutofit/>
          </a:bodyPr>
          <a:lstStyle/>
          <a:p>
            <a:pPr algn="r"/>
            <a:endParaRPr kumimoji="1" lang="en-US" altLang="ja-JP" sz="2800" dirty="0">
              <a:latin typeface="+mj-lt"/>
            </a:endParaRPr>
          </a:p>
          <a:p>
            <a:pPr algn="r"/>
            <a:r>
              <a:rPr lang="en-US" altLang="ja-JP" sz="2800" dirty="0">
                <a:latin typeface="+mj-lt"/>
              </a:rPr>
              <a:t>Mai Ngọc </a:t>
            </a:r>
            <a:r>
              <a:rPr lang="en-US" altLang="ja-JP" sz="2800" dirty="0" err="1">
                <a:latin typeface="+mj-lt"/>
              </a:rPr>
              <a:t>Khương</a:t>
            </a:r>
            <a:endParaRPr lang="en-US" altLang="ja-JP" sz="2800" dirty="0">
              <a:latin typeface="+mj-lt"/>
            </a:endParaRPr>
          </a:p>
          <a:p>
            <a:pPr algn="r"/>
            <a:r>
              <a:rPr kumimoji="1" lang="en-US" altLang="ja-JP" sz="2800" dirty="0">
                <a:latin typeface="+mj-lt"/>
              </a:rPr>
              <a:t>H</a:t>
            </a:r>
            <a:r>
              <a:rPr lang="en-US" altLang="ja-JP" sz="2800" dirty="0">
                <a:latin typeface="+mj-lt"/>
              </a:rPr>
              <a:t>à </a:t>
            </a:r>
            <a:r>
              <a:rPr lang="en-US" altLang="ja-JP" sz="2800" dirty="0" err="1">
                <a:latin typeface="+mj-lt"/>
              </a:rPr>
              <a:t>nội</a:t>
            </a:r>
            <a:r>
              <a:rPr lang="en-US" altLang="ja-JP" sz="2800" dirty="0">
                <a:latin typeface="+mj-lt"/>
              </a:rPr>
              <a:t>, </a:t>
            </a:r>
            <a:r>
              <a:rPr lang="en-US" altLang="ja-JP" sz="2800" dirty="0" err="1">
                <a:latin typeface="+mj-lt"/>
              </a:rPr>
              <a:t>tháng</a:t>
            </a:r>
            <a:r>
              <a:rPr lang="en-US" altLang="ja-JP" sz="2800" dirty="0">
                <a:latin typeface="+mj-lt"/>
              </a:rPr>
              <a:t> 8 </a:t>
            </a:r>
            <a:r>
              <a:rPr lang="en-US" altLang="ja-JP" sz="2800" dirty="0" err="1">
                <a:latin typeface="+mj-lt"/>
              </a:rPr>
              <a:t>năm</a:t>
            </a:r>
            <a:r>
              <a:rPr lang="en-US" altLang="ja-JP" sz="2800" dirty="0">
                <a:latin typeface="+mj-lt"/>
              </a:rPr>
              <a:t> 2026</a:t>
            </a:r>
            <a:endParaRPr kumimoji="1" lang="ja-JP" altLang="en-US" sz="2800" dirty="0">
              <a:latin typeface="+mj-lt"/>
            </a:endParaRPr>
          </a:p>
        </p:txBody>
      </p:sp>
    </p:spTree>
    <p:extLst>
      <p:ext uri="{BB962C8B-B14F-4D97-AF65-F5344CB8AC3E}">
        <p14:creationId xmlns:p14="http://schemas.microsoft.com/office/powerpoint/2010/main" val="423293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A0F42-05C0-8826-CCBD-0AEF7D23DA88}"/>
              </a:ext>
            </a:extLst>
          </p:cNvPr>
          <p:cNvSpPr>
            <a:spLocks noGrp="1"/>
          </p:cNvSpPr>
          <p:nvPr>
            <p:ph type="title"/>
          </p:nvPr>
        </p:nvSpPr>
        <p:spPr/>
        <p:txBody>
          <a:bodyPr>
            <a:normAutofit fontScale="90000"/>
          </a:bodyPr>
          <a:lstStyle/>
          <a:p>
            <a:r>
              <a:rPr kumimoji="1" lang="en-US" altLang="ja-JP" dirty="0">
                <a:latin typeface="+mj-lt"/>
              </a:rPr>
              <a:t>Chapter 1: </a:t>
            </a:r>
            <a:r>
              <a:rPr kumimoji="1" lang="en-US" altLang="ja-JP" dirty="0" err="1">
                <a:latin typeface="+mj-lt"/>
              </a:rPr>
              <a:t>Giới</a:t>
            </a:r>
            <a:r>
              <a:rPr kumimoji="1" lang="en-US" altLang="ja-JP" dirty="0">
                <a:latin typeface="+mj-lt"/>
              </a:rPr>
              <a:t> </a:t>
            </a:r>
            <a:r>
              <a:rPr kumimoji="1" lang="en-US" altLang="ja-JP" dirty="0" err="1">
                <a:latin typeface="+mj-lt"/>
              </a:rPr>
              <a:t>thiệu</a:t>
            </a:r>
            <a:r>
              <a:rPr kumimoji="1" lang="en-US" altLang="ja-JP" dirty="0">
                <a:latin typeface="+mj-lt"/>
              </a:rPr>
              <a:t> Java</a:t>
            </a:r>
            <a:endParaRPr kumimoji="1" lang="ja-JP" altLang="en-US" dirty="0">
              <a:latin typeface="+mj-lt"/>
            </a:endParaRPr>
          </a:p>
        </p:txBody>
      </p:sp>
      <p:sp>
        <p:nvSpPr>
          <p:cNvPr id="3" name="Content Placeholder 2">
            <a:extLst>
              <a:ext uri="{FF2B5EF4-FFF2-40B4-BE49-F238E27FC236}">
                <a16:creationId xmlns:a16="http://schemas.microsoft.com/office/drawing/2014/main" id="{A3281C51-5C2E-0CC3-6EAD-58E4C8480BF6}"/>
              </a:ext>
            </a:extLst>
          </p:cNvPr>
          <p:cNvSpPr>
            <a:spLocks noGrp="1"/>
          </p:cNvSpPr>
          <p:nvPr>
            <p:ph idx="1"/>
          </p:nvPr>
        </p:nvSpPr>
        <p:spPr/>
        <p:txBody>
          <a:bodyPr/>
          <a:lstStyle/>
          <a:p>
            <a:pPr lvl="0"/>
            <a:r>
              <a:rPr lang="ja-JP" altLang="ja-JP" dirty="0">
                <a:latin typeface="+mj-lt"/>
              </a:rPr>
              <a:t>Hiểu rõ Java là gì </a:t>
            </a:r>
            <a:endParaRPr lang="en-US" altLang="ja-JP" dirty="0">
              <a:latin typeface="+mj-lt"/>
            </a:endParaRPr>
          </a:p>
          <a:p>
            <a:pPr lvl="0"/>
            <a:r>
              <a:rPr lang="ja-JP" altLang="ja-JP" dirty="0">
                <a:latin typeface="+mj-lt"/>
              </a:rPr>
              <a:t>Lịch sử phát triển và các đặc điểm nổi bật của Java</a:t>
            </a:r>
            <a:endParaRPr lang="en-US" altLang="ja-JP" dirty="0">
              <a:latin typeface="+mj-lt"/>
            </a:endParaRPr>
          </a:p>
          <a:p>
            <a:pPr lvl="0"/>
            <a:r>
              <a:rPr lang="en-US" altLang="ja-JP" dirty="0" err="1"/>
              <a:t>Đặc</a:t>
            </a:r>
            <a:r>
              <a:rPr lang="en-US" altLang="ja-JP" dirty="0"/>
              <a:t> </a:t>
            </a:r>
            <a:r>
              <a:rPr lang="en-US" altLang="ja-JP" dirty="0" err="1"/>
              <a:t>trưng</a:t>
            </a:r>
            <a:r>
              <a:rPr lang="en-US" altLang="ja-JP" dirty="0"/>
              <a:t> </a:t>
            </a:r>
            <a:r>
              <a:rPr lang="ja-JP" altLang="ja-JP" dirty="0"/>
              <a:t>của Java.</a:t>
            </a:r>
          </a:p>
          <a:p>
            <a:pPr lvl="0"/>
            <a:r>
              <a:rPr lang="ja-JP" altLang="ja-JP" dirty="0"/>
              <a:t>Các lĩnh vực ứng dụng của Java. </a:t>
            </a:r>
            <a:endParaRPr kumimoji="1" lang="ja-JP" altLang="en-US" dirty="0">
              <a:latin typeface="+mj-lt"/>
            </a:endParaRPr>
          </a:p>
        </p:txBody>
      </p:sp>
      <p:sp>
        <p:nvSpPr>
          <p:cNvPr id="4" name="Slide Number Placeholder 3">
            <a:extLst>
              <a:ext uri="{FF2B5EF4-FFF2-40B4-BE49-F238E27FC236}">
                <a16:creationId xmlns:a16="http://schemas.microsoft.com/office/drawing/2014/main" id="{B7DC9917-8DC0-4266-0236-7A6808DAF2A4}"/>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a:t>
            </a:fld>
            <a:endParaRPr lang="en-US" altLang="ja-JP"/>
          </a:p>
        </p:txBody>
      </p:sp>
    </p:spTree>
    <p:extLst>
      <p:ext uri="{BB962C8B-B14F-4D97-AF65-F5344CB8AC3E}">
        <p14:creationId xmlns:p14="http://schemas.microsoft.com/office/powerpoint/2010/main" val="574058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24E9F-FDF3-3B83-66C3-FF2DB5BFD87C}"/>
              </a:ext>
            </a:extLst>
          </p:cNvPr>
          <p:cNvSpPr>
            <a:spLocks noGrp="1"/>
          </p:cNvSpPr>
          <p:nvPr>
            <p:ph type="title"/>
          </p:nvPr>
        </p:nvSpPr>
        <p:spPr/>
        <p:txBody>
          <a:bodyPr>
            <a:normAutofit fontScale="90000"/>
          </a:bodyPr>
          <a:lstStyle/>
          <a:p>
            <a:r>
              <a:rPr lang="ja-JP" altLang="ja-JP" dirty="0">
                <a:latin typeface="+mj-lt"/>
              </a:rPr>
              <a:t>Java là gì ?</a:t>
            </a:r>
            <a:endParaRPr kumimoji="1" lang="ja-JP" altLang="en-US" dirty="0">
              <a:latin typeface="+mj-lt"/>
            </a:endParaRPr>
          </a:p>
        </p:txBody>
      </p:sp>
      <p:sp>
        <p:nvSpPr>
          <p:cNvPr id="3" name="Content Placeholder 2">
            <a:extLst>
              <a:ext uri="{FF2B5EF4-FFF2-40B4-BE49-F238E27FC236}">
                <a16:creationId xmlns:a16="http://schemas.microsoft.com/office/drawing/2014/main" id="{BBCE76EA-FC69-7A35-E91B-073D3161FCF3}"/>
              </a:ext>
            </a:extLst>
          </p:cNvPr>
          <p:cNvSpPr>
            <a:spLocks noGrp="1"/>
          </p:cNvSpPr>
          <p:nvPr>
            <p:ph idx="1"/>
          </p:nvPr>
        </p:nvSpPr>
        <p:spPr>
          <a:xfrm>
            <a:off x="128464" y="1124744"/>
            <a:ext cx="9472736" cy="3809148"/>
          </a:xfrm>
        </p:spPr>
        <p:txBody>
          <a:bodyPr>
            <a:normAutofit fontScale="62500" lnSpcReduction="20000"/>
          </a:bodyPr>
          <a:lstStyle/>
          <a:p>
            <a:pPr lvl="0" algn="just"/>
            <a:r>
              <a:rPr lang="ja-JP" altLang="ja-JP" dirty="0">
                <a:latin typeface="+mj-lt"/>
              </a:rPr>
              <a:t>Java là một ngôn ngữ lập trình hướng đối tượng (OOP) được phát triển bởi Sun Microsystems </a:t>
            </a:r>
            <a:r>
              <a:rPr lang="en-US" altLang="ja-JP" dirty="0"/>
              <a:t>(James Gosling </a:t>
            </a:r>
            <a:r>
              <a:rPr lang="en-US" altLang="ja-JP" dirty="0" err="1"/>
              <a:t>và</a:t>
            </a:r>
            <a:r>
              <a:rPr lang="en-US" altLang="ja-JP" dirty="0"/>
              <a:t> Co-founder – Vinod Khosla) </a:t>
            </a:r>
            <a:r>
              <a:rPr lang="ja-JP" altLang="ja-JP" dirty="0">
                <a:latin typeface="+mj-lt"/>
              </a:rPr>
              <a:t>năm 1995 (sau này được </a:t>
            </a:r>
            <a:r>
              <a:rPr lang="ja-JP" altLang="ja-JP" b="1" dirty="0">
                <a:latin typeface="+mj-lt"/>
              </a:rPr>
              <a:t>Oracle mua lại</a:t>
            </a:r>
            <a:r>
              <a:rPr lang="ja-JP" altLang="ja-JP" dirty="0">
                <a:latin typeface="+mj-lt"/>
              </a:rPr>
              <a:t>).  </a:t>
            </a:r>
          </a:p>
          <a:p>
            <a:pPr lvl="0" algn="just"/>
            <a:r>
              <a:rPr lang="en-US" dirty="0"/>
              <a:t>90% c</a:t>
            </a:r>
            <a:r>
              <a:rPr lang="vi-VN" dirty="0"/>
              <a:t>ác công ty Fortune 500 </a:t>
            </a:r>
            <a:r>
              <a:rPr lang="en-US" dirty="0"/>
              <a:t>s</a:t>
            </a:r>
            <a:r>
              <a:rPr lang="vi-VN" dirty="0"/>
              <a:t>ử dụng Java</a:t>
            </a:r>
            <a:r>
              <a:rPr lang="en-US" dirty="0"/>
              <a:t>: Netflix, Alibaba, Tinder, </a:t>
            </a:r>
            <a:r>
              <a:rPr lang="en-US" dirty="0" err="1"/>
              <a:t>Uber,PayPal</a:t>
            </a:r>
            <a:r>
              <a:rPr lang="en-US" dirty="0"/>
              <a:t>, </a:t>
            </a:r>
            <a:r>
              <a:rPr lang="en-US" dirty="0" err="1"/>
              <a:t>Youtube</a:t>
            </a:r>
            <a:r>
              <a:rPr lang="en-US" dirty="0"/>
              <a:t>, Slack, Shopify, Twitter, </a:t>
            </a:r>
            <a:r>
              <a:rPr lang="en-US" dirty="0" err="1"/>
              <a:t>Target,Linkedin</a:t>
            </a:r>
            <a:r>
              <a:rPr lang="en-US" dirty="0"/>
              <a:t>, Wells Fargo </a:t>
            </a:r>
            <a:r>
              <a:rPr lang="en-US" dirty="0" err="1"/>
              <a:t>etc</a:t>
            </a:r>
            <a:endParaRPr lang="en-US" dirty="0"/>
          </a:p>
          <a:p>
            <a:pPr lvl="0" algn="just"/>
            <a:r>
              <a:rPr lang="vi-VN" dirty="0"/>
              <a:t>Java là một trong những ngôn ngữ phổ biến nhất đang được sử dụng</a:t>
            </a:r>
            <a:r>
              <a:rPr lang="en-US" dirty="0"/>
              <a:t>.</a:t>
            </a:r>
            <a:r>
              <a:rPr lang="vi-VN" dirty="0"/>
              <a:t> Theo Oracle, 3 tỷ điện thoại </a:t>
            </a:r>
            <a:r>
              <a:rPr lang="en-US" dirty="0"/>
              <a:t>d</a:t>
            </a:r>
            <a:r>
              <a:rPr lang="vi-VN" dirty="0"/>
              <a:t>i động </a:t>
            </a:r>
            <a:r>
              <a:rPr lang="en-US" dirty="0"/>
              <a:t>c</a:t>
            </a:r>
            <a:r>
              <a:rPr lang="vi-VN" dirty="0"/>
              <a:t>hạy Java, cùng với 125 triệu TV và 89% máy tính để bàn </a:t>
            </a:r>
            <a:r>
              <a:rPr lang="en-US" dirty="0" err="1"/>
              <a:t>tại</a:t>
            </a:r>
            <a:r>
              <a:rPr lang="en-US" dirty="0"/>
              <a:t> </a:t>
            </a:r>
            <a:r>
              <a:rPr lang="en-US" dirty="0" err="1"/>
              <a:t>nước</a:t>
            </a:r>
            <a:r>
              <a:rPr lang="vi-VN" dirty="0"/>
              <a:t> </a:t>
            </a:r>
            <a:r>
              <a:rPr lang="en-US" dirty="0" err="1"/>
              <a:t>Mỹ</a:t>
            </a:r>
            <a:r>
              <a:rPr lang="en-US" dirty="0"/>
              <a:t>.</a:t>
            </a:r>
          </a:p>
          <a:p>
            <a:pPr lvl="0" algn="just"/>
            <a:r>
              <a:rPr lang="vi-VN" dirty="0"/>
              <a:t>Hơn một phần ba các lập trình viên trên thế giới </a:t>
            </a:r>
            <a:r>
              <a:rPr lang="en-US" dirty="0"/>
              <a:t>s</a:t>
            </a:r>
            <a:r>
              <a:rPr lang="vi-VN" dirty="0"/>
              <a:t>ử </a:t>
            </a:r>
            <a:r>
              <a:rPr lang="en-US" dirty="0"/>
              <a:t>d</a:t>
            </a:r>
            <a:r>
              <a:rPr lang="vi-VN" dirty="0"/>
              <a:t>ụng Java như một trong những ngôn ngữ</a:t>
            </a:r>
            <a:r>
              <a:rPr lang="en-US" dirty="0"/>
              <a:t> </a:t>
            </a:r>
            <a:r>
              <a:rPr lang="en-US" dirty="0" err="1"/>
              <a:t>chính</a:t>
            </a:r>
            <a:r>
              <a:rPr lang="en-US" dirty="0"/>
              <a:t> </a:t>
            </a:r>
            <a:r>
              <a:rPr lang="en-US" dirty="0" err="1"/>
              <a:t>của</a:t>
            </a:r>
            <a:r>
              <a:rPr lang="en-US" dirty="0"/>
              <a:t> </a:t>
            </a:r>
            <a:r>
              <a:rPr lang="en-US" dirty="0" err="1"/>
              <a:t>họ</a:t>
            </a:r>
            <a:r>
              <a:rPr lang="en-US" dirty="0"/>
              <a:t>, </a:t>
            </a:r>
            <a:r>
              <a:rPr lang="en-US" dirty="0" err="1"/>
              <a:t>tương</a:t>
            </a:r>
            <a:r>
              <a:rPr lang="en-US" dirty="0"/>
              <a:t> </a:t>
            </a:r>
            <a:r>
              <a:rPr lang="en-US" dirty="0" err="1"/>
              <a:t>đương</a:t>
            </a:r>
            <a:r>
              <a:rPr lang="vi-VN" dirty="0"/>
              <a:t> ít nhất 5,2 triệu lập trình viên. </a:t>
            </a:r>
            <a:endParaRPr lang="en-US" dirty="0"/>
          </a:p>
          <a:p>
            <a:pPr lvl="0" algn="just"/>
            <a:r>
              <a:rPr lang="en-US" dirty="0" err="1"/>
              <a:t>Hơn</a:t>
            </a:r>
            <a:r>
              <a:rPr lang="vi-VN" dirty="0"/>
              <a:t> 52</a:t>
            </a:r>
            <a:r>
              <a:rPr lang="en-US" dirty="0"/>
              <a:t>% </a:t>
            </a:r>
            <a:r>
              <a:rPr lang="vi-VN" dirty="0"/>
              <a:t>các dịch vụ web back-end của thế giới Java là một ngôn ngữ lập trình được sử dụng rộng rãi </a:t>
            </a:r>
            <a:r>
              <a:rPr lang="en-US" dirty="0" err="1"/>
              <a:t>để</a:t>
            </a:r>
            <a:r>
              <a:rPr lang="vi-VN" dirty="0"/>
              <a:t> xây dựng các ứng dụng web, ứng dụng di động, phần mềm doanh nghiệp &amp; api back end. </a:t>
            </a:r>
            <a:endParaRPr lang="en-US" dirty="0"/>
          </a:p>
          <a:p>
            <a:pPr lvl="0" algn="just"/>
            <a:endParaRPr kumimoji="1" lang="ja-JP" altLang="en-US" dirty="0">
              <a:latin typeface="+mj-lt"/>
            </a:endParaRPr>
          </a:p>
        </p:txBody>
      </p:sp>
      <p:sp>
        <p:nvSpPr>
          <p:cNvPr id="4" name="Slide Number Placeholder 3">
            <a:extLst>
              <a:ext uri="{FF2B5EF4-FFF2-40B4-BE49-F238E27FC236}">
                <a16:creationId xmlns:a16="http://schemas.microsoft.com/office/drawing/2014/main" id="{9604FA6F-D707-D031-AA92-E7DCD3CB7F49}"/>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a:t>
            </a:fld>
            <a:endParaRPr lang="en-US" altLang="ja-JP"/>
          </a:p>
        </p:txBody>
      </p:sp>
      <p:sp>
        <p:nvSpPr>
          <p:cNvPr id="5" name="AutoShape 2" descr="Java logo and symbol, meaning, history, 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0400" y="4964372"/>
            <a:ext cx="3169920" cy="1055056"/>
          </a:xfrm>
          <a:prstGeom prst="rect">
            <a:avLst/>
          </a:prstGeom>
        </p:spPr>
      </p:pic>
    </p:spTree>
    <p:extLst>
      <p:ext uri="{BB962C8B-B14F-4D97-AF65-F5344CB8AC3E}">
        <p14:creationId xmlns:p14="http://schemas.microsoft.com/office/powerpoint/2010/main" val="3079891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6B391-67FC-9F15-7BA7-B78051537683}"/>
              </a:ext>
            </a:extLst>
          </p:cNvPr>
          <p:cNvSpPr>
            <a:spLocks noGrp="1"/>
          </p:cNvSpPr>
          <p:nvPr>
            <p:ph type="title"/>
          </p:nvPr>
        </p:nvSpPr>
        <p:spPr/>
        <p:txBody>
          <a:bodyPr>
            <a:normAutofit fontScale="90000"/>
          </a:bodyPr>
          <a:lstStyle/>
          <a:p>
            <a:r>
              <a:rPr lang="en-US" altLang="ja-JP" dirty="0"/>
              <a:t>Java </a:t>
            </a:r>
            <a:r>
              <a:rPr lang="en-US" altLang="ja-JP" dirty="0" err="1"/>
              <a:t>là</a:t>
            </a:r>
            <a:r>
              <a:rPr lang="en-US" altLang="ja-JP" dirty="0"/>
              <a:t> </a:t>
            </a:r>
            <a:r>
              <a:rPr lang="en-US" altLang="ja-JP" dirty="0" err="1"/>
              <a:t>gì</a:t>
            </a:r>
            <a:endParaRPr kumimoji="1" lang="ja-JP" altLang="en-US" dirty="0"/>
          </a:p>
        </p:txBody>
      </p:sp>
      <p:graphicFrame>
        <p:nvGraphicFramePr>
          <p:cNvPr id="6" name="Content Placeholder 5">
            <a:extLst>
              <a:ext uri="{FF2B5EF4-FFF2-40B4-BE49-F238E27FC236}">
                <a16:creationId xmlns:a16="http://schemas.microsoft.com/office/drawing/2014/main" id="{E7BDF63C-4922-BCEF-7D49-678CA296922C}"/>
              </a:ext>
            </a:extLst>
          </p:cNvPr>
          <p:cNvGraphicFramePr>
            <a:graphicFrameLocks noGrp="1"/>
          </p:cNvGraphicFramePr>
          <p:nvPr>
            <p:ph idx="1"/>
            <p:extLst>
              <p:ext uri="{D42A27DB-BD31-4B8C-83A1-F6EECF244321}">
                <p14:modId xmlns:p14="http://schemas.microsoft.com/office/powerpoint/2010/main" val="4075560851"/>
              </p:ext>
            </p:extLst>
          </p:nvPr>
        </p:nvGraphicFramePr>
        <p:xfrm>
          <a:off x="533400" y="1219200"/>
          <a:ext cx="8915399" cy="3933934"/>
        </p:xfrm>
        <a:graphic>
          <a:graphicData uri="http://schemas.openxmlformats.org/drawingml/2006/table">
            <a:tbl>
              <a:tblPr>
                <a:tableStyleId>{2D5ABB26-0587-4C30-8999-92F81FD0307C}</a:tableStyleId>
              </a:tblPr>
              <a:tblGrid>
                <a:gridCol w="2850120">
                  <a:extLst>
                    <a:ext uri="{9D8B030D-6E8A-4147-A177-3AD203B41FA5}">
                      <a16:colId xmlns:a16="http://schemas.microsoft.com/office/drawing/2014/main" val="2583395907"/>
                    </a:ext>
                  </a:extLst>
                </a:gridCol>
                <a:gridCol w="2483880">
                  <a:extLst>
                    <a:ext uri="{9D8B030D-6E8A-4147-A177-3AD203B41FA5}">
                      <a16:colId xmlns:a16="http://schemas.microsoft.com/office/drawing/2014/main" val="577295616"/>
                    </a:ext>
                  </a:extLst>
                </a:gridCol>
                <a:gridCol w="3581399">
                  <a:extLst>
                    <a:ext uri="{9D8B030D-6E8A-4147-A177-3AD203B41FA5}">
                      <a16:colId xmlns:a16="http://schemas.microsoft.com/office/drawing/2014/main" val="558966284"/>
                    </a:ext>
                  </a:extLst>
                </a:gridCol>
              </a:tblGrid>
              <a:tr h="944880">
                <a:tc>
                  <a:txBody>
                    <a:bodyPr/>
                    <a:lstStyle/>
                    <a:p>
                      <a:pPr algn="ctr">
                        <a:lnSpc>
                          <a:spcPct val="115000"/>
                        </a:lnSpc>
                        <a:buNone/>
                      </a:pPr>
                      <a:r>
                        <a:rPr lang="ja-JP" sz="1800" b="0" kern="100" dirty="0">
                          <a:solidFill>
                            <a:srgbClr val="FF0000"/>
                          </a:solidFill>
                          <a:effectLst/>
                        </a:rPr>
                        <a:t>Tên gọi không chính thức</a:t>
                      </a:r>
                      <a:endParaRPr lang="ja-JP" sz="1600" b="0" kern="100" dirty="0">
                        <a:solidFill>
                          <a:srgbClr val="FF0000"/>
                        </a:solidFill>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ja-JP" sz="1800" b="0" kern="100" dirty="0">
                          <a:solidFill>
                            <a:srgbClr val="FF0000"/>
                          </a:solidFill>
                          <a:effectLst/>
                        </a:rPr>
                        <a:t>Tên gọi chuẩn</a:t>
                      </a:r>
                      <a:endParaRPr lang="ja-JP" sz="1600" b="0" kern="100" dirty="0">
                        <a:solidFill>
                          <a:srgbClr val="FF0000"/>
                        </a:solidFill>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ja-JP" sz="1800" b="0" kern="100" dirty="0">
                          <a:solidFill>
                            <a:srgbClr val="FF0000"/>
                          </a:solidFill>
                          <a:effectLst/>
                        </a:rPr>
                        <a:t>Ghi chú</a:t>
                      </a:r>
                      <a:endParaRPr lang="ja-JP" sz="1600" b="0" kern="100" dirty="0">
                        <a:solidFill>
                          <a:srgbClr val="FF0000"/>
                        </a:solidFill>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2944513"/>
                  </a:ext>
                </a:extLst>
              </a:tr>
              <a:tr h="458489">
                <a:tc>
                  <a:txBody>
                    <a:bodyPr/>
                    <a:lstStyle/>
                    <a:p>
                      <a:pPr>
                        <a:lnSpc>
                          <a:spcPct val="115000"/>
                        </a:lnSpc>
                        <a:buNone/>
                      </a:pPr>
                      <a:r>
                        <a:rPr lang="ja-JP" sz="1800" b="0" kern="100" dirty="0">
                          <a:effectLst/>
                        </a:rPr>
                        <a:t>Java 1.0 – 1.4 </a:t>
                      </a:r>
                      <a:endParaRPr lang="ja-JP" sz="1600" b="0" kern="100" dirty="0">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buNone/>
                      </a:pPr>
                      <a:r>
                        <a:rPr lang="ja-JP" sz="1800" b="0" kern="100">
                          <a:effectLst/>
                        </a:rPr>
                        <a:t>JDK 1.0 – 1.4</a:t>
                      </a:r>
                      <a:endParaRPr lang="ja-JP" sz="1600" b="0" kern="100">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buNone/>
                      </a:pPr>
                      <a:r>
                        <a:rPr lang="ja-JP" sz="1800" b="0" kern="100">
                          <a:effectLst/>
                        </a:rPr>
                        <a:t>Các phiên bản đầu tiên, dùng số 1.x </a:t>
                      </a:r>
                      <a:endParaRPr lang="ja-JP" sz="1600" b="0" kern="100">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0423546"/>
                  </a:ext>
                </a:extLst>
              </a:tr>
              <a:tr h="944880">
                <a:tc>
                  <a:txBody>
                    <a:bodyPr/>
                    <a:lstStyle/>
                    <a:p>
                      <a:pPr>
                        <a:lnSpc>
                          <a:spcPct val="115000"/>
                        </a:lnSpc>
                        <a:buNone/>
                      </a:pPr>
                      <a:r>
                        <a:rPr lang="ja-JP" sz="1800" b="0" kern="100" dirty="0">
                          <a:effectLst/>
                        </a:rPr>
                        <a:t>Java 5 </a:t>
                      </a:r>
                      <a:endParaRPr lang="ja-JP" sz="1600" b="0" kern="100" dirty="0">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buNone/>
                      </a:pPr>
                      <a:r>
                        <a:rPr lang="ja-JP" sz="1800" b="0" kern="100">
                          <a:effectLst/>
                        </a:rPr>
                        <a:t>JDK 5</a:t>
                      </a:r>
                      <a:endParaRPr lang="ja-JP" sz="1600" b="0" kern="100">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buNone/>
                      </a:pPr>
                      <a:r>
                        <a:rPr lang="ja-JP" sz="1800" b="0" kern="100">
                          <a:effectLst/>
                        </a:rPr>
                        <a:t> Bắt đầu bỏ số 1, dùng trực tiếp số phiên bản</a:t>
                      </a:r>
                      <a:endParaRPr lang="ja-JP" sz="1600" b="0" kern="100">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97670450"/>
                  </a:ext>
                </a:extLst>
              </a:tr>
              <a:tr h="1431272">
                <a:tc>
                  <a:txBody>
                    <a:bodyPr/>
                    <a:lstStyle/>
                    <a:p>
                      <a:pPr>
                        <a:lnSpc>
                          <a:spcPct val="115000"/>
                        </a:lnSpc>
                        <a:buNone/>
                      </a:pPr>
                      <a:r>
                        <a:rPr lang="ja-JP" sz="1800" b="0" kern="100" dirty="0">
                          <a:effectLst/>
                        </a:rPr>
                        <a:t>Java 9 → Java 2</a:t>
                      </a:r>
                      <a:r>
                        <a:rPr lang="en-US" altLang="ja-JP" sz="1800" b="0" kern="100" dirty="0">
                          <a:effectLst/>
                        </a:rPr>
                        <a:t>6 (3/2026)</a:t>
                      </a:r>
                      <a:endParaRPr lang="ja-JP" sz="1800" b="0" kern="100" dirty="0">
                        <a:effectLs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buNone/>
                      </a:pPr>
                      <a:r>
                        <a:rPr lang="ja-JP" sz="1800" b="0" kern="100" dirty="0">
                          <a:effectLst/>
                        </a:rPr>
                        <a:t>JDK 9 → JDK 2</a:t>
                      </a:r>
                      <a:r>
                        <a:rPr lang="en-US" altLang="ja-JP" sz="1800" b="0" kern="100" dirty="0">
                          <a:effectLst/>
                        </a:rPr>
                        <a:t>6</a:t>
                      </a:r>
                      <a:endParaRPr lang="ja-JP" sz="1600" b="0" kern="100" dirty="0">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buNone/>
                      </a:pPr>
                      <a:r>
                        <a:rPr lang="ja-JP" sz="1800" b="0" kern="100" dirty="0">
                          <a:effectLst/>
                        </a:rPr>
                        <a:t>Chu kỳ phát hành 6 tháng/lần từ Java 9  </a:t>
                      </a:r>
                      <a:endParaRPr lang="ja-JP" sz="1600" b="0" kern="100" dirty="0">
                        <a:effectLst/>
                        <a:latin typeface="+mj-lt"/>
                        <a:ea typeface="游明朝" panose="02020400000000000000" pitchFamily="18" charset="-12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9025482"/>
                  </a:ext>
                </a:extLst>
              </a:tr>
            </a:tbl>
          </a:graphicData>
        </a:graphic>
      </p:graphicFrame>
      <p:sp>
        <p:nvSpPr>
          <p:cNvPr id="4" name="Slide Number Placeholder 3">
            <a:extLst>
              <a:ext uri="{FF2B5EF4-FFF2-40B4-BE49-F238E27FC236}">
                <a16:creationId xmlns:a16="http://schemas.microsoft.com/office/drawing/2014/main" id="{E6A1A95C-C550-5F02-5DAA-69758EE8E2E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4</a:t>
            </a:fld>
            <a:endParaRPr lang="en-US" altLang="ja-JP"/>
          </a:p>
        </p:txBody>
      </p:sp>
    </p:spTree>
    <p:extLst>
      <p:ext uri="{BB962C8B-B14F-4D97-AF65-F5344CB8AC3E}">
        <p14:creationId xmlns:p14="http://schemas.microsoft.com/office/powerpoint/2010/main" val="1289606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4CAD2-B224-05ED-B8D8-49F2234642A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3E2F8C1-EB5E-971F-5F41-249321271CBA}"/>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29D8A5A6-9E34-29B5-F68F-A5EA4F29337E}"/>
              </a:ext>
            </a:extLst>
          </p:cNvPr>
          <p:cNvSpPr>
            <a:spLocks noGrp="1"/>
          </p:cNvSpPr>
          <p:nvPr>
            <p:ph type="sldNum" sz="quarter" idx="4294967295"/>
          </p:nvPr>
        </p:nvSpPr>
        <p:spPr>
          <a:xfrm>
            <a:off x="7677150" y="6356350"/>
            <a:ext cx="2228850" cy="365125"/>
          </a:xfrm>
        </p:spPr>
        <p:txBody>
          <a:bodyPr/>
          <a:lstStyle/>
          <a:p>
            <a:pPr>
              <a:defRPr/>
            </a:pPr>
            <a:r>
              <a:rPr lang="en-US" altLang="ja-JP"/>
              <a:t>Page:</a:t>
            </a:r>
            <a:r>
              <a:rPr lang="ja-JP" altLang="en-US"/>
              <a:t> </a:t>
            </a:r>
            <a:fld id="{DC07468E-517B-4E9D-8840-A4568A307980}" type="slidenum">
              <a:rPr lang="en-US" altLang="ja-JP" smtClean="0"/>
              <a:pPr>
                <a:defRPr/>
              </a:pPr>
              <a:t>5</a:t>
            </a:fld>
            <a:endParaRPr lang="en-US" altLang="ja-JP"/>
          </a:p>
        </p:txBody>
      </p:sp>
      <p:sp>
        <p:nvSpPr>
          <p:cNvPr id="5" name="Slide Number Placeholder 3">
            <a:extLst>
              <a:ext uri="{FF2B5EF4-FFF2-40B4-BE49-F238E27FC236}">
                <a16:creationId xmlns:a16="http://schemas.microsoft.com/office/drawing/2014/main" id="{FCC73BDE-F73F-44B7-51BA-74FE311B3EF9}"/>
              </a:ext>
            </a:extLst>
          </p:cNvPr>
          <p:cNvSpPr txBox="1">
            <a:spLocks/>
          </p:cNvSpPr>
          <p:nvPr/>
        </p:nvSpPr>
        <p:spPr>
          <a:xfrm>
            <a:off x="7616825" y="6381750"/>
            <a:ext cx="2133600" cy="476250"/>
          </a:xfrm>
          <a:prstGeom prst="rect">
            <a:avLst/>
          </a:prstGeom>
        </p:spPr>
        <p:txBody>
          <a:bodyPr vert="horz" lIns="91440" tIns="45720" rIns="91440" bIns="45720" rtlCol="0" anchor="ctr"/>
          <a:lstStyle>
            <a:defPPr>
              <a:defRPr lang="ja-JP"/>
            </a:defPPr>
            <a:lvl1pPr algn="l" rtl="0" eaLnBrk="0" fontAlgn="base" hangingPunct="0">
              <a:spcBef>
                <a:spcPct val="0"/>
              </a:spcBef>
              <a:spcAft>
                <a:spcPct val="0"/>
              </a:spcAft>
              <a:defRPr kumimoji="1" sz="1200" b="1" kern="1200">
                <a:solidFill>
                  <a:schemeClr val="tx1">
                    <a:tint val="75000"/>
                  </a:schemeClr>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a:lstStyle>
          <a:p>
            <a:fld id="{DE54DDFE-72EB-4019-9AAD-C40C6AFA015F}" type="slidenum">
              <a:rPr lang="en-US" altLang="ja-JP" smtClean="0"/>
              <a:pPr/>
              <a:t>5</a:t>
            </a:fld>
            <a:endParaRPr lang="en-US" altLang="ja-JP"/>
          </a:p>
        </p:txBody>
      </p:sp>
      <p:sp>
        <p:nvSpPr>
          <p:cNvPr id="6" name="Rectangle 70">
            <a:extLst>
              <a:ext uri="{FF2B5EF4-FFF2-40B4-BE49-F238E27FC236}">
                <a16:creationId xmlns:a16="http://schemas.microsoft.com/office/drawing/2014/main" id="{A8E827E8-FCDB-E24F-06C2-51EB3FF37A50}"/>
              </a:ext>
            </a:extLst>
          </p:cNvPr>
          <p:cNvSpPr>
            <a:spLocks noChangeArrowheads="1"/>
          </p:cNvSpPr>
          <p:nvPr/>
        </p:nvSpPr>
        <p:spPr bwMode="auto">
          <a:xfrm>
            <a:off x="344488" y="1938338"/>
            <a:ext cx="9120187" cy="4344987"/>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dirty="0"/>
          </a:p>
        </p:txBody>
      </p:sp>
      <p:sp>
        <p:nvSpPr>
          <p:cNvPr id="7" name="Rectangle 2">
            <a:extLst>
              <a:ext uri="{FF2B5EF4-FFF2-40B4-BE49-F238E27FC236}">
                <a16:creationId xmlns:a16="http://schemas.microsoft.com/office/drawing/2014/main" id="{430ED679-01FF-D336-557F-BE3FD03FB836}"/>
              </a:ext>
            </a:extLst>
          </p:cNvPr>
          <p:cNvSpPr txBox="1">
            <a:spLocks noChangeArrowheads="1"/>
          </p:cNvSpPr>
          <p:nvPr/>
        </p:nvSpPr>
        <p:spPr>
          <a:xfrm>
            <a:off x="296068" y="384177"/>
            <a:ext cx="9217025" cy="490537"/>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a:lstStyle>
          <a:p>
            <a:pPr fontAlgn="auto">
              <a:spcAft>
                <a:spcPts val="0"/>
              </a:spcAft>
            </a:pPr>
            <a:r>
              <a:rPr lang="en-US" altLang="ja-JP" b="0" dirty="0">
                <a:latin typeface="Arial" panose="020B0604020202020204" pitchFamily="34" charset="0"/>
                <a:ea typeface="MS UI Gothic" panose="020B0600070205080204" pitchFamily="50" charset="-128"/>
              </a:rPr>
              <a:t>Java </a:t>
            </a:r>
            <a:r>
              <a:rPr lang="en-US" altLang="ja-JP" b="0" dirty="0" err="1">
                <a:latin typeface="Arial" panose="020B0604020202020204" pitchFamily="34" charset="0"/>
                <a:ea typeface="MS UI Gothic" panose="020B0600070205080204" pitchFamily="50" charset="-128"/>
              </a:rPr>
              <a:t>là</a:t>
            </a:r>
            <a:r>
              <a:rPr lang="en-US" altLang="ja-JP" b="0" dirty="0">
                <a:latin typeface="Arial" panose="020B0604020202020204" pitchFamily="34" charset="0"/>
                <a:ea typeface="MS UI Gothic" panose="020B0600070205080204" pitchFamily="50" charset="-128"/>
              </a:rPr>
              <a:t> </a:t>
            </a:r>
            <a:r>
              <a:rPr lang="en-US" altLang="ja-JP" b="0" dirty="0" err="1">
                <a:latin typeface="Arial" panose="020B0604020202020204" pitchFamily="34" charset="0"/>
                <a:ea typeface="MS UI Gothic" panose="020B0600070205080204" pitchFamily="50" charset="-128"/>
              </a:rPr>
              <a:t>gì</a:t>
            </a:r>
            <a:endParaRPr lang="en-US" altLang="ja-JP" b="0" dirty="0">
              <a:latin typeface="Arial" panose="020B0604020202020204" pitchFamily="34" charset="0"/>
              <a:ea typeface="MS UI Gothic" panose="020B0600070205080204" pitchFamily="50" charset="-128"/>
            </a:endParaRPr>
          </a:p>
        </p:txBody>
      </p:sp>
      <p:sp>
        <p:nvSpPr>
          <p:cNvPr id="8" name="Rectangle 3">
            <a:extLst>
              <a:ext uri="{FF2B5EF4-FFF2-40B4-BE49-F238E27FC236}">
                <a16:creationId xmlns:a16="http://schemas.microsoft.com/office/drawing/2014/main" id="{6947D6E5-6F78-C092-42BD-FFD1B4D51688}"/>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10" name="Rectangle 8">
            <a:extLst>
              <a:ext uri="{FF2B5EF4-FFF2-40B4-BE49-F238E27FC236}">
                <a16:creationId xmlns:a16="http://schemas.microsoft.com/office/drawing/2014/main" id="{6667C650-D9D9-9236-2976-85AFAAD611C2}"/>
              </a:ext>
            </a:extLst>
          </p:cNvPr>
          <p:cNvSpPr>
            <a:spLocks noChangeArrowheads="1"/>
          </p:cNvSpPr>
          <p:nvPr/>
        </p:nvSpPr>
        <p:spPr bwMode="auto">
          <a:xfrm>
            <a:off x="344488" y="1254125"/>
            <a:ext cx="9120187" cy="51593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Là </a:t>
            </a:r>
            <a:r>
              <a:rPr lang="en-US" altLang="ja-JP" sz="1800">
                <a:latin typeface="Arial" panose="020B0604020202020204" pitchFamily="34" charset="0"/>
              </a:rPr>
              <a:t>ngôn ngữ hướng đối tượng không phụ thuộc vào platform</a:t>
            </a:r>
            <a:endParaRPr lang="en-US" altLang="ja-JP" sz="2000">
              <a:latin typeface="Arial" panose="020B0604020202020204" pitchFamily="34" charset="0"/>
            </a:endParaRPr>
          </a:p>
        </p:txBody>
      </p:sp>
      <p:grpSp>
        <p:nvGrpSpPr>
          <p:cNvPr id="11" name="Group 91">
            <a:extLst>
              <a:ext uri="{FF2B5EF4-FFF2-40B4-BE49-F238E27FC236}">
                <a16:creationId xmlns:a16="http://schemas.microsoft.com/office/drawing/2014/main" id="{9DAD8EB0-AA08-4436-4684-D701D6A6455B}"/>
              </a:ext>
            </a:extLst>
          </p:cNvPr>
          <p:cNvGrpSpPr>
            <a:grpSpLocks/>
          </p:cNvGrpSpPr>
          <p:nvPr/>
        </p:nvGrpSpPr>
        <p:grpSpPr bwMode="auto">
          <a:xfrm>
            <a:off x="1008063" y="1922463"/>
            <a:ext cx="7450137" cy="4308475"/>
            <a:chOff x="635" y="1211"/>
            <a:chExt cx="4693" cy="2714"/>
          </a:xfrm>
        </p:grpSpPr>
        <p:sp>
          <p:nvSpPr>
            <p:cNvPr id="12" name="Rectangle 74">
              <a:extLst>
                <a:ext uri="{FF2B5EF4-FFF2-40B4-BE49-F238E27FC236}">
                  <a16:creationId xmlns:a16="http://schemas.microsoft.com/office/drawing/2014/main" id="{C6BD1C39-5FA3-0EA1-2B5A-02B61912F106}"/>
                </a:ext>
              </a:extLst>
            </p:cNvPr>
            <p:cNvSpPr>
              <a:spLocks noChangeArrowheads="1"/>
            </p:cNvSpPr>
            <p:nvPr/>
          </p:nvSpPr>
          <p:spPr bwMode="auto">
            <a:xfrm>
              <a:off x="706" y="3211"/>
              <a:ext cx="1647"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lgn="ctr"/>
              <a:r>
                <a:rPr lang="en-US" altLang="ja-JP" sz="1800" dirty="0">
                  <a:latin typeface="Arial" panose="020B0604020202020204" pitchFamily="34" charset="0"/>
                </a:rPr>
                <a:t>Windows note type PC</a:t>
              </a:r>
            </a:p>
          </p:txBody>
        </p:sp>
        <p:sp>
          <p:nvSpPr>
            <p:cNvPr id="13" name="Rectangle 61">
              <a:extLst>
                <a:ext uri="{FF2B5EF4-FFF2-40B4-BE49-F238E27FC236}">
                  <a16:creationId xmlns:a16="http://schemas.microsoft.com/office/drawing/2014/main" id="{0E784AE3-D0AF-A40A-2B8E-FC32869CF684}"/>
                </a:ext>
              </a:extLst>
            </p:cNvPr>
            <p:cNvSpPr>
              <a:spLocks noChangeArrowheads="1"/>
            </p:cNvSpPr>
            <p:nvPr/>
          </p:nvSpPr>
          <p:spPr bwMode="auto">
            <a:xfrm>
              <a:off x="1269" y="3664"/>
              <a:ext cx="3147"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lgn="ctr"/>
              <a:r>
                <a:rPr lang="en-US" altLang="ja-JP" sz="1800" b="0" dirty="0" err="1">
                  <a:latin typeface="Arial" panose="020B0604020202020204" pitchFamily="34" charset="0"/>
                </a:rPr>
                <a:t>Có</a:t>
              </a:r>
              <a:r>
                <a:rPr lang="en-US" altLang="ja-JP" sz="1800" b="0" dirty="0">
                  <a:latin typeface="Arial" panose="020B0604020202020204" pitchFamily="34" charset="0"/>
                </a:rPr>
                <a:t> </a:t>
              </a:r>
              <a:r>
                <a:rPr lang="en-US" altLang="ja-JP" sz="1800" b="0" dirty="0" err="1">
                  <a:latin typeface="Arial" panose="020B0604020202020204" pitchFamily="34" charset="0"/>
                </a:rPr>
                <a:t>thể</a:t>
              </a:r>
              <a:r>
                <a:rPr lang="en-US" altLang="ja-JP" sz="1800" b="0" dirty="0">
                  <a:latin typeface="Arial" panose="020B0604020202020204" pitchFamily="34" charset="0"/>
                </a:rPr>
                <a:t> </a:t>
              </a:r>
              <a:r>
                <a:rPr lang="en-US" altLang="ja-JP" sz="1800" b="0" dirty="0" err="1">
                  <a:latin typeface="Arial" panose="020B0604020202020204" pitchFamily="34" charset="0"/>
                </a:rPr>
                <a:t>chạy</a:t>
              </a:r>
              <a:r>
                <a:rPr lang="en-US" altLang="ja-JP" sz="1800" b="0" dirty="0">
                  <a:latin typeface="Arial" panose="020B0604020202020204" pitchFamily="34" charset="0"/>
                </a:rPr>
                <a:t> </a:t>
              </a:r>
              <a:r>
                <a:rPr lang="en-US" altLang="ja-JP" sz="1800" b="0" dirty="0" err="1">
                  <a:latin typeface="Arial" panose="020B0604020202020204" pitchFamily="34" charset="0"/>
                </a:rPr>
                <a:t>trên</a:t>
              </a:r>
              <a:r>
                <a:rPr lang="en-US" altLang="ja-JP" sz="1800" b="0" dirty="0">
                  <a:latin typeface="Arial" panose="020B0604020202020204" pitchFamily="34" charset="0"/>
                </a:rPr>
                <a:t> </a:t>
              </a:r>
              <a:r>
                <a:rPr lang="en-US" altLang="ja-JP" sz="1800" b="0" dirty="0" err="1">
                  <a:latin typeface="Arial" panose="020B0604020202020204" pitchFamily="34" charset="0"/>
                </a:rPr>
                <a:t>rất</a:t>
              </a:r>
              <a:r>
                <a:rPr lang="en-US" altLang="ja-JP" sz="1800" b="0" dirty="0">
                  <a:latin typeface="Arial" panose="020B0604020202020204" pitchFamily="34" charset="0"/>
                </a:rPr>
                <a:t> </a:t>
              </a:r>
              <a:r>
                <a:rPr lang="en-US" altLang="ja-JP" sz="1800" b="0" dirty="0" err="1">
                  <a:latin typeface="Arial" panose="020B0604020202020204" pitchFamily="34" charset="0"/>
                </a:rPr>
                <a:t>nhiều</a:t>
              </a:r>
              <a:r>
                <a:rPr lang="en-US" altLang="ja-JP" sz="1800" b="0" dirty="0">
                  <a:latin typeface="Arial" panose="020B0604020202020204" pitchFamily="34" charset="0"/>
                </a:rPr>
                <a:t> </a:t>
              </a:r>
              <a:r>
                <a:rPr lang="en-US" altLang="ja-JP" sz="1800" b="0" dirty="0" err="1">
                  <a:latin typeface="Arial" panose="020B0604020202020204" pitchFamily="34" charset="0"/>
                </a:rPr>
                <a:t>môi</a:t>
              </a:r>
              <a:r>
                <a:rPr lang="en-US" altLang="ja-JP" sz="1800" b="0" dirty="0">
                  <a:latin typeface="Arial" panose="020B0604020202020204" pitchFamily="34" charset="0"/>
                </a:rPr>
                <a:t> </a:t>
              </a:r>
              <a:r>
                <a:rPr lang="en-US" altLang="ja-JP" sz="1800" b="0" dirty="0" err="1">
                  <a:latin typeface="Arial" panose="020B0604020202020204" pitchFamily="34" charset="0"/>
                </a:rPr>
                <a:t>trường</a:t>
              </a:r>
              <a:endParaRPr lang="en-US" altLang="ja-JP" sz="1800" b="0" dirty="0">
                <a:latin typeface="Arial" panose="020B0604020202020204" pitchFamily="34" charset="0"/>
              </a:endParaRPr>
            </a:p>
          </p:txBody>
        </p:sp>
        <p:sp>
          <p:nvSpPr>
            <p:cNvPr id="14" name="Rectangle 73">
              <a:extLst>
                <a:ext uri="{FF2B5EF4-FFF2-40B4-BE49-F238E27FC236}">
                  <a16:creationId xmlns:a16="http://schemas.microsoft.com/office/drawing/2014/main" id="{84D3D19E-9BF8-30F8-C55E-2FBE03C0BD91}"/>
                </a:ext>
              </a:extLst>
            </p:cNvPr>
            <p:cNvSpPr>
              <a:spLocks noChangeArrowheads="1"/>
            </p:cNvSpPr>
            <p:nvPr/>
          </p:nvSpPr>
          <p:spPr bwMode="auto">
            <a:xfrm>
              <a:off x="635" y="2197"/>
              <a:ext cx="1671"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lgn="ctr"/>
              <a:r>
                <a:rPr lang="en-US" altLang="ja-JP" sz="1800">
                  <a:latin typeface="Arial" panose="020B0604020202020204" pitchFamily="34" charset="0"/>
                </a:rPr>
                <a:t>UNIX server machine</a:t>
              </a:r>
            </a:p>
          </p:txBody>
        </p:sp>
        <p:sp>
          <p:nvSpPr>
            <p:cNvPr id="15" name="Rectangle 54">
              <a:extLst>
                <a:ext uri="{FF2B5EF4-FFF2-40B4-BE49-F238E27FC236}">
                  <a16:creationId xmlns:a16="http://schemas.microsoft.com/office/drawing/2014/main" id="{B126691F-76FA-6431-50D2-6D4F585356AE}"/>
                </a:ext>
              </a:extLst>
            </p:cNvPr>
            <p:cNvSpPr>
              <a:spLocks noChangeArrowheads="1"/>
            </p:cNvSpPr>
            <p:nvPr/>
          </p:nvSpPr>
          <p:spPr bwMode="auto">
            <a:xfrm>
              <a:off x="1234" y="1211"/>
              <a:ext cx="3147"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lgn="ctr"/>
              <a:r>
                <a:rPr lang="ja-JP" altLang="en-US" sz="2400"/>
                <a:t>「 </a:t>
              </a:r>
              <a:r>
                <a:rPr lang="en-US" altLang="ja-JP" sz="2400"/>
                <a:t>Write Once, Run Anywhere </a:t>
              </a:r>
              <a:r>
                <a:rPr lang="ja-JP" altLang="en-US" sz="2400"/>
                <a:t>」</a:t>
              </a:r>
            </a:p>
          </p:txBody>
        </p:sp>
        <p:grpSp>
          <p:nvGrpSpPr>
            <p:cNvPr id="16" name="Group 62">
              <a:extLst>
                <a:ext uri="{FF2B5EF4-FFF2-40B4-BE49-F238E27FC236}">
                  <a16:creationId xmlns:a16="http://schemas.microsoft.com/office/drawing/2014/main" id="{3E3C092F-D2D5-BA2D-98DC-7154B04924EA}"/>
                </a:ext>
              </a:extLst>
            </p:cNvPr>
            <p:cNvGrpSpPr>
              <a:grpSpLocks/>
            </p:cNvGrpSpPr>
            <p:nvPr/>
          </p:nvGrpSpPr>
          <p:grpSpPr bwMode="auto">
            <a:xfrm>
              <a:off x="2572" y="1625"/>
              <a:ext cx="729" cy="711"/>
              <a:chOff x="3888" y="1674"/>
              <a:chExt cx="729" cy="711"/>
            </a:xfrm>
          </p:grpSpPr>
          <p:sp>
            <p:nvSpPr>
              <p:cNvPr id="31" name="AutoShape 63">
                <a:extLst>
                  <a:ext uri="{FF2B5EF4-FFF2-40B4-BE49-F238E27FC236}">
                    <a16:creationId xmlns:a16="http://schemas.microsoft.com/office/drawing/2014/main" id="{465821D5-F01C-F6FE-085E-67FF9D429027}"/>
                  </a:ext>
                </a:extLst>
              </p:cNvPr>
              <p:cNvSpPr>
                <a:spLocks noChangeArrowheads="1"/>
              </p:cNvSpPr>
              <p:nvPr/>
            </p:nvSpPr>
            <p:spPr bwMode="auto">
              <a:xfrm>
                <a:off x="3897" y="1674"/>
                <a:ext cx="720" cy="711"/>
              </a:xfrm>
              <a:prstGeom prst="foldedCorner">
                <a:avLst>
                  <a:gd name="adj" fmla="val 12500"/>
                </a:avLst>
              </a:prstGeom>
              <a:solidFill>
                <a:srgbClr val="FFCC99"/>
              </a:soli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ja-JP" altLang="en-US"/>
              </a:p>
            </p:txBody>
          </p:sp>
          <p:sp>
            <p:nvSpPr>
              <p:cNvPr id="32" name="Text Box 64">
                <a:extLst>
                  <a:ext uri="{FF2B5EF4-FFF2-40B4-BE49-F238E27FC236}">
                    <a16:creationId xmlns:a16="http://schemas.microsoft.com/office/drawing/2014/main" id="{0D53D457-2369-5460-C631-1E67D5229A94}"/>
                  </a:ext>
                </a:extLst>
              </p:cNvPr>
              <p:cNvSpPr txBox="1">
                <a:spLocks noChangeArrowheads="1"/>
              </p:cNvSpPr>
              <p:nvPr/>
            </p:nvSpPr>
            <p:spPr bwMode="auto">
              <a:xfrm>
                <a:off x="3888" y="1791"/>
                <a:ext cx="684" cy="491"/>
              </a:xfrm>
              <a:prstGeom prst="rect">
                <a:avLst/>
              </a:prstGeom>
              <a:solidFill>
                <a:srgbClr val="FFCC99">
                  <a:alpha val="0"/>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a:latin typeface="MS UI Gothic" panose="020B0600070205080204" pitchFamily="50" charset="-128"/>
                  </a:rPr>
                  <a:t>Java</a:t>
                </a:r>
              </a:p>
              <a:p>
                <a:pPr algn="ctr">
                  <a:spcBef>
                    <a:spcPct val="50000"/>
                  </a:spcBef>
                </a:pPr>
                <a:r>
                  <a:rPr lang="en-US" altLang="ja-JP" sz="1800">
                    <a:latin typeface="MS UI Gothic" panose="020B0600070205080204" pitchFamily="50" charset="-128"/>
                  </a:rPr>
                  <a:t>program</a:t>
                </a:r>
              </a:p>
            </p:txBody>
          </p:sp>
        </p:grpSp>
        <p:sp>
          <p:nvSpPr>
            <p:cNvPr id="17" name="AutoShape 65">
              <a:extLst>
                <a:ext uri="{FF2B5EF4-FFF2-40B4-BE49-F238E27FC236}">
                  <a16:creationId xmlns:a16="http://schemas.microsoft.com/office/drawing/2014/main" id="{28BAB2CD-3C14-D435-A2F5-0E549E969280}"/>
                </a:ext>
              </a:extLst>
            </p:cNvPr>
            <p:cNvSpPr>
              <a:spLocks noChangeArrowheads="1"/>
            </p:cNvSpPr>
            <p:nvPr/>
          </p:nvSpPr>
          <p:spPr bwMode="auto">
            <a:xfrm>
              <a:off x="1942" y="1850"/>
              <a:ext cx="531" cy="225"/>
            </a:xfrm>
            <a:prstGeom prst="leftArrow">
              <a:avLst>
                <a:gd name="adj1" fmla="val 50000"/>
                <a:gd name="adj2" fmla="val 59000"/>
              </a:avLst>
            </a:prstGeom>
            <a:solidFill>
              <a:srgbClr val="FF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8" name="AutoShape 66">
              <a:extLst>
                <a:ext uri="{FF2B5EF4-FFF2-40B4-BE49-F238E27FC236}">
                  <a16:creationId xmlns:a16="http://schemas.microsoft.com/office/drawing/2014/main" id="{2B545D75-EA66-D8A0-9BA9-A58AAA2AB7CA}"/>
                </a:ext>
              </a:extLst>
            </p:cNvPr>
            <p:cNvSpPr>
              <a:spLocks noChangeArrowheads="1"/>
            </p:cNvSpPr>
            <p:nvPr/>
          </p:nvSpPr>
          <p:spPr bwMode="auto">
            <a:xfrm rot="-2477606">
              <a:off x="2064" y="2384"/>
              <a:ext cx="498" cy="225"/>
            </a:xfrm>
            <a:prstGeom prst="leftArrow">
              <a:avLst>
                <a:gd name="adj1" fmla="val 50000"/>
                <a:gd name="adj2" fmla="val 55333"/>
              </a:avLst>
            </a:prstGeom>
            <a:solidFill>
              <a:srgbClr val="FF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9" name="AutoShape 67">
              <a:extLst>
                <a:ext uri="{FF2B5EF4-FFF2-40B4-BE49-F238E27FC236}">
                  <a16:creationId xmlns:a16="http://schemas.microsoft.com/office/drawing/2014/main" id="{F5FD0562-0C07-57F5-282B-53E041DD6D1C}"/>
                </a:ext>
              </a:extLst>
            </p:cNvPr>
            <p:cNvSpPr>
              <a:spLocks noChangeArrowheads="1"/>
            </p:cNvSpPr>
            <p:nvPr/>
          </p:nvSpPr>
          <p:spPr bwMode="auto">
            <a:xfrm rot="16200000">
              <a:off x="2802" y="2435"/>
              <a:ext cx="284" cy="225"/>
            </a:xfrm>
            <a:prstGeom prst="leftArrow">
              <a:avLst>
                <a:gd name="adj1" fmla="val 50000"/>
                <a:gd name="adj2" fmla="val 31556"/>
              </a:avLst>
            </a:prstGeom>
            <a:solidFill>
              <a:srgbClr val="FF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0" name="AutoShape 68">
              <a:extLst>
                <a:ext uri="{FF2B5EF4-FFF2-40B4-BE49-F238E27FC236}">
                  <a16:creationId xmlns:a16="http://schemas.microsoft.com/office/drawing/2014/main" id="{D79DA8A7-4CB1-14EB-2080-C50CEDD42F67}"/>
                </a:ext>
              </a:extLst>
            </p:cNvPr>
            <p:cNvSpPr>
              <a:spLocks noChangeArrowheads="1"/>
            </p:cNvSpPr>
            <p:nvPr/>
          </p:nvSpPr>
          <p:spPr bwMode="auto">
            <a:xfrm rot="10800000">
              <a:off x="3401" y="1842"/>
              <a:ext cx="531" cy="225"/>
            </a:xfrm>
            <a:prstGeom prst="leftArrow">
              <a:avLst>
                <a:gd name="adj1" fmla="val 50000"/>
                <a:gd name="adj2" fmla="val 59000"/>
              </a:avLst>
            </a:prstGeom>
            <a:solidFill>
              <a:srgbClr val="FF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1" name="AutoShape 69">
              <a:extLst>
                <a:ext uri="{FF2B5EF4-FFF2-40B4-BE49-F238E27FC236}">
                  <a16:creationId xmlns:a16="http://schemas.microsoft.com/office/drawing/2014/main" id="{12F24D55-E7A7-D06E-8AF2-B5A7D12E724F}"/>
                </a:ext>
              </a:extLst>
            </p:cNvPr>
            <p:cNvSpPr>
              <a:spLocks noChangeArrowheads="1"/>
            </p:cNvSpPr>
            <p:nvPr/>
          </p:nvSpPr>
          <p:spPr bwMode="auto">
            <a:xfrm rot="13358687">
              <a:off x="3307" y="2439"/>
              <a:ext cx="498" cy="225"/>
            </a:xfrm>
            <a:prstGeom prst="leftArrow">
              <a:avLst>
                <a:gd name="adj1" fmla="val 50000"/>
                <a:gd name="adj2" fmla="val 55333"/>
              </a:avLst>
            </a:prstGeom>
            <a:solidFill>
              <a:srgbClr val="FF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2" name="Rectangle 75">
              <a:extLst>
                <a:ext uri="{FF2B5EF4-FFF2-40B4-BE49-F238E27FC236}">
                  <a16:creationId xmlns:a16="http://schemas.microsoft.com/office/drawing/2014/main" id="{E92BAAEC-60B8-298D-5421-FE1FC47953EF}"/>
                </a:ext>
              </a:extLst>
            </p:cNvPr>
            <p:cNvSpPr>
              <a:spLocks noChangeArrowheads="1"/>
            </p:cNvSpPr>
            <p:nvPr/>
          </p:nvSpPr>
          <p:spPr bwMode="auto">
            <a:xfrm>
              <a:off x="3109" y="3211"/>
              <a:ext cx="1931"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lgn="ctr"/>
              <a:r>
                <a:rPr lang="en-US" altLang="ja-JP" sz="1800" dirty="0">
                  <a:latin typeface="Arial" panose="020B0604020202020204" pitchFamily="34" charset="0"/>
                </a:rPr>
                <a:t>Mac OS desktop PC</a:t>
              </a:r>
            </a:p>
          </p:txBody>
        </p:sp>
        <p:sp>
          <p:nvSpPr>
            <p:cNvPr id="23" name="Rectangle 76">
              <a:extLst>
                <a:ext uri="{FF2B5EF4-FFF2-40B4-BE49-F238E27FC236}">
                  <a16:creationId xmlns:a16="http://schemas.microsoft.com/office/drawing/2014/main" id="{368937D2-A415-5326-0862-CAC65B6FEEE5}"/>
                </a:ext>
              </a:extLst>
            </p:cNvPr>
            <p:cNvSpPr>
              <a:spLocks noChangeArrowheads="1"/>
            </p:cNvSpPr>
            <p:nvPr/>
          </p:nvSpPr>
          <p:spPr bwMode="auto">
            <a:xfrm>
              <a:off x="2471" y="3211"/>
              <a:ext cx="826"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lgn="ctr"/>
              <a:r>
                <a:rPr lang="en-US" altLang="ja-JP" sz="1800" dirty="0">
                  <a:latin typeface="Arial" panose="020B0604020202020204" pitchFamily="34" charset="0"/>
                </a:rPr>
                <a:t>PDA</a:t>
              </a:r>
            </a:p>
          </p:txBody>
        </p:sp>
        <p:sp>
          <p:nvSpPr>
            <p:cNvPr id="24" name="Rectangle 77">
              <a:extLst>
                <a:ext uri="{FF2B5EF4-FFF2-40B4-BE49-F238E27FC236}">
                  <a16:creationId xmlns:a16="http://schemas.microsoft.com/office/drawing/2014/main" id="{1085A41A-A67F-B803-FC02-96DD6813814C}"/>
                </a:ext>
              </a:extLst>
            </p:cNvPr>
            <p:cNvSpPr>
              <a:spLocks noChangeArrowheads="1"/>
            </p:cNvSpPr>
            <p:nvPr/>
          </p:nvSpPr>
          <p:spPr bwMode="auto">
            <a:xfrm>
              <a:off x="3664" y="2197"/>
              <a:ext cx="1664"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lgn="ctr"/>
              <a:r>
                <a:rPr lang="en-US" altLang="ja-JP" sz="1800" dirty="0" err="1">
                  <a:latin typeface="Arial" panose="020B0604020202020204" pitchFamily="34" charset="0"/>
                </a:rPr>
                <a:t>Điện</a:t>
              </a:r>
              <a:r>
                <a:rPr lang="en-US" altLang="ja-JP" sz="1800" dirty="0">
                  <a:latin typeface="Arial" panose="020B0604020202020204" pitchFamily="34" charset="0"/>
                </a:rPr>
                <a:t> </a:t>
              </a:r>
              <a:r>
                <a:rPr lang="en-US" altLang="ja-JP" sz="1800" dirty="0" err="1">
                  <a:latin typeface="Arial" panose="020B0604020202020204" pitchFamily="34" charset="0"/>
                </a:rPr>
                <a:t>thoại</a:t>
              </a:r>
              <a:r>
                <a:rPr lang="en-US" altLang="ja-JP" sz="1800" dirty="0">
                  <a:latin typeface="Arial" panose="020B0604020202020204" pitchFamily="34" charset="0"/>
                </a:rPr>
                <a:t> di </a:t>
              </a:r>
              <a:r>
                <a:rPr lang="en-US" altLang="ja-JP" sz="1800" dirty="0" err="1">
                  <a:latin typeface="Arial" panose="020B0604020202020204" pitchFamily="34" charset="0"/>
                </a:rPr>
                <a:t>động</a:t>
              </a:r>
              <a:endParaRPr lang="en-US" altLang="ja-JP" sz="1800" dirty="0">
                <a:latin typeface="Arial" panose="020B0604020202020204" pitchFamily="34" charset="0"/>
              </a:endParaRPr>
            </a:p>
          </p:txBody>
        </p:sp>
        <p:pic>
          <p:nvPicPr>
            <p:cNvPr id="25" name="Picture 81">
              <a:extLst>
                <a:ext uri="{FF2B5EF4-FFF2-40B4-BE49-F238E27FC236}">
                  <a16:creationId xmlns:a16="http://schemas.microsoft.com/office/drawing/2014/main" id="{188685DE-61E1-DDF9-F705-8AA4C120D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1" y="2682"/>
              <a:ext cx="288" cy="52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2">
              <a:extLst>
                <a:ext uri="{FF2B5EF4-FFF2-40B4-BE49-F238E27FC236}">
                  <a16:creationId xmlns:a16="http://schemas.microsoft.com/office/drawing/2014/main" id="{F6157561-3673-9FAD-EA43-C5D30FE1A3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8" y="2517"/>
              <a:ext cx="558" cy="67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3">
              <a:extLst>
                <a:ext uri="{FF2B5EF4-FFF2-40B4-BE49-F238E27FC236}">
                  <a16:creationId xmlns:a16="http://schemas.microsoft.com/office/drawing/2014/main" id="{F8BCF99D-BC79-F63C-D757-03CE44EB21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6" y="2590"/>
              <a:ext cx="540" cy="52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4">
              <a:extLst>
                <a:ext uri="{FF2B5EF4-FFF2-40B4-BE49-F238E27FC236}">
                  <a16:creationId xmlns:a16="http://schemas.microsoft.com/office/drawing/2014/main" id="{70494333-6C6F-F612-56E2-7FF1CEC280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4" y="1527"/>
              <a:ext cx="510" cy="70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7">
              <a:extLst>
                <a:ext uri="{FF2B5EF4-FFF2-40B4-BE49-F238E27FC236}">
                  <a16:creationId xmlns:a16="http://schemas.microsoft.com/office/drawing/2014/main" id="{B492CE07-19F1-8321-281C-1332546077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0" y="1491"/>
              <a:ext cx="348" cy="720"/>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60">
              <a:extLst>
                <a:ext uri="{FF2B5EF4-FFF2-40B4-BE49-F238E27FC236}">
                  <a16:creationId xmlns:a16="http://schemas.microsoft.com/office/drawing/2014/main" id="{54DDE0A5-BFBF-F8F6-63BF-41720E7831DE}"/>
                </a:ext>
              </a:extLst>
            </p:cNvPr>
            <p:cNvSpPr>
              <a:spLocks/>
            </p:cNvSpPr>
            <p:nvPr/>
          </p:nvSpPr>
          <p:spPr bwMode="auto">
            <a:xfrm rot="16200000">
              <a:off x="2830" y="1639"/>
              <a:ext cx="261" cy="3827"/>
            </a:xfrm>
            <a:prstGeom prst="leftBrace">
              <a:avLst>
                <a:gd name="adj1" fmla="val 120086"/>
                <a:gd name="adj2" fmla="val 50009"/>
              </a:avLst>
            </a:prstGeom>
            <a:noFill/>
            <a:ln w="25400">
              <a:solidFill>
                <a:schemeClr val="bg2"/>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Tree>
    <p:extLst>
      <p:ext uri="{BB962C8B-B14F-4D97-AF65-F5344CB8AC3E}">
        <p14:creationId xmlns:p14="http://schemas.microsoft.com/office/powerpoint/2010/main" val="346788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D07AE194-0372-0AD3-8A8E-D840BF7BF9ED}"/>
              </a:ext>
            </a:extLst>
          </p:cNvPr>
          <p:cNvSpPr txBox="1">
            <a:spLocks/>
          </p:cNvSpPr>
          <p:nvPr/>
        </p:nvSpPr>
        <p:spPr>
          <a:xfrm>
            <a:off x="7616825" y="6381750"/>
            <a:ext cx="2133600" cy="476250"/>
          </a:xfrm>
          <a:prstGeom prst="rect">
            <a:avLst/>
          </a:prstGeom>
        </p:spPr>
        <p:txBody>
          <a:bodyPr vert="horz" lIns="91440" tIns="45720" rIns="91440" bIns="45720" rtlCol="0" anchor="ctr"/>
          <a:lstStyle>
            <a:defPPr>
              <a:defRPr lang="ja-JP"/>
            </a:defPPr>
            <a:lvl1pPr algn="l" rtl="0" eaLnBrk="0" fontAlgn="base" hangingPunct="0">
              <a:spcBef>
                <a:spcPct val="0"/>
              </a:spcBef>
              <a:spcAft>
                <a:spcPct val="0"/>
              </a:spcAft>
              <a:defRPr kumimoji="1" sz="1200" b="1" kern="1200">
                <a:solidFill>
                  <a:schemeClr val="tx1">
                    <a:tint val="75000"/>
                  </a:schemeClr>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a:lstStyle>
          <a:p>
            <a:fld id="{E80F1A68-15E1-4E03-8053-B1C0321DAD94}" type="slidenum">
              <a:rPr lang="en-US" altLang="ja-JP" smtClean="0"/>
              <a:pPr/>
              <a:t>6</a:t>
            </a:fld>
            <a:endParaRPr lang="en-US" altLang="ja-JP"/>
          </a:p>
        </p:txBody>
      </p:sp>
      <p:sp>
        <p:nvSpPr>
          <p:cNvPr id="3" name="Rectangle 2">
            <a:extLst>
              <a:ext uri="{FF2B5EF4-FFF2-40B4-BE49-F238E27FC236}">
                <a16:creationId xmlns:a16="http://schemas.microsoft.com/office/drawing/2014/main" id="{3B874A57-73A9-D6A9-D675-58EC97560A73}"/>
              </a:ext>
            </a:extLst>
          </p:cNvPr>
          <p:cNvSpPr txBox="1">
            <a:spLocks noChangeArrowheads="1"/>
          </p:cNvSpPr>
          <p:nvPr/>
        </p:nvSpPr>
        <p:spPr>
          <a:xfrm>
            <a:off x="344488" y="254244"/>
            <a:ext cx="9217025" cy="490537"/>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a:lstStyle>
          <a:p>
            <a:pPr fontAlgn="auto">
              <a:spcAft>
                <a:spcPts val="0"/>
              </a:spcAft>
            </a:pPr>
            <a:r>
              <a:rPr lang="en-US" altLang="ja-JP" b="0" dirty="0">
                <a:latin typeface="Arial" panose="020B0604020202020204" pitchFamily="34" charset="0"/>
                <a:ea typeface="MS UI Gothic" panose="020B0600070205080204" pitchFamily="50" charset="-128"/>
              </a:rPr>
              <a:t>Java là </a:t>
            </a:r>
            <a:r>
              <a:rPr lang="en-US" altLang="ja-JP" b="0" dirty="0" err="1">
                <a:latin typeface="Arial" panose="020B0604020202020204" pitchFamily="34" charset="0"/>
                <a:ea typeface="MS UI Gothic" panose="020B0600070205080204" pitchFamily="50" charset="-128"/>
              </a:rPr>
              <a:t>gì</a:t>
            </a:r>
            <a:endParaRPr lang="en-US" altLang="ja-JP" b="0" dirty="0">
              <a:latin typeface="Arial" panose="020B0604020202020204" pitchFamily="34" charset="0"/>
              <a:ea typeface="MS UI Gothic" panose="020B0600070205080204" pitchFamily="50" charset="-128"/>
            </a:endParaRPr>
          </a:p>
        </p:txBody>
      </p:sp>
      <p:sp>
        <p:nvSpPr>
          <p:cNvPr id="4" name="Rectangle 3">
            <a:extLst>
              <a:ext uri="{FF2B5EF4-FFF2-40B4-BE49-F238E27FC236}">
                <a16:creationId xmlns:a16="http://schemas.microsoft.com/office/drawing/2014/main" id="{B676DDC4-2617-48DF-1C75-14E11D7BAC19}"/>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 name="Rectangle 4">
            <a:extLst>
              <a:ext uri="{FF2B5EF4-FFF2-40B4-BE49-F238E27FC236}">
                <a16:creationId xmlns:a16="http://schemas.microsoft.com/office/drawing/2014/main" id="{83196E14-752B-8ABB-38CD-38F4029E471A}"/>
              </a:ext>
            </a:extLst>
          </p:cNvPr>
          <p:cNvSpPr>
            <a:spLocks noChangeArrowheads="1"/>
          </p:cNvSpPr>
          <p:nvPr/>
        </p:nvSpPr>
        <p:spPr bwMode="auto">
          <a:xfrm>
            <a:off x="344488" y="8540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err="1">
                <a:latin typeface="Arial" panose="020B0604020202020204" pitchFamily="34" charset="0"/>
              </a:rPr>
              <a:t>Không</a:t>
            </a:r>
            <a:r>
              <a:rPr lang="en-US" altLang="ja-JP" sz="2400" b="0" dirty="0">
                <a:latin typeface="Arial" panose="020B0604020202020204" pitchFamily="34" charset="0"/>
              </a:rPr>
              <a:t> </a:t>
            </a:r>
            <a:r>
              <a:rPr lang="en-US" altLang="ja-JP" sz="2400" b="0" dirty="0" err="1">
                <a:latin typeface="Arial" panose="020B0604020202020204" pitchFamily="34" charset="0"/>
              </a:rPr>
              <a:t>phu</a:t>
            </a:r>
            <a:r>
              <a:rPr lang="en-US" altLang="ja-JP" sz="2400" b="0" dirty="0">
                <a:latin typeface="Arial" panose="020B0604020202020204" pitchFamily="34" charset="0"/>
              </a:rPr>
              <a:t>̣ </a:t>
            </a:r>
            <a:r>
              <a:rPr lang="en-US" altLang="ja-JP" sz="2400" b="0" dirty="0" err="1">
                <a:latin typeface="Arial" panose="020B0604020202020204" pitchFamily="34" charset="0"/>
              </a:rPr>
              <a:t>thuộc</a:t>
            </a:r>
            <a:r>
              <a:rPr lang="en-US" altLang="ja-JP" sz="2400" b="0" dirty="0">
                <a:latin typeface="Arial" panose="020B0604020202020204" pitchFamily="34" charset="0"/>
              </a:rPr>
              <a:t> </a:t>
            </a:r>
            <a:r>
              <a:rPr lang="en-US" altLang="ja-JP" sz="2400" b="0" dirty="0" err="1">
                <a:latin typeface="Arial" panose="020B0604020202020204" pitchFamily="34" charset="0"/>
              </a:rPr>
              <a:t>vào</a:t>
            </a:r>
            <a:r>
              <a:rPr lang="en-US" altLang="ja-JP" sz="2400" b="0" dirty="0">
                <a:latin typeface="Arial" panose="020B0604020202020204" pitchFamily="34" charset="0"/>
              </a:rPr>
              <a:t> platform </a:t>
            </a:r>
            <a:r>
              <a:rPr lang="en-US" altLang="ja-JP" sz="2400" b="0" dirty="0" err="1">
                <a:latin typeface="Arial" panose="020B0604020202020204" pitchFamily="34" charset="0"/>
              </a:rPr>
              <a:t>va</a:t>
            </a:r>
            <a:r>
              <a:rPr lang="en-US" altLang="ja-JP" sz="2400" b="0" dirty="0">
                <a:latin typeface="Arial" panose="020B0604020202020204" pitchFamily="34" charset="0"/>
              </a:rPr>
              <a:t>̀ OS</a:t>
            </a:r>
          </a:p>
        </p:txBody>
      </p:sp>
      <p:sp>
        <p:nvSpPr>
          <p:cNvPr id="6" name="Rectangle 5">
            <a:extLst>
              <a:ext uri="{FF2B5EF4-FFF2-40B4-BE49-F238E27FC236}">
                <a16:creationId xmlns:a16="http://schemas.microsoft.com/office/drawing/2014/main" id="{DBF76AA0-FCFD-27E9-C94C-82B25673F9A0}"/>
              </a:ext>
            </a:extLst>
          </p:cNvPr>
          <p:cNvSpPr>
            <a:spLocks noChangeArrowheads="1"/>
          </p:cNvSpPr>
          <p:nvPr/>
        </p:nvSpPr>
        <p:spPr bwMode="auto">
          <a:xfrm>
            <a:off x="344488" y="1811338"/>
            <a:ext cx="9120187" cy="448627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dirty="0"/>
          </a:p>
        </p:txBody>
      </p:sp>
      <p:sp>
        <p:nvSpPr>
          <p:cNvPr id="7" name="Rectangle 23">
            <a:extLst>
              <a:ext uri="{FF2B5EF4-FFF2-40B4-BE49-F238E27FC236}">
                <a16:creationId xmlns:a16="http://schemas.microsoft.com/office/drawing/2014/main" id="{70BE458B-F8F3-A55A-3578-CAAEA7A2208B}"/>
              </a:ext>
            </a:extLst>
          </p:cNvPr>
          <p:cNvSpPr>
            <a:spLocks noChangeArrowheads="1"/>
          </p:cNvSpPr>
          <p:nvPr/>
        </p:nvSpPr>
        <p:spPr bwMode="auto">
          <a:xfrm>
            <a:off x="344488" y="13366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dirty="0">
                <a:latin typeface="Arial" panose="020B0604020202020204" pitchFamily="34" charset="0"/>
              </a:rPr>
              <a:t>【Flow </a:t>
            </a:r>
            <a:r>
              <a:rPr lang="en-US" altLang="ja-JP" sz="2000" dirty="0" err="1">
                <a:latin typeface="Arial" panose="020B0604020202020204" pitchFamily="34" charset="0"/>
              </a:rPr>
              <a:t>tư</a:t>
            </a:r>
            <a:r>
              <a:rPr lang="en-US" altLang="ja-JP" sz="2000" dirty="0">
                <a:latin typeface="Arial" panose="020B0604020202020204" pitchFamily="34" charset="0"/>
              </a:rPr>
              <a:t>̀ </a:t>
            </a:r>
            <a:r>
              <a:rPr lang="en-US" altLang="ja-JP" sz="2000" dirty="0" err="1">
                <a:latin typeface="Arial" panose="020B0604020202020204" pitchFamily="34" charset="0"/>
              </a:rPr>
              <a:t>khi</a:t>
            </a:r>
            <a:r>
              <a:rPr lang="en-US" altLang="ja-JP" sz="2000" dirty="0">
                <a:latin typeface="Arial" panose="020B0604020202020204" pitchFamily="34" charset="0"/>
              </a:rPr>
              <a:t> </a:t>
            </a:r>
            <a:r>
              <a:rPr lang="en-US" altLang="ja-JP" sz="2000" dirty="0" err="1">
                <a:latin typeface="Arial" panose="020B0604020202020204" pitchFamily="34" charset="0"/>
              </a:rPr>
              <a:t>tạo</a:t>
            </a:r>
            <a:r>
              <a:rPr lang="en-US" altLang="ja-JP" sz="2000" dirty="0">
                <a:latin typeface="Arial" panose="020B0604020202020204" pitchFamily="34" charset="0"/>
              </a:rPr>
              <a:t> program </a:t>
            </a:r>
            <a:r>
              <a:rPr lang="en-US" altLang="ja-JP" sz="2000" dirty="0" err="1">
                <a:latin typeface="Arial" panose="020B0604020202020204" pitchFamily="34" charset="0"/>
              </a:rPr>
              <a:t>cho</a:t>
            </a:r>
            <a:r>
              <a:rPr lang="en-US" altLang="ja-JP" sz="2000" dirty="0">
                <a:latin typeface="Arial" panose="020B0604020202020204" pitchFamily="34" charset="0"/>
              </a:rPr>
              <a:t> </a:t>
            </a:r>
            <a:r>
              <a:rPr lang="en-US" altLang="ja-JP" sz="2000" dirty="0" err="1">
                <a:latin typeface="Arial" panose="020B0604020202020204" pitchFamily="34" charset="0"/>
              </a:rPr>
              <a:t>đến</a:t>
            </a:r>
            <a:r>
              <a:rPr lang="en-US" altLang="ja-JP" sz="2000" dirty="0">
                <a:latin typeface="Arial" panose="020B0604020202020204" pitchFamily="34" charset="0"/>
              </a:rPr>
              <a:t> </a:t>
            </a:r>
            <a:r>
              <a:rPr lang="en-US" altLang="ja-JP" sz="2000" dirty="0" err="1">
                <a:latin typeface="Arial" panose="020B0604020202020204" pitchFamily="34" charset="0"/>
              </a:rPr>
              <a:t>khi</a:t>
            </a:r>
            <a:r>
              <a:rPr lang="en-US" altLang="ja-JP" sz="2000" dirty="0">
                <a:latin typeface="Arial" panose="020B0604020202020204" pitchFamily="34" charset="0"/>
              </a:rPr>
              <a:t> </a:t>
            </a:r>
            <a:r>
              <a:rPr lang="en-US" altLang="ja-JP" sz="2000" dirty="0" err="1">
                <a:latin typeface="Arial" panose="020B0604020202020204" pitchFamily="34" charset="0"/>
              </a:rPr>
              <a:t>chạy</a:t>
            </a:r>
            <a:r>
              <a:rPr lang="en-US" altLang="ja-JP" sz="2000" dirty="0">
                <a:latin typeface="Arial" panose="020B0604020202020204" pitchFamily="34" charset="0"/>
              </a:rPr>
              <a:t>】</a:t>
            </a:r>
          </a:p>
          <a:p>
            <a:endParaRPr lang="en-US" altLang="ja-JP" sz="2000" dirty="0">
              <a:latin typeface="Arial" panose="020B0604020202020204" pitchFamily="34" charset="0"/>
            </a:endParaRPr>
          </a:p>
        </p:txBody>
      </p:sp>
      <p:sp>
        <p:nvSpPr>
          <p:cNvPr id="8" name="AutoShape 7">
            <a:extLst>
              <a:ext uri="{FF2B5EF4-FFF2-40B4-BE49-F238E27FC236}">
                <a16:creationId xmlns:a16="http://schemas.microsoft.com/office/drawing/2014/main" id="{40560F6A-A9DE-B75B-49AE-4666335A582E}"/>
              </a:ext>
            </a:extLst>
          </p:cNvPr>
          <p:cNvSpPr>
            <a:spLocks noChangeArrowheads="1"/>
          </p:cNvSpPr>
          <p:nvPr/>
        </p:nvSpPr>
        <p:spPr bwMode="auto">
          <a:xfrm>
            <a:off x="817563" y="3929063"/>
            <a:ext cx="1412875" cy="941387"/>
          </a:xfrm>
          <a:prstGeom prst="foldedCorner">
            <a:avLst>
              <a:gd name="adj" fmla="val 12500"/>
            </a:avLst>
          </a:prstGeom>
          <a:solidFill>
            <a:srgbClr val="FFFFCC"/>
          </a:solidFill>
          <a:ln w="9525">
            <a:solidFill>
              <a:srgbClr val="000000"/>
            </a:solidFill>
            <a:round/>
            <a:headEnd/>
            <a:tailEnd/>
          </a:ln>
          <a:effectLst>
            <a:outerShdw dist="57238" dir="2021404" algn="ctr" rotWithShape="0">
              <a:srgbClr val="000000"/>
            </a:outerShdw>
          </a:effectLst>
        </p:spPr>
        <p:txBody>
          <a:bodyPr lIns="9290" tIns="18579" rIns="9290" bIns="9290" anchor="ctr" anchorCtr="1"/>
          <a:lstStyle>
            <a:lvl1pPr defTabSz="892175">
              <a:defRPr kumimoji="1">
                <a:solidFill>
                  <a:schemeClr val="tx1"/>
                </a:solidFill>
                <a:latin typeface="Arial" panose="020B0604020202020204" pitchFamily="34" charset="0"/>
                <a:ea typeface="ＭＳ Ｐゴシック" panose="020B0600070205080204" pitchFamily="50" charset="-128"/>
              </a:defRPr>
            </a:lvl1pPr>
            <a:lvl2pPr marL="446088" defTabSz="892175">
              <a:defRPr kumimoji="1">
                <a:solidFill>
                  <a:schemeClr val="tx1"/>
                </a:solidFill>
                <a:latin typeface="Arial" panose="020B0604020202020204" pitchFamily="34" charset="0"/>
                <a:ea typeface="ＭＳ Ｐゴシック" panose="020B0600070205080204" pitchFamily="50" charset="-128"/>
              </a:defRPr>
            </a:lvl2pPr>
            <a:lvl3pPr marL="892175" defTabSz="892175">
              <a:defRPr kumimoji="1">
                <a:solidFill>
                  <a:schemeClr val="tx1"/>
                </a:solidFill>
                <a:latin typeface="Arial" panose="020B0604020202020204" pitchFamily="34" charset="0"/>
                <a:ea typeface="ＭＳ Ｐゴシック" panose="020B0600070205080204" pitchFamily="50" charset="-128"/>
              </a:defRPr>
            </a:lvl3pPr>
            <a:lvl4pPr marL="1338263" defTabSz="892175">
              <a:defRPr kumimoji="1">
                <a:solidFill>
                  <a:schemeClr val="tx1"/>
                </a:solidFill>
                <a:latin typeface="Arial" panose="020B0604020202020204" pitchFamily="34" charset="0"/>
                <a:ea typeface="ＭＳ Ｐゴシック" panose="020B0600070205080204" pitchFamily="50" charset="-128"/>
              </a:defRPr>
            </a:lvl4pPr>
            <a:lvl5pPr marL="1784350" defTabSz="892175">
              <a:defRPr kumimoji="1">
                <a:solidFill>
                  <a:schemeClr val="tx1"/>
                </a:solidFill>
                <a:latin typeface="Arial" panose="020B0604020202020204" pitchFamily="34" charset="0"/>
                <a:ea typeface="ＭＳ Ｐゴシック" panose="020B0600070205080204" pitchFamily="50"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MS UI Gothic" panose="020B0600070205080204" pitchFamily="50" charset="-128"/>
              </a:rPr>
              <a:t>Source program</a:t>
            </a:r>
            <a:endParaRPr lang="en-US" altLang="ja-JP" sz="1800">
              <a:ea typeface="MS UI Gothic" panose="020B0600070205080204" pitchFamily="50" charset="-128"/>
            </a:endParaRPr>
          </a:p>
        </p:txBody>
      </p:sp>
      <p:sp>
        <p:nvSpPr>
          <p:cNvPr id="9" name="AutoShape 8">
            <a:extLst>
              <a:ext uri="{FF2B5EF4-FFF2-40B4-BE49-F238E27FC236}">
                <a16:creationId xmlns:a16="http://schemas.microsoft.com/office/drawing/2014/main" id="{EA7401F9-67D6-CADA-8235-BF0766067FF5}"/>
              </a:ext>
            </a:extLst>
          </p:cNvPr>
          <p:cNvSpPr>
            <a:spLocks noChangeArrowheads="1"/>
          </p:cNvSpPr>
          <p:nvPr/>
        </p:nvSpPr>
        <p:spPr bwMode="auto">
          <a:xfrm>
            <a:off x="2836863" y="3368675"/>
            <a:ext cx="719137" cy="2498724"/>
          </a:xfrm>
          <a:prstGeom prst="roundRect">
            <a:avLst>
              <a:gd name="adj" fmla="val 16667"/>
            </a:avLst>
          </a:prstGeom>
          <a:solidFill>
            <a:srgbClr val="99CCFF">
              <a:alpha val="50000"/>
            </a:srgbClr>
          </a:solidFill>
          <a:ln w="9525" algn="ctr">
            <a:solidFill>
              <a:srgbClr val="000000"/>
            </a:solidFill>
            <a:round/>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10" name="AutoShape 9">
            <a:extLst>
              <a:ext uri="{FF2B5EF4-FFF2-40B4-BE49-F238E27FC236}">
                <a16:creationId xmlns:a16="http://schemas.microsoft.com/office/drawing/2014/main" id="{A7E19B43-D2D8-D0C8-BF70-499FE0F2EA17}"/>
              </a:ext>
            </a:extLst>
          </p:cNvPr>
          <p:cNvSpPr>
            <a:spLocks noChangeArrowheads="1"/>
          </p:cNvSpPr>
          <p:nvPr/>
        </p:nvSpPr>
        <p:spPr bwMode="auto">
          <a:xfrm>
            <a:off x="4140200" y="3929063"/>
            <a:ext cx="1414463" cy="941387"/>
          </a:xfrm>
          <a:prstGeom prst="foldedCorner">
            <a:avLst>
              <a:gd name="adj" fmla="val 12500"/>
            </a:avLst>
          </a:prstGeom>
          <a:solidFill>
            <a:srgbClr val="FFFFCC"/>
          </a:solidFill>
          <a:ln w="9525">
            <a:solidFill>
              <a:srgbClr val="000000"/>
            </a:solidFill>
            <a:round/>
            <a:headEnd/>
            <a:tailEnd/>
          </a:ln>
          <a:effectLst>
            <a:outerShdw dist="57238" dir="2021404" algn="ctr" rotWithShape="0">
              <a:srgbClr val="000000"/>
            </a:outerShdw>
          </a:effectLst>
        </p:spPr>
        <p:txBody>
          <a:bodyPr lIns="9290" tIns="18579" rIns="9290" bIns="9290" anchor="ctr" anchorCtr="1"/>
          <a:lstStyle>
            <a:lvl1pPr defTabSz="892175">
              <a:defRPr kumimoji="1">
                <a:solidFill>
                  <a:schemeClr val="tx1"/>
                </a:solidFill>
                <a:latin typeface="Arial" panose="020B0604020202020204" pitchFamily="34" charset="0"/>
                <a:ea typeface="ＭＳ Ｐゴシック" panose="020B0600070205080204" pitchFamily="50" charset="-128"/>
              </a:defRPr>
            </a:lvl1pPr>
            <a:lvl2pPr marL="446088" defTabSz="892175">
              <a:defRPr kumimoji="1">
                <a:solidFill>
                  <a:schemeClr val="tx1"/>
                </a:solidFill>
                <a:latin typeface="Arial" panose="020B0604020202020204" pitchFamily="34" charset="0"/>
                <a:ea typeface="ＭＳ Ｐゴシック" panose="020B0600070205080204" pitchFamily="50" charset="-128"/>
              </a:defRPr>
            </a:lvl2pPr>
            <a:lvl3pPr marL="892175" defTabSz="892175">
              <a:defRPr kumimoji="1">
                <a:solidFill>
                  <a:schemeClr val="tx1"/>
                </a:solidFill>
                <a:latin typeface="Arial" panose="020B0604020202020204" pitchFamily="34" charset="0"/>
                <a:ea typeface="ＭＳ Ｐゴシック" panose="020B0600070205080204" pitchFamily="50" charset="-128"/>
              </a:defRPr>
            </a:lvl3pPr>
            <a:lvl4pPr marL="1338263" defTabSz="892175">
              <a:defRPr kumimoji="1">
                <a:solidFill>
                  <a:schemeClr val="tx1"/>
                </a:solidFill>
                <a:latin typeface="Arial" panose="020B0604020202020204" pitchFamily="34" charset="0"/>
                <a:ea typeface="ＭＳ Ｐゴシック" panose="020B0600070205080204" pitchFamily="50" charset="-128"/>
              </a:defRPr>
            </a:lvl4pPr>
            <a:lvl5pPr marL="1784350" defTabSz="892175">
              <a:defRPr kumimoji="1">
                <a:solidFill>
                  <a:schemeClr val="tx1"/>
                </a:solidFill>
                <a:latin typeface="Arial" panose="020B0604020202020204" pitchFamily="34" charset="0"/>
                <a:ea typeface="ＭＳ Ｐゴシック" panose="020B0600070205080204" pitchFamily="50"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b="0">
                <a:ea typeface="MS UI Gothic" panose="020B0600070205080204" pitchFamily="50" charset="-128"/>
              </a:rPr>
              <a:t>byte code</a:t>
            </a:r>
            <a:endParaRPr lang="en-US" altLang="ja-JP" sz="1800">
              <a:ea typeface="MS UI Gothic" panose="020B0600070205080204" pitchFamily="50" charset="-128"/>
            </a:endParaRPr>
          </a:p>
        </p:txBody>
      </p:sp>
      <p:sp>
        <p:nvSpPr>
          <p:cNvPr id="11" name="AutoShape 10">
            <a:extLst>
              <a:ext uri="{FF2B5EF4-FFF2-40B4-BE49-F238E27FC236}">
                <a16:creationId xmlns:a16="http://schemas.microsoft.com/office/drawing/2014/main" id="{F637B9FB-B68D-D8F9-C39F-793C6AC23F82}"/>
              </a:ext>
            </a:extLst>
          </p:cNvPr>
          <p:cNvSpPr>
            <a:spLocks noChangeArrowheads="1"/>
          </p:cNvSpPr>
          <p:nvPr/>
        </p:nvSpPr>
        <p:spPr bwMode="auto">
          <a:xfrm>
            <a:off x="6189663" y="3367088"/>
            <a:ext cx="720725" cy="2016125"/>
          </a:xfrm>
          <a:prstGeom prst="roundRect">
            <a:avLst>
              <a:gd name="adj" fmla="val 16667"/>
            </a:avLst>
          </a:prstGeom>
          <a:solidFill>
            <a:srgbClr val="99CCFF">
              <a:alpha val="50000"/>
            </a:srgbClr>
          </a:solidFill>
          <a:ln w="9525" algn="ctr">
            <a:solidFill>
              <a:srgbClr val="000000"/>
            </a:solidFill>
            <a:round/>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en-US" altLang="ja-JP"/>
          </a:p>
        </p:txBody>
      </p:sp>
      <p:sp>
        <p:nvSpPr>
          <p:cNvPr id="12" name="Text Box 12">
            <a:extLst>
              <a:ext uri="{FF2B5EF4-FFF2-40B4-BE49-F238E27FC236}">
                <a16:creationId xmlns:a16="http://schemas.microsoft.com/office/drawing/2014/main" id="{124112B3-F7DC-4194-FADA-4CAE053519AC}"/>
              </a:ext>
            </a:extLst>
          </p:cNvPr>
          <p:cNvSpPr txBox="1">
            <a:spLocks noChangeArrowheads="1"/>
          </p:cNvSpPr>
          <p:nvPr/>
        </p:nvSpPr>
        <p:spPr bwMode="auto">
          <a:xfrm>
            <a:off x="6438900" y="3859213"/>
            <a:ext cx="201613" cy="1263650"/>
          </a:xfrm>
          <a:prstGeom prst="rect">
            <a:avLst/>
          </a:prstGeom>
          <a:noFill/>
          <a:ln>
            <a:noFill/>
          </a:ln>
          <a:effectLst/>
          <a:extLst>
            <a:ext uri="{909E8E84-426E-40DD-AFC4-6F175D3DCCD1}">
              <a14:hiddenFill xmlns:a14="http://schemas.microsoft.com/office/drawing/2010/main">
                <a:solidFill>
                  <a:srgbClr val="99CCFF">
                    <a:alpha val="0"/>
                  </a:srgbClr>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290" tIns="18579" rIns="9290" bIns="9290"/>
          <a:lstStyle>
            <a:lvl1pPr defTabSz="892175">
              <a:defRPr kumimoji="1">
                <a:solidFill>
                  <a:schemeClr val="tx1"/>
                </a:solidFill>
                <a:latin typeface="Arial" panose="020B0604020202020204" pitchFamily="34" charset="0"/>
                <a:ea typeface="ＭＳ Ｐゴシック" panose="020B0600070205080204" pitchFamily="50" charset="-128"/>
              </a:defRPr>
            </a:lvl1pPr>
            <a:lvl2pPr marL="446088" defTabSz="892175">
              <a:defRPr kumimoji="1">
                <a:solidFill>
                  <a:schemeClr val="tx1"/>
                </a:solidFill>
                <a:latin typeface="Arial" panose="020B0604020202020204" pitchFamily="34" charset="0"/>
                <a:ea typeface="ＭＳ Ｐゴシック" panose="020B0600070205080204" pitchFamily="50" charset="-128"/>
              </a:defRPr>
            </a:lvl2pPr>
            <a:lvl3pPr marL="892175" defTabSz="892175">
              <a:defRPr kumimoji="1">
                <a:solidFill>
                  <a:schemeClr val="tx1"/>
                </a:solidFill>
                <a:latin typeface="Arial" panose="020B0604020202020204" pitchFamily="34" charset="0"/>
                <a:ea typeface="ＭＳ Ｐゴシック" panose="020B0600070205080204" pitchFamily="50" charset="-128"/>
              </a:defRPr>
            </a:lvl3pPr>
            <a:lvl4pPr marL="1338263" defTabSz="892175">
              <a:defRPr kumimoji="1">
                <a:solidFill>
                  <a:schemeClr val="tx1"/>
                </a:solidFill>
                <a:latin typeface="Arial" panose="020B0604020202020204" pitchFamily="34" charset="0"/>
                <a:ea typeface="ＭＳ Ｐゴシック" panose="020B0600070205080204" pitchFamily="50" charset="-128"/>
              </a:defRPr>
            </a:lvl4pPr>
            <a:lvl5pPr marL="1784350" defTabSz="892175">
              <a:defRPr kumimoji="1">
                <a:solidFill>
                  <a:schemeClr val="tx1"/>
                </a:solidFill>
                <a:latin typeface="Arial" panose="020B0604020202020204" pitchFamily="34" charset="0"/>
                <a:ea typeface="ＭＳ Ｐゴシック" panose="020B0600070205080204" pitchFamily="50"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sz="1800" b="0">
                <a:latin typeface="MS UI Gothic" panose="020B0600070205080204" pitchFamily="50" charset="-128"/>
                <a:ea typeface="MS UI Gothic" panose="020B0600070205080204" pitchFamily="50" charset="-128"/>
              </a:rPr>
              <a:t>JVM</a:t>
            </a:r>
            <a:endParaRPr lang="en-US" altLang="ja-JP" sz="1800">
              <a:latin typeface="MS UI Gothic" panose="020B0600070205080204" pitchFamily="50" charset="-128"/>
              <a:ea typeface="MS UI Gothic" panose="020B0600070205080204" pitchFamily="50" charset="-128"/>
            </a:endParaRPr>
          </a:p>
        </p:txBody>
      </p:sp>
      <p:sp>
        <p:nvSpPr>
          <p:cNvPr id="13" name="Text Box 13">
            <a:extLst>
              <a:ext uri="{FF2B5EF4-FFF2-40B4-BE49-F238E27FC236}">
                <a16:creationId xmlns:a16="http://schemas.microsoft.com/office/drawing/2014/main" id="{2EAD44B5-2044-8155-4DAA-5C8DBC55A96F}"/>
              </a:ext>
            </a:extLst>
          </p:cNvPr>
          <p:cNvSpPr txBox="1">
            <a:spLocks noChangeArrowheads="1"/>
          </p:cNvSpPr>
          <p:nvPr/>
        </p:nvSpPr>
        <p:spPr bwMode="auto">
          <a:xfrm>
            <a:off x="3086100" y="3571875"/>
            <a:ext cx="149225" cy="1781175"/>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290" tIns="18579" rIns="9290" bIns="9290"/>
          <a:lstStyle>
            <a:lvl1pPr defTabSz="892175">
              <a:defRPr kumimoji="1">
                <a:solidFill>
                  <a:schemeClr val="tx1"/>
                </a:solidFill>
                <a:latin typeface="Arial" panose="020B0604020202020204" pitchFamily="34" charset="0"/>
                <a:ea typeface="ＭＳ Ｐゴシック" panose="020B0600070205080204" pitchFamily="50" charset="-128"/>
              </a:defRPr>
            </a:lvl1pPr>
            <a:lvl2pPr marL="446088" defTabSz="892175">
              <a:defRPr kumimoji="1">
                <a:solidFill>
                  <a:schemeClr val="tx1"/>
                </a:solidFill>
                <a:latin typeface="Arial" panose="020B0604020202020204" pitchFamily="34" charset="0"/>
                <a:ea typeface="ＭＳ Ｐゴシック" panose="020B0600070205080204" pitchFamily="50" charset="-128"/>
              </a:defRPr>
            </a:lvl2pPr>
            <a:lvl3pPr marL="892175" defTabSz="892175">
              <a:defRPr kumimoji="1">
                <a:solidFill>
                  <a:schemeClr val="tx1"/>
                </a:solidFill>
                <a:latin typeface="Arial" panose="020B0604020202020204" pitchFamily="34" charset="0"/>
                <a:ea typeface="ＭＳ Ｐゴシック" panose="020B0600070205080204" pitchFamily="50" charset="-128"/>
              </a:defRPr>
            </a:lvl3pPr>
            <a:lvl4pPr marL="1338263" defTabSz="892175">
              <a:defRPr kumimoji="1">
                <a:solidFill>
                  <a:schemeClr val="tx1"/>
                </a:solidFill>
                <a:latin typeface="Arial" panose="020B0604020202020204" pitchFamily="34" charset="0"/>
                <a:ea typeface="ＭＳ Ｐゴシック" panose="020B0600070205080204" pitchFamily="50" charset="-128"/>
              </a:defRPr>
            </a:lvl4pPr>
            <a:lvl5pPr marL="1784350" defTabSz="892175">
              <a:defRPr kumimoji="1">
                <a:solidFill>
                  <a:schemeClr val="tx1"/>
                </a:solidFill>
                <a:latin typeface="Arial" panose="020B0604020202020204" pitchFamily="34" charset="0"/>
                <a:ea typeface="ＭＳ Ｐゴシック" panose="020B0600070205080204" pitchFamily="50"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sz="1800" b="0" dirty="0" err="1">
                <a:latin typeface="MS UI Gothic" panose="020B0600070205080204" pitchFamily="50" charset="-128"/>
                <a:ea typeface="MS UI Gothic" panose="020B0600070205080204" pitchFamily="50" charset="-128"/>
              </a:rPr>
              <a:t>Compi</a:t>
            </a:r>
            <a:endParaRPr lang="en-US" altLang="ja-JP" sz="1800" b="0" dirty="0">
              <a:latin typeface="MS UI Gothic" panose="020B0600070205080204" pitchFamily="50" charset="-128"/>
              <a:ea typeface="MS UI Gothic" panose="020B0600070205080204" pitchFamily="50" charset="-128"/>
            </a:endParaRPr>
          </a:p>
          <a:p>
            <a:pPr algn="just"/>
            <a:r>
              <a:rPr lang="en-US" altLang="ja-JP" sz="1800" b="0" dirty="0" err="1">
                <a:latin typeface="MS UI Gothic" panose="020B0600070205080204" pitchFamily="50" charset="-128"/>
                <a:ea typeface="MS UI Gothic" panose="020B0600070205080204" pitchFamily="50" charset="-128"/>
              </a:rPr>
              <a:t>ler</a:t>
            </a:r>
            <a:endParaRPr lang="en-US" altLang="ja-JP" sz="1800" dirty="0">
              <a:latin typeface="MS UI Gothic" panose="020B0600070205080204" pitchFamily="50" charset="-128"/>
              <a:ea typeface="MS UI Gothic" panose="020B0600070205080204" pitchFamily="50" charset="-128"/>
            </a:endParaRPr>
          </a:p>
        </p:txBody>
      </p:sp>
      <p:sp>
        <p:nvSpPr>
          <p:cNvPr id="14" name="AutoShape 14">
            <a:extLst>
              <a:ext uri="{FF2B5EF4-FFF2-40B4-BE49-F238E27FC236}">
                <a16:creationId xmlns:a16="http://schemas.microsoft.com/office/drawing/2014/main" id="{0013147C-7F1B-07E4-8931-E40E44D9EF45}"/>
              </a:ext>
            </a:extLst>
          </p:cNvPr>
          <p:cNvSpPr>
            <a:spLocks noChangeArrowheads="1"/>
          </p:cNvSpPr>
          <p:nvPr/>
        </p:nvSpPr>
        <p:spPr bwMode="auto">
          <a:xfrm>
            <a:off x="2319338" y="4197350"/>
            <a:ext cx="501650" cy="392113"/>
          </a:xfrm>
          <a:prstGeom prst="rightArrow">
            <a:avLst>
              <a:gd name="adj1" fmla="val 50000"/>
              <a:gd name="adj2" fmla="val 31984"/>
            </a:avLst>
          </a:prstGeom>
          <a:solidFill>
            <a:schemeClr val="accent2">
              <a:alpha val="50000"/>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5" name="AutoShape 15">
            <a:extLst>
              <a:ext uri="{FF2B5EF4-FFF2-40B4-BE49-F238E27FC236}">
                <a16:creationId xmlns:a16="http://schemas.microsoft.com/office/drawing/2014/main" id="{C992CC6B-3EE7-12F1-7EF7-DD220CCC85BD}"/>
              </a:ext>
            </a:extLst>
          </p:cNvPr>
          <p:cNvSpPr>
            <a:spLocks noChangeArrowheads="1"/>
          </p:cNvSpPr>
          <p:nvPr/>
        </p:nvSpPr>
        <p:spPr bwMode="auto">
          <a:xfrm>
            <a:off x="3600450" y="4197350"/>
            <a:ext cx="501650" cy="392113"/>
          </a:xfrm>
          <a:prstGeom prst="rightArrow">
            <a:avLst>
              <a:gd name="adj1" fmla="val 50000"/>
              <a:gd name="adj2" fmla="val 31984"/>
            </a:avLst>
          </a:prstGeom>
          <a:solidFill>
            <a:schemeClr val="accent2">
              <a:alpha val="50000"/>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6" name="AutoShape 16">
            <a:extLst>
              <a:ext uri="{FF2B5EF4-FFF2-40B4-BE49-F238E27FC236}">
                <a16:creationId xmlns:a16="http://schemas.microsoft.com/office/drawing/2014/main" id="{D4026C9C-2D5E-59AF-994F-24771AD9EB18}"/>
              </a:ext>
            </a:extLst>
          </p:cNvPr>
          <p:cNvSpPr>
            <a:spLocks noChangeArrowheads="1"/>
          </p:cNvSpPr>
          <p:nvPr/>
        </p:nvSpPr>
        <p:spPr bwMode="auto">
          <a:xfrm>
            <a:off x="5665788" y="4195763"/>
            <a:ext cx="500062" cy="392112"/>
          </a:xfrm>
          <a:prstGeom prst="rightArrow">
            <a:avLst>
              <a:gd name="adj1" fmla="val 50000"/>
              <a:gd name="adj2" fmla="val 31883"/>
            </a:avLst>
          </a:prstGeom>
          <a:solidFill>
            <a:schemeClr val="accent2">
              <a:alpha val="50000"/>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7" name="AutoShape 17">
            <a:extLst>
              <a:ext uri="{FF2B5EF4-FFF2-40B4-BE49-F238E27FC236}">
                <a16:creationId xmlns:a16="http://schemas.microsoft.com/office/drawing/2014/main" id="{E3FFB4C9-471B-8016-3617-7D183450C5C0}"/>
              </a:ext>
            </a:extLst>
          </p:cNvPr>
          <p:cNvSpPr>
            <a:spLocks noChangeArrowheads="1"/>
          </p:cNvSpPr>
          <p:nvPr/>
        </p:nvSpPr>
        <p:spPr bwMode="auto">
          <a:xfrm>
            <a:off x="6950075" y="4195763"/>
            <a:ext cx="500063" cy="393700"/>
          </a:xfrm>
          <a:prstGeom prst="rightArrow">
            <a:avLst>
              <a:gd name="adj1" fmla="val 50000"/>
              <a:gd name="adj2" fmla="val 31754"/>
            </a:avLst>
          </a:prstGeom>
          <a:solidFill>
            <a:schemeClr val="accent2">
              <a:alpha val="50000"/>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8" name="Text Box 20">
            <a:extLst>
              <a:ext uri="{FF2B5EF4-FFF2-40B4-BE49-F238E27FC236}">
                <a16:creationId xmlns:a16="http://schemas.microsoft.com/office/drawing/2014/main" id="{1DCBB94E-896C-7D06-7B30-6CBA45CC82E8}"/>
              </a:ext>
            </a:extLst>
          </p:cNvPr>
          <p:cNvSpPr txBox="1">
            <a:spLocks noChangeArrowheads="1"/>
          </p:cNvSpPr>
          <p:nvPr/>
        </p:nvSpPr>
        <p:spPr bwMode="auto">
          <a:xfrm>
            <a:off x="3533775" y="5553075"/>
            <a:ext cx="4851400" cy="5461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181" tIns="44591" rIns="89181" bIns="44591">
            <a:spAutoFit/>
          </a:bodyPr>
          <a:lstStyle>
            <a:lvl1pPr defTabSz="892175">
              <a:defRPr kumimoji="1">
                <a:solidFill>
                  <a:schemeClr val="tx1"/>
                </a:solidFill>
                <a:latin typeface="Arial" panose="020B0604020202020204" pitchFamily="34" charset="0"/>
                <a:ea typeface="ＭＳ Ｐゴシック" panose="020B0600070205080204" pitchFamily="50" charset="-128"/>
              </a:defRPr>
            </a:lvl1pPr>
            <a:lvl2pPr marL="446088" defTabSz="892175">
              <a:defRPr kumimoji="1">
                <a:solidFill>
                  <a:schemeClr val="tx1"/>
                </a:solidFill>
                <a:latin typeface="Arial" panose="020B0604020202020204" pitchFamily="34" charset="0"/>
                <a:ea typeface="ＭＳ Ｐゴシック" panose="020B0600070205080204" pitchFamily="50" charset="-128"/>
              </a:defRPr>
            </a:lvl2pPr>
            <a:lvl3pPr marL="892175" defTabSz="892175">
              <a:defRPr kumimoji="1">
                <a:solidFill>
                  <a:schemeClr val="tx1"/>
                </a:solidFill>
                <a:latin typeface="Arial" panose="020B0604020202020204" pitchFamily="34" charset="0"/>
                <a:ea typeface="ＭＳ Ｐゴシック" panose="020B0600070205080204" pitchFamily="50" charset="-128"/>
              </a:defRPr>
            </a:lvl3pPr>
            <a:lvl4pPr marL="1338263" defTabSz="892175">
              <a:defRPr kumimoji="1">
                <a:solidFill>
                  <a:schemeClr val="tx1"/>
                </a:solidFill>
                <a:latin typeface="Arial" panose="020B0604020202020204" pitchFamily="34" charset="0"/>
                <a:ea typeface="ＭＳ Ｐゴシック" panose="020B0600070205080204" pitchFamily="50" charset="-128"/>
              </a:defRPr>
            </a:lvl4pPr>
            <a:lvl5pPr marL="1784350" defTabSz="892175">
              <a:defRPr kumimoji="1">
                <a:solidFill>
                  <a:schemeClr val="tx1"/>
                </a:solidFill>
                <a:latin typeface="Arial" panose="020B0604020202020204" pitchFamily="34" charset="0"/>
                <a:ea typeface="ＭＳ Ｐゴシック" panose="020B0600070205080204" pitchFamily="50"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500" b="0">
                <a:ea typeface="MS UI Gothic" panose="020B0600070205080204" pitchFamily="50" charset="-128"/>
              </a:rPr>
              <a:t>Cung cấp những phần tương ứng với các loại platform chẳng hạn như dùng cho Windows, dùng cho UNIX</a:t>
            </a:r>
            <a:endParaRPr lang="en-US" altLang="ja-JP" sz="1500">
              <a:ea typeface="MS UI Gothic" panose="020B0600070205080204" pitchFamily="50" charset="-128"/>
            </a:endParaRPr>
          </a:p>
        </p:txBody>
      </p:sp>
      <p:sp>
        <p:nvSpPr>
          <p:cNvPr id="19" name="Line 21">
            <a:extLst>
              <a:ext uri="{FF2B5EF4-FFF2-40B4-BE49-F238E27FC236}">
                <a16:creationId xmlns:a16="http://schemas.microsoft.com/office/drawing/2014/main" id="{F15E9A13-3066-DB3C-A9E3-75068DA7890A}"/>
              </a:ext>
            </a:extLst>
          </p:cNvPr>
          <p:cNvSpPr>
            <a:spLocks noChangeShapeType="1"/>
          </p:cNvSpPr>
          <p:nvPr/>
        </p:nvSpPr>
        <p:spPr bwMode="auto">
          <a:xfrm flipV="1">
            <a:off x="5761038" y="5121275"/>
            <a:ext cx="547687" cy="458788"/>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0" name="Line 22">
            <a:extLst>
              <a:ext uri="{FF2B5EF4-FFF2-40B4-BE49-F238E27FC236}">
                <a16:creationId xmlns:a16="http://schemas.microsoft.com/office/drawing/2014/main" id="{5F2A5AEA-7766-9348-D787-BEEF9BC630B1}"/>
              </a:ext>
            </a:extLst>
          </p:cNvPr>
          <p:cNvSpPr>
            <a:spLocks noChangeShapeType="1"/>
          </p:cNvSpPr>
          <p:nvPr/>
        </p:nvSpPr>
        <p:spPr bwMode="auto">
          <a:xfrm flipH="1" flipV="1">
            <a:off x="3373438" y="5173663"/>
            <a:ext cx="576262" cy="422275"/>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1" name="AutoShape 24">
            <a:extLst>
              <a:ext uri="{FF2B5EF4-FFF2-40B4-BE49-F238E27FC236}">
                <a16:creationId xmlns:a16="http://schemas.microsoft.com/office/drawing/2014/main" id="{E5AE3E28-C6DE-94F2-605D-1E2647A6AD62}"/>
              </a:ext>
            </a:extLst>
          </p:cNvPr>
          <p:cNvSpPr>
            <a:spLocks noChangeArrowheads="1"/>
          </p:cNvSpPr>
          <p:nvPr/>
        </p:nvSpPr>
        <p:spPr bwMode="auto">
          <a:xfrm>
            <a:off x="585788" y="2417763"/>
            <a:ext cx="2957512" cy="719137"/>
          </a:xfrm>
          <a:prstGeom prst="wedgeRoundRectCallout">
            <a:avLst>
              <a:gd name="adj1" fmla="val -18060"/>
              <a:gd name="adj2" fmla="val 158532"/>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50" charset="-128"/>
              </a:defRPr>
            </a:lvl1pPr>
            <a:lvl2pPr marL="446088" defTabSz="892175">
              <a:defRPr kumimoji="1">
                <a:solidFill>
                  <a:schemeClr val="tx1"/>
                </a:solidFill>
                <a:latin typeface="Arial" panose="020B0604020202020204" pitchFamily="34" charset="0"/>
                <a:ea typeface="ＭＳ Ｐゴシック" panose="020B0600070205080204" pitchFamily="50" charset="-128"/>
              </a:defRPr>
            </a:lvl2pPr>
            <a:lvl3pPr marL="892175" defTabSz="892175">
              <a:defRPr kumimoji="1">
                <a:solidFill>
                  <a:schemeClr val="tx1"/>
                </a:solidFill>
                <a:latin typeface="Arial" panose="020B0604020202020204" pitchFamily="34" charset="0"/>
                <a:ea typeface="ＭＳ Ｐゴシック" panose="020B0600070205080204" pitchFamily="50" charset="-128"/>
              </a:defRPr>
            </a:lvl3pPr>
            <a:lvl4pPr marL="1335088" defTabSz="892175">
              <a:defRPr kumimoji="1">
                <a:solidFill>
                  <a:schemeClr val="tx1"/>
                </a:solidFill>
                <a:latin typeface="Arial" panose="020B0604020202020204" pitchFamily="34" charset="0"/>
                <a:ea typeface="ＭＳ Ｐゴシック" panose="020B0600070205080204" pitchFamily="50" charset="-128"/>
              </a:defRPr>
            </a:lvl4pPr>
            <a:lvl5pPr marL="1784350" defTabSz="892175">
              <a:defRPr kumimoji="1">
                <a:solidFill>
                  <a:schemeClr val="tx1"/>
                </a:solidFill>
                <a:latin typeface="Arial" panose="020B0604020202020204" pitchFamily="34" charset="0"/>
                <a:ea typeface="ＭＳ Ｐゴシック" panose="020B0600070205080204" pitchFamily="50"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500" b="0">
                <a:ea typeface="MS UI Gothic" panose="020B0600070205080204" pitchFamily="50" charset="-128"/>
              </a:rPr>
              <a:t>Tạo bằng cú pháp chung không phụ thuộc vào platform</a:t>
            </a:r>
          </a:p>
        </p:txBody>
      </p:sp>
      <p:sp>
        <p:nvSpPr>
          <p:cNvPr id="22" name="AutoShape 26">
            <a:extLst>
              <a:ext uri="{FF2B5EF4-FFF2-40B4-BE49-F238E27FC236}">
                <a16:creationId xmlns:a16="http://schemas.microsoft.com/office/drawing/2014/main" id="{005B917C-6FA6-830A-7E4C-5DDE71CEEB0A}"/>
              </a:ext>
            </a:extLst>
          </p:cNvPr>
          <p:cNvSpPr>
            <a:spLocks noChangeArrowheads="1"/>
          </p:cNvSpPr>
          <p:nvPr/>
        </p:nvSpPr>
        <p:spPr bwMode="auto">
          <a:xfrm>
            <a:off x="3881438" y="2417763"/>
            <a:ext cx="2957512" cy="719137"/>
          </a:xfrm>
          <a:prstGeom prst="wedgeRoundRectCallout">
            <a:avLst>
              <a:gd name="adj1" fmla="val -18060"/>
              <a:gd name="adj2" fmla="val 158532"/>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50" charset="-128"/>
              </a:defRPr>
            </a:lvl1pPr>
            <a:lvl2pPr marL="446088" defTabSz="892175">
              <a:defRPr kumimoji="1">
                <a:solidFill>
                  <a:schemeClr val="tx1"/>
                </a:solidFill>
                <a:latin typeface="Arial" panose="020B0604020202020204" pitchFamily="34" charset="0"/>
                <a:ea typeface="ＭＳ Ｐゴシック" panose="020B0600070205080204" pitchFamily="50" charset="-128"/>
              </a:defRPr>
            </a:lvl2pPr>
            <a:lvl3pPr marL="892175" defTabSz="892175">
              <a:defRPr kumimoji="1">
                <a:solidFill>
                  <a:schemeClr val="tx1"/>
                </a:solidFill>
                <a:latin typeface="Arial" panose="020B0604020202020204" pitchFamily="34" charset="0"/>
                <a:ea typeface="ＭＳ Ｐゴシック" panose="020B0600070205080204" pitchFamily="50" charset="-128"/>
              </a:defRPr>
            </a:lvl3pPr>
            <a:lvl4pPr marL="1335088" defTabSz="892175">
              <a:defRPr kumimoji="1">
                <a:solidFill>
                  <a:schemeClr val="tx1"/>
                </a:solidFill>
                <a:latin typeface="Arial" panose="020B0604020202020204" pitchFamily="34" charset="0"/>
                <a:ea typeface="ＭＳ Ｐゴシック" panose="020B0600070205080204" pitchFamily="50" charset="-128"/>
              </a:defRPr>
            </a:lvl4pPr>
            <a:lvl5pPr marL="1784350" defTabSz="892175">
              <a:defRPr kumimoji="1">
                <a:solidFill>
                  <a:schemeClr val="tx1"/>
                </a:solidFill>
                <a:latin typeface="Arial" panose="020B0604020202020204" pitchFamily="34" charset="0"/>
                <a:ea typeface="ＭＳ Ｐゴシック" panose="020B0600070205080204" pitchFamily="50"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500" b="0">
                <a:ea typeface="MS UI Gothic" panose="020B0600070205080204" pitchFamily="50" charset="-128"/>
              </a:rPr>
              <a:t>Được generate như là ngôn ngữ trung gian không phụ thuộc vào platform</a:t>
            </a:r>
          </a:p>
        </p:txBody>
      </p:sp>
      <p:sp>
        <p:nvSpPr>
          <p:cNvPr id="23" name="Oval 28">
            <a:extLst>
              <a:ext uri="{FF2B5EF4-FFF2-40B4-BE49-F238E27FC236}">
                <a16:creationId xmlns:a16="http://schemas.microsoft.com/office/drawing/2014/main" id="{82FF3A0F-2507-B264-D60E-59F0A6612738}"/>
              </a:ext>
            </a:extLst>
          </p:cNvPr>
          <p:cNvSpPr>
            <a:spLocks noChangeArrowheads="1"/>
          </p:cNvSpPr>
          <p:nvPr/>
        </p:nvSpPr>
        <p:spPr bwMode="auto">
          <a:xfrm>
            <a:off x="7553325" y="4000500"/>
            <a:ext cx="1666875" cy="742950"/>
          </a:xfrm>
          <a:prstGeom prst="ellipse">
            <a:avLst/>
          </a:prstGeom>
          <a:solidFill>
            <a:srgbClr val="FFFF00">
              <a:alpha val="50000"/>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1800"/>
              <a:t>Chạy</a:t>
            </a:r>
          </a:p>
        </p:txBody>
      </p:sp>
    </p:spTree>
    <p:extLst>
      <p:ext uri="{BB962C8B-B14F-4D97-AF65-F5344CB8AC3E}">
        <p14:creationId xmlns:p14="http://schemas.microsoft.com/office/powerpoint/2010/main" val="1577328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C3560-8BD6-396F-76EE-E74770817BCF}"/>
              </a:ext>
            </a:extLst>
          </p:cNvPr>
          <p:cNvSpPr>
            <a:spLocks noGrp="1"/>
          </p:cNvSpPr>
          <p:nvPr>
            <p:ph type="title"/>
          </p:nvPr>
        </p:nvSpPr>
        <p:spPr/>
        <p:txBody>
          <a:bodyPr>
            <a:normAutofit fontScale="90000"/>
          </a:bodyPr>
          <a:lstStyle/>
          <a:p>
            <a:r>
              <a:rPr lang="en-US" altLang="ja-JP" dirty="0" err="1"/>
              <a:t>Đặc</a:t>
            </a:r>
            <a:r>
              <a:rPr lang="en-US" altLang="ja-JP" dirty="0"/>
              <a:t> </a:t>
            </a:r>
            <a:r>
              <a:rPr lang="en-US" altLang="ja-JP" dirty="0" err="1"/>
              <a:t>trưng</a:t>
            </a:r>
            <a:r>
              <a:rPr lang="en-US" altLang="ja-JP" dirty="0"/>
              <a:t> </a:t>
            </a:r>
            <a:r>
              <a:rPr lang="ja-JP" altLang="ja-JP" dirty="0"/>
              <a:t>của Java</a:t>
            </a:r>
            <a:endParaRPr kumimoji="1" lang="ja-JP" altLang="en-US" dirty="0"/>
          </a:p>
        </p:txBody>
      </p:sp>
      <p:sp>
        <p:nvSpPr>
          <p:cNvPr id="3" name="Content Placeholder 2">
            <a:extLst>
              <a:ext uri="{FF2B5EF4-FFF2-40B4-BE49-F238E27FC236}">
                <a16:creationId xmlns:a16="http://schemas.microsoft.com/office/drawing/2014/main" id="{56B51187-2E32-9DDA-0158-E0E14946F0B1}"/>
              </a:ext>
            </a:extLst>
          </p:cNvPr>
          <p:cNvSpPr>
            <a:spLocks noGrp="1"/>
          </p:cNvSpPr>
          <p:nvPr>
            <p:ph idx="1"/>
          </p:nvPr>
        </p:nvSpPr>
        <p:spPr/>
        <p:txBody>
          <a:bodyPr>
            <a:normAutofit fontScale="70000" lnSpcReduction="20000"/>
          </a:bodyPr>
          <a:lstStyle/>
          <a:p>
            <a:pPr lvl="0"/>
            <a:r>
              <a:rPr lang="ja-JP" altLang="ja-JP" b="1" dirty="0"/>
              <a:t>Platform Independence</a:t>
            </a:r>
            <a:r>
              <a:rPr lang="ja-JP" altLang="ja-JP" dirty="0"/>
              <a:t> (Tính độc lập nền tảng)</a:t>
            </a:r>
          </a:p>
          <a:p>
            <a:pPr lvl="1"/>
            <a:r>
              <a:rPr lang="ja-JP" altLang="ja-JP" dirty="0"/>
              <a:t>Nhờ JVM, code Java biên dịch thành bytecode và có thể chạy trên bất kỳ hệ điều hành nào. </a:t>
            </a:r>
          </a:p>
          <a:p>
            <a:pPr lvl="0"/>
            <a:r>
              <a:rPr lang="ja-JP" altLang="ja-JP" b="1" dirty="0"/>
              <a:t>Robustness </a:t>
            </a:r>
            <a:r>
              <a:rPr lang="ja-JP" altLang="ja-JP" dirty="0"/>
              <a:t>(Tính bền vững)</a:t>
            </a:r>
          </a:p>
          <a:p>
            <a:pPr lvl="1"/>
            <a:r>
              <a:rPr lang="ja-JP" altLang="ja-JP" dirty="0"/>
              <a:t>Kiểm tra lỗi nghiêm ngặt lúc biên dịch.</a:t>
            </a:r>
          </a:p>
          <a:p>
            <a:pPr lvl="1"/>
            <a:r>
              <a:rPr lang="ja-JP" altLang="ja-JP" dirty="0"/>
              <a:t>Cơ chế quản lý bộ nhớ tự động (Garbage Collector). </a:t>
            </a:r>
          </a:p>
          <a:p>
            <a:pPr lvl="0"/>
            <a:r>
              <a:rPr lang="ja-JP" altLang="ja-JP" b="1" dirty="0"/>
              <a:t>Security </a:t>
            </a:r>
            <a:r>
              <a:rPr lang="ja-JP" altLang="ja-JP" dirty="0"/>
              <a:t>(Bảo mật)</a:t>
            </a:r>
          </a:p>
          <a:p>
            <a:pPr lvl="1"/>
            <a:r>
              <a:rPr lang="ja-JP" altLang="ja-JP" dirty="0"/>
              <a:t>Java có sandbox để chạy các chương trình đáng ngờ một cách an toàn.</a:t>
            </a:r>
          </a:p>
          <a:p>
            <a:pPr lvl="1"/>
            <a:r>
              <a:rPr lang="ja-JP" altLang="ja-JP" dirty="0"/>
              <a:t>API bảo mật mạnh mẽ: mã hóa, xác thực, quyền truy cập.</a:t>
            </a:r>
          </a:p>
          <a:p>
            <a:pPr lvl="0"/>
            <a:r>
              <a:rPr lang="ja-JP" altLang="ja-JP" b="1" dirty="0"/>
              <a:t>Object-Oriented</a:t>
            </a:r>
            <a:endParaRPr lang="ja-JP" altLang="ja-JP" dirty="0"/>
          </a:p>
          <a:p>
            <a:pPr lvl="1"/>
            <a:r>
              <a:rPr lang="ja-JP" altLang="ja-JP" dirty="0"/>
              <a:t>Mọi thứ trong Java là đối tượng, tăng khả năng tái sử dụng và mở rộng.</a:t>
            </a:r>
          </a:p>
          <a:p>
            <a:pPr lvl="0"/>
            <a:r>
              <a:rPr lang="ja-JP" altLang="ja-JP" b="1" dirty="0"/>
              <a:t>Multithreaded &amp; Performance</a:t>
            </a:r>
            <a:endParaRPr lang="ja-JP" altLang="ja-JP" dirty="0"/>
          </a:p>
          <a:p>
            <a:pPr lvl="1"/>
            <a:r>
              <a:rPr lang="ja-JP" altLang="ja-JP" dirty="0"/>
              <a:t>Hỗ trợ đa luồng (multi-threading) tích hợp sẵn.</a:t>
            </a:r>
          </a:p>
          <a:p>
            <a:pPr lvl="1"/>
            <a:r>
              <a:rPr lang="ja-JP" altLang="ja-JP" dirty="0"/>
              <a:t>Tối ưu hóa hiệu năng qua JIT (Just-In-Time Compiler).</a:t>
            </a:r>
          </a:p>
          <a:p>
            <a:endParaRPr kumimoji="1" lang="ja-JP" altLang="en-US" dirty="0"/>
          </a:p>
        </p:txBody>
      </p:sp>
      <p:sp>
        <p:nvSpPr>
          <p:cNvPr id="4" name="Slide Number Placeholder 3">
            <a:extLst>
              <a:ext uri="{FF2B5EF4-FFF2-40B4-BE49-F238E27FC236}">
                <a16:creationId xmlns:a16="http://schemas.microsoft.com/office/drawing/2014/main" id="{8E0AF3F1-8683-D9F5-2658-92314AC2A235}"/>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7</a:t>
            </a:fld>
            <a:endParaRPr lang="en-US" altLang="ja-JP"/>
          </a:p>
        </p:txBody>
      </p:sp>
    </p:spTree>
    <p:extLst>
      <p:ext uri="{BB962C8B-B14F-4D97-AF65-F5344CB8AC3E}">
        <p14:creationId xmlns:p14="http://schemas.microsoft.com/office/powerpoint/2010/main" val="3751906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85BFE-8A6D-2ACD-7BF0-F8A520BD277A}"/>
              </a:ext>
            </a:extLst>
          </p:cNvPr>
          <p:cNvSpPr>
            <a:spLocks noGrp="1"/>
          </p:cNvSpPr>
          <p:nvPr>
            <p:ph type="title"/>
          </p:nvPr>
        </p:nvSpPr>
        <p:spPr/>
        <p:txBody>
          <a:bodyPr>
            <a:normAutofit fontScale="90000"/>
          </a:bodyPr>
          <a:lstStyle/>
          <a:p>
            <a:r>
              <a:rPr lang="en-US" altLang="ja-JP" dirty="0" err="1"/>
              <a:t>Đặc</a:t>
            </a:r>
            <a:r>
              <a:rPr lang="en-US" altLang="ja-JP" dirty="0"/>
              <a:t> </a:t>
            </a:r>
            <a:r>
              <a:rPr lang="en-US" altLang="ja-JP" dirty="0" err="1"/>
              <a:t>trưng</a:t>
            </a:r>
            <a:r>
              <a:rPr lang="en-US" altLang="ja-JP" dirty="0"/>
              <a:t> </a:t>
            </a:r>
            <a:r>
              <a:rPr lang="en-US" altLang="ja-JP" dirty="0" err="1"/>
              <a:t>của</a:t>
            </a:r>
            <a:r>
              <a:rPr lang="en-US" altLang="ja-JP" dirty="0"/>
              <a:t> JAVA</a:t>
            </a:r>
            <a:endParaRPr kumimoji="1" lang="ja-JP" altLang="en-US" dirty="0"/>
          </a:p>
        </p:txBody>
      </p:sp>
      <p:sp>
        <p:nvSpPr>
          <p:cNvPr id="3" name="Content Placeholder 2">
            <a:extLst>
              <a:ext uri="{FF2B5EF4-FFF2-40B4-BE49-F238E27FC236}">
                <a16:creationId xmlns:a16="http://schemas.microsoft.com/office/drawing/2014/main" id="{EE3B5EF6-0ED8-919C-9054-6D1F24602614}"/>
              </a:ext>
            </a:extLst>
          </p:cNvPr>
          <p:cNvSpPr>
            <a:spLocks noGrp="1"/>
          </p:cNvSpPr>
          <p:nvPr>
            <p:ph idx="1"/>
          </p:nvPr>
        </p:nvSpPr>
        <p:spPr>
          <a:xfrm>
            <a:off x="256928" y="1110436"/>
            <a:ext cx="9649072" cy="5214164"/>
          </a:xfrm>
        </p:spPr>
        <p:txBody>
          <a:bodyPr>
            <a:normAutofit fontScale="92500"/>
          </a:bodyPr>
          <a:lstStyle/>
          <a:p>
            <a:endParaRPr lang="en-US" altLang="ja-JP" sz="2400" dirty="0">
              <a:ea typeface="MS UI Gothic" panose="020B0600070205080204" pitchFamily="50" charset="-128"/>
            </a:endParaRPr>
          </a:p>
          <a:p>
            <a:endParaRPr lang="en-US" altLang="ja-JP" sz="2400" dirty="0">
              <a:ea typeface="MS UI Gothic" panose="020B0600070205080204" pitchFamily="50" charset="-128"/>
            </a:endParaRPr>
          </a:p>
          <a:p>
            <a:endParaRPr lang="en-US" altLang="ja-JP" sz="2400" dirty="0">
              <a:ea typeface="MS UI Gothic" panose="020B0600070205080204" pitchFamily="50" charset="-128"/>
            </a:endParaRPr>
          </a:p>
          <a:p>
            <a:endParaRPr lang="en-US" altLang="ja-JP" sz="2400" dirty="0">
              <a:ea typeface="MS UI Gothic" panose="020B0600070205080204" pitchFamily="50" charset="-128"/>
            </a:endParaRPr>
          </a:p>
          <a:p>
            <a:endParaRPr lang="en-US" altLang="ja-JP" sz="2400" dirty="0">
              <a:ea typeface="MS UI Gothic" panose="020B0600070205080204" pitchFamily="50" charset="-128"/>
            </a:endParaRPr>
          </a:p>
          <a:p>
            <a:endParaRPr lang="en-US" altLang="ja-JP" sz="2400" dirty="0">
              <a:ea typeface="MS UI Gothic" panose="020B0600070205080204" pitchFamily="50" charset="-128"/>
            </a:endParaRPr>
          </a:p>
          <a:p>
            <a:endParaRPr lang="en-US" altLang="ja-JP" sz="2400" dirty="0">
              <a:ea typeface="MS UI Gothic" panose="020B0600070205080204" pitchFamily="50" charset="-128"/>
            </a:endParaRPr>
          </a:p>
          <a:p>
            <a:endParaRPr lang="en-US" altLang="ja-JP" sz="2400" dirty="0">
              <a:ea typeface="MS UI Gothic" panose="020B0600070205080204" pitchFamily="50" charset="-128"/>
            </a:endParaRPr>
          </a:p>
          <a:p>
            <a:pPr marL="0" indent="0">
              <a:buNone/>
            </a:pPr>
            <a:endParaRPr lang="en-US" altLang="ja-JP" sz="2400" dirty="0">
              <a:ea typeface="MS UI Gothic" panose="020B0600070205080204" pitchFamily="50" charset="-128"/>
            </a:endParaRPr>
          </a:p>
          <a:p>
            <a:r>
              <a:rPr lang="en-US" altLang="ja-JP" sz="2400" dirty="0">
                <a:ea typeface="MS UI Gothic" panose="020B0600070205080204" pitchFamily="50" charset="-128"/>
              </a:rPr>
              <a:t>Multi platform: </a:t>
            </a:r>
            <a:r>
              <a:rPr lang="en-US" altLang="ja-JP" sz="2400" dirty="0" err="1">
                <a:latin typeface="Arial" panose="020B0604020202020204" pitchFamily="34" charset="0"/>
              </a:rPr>
              <a:t>Ngôn</a:t>
            </a:r>
            <a:r>
              <a:rPr lang="en-US" altLang="ja-JP" sz="2400" dirty="0">
                <a:latin typeface="Arial" panose="020B0604020202020204" pitchFamily="34" charset="0"/>
              </a:rPr>
              <a:t> </a:t>
            </a:r>
            <a:r>
              <a:rPr lang="en-US" altLang="ja-JP" sz="2400" dirty="0" err="1">
                <a:latin typeface="Arial" panose="020B0604020202020204" pitchFamily="34" charset="0"/>
              </a:rPr>
              <a:t>ngữ</a:t>
            </a:r>
            <a:r>
              <a:rPr lang="en-US" altLang="ja-JP" sz="2400" dirty="0">
                <a:latin typeface="Arial" panose="020B0604020202020204" pitchFamily="34" charset="0"/>
              </a:rPr>
              <a:t> Java </a:t>
            </a:r>
            <a:r>
              <a:rPr lang="en-US" altLang="ja-JP" sz="2400" dirty="0" err="1">
                <a:latin typeface="Arial" panose="020B0604020202020204" pitchFamily="34" charset="0"/>
              </a:rPr>
              <a:t>là</a:t>
            </a:r>
            <a:r>
              <a:rPr lang="en-US" altLang="ja-JP" sz="2400" dirty="0">
                <a:latin typeface="Arial" panose="020B0604020202020204" pitchFamily="34" charset="0"/>
              </a:rPr>
              <a:t> </a:t>
            </a:r>
            <a:r>
              <a:rPr lang="en-US" altLang="ja-JP" sz="2400" dirty="0" err="1">
                <a:latin typeface="Arial" panose="020B0604020202020204" pitchFamily="34" charset="0"/>
              </a:rPr>
              <a:t>ngôn</a:t>
            </a:r>
            <a:r>
              <a:rPr lang="en-US" altLang="ja-JP" sz="2400" dirty="0">
                <a:latin typeface="Arial" panose="020B0604020202020204" pitchFamily="34" charset="0"/>
              </a:rPr>
              <a:t> </a:t>
            </a:r>
            <a:r>
              <a:rPr lang="en-US" altLang="ja-JP" sz="2400" dirty="0" err="1">
                <a:latin typeface="Arial" panose="020B0604020202020204" pitchFamily="34" charset="0"/>
              </a:rPr>
              <a:t>ngữ</a:t>
            </a:r>
            <a:r>
              <a:rPr lang="en-US" altLang="ja-JP" sz="2400" dirty="0">
                <a:latin typeface="Arial" panose="020B0604020202020204" pitchFamily="34" charset="0"/>
              </a:rPr>
              <a:t> </a:t>
            </a:r>
            <a:r>
              <a:rPr lang="en-US" altLang="ja-JP" sz="2400" dirty="0" err="1">
                <a:latin typeface="Arial" panose="020B0604020202020204" pitchFamily="34" charset="0"/>
              </a:rPr>
              <a:t>hướng</a:t>
            </a:r>
            <a:r>
              <a:rPr lang="en-US" altLang="ja-JP" sz="2400" dirty="0">
                <a:latin typeface="Arial" panose="020B0604020202020204" pitchFamily="34" charset="0"/>
              </a:rPr>
              <a:t> </a:t>
            </a:r>
            <a:r>
              <a:rPr lang="en-US" altLang="ja-JP" sz="2400" dirty="0" err="1">
                <a:latin typeface="Arial" panose="020B0604020202020204" pitchFamily="34" charset="0"/>
              </a:rPr>
              <a:t>đối</a:t>
            </a:r>
            <a:r>
              <a:rPr lang="en-US" altLang="ja-JP" sz="2400" dirty="0">
                <a:latin typeface="Arial" panose="020B0604020202020204" pitchFamily="34" charset="0"/>
              </a:rPr>
              <a:t> </a:t>
            </a:r>
            <a:r>
              <a:rPr lang="en-US" altLang="ja-JP" sz="2400" dirty="0" err="1">
                <a:latin typeface="Arial" panose="020B0604020202020204" pitchFamily="34" charset="0"/>
              </a:rPr>
              <a:t>tượng</a:t>
            </a:r>
            <a:r>
              <a:rPr lang="en-US" altLang="ja-JP" sz="2400" dirty="0">
                <a:latin typeface="Arial" panose="020B0604020202020204" pitchFamily="34" charset="0"/>
              </a:rPr>
              <a:t> </a:t>
            </a:r>
            <a:r>
              <a:rPr lang="en-US" altLang="ja-JP" sz="2400" dirty="0" err="1">
                <a:latin typeface="Arial" panose="020B0604020202020204" pitchFamily="34" charset="0"/>
              </a:rPr>
              <a:t>không</a:t>
            </a:r>
            <a:r>
              <a:rPr lang="en-US" altLang="ja-JP" sz="2400" dirty="0">
                <a:latin typeface="Arial" panose="020B0604020202020204" pitchFamily="34" charset="0"/>
              </a:rPr>
              <a:t> </a:t>
            </a:r>
            <a:r>
              <a:rPr lang="en-US" altLang="ja-JP" sz="2400" dirty="0" err="1">
                <a:latin typeface="Arial" panose="020B0604020202020204" pitchFamily="34" charset="0"/>
              </a:rPr>
              <a:t>phụ</a:t>
            </a:r>
            <a:r>
              <a:rPr lang="en-US" altLang="ja-JP" sz="2400" dirty="0">
                <a:latin typeface="Arial" panose="020B0604020202020204" pitchFamily="34" charset="0"/>
              </a:rPr>
              <a:t> </a:t>
            </a:r>
            <a:r>
              <a:rPr lang="en-US" altLang="ja-JP" sz="2400" dirty="0" err="1">
                <a:latin typeface="Arial" panose="020B0604020202020204" pitchFamily="34" charset="0"/>
              </a:rPr>
              <a:t>thuộc</a:t>
            </a:r>
            <a:r>
              <a:rPr lang="en-US" altLang="ja-JP" sz="2400" dirty="0">
                <a:latin typeface="Arial" panose="020B0604020202020204" pitchFamily="34" charset="0"/>
              </a:rPr>
              <a:t> </a:t>
            </a:r>
            <a:r>
              <a:rPr lang="en-US" altLang="ja-JP" sz="2400" dirty="0" err="1">
                <a:latin typeface="Arial" panose="020B0604020202020204" pitchFamily="34" charset="0"/>
              </a:rPr>
              <a:t>vào</a:t>
            </a:r>
            <a:r>
              <a:rPr lang="en-US" altLang="ja-JP" sz="2400" dirty="0">
                <a:latin typeface="Arial" panose="020B0604020202020204" pitchFamily="34" charset="0"/>
              </a:rPr>
              <a:t> platform (</a:t>
            </a:r>
            <a:r>
              <a:rPr lang="en-US" altLang="ja-JP" sz="2400" dirty="0" err="1">
                <a:latin typeface="Arial" panose="020B0604020202020204" pitchFamily="34" charset="0"/>
              </a:rPr>
              <a:t>Là</a:t>
            </a:r>
            <a:r>
              <a:rPr lang="en-US" altLang="ja-JP" sz="2400" dirty="0">
                <a:latin typeface="Arial" panose="020B0604020202020204" pitchFamily="34" charset="0"/>
              </a:rPr>
              <a:t> </a:t>
            </a:r>
            <a:r>
              <a:rPr lang="en-US" altLang="ja-JP" sz="2400" dirty="0" err="1">
                <a:latin typeface="Arial" panose="020B0604020202020204" pitchFamily="34" charset="0"/>
              </a:rPr>
              <a:t>môi</a:t>
            </a:r>
            <a:r>
              <a:rPr lang="en-US" altLang="ja-JP" sz="2400" dirty="0">
                <a:latin typeface="Arial" panose="020B0604020202020204" pitchFamily="34" charset="0"/>
              </a:rPr>
              <a:t> </a:t>
            </a:r>
            <a:r>
              <a:rPr lang="en-US" altLang="ja-JP" sz="2400" dirty="0" err="1">
                <a:latin typeface="Arial" panose="020B0604020202020204" pitchFamily="34" charset="0"/>
              </a:rPr>
              <a:t>trường</a:t>
            </a:r>
            <a:r>
              <a:rPr lang="en-US" altLang="ja-JP" sz="2400" dirty="0">
                <a:latin typeface="Arial" panose="020B0604020202020204" pitchFamily="34" charset="0"/>
              </a:rPr>
              <a:t> </a:t>
            </a:r>
            <a:r>
              <a:rPr lang="en-US" altLang="ja-JP" sz="2400" dirty="0" err="1">
                <a:latin typeface="Arial" panose="020B0604020202020204" pitchFamily="34" charset="0"/>
              </a:rPr>
              <a:t>thực</a:t>
            </a:r>
            <a:r>
              <a:rPr lang="en-US" altLang="ja-JP" sz="2400" dirty="0">
                <a:latin typeface="Arial" panose="020B0604020202020204" pitchFamily="34" charset="0"/>
              </a:rPr>
              <a:t> </a:t>
            </a:r>
            <a:r>
              <a:rPr lang="en-US" altLang="ja-JP" sz="2400" dirty="0" err="1">
                <a:latin typeface="Arial" panose="020B0604020202020204" pitchFamily="34" charset="0"/>
              </a:rPr>
              <a:t>thi</a:t>
            </a:r>
            <a:r>
              <a:rPr lang="en-US" altLang="ja-JP" sz="2400" dirty="0">
                <a:latin typeface="Arial" panose="020B0604020202020204" pitchFamily="34" charset="0"/>
              </a:rPr>
              <a:t> bao </a:t>
            </a:r>
            <a:r>
              <a:rPr lang="en-US" altLang="ja-JP" sz="2400" dirty="0" err="1">
                <a:latin typeface="Arial" panose="020B0604020202020204" pitchFamily="34" charset="0"/>
              </a:rPr>
              <a:t>gồm</a:t>
            </a:r>
            <a:r>
              <a:rPr lang="en-US" altLang="ja-JP" sz="2400" dirty="0">
                <a:latin typeface="Arial" panose="020B0604020202020204" pitchFamily="34" charset="0"/>
              </a:rPr>
              <a:t> hardware, OS </a:t>
            </a:r>
            <a:r>
              <a:rPr lang="en-US" altLang="ja-JP" sz="2400" dirty="0" err="1">
                <a:latin typeface="Arial" panose="020B0604020202020204" pitchFamily="34" charset="0"/>
              </a:rPr>
              <a:t>là</a:t>
            </a:r>
            <a:r>
              <a:rPr lang="en-US" altLang="ja-JP" sz="2400" dirty="0">
                <a:latin typeface="Arial" panose="020B0604020202020204" pitchFamily="34" charset="0"/>
              </a:rPr>
              <a:t> </a:t>
            </a:r>
            <a:r>
              <a:rPr lang="en-US" altLang="ja-JP" sz="2400" dirty="0" err="1">
                <a:latin typeface="Arial" panose="020B0604020202020204" pitchFamily="34" charset="0"/>
              </a:rPr>
              <a:t>nền</a:t>
            </a:r>
            <a:r>
              <a:rPr lang="en-US" altLang="ja-JP" sz="2400" dirty="0">
                <a:latin typeface="Arial" panose="020B0604020202020204" pitchFamily="34" charset="0"/>
              </a:rPr>
              <a:t> </a:t>
            </a:r>
            <a:r>
              <a:rPr lang="en-US" altLang="ja-JP" sz="2400" dirty="0" err="1">
                <a:latin typeface="Arial" panose="020B0604020202020204" pitchFamily="34" charset="0"/>
              </a:rPr>
              <a:t>tảng</a:t>
            </a:r>
            <a:r>
              <a:rPr lang="en-US" altLang="ja-JP" sz="2400" dirty="0">
                <a:latin typeface="Arial" panose="020B0604020202020204" pitchFamily="34" charset="0"/>
              </a:rPr>
              <a:t> </a:t>
            </a:r>
            <a:r>
              <a:rPr lang="en-US" altLang="ja-JP" sz="2400" dirty="0" err="1">
                <a:latin typeface="Arial" panose="020B0604020202020204" pitchFamily="34" charset="0"/>
              </a:rPr>
              <a:t>cần</a:t>
            </a:r>
            <a:r>
              <a:rPr lang="en-US" altLang="ja-JP" sz="2400" dirty="0">
                <a:latin typeface="Arial" panose="020B0604020202020204" pitchFamily="34" charset="0"/>
              </a:rPr>
              <a:t> </a:t>
            </a:r>
            <a:r>
              <a:rPr lang="en-US" altLang="ja-JP" sz="2400" dirty="0" err="1">
                <a:latin typeface="Arial" panose="020B0604020202020204" pitchFamily="34" charset="0"/>
              </a:rPr>
              <a:t>thiết</a:t>
            </a:r>
            <a:r>
              <a:rPr lang="en-US" altLang="ja-JP" sz="2400" dirty="0">
                <a:latin typeface="Arial" panose="020B0604020202020204" pitchFamily="34" charset="0"/>
              </a:rPr>
              <a:t> </a:t>
            </a:r>
            <a:r>
              <a:rPr lang="en-US" altLang="ja-JP" sz="2400" dirty="0" err="1">
                <a:latin typeface="Arial" panose="020B0604020202020204" pitchFamily="34" charset="0"/>
              </a:rPr>
              <a:t>cho</a:t>
            </a:r>
            <a:r>
              <a:rPr lang="en-US" altLang="ja-JP" sz="2400" dirty="0">
                <a:latin typeface="Arial" panose="020B0604020202020204" pitchFamily="34" charset="0"/>
              </a:rPr>
              <a:t> </a:t>
            </a:r>
            <a:r>
              <a:rPr lang="en-US" altLang="ja-JP" sz="2400" dirty="0" err="1">
                <a:latin typeface="Arial" panose="020B0604020202020204" pitchFamily="34" charset="0"/>
              </a:rPr>
              <a:t>việc</a:t>
            </a:r>
            <a:r>
              <a:rPr lang="en-US" altLang="ja-JP" sz="2400" dirty="0">
                <a:latin typeface="Arial" panose="020B0604020202020204" pitchFamily="34" charset="0"/>
              </a:rPr>
              <a:t> </a:t>
            </a:r>
            <a:r>
              <a:rPr lang="en-US" altLang="ja-JP" sz="2400" dirty="0" err="1">
                <a:latin typeface="Arial" panose="020B0604020202020204" pitchFamily="34" charset="0"/>
              </a:rPr>
              <a:t>chạy</a:t>
            </a:r>
            <a:r>
              <a:rPr lang="en-US" altLang="ja-JP" sz="2400" dirty="0">
                <a:latin typeface="Arial" panose="020B0604020202020204" pitchFamily="34" charset="0"/>
              </a:rPr>
              <a:t> application).</a:t>
            </a:r>
          </a:p>
          <a:p>
            <a:pPr marL="0" indent="0"/>
            <a:r>
              <a:rPr lang="ja-JP" altLang="en-US" sz="2400" dirty="0">
                <a:latin typeface="Arial" panose="020B0604020202020204" pitchFamily="34" charset="0"/>
              </a:rPr>
              <a:t>　</a:t>
            </a:r>
            <a:r>
              <a:rPr lang="en-US" altLang="ja-JP" sz="2400" dirty="0" err="1">
                <a:latin typeface="Arial" panose="020B0604020202020204" pitchFamily="34" charset="0"/>
              </a:rPr>
              <a:t>Gọi</a:t>
            </a:r>
            <a:r>
              <a:rPr lang="en-US" altLang="ja-JP" sz="2400" dirty="0">
                <a:latin typeface="Arial" panose="020B0604020202020204" pitchFamily="34" charset="0"/>
              </a:rPr>
              <a:t> </a:t>
            </a:r>
            <a:r>
              <a:rPr lang="en-US" altLang="ja-JP" sz="2400" dirty="0" err="1">
                <a:latin typeface="Arial" panose="020B0604020202020204" pitchFamily="34" charset="0"/>
              </a:rPr>
              <a:t>việc</a:t>
            </a:r>
            <a:r>
              <a:rPr lang="en-US" altLang="ja-JP" sz="2400" dirty="0">
                <a:latin typeface="Arial" panose="020B0604020202020204" pitchFamily="34" charset="0"/>
              </a:rPr>
              <a:t> </a:t>
            </a:r>
            <a:r>
              <a:rPr lang="en-US" altLang="ja-JP" sz="2400" dirty="0" err="1">
                <a:latin typeface="Arial" panose="020B0604020202020204" pitchFamily="34" charset="0"/>
              </a:rPr>
              <a:t>có</a:t>
            </a:r>
            <a:r>
              <a:rPr lang="en-US" altLang="ja-JP" sz="2400" dirty="0">
                <a:latin typeface="Arial" panose="020B0604020202020204" pitchFamily="34" charset="0"/>
              </a:rPr>
              <a:t> </a:t>
            </a:r>
            <a:r>
              <a:rPr lang="en-US" altLang="ja-JP" sz="2400" dirty="0" err="1">
                <a:latin typeface="Arial" panose="020B0604020202020204" pitchFamily="34" charset="0"/>
              </a:rPr>
              <a:t>thể</a:t>
            </a:r>
            <a:r>
              <a:rPr lang="en-US" altLang="ja-JP" sz="2400" dirty="0">
                <a:latin typeface="Arial" panose="020B0604020202020204" pitchFamily="34" charset="0"/>
              </a:rPr>
              <a:t> </a:t>
            </a:r>
            <a:r>
              <a:rPr lang="en-US" altLang="ja-JP" sz="2400" dirty="0" err="1">
                <a:latin typeface="Arial" panose="020B0604020202020204" pitchFamily="34" charset="0"/>
              </a:rPr>
              <a:t>sử</a:t>
            </a:r>
            <a:r>
              <a:rPr lang="en-US" altLang="ja-JP" sz="2400" dirty="0">
                <a:latin typeface="Arial" panose="020B0604020202020204" pitchFamily="34" charset="0"/>
              </a:rPr>
              <a:t> </a:t>
            </a:r>
            <a:r>
              <a:rPr lang="en-US" altLang="ja-JP" sz="2400" dirty="0" err="1">
                <a:latin typeface="Arial" panose="020B0604020202020204" pitchFamily="34" charset="0"/>
              </a:rPr>
              <a:t>dụng</a:t>
            </a:r>
            <a:r>
              <a:rPr lang="en-US" altLang="ja-JP" sz="2400" dirty="0">
                <a:latin typeface="Arial" panose="020B0604020202020204" pitchFamily="34" charset="0"/>
              </a:rPr>
              <a:t> </a:t>
            </a:r>
            <a:r>
              <a:rPr lang="en-US" altLang="ja-JP" sz="2400" dirty="0" err="1">
                <a:latin typeface="Arial" panose="020B0604020202020204" pitchFamily="34" charset="0"/>
              </a:rPr>
              <a:t>trong</a:t>
            </a:r>
            <a:r>
              <a:rPr lang="en-US" altLang="ja-JP" sz="2400" dirty="0">
                <a:latin typeface="Arial" panose="020B0604020202020204" pitchFamily="34" charset="0"/>
              </a:rPr>
              <a:t> </a:t>
            </a:r>
            <a:r>
              <a:rPr lang="en-US" altLang="ja-JP" sz="2400" dirty="0" err="1">
                <a:latin typeface="Arial" panose="020B0604020202020204" pitchFamily="34" charset="0"/>
              </a:rPr>
              <a:t>nhiều</a:t>
            </a:r>
            <a:r>
              <a:rPr lang="en-US" altLang="ja-JP" sz="2400" dirty="0">
                <a:latin typeface="Arial" panose="020B0604020202020204" pitchFamily="34" charset="0"/>
              </a:rPr>
              <a:t> platform </a:t>
            </a:r>
            <a:r>
              <a:rPr lang="en-US" altLang="ja-JP" sz="2400" dirty="0" err="1">
                <a:latin typeface="Arial" panose="020B0604020202020204" pitchFamily="34" charset="0"/>
              </a:rPr>
              <a:t>khác</a:t>
            </a:r>
            <a:r>
              <a:rPr lang="en-US" altLang="ja-JP" sz="2400" dirty="0">
                <a:latin typeface="Arial" panose="020B0604020202020204" pitchFamily="34" charset="0"/>
              </a:rPr>
              <a:t> </a:t>
            </a:r>
            <a:r>
              <a:rPr lang="en-US" altLang="ja-JP" sz="2400" dirty="0" err="1">
                <a:latin typeface="Arial" panose="020B0604020202020204" pitchFamily="34" charset="0"/>
              </a:rPr>
              <a:t>nhau</a:t>
            </a:r>
            <a:r>
              <a:rPr lang="en-US" altLang="ja-JP" sz="2400" dirty="0">
                <a:latin typeface="Arial" panose="020B0604020202020204" pitchFamily="34" charset="0"/>
              </a:rPr>
              <a:t> </a:t>
            </a:r>
            <a:r>
              <a:rPr lang="en-US" altLang="ja-JP" sz="2400" dirty="0" err="1">
                <a:latin typeface="Arial" panose="020B0604020202020204" pitchFamily="34" charset="0"/>
              </a:rPr>
              <a:t>là</a:t>
            </a:r>
            <a:r>
              <a:rPr lang="ja-JP" altLang="en-US" sz="2400" dirty="0">
                <a:latin typeface="Arial" panose="020B0604020202020204" pitchFamily="34" charset="0"/>
              </a:rPr>
              <a:t> </a:t>
            </a:r>
            <a:r>
              <a:rPr lang="en-US" altLang="ja-JP" sz="2400" dirty="0">
                <a:latin typeface="Arial" panose="020B0604020202020204" pitchFamily="34" charset="0"/>
              </a:rPr>
              <a:t>Multiplatform.</a:t>
            </a:r>
          </a:p>
          <a:p>
            <a:endParaRPr kumimoji="1" lang="ja-JP" altLang="en-US" sz="2400" dirty="0"/>
          </a:p>
        </p:txBody>
      </p:sp>
      <p:sp>
        <p:nvSpPr>
          <p:cNvPr id="4" name="Slide Number Placeholder 3">
            <a:extLst>
              <a:ext uri="{FF2B5EF4-FFF2-40B4-BE49-F238E27FC236}">
                <a16:creationId xmlns:a16="http://schemas.microsoft.com/office/drawing/2014/main" id="{78EA612F-FAD3-A8B8-3CA8-9B0C9303EE71}"/>
              </a:ext>
            </a:extLst>
          </p:cNvPr>
          <p:cNvSpPr>
            <a:spLocks noGrp="1"/>
          </p:cNvSpPr>
          <p:nvPr>
            <p:ph type="sldNum" sz="quarter" idx="11"/>
          </p:nvPr>
        </p:nvSpPr>
        <p:spPr>
          <a:xfrm>
            <a:off x="5097463" y="8739957"/>
            <a:ext cx="2063750" cy="204787"/>
          </a:xfrm>
        </p:spPr>
        <p:txBody>
          <a:bodyPr/>
          <a:lstStyle/>
          <a:p>
            <a:pPr>
              <a:defRPr/>
            </a:pPr>
            <a:r>
              <a:rPr lang="en-US" altLang="ja-JP"/>
              <a:t>Page:</a:t>
            </a:r>
            <a:r>
              <a:rPr lang="ja-JP" altLang="en-US"/>
              <a:t> </a:t>
            </a:r>
            <a:fld id="{DC07468E-517B-4E9D-8840-A4568A307980}" type="slidenum">
              <a:rPr lang="en-US" altLang="ja-JP" smtClean="0"/>
              <a:pPr>
                <a:defRPr/>
              </a:pPr>
              <a:t>8</a:t>
            </a:fld>
            <a:endParaRPr lang="en-US" altLang="ja-JP"/>
          </a:p>
        </p:txBody>
      </p:sp>
      <p:grpSp>
        <p:nvGrpSpPr>
          <p:cNvPr id="5" name="Group 4">
            <a:extLst>
              <a:ext uri="{FF2B5EF4-FFF2-40B4-BE49-F238E27FC236}">
                <a16:creationId xmlns:a16="http://schemas.microsoft.com/office/drawing/2014/main" id="{CE3AE0FF-BAE1-5434-C42B-1B75C043D2E8}"/>
              </a:ext>
            </a:extLst>
          </p:cNvPr>
          <p:cNvGrpSpPr/>
          <p:nvPr/>
        </p:nvGrpSpPr>
        <p:grpSpPr>
          <a:xfrm>
            <a:off x="381000" y="1110436"/>
            <a:ext cx="9144000" cy="3461564"/>
            <a:chOff x="381000" y="3458344"/>
            <a:chExt cx="9144000" cy="2895600"/>
          </a:xfrm>
        </p:grpSpPr>
        <p:sp>
          <p:nvSpPr>
            <p:cNvPr id="12" name="Rectangle 77">
              <a:extLst>
                <a:ext uri="{FF2B5EF4-FFF2-40B4-BE49-F238E27FC236}">
                  <a16:creationId xmlns:a16="http://schemas.microsoft.com/office/drawing/2014/main" id="{87523E14-99D5-44E0-3CCD-B1EBC3FAC2F1}"/>
                </a:ext>
              </a:extLst>
            </p:cNvPr>
            <p:cNvSpPr>
              <a:spLocks noChangeArrowheads="1"/>
            </p:cNvSpPr>
            <p:nvPr/>
          </p:nvSpPr>
          <p:spPr bwMode="auto">
            <a:xfrm>
              <a:off x="381000" y="3458344"/>
              <a:ext cx="9144000" cy="2895600"/>
            </a:xfrm>
            <a:prstGeom prst="rect">
              <a:avLst/>
            </a:prstGeom>
            <a:solidFill>
              <a:srgbClr val="99CC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1" tIns="45707" rIns="91411" bIns="45707" anchor="ctr"/>
            <a:lstStyle/>
            <a:p>
              <a:pPr algn="ctr"/>
              <a:endParaRPr lang="en-US" altLang="ja-JP" b="0"/>
            </a:p>
          </p:txBody>
        </p:sp>
        <p:sp>
          <p:nvSpPr>
            <p:cNvPr id="16" name="AutoShape 106">
              <a:extLst>
                <a:ext uri="{FF2B5EF4-FFF2-40B4-BE49-F238E27FC236}">
                  <a16:creationId xmlns:a16="http://schemas.microsoft.com/office/drawing/2014/main" id="{61BFA9AE-5503-2A08-A0B7-4F1449F26FC3}"/>
                </a:ext>
              </a:extLst>
            </p:cNvPr>
            <p:cNvSpPr>
              <a:spLocks noChangeArrowheads="1"/>
            </p:cNvSpPr>
            <p:nvPr/>
          </p:nvSpPr>
          <p:spPr bwMode="auto">
            <a:xfrm>
              <a:off x="457200" y="3993332"/>
              <a:ext cx="2667000" cy="1157288"/>
            </a:xfrm>
            <a:prstGeom prst="roundRect">
              <a:avLst>
                <a:gd name="adj" fmla="val 16667"/>
              </a:avLst>
            </a:prstGeom>
            <a:solidFill>
              <a:srgbClr val="FFFFCC"/>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727" tIns="46863" rIns="93727" bIns="46863" anchor="ctr"/>
            <a:lstStyle>
              <a:lvl1pPr defTabSz="938213">
                <a:defRPr kumimoji="1">
                  <a:solidFill>
                    <a:schemeClr val="tx1"/>
                  </a:solidFill>
                  <a:latin typeface="Arial" panose="020B0604020202020204" pitchFamily="34" charset="0"/>
                  <a:ea typeface="ＭＳ Ｐゴシック" panose="020B0600070205080204" pitchFamily="50" charset="-128"/>
                </a:defRPr>
              </a:lvl1pPr>
              <a:lvl2pPr marL="468313" defTabSz="938213">
                <a:defRPr kumimoji="1">
                  <a:solidFill>
                    <a:schemeClr val="tx1"/>
                  </a:solidFill>
                  <a:latin typeface="Arial" panose="020B0604020202020204" pitchFamily="34" charset="0"/>
                  <a:ea typeface="ＭＳ Ｐゴシック" panose="020B0600070205080204" pitchFamily="50" charset="-128"/>
                </a:defRPr>
              </a:lvl2pPr>
              <a:lvl3pPr marL="938213" defTabSz="938213">
                <a:defRPr kumimoji="1">
                  <a:solidFill>
                    <a:schemeClr val="tx1"/>
                  </a:solidFill>
                  <a:latin typeface="Arial" panose="020B0604020202020204" pitchFamily="34" charset="0"/>
                  <a:ea typeface="ＭＳ Ｐゴシック" panose="020B0600070205080204" pitchFamily="50" charset="-128"/>
                </a:defRPr>
              </a:lvl3pPr>
              <a:lvl4pPr marL="1406525" defTabSz="938213">
                <a:defRPr kumimoji="1">
                  <a:solidFill>
                    <a:schemeClr val="tx1"/>
                  </a:solidFill>
                  <a:latin typeface="Arial" panose="020B0604020202020204" pitchFamily="34" charset="0"/>
                  <a:ea typeface="ＭＳ Ｐゴシック" panose="020B0600070205080204" pitchFamily="50" charset="-128"/>
                </a:defRPr>
              </a:lvl4pPr>
              <a:lvl5pPr marL="1873250" defTabSz="938213">
                <a:defRPr kumimoji="1">
                  <a:solidFill>
                    <a:schemeClr val="tx1"/>
                  </a:solidFill>
                  <a:latin typeface="Arial" panose="020B0604020202020204" pitchFamily="34" charset="0"/>
                  <a:ea typeface="ＭＳ Ｐゴシック" panose="020B0600070205080204" pitchFamily="50" charset="-128"/>
                </a:defRPr>
              </a:lvl5pPr>
              <a:lvl6pPr marL="23304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876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448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20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600" dirty="0" err="1">
                  <a:ea typeface="MS UI Gothic" panose="020B0600070205080204" pitchFamily="50" charset="-128"/>
                </a:rPr>
                <a:t>Ngôn</a:t>
              </a:r>
              <a:r>
                <a:rPr lang="en-US" altLang="ja-JP" sz="1600" dirty="0">
                  <a:ea typeface="MS UI Gothic" panose="020B0600070205080204" pitchFamily="50" charset="-128"/>
                </a:rPr>
                <a:t> </a:t>
              </a:r>
              <a:r>
                <a:rPr lang="en-US" altLang="ja-JP" sz="1600" dirty="0" err="1">
                  <a:ea typeface="MS UI Gothic" panose="020B0600070205080204" pitchFamily="50" charset="-128"/>
                </a:rPr>
                <a:t>ngữ</a:t>
              </a:r>
              <a:r>
                <a:rPr lang="en-US" altLang="ja-JP" sz="1600" dirty="0">
                  <a:ea typeface="MS UI Gothic" panose="020B0600070205080204" pitchFamily="50" charset="-128"/>
                </a:rPr>
                <a:t> Java</a:t>
              </a:r>
            </a:p>
          </p:txBody>
        </p:sp>
        <p:sp>
          <p:nvSpPr>
            <p:cNvPr id="18" name="AutoShape 107">
              <a:extLst>
                <a:ext uri="{FF2B5EF4-FFF2-40B4-BE49-F238E27FC236}">
                  <a16:creationId xmlns:a16="http://schemas.microsoft.com/office/drawing/2014/main" id="{26AAD485-BE60-E2E8-6AF3-394AF33AB619}"/>
                </a:ext>
              </a:extLst>
            </p:cNvPr>
            <p:cNvSpPr>
              <a:spLocks noChangeArrowheads="1"/>
            </p:cNvSpPr>
            <p:nvPr/>
          </p:nvSpPr>
          <p:spPr bwMode="auto">
            <a:xfrm>
              <a:off x="3273549" y="3993332"/>
              <a:ext cx="2971799" cy="1157288"/>
            </a:xfrm>
            <a:prstGeom prst="roundRect">
              <a:avLst>
                <a:gd name="adj" fmla="val 16667"/>
              </a:avLst>
            </a:prstGeom>
            <a:solidFill>
              <a:srgbClr val="FFFFCC"/>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727" tIns="46863" rIns="93727" bIns="46863" anchor="ctr"/>
            <a:lstStyle>
              <a:lvl1pPr defTabSz="938213">
                <a:defRPr kumimoji="1">
                  <a:solidFill>
                    <a:schemeClr val="tx1"/>
                  </a:solidFill>
                  <a:latin typeface="Arial" panose="020B0604020202020204" pitchFamily="34" charset="0"/>
                  <a:ea typeface="ＭＳ Ｐゴシック" panose="020B0600070205080204" pitchFamily="50" charset="-128"/>
                </a:defRPr>
              </a:lvl1pPr>
              <a:lvl2pPr marL="468313" defTabSz="938213">
                <a:defRPr kumimoji="1">
                  <a:solidFill>
                    <a:schemeClr val="tx1"/>
                  </a:solidFill>
                  <a:latin typeface="Arial" panose="020B0604020202020204" pitchFamily="34" charset="0"/>
                  <a:ea typeface="ＭＳ Ｐゴシック" panose="020B0600070205080204" pitchFamily="50" charset="-128"/>
                </a:defRPr>
              </a:lvl2pPr>
              <a:lvl3pPr marL="938213" defTabSz="938213">
                <a:defRPr kumimoji="1">
                  <a:solidFill>
                    <a:schemeClr val="tx1"/>
                  </a:solidFill>
                  <a:latin typeface="Arial" panose="020B0604020202020204" pitchFamily="34" charset="0"/>
                  <a:ea typeface="ＭＳ Ｐゴシック" panose="020B0600070205080204" pitchFamily="50" charset="-128"/>
                </a:defRPr>
              </a:lvl3pPr>
              <a:lvl4pPr marL="1406525" defTabSz="938213">
                <a:defRPr kumimoji="1">
                  <a:solidFill>
                    <a:schemeClr val="tx1"/>
                  </a:solidFill>
                  <a:latin typeface="Arial" panose="020B0604020202020204" pitchFamily="34" charset="0"/>
                  <a:ea typeface="ＭＳ Ｐゴシック" panose="020B0600070205080204" pitchFamily="50" charset="-128"/>
                </a:defRPr>
              </a:lvl4pPr>
              <a:lvl5pPr marL="1873250" defTabSz="938213">
                <a:defRPr kumimoji="1">
                  <a:solidFill>
                    <a:schemeClr val="tx1"/>
                  </a:solidFill>
                  <a:latin typeface="Arial" panose="020B0604020202020204" pitchFamily="34" charset="0"/>
                  <a:ea typeface="ＭＳ Ｐゴシック" panose="020B0600070205080204" pitchFamily="50" charset="-128"/>
                </a:defRPr>
              </a:lvl5pPr>
              <a:lvl6pPr marL="23304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876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448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20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spcBef>
                  <a:spcPct val="50000"/>
                </a:spcBef>
              </a:pPr>
              <a:r>
                <a:rPr lang="en-US" altLang="ja-JP" sz="1600" dirty="0" err="1">
                  <a:ea typeface="MS UI Gothic" panose="020B0600070205080204" pitchFamily="50" charset="-128"/>
                </a:rPr>
                <a:t>Môi</a:t>
              </a:r>
              <a:r>
                <a:rPr lang="en-US" altLang="ja-JP" sz="1600" dirty="0">
                  <a:ea typeface="MS UI Gothic" panose="020B0600070205080204" pitchFamily="50" charset="-128"/>
                </a:rPr>
                <a:t> </a:t>
              </a:r>
              <a:r>
                <a:rPr lang="en-US" altLang="ja-JP" sz="1600" dirty="0" err="1">
                  <a:ea typeface="MS UI Gothic" panose="020B0600070205080204" pitchFamily="50" charset="-128"/>
                </a:rPr>
                <a:t>trường</a:t>
              </a:r>
              <a:r>
                <a:rPr lang="en-US" altLang="ja-JP" sz="1600" dirty="0">
                  <a:ea typeface="MS UI Gothic" panose="020B0600070205080204" pitchFamily="50" charset="-128"/>
                </a:rPr>
                <a:t> </a:t>
              </a:r>
            </a:p>
            <a:p>
              <a:pPr algn="ctr">
                <a:spcBef>
                  <a:spcPct val="50000"/>
                </a:spcBef>
              </a:pPr>
              <a:r>
                <a:rPr lang="en-US" altLang="ja-JP" sz="1600" dirty="0" err="1">
                  <a:ea typeface="MS UI Gothic" panose="020B0600070205080204" pitchFamily="50" charset="-128"/>
                </a:rPr>
                <a:t>thực</a:t>
              </a:r>
              <a:r>
                <a:rPr lang="en-US" altLang="ja-JP" sz="1600" dirty="0">
                  <a:ea typeface="MS UI Gothic" panose="020B0600070205080204" pitchFamily="50" charset="-128"/>
                </a:rPr>
                <a:t> </a:t>
              </a:r>
              <a:r>
                <a:rPr lang="en-US" altLang="ja-JP" sz="1600" dirty="0" err="1">
                  <a:ea typeface="MS UI Gothic" panose="020B0600070205080204" pitchFamily="50" charset="-128"/>
                </a:rPr>
                <a:t>thi</a:t>
              </a:r>
              <a:r>
                <a:rPr lang="en-US" altLang="ja-JP" sz="1600" dirty="0">
                  <a:ea typeface="MS UI Gothic" panose="020B0600070205080204" pitchFamily="50" charset="-128"/>
                </a:rPr>
                <a:t> Java</a:t>
              </a:r>
              <a:br>
                <a:rPr lang="en-US" altLang="ja-JP" sz="1600" dirty="0">
                  <a:ea typeface="MS UI Gothic" panose="020B0600070205080204" pitchFamily="50" charset="-128"/>
                </a:rPr>
              </a:br>
              <a:r>
                <a:rPr lang="en-US" altLang="ja-JP" sz="1600" dirty="0">
                  <a:ea typeface="MS UI Gothic" panose="020B0600070205080204" pitchFamily="50" charset="-128"/>
                </a:rPr>
                <a:t>(JRE)</a:t>
              </a:r>
            </a:p>
          </p:txBody>
        </p:sp>
        <p:sp>
          <p:nvSpPr>
            <p:cNvPr id="20" name="AutoShape 108">
              <a:extLst>
                <a:ext uri="{FF2B5EF4-FFF2-40B4-BE49-F238E27FC236}">
                  <a16:creationId xmlns:a16="http://schemas.microsoft.com/office/drawing/2014/main" id="{2C8C9E0F-3EEB-FB07-4BF4-47010D3C16DA}"/>
                </a:ext>
              </a:extLst>
            </p:cNvPr>
            <p:cNvSpPr>
              <a:spLocks noChangeArrowheads="1"/>
            </p:cNvSpPr>
            <p:nvPr/>
          </p:nvSpPr>
          <p:spPr bwMode="auto">
            <a:xfrm>
              <a:off x="6324600" y="3961188"/>
              <a:ext cx="2971800" cy="1157288"/>
            </a:xfrm>
            <a:prstGeom prst="roundRect">
              <a:avLst>
                <a:gd name="adj" fmla="val 16667"/>
              </a:avLst>
            </a:prstGeom>
            <a:solidFill>
              <a:srgbClr val="FFFFCC"/>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727" tIns="46863" rIns="93727" bIns="46863" anchor="ctr"/>
            <a:lstStyle>
              <a:lvl1pPr defTabSz="938213">
                <a:defRPr kumimoji="1">
                  <a:solidFill>
                    <a:schemeClr val="tx1"/>
                  </a:solidFill>
                  <a:latin typeface="Arial" panose="020B0604020202020204" pitchFamily="34" charset="0"/>
                  <a:ea typeface="ＭＳ Ｐゴシック" panose="020B0600070205080204" pitchFamily="50" charset="-128"/>
                </a:defRPr>
              </a:lvl1pPr>
              <a:lvl2pPr marL="468313" defTabSz="938213">
                <a:defRPr kumimoji="1">
                  <a:solidFill>
                    <a:schemeClr val="tx1"/>
                  </a:solidFill>
                  <a:latin typeface="Arial" panose="020B0604020202020204" pitchFamily="34" charset="0"/>
                  <a:ea typeface="ＭＳ Ｐゴシック" panose="020B0600070205080204" pitchFamily="50" charset="-128"/>
                </a:defRPr>
              </a:lvl2pPr>
              <a:lvl3pPr marL="938213" defTabSz="938213">
                <a:defRPr kumimoji="1">
                  <a:solidFill>
                    <a:schemeClr val="tx1"/>
                  </a:solidFill>
                  <a:latin typeface="Arial" panose="020B0604020202020204" pitchFamily="34" charset="0"/>
                  <a:ea typeface="ＭＳ Ｐゴシック" panose="020B0600070205080204" pitchFamily="50" charset="-128"/>
                </a:defRPr>
              </a:lvl3pPr>
              <a:lvl4pPr marL="1406525" defTabSz="938213">
                <a:defRPr kumimoji="1">
                  <a:solidFill>
                    <a:schemeClr val="tx1"/>
                  </a:solidFill>
                  <a:latin typeface="Arial" panose="020B0604020202020204" pitchFamily="34" charset="0"/>
                  <a:ea typeface="ＭＳ Ｐゴシック" panose="020B0600070205080204" pitchFamily="50" charset="-128"/>
                </a:defRPr>
              </a:lvl4pPr>
              <a:lvl5pPr marL="1873250" defTabSz="938213">
                <a:defRPr kumimoji="1">
                  <a:solidFill>
                    <a:schemeClr val="tx1"/>
                  </a:solidFill>
                  <a:latin typeface="Arial" panose="020B0604020202020204" pitchFamily="34" charset="0"/>
                  <a:ea typeface="ＭＳ Ｐゴシック" panose="020B0600070205080204" pitchFamily="50" charset="-128"/>
                </a:defRPr>
              </a:lvl5pPr>
              <a:lvl6pPr marL="23304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876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448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02050" defTabSz="9382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spcBef>
                  <a:spcPct val="50000"/>
                </a:spcBef>
              </a:pPr>
              <a:r>
                <a:rPr lang="en-US" altLang="ja-JP" sz="1600" dirty="0" err="1">
                  <a:ea typeface="MS UI Gothic" panose="020B0600070205080204" pitchFamily="50" charset="-128"/>
                </a:rPr>
                <a:t>Môi</a:t>
              </a:r>
              <a:r>
                <a:rPr lang="en-US" altLang="ja-JP" sz="1600" dirty="0">
                  <a:ea typeface="MS UI Gothic" panose="020B0600070205080204" pitchFamily="50" charset="-128"/>
                </a:rPr>
                <a:t> </a:t>
              </a:r>
              <a:r>
                <a:rPr lang="en-US" altLang="ja-JP" sz="1600" dirty="0" err="1">
                  <a:ea typeface="MS UI Gothic" panose="020B0600070205080204" pitchFamily="50" charset="-128"/>
                </a:rPr>
                <a:t>trường</a:t>
              </a:r>
              <a:r>
                <a:rPr lang="en-US" altLang="ja-JP" sz="1600" dirty="0">
                  <a:ea typeface="MS UI Gothic" panose="020B0600070205080204" pitchFamily="50" charset="-128"/>
                </a:rPr>
                <a:t> </a:t>
              </a:r>
              <a:r>
                <a:rPr lang="en-US" altLang="ja-JP" sz="1600" dirty="0" err="1">
                  <a:ea typeface="MS UI Gothic" panose="020B0600070205080204" pitchFamily="50" charset="-128"/>
                </a:rPr>
                <a:t>phát</a:t>
              </a:r>
              <a:r>
                <a:rPr lang="en-US" altLang="ja-JP" sz="1600" dirty="0">
                  <a:ea typeface="MS UI Gothic" panose="020B0600070205080204" pitchFamily="50" charset="-128"/>
                </a:rPr>
                <a:t> </a:t>
              </a:r>
            </a:p>
            <a:p>
              <a:pPr algn="ctr">
                <a:spcBef>
                  <a:spcPct val="50000"/>
                </a:spcBef>
              </a:pPr>
              <a:r>
                <a:rPr lang="en-US" altLang="ja-JP" sz="1600" dirty="0" err="1">
                  <a:ea typeface="MS UI Gothic" panose="020B0600070205080204" pitchFamily="50" charset="-128"/>
                </a:rPr>
                <a:t>triển</a:t>
              </a:r>
              <a:r>
                <a:rPr lang="en-US" altLang="ja-JP" sz="1600" dirty="0">
                  <a:ea typeface="MS UI Gothic" panose="020B0600070205080204" pitchFamily="50" charset="-128"/>
                </a:rPr>
                <a:t> Java</a:t>
              </a:r>
              <a:r>
                <a:rPr lang="ja-JP" altLang="en-US" sz="1600" dirty="0">
                  <a:ea typeface="MS UI Gothic" panose="020B0600070205080204" pitchFamily="50" charset="-128"/>
                </a:rPr>
                <a:t>（</a:t>
              </a:r>
              <a:r>
                <a:rPr lang="en-US" altLang="ja-JP" sz="1600" dirty="0">
                  <a:ea typeface="MS UI Gothic" panose="020B0600070205080204" pitchFamily="50" charset="-128"/>
                </a:rPr>
                <a:t>JDK</a:t>
              </a:r>
              <a:r>
                <a:rPr lang="ja-JP" altLang="en-US" sz="1600" dirty="0">
                  <a:ea typeface="MS UI Gothic" panose="020B0600070205080204" pitchFamily="50" charset="-128"/>
                </a:rPr>
                <a:t>）</a:t>
              </a:r>
            </a:p>
          </p:txBody>
        </p:sp>
        <p:sp>
          <p:nvSpPr>
            <p:cNvPr id="22" name="AutoShape 85">
              <a:extLst>
                <a:ext uri="{FF2B5EF4-FFF2-40B4-BE49-F238E27FC236}">
                  <a16:creationId xmlns:a16="http://schemas.microsoft.com/office/drawing/2014/main" id="{05F7ED9E-A9BB-FF0C-4587-5EFAAFE20006}"/>
                </a:ext>
              </a:extLst>
            </p:cNvPr>
            <p:cNvSpPr>
              <a:spLocks noChangeArrowheads="1"/>
            </p:cNvSpPr>
            <p:nvPr/>
          </p:nvSpPr>
          <p:spPr bwMode="auto">
            <a:xfrm>
              <a:off x="457200" y="5555432"/>
              <a:ext cx="2816349" cy="611187"/>
            </a:xfrm>
            <a:prstGeom prst="wedgeRoundRectCallout">
              <a:avLst>
                <a:gd name="adj1" fmla="val 8194"/>
                <a:gd name="adj2" fmla="val -129481"/>
                <a:gd name="adj3" fmla="val 16667"/>
              </a:avLst>
            </a:prstGeom>
            <a:solidFill>
              <a:srgbClr val="FFCC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nchor="ctr"/>
            <a:lstStyle/>
            <a:p>
              <a:pPr algn="ctr"/>
              <a:r>
                <a:rPr lang="en-US" altLang="ja-JP" b="0" dirty="0" err="1"/>
                <a:t>Ngôn</a:t>
              </a:r>
              <a:r>
                <a:rPr lang="en-US" altLang="ja-JP" b="0" dirty="0"/>
                <a:t> </a:t>
              </a:r>
              <a:r>
                <a:rPr lang="en-US" altLang="ja-JP" b="0" dirty="0" err="1"/>
                <a:t>ngữ</a:t>
              </a:r>
              <a:r>
                <a:rPr lang="en-US" altLang="ja-JP" b="0" dirty="0"/>
                <a:t> </a:t>
              </a:r>
              <a:r>
                <a:rPr lang="en-US" altLang="ja-JP" b="0" dirty="0" err="1"/>
                <a:t>lập</a:t>
              </a:r>
              <a:r>
                <a:rPr lang="en-US" altLang="ja-JP" b="0" dirty="0"/>
                <a:t> </a:t>
              </a:r>
              <a:r>
                <a:rPr lang="en-US" altLang="ja-JP" b="0" dirty="0" err="1"/>
                <a:t>trình</a:t>
              </a:r>
              <a:r>
                <a:rPr lang="en-US" altLang="ja-JP" b="0" dirty="0"/>
                <a:t> </a:t>
              </a:r>
              <a:r>
                <a:rPr lang="en-US" altLang="ja-JP" b="0" dirty="0" err="1"/>
                <a:t>để</a:t>
              </a:r>
              <a:r>
                <a:rPr lang="en-US" altLang="ja-JP" b="0" dirty="0"/>
                <a:t> </a:t>
              </a:r>
              <a:r>
                <a:rPr lang="en-US" altLang="ja-JP" b="0" dirty="0" err="1"/>
                <a:t>mô</a:t>
              </a:r>
              <a:r>
                <a:rPr lang="en-US" altLang="ja-JP" b="0" dirty="0"/>
                <a:t> </a:t>
              </a:r>
              <a:r>
                <a:rPr lang="en-US" altLang="ja-JP" b="0" dirty="0" err="1"/>
                <a:t>tả</a:t>
              </a:r>
              <a:r>
                <a:rPr lang="en-US" altLang="ja-JP" b="0" dirty="0"/>
                <a:t> Java program</a:t>
              </a:r>
            </a:p>
          </p:txBody>
        </p:sp>
        <p:sp>
          <p:nvSpPr>
            <p:cNvPr id="24" name="AutoShape 87">
              <a:extLst>
                <a:ext uri="{FF2B5EF4-FFF2-40B4-BE49-F238E27FC236}">
                  <a16:creationId xmlns:a16="http://schemas.microsoft.com/office/drawing/2014/main" id="{1797A8AC-EF56-3FBD-9D09-C900F72EE4F2}"/>
                </a:ext>
              </a:extLst>
            </p:cNvPr>
            <p:cNvSpPr>
              <a:spLocks noChangeArrowheads="1"/>
            </p:cNvSpPr>
            <p:nvPr/>
          </p:nvSpPr>
          <p:spPr bwMode="auto">
            <a:xfrm>
              <a:off x="3346573" y="5560931"/>
              <a:ext cx="2898775" cy="609600"/>
            </a:xfrm>
            <a:prstGeom prst="wedgeRoundRectCallout">
              <a:avLst>
                <a:gd name="adj1" fmla="val 4144"/>
                <a:gd name="adj2" fmla="val -126440"/>
                <a:gd name="adj3" fmla="val 16667"/>
              </a:avLst>
            </a:prstGeom>
            <a:solidFill>
              <a:srgbClr val="FFCC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nchor="ctr"/>
            <a:lstStyle/>
            <a:p>
              <a:pPr algn="ctr"/>
              <a:r>
                <a:rPr lang="en-US" altLang="ja-JP" b="0"/>
                <a:t>Môi trường để thực thi Java program</a:t>
              </a:r>
            </a:p>
          </p:txBody>
        </p:sp>
        <p:sp>
          <p:nvSpPr>
            <p:cNvPr id="26" name="AutoShape 126">
              <a:extLst>
                <a:ext uri="{FF2B5EF4-FFF2-40B4-BE49-F238E27FC236}">
                  <a16:creationId xmlns:a16="http://schemas.microsoft.com/office/drawing/2014/main" id="{81B62ACE-13A9-C89C-CBCA-76907A063BA6}"/>
                </a:ext>
              </a:extLst>
            </p:cNvPr>
            <p:cNvSpPr>
              <a:spLocks noChangeArrowheads="1"/>
            </p:cNvSpPr>
            <p:nvPr/>
          </p:nvSpPr>
          <p:spPr bwMode="auto">
            <a:xfrm>
              <a:off x="6310436" y="5586855"/>
              <a:ext cx="2971800" cy="609600"/>
            </a:xfrm>
            <a:prstGeom prst="wedgeRoundRectCallout">
              <a:avLst>
                <a:gd name="adj1" fmla="val 4144"/>
                <a:gd name="adj2" fmla="val -126440"/>
                <a:gd name="adj3" fmla="val 16667"/>
              </a:avLst>
            </a:prstGeom>
            <a:solidFill>
              <a:srgbClr val="FFCC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1" tIns="45707" rIns="91411" bIns="45707" anchor="ctr"/>
            <a:lstStyle/>
            <a:p>
              <a:pPr algn="ctr"/>
              <a:r>
                <a:rPr lang="en-US" altLang="ja-JP" b="0" dirty="0" err="1"/>
                <a:t>Môi</a:t>
              </a:r>
              <a:r>
                <a:rPr lang="en-US" altLang="ja-JP" b="0" dirty="0"/>
                <a:t> </a:t>
              </a:r>
              <a:r>
                <a:rPr lang="en-US" altLang="ja-JP" b="0" dirty="0" err="1"/>
                <a:t>trường</a:t>
              </a:r>
              <a:r>
                <a:rPr lang="en-US" altLang="ja-JP" b="0" dirty="0"/>
                <a:t> </a:t>
              </a:r>
              <a:r>
                <a:rPr lang="en-US" altLang="ja-JP" b="0" dirty="0" err="1"/>
                <a:t>để</a:t>
              </a:r>
              <a:r>
                <a:rPr lang="en-US" altLang="ja-JP" b="0" dirty="0"/>
                <a:t> </a:t>
              </a:r>
              <a:r>
                <a:rPr lang="en-US" altLang="ja-JP" b="0" dirty="0" err="1"/>
                <a:t>phát</a:t>
              </a:r>
              <a:r>
                <a:rPr lang="en-US" altLang="ja-JP" b="0" dirty="0"/>
                <a:t> </a:t>
              </a:r>
              <a:r>
                <a:rPr lang="en-US" altLang="ja-JP" b="0" dirty="0" err="1"/>
                <a:t>triển</a:t>
              </a:r>
              <a:r>
                <a:rPr lang="en-US" altLang="ja-JP" b="0" dirty="0"/>
                <a:t> Java program</a:t>
              </a:r>
            </a:p>
          </p:txBody>
        </p:sp>
      </p:grpSp>
    </p:spTree>
    <p:extLst>
      <p:ext uri="{BB962C8B-B14F-4D97-AF65-F5344CB8AC3E}">
        <p14:creationId xmlns:p14="http://schemas.microsoft.com/office/powerpoint/2010/main" val="1568563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97D57-5330-42C3-F007-DC1966ACE759}"/>
              </a:ext>
            </a:extLst>
          </p:cNvPr>
          <p:cNvSpPr>
            <a:spLocks noGrp="1"/>
          </p:cNvSpPr>
          <p:nvPr>
            <p:ph type="title"/>
          </p:nvPr>
        </p:nvSpPr>
        <p:spPr/>
        <p:txBody>
          <a:bodyPr>
            <a:normAutofit fontScale="90000"/>
          </a:bodyPr>
          <a:lstStyle/>
          <a:p>
            <a:r>
              <a:rPr lang="ja-JP" altLang="ja-JP" dirty="0"/>
              <a:t>Ứng dụng của Java</a:t>
            </a:r>
            <a:endParaRPr kumimoji="1" lang="ja-JP" altLang="en-US" dirty="0">
              <a:latin typeface="+mj-lt"/>
            </a:endParaRPr>
          </a:p>
        </p:txBody>
      </p:sp>
      <p:sp>
        <p:nvSpPr>
          <p:cNvPr id="3" name="Content Placeholder 2">
            <a:extLst>
              <a:ext uri="{FF2B5EF4-FFF2-40B4-BE49-F238E27FC236}">
                <a16:creationId xmlns:a16="http://schemas.microsoft.com/office/drawing/2014/main" id="{3E7D04D9-4FC0-490F-4D24-E88676A163D4}"/>
              </a:ext>
            </a:extLst>
          </p:cNvPr>
          <p:cNvSpPr>
            <a:spLocks noGrp="1"/>
          </p:cNvSpPr>
          <p:nvPr>
            <p:ph idx="1"/>
          </p:nvPr>
        </p:nvSpPr>
        <p:spPr/>
        <p:txBody>
          <a:bodyPr>
            <a:normAutofit/>
          </a:bodyPr>
          <a:lstStyle/>
          <a:p>
            <a:pPr lvl="0"/>
            <a:r>
              <a:rPr lang="ja-JP" altLang="ja-JP" dirty="0"/>
              <a:t>Ứng dụng </a:t>
            </a:r>
            <a:r>
              <a:rPr lang="ja-JP" altLang="ja-JP" b="1" dirty="0"/>
              <a:t>web</a:t>
            </a:r>
            <a:r>
              <a:rPr lang="ja-JP" altLang="ja-JP" dirty="0"/>
              <a:t>: Java EE (Servlet, JSP, Spring) </a:t>
            </a:r>
          </a:p>
          <a:p>
            <a:pPr lvl="0"/>
            <a:r>
              <a:rPr lang="ja-JP" altLang="ja-JP" dirty="0"/>
              <a:t>Ứng dụng </a:t>
            </a:r>
            <a:r>
              <a:rPr lang="ja-JP" altLang="ja-JP" b="1" dirty="0"/>
              <a:t>di động (mobile)</a:t>
            </a:r>
            <a:r>
              <a:rPr lang="ja-JP" altLang="ja-JP" dirty="0"/>
              <a:t>: Android sử dụng Java/Kotlin </a:t>
            </a:r>
          </a:p>
          <a:p>
            <a:pPr lvl="0"/>
            <a:r>
              <a:rPr lang="ja-JP" altLang="ja-JP" dirty="0"/>
              <a:t>Ứng dụng </a:t>
            </a:r>
            <a:r>
              <a:rPr lang="ja-JP" altLang="ja-JP" b="1" dirty="0"/>
              <a:t>desktop</a:t>
            </a:r>
            <a:r>
              <a:rPr lang="ja-JP" altLang="ja-JP" dirty="0"/>
              <a:t>: Swing, JavaFX </a:t>
            </a:r>
          </a:p>
          <a:p>
            <a:pPr lvl="0"/>
            <a:r>
              <a:rPr lang="ja-JP" altLang="ja-JP" dirty="0"/>
              <a:t>Ứng dụng </a:t>
            </a:r>
            <a:r>
              <a:rPr lang="ja-JP" altLang="ja-JP" b="1" dirty="0"/>
              <a:t>doanh nghiệp</a:t>
            </a:r>
            <a:r>
              <a:rPr lang="ja-JP" altLang="ja-JP" dirty="0"/>
              <a:t>: hệ thống ngân hàng, tài chính, bảo hiểm </a:t>
            </a:r>
          </a:p>
          <a:p>
            <a:pPr lvl="0"/>
            <a:r>
              <a:rPr lang="ja-JP" altLang="ja-JP" dirty="0"/>
              <a:t>Big Data &amp; Cloud: Java được dùng trong Hadoop, Spark </a:t>
            </a:r>
          </a:p>
          <a:p>
            <a:pPr lvl="0"/>
            <a:r>
              <a:rPr lang="ja-JP" altLang="ja-JP" dirty="0"/>
              <a:t>IoT &amp; nhúng: Java ME cho thiết bị nhúng</a:t>
            </a:r>
          </a:p>
        </p:txBody>
      </p:sp>
      <p:sp>
        <p:nvSpPr>
          <p:cNvPr id="4" name="Slide Number Placeholder 3">
            <a:extLst>
              <a:ext uri="{FF2B5EF4-FFF2-40B4-BE49-F238E27FC236}">
                <a16:creationId xmlns:a16="http://schemas.microsoft.com/office/drawing/2014/main" id="{FB26E164-203E-034D-18C6-B51A358836A6}"/>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9</a:t>
            </a:fld>
            <a:endParaRPr lang="en-US" altLang="ja-JP"/>
          </a:p>
        </p:txBody>
      </p:sp>
    </p:spTree>
    <p:extLst>
      <p:ext uri="{BB962C8B-B14F-4D97-AF65-F5344CB8AC3E}">
        <p14:creationId xmlns:p14="http://schemas.microsoft.com/office/powerpoint/2010/main" val="3196574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15FC6-FACF-D3AD-D99B-B2BB0278A619}"/>
              </a:ext>
            </a:extLst>
          </p:cNvPr>
          <p:cNvSpPr>
            <a:spLocks noGrp="1"/>
          </p:cNvSpPr>
          <p:nvPr>
            <p:ph type="title"/>
          </p:nvPr>
        </p:nvSpPr>
        <p:spPr/>
        <p:txBody>
          <a:bodyPr>
            <a:normAutofit fontScale="90000"/>
          </a:bodyPr>
          <a:lstStyle/>
          <a:p>
            <a:r>
              <a:rPr kumimoji="1" lang="en-US" altLang="ja-JP" dirty="0" err="1"/>
              <a:t>Việc</a:t>
            </a:r>
            <a:r>
              <a:rPr kumimoji="1" lang="en-US" altLang="ja-JP" dirty="0"/>
              <a:t> </a:t>
            </a:r>
            <a:r>
              <a:rPr kumimoji="1" lang="en-US" altLang="ja-JP" dirty="0" err="1"/>
              <a:t>làm</a:t>
            </a:r>
            <a:endParaRPr kumimoji="1" lang="ja-JP" altLang="en-US" dirty="0"/>
          </a:p>
        </p:txBody>
      </p:sp>
      <p:sp>
        <p:nvSpPr>
          <p:cNvPr id="3" name="Content Placeholder 2">
            <a:extLst>
              <a:ext uri="{FF2B5EF4-FFF2-40B4-BE49-F238E27FC236}">
                <a16:creationId xmlns:a16="http://schemas.microsoft.com/office/drawing/2014/main" id="{F0C344D9-AFED-8DE8-CF12-78A6BD4CB9DF}"/>
              </a:ext>
            </a:extLst>
          </p:cNvPr>
          <p:cNvSpPr>
            <a:spLocks noGrp="1"/>
          </p:cNvSpPr>
          <p:nvPr>
            <p:ph idx="1"/>
          </p:nvPr>
        </p:nvSpPr>
        <p:spPr/>
        <p:txBody>
          <a:bodyPr/>
          <a:lstStyle/>
          <a:p>
            <a:pPr lvl="0"/>
            <a:r>
              <a:rPr lang="ja-JP" altLang="ja-JP" dirty="0"/>
              <a:t>Java Developer</a:t>
            </a:r>
          </a:p>
          <a:p>
            <a:pPr lvl="0"/>
            <a:r>
              <a:rPr lang="ja-JP" altLang="ja-JP" dirty="0"/>
              <a:t>Android Developer</a:t>
            </a:r>
          </a:p>
          <a:p>
            <a:pPr lvl="0"/>
            <a:r>
              <a:rPr lang="ja-JP" altLang="ja-JP" dirty="0"/>
              <a:t>Backend Developer (Spring Boot)</a:t>
            </a:r>
          </a:p>
          <a:p>
            <a:pPr lvl="0"/>
            <a:r>
              <a:rPr lang="ja-JP" altLang="ja-JP" dirty="0"/>
              <a:t>DevOps/Automation (nhiều tool viết bằng Java: Jenkins, Maven...)</a:t>
            </a:r>
          </a:p>
          <a:p>
            <a:endParaRPr kumimoji="1" lang="ja-JP" altLang="en-US" dirty="0"/>
          </a:p>
        </p:txBody>
      </p:sp>
      <p:sp>
        <p:nvSpPr>
          <p:cNvPr id="4" name="Slide Number Placeholder 3">
            <a:extLst>
              <a:ext uri="{FF2B5EF4-FFF2-40B4-BE49-F238E27FC236}">
                <a16:creationId xmlns:a16="http://schemas.microsoft.com/office/drawing/2014/main" id="{0872CE84-D189-1162-0155-ED0C84C18005}"/>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10</a:t>
            </a:fld>
            <a:endParaRPr lang="en-US" altLang="ja-JP"/>
          </a:p>
        </p:txBody>
      </p:sp>
    </p:spTree>
    <p:extLst>
      <p:ext uri="{BB962C8B-B14F-4D97-AF65-F5344CB8AC3E}">
        <p14:creationId xmlns:p14="http://schemas.microsoft.com/office/powerpoint/2010/main" val="1061619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5185A-DEC8-AD22-1ADA-D033329F1F68}"/>
              </a:ext>
            </a:extLst>
          </p:cNvPr>
          <p:cNvSpPr>
            <a:spLocks noGrp="1"/>
          </p:cNvSpPr>
          <p:nvPr>
            <p:ph type="title"/>
          </p:nvPr>
        </p:nvSpPr>
        <p:spPr/>
        <p:txBody>
          <a:bodyPr>
            <a:normAutofit fontScale="90000"/>
          </a:bodyPr>
          <a:lstStyle/>
          <a:p>
            <a:r>
              <a:rPr lang="ja-JP" altLang="ja-JP" dirty="0"/>
              <a:t>Học Java có lỗi thời không?</a:t>
            </a:r>
            <a:endParaRPr kumimoji="1" lang="ja-JP" altLang="en-US" dirty="0"/>
          </a:p>
        </p:txBody>
      </p:sp>
      <p:sp>
        <p:nvSpPr>
          <p:cNvPr id="3" name="Content Placeholder 2">
            <a:extLst>
              <a:ext uri="{FF2B5EF4-FFF2-40B4-BE49-F238E27FC236}">
                <a16:creationId xmlns:a16="http://schemas.microsoft.com/office/drawing/2014/main" id="{B5F5E582-8994-CA14-543C-DB119BAD5635}"/>
              </a:ext>
            </a:extLst>
          </p:cNvPr>
          <p:cNvSpPr>
            <a:spLocks noGrp="1"/>
          </p:cNvSpPr>
          <p:nvPr>
            <p:ph idx="1"/>
          </p:nvPr>
        </p:nvSpPr>
        <p:spPr/>
        <p:txBody>
          <a:bodyPr>
            <a:normAutofit/>
          </a:bodyPr>
          <a:lstStyle/>
          <a:p>
            <a:pPr lvl="0"/>
            <a:r>
              <a:rPr lang="en-US" altLang="ja-JP" dirty="0"/>
              <a:t>K</a:t>
            </a:r>
            <a:r>
              <a:rPr lang="ja-JP" altLang="ja-JP" dirty="0"/>
              <a:t>hông lỗi thời: Java vẫn nằm trong Top 10 ngôn ngữ lập trình phổ biến trên các bảng xếp hạng (</a:t>
            </a:r>
            <a:r>
              <a:rPr lang="ja-JP" altLang="ja-JP" dirty="0">
                <a:hlinkClick r:id="rId2"/>
              </a:rPr>
              <a:t>TIOBE</a:t>
            </a:r>
            <a:r>
              <a:rPr lang="ja-JP" altLang="ja-JP" dirty="0"/>
              <a:t>, </a:t>
            </a:r>
            <a:r>
              <a:rPr lang="ja-JP" altLang="ja-JP" dirty="0">
                <a:hlinkClick r:id="rId3"/>
              </a:rPr>
              <a:t>StackOverflow</a:t>
            </a:r>
            <a:r>
              <a:rPr lang="ja-JP" altLang="ja-JP" dirty="0"/>
              <a:t>). </a:t>
            </a:r>
          </a:p>
          <a:p>
            <a:pPr lvl="0"/>
            <a:r>
              <a:rPr lang="ja-JP" altLang="ja-JP" dirty="0"/>
              <a:t>Hệ sinh thái lớn và ổn định: Spring Framework, Java EE, Hibernate,... </a:t>
            </a:r>
          </a:p>
          <a:p>
            <a:pPr lvl="0"/>
            <a:r>
              <a:rPr lang="ja-JP" altLang="ja-JP" dirty="0"/>
              <a:t>Doanh nghiệp lớn vẫn dùng: Các công ty tài chính, bảo hiểm, ngân hàng không dễ dàng thay đổi sang công nghệ mới. </a:t>
            </a:r>
          </a:p>
          <a:p>
            <a:pPr lvl="0"/>
            <a:r>
              <a:rPr lang="ja-JP" altLang="ja-JP" dirty="0"/>
              <a:t>Android vẫn hỗ trợ Java (dù Google ưu tiên Kotlin, Java vẫn được dùng rất nhiều).</a:t>
            </a:r>
          </a:p>
          <a:p>
            <a:endParaRPr kumimoji="1" lang="ja-JP" altLang="en-US" dirty="0"/>
          </a:p>
        </p:txBody>
      </p:sp>
      <p:sp>
        <p:nvSpPr>
          <p:cNvPr id="4" name="Slide Number Placeholder 3">
            <a:extLst>
              <a:ext uri="{FF2B5EF4-FFF2-40B4-BE49-F238E27FC236}">
                <a16:creationId xmlns:a16="http://schemas.microsoft.com/office/drawing/2014/main" id="{DDA663ED-FC78-A3EA-5708-9DA21F9041D3}"/>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11</a:t>
            </a:fld>
            <a:endParaRPr lang="en-US" altLang="ja-JP"/>
          </a:p>
        </p:txBody>
      </p:sp>
    </p:spTree>
    <p:extLst>
      <p:ext uri="{BB962C8B-B14F-4D97-AF65-F5344CB8AC3E}">
        <p14:creationId xmlns:p14="http://schemas.microsoft.com/office/powerpoint/2010/main" val="2992196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Question and Answer</a:t>
            </a:r>
          </a:p>
        </p:txBody>
      </p:sp>
      <p:sp>
        <p:nvSpPr>
          <p:cNvPr id="3" name="Content Placeholder 2"/>
          <p:cNvSpPr>
            <a:spLocks noGrp="1"/>
          </p:cNvSpPr>
          <p:nvPr>
            <p:ph idx="1"/>
          </p:nvPr>
        </p:nvSpPr>
        <p:spPr/>
        <p:txBody>
          <a:bodyPr>
            <a:noAutofit/>
          </a:bodyPr>
          <a:lstStyle/>
          <a:p>
            <a:r>
              <a:rPr lang="vi-VN" sz="1800" dirty="0"/>
              <a:t>Ngôn Ngữ Java phụ thuộc hay độc lập </a:t>
            </a:r>
            <a:r>
              <a:rPr lang="en-US" sz="1800" dirty="0" err="1"/>
              <a:t>nền</a:t>
            </a:r>
            <a:r>
              <a:rPr lang="en-US" sz="1800" dirty="0"/>
              <a:t> </a:t>
            </a:r>
            <a:r>
              <a:rPr lang="en-US" sz="1800" dirty="0" err="1"/>
              <a:t>tảng</a:t>
            </a:r>
            <a:r>
              <a:rPr lang="en-US" sz="1800" dirty="0"/>
              <a:t> (platform)</a:t>
            </a:r>
            <a:r>
              <a:rPr lang="vi-VN" sz="1800" dirty="0"/>
              <a:t>? </a:t>
            </a:r>
            <a:endParaRPr lang="en-US" sz="1800" dirty="0"/>
          </a:p>
          <a:p>
            <a:pPr lvl="1"/>
            <a:r>
              <a:rPr lang="vi-VN" sz="1400" dirty="0"/>
              <a:t>Java là một ngôn ngữ độc lập với nền tảng, có nghĩa là mã được viết </a:t>
            </a:r>
            <a:r>
              <a:rPr lang="en-US" sz="1400" dirty="0"/>
              <a:t>b</a:t>
            </a:r>
            <a:r>
              <a:rPr lang="vi-VN" sz="1400" dirty="0"/>
              <a:t>ằng Java trên Hệ Điều hành Windows có thể được thực thi </a:t>
            </a:r>
            <a:r>
              <a:rPr lang="en-US" sz="1400" dirty="0"/>
              <a:t>t</a:t>
            </a:r>
            <a:r>
              <a:rPr lang="vi-VN" sz="1400" dirty="0"/>
              <a:t>rên Máy Mac hoặc </a:t>
            </a:r>
            <a:r>
              <a:rPr lang="en-US" sz="1400" dirty="0"/>
              <a:t>h</a:t>
            </a:r>
            <a:r>
              <a:rPr lang="vi-VN" sz="1400" dirty="0"/>
              <a:t>ệ điều hành Linux và đầu ra kết quả sẽ giống nhau. </a:t>
            </a:r>
            <a:endParaRPr lang="en-US" sz="1400" dirty="0"/>
          </a:p>
          <a:p>
            <a:r>
              <a:rPr lang="vi-VN" sz="1800" dirty="0"/>
              <a:t>Phần Mềm Java phụ thuộc hay độc lập </a:t>
            </a:r>
            <a:r>
              <a:rPr lang="en-US" sz="1800" dirty="0" err="1"/>
              <a:t>nền</a:t>
            </a:r>
            <a:r>
              <a:rPr lang="en-US" sz="1800" dirty="0"/>
              <a:t> </a:t>
            </a:r>
            <a:r>
              <a:rPr lang="en-US" sz="1800" dirty="0" err="1"/>
              <a:t>tảng</a:t>
            </a:r>
            <a:r>
              <a:rPr lang="en-US" sz="1800" dirty="0"/>
              <a:t> (platform)</a:t>
            </a:r>
            <a:r>
              <a:rPr lang="vi-VN" sz="1800" dirty="0"/>
              <a:t>? </a:t>
            </a:r>
            <a:endParaRPr lang="en-US" sz="1800" dirty="0"/>
          </a:p>
          <a:p>
            <a:pPr lvl="1"/>
            <a:r>
              <a:rPr lang="vi-VN" sz="1400" dirty="0"/>
              <a:t>Phần mềm Java phụ thuộc vào nền tảng do tính chất phụ thuộc vào nền </a:t>
            </a:r>
            <a:r>
              <a:rPr lang="en-US" sz="1400" dirty="0" err="1"/>
              <a:t>tảng</a:t>
            </a:r>
            <a:r>
              <a:rPr lang="vi-VN" sz="1400" dirty="0"/>
              <a:t> </a:t>
            </a:r>
            <a:r>
              <a:rPr lang="en-US" sz="1400" dirty="0" err="1"/>
              <a:t>của</a:t>
            </a:r>
            <a:r>
              <a:rPr lang="vi-VN" sz="1400" dirty="0"/>
              <a:t> JVM, có sẵn riêng đối với mỗi hệ điều hành. </a:t>
            </a:r>
            <a:endParaRPr lang="en-US" sz="1400" dirty="0"/>
          </a:p>
          <a:p>
            <a:r>
              <a:rPr lang="vi-VN" sz="1800" dirty="0"/>
              <a:t>JVM có được cài đặt tự động </a:t>
            </a:r>
            <a:r>
              <a:rPr lang="en-US" sz="1800" dirty="0" err="1"/>
              <a:t>với</a:t>
            </a:r>
            <a:r>
              <a:rPr lang="en-US" sz="1800" dirty="0"/>
              <a:t> </a:t>
            </a:r>
            <a:r>
              <a:rPr lang="en-US" sz="1800" dirty="0" err="1"/>
              <a:t>HĐH</a:t>
            </a:r>
            <a:r>
              <a:rPr lang="en-US" sz="1800" dirty="0"/>
              <a:t> </a:t>
            </a:r>
            <a:r>
              <a:rPr lang="vi-VN" sz="1800" dirty="0"/>
              <a:t>không ? </a:t>
            </a:r>
            <a:endParaRPr lang="en-US" sz="1800" dirty="0"/>
          </a:p>
          <a:p>
            <a:pPr lvl="1"/>
            <a:r>
              <a:rPr lang="vi-VN" sz="1400" dirty="0"/>
              <a:t>KHÔNG, JVM không được cài đặt tự động với hệ điều hành. Nó cần được cài đặt riêng trên hệ thống để chạy chương trình</a:t>
            </a:r>
            <a:r>
              <a:rPr lang="en-US" sz="1400" dirty="0"/>
              <a:t> </a:t>
            </a:r>
            <a:r>
              <a:rPr lang="vi-VN" sz="1400" dirty="0"/>
              <a:t>Java. </a:t>
            </a:r>
            <a:endParaRPr lang="en-US" sz="1400" dirty="0"/>
          </a:p>
          <a:p>
            <a:r>
              <a:rPr lang="vi-VN" sz="1800" dirty="0"/>
              <a:t>Các thành phần quan trọng </a:t>
            </a:r>
            <a:r>
              <a:rPr lang="en-US" sz="1800" dirty="0" err="1"/>
              <a:t>để</a:t>
            </a:r>
            <a:r>
              <a:rPr lang="vi-VN" sz="1800" dirty="0"/>
              <a:t> </a:t>
            </a:r>
            <a:r>
              <a:rPr lang="en-US" sz="1800" dirty="0"/>
              <a:t>c</a:t>
            </a:r>
            <a:r>
              <a:rPr lang="vi-VN" sz="1800" dirty="0"/>
              <a:t>ài </a:t>
            </a:r>
            <a:r>
              <a:rPr lang="en-US" sz="1800" dirty="0"/>
              <a:t>đ</a:t>
            </a:r>
            <a:r>
              <a:rPr lang="vi-VN" sz="1800" dirty="0"/>
              <a:t>ặt Java là gì ? </a:t>
            </a:r>
            <a:endParaRPr lang="en-US" sz="1800" dirty="0"/>
          </a:p>
          <a:p>
            <a:pPr lvl="1"/>
            <a:r>
              <a:rPr lang="vi-VN" sz="1400" dirty="0"/>
              <a:t>JDK (Java Development Kit) - nó là một bộ phát triển phần mềm cung cấp tất cả các công cụ cần thiết để phát triển, biên dịch và chạy Các chương trình Java. </a:t>
            </a:r>
            <a:endParaRPr lang="en-US" sz="1400" dirty="0"/>
          </a:p>
          <a:p>
            <a:pPr lvl="2"/>
            <a:r>
              <a:rPr lang="vi-VN" sz="1200" dirty="0"/>
              <a:t>Nó bao gồm Trình biên dịch Java, Môi trường thời gian chạy Java (JRE) và các công cụ phát triển khác như trình gỡ lỗi và tài liệu. </a:t>
            </a:r>
            <a:endParaRPr lang="en-US" sz="1200" dirty="0"/>
          </a:p>
          <a:p>
            <a:pPr lvl="1"/>
            <a:r>
              <a:rPr lang="vi-VN" sz="1400" dirty="0"/>
              <a:t>JVM (Java Virtual Machine) - NÓ là một máy trừu tượng cung cấp một môi trường thời gian chạy trong đó </a:t>
            </a:r>
            <a:r>
              <a:rPr lang="en-US" sz="1400" dirty="0"/>
              <a:t>c</a:t>
            </a:r>
            <a:r>
              <a:rPr lang="vi-VN" sz="1400" dirty="0"/>
              <a:t>ác chương trình Java có thể chạy. JVM </a:t>
            </a:r>
            <a:r>
              <a:rPr lang="en-US" sz="1400" dirty="0"/>
              <a:t>đ</a:t>
            </a:r>
            <a:r>
              <a:rPr lang="vi-VN" sz="1400" dirty="0"/>
              <a:t>ã biên dịch Java </a:t>
            </a:r>
            <a:r>
              <a:rPr lang="en-US" sz="1400" dirty="0"/>
              <a:t> </a:t>
            </a:r>
            <a:r>
              <a:rPr lang="en-US" sz="1400" dirty="0" err="1"/>
              <a:t>thành</a:t>
            </a:r>
            <a:r>
              <a:rPr lang="en-US" sz="1400" dirty="0"/>
              <a:t> m</a:t>
            </a:r>
            <a:r>
              <a:rPr lang="vi-VN" sz="1400" dirty="0"/>
              <a:t>ã byte</a:t>
            </a:r>
            <a:r>
              <a:rPr lang="en-US" sz="1400" dirty="0"/>
              <a:t>code</a:t>
            </a:r>
            <a:r>
              <a:rPr lang="vi-VN" sz="1400" dirty="0"/>
              <a:t> và cung cấp một lớp trừu tượng giữa mã và hệ điều hành cơ bản. J</a:t>
            </a:r>
            <a:r>
              <a:rPr lang="en-US" sz="1400" dirty="0" err="1"/>
              <a:t>VM</a:t>
            </a:r>
            <a:r>
              <a:rPr lang="vi-VN" sz="1400" dirty="0"/>
              <a:t> là phụ thuộc</a:t>
            </a:r>
            <a:r>
              <a:rPr lang="en-US" sz="1400" dirty="0"/>
              <a:t> </a:t>
            </a:r>
            <a:r>
              <a:rPr lang="vi-VN" sz="1400" dirty="0"/>
              <a:t>nền tảng và phải được cài đặt riêng trên mỗi hệ điều hành. </a:t>
            </a:r>
            <a:endParaRPr lang="en-US" sz="1400" dirty="0"/>
          </a:p>
          <a:p>
            <a:pPr lvl="1"/>
            <a:r>
              <a:rPr lang="vi-VN" sz="1400" dirty="0"/>
              <a:t>JRE (Java Runtime Environment) - Nó là một </a:t>
            </a:r>
            <a:r>
              <a:rPr lang="en-US" sz="1400" dirty="0" err="1"/>
              <a:t>tập</a:t>
            </a:r>
            <a:r>
              <a:rPr lang="en-US" sz="1400" dirty="0"/>
              <a:t> </a:t>
            </a:r>
            <a:r>
              <a:rPr lang="en-US" sz="1400" dirty="0" err="1"/>
              <a:t>hợp</a:t>
            </a:r>
            <a:r>
              <a:rPr lang="en-US" sz="1400" dirty="0"/>
              <a:t> con </a:t>
            </a:r>
            <a:r>
              <a:rPr lang="en-US" sz="1400" dirty="0" err="1"/>
              <a:t>của</a:t>
            </a:r>
            <a:r>
              <a:rPr lang="en-US" sz="1400" dirty="0"/>
              <a:t> </a:t>
            </a:r>
            <a:r>
              <a:rPr lang="vi-VN" sz="1400" dirty="0"/>
              <a:t>JDK chỉ bao gồm JVM và các thành phần khác cần thiết để chạy </a:t>
            </a:r>
            <a:r>
              <a:rPr lang="en-US" sz="1400" dirty="0"/>
              <a:t>c</a:t>
            </a:r>
            <a:r>
              <a:rPr lang="vi-VN" sz="1400" dirty="0"/>
              <a:t>ác ứng dụng Java. JRE không còn khả dụng như một tùy chọn riêng biệt TỪ JDK 9.</a:t>
            </a:r>
            <a:endParaRPr lang="en-US" sz="1400" dirty="0"/>
          </a:p>
        </p:txBody>
      </p:sp>
      <p:sp>
        <p:nvSpPr>
          <p:cNvPr id="4" name="Slide Number Placeholder 3"/>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12</a:t>
            </a:fld>
            <a:endParaRPr lang="en-US" altLang="ja-JP"/>
          </a:p>
        </p:txBody>
      </p:sp>
    </p:spTree>
    <p:extLst>
      <p:ext uri="{BB962C8B-B14F-4D97-AF65-F5344CB8AC3E}">
        <p14:creationId xmlns:p14="http://schemas.microsoft.com/office/powerpoint/2010/main" val="402728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barn(inVertical)">
                                      <p:cBhvr>
                                        <p:cTn id="24" dur="500"/>
                                        <p:tgtEl>
                                          <p:spTgt spid="3">
                                            <p:txEl>
                                              <p:pRg st="7" end="7"/>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barn(inVertical)">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circle(in)">
                                      <p:cBhvr>
                                        <p:cTn id="32" dur="2000"/>
                                        <p:tgtEl>
                                          <p:spTgt spid="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heel(1)">
                                      <p:cBhvr>
                                        <p:cTn id="37"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94995-E9AB-E3D3-679E-BBD93417A59A}"/>
              </a:ext>
            </a:extLst>
          </p:cNvPr>
          <p:cNvSpPr>
            <a:spLocks noGrp="1"/>
          </p:cNvSpPr>
          <p:nvPr>
            <p:ph type="title"/>
          </p:nvPr>
        </p:nvSpPr>
        <p:spPr/>
        <p:txBody>
          <a:bodyPr>
            <a:noAutofit/>
          </a:bodyPr>
          <a:lstStyle/>
          <a:p>
            <a:r>
              <a:rPr lang="en-US" altLang="ja-JP" sz="2400" dirty="0"/>
              <a:t>Chapter 2:</a:t>
            </a:r>
            <a:r>
              <a:rPr lang="ja-JP" altLang="ja-JP" sz="2400" dirty="0"/>
              <a:t> </a:t>
            </a:r>
            <a:r>
              <a:rPr lang="en-US" altLang="ja-JP" sz="2400" dirty="0" err="1">
                <a:latin typeface="Arial" panose="020B0604020202020204" pitchFamily="34" charset="0"/>
              </a:rPr>
              <a:t>Cấu</a:t>
            </a:r>
            <a:r>
              <a:rPr lang="en-US" altLang="ja-JP" sz="2400" dirty="0">
                <a:latin typeface="Arial" panose="020B0604020202020204" pitchFamily="34" charset="0"/>
              </a:rPr>
              <a:t> </a:t>
            </a:r>
            <a:r>
              <a:rPr lang="en-US" altLang="ja-JP" sz="2400" dirty="0" err="1">
                <a:latin typeface="Arial" panose="020B0604020202020204" pitchFamily="34" charset="0"/>
              </a:rPr>
              <a:t>tạo</a:t>
            </a:r>
            <a:r>
              <a:rPr lang="en-US" altLang="ja-JP" sz="2400" dirty="0">
                <a:latin typeface="Arial" panose="020B0604020202020204" pitchFamily="34" charset="0"/>
              </a:rPr>
              <a:t> </a:t>
            </a:r>
            <a:r>
              <a:rPr lang="en-US" altLang="ja-JP" sz="2400" dirty="0" err="1">
                <a:latin typeface="Arial" panose="020B0604020202020204" pitchFamily="34" charset="0"/>
              </a:rPr>
              <a:t>cơ</a:t>
            </a:r>
            <a:r>
              <a:rPr lang="en-US" altLang="ja-JP" sz="2400" dirty="0">
                <a:latin typeface="Arial" panose="020B0604020202020204" pitchFamily="34" charset="0"/>
              </a:rPr>
              <a:t> </a:t>
            </a:r>
            <a:r>
              <a:rPr lang="en-US" altLang="ja-JP" sz="2400" dirty="0" err="1">
                <a:latin typeface="Arial" panose="020B0604020202020204" pitchFamily="34" charset="0"/>
              </a:rPr>
              <a:t>bản</a:t>
            </a:r>
            <a:r>
              <a:rPr lang="en-US" altLang="ja-JP" sz="2400" dirty="0">
                <a:latin typeface="Arial" panose="020B0604020202020204" pitchFamily="34" charset="0"/>
              </a:rPr>
              <a:t> </a:t>
            </a:r>
            <a:r>
              <a:rPr lang="en-US" altLang="ja-JP" sz="2400" dirty="0" err="1">
                <a:latin typeface="Arial" panose="020B0604020202020204" pitchFamily="34" charset="0"/>
              </a:rPr>
              <a:t>của</a:t>
            </a:r>
            <a:r>
              <a:rPr lang="en-US" altLang="ja-JP" sz="2400" dirty="0">
                <a:latin typeface="Arial" panose="020B0604020202020204" pitchFamily="34" charset="0"/>
              </a:rPr>
              <a:t> program</a:t>
            </a:r>
            <a:r>
              <a:rPr lang="ja-JP" altLang="en-US" sz="2400" dirty="0">
                <a:latin typeface="Arial" panose="020B0604020202020204" pitchFamily="34" charset="0"/>
              </a:rPr>
              <a:t>　</a:t>
            </a:r>
            <a:endParaRPr kumimoji="1" lang="ja-JP" altLang="en-US" sz="2400" dirty="0"/>
          </a:p>
        </p:txBody>
      </p:sp>
      <p:sp>
        <p:nvSpPr>
          <p:cNvPr id="3" name="Content Placeholder 2">
            <a:extLst>
              <a:ext uri="{FF2B5EF4-FFF2-40B4-BE49-F238E27FC236}">
                <a16:creationId xmlns:a16="http://schemas.microsoft.com/office/drawing/2014/main" id="{E4E4A6B9-DEE9-607E-D2C2-C81C6B691FE5}"/>
              </a:ext>
            </a:extLst>
          </p:cNvPr>
          <p:cNvSpPr>
            <a:spLocks noGrp="1"/>
          </p:cNvSpPr>
          <p:nvPr>
            <p:ph idx="1"/>
          </p:nvPr>
        </p:nvSpPr>
        <p:spPr/>
        <p:txBody>
          <a:bodyPr>
            <a:normAutofit/>
          </a:bodyPr>
          <a:lstStyle/>
          <a:p>
            <a:r>
              <a:rPr lang="en-US" altLang="ja-JP" sz="2400" dirty="0">
                <a:latin typeface="Arial" panose="020B0604020202020204" pitchFamily="34" charset="0"/>
              </a:rPr>
              <a:t>Comment</a:t>
            </a:r>
          </a:p>
          <a:p>
            <a:r>
              <a:rPr lang="en-US" altLang="ja-JP" sz="2400" dirty="0">
                <a:latin typeface="Arial" panose="020B0604020202020204" pitchFamily="34" charset="0"/>
              </a:rPr>
              <a:t>Identifier (</a:t>
            </a:r>
            <a:r>
              <a:rPr lang="en-US" altLang="ja-JP" sz="2400" dirty="0" err="1">
                <a:latin typeface="Arial" panose="020B0604020202020204" pitchFamily="34" charset="0"/>
              </a:rPr>
              <a:t>Tư</a:t>
            </a:r>
            <a:r>
              <a:rPr lang="en-US" altLang="ja-JP" sz="2400" dirty="0">
                <a:latin typeface="Arial" panose="020B0604020202020204" pitchFamily="34" charset="0"/>
              </a:rPr>
              <a:t>̀ </a:t>
            </a:r>
            <a:r>
              <a:rPr lang="en-US" altLang="ja-JP" sz="2400" dirty="0" err="1">
                <a:latin typeface="Arial" panose="020B0604020202020204" pitchFamily="34" charset="0"/>
              </a:rPr>
              <a:t>định</a:t>
            </a:r>
            <a:r>
              <a:rPr lang="en-US" altLang="ja-JP" sz="2400" dirty="0">
                <a:latin typeface="Arial" panose="020B0604020202020204" pitchFamily="34" charset="0"/>
              </a:rPr>
              <a:t> </a:t>
            </a:r>
            <a:r>
              <a:rPr lang="en-US" altLang="ja-JP" sz="2400" dirty="0" err="1">
                <a:latin typeface="Arial" panose="020B0604020202020204" pitchFamily="34" charset="0"/>
              </a:rPr>
              <a:t>danh</a:t>
            </a:r>
            <a:r>
              <a:rPr lang="en-US" altLang="ja-JP" sz="2400" dirty="0">
                <a:latin typeface="Arial" panose="020B0604020202020204" pitchFamily="34" charset="0"/>
              </a:rPr>
              <a:t>) </a:t>
            </a:r>
          </a:p>
          <a:p>
            <a:r>
              <a:rPr lang="en-US" altLang="ja-JP" sz="2400" dirty="0" err="1">
                <a:latin typeface="Arial" panose="020B0604020202020204" pitchFamily="34" charset="0"/>
              </a:rPr>
              <a:t>Kiểu</a:t>
            </a:r>
            <a:r>
              <a:rPr lang="en-US" altLang="ja-JP" sz="2400" dirty="0">
                <a:latin typeface="Arial" panose="020B0604020202020204" pitchFamily="34" charset="0"/>
              </a:rPr>
              <a:t> data</a:t>
            </a:r>
          </a:p>
          <a:p>
            <a:r>
              <a:rPr lang="en-US" altLang="ja-JP" sz="2400" dirty="0">
                <a:latin typeface="Arial" panose="020B0604020202020204" pitchFamily="34" charset="0"/>
              </a:rPr>
              <a:t>Literal</a:t>
            </a:r>
            <a:r>
              <a:rPr lang="en-US" altLang="ja-JP" sz="2400" dirty="0"/>
              <a:t> </a:t>
            </a:r>
            <a:endParaRPr lang="en-US" altLang="ja-JP" sz="2400" dirty="0">
              <a:latin typeface="Arial" panose="020B0604020202020204" pitchFamily="34" charset="0"/>
            </a:endParaRPr>
          </a:p>
          <a:p>
            <a:r>
              <a:rPr lang="en-US" altLang="ja-JP" sz="2400" dirty="0" err="1">
                <a:latin typeface="Arial" panose="020B0604020202020204" pitchFamily="34" charset="0"/>
              </a:rPr>
              <a:t>Biến</a:t>
            </a:r>
            <a:r>
              <a:rPr lang="en-US" altLang="ja-JP" sz="2400" dirty="0">
                <a:latin typeface="Arial" panose="020B0604020202020204" pitchFamily="34" charset="0"/>
              </a:rPr>
              <a:t> </a:t>
            </a:r>
            <a:r>
              <a:rPr lang="en-US" altLang="ja-JP" sz="2400" dirty="0" err="1">
                <a:latin typeface="Arial" panose="020B0604020202020204" pitchFamily="34" charset="0"/>
              </a:rPr>
              <a:t>sô</a:t>
            </a:r>
            <a:r>
              <a:rPr lang="en-US" altLang="ja-JP" sz="2400" dirty="0">
                <a:latin typeface="Arial" panose="020B0604020202020204" pitchFamily="34" charset="0"/>
              </a:rPr>
              <a:t>́</a:t>
            </a:r>
          </a:p>
          <a:p>
            <a:r>
              <a:rPr lang="en-US" altLang="ja-JP" sz="2400" dirty="0" err="1">
                <a:latin typeface="Arial" panose="020B0604020202020204" pitchFamily="34" charset="0"/>
              </a:rPr>
              <a:t>Hằng</a:t>
            </a:r>
            <a:r>
              <a:rPr lang="en-US" altLang="ja-JP" sz="2400" dirty="0">
                <a:latin typeface="Arial" panose="020B0604020202020204" pitchFamily="34" charset="0"/>
              </a:rPr>
              <a:t> </a:t>
            </a:r>
            <a:r>
              <a:rPr lang="en-US" altLang="ja-JP" sz="2400" dirty="0" err="1">
                <a:latin typeface="Arial" panose="020B0604020202020204" pitchFamily="34" charset="0"/>
              </a:rPr>
              <a:t>sô</a:t>
            </a:r>
            <a:r>
              <a:rPr lang="en-US" altLang="ja-JP" sz="2400" dirty="0">
                <a:latin typeface="Arial" panose="020B0604020202020204" pitchFamily="34" charset="0"/>
              </a:rPr>
              <a:t>́</a:t>
            </a:r>
          </a:p>
          <a:p>
            <a:r>
              <a:rPr lang="en-US" altLang="ja-JP" sz="2400" dirty="0" err="1">
                <a:latin typeface="Arial" panose="020B0604020202020204" pitchFamily="34" charset="0"/>
              </a:rPr>
              <a:t>Kiểu</a:t>
            </a:r>
            <a:r>
              <a:rPr lang="en-US" altLang="ja-JP" sz="2400" dirty="0">
                <a:latin typeface="Arial" panose="020B0604020202020204" pitchFamily="34" charset="0"/>
              </a:rPr>
              <a:t> </a:t>
            </a:r>
            <a:r>
              <a:rPr lang="en-US" altLang="ja-JP" sz="2400" dirty="0" err="1">
                <a:latin typeface="Arial" panose="020B0604020202020204" pitchFamily="34" charset="0"/>
              </a:rPr>
              <a:t>gia</a:t>
            </a:r>
            <a:r>
              <a:rPr lang="en-US" altLang="ja-JP" sz="2400" dirty="0">
                <a:latin typeface="Arial" panose="020B0604020202020204" pitchFamily="34" charset="0"/>
              </a:rPr>
              <a:t>́ trị </a:t>
            </a:r>
            <a:r>
              <a:rPr lang="en-US" altLang="ja-JP" sz="2400" dirty="0" err="1">
                <a:latin typeface="Arial" panose="020B0604020202020204" pitchFamily="34" charset="0"/>
              </a:rPr>
              <a:t>va</a:t>
            </a:r>
            <a:r>
              <a:rPr lang="en-US" altLang="ja-JP" sz="2400" dirty="0">
                <a:latin typeface="Arial" panose="020B0604020202020204" pitchFamily="34" charset="0"/>
              </a:rPr>
              <a:t>̀ </a:t>
            </a:r>
            <a:r>
              <a:rPr lang="en-US" altLang="ja-JP" sz="2400" dirty="0" err="1">
                <a:latin typeface="Arial" panose="020B0604020202020204" pitchFamily="34" charset="0"/>
              </a:rPr>
              <a:t>kiểu</a:t>
            </a:r>
            <a:r>
              <a:rPr lang="en-US" altLang="ja-JP" sz="2400" dirty="0">
                <a:latin typeface="Arial" panose="020B0604020202020204" pitchFamily="34" charset="0"/>
              </a:rPr>
              <a:t> </a:t>
            </a:r>
            <a:r>
              <a:rPr lang="en-US" altLang="ja-JP" sz="2400" dirty="0" err="1">
                <a:latin typeface="Arial" panose="020B0604020202020204" pitchFamily="34" charset="0"/>
              </a:rPr>
              <a:t>tham</a:t>
            </a:r>
            <a:r>
              <a:rPr lang="en-US" altLang="ja-JP" sz="2400" dirty="0">
                <a:latin typeface="Arial" panose="020B0604020202020204" pitchFamily="34" charset="0"/>
              </a:rPr>
              <a:t> </a:t>
            </a:r>
            <a:r>
              <a:rPr lang="en-US" altLang="ja-JP" sz="2400" dirty="0" err="1">
                <a:latin typeface="Arial" panose="020B0604020202020204" pitchFamily="34" charset="0"/>
              </a:rPr>
              <a:t>chiếu</a:t>
            </a:r>
            <a:endParaRPr lang="en-US" altLang="ja-JP" sz="2400" dirty="0">
              <a:latin typeface="Arial" panose="020B0604020202020204" pitchFamily="34" charset="0"/>
            </a:endParaRPr>
          </a:p>
          <a:p>
            <a:r>
              <a:rPr lang="en-US" altLang="ja-JP" sz="2400" dirty="0" err="1">
                <a:latin typeface="Arial" panose="020B0604020202020204" pitchFamily="34" charset="0"/>
              </a:rPr>
              <a:t>Chuỗi</a:t>
            </a:r>
            <a:r>
              <a:rPr lang="en-US" altLang="ja-JP" sz="2400" dirty="0">
                <a:latin typeface="Arial" panose="020B0604020202020204" pitchFamily="34" charset="0"/>
              </a:rPr>
              <a:t> </a:t>
            </a:r>
            <a:r>
              <a:rPr lang="en-US" altLang="ja-JP" sz="2400" dirty="0" err="1">
                <a:latin typeface="Arial" panose="020B0604020202020204" pitchFamily="34" charset="0"/>
              </a:rPr>
              <a:t>ky</a:t>
            </a:r>
            <a:r>
              <a:rPr lang="en-US" altLang="ja-JP" sz="2400" dirty="0">
                <a:latin typeface="Arial" panose="020B0604020202020204" pitchFamily="34" charset="0"/>
              </a:rPr>
              <a:t>́ </a:t>
            </a:r>
            <a:r>
              <a:rPr lang="en-US" altLang="ja-JP" sz="2400" dirty="0" err="1">
                <a:latin typeface="Arial" panose="020B0604020202020204" pitchFamily="34" charset="0"/>
              </a:rPr>
              <a:t>tư</a:t>
            </a:r>
            <a:r>
              <a:rPr lang="en-US" altLang="ja-JP" sz="2400" dirty="0">
                <a:latin typeface="Arial" panose="020B0604020202020204" pitchFamily="34" charset="0"/>
              </a:rPr>
              <a:t>̣</a:t>
            </a:r>
          </a:p>
          <a:p>
            <a:r>
              <a:rPr lang="en-US" altLang="ja-JP" sz="2400" dirty="0" err="1">
                <a:latin typeface="Arial" panose="020B0604020202020204" pitchFamily="34" charset="0"/>
              </a:rPr>
              <a:t>Mảng</a:t>
            </a:r>
            <a:endParaRPr lang="en-US" altLang="ja-JP" sz="2400" dirty="0">
              <a:latin typeface="Arial" panose="020B0604020202020204" pitchFamily="34" charset="0"/>
            </a:endParaRPr>
          </a:p>
          <a:p>
            <a:r>
              <a:rPr lang="en-US" altLang="ja-JP" sz="2400" dirty="0" err="1">
                <a:latin typeface="Arial" panose="020B0604020202020204" pitchFamily="34" charset="0"/>
              </a:rPr>
              <a:t>Kiểu</a:t>
            </a:r>
            <a:r>
              <a:rPr lang="en-US" altLang="ja-JP" sz="2400" dirty="0">
                <a:latin typeface="Arial" panose="020B0604020202020204" pitchFamily="34" charset="0"/>
              </a:rPr>
              <a:t> </a:t>
            </a:r>
            <a:r>
              <a:rPr lang="en-US" altLang="ja-JP" sz="2400" dirty="0" err="1">
                <a:latin typeface="Arial" panose="020B0604020202020204" pitchFamily="34" charset="0"/>
              </a:rPr>
              <a:t>gia</a:t>
            </a:r>
            <a:r>
              <a:rPr lang="en-US" altLang="ja-JP" sz="2400" dirty="0">
                <a:latin typeface="Arial" panose="020B0604020202020204" pitchFamily="34" charset="0"/>
              </a:rPr>
              <a:t>́ trị </a:t>
            </a:r>
            <a:r>
              <a:rPr lang="en-US" altLang="ja-JP" sz="2400" dirty="0" err="1">
                <a:latin typeface="Arial" panose="020B0604020202020204" pitchFamily="34" charset="0"/>
              </a:rPr>
              <a:t>va</a:t>
            </a:r>
            <a:r>
              <a:rPr lang="en-US" altLang="ja-JP" sz="2400" dirty="0">
                <a:latin typeface="Arial" panose="020B0604020202020204" pitchFamily="34" charset="0"/>
              </a:rPr>
              <a:t>̀ </a:t>
            </a:r>
            <a:r>
              <a:rPr lang="en-US" altLang="ja-JP" sz="2400" dirty="0" err="1">
                <a:latin typeface="Arial" panose="020B0604020202020204" pitchFamily="34" charset="0"/>
              </a:rPr>
              <a:t>kiểu</a:t>
            </a:r>
            <a:r>
              <a:rPr lang="en-US" altLang="ja-JP" sz="2400" dirty="0">
                <a:latin typeface="Arial" panose="020B0604020202020204" pitchFamily="34" charset="0"/>
              </a:rPr>
              <a:t> </a:t>
            </a:r>
            <a:r>
              <a:rPr lang="en-US" altLang="ja-JP" sz="2400" dirty="0" err="1">
                <a:latin typeface="Arial" panose="020B0604020202020204" pitchFamily="34" charset="0"/>
              </a:rPr>
              <a:t>tham</a:t>
            </a:r>
            <a:r>
              <a:rPr lang="en-US" altLang="ja-JP" sz="2400" dirty="0">
                <a:latin typeface="Arial" panose="020B0604020202020204" pitchFamily="34" charset="0"/>
              </a:rPr>
              <a:t> </a:t>
            </a:r>
            <a:r>
              <a:rPr lang="en-US" altLang="ja-JP" sz="2400" dirty="0" err="1">
                <a:latin typeface="Arial" panose="020B0604020202020204" pitchFamily="34" charset="0"/>
              </a:rPr>
              <a:t>chiếu</a:t>
            </a:r>
            <a:r>
              <a:rPr lang="en-US" altLang="ja-JP" sz="2400" dirty="0">
                <a:latin typeface="Arial" panose="020B0604020202020204" pitchFamily="34" charset="0"/>
              </a:rPr>
              <a:t> (</a:t>
            </a:r>
            <a:r>
              <a:rPr lang="en-US" altLang="ja-JP" sz="2400" dirty="0" err="1">
                <a:latin typeface="Arial" panose="020B0604020202020204" pitchFamily="34" charset="0"/>
              </a:rPr>
              <a:t>tiếp</a:t>
            </a:r>
            <a:r>
              <a:rPr lang="en-US" altLang="ja-JP" sz="2400" dirty="0">
                <a:latin typeface="Arial" panose="020B0604020202020204" pitchFamily="34" charset="0"/>
              </a:rPr>
              <a:t>)</a:t>
            </a:r>
            <a:endParaRPr kumimoji="1" lang="ja-JP" altLang="en-US" sz="2400" dirty="0"/>
          </a:p>
        </p:txBody>
      </p:sp>
      <p:sp>
        <p:nvSpPr>
          <p:cNvPr id="4" name="Slide Number Placeholder 3">
            <a:extLst>
              <a:ext uri="{FF2B5EF4-FFF2-40B4-BE49-F238E27FC236}">
                <a16:creationId xmlns:a16="http://schemas.microsoft.com/office/drawing/2014/main" id="{205BBA95-AEF3-FFC7-7668-8FEC6BA35B80}"/>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13</a:t>
            </a:fld>
            <a:endParaRPr lang="en-US" altLang="ja-JP"/>
          </a:p>
        </p:txBody>
      </p:sp>
    </p:spTree>
    <p:extLst>
      <p:ext uri="{BB962C8B-B14F-4D97-AF65-F5344CB8AC3E}">
        <p14:creationId xmlns:p14="http://schemas.microsoft.com/office/powerpoint/2010/main" val="107835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EB808-8357-D889-CF6C-F51F0B5484A7}"/>
              </a:ext>
            </a:extLst>
          </p:cNvPr>
          <p:cNvSpPr>
            <a:spLocks noGrp="1"/>
          </p:cNvSpPr>
          <p:nvPr>
            <p:ph type="title"/>
          </p:nvPr>
        </p:nvSpPr>
        <p:spPr/>
        <p:txBody>
          <a:bodyPr>
            <a:normAutofit fontScale="90000"/>
          </a:bodyPr>
          <a:lstStyle/>
          <a:p>
            <a:r>
              <a:rPr kumimoji="1" lang="en-US" altLang="ja-JP" dirty="0" err="1"/>
              <a:t>Tạo</a:t>
            </a:r>
            <a:r>
              <a:rPr kumimoji="1" lang="en-US" altLang="ja-JP" dirty="0"/>
              <a:t> program </a:t>
            </a:r>
            <a:r>
              <a:rPr kumimoji="1" lang="en-US" altLang="ja-JP" dirty="0" err="1"/>
              <a:t>đơn</a:t>
            </a:r>
            <a:r>
              <a:rPr kumimoji="1" lang="en-US" altLang="ja-JP" dirty="0"/>
              <a:t> </a:t>
            </a:r>
            <a:r>
              <a:rPr kumimoji="1" lang="en-US" altLang="ja-JP" dirty="0" err="1"/>
              <a:t>giản</a:t>
            </a:r>
            <a:endParaRPr kumimoji="1" lang="ja-JP" altLang="en-US" dirty="0"/>
          </a:p>
        </p:txBody>
      </p:sp>
      <p:sp>
        <p:nvSpPr>
          <p:cNvPr id="3" name="Content Placeholder 2">
            <a:extLst>
              <a:ext uri="{FF2B5EF4-FFF2-40B4-BE49-F238E27FC236}">
                <a16:creationId xmlns:a16="http://schemas.microsoft.com/office/drawing/2014/main" id="{8AC18C46-2F03-917C-1FD1-D65EA9865145}"/>
              </a:ext>
            </a:extLst>
          </p:cNvPr>
          <p:cNvSpPr>
            <a:spLocks noGrp="1"/>
          </p:cNvSpPr>
          <p:nvPr>
            <p:ph idx="1"/>
          </p:nvPr>
        </p:nvSpPr>
        <p:spPr/>
        <p:txBody>
          <a:bodyPr/>
          <a:lstStyle/>
          <a:p>
            <a:r>
              <a:rPr lang="en-US" altLang="ja-JP" dirty="0" err="1">
                <a:latin typeface="Times New Roman" panose="02020603050405020304" pitchFamily="18" charset="0"/>
              </a:rPr>
              <a:t>Trình</a:t>
            </a:r>
            <a:r>
              <a:rPr lang="en-US" altLang="ja-JP" dirty="0">
                <a:latin typeface="Times New Roman" panose="02020603050405020304" pitchFamily="18" charset="0"/>
              </a:rPr>
              <a:t> </a:t>
            </a:r>
            <a:r>
              <a:rPr lang="en-US" altLang="ja-JP" dirty="0" err="1">
                <a:latin typeface="Times New Roman" panose="02020603050405020304" pitchFamily="18" charset="0"/>
              </a:rPr>
              <a:t>tự</a:t>
            </a:r>
            <a:endParaRPr lang="en-US" altLang="ja-JP" dirty="0">
              <a:latin typeface="Times New Roman" panose="02020603050405020304" pitchFamily="18" charset="0"/>
            </a:endParaRPr>
          </a:p>
          <a:p>
            <a:pPr lvl="1"/>
            <a:r>
              <a:rPr lang="en-US" altLang="ja-JP" sz="2400" dirty="0" err="1">
                <a:latin typeface="Times New Roman" panose="02020603050405020304" pitchFamily="18" charset="0"/>
              </a:rPr>
              <a:t>Tạo</a:t>
            </a:r>
            <a:r>
              <a:rPr lang="en-US" altLang="ja-JP" sz="2400" dirty="0">
                <a:latin typeface="Times New Roman" panose="02020603050405020304" pitchFamily="18" charset="0"/>
              </a:rPr>
              <a:t> source program</a:t>
            </a:r>
          </a:p>
          <a:p>
            <a:pPr lvl="1"/>
            <a:r>
              <a:rPr lang="en-US" altLang="ja-JP" sz="2400" dirty="0">
                <a:latin typeface="Times New Roman" panose="02020603050405020304" pitchFamily="18" charset="0"/>
              </a:rPr>
              <a:t>Compile</a:t>
            </a:r>
          </a:p>
          <a:p>
            <a:pPr lvl="1"/>
            <a:r>
              <a:rPr lang="en-US" altLang="ja-JP" sz="2400" dirty="0" err="1">
                <a:latin typeface="Times New Roman" panose="02020603050405020304" pitchFamily="18" charset="0"/>
              </a:rPr>
              <a:t>Thực</a:t>
            </a:r>
            <a:r>
              <a:rPr lang="en-US" altLang="ja-JP" sz="2400" dirty="0">
                <a:latin typeface="Times New Roman" panose="02020603050405020304" pitchFamily="18" charset="0"/>
              </a:rPr>
              <a:t> </a:t>
            </a:r>
            <a:r>
              <a:rPr lang="en-US" altLang="ja-JP" sz="2400" dirty="0" err="1">
                <a:latin typeface="Times New Roman" panose="02020603050405020304" pitchFamily="18" charset="0"/>
              </a:rPr>
              <a:t>hiện</a:t>
            </a:r>
            <a:endParaRPr kumimoji="1" lang="ja-JP" altLang="en-US" sz="2400" dirty="0"/>
          </a:p>
        </p:txBody>
      </p:sp>
      <p:sp>
        <p:nvSpPr>
          <p:cNvPr id="4" name="Slide Number Placeholder 3">
            <a:extLst>
              <a:ext uri="{FF2B5EF4-FFF2-40B4-BE49-F238E27FC236}">
                <a16:creationId xmlns:a16="http://schemas.microsoft.com/office/drawing/2014/main" id="{5E6CB580-E26D-CF7E-D066-A3CA74D64C57}"/>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14</a:t>
            </a:fld>
            <a:endParaRPr lang="en-US" altLang="ja-JP"/>
          </a:p>
        </p:txBody>
      </p:sp>
      <p:sp>
        <p:nvSpPr>
          <p:cNvPr id="9" name="Text Box 62">
            <a:extLst>
              <a:ext uri="{FF2B5EF4-FFF2-40B4-BE49-F238E27FC236}">
                <a16:creationId xmlns:a16="http://schemas.microsoft.com/office/drawing/2014/main" id="{365D07EB-4824-A1AF-607C-21C18D4C23E5}"/>
              </a:ext>
            </a:extLst>
          </p:cNvPr>
          <p:cNvSpPr txBox="1">
            <a:spLocks noChangeArrowheads="1"/>
          </p:cNvSpPr>
          <p:nvPr/>
        </p:nvSpPr>
        <p:spPr bwMode="auto">
          <a:xfrm>
            <a:off x="609601" y="3384550"/>
            <a:ext cx="2971800" cy="126206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marL="358775" indent="-358775" defTabSz="447675">
              <a:defRPr kumimoji="1" sz="1000" b="1">
                <a:solidFill>
                  <a:schemeClr val="tx1"/>
                </a:solidFill>
                <a:latin typeface="Arial" panose="020B0604020202020204" pitchFamily="34" charset="0"/>
                <a:ea typeface="MS UI Gothic" panose="020B0600070205080204" pitchFamily="50" charset="-128"/>
              </a:defRPr>
            </a:lvl1pPr>
            <a:lvl2pPr marL="536575" indent="-357188" defTabSz="447675">
              <a:defRPr kumimoji="1" sz="1000" b="1">
                <a:solidFill>
                  <a:schemeClr val="tx1"/>
                </a:solidFill>
                <a:latin typeface="Arial" panose="020B0604020202020204" pitchFamily="34" charset="0"/>
                <a:ea typeface="MS UI Gothic" panose="020B0600070205080204" pitchFamily="50" charset="-128"/>
              </a:defRPr>
            </a:lvl2pPr>
            <a:lvl3pPr marL="1312863" indent="-358775" defTabSz="447675">
              <a:defRPr kumimoji="1" sz="1000" b="1">
                <a:solidFill>
                  <a:schemeClr val="tx1"/>
                </a:solidFill>
                <a:latin typeface="Arial" panose="020B0604020202020204" pitchFamily="34" charset="0"/>
                <a:ea typeface="MS UI Gothic" panose="020B0600070205080204" pitchFamily="50" charset="-128"/>
              </a:defRPr>
            </a:lvl3pPr>
            <a:lvl4pPr marL="1790700" indent="-358775" defTabSz="447675">
              <a:defRPr kumimoji="1" sz="1000" b="1">
                <a:solidFill>
                  <a:schemeClr val="tx1"/>
                </a:solidFill>
                <a:latin typeface="Arial" panose="020B0604020202020204" pitchFamily="34" charset="0"/>
                <a:ea typeface="MS UI Gothic" panose="020B0600070205080204" pitchFamily="50" charset="-128"/>
              </a:defRPr>
            </a:lvl4pPr>
            <a:lvl5pPr marL="2266950" indent="-357188" defTabSz="447675">
              <a:defRPr kumimoji="1" sz="1000" b="1">
                <a:solidFill>
                  <a:schemeClr val="tx1"/>
                </a:solidFill>
                <a:latin typeface="Arial" panose="020B0604020202020204" pitchFamily="34" charset="0"/>
                <a:ea typeface="MS UI Gothic" panose="020B0600070205080204" pitchFamily="50" charset="-128"/>
              </a:defRPr>
            </a:lvl5pPr>
            <a:lvl6pPr marL="2724150" indent="-357188" defTabSz="4476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3181350" indent="-357188" defTabSz="4476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638550" indent="-357188" defTabSz="4476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4095750" indent="-357188" defTabSz="4476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spcBef>
                <a:spcPct val="10000"/>
              </a:spcBef>
              <a:buFontTx/>
              <a:buAutoNum type="arabicPeriod"/>
            </a:pPr>
            <a:r>
              <a:rPr lang="en-US" altLang="ja-JP" b="0" dirty="0">
                <a:ea typeface="ＭＳ ゴシック" panose="020B0609070205080204" pitchFamily="49" charset="-128"/>
              </a:rPr>
              <a:t>// HelloWorld.java</a:t>
            </a:r>
          </a:p>
          <a:p>
            <a:pPr lvl="1" algn="just" eaLnBrk="1" hangingPunct="1">
              <a:spcBef>
                <a:spcPct val="10000"/>
              </a:spcBef>
              <a:buFontTx/>
              <a:buAutoNum type="arabicPeriod"/>
            </a:pPr>
            <a:r>
              <a:rPr lang="ja-JP" altLang="en-US" b="0" dirty="0">
                <a:ea typeface="ＭＳ ゴシック" panose="020B0609070205080204" pitchFamily="49" charset="-128"/>
              </a:rPr>
              <a:t>　</a:t>
            </a:r>
          </a:p>
          <a:p>
            <a:pPr lvl="1" algn="just" eaLnBrk="1" hangingPunct="1">
              <a:spcBef>
                <a:spcPct val="10000"/>
              </a:spcBef>
              <a:buFontTx/>
              <a:buAutoNum type="arabicPeriod"/>
            </a:pPr>
            <a:r>
              <a:rPr lang="en-US" altLang="ja-JP" b="0" dirty="0">
                <a:ea typeface="ＭＳ ゴシック" panose="020B0609070205080204" pitchFamily="49" charset="-128"/>
              </a:rPr>
              <a:t>public class HelloWorld {</a:t>
            </a:r>
          </a:p>
          <a:p>
            <a:pPr lvl="1" algn="just" eaLnBrk="1" hangingPunct="1">
              <a:spcBef>
                <a:spcPct val="10000"/>
              </a:spcBef>
              <a:buFontTx/>
              <a:buAutoNum type="arabicPeriod"/>
            </a:pPr>
            <a:r>
              <a:rPr lang="en-US" altLang="ja-JP" b="0" dirty="0">
                <a:ea typeface="ＭＳ ゴシック" panose="020B0609070205080204" pitchFamily="49" charset="-128"/>
              </a:rPr>
              <a:t>    public static void main(String[] </a:t>
            </a:r>
            <a:r>
              <a:rPr lang="en-US" altLang="ja-JP" b="0" dirty="0" err="1">
                <a:ea typeface="ＭＳ ゴシック" panose="020B0609070205080204" pitchFamily="49" charset="-128"/>
              </a:rPr>
              <a:t>args</a:t>
            </a:r>
            <a:r>
              <a:rPr lang="en-US" altLang="ja-JP" b="0" dirty="0">
                <a:ea typeface="ＭＳ ゴシック" panose="020B0609070205080204" pitchFamily="49" charset="-128"/>
              </a:rPr>
              <a:t>) {</a:t>
            </a:r>
          </a:p>
          <a:p>
            <a:pPr lvl="1" algn="just" eaLnBrk="1" hangingPunct="1">
              <a:spcBef>
                <a:spcPct val="10000"/>
              </a:spcBef>
              <a:buFontTx/>
              <a:buAutoNum type="arabicPeriod"/>
            </a:pPr>
            <a:r>
              <a:rPr lang="en-US" altLang="ja-JP" b="0" dirty="0">
                <a:ea typeface="ＭＳ ゴシック" panose="020B0609070205080204" pitchFamily="49" charset="-128"/>
              </a:rPr>
              <a:t>        </a:t>
            </a:r>
            <a:r>
              <a:rPr lang="en-US" altLang="ja-JP" b="0" dirty="0" err="1">
                <a:ea typeface="ＭＳ ゴシック" panose="020B0609070205080204" pitchFamily="49" charset="-128"/>
              </a:rPr>
              <a:t>System.out.println</a:t>
            </a:r>
            <a:r>
              <a:rPr lang="en-US" altLang="ja-JP" b="0" dirty="0">
                <a:ea typeface="ＭＳ ゴシック" panose="020B0609070205080204" pitchFamily="49" charset="-128"/>
              </a:rPr>
              <a:t>("Hello World!");</a:t>
            </a:r>
          </a:p>
          <a:p>
            <a:pPr lvl="1" algn="just" eaLnBrk="1" hangingPunct="1">
              <a:spcBef>
                <a:spcPct val="10000"/>
              </a:spcBef>
              <a:buFontTx/>
              <a:buAutoNum type="arabicPeriod"/>
            </a:pPr>
            <a:r>
              <a:rPr lang="en-US" altLang="ja-JP" b="0" dirty="0">
                <a:ea typeface="ＭＳ ゴシック" panose="020B0609070205080204" pitchFamily="49" charset="-128"/>
              </a:rPr>
              <a:t>    }</a:t>
            </a:r>
          </a:p>
          <a:p>
            <a:pPr lvl="1" algn="just" eaLnBrk="1" hangingPunct="1">
              <a:spcBef>
                <a:spcPct val="10000"/>
              </a:spcBef>
              <a:buFontTx/>
              <a:buAutoNum type="arabicPeriod"/>
            </a:pPr>
            <a:r>
              <a:rPr lang="en-US" altLang="ja-JP" b="0" dirty="0">
                <a:ea typeface="ＭＳ ゴシック" panose="020B0609070205080204" pitchFamily="49" charset="-128"/>
              </a:rPr>
              <a:t>}</a:t>
            </a:r>
            <a:endParaRPr lang="ja-JP" altLang="ja-JP" b="0" dirty="0">
              <a:ea typeface="ＭＳ ゴシック" panose="020B0609070205080204" pitchFamily="49" charset="-128"/>
            </a:endParaRPr>
          </a:p>
        </p:txBody>
      </p:sp>
      <p:sp>
        <p:nvSpPr>
          <p:cNvPr id="10" name="Text Box 63">
            <a:extLst>
              <a:ext uri="{FF2B5EF4-FFF2-40B4-BE49-F238E27FC236}">
                <a16:creationId xmlns:a16="http://schemas.microsoft.com/office/drawing/2014/main" id="{ED88246F-A53F-BF76-B13B-9E971A38ECB1}"/>
              </a:ext>
            </a:extLst>
          </p:cNvPr>
          <p:cNvSpPr txBox="1">
            <a:spLocks noChangeArrowheads="1"/>
          </p:cNvSpPr>
          <p:nvPr/>
        </p:nvSpPr>
        <p:spPr bwMode="auto">
          <a:xfrm>
            <a:off x="609380" y="4879219"/>
            <a:ext cx="8972832" cy="2857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marL="342900" indent="-342900" defTabSz="954088">
              <a:defRPr kumimoji="1" sz="1000" b="1">
                <a:solidFill>
                  <a:schemeClr val="tx1"/>
                </a:solidFill>
                <a:latin typeface="Arial" panose="020B0604020202020204" pitchFamily="34" charset="0"/>
                <a:ea typeface="MS UI Gothic" panose="020B0600070205080204" pitchFamily="50" charset="-128"/>
              </a:defRPr>
            </a:lvl1pPr>
            <a:lvl2pPr marL="187325" defTabSz="954088">
              <a:defRPr kumimoji="1" sz="1000" b="1">
                <a:solidFill>
                  <a:schemeClr val="tx1"/>
                </a:solidFill>
                <a:latin typeface="Arial" panose="020B0604020202020204" pitchFamily="34" charset="0"/>
                <a:ea typeface="MS UI Gothic" panose="020B0600070205080204" pitchFamily="50" charset="-128"/>
              </a:defRPr>
            </a:lvl2pPr>
            <a:lvl3pPr marL="1143000" indent="-228600" defTabSz="954088">
              <a:defRPr kumimoji="1" sz="1000" b="1">
                <a:solidFill>
                  <a:schemeClr val="tx1"/>
                </a:solidFill>
                <a:latin typeface="Arial" panose="020B0604020202020204" pitchFamily="34" charset="0"/>
                <a:ea typeface="MS UI Gothic" panose="020B0600070205080204" pitchFamily="50" charset="-128"/>
              </a:defRPr>
            </a:lvl3pPr>
            <a:lvl4pPr marL="1600200" indent="-228600" defTabSz="954088">
              <a:defRPr kumimoji="1" sz="1000" b="1">
                <a:solidFill>
                  <a:schemeClr val="tx1"/>
                </a:solidFill>
                <a:latin typeface="Arial" panose="020B0604020202020204" pitchFamily="34" charset="0"/>
                <a:ea typeface="MS UI Gothic" panose="020B0600070205080204" pitchFamily="50" charset="-128"/>
              </a:defRPr>
            </a:lvl4pPr>
            <a:lvl5pPr marL="2057400" indent="-228600" defTabSz="954088">
              <a:defRPr kumimoji="1" sz="1000" b="1">
                <a:solidFill>
                  <a:schemeClr val="tx1"/>
                </a:solidFill>
                <a:latin typeface="Arial" panose="020B0604020202020204" pitchFamily="34" charset="0"/>
                <a:ea typeface="MS UI Gothic" panose="020B0600070205080204" pitchFamily="50" charset="-128"/>
              </a:defRPr>
            </a:lvl5pPr>
            <a:lvl6pPr marL="2514600" indent="-228600" defTabSz="954088"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defTabSz="954088"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defTabSz="954088"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defTabSz="954088"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spcAft>
                <a:spcPct val="50000"/>
              </a:spcAft>
            </a:pPr>
            <a:r>
              <a:rPr lang="ja-JP" altLang="ja-JP" b="0" dirty="0">
                <a:ea typeface="ＭＳ ゴシック" panose="020B0609070205080204" pitchFamily="49" charset="-128"/>
              </a:rPr>
              <a:t>&gt;java</a:t>
            </a:r>
            <a:r>
              <a:rPr lang="en-US" altLang="ja-JP" b="0" dirty="0">
                <a:ea typeface="ＭＳ ゴシック" panose="020B0609070205080204" pitchFamily="49" charset="-128"/>
              </a:rPr>
              <a:t>c</a:t>
            </a:r>
            <a:r>
              <a:rPr lang="ja-JP" altLang="ja-JP" b="0" dirty="0">
                <a:ea typeface="ＭＳ ゴシック" panose="020B0609070205080204" pitchFamily="49" charset="-128"/>
              </a:rPr>
              <a:t> </a:t>
            </a:r>
            <a:r>
              <a:rPr lang="en-US" altLang="ja-JP" b="0" dirty="0">
                <a:ea typeface="ＭＳ ゴシック" panose="020B0609070205080204" pitchFamily="49" charset="-128"/>
              </a:rPr>
              <a:t>HelloWorld.java</a:t>
            </a:r>
            <a:endParaRPr lang="ja-JP" altLang="ja-JP" b="0" dirty="0">
              <a:ea typeface="ＭＳ ゴシック" panose="020B0609070205080204" pitchFamily="49" charset="-128"/>
            </a:endParaRPr>
          </a:p>
        </p:txBody>
      </p:sp>
      <p:sp>
        <p:nvSpPr>
          <p:cNvPr id="11" name="Text Box 64">
            <a:extLst>
              <a:ext uri="{FF2B5EF4-FFF2-40B4-BE49-F238E27FC236}">
                <a16:creationId xmlns:a16="http://schemas.microsoft.com/office/drawing/2014/main" id="{786DAB22-2F7A-4CCE-5FAE-6A232E5BDE56}"/>
              </a:ext>
            </a:extLst>
          </p:cNvPr>
          <p:cNvSpPr txBox="1">
            <a:spLocks noChangeArrowheads="1"/>
          </p:cNvSpPr>
          <p:nvPr/>
        </p:nvSpPr>
        <p:spPr bwMode="auto">
          <a:xfrm>
            <a:off x="609380" y="5397575"/>
            <a:ext cx="8972832" cy="4762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marL="342900" indent="-342900" defTabSz="954088">
              <a:defRPr kumimoji="1" sz="1000" b="1">
                <a:solidFill>
                  <a:schemeClr val="tx1"/>
                </a:solidFill>
                <a:latin typeface="Arial" panose="020B0604020202020204" pitchFamily="34" charset="0"/>
                <a:ea typeface="MS UI Gothic" panose="020B0600070205080204" pitchFamily="50" charset="-128"/>
              </a:defRPr>
            </a:lvl1pPr>
            <a:lvl2pPr marL="187325" defTabSz="954088">
              <a:defRPr kumimoji="1" sz="1000" b="1">
                <a:solidFill>
                  <a:schemeClr val="tx1"/>
                </a:solidFill>
                <a:latin typeface="Arial" panose="020B0604020202020204" pitchFamily="34" charset="0"/>
                <a:ea typeface="MS UI Gothic" panose="020B0600070205080204" pitchFamily="50" charset="-128"/>
              </a:defRPr>
            </a:lvl2pPr>
            <a:lvl3pPr marL="1143000" indent="-228600" defTabSz="954088">
              <a:defRPr kumimoji="1" sz="1000" b="1">
                <a:solidFill>
                  <a:schemeClr val="tx1"/>
                </a:solidFill>
                <a:latin typeface="Arial" panose="020B0604020202020204" pitchFamily="34" charset="0"/>
                <a:ea typeface="MS UI Gothic" panose="020B0600070205080204" pitchFamily="50" charset="-128"/>
              </a:defRPr>
            </a:lvl3pPr>
            <a:lvl4pPr marL="1600200" indent="-228600" defTabSz="954088">
              <a:defRPr kumimoji="1" sz="1000" b="1">
                <a:solidFill>
                  <a:schemeClr val="tx1"/>
                </a:solidFill>
                <a:latin typeface="Arial" panose="020B0604020202020204" pitchFamily="34" charset="0"/>
                <a:ea typeface="MS UI Gothic" panose="020B0600070205080204" pitchFamily="50" charset="-128"/>
              </a:defRPr>
            </a:lvl4pPr>
            <a:lvl5pPr marL="2057400" indent="-228600" defTabSz="954088">
              <a:defRPr kumimoji="1" sz="1000" b="1">
                <a:solidFill>
                  <a:schemeClr val="tx1"/>
                </a:solidFill>
                <a:latin typeface="Arial" panose="020B0604020202020204" pitchFamily="34" charset="0"/>
                <a:ea typeface="MS UI Gothic" panose="020B0600070205080204" pitchFamily="50" charset="-128"/>
              </a:defRPr>
            </a:lvl5pPr>
            <a:lvl6pPr marL="2514600" indent="-228600" defTabSz="954088"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defTabSz="954088"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defTabSz="954088"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defTabSz="954088"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eaLnBrk="1" hangingPunct="1">
              <a:spcAft>
                <a:spcPct val="50000"/>
              </a:spcAft>
            </a:pPr>
            <a:r>
              <a:rPr lang="ja-JP" altLang="ja-JP" b="0" dirty="0">
                <a:ea typeface="ＭＳ ゴシック" panose="020B0609070205080204" pitchFamily="49" charset="-128"/>
              </a:rPr>
              <a:t>&gt;java </a:t>
            </a:r>
            <a:r>
              <a:rPr lang="en-US" altLang="ja-JP" b="0" dirty="0">
                <a:ea typeface="ＭＳ ゴシック" panose="020B0609070205080204" pitchFamily="49" charset="-128"/>
              </a:rPr>
              <a:t>HelloWorld</a:t>
            </a:r>
            <a:br>
              <a:rPr lang="en-US" altLang="ja-JP" b="0" dirty="0">
                <a:ea typeface="ＭＳ ゴシック" panose="020B0609070205080204" pitchFamily="49" charset="-128"/>
              </a:rPr>
            </a:br>
            <a:r>
              <a:rPr lang="en-US" altLang="ja-JP" b="0" dirty="0">
                <a:ea typeface="ＭＳ ゴシック" panose="020B0609070205080204" pitchFamily="49" charset="-128"/>
              </a:rPr>
              <a:t>Hello World!</a:t>
            </a:r>
          </a:p>
          <a:p>
            <a:pPr lvl="1" algn="just" eaLnBrk="1" hangingPunct="1">
              <a:spcAft>
                <a:spcPct val="50000"/>
              </a:spcAft>
            </a:pPr>
            <a:endParaRPr lang="ja-JP" altLang="ja-JP" b="0" dirty="0">
              <a:ea typeface="ＭＳ ゴシック" panose="020B0609070205080204" pitchFamily="49" charset="-128"/>
            </a:endParaRPr>
          </a:p>
        </p:txBody>
      </p:sp>
      <p:grpSp>
        <p:nvGrpSpPr>
          <p:cNvPr id="62" name="Group 61">
            <a:extLst>
              <a:ext uri="{FF2B5EF4-FFF2-40B4-BE49-F238E27FC236}">
                <a16:creationId xmlns:a16="http://schemas.microsoft.com/office/drawing/2014/main" id="{1F628A08-4C8A-7A14-0739-03C897F8C378}"/>
              </a:ext>
            </a:extLst>
          </p:cNvPr>
          <p:cNvGrpSpPr/>
          <p:nvPr/>
        </p:nvGrpSpPr>
        <p:grpSpPr>
          <a:xfrm>
            <a:off x="3810000" y="1498653"/>
            <a:ext cx="5805488" cy="2632886"/>
            <a:chOff x="3657600" y="491314"/>
            <a:chExt cx="5805488" cy="2632886"/>
          </a:xfrm>
        </p:grpSpPr>
        <p:sp>
          <p:nvSpPr>
            <p:cNvPr id="12" name="Rectangle 82">
              <a:extLst>
                <a:ext uri="{FF2B5EF4-FFF2-40B4-BE49-F238E27FC236}">
                  <a16:creationId xmlns:a16="http://schemas.microsoft.com/office/drawing/2014/main" id="{3A29BCB3-3DBF-078D-C0D6-0043D9675B21}"/>
                </a:ext>
              </a:extLst>
            </p:cNvPr>
            <p:cNvSpPr>
              <a:spLocks noChangeArrowheads="1"/>
            </p:cNvSpPr>
            <p:nvPr/>
          </p:nvSpPr>
          <p:spPr bwMode="auto">
            <a:xfrm>
              <a:off x="3657600" y="1251074"/>
              <a:ext cx="5805488" cy="1873126"/>
            </a:xfrm>
            <a:prstGeom prst="rect">
              <a:avLst/>
            </a:prstGeom>
            <a:solidFill>
              <a:srgbClr val="DDDDDD">
                <a:alpha val="50195"/>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endParaRPr lang="ja-JP" altLang="en-US"/>
            </a:p>
          </p:txBody>
        </p:sp>
        <p:sp>
          <p:nvSpPr>
            <p:cNvPr id="13" name="AutoShape 92">
              <a:extLst>
                <a:ext uri="{FF2B5EF4-FFF2-40B4-BE49-F238E27FC236}">
                  <a16:creationId xmlns:a16="http://schemas.microsoft.com/office/drawing/2014/main" id="{6AC9D10B-F883-D233-0908-59DC8EBECC73}"/>
                </a:ext>
              </a:extLst>
            </p:cNvPr>
            <p:cNvSpPr>
              <a:spLocks noChangeArrowheads="1"/>
            </p:cNvSpPr>
            <p:nvPr/>
          </p:nvSpPr>
          <p:spPr bwMode="auto">
            <a:xfrm>
              <a:off x="4848225" y="2020888"/>
              <a:ext cx="328613" cy="214312"/>
            </a:xfrm>
            <a:prstGeom prst="rightArrow">
              <a:avLst>
                <a:gd name="adj1" fmla="val 50000"/>
                <a:gd name="adj2" fmla="val 38333"/>
              </a:avLst>
            </a:prstGeom>
            <a:solidFill>
              <a:schemeClr val="accent2">
                <a:alpha val="50195"/>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endParaRPr lang="ja-JP" altLang="en-US"/>
            </a:p>
          </p:txBody>
        </p:sp>
        <p:sp>
          <p:nvSpPr>
            <p:cNvPr id="14" name="AutoShape 93">
              <a:extLst>
                <a:ext uri="{FF2B5EF4-FFF2-40B4-BE49-F238E27FC236}">
                  <a16:creationId xmlns:a16="http://schemas.microsoft.com/office/drawing/2014/main" id="{73E573A9-364F-88B8-3361-C6AB608C3DC7}"/>
                </a:ext>
              </a:extLst>
            </p:cNvPr>
            <p:cNvSpPr>
              <a:spLocks noChangeArrowheads="1"/>
            </p:cNvSpPr>
            <p:nvPr/>
          </p:nvSpPr>
          <p:spPr bwMode="auto">
            <a:xfrm>
              <a:off x="5743575" y="2020888"/>
              <a:ext cx="328613" cy="214312"/>
            </a:xfrm>
            <a:prstGeom prst="rightArrow">
              <a:avLst>
                <a:gd name="adj1" fmla="val 50000"/>
                <a:gd name="adj2" fmla="val 38333"/>
              </a:avLst>
            </a:prstGeom>
            <a:solidFill>
              <a:schemeClr val="accent2">
                <a:alpha val="50195"/>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endParaRPr lang="ja-JP" altLang="en-US"/>
            </a:p>
          </p:txBody>
        </p:sp>
        <p:sp>
          <p:nvSpPr>
            <p:cNvPr id="15" name="AutoShape 94">
              <a:extLst>
                <a:ext uri="{FF2B5EF4-FFF2-40B4-BE49-F238E27FC236}">
                  <a16:creationId xmlns:a16="http://schemas.microsoft.com/office/drawing/2014/main" id="{E56E143A-2A25-B1C9-DF5F-90EF4851ACFE}"/>
                </a:ext>
              </a:extLst>
            </p:cNvPr>
            <p:cNvSpPr>
              <a:spLocks noChangeArrowheads="1"/>
            </p:cNvSpPr>
            <p:nvPr/>
          </p:nvSpPr>
          <p:spPr bwMode="auto">
            <a:xfrm>
              <a:off x="7148513" y="2020888"/>
              <a:ext cx="328612" cy="214312"/>
            </a:xfrm>
            <a:prstGeom prst="rightArrow">
              <a:avLst>
                <a:gd name="adj1" fmla="val 50000"/>
                <a:gd name="adj2" fmla="val 38333"/>
              </a:avLst>
            </a:prstGeom>
            <a:solidFill>
              <a:schemeClr val="accent2">
                <a:alpha val="50195"/>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endParaRPr lang="ja-JP" altLang="en-US"/>
            </a:p>
          </p:txBody>
        </p:sp>
        <p:sp>
          <p:nvSpPr>
            <p:cNvPr id="16" name="AutoShape 85">
              <a:extLst>
                <a:ext uri="{FF2B5EF4-FFF2-40B4-BE49-F238E27FC236}">
                  <a16:creationId xmlns:a16="http://schemas.microsoft.com/office/drawing/2014/main" id="{3B8D21D6-75F4-D3BD-F5C5-29E15DB4782E}"/>
                </a:ext>
              </a:extLst>
            </p:cNvPr>
            <p:cNvSpPr>
              <a:spLocks noChangeArrowheads="1"/>
            </p:cNvSpPr>
            <p:nvPr/>
          </p:nvSpPr>
          <p:spPr bwMode="auto">
            <a:xfrm>
              <a:off x="6122988" y="1862262"/>
              <a:ext cx="927100" cy="511175"/>
            </a:xfrm>
            <a:prstGeom prst="foldedCorner">
              <a:avLst>
                <a:gd name="adj" fmla="val 12500"/>
              </a:avLst>
            </a:prstGeom>
            <a:solidFill>
              <a:srgbClr val="FFFFCC"/>
            </a:solidFill>
            <a:ln w="9525">
              <a:solidFill>
                <a:srgbClr val="000000"/>
              </a:solidFill>
              <a:round/>
              <a:headEnd/>
              <a:tailEnd/>
            </a:ln>
            <a:effectLst>
              <a:outerShdw dist="57238" dir="2021404" algn="ctr" rotWithShape="0">
                <a:srgbClr val="000000"/>
              </a:outerShdw>
            </a:effectLst>
          </p:spPr>
          <p:txBody>
            <a:bodyPr lIns="9522" tIns="19043" rIns="9522" bIns="9522" anchor="ctr" anchorCtr="1"/>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b="0"/>
                <a:t>Byte code</a:t>
              </a:r>
            </a:p>
          </p:txBody>
        </p:sp>
        <p:sp>
          <p:nvSpPr>
            <p:cNvPr id="17" name="Text Box 55">
              <a:extLst>
                <a:ext uri="{FF2B5EF4-FFF2-40B4-BE49-F238E27FC236}">
                  <a16:creationId xmlns:a16="http://schemas.microsoft.com/office/drawing/2014/main" id="{5E240614-4FEE-4C5E-EDE7-F5E246A01D5F}"/>
                </a:ext>
              </a:extLst>
            </p:cNvPr>
            <p:cNvSpPr txBox="1">
              <a:spLocks noChangeArrowheads="1"/>
            </p:cNvSpPr>
            <p:nvPr/>
          </p:nvSpPr>
          <p:spPr bwMode="auto">
            <a:xfrm>
              <a:off x="6232525" y="2381374"/>
              <a:ext cx="857250" cy="244475"/>
            </a:xfrm>
            <a:prstGeom prst="rect">
              <a:avLst/>
            </a:prstGeom>
            <a:noFill/>
            <a:ln>
              <a:noFill/>
            </a:ln>
            <a:effectLst/>
            <a:extLst>
              <a:ext uri="{909E8E84-426E-40DD-AFC4-6F175D3DCCD1}">
                <a14:hiddenFill xmlns:a14="http://schemas.microsoft.com/office/drawing/2010/main">
                  <a:solidFill>
                    <a:srgbClr val="99CCFF">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spcBef>
                  <a:spcPct val="50000"/>
                </a:spcBef>
              </a:pPr>
              <a:r>
                <a:rPr lang="en-US" altLang="ja-JP"/>
                <a:t>(</a:t>
              </a:r>
              <a:r>
                <a:rPr lang="ja-JP" altLang="en-US"/>
                <a:t>～</a:t>
              </a:r>
              <a:r>
                <a:rPr lang="en-US" altLang="ja-JP"/>
                <a:t>. class)</a:t>
              </a:r>
            </a:p>
          </p:txBody>
        </p:sp>
        <p:sp>
          <p:nvSpPr>
            <p:cNvPr id="18" name="AutoShape 84">
              <a:extLst>
                <a:ext uri="{FF2B5EF4-FFF2-40B4-BE49-F238E27FC236}">
                  <a16:creationId xmlns:a16="http://schemas.microsoft.com/office/drawing/2014/main" id="{27AF1A6B-E892-489F-BB5E-D7C5536B61F6}"/>
                </a:ext>
              </a:extLst>
            </p:cNvPr>
            <p:cNvSpPr>
              <a:spLocks noChangeArrowheads="1"/>
            </p:cNvSpPr>
            <p:nvPr/>
          </p:nvSpPr>
          <p:spPr bwMode="auto">
            <a:xfrm>
              <a:off x="3830638" y="1832099"/>
              <a:ext cx="928687" cy="511175"/>
            </a:xfrm>
            <a:prstGeom prst="foldedCorner">
              <a:avLst>
                <a:gd name="adj" fmla="val 12500"/>
              </a:avLst>
            </a:prstGeom>
            <a:solidFill>
              <a:srgbClr val="FFFFCC"/>
            </a:solidFill>
            <a:ln w="9525">
              <a:solidFill>
                <a:srgbClr val="000000"/>
              </a:solidFill>
              <a:round/>
              <a:headEnd/>
              <a:tailEnd/>
            </a:ln>
            <a:effectLst>
              <a:outerShdw dist="57238" dir="2021404" algn="ctr" rotWithShape="0">
                <a:srgbClr val="000000"/>
              </a:outerShdw>
            </a:effectLst>
          </p:spPr>
          <p:txBody>
            <a:bodyPr lIns="9522" tIns="19043" rIns="9522" bIns="9522" anchor="ctr" anchorCtr="1"/>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r>
                <a:rPr lang="en-US" altLang="ja-JP" b="0"/>
                <a:t>source program</a:t>
              </a:r>
            </a:p>
          </p:txBody>
        </p:sp>
        <p:sp>
          <p:nvSpPr>
            <p:cNvPr id="19" name="Text Box 54">
              <a:extLst>
                <a:ext uri="{FF2B5EF4-FFF2-40B4-BE49-F238E27FC236}">
                  <a16:creationId xmlns:a16="http://schemas.microsoft.com/office/drawing/2014/main" id="{BB5C8A24-04CB-3111-A204-579EE602D724}"/>
                </a:ext>
              </a:extLst>
            </p:cNvPr>
            <p:cNvSpPr txBox="1">
              <a:spLocks noChangeArrowheads="1"/>
            </p:cNvSpPr>
            <p:nvPr/>
          </p:nvSpPr>
          <p:spPr bwMode="auto">
            <a:xfrm>
              <a:off x="3916363" y="2381374"/>
              <a:ext cx="773112" cy="244475"/>
            </a:xfrm>
            <a:prstGeom prst="rect">
              <a:avLst/>
            </a:prstGeom>
            <a:noFill/>
            <a:ln>
              <a:noFill/>
            </a:ln>
            <a:effectLst/>
            <a:extLst>
              <a:ext uri="{909E8E84-426E-40DD-AFC4-6F175D3DCCD1}">
                <a14:hiddenFill xmlns:a14="http://schemas.microsoft.com/office/drawing/2010/main">
                  <a:solidFill>
                    <a:srgbClr val="99CCFF">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spcBef>
                  <a:spcPct val="50000"/>
                </a:spcBef>
              </a:pPr>
              <a:r>
                <a:rPr lang="en-US" altLang="ja-JP"/>
                <a:t>(</a:t>
              </a:r>
              <a:r>
                <a:rPr lang="ja-JP" altLang="en-US"/>
                <a:t>～</a:t>
              </a:r>
              <a:r>
                <a:rPr lang="en-US" altLang="ja-JP"/>
                <a:t>. java)</a:t>
              </a:r>
            </a:p>
          </p:txBody>
        </p:sp>
        <p:sp>
          <p:nvSpPr>
            <p:cNvPr id="20" name="Text Box 58">
              <a:extLst>
                <a:ext uri="{FF2B5EF4-FFF2-40B4-BE49-F238E27FC236}">
                  <a16:creationId xmlns:a16="http://schemas.microsoft.com/office/drawing/2014/main" id="{C4334C10-7C71-E4A2-DCD0-C108163C1FCF}"/>
                </a:ext>
              </a:extLst>
            </p:cNvPr>
            <p:cNvSpPr txBox="1">
              <a:spLocks noChangeArrowheads="1"/>
            </p:cNvSpPr>
            <p:nvPr/>
          </p:nvSpPr>
          <p:spPr bwMode="auto">
            <a:xfrm>
              <a:off x="3717925" y="1562224"/>
              <a:ext cx="361950" cy="274638"/>
            </a:xfrm>
            <a:prstGeom prst="rect">
              <a:avLst/>
            </a:prstGeom>
            <a:noFill/>
            <a:ln>
              <a:noFill/>
            </a:ln>
            <a:effectLst/>
            <a:extLst>
              <a:ext uri="{909E8E84-426E-40DD-AFC4-6F175D3DCCD1}">
                <a14:hiddenFill xmlns:a14="http://schemas.microsoft.com/office/drawing/2010/main">
                  <a:solidFill>
                    <a:srgbClr val="99CCFF">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spcBef>
                  <a:spcPct val="50000"/>
                </a:spcBef>
              </a:pPr>
              <a:r>
                <a:rPr lang="en-US" altLang="ja-JP" sz="1200"/>
                <a:t>1)</a:t>
              </a:r>
            </a:p>
          </p:txBody>
        </p:sp>
        <p:grpSp>
          <p:nvGrpSpPr>
            <p:cNvPr id="21" name="Group 89">
              <a:extLst>
                <a:ext uri="{FF2B5EF4-FFF2-40B4-BE49-F238E27FC236}">
                  <a16:creationId xmlns:a16="http://schemas.microsoft.com/office/drawing/2014/main" id="{F2BB7160-A32C-FB43-86FE-4B1422FAEADA}"/>
                </a:ext>
              </a:extLst>
            </p:cNvPr>
            <p:cNvGrpSpPr>
              <a:grpSpLocks/>
            </p:cNvGrpSpPr>
            <p:nvPr/>
          </p:nvGrpSpPr>
          <p:grpSpPr bwMode="auto">
            <a:xfrm>
              <a:off x="5218113" y="1532062"/>
              <a:ext cx="574675" cy="1416050"/>
              <a:chOff x="1602" y="1689"/>
              <a:chExt cx="305" cy="699"/>
            </a:xfrm>
          </p:grpSpPr>
          <p:sp>
            <p:nvSpPr>
              <p:cNvPr id="22" name="AutoShape 90">
                <a:extLst>
                  <a:ext uri="{FF2B5EF4-FFF2-40B4-BE49-F238E27FC236}">
                    <a16:creationId xmlns:a16="http://schemas.microsoft.com/office/drawing/2014/main" id="{833DACB3-11AD-D017-332E-1A51478A09E3}"/>
                  </a:ext>
                </a:extLst>
              </p:cNvPr>
              <p:cNvSpPr>
                <a:spLocks noChangeArrowheads="1"/>
              </p:cNvSpPr>
              <p:nvPr/>
            </p:nvSpPr>
            <p:spPr bwMode="auto">
              <a:xfrm>
                <a:off x="1602" y="1689"/>
                <a:ext cx="305" cy="699"/>
              </a:xfrm>
              <a:prstGeom prst="roundRect">
                <a:avLst>
                  <a:gd name="adj" fmla="val 16667"/>
                </a:avLst>
              </a:prstGeom>
              <a:solidFill>
                <a:srgbClr val="99CCFF">
                  <a:alpha val="50195"/>
                </a:srgbClr>
              </a:solidFill>
              <a:ln w="9525" algn="ctr">
                <a:solidFill>
                  <a:srgbClr val="000000"/>
                </a:solidFill>
                <a:round/>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endParaRPr lang="ja-JP" altLang="en-US"/>
              </a:p>
            </p:txBody>
          </p:sp>
          <p:sp>
            <p:nvSpPr>
              <p:cNvPr id="23" name="Text Box 91">
                <a:extLst>
                  <a:ext uri="{FF2B5EF4-FFF2-40B4-BE49-F238E27FC236}">
                    <a16:creationId xmlns:a16="http://schemas.microsoft.com/office/drawing/2014/main" id="{D9A7CC81-87A8-6534-240C-E751AFB93554}"/>
                  </a:ext>
                </a:extLst>
              </p:cNvPr>
              <p:cNvSpPr txBox="1">
                <a:spLocks noChangeArrowheads="1"/>
              </p:cNvSpPr>
              <p:nvPr/>
            </p:nvSpPr>
            <p:spPr bwMode="auto">
              <a:xfrm>
                <a:off x="1722" y="1755"/>
                <a:ext cx="61" cy="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2" tIns="19043" rIns="9522" bIns="9522"/>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just" eaLnBrk="1" hangingPunct="1"/>
                <a:r>
                  <a:rPr lang="en-US" altLang="ja-JP" b="0" dirty="0" err="1"/>
                  <a:t>Compi</a:t>
                </a:r>
                <a:endParaRPr lang="en-US" altLang="ja-JP" b="0" dirty="0"/>
              </a:p>
              <a:p>
                <a:pPr algn="just" eaLnBrk="1" hangingPunct="1"/>
                <a:r>
                  <a:rPr lang="en-US" altLang="ja-JP" b="0" dirty="0" err="1"/>
                  <a:t>ler</a:t>
                </a:r>
                <a:endParaRPr lang="en-US" altLang="ja-JP" dirty="0"/>
              </a:p>
            </p:txBody>
          </p:sp>
        </p:grpSp>
        <p:sp>
          <p:nvSpPr>
            <p:cNvPr id="24" name="Text Box 56">
              <a:extLst>
                <a:ext uri="{FF2B5EF4-FFF2-40B4-BE49-F238E27FC236}">
                  <a16:creationId xmlns:a16="http://schemas.microsoft.com/office/drawing/2014/main" id="{650154BE-4699-0790-24CA-FDBB2AE4FEA3}"/>
                </a:ext>
              </a:extLst>
            </p:cNvPr>
            <p:cNvSpPr txBox="1">
              <a:spLocks noChangeArrowheads="1"/>
            </p:cNvSpPr>
            <p:nvPr/>
          </p:nvSpPr>
          <p:spPr bwMode="auto">
            <a:xfrm>
              <a:off x="5070475" y="1266949"/>
              <a:ext cx="1311275" cy="244475"/>
            </a:xfrm>
            <a:prstGeom prst="rect">
              <a:avLst/>
            </a:prstGeom>
            <a:noFill/>
            <a:ln>
              <a:noFill/>
            </a:ln>
            <a:effectLst/>
            <a:extLst>
              <a:ext uri="{909E8E84-426E-40DD-AFC4-6F175D3DCCD1}">
                <a14:hiddenFill xmlns:a14="http://schemas.microsoft.com/office/drawing/2010/main">
                  <a:solidFill>
                    <a:srgbClr val="99CCFF">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spcBef>
                  <a:spcPct val="50000"/>
                </a:spcBef>
              </a:pPr>
              <a:r>
                <a:rPr lang="en-US" altLang="ja-JP" b="0" dirty="0"/>
                <a:t>Javac command</a:t>
              </a:r>
            </a:p>
          </p:txBody>
        </p:sp>
        <p:sp>
          <p:nvSpPr>
            <p:cNvPr id="25" name="Text Box 59">
              <a:extLst>
                <a:ext uri="{FF2B5EF4-FFF2-40B4-BE49-F238E27FC236}">
                  <a16:creationId xmlns:a16="http://schemas.microsoft.com/office/drawing/2014/main" id="{906FD3D0-F882-F9B4-6892-E965DAAB1980}"/>
                </a:ext>
              </a:extLst>
            </p:cNvPr>
            <p:cNvSpPr txBox="1">
              <a:spLocks noChangeArrowheads="1"/>
            </p:cNvSpPr>
            <p:nvPr/>
          </p:nvSpPr>
          <p:spPr bwMode="auto">
            <a:xfrm>
              <a:off x="4905375" y="1260599"/>
              <a:ext cx="361950" cy="274638"/>
            </a:xfrm>
            <a:prstGeom prst="rect">
              <a:avLst/>
            </a:prstGeom>
            <a:noFill/>
            <a:ln>
              <a:noFill/>
            </a:ln>
            <a:effectLst/>
            <a:extLst>
              <a:ext uri="{909E8E84-426E-40DD-AFC4-6F175D3DCCD1}">
                <a14:hiddenFill xmlns:a14="http://schemas.microsoft.com/office/drawing/2010/main">
                  <a:solidFill>
                    <a:srgbClr val="99CCFF">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spcBef>
                  <a:spcPct val="50000"/>
                </a:spcBef>
              </a:pPr>
              <a:r>
                <a:rPr lang="en-US" altLang="ja-JP" sz="1200"/>
                <a:t>2)</a:t>
              </a:r>
            </a:p>
          </p:txBody>
        </p:sp>
        <p:grpSp>
          <p:nvGrpSpPr>
            <p:cNvPr id="26" name="Group 99">
              <a:extLst>
                <a:ext uri="{FF2B5EF4-FFF2-40B4-BE49-F238E27FC236}">
                  <a16:creationId xmlns:a16="http://schemas.microsoft.com/office/drawing/2014/main" id="{F5869977-662F-769F-C36C-498A61BC3131}"/>
                </a:ext>
              </a:extLst>
            </p:cNvPr>
            <p:cNvGrpSpPr>
              <a:grpSpLocks/>
            </p:cNvGrpSpPr>
            <p:nvPr/>
          </p:nvGrpSpPr>
          <p:grpSpPr bwMode="auto">
            <a:xfrm>
              <a:off x="7529513" y="1528887"/>
              <a:ext cx="484187" cy="1109662"/>
              <a:chOff x="1602" y="1689"/>
              <a:chExt cx="305" cy="699"/>
            </a:xfrm>
          </p:grpSpPr>
          <p:sp>
            <p:nvSpPr>
              <p:cNvPr id="27" name="AutoShape 100">
                <a:extLst>
                  <a:ext uri="{FF2B5EF4-FFF2-40B4-BE49-F238E27FC236}">
                    <a16:creationId xmlns:a16="http://schemas.microsoft.com/office/drawing/2014/main" id="{4DEAB8BE-F020-AC98-F52D-B5DB9FE93F67}"/>
                  </a:ext>
                </a:extLst>
              </p:cNvPr>
              <p:cNvSpPr>
                <a:spLocks noChangeArrowheads="1"/>
              </p:cNvSpPr>
              <p:nvPr/>
            </p:nvSpPr>
            <p:spPr bwMode="auto">
              <a:xfrm>
                <a:off x="1602" y="1689"/>
                <a:ext cx="305" cy="699"/>
              </a:xfrm>
              <a:prstGeom prst="roundRect">
                <a:avLst>
                  <a:gd name="adj" fmla="val 16667"/>
                </a:avLst>
              </a:prstGeom>
              <a:solidFill>
                <a:srgbClr val="99CCFF">
                  <a:alpha val="50195"/>
                </a:srgbClr>
              </a:solidFill>
              <a:ln w="9525" algn="ctr">
                <a:solidFill>
                  <a:srgbClr val="000000"/>
                </a:solidFill>
                <a:round/>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endParaRPr lang="ja-JP" altLang="en-US"/>
              </a:p>
            </p:txBody>
          </p:sp>
          <p:sp>
            <p:nvSpPr>
              <p:cNvPr id="28" name="Text Box 101">
                <a:extLst>
                  <a:ext uri="{FF2B5EF4-FFF2-40B4-BE49-F238E27FC236}">
                    <a16:creationId xmlns:a16="http://schemas.microsoft.com/office/drawing/2014/main" id="{DD3C9A3D-F0AC-9977-C7CF-3257ADF82C1B}"/>
                  </a:ext>
                </a:extLst>
              </p:cNvPr>
              <p:cNvSpPr txBox="1">
                <a:spLocks noChangeArrowheads="1"/>
              </p:cNvSpPr>
              <p:nvPr/>
            </p:nvSpPr>
            <p:spPr bwMode="auto">
              <a:xfrm>
                <a:off x="1722" y="1755"/>
                <a:ext cx="61" cy="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2" tIns="19043" rIns="9522" bIns="9522" anchor="ct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just" eaLnBrk="1" hangingPunct="1"/>
                <a:r>
                  <a:rPr lang="en-US" altLang="ja-JP" b="0"/>
                  <a:t>JVM</a:t>
                </a:r>
                <a:endParaRPr lang="en-US" altLang="ja-JP"/>
              </a:p>
            </p:txBody>
          </p:sp>
        </p:grpSp>
        <p:sp>
          <p:nvSpPr>
            <p:cNvPr id="29" name="Text Box 102">
              <a:extLst>
                <a:ext uri="{FF2B5EF4-FFF2-40B4-BE49-F238E27FC236}">
                  <a16:creationId xmlns:a16="http://schemas.microsoft.com/office/drawing/2014/main" id="{F0709316-CE54-AD2B-5616-8441CCA7839E}"/>
                </a:ext>
              </a:extLst>
            </p:cNvPr>
            <p:cNvSpPr txBox="1">
              <a:spLocks noChangeArrowheads="1"/>
            </p:cNvSpPr>
            <p:nvPr/>
          </p:nvSpPr>
          <p:spPr bwMode="auto">
            <a:xfrm>
              <a:off x="7381875" y="1263774"/>
              <a:ext cx="1211263" cy="244475"/>
            </a:xfrm>
            <a:prstGeom prst="rect">
              <a:avLst/>
            </a:prstGeom>
            <a:noFill/>
            <a:ln>
              <a:noFill/>
            </a:ln>
            <a:effectLst/>
            <a:extLst>
              <a:ext uri="{909E8E84-426E-40DD-AFC4-6F175D3DCCD1}">
                <a14:hiddenFill xmlns:a14="http://schemas.microsoft.com/office/drawing/2010/main">
                  <a:solidFill>
                    <a:srgbClr val="99CCFF">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spcBef>
                  <a:spcPct val="50000"/>
                </a:spcBef>
              </a:pPr>
              <a:r>
                <a:rPr lang="en-US" altLang="ja-JP" b="0"/>
                <a:t>java command</a:t>
              </a:r>
            </a:p>
          </p:txBody>
        </p:sp>
        <p:sp>
          <p:nvSpPr>
            <p:cNvPr id="30" name="Text Box 103">
              <a:extLst>
                <a:ext uri="{FF2B5EF4-FFF2-40B4-BE49-F238E27FC236}">
                  <a16:creationId xmlns:a16="http://schemas.microsoft.com/office/drawing/2014/main" id="{BB4D242D-0DE8-0089-4992-17C7B854D015}"/>
                </a:ext>
              </a:extLst>
            </p:cNvPr>
            <p:cNvSpPr txBox="1">
              <a:spLocks noChangeArrowheads="1"/>
            </p:cNvSpPr>
            <p:nvPr/>
          </p:nvSpPr>
          <p:spPr bwMode="auto">
            <a:xfrm>
              <a:off x="7216775" y="1251074"/>
              <a:ext cx="361950" cy="274638"/>
            </a:xfrm>
            <a:prstGeom prst="rect">
              <a:avLst/>
            </a:prstGeom>
            <a:noFill/>
            <a:ln>
              <a:noFill/>
            </a:ln>
            <a:effectLst/>
            <a:extLst>
              <a:ext uri="{909E8E84-426E-40DD-AFC4-6F175D3DCCD1}">
                <a14:hiddenFill xmlns:a14="http://schemas.microsoft.com/office/drawing/2010/main">
                  <a:solidFill>
                    <a:srgbClr val="99CCFF">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spcBef>
                  <a:spcPct val="50000"/>
                </a:spcBef>
              </a:pPr>
              <a:r>
                <a:rPr lang="en-US" altLang="ja-JP" sz="1200"/>
                <a:t>3)</a:t>
              </a:r>
            </a:p>
          </p:txBody>
        </p:sp>
        <p:sp>
          <p:nvSpPr>
            <p:cNvPr id="31" name="AutoShape 104">
              <a:extLst>
                <a:ext uri="{FF2B5EF4-FFF2-40B4-BE49-F238E27FC236}">
                  <a16:creationId xmlns:a16="http://schemas.microsoft.com/office/drawing/2014/main" id="{9506A264-4D4C-2CD0-6D3B-A5E528989264}"/>
                </a:ext>
              </a:extLst>
            </p:cNvPr>
            <p:cNvSpPr>
              <a:spLocks noChangeArrowheads="1"/>
            </p:cNvSpPr>
            <p:nvPr/>
          </p:nvSpPr>
          <p:spPr bwMode="auto">
            <a:xfrm>
              <a:off x="8069263" y="2020888"/>
              <a:ext cx="328612" cy="214312"/>
            </a:xfrm>
            <a:prstGeom prst="rightArrow">
              <a:avLst>
                <a:gd name="adj1" fmla="val 50000"/>
                <a:gd name="adj2" fmla="val 38333"/>
              </a:avLst>
            </a:prstGeom>
            <a:solidFill>
              <a:schemeClr val="accent2">
                <a:alpha val="50195"/>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endParaRPr lang="ja-JP" altLang="en-US"/>
            </a:p>
          </p:txBody>
        </p:sp>
        <p:sp>
          <p:nvSpPr>
            <p:cNvPr id="32" name="Oval 106">
              <a:extLst>
                <a:ext uri="{FF2B5EF4-FFF2-40B4-BE49-F238E27FC236}">
                  <a16:creationId xmlns:a16="http://schemas.microsoft.com/office/drawing/2014/main" id="{200BE904-BC57-15E8-7A3D-95E285427CC5}"/>
                </a:ext>
              </a:extLst>
            </p:cNvPr>
            <p:cNvSpPr>
              <a:spLocks noChangeArrowheads="1"/>
            </p:cNvSpPr>
            <p:nvPr/>
          </p:nvSpPr>
          <p:spPr bwMode="auto">
            <a:xfrm>
              <a:off x="8482013" y="1878137"/>
              <a:ext cx="831850" cy="379412"/>
            </a:xfrm>
            <a:prstGeom prst="ellipse">
              <a:avLst/>
            </a:prstGeom>
            <a:solidFill>
              <a:srgbClr val="FFFF00">
                <a:alpha val="50195"/>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b="0"/>
                <a:t>Execute</a:t>
              </a:r>
            </a:p>
          </p:txBody>
        </p:sp>
        <p:sp>
          <p:nvSpPr>
            <p:cNvPr id="58" name="AutoShape 28">
              <a:extLst>
                <a:ext uri="{FF2B5EF4-FFF2-40B4-BE49-F238E27FC236}">
                  <a16:creationId xmlns:a16="http://schemas.microsoft.com/office/drawing/2014/main" id="{D57D95AB-D91A-5CB9-989B-23599BF89401}"/>
                </a:ext>
              </a:extLst>
            </p:cNvPr>
            <p:cNvSpPr>
              <a:spLocks noChangeArrowheads="1"/>
            </p:cNvSpPr>
            <p:nvPr/>
          </p:nvSpPr>
          <p:spPr bwMode="auto">
            <a:xfrm>
              <a:off x="6542881" y="491314"/>
              <a:ext cx="1690688" cy="666750"/>
            </a:xfrm>
            <a:prstGeom prst="wedgeRoundRectCallout">
              <a:avLst>
                <a:gd name="adj1" fmla="val -44458"/>
                <a:gd name="adj2" fmla="val 155954"/>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r>
                <a:rPr lang="en-US" altLang="ja-JP" b="0" dirty="0" err="1"/>
                <a:t>Được</a:t>
              </a:r>
              <a:r>
                <a:rPr lang="en-US" altLang="ja-JP" b="0" dirty="0"/>
                <a:t> generate </a:t>
              </a:r>
              <a:r>
                <a:rPr lang="en-US" altLang="ja-JP" b="0" dirty="0" err="1"/>
                <a:t>làm</a:t>
              </a:r>
              <a:r>
                <a:rPr lang="en-US" altLang="ja-JP" b="0" dirty="0"/>
                <a:t> </a:t>
              </a:r>
              <a:r>
                <a:rPr lang="en-US" altLang="ja-JP" b="0" dirty="0" err="1"/>
                <a:t>ngôn</a:t>
              </a:r>
              <a:r>
                <a:rPr lang="en-US" altLang="ja-JP" b="0" dirty="0"/>
                <a:t> </a:t>
              </a:r>
              <a:r>
                <a:rPr lang="en-US" altLang="ja-JP" b="0" dirty="0" err="1"/>
                <a:t>ngữ</a:t>
              </a:r>
              <a:r>
                <a:rPr lang="en-US" altLang="ja-JP" b="0" dirty="0"/>
                <a:t> </a:t>
              </a:r>
              <a:r>
                <a:rPr lang="en-US" altLang="ja-JP" b="0" dirty="0" err="1"/>
                <a:t>trung</a:t>
              </a:r>
              <a:r>
                <a:rPr lang="en-US" altLang="ja-JP" b="0" dirty="0"/>
                <a:t> </a:t>
              </a:r>
              <a:r>
                <a:rPr lang="en-US" altLang="ja-JP" b="0" dirty="0" err="1"/>
                <a:t>gian</a:t>
              </a:r>
              <a:r>
                <a:rPr lang="en-US" altLang="ja-JP" b="0" dirty="0"/>
                <a:t> </a:t>
              </a:r>
              <a:r>
                <a:rPr lang="en-US" altLang="ja-JP" b="0" dirty="0" err="1"/>
                <a:t>không</a:t>
              </a:r>
              <a:r>
                <a:rPr lang="en-US" altLang="ja-JP" b="0" dirty="0"/>
                <a:t> </a:t>
              </a:r>
              <a:r>
                <a:rPr lang="en-US" altLang="ja-JP" b="0" dirty="0" err="1"/>
                <a:t>phụ</a:t>
              </a:r>
              <a:r>
                <a:rPr lang="en-US" altLang="ja-JP" b="0" dirty="0"/>
                <a:t> </a:t>
              </a:r>
              <a:r>
                <a:rPr lang="en-US" altLang="ja-JP" b="0" dirty="0" err="1"/>
                <a:t>thuộc</a:t>
              </a:r>
              <a:r>
                <a:rPr lang="en-US" altLang="ja-JP" b="0" dirty="0"/>
                <a:t> </a:t>
              </a:r>
              <a:r>
                <a:rPr lang="en-US" altLang="ja-JP" b="0" dirty="0" err="1"/>
                <a:t>vào</a:t>
              </a:r>
              <a:r>
                <a:rPr lang="en-US" altLang="ja-JP" b="0" dirty="0"/>
                <a:t> platform.</a:t>
              </a:r>
            </a:p>
          </p:txBody>
        </p:sp>
        <p:sp>
          <p:nvSpPr>
            <p:cNvPr id="60" name="AutoShape 27">
              <a:extLst>
                <a:ext uri="{FF2B5EF4-FFF2-40B4-BE49-F238E27FC236}">
                  <a16:creationId xmlns:a16="http://schemas.microsoft.com/office/drawing/2014/main" id="{FB354C0A-0D93-17A2-C8AB-EB7BA8AAA6EE}"/>
                </a:ext>
              </a:extLst>
            </p:cNvPr>
            <p:cNvSpPr>
              <a:spLocks noChangeArrowheads="1"/>
            </p:cNvSpPr>
            <p:nvPr/>
          </p:nvSpPr>
          <p:spPr bwMode="auto">
            <a:xfrm>
              <a:off x="4500562" y="517863"/>
              <a:ext cx="1881188" cy="590550"/>
            </a:xfrm>
            <a:prstGeom prst="wedgeRoundRectCallout">
              <a:avLst>
                <a:gd name="adj1" fmla="val -38606"/>
                <a:gd name="adj2" fmla="val 164245"/>
                <a:gd name="adj3" fmla="val 16667"/>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10" tIns="45704" rIns="91410" bIns="45704"/>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r>
                <a:rPr lang="en-US" altLang="ja-JP" b="0" dirty="0" err="1"/>
                <a:t>Tạo</a:t>
              </a:r>
              <a:r>
                <a:rPr lang="en-US" altLang="ja-JP" b="0" dirty="0"/>
                <a:t> </a:t>
              </a:r>
              <a:r>
                <a:rPr lang="en-US" altLang="ja-JP" b="0" dirty="0" err="1"/>
                <a:t>bằng</a:t>
              </a:r>
              <a:r>
                <a:rPr lang="en-US" altLang="ja-JP" b="0" dirty="0"/>
                <a:t> </a:t>
              </a:r>
              <a:r>
                <a:rPr lang="en-US" altLang="ja-JP" b="0" dirty="0" err="1"/>
                <a:t>phương</a:t>
              </a:r>
              <a:r>
                <a:rPr lang="en-US" altLang="ja-JP" b="0" dirty="0"/>
                <a:t> </a:t>
              </a:r>
              <a:r>
                <a:rPr lang="en-US" altLang="ja-JP" b="0" dirty="0" err="1"/>
                <a:t>pháp</a:t>
              </a:r>
              <a:r>
                <a:rPr lang="en-US" altLang="ja-JP" b="0" dirty="0"/>
                <a:t> </a:t>
              </a:r>
              <a:r>
                <a:rPr lang="en-US" altLang="ja-JP" b="0" dirty="0" err="1"/>
                <a:t>chung</a:t>
              </a:r>
              <a:r>
                <a:rPr lang="en-US" altLang="ja-JP" b="0" dirty="0"/>
                <a:t> </a:t>
              </a:r>
              <a:r>
                <a:rPr lang="en-US" altLang="ja-JP" b="0" dirty="0" err="1"/>
                <a:t>không</a:t>
              </a:r>
              <a:r>
                <a:rPr lang="en-US" altLang="ja-JP" b="0" dirty="0"/>
                <a:t> </a:t>
              </a:r>
              <a:r>
                <a:rPr lang="en-US" altLang="ja-JP" b="0" dirty="0" err="1"/>
                <a:t>phụ</a:t>
              </a:r>
              <a:r>
                <a:rPr lang="en-US" altLang="ja-JP" b="0" dirty="0"/>
                <a:t> </a:t>
              </a:r>
              <a:r>
                <a:rPr lang="en-US" altLang="ja-JP" b="0" dirty="0" err="1"/>
                <a:t>thuộc</a:t>
              </a:r>
              <a:r>
                <a:rPr lang="en-US" altLang="ja-JP" b="0" dirty="0"/>
                <a:t> </a:t>
              </a:r>
              <a:r>
                <a:rPr lang="en-US" altLang="ja-JP" b="0" dirty="0" err="1"/>
                <a:t>vào</a:t>
              </a:r>
              <a:r>
                <a:rPr lang="en-US" altLang="ja-JP" b="0" dirty="0"/>
                <a:t> platform</a:t>
              </a:r>
            </a:p>
          </p:txBody>
        </p:sp>
      </p:grpSp>
    </p:spTree>
    <p:extLst>
      <p:ext uri="{BB962C8B-B14F-4D97-AF65-F5344CB8AC3E}">
        <p14:creationId xmlns:p14="http://schemas.microsoft.com/office/powerpoint/2010/main" val="1405982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6396C-50D3-F747-66D5-F2DF41BDA133}"/>
              </a:ext>
            </a:extLst>
          </p:cNvPr>
          <p:cNvSpPr>
            <a:spLocks noGrp="1"/>
          </p:cNvSpPr>
          <p:nvPr>
            <p:ph type="title"/>
          </p:nvPr>
        </p:nvSpPr>
        <p:spPr/>
        <p:txBody>
          <a:bodyPr>
            <a:normAutofit fontScale="90000"/>
          </a:bodyPr>
          <a:lstStyle/>
          <a:p>
            <a:r>
              <a:rPr lang="en-US" altLang="ja-JP" dirty="0" err="1">
                <a:latin typeface="Times New Roman" panose="02020603050405020304" pitchFamily="18" charset="0"/>
                <a:ea typeface="MS UI Gothic" panose="020B0600070205080204" pitchFamily="50" charset="-128"/>
              </a:rPr>
              <a:t>Tạo</a:t>
            </a:r>
            <a:r>
              <a:rPr lang="en-US" altLang="ja-JP" dirty="0">
                <a:latin typeface="Times New Roman" panose="02020603050405020304" pitchFamily="18" charset="0"/>
                <a:ea typeface="MS UI Gothic" panose="020B0600070205080204" pitchFamily="50" charset="-128"/>
              </a:rPr>
              <a:t> source program</a:t>
            </a:r>
            <a:endParaRPr kumimoji="1" lang="ja-JP" altLang="en-US" dirty="0"/>
          </a:p>
        </p:txBody>
      </p:sp>
      <p:sp>
        <p:nvSpPr>
          <p:cNvPr id="3" name="Content Placeholder 2">
            <a:extLst>
              <a:ext uri="{FF2B5EF4-FFF2-40B4-BE49-F238E27FC236}">
                <a16:creationId xmlns:a16="http://schemas.microsoft.com/office/drawing/2014/main" id="{5D12AB71-878C-224C-C8B2-AC920C61A1B3}"/>
              </a:ext>
            </a:extLst>
          </p:cNvPr>
          <p:cNvSpPr>
            <a:spLocks noGrp="1"/>
          </p:cNvSpPr>
          <p:nvPr>
            <p:ph idx="1"/>
          </p:nvPr>
        </p:nvSpPr>
        <p:spPr/>
        <p:txBody>
          <a:bodyPr/>
          <a:lstStyle/>
          <a:p>
            <a:endParaRPr kumimoji="1" lang="ja-JP" altLang="en-US"/>
          </a:p>
        </p:txBody>
      </p:sp>
      <p:sp>
        <p:nvSpPr>
          <p:cNvPr id="4" name="Slide Number Placeholder 3">
            <a:extLst>
              <a:ext uri="{FF2B5EF4-FFF2-40B4-BE49-F238E27FC236}">
                <a16:creationId xmlns:a16="http://schemas.microsoft.com/office/drawing/2014/main" id="{CC538861-221D-3E88-965E-2857A93EA659}"/>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15</a:t>
            </a:fld>
            <a:endParaRPr lang="en-US" altLang="ja-JP"/>
          </a:p>
        </p:txBody>
      </p:sp>
      <p:sp>
        <p:nvSpPr>
          <p:cNvPr id="5" name="Rectangle 2">
            <a:extLst>
              <a:ext uri="{FF2B5EF4-FFF2-40B4-BE49-F238E27FC236}">
                <a16:creationId xmlns:a16="http://schemas.microsoft.com/office/drawing/2014/main" id="{6BFDA1D4-8D33-E2EE-0933-9FD724070A6D}"/>
              </a:ext>
            </a:extLst>
          </p:cNvPr>
          <p:cNvSpPr txBox="1">
            <a:spLocks noChangeArrowheads="1"/>
          </p:cNvSpPr>
          <p:nvPr/>
        </p:nvSpPr>
        <p:spPr bwMode="auto">
          <a:xfrm>
            <a:off x="344488" y="1250950"/>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endParaRPr lang="en-US" altLang="ja-JP" b="0" kern="0" dirty="0">
              <a:latin typeface="Times New Roman" panose="02020603050405020304" pitchFamily="18" charset="0"/>
            </a:endParaRPr>
          </a:p>
        </p:txBody>
      </p:sp>
      <p:sp>
        <p:nvSpPr>
          <p:cNvPr id="6" name="Rectangle 4">
            <a:extLst>
              <a:ext uri="{FF2B5EF4-FFF2-40B4-BE49-F238E27FC236}">
                <a16:creationId xmlns:a16="http://schemas.microsoft.com/office/drawing/2014/main" id="{D5D378A1-8A6D-A9CD-10C5-257D8DF0D515}"/>
              </a:ext>
            </a:extLst>
          </p:cNvPr>
          <p:cNvSpPr>
            <a:spLocks noChangeArrowheads="1"/>
          </p:cNvSpPr>
          <p:nvPr/>
        </p:nvSpPr>
        <p:spPr bwMode="auto">
          <a:xfrm>
            <a:off x="344488" y="1916112"/>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eaLnBrk="1" hangingPunct="1"/>
            <a:r>
              <a:rPr lang="en-US" altLang="ja-JP" sz="2400" b="0">
                <a:latin typeface="Times New Roman" panose="02020603050405020304" pitchFamily="18" charset="0"/>
              </a:rPr>
              <a:t>Trình tự tạo source program</a:t>
            </a:r>
          </a:p>
          <a:p>
            <a:pPr lvl="1" eaLnBrk="1" hangingPunct="1"/>
            <a:endParaRPr lang="en-US" altLang="ja-JP" sz="2400" b="0">
              <a:latin typeface="Times New Roman" panose="02020603050405020304" pitchFamily="18" charset="0"/>
            </a:endParaRPr>
          </a:p>
        </p:txBody>
      </p:sp>
      <p:sp>
        <p:nvSpPr>
          <p:cNvPr id="7" name="Text Box 6">
            <a:extLst>
              <a:ext uri="{FF2B5EF4-FFF2-40B4-BE49-F238E27FC236}">
                <a16:creationId xmlns:a16="http://schemas.microsoft.com/office/drawing/2014/main" id="{A4B61478-34B8-A3EF-5CCF-994122896099}"/>
              </a:ext>
            </a:extLst>
          </p:cNvPr>
          <p:cNvSpPr txBox="1">
            <a:spLocks noChangeArrowheads="1"/>
          </p:cNvSpPr>
          <p:nvPr/>
        </p:nvSpPr>
        <p:spPr bwMode="auto">
          <a:xfrm>
            <a:off x="344488" y="2474912"/>
            <a:ext cx="9120187"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ja-JP" altLang="en-US" sz="2000">
                <a:latin typeface="Times New Roman" panose="02020603050405020304" pitchFamily="18" charset="0"/>
              </a:rPr>
              <a:t>　</a:t>
            </a:r>
            <a:r>
              <a:rPr lang="en-US" altLang="ja-JP" sz="2000">
                <a:latin typeface="Times New Roman" panose="02020603050405020304" pitchFamily="18" charset="0"/>
              </a:rPr>
              <a:t>1)</a:t>
            </a:r>
            <a:r>
              <a:rPr lang="ja-JP" altLang="en-US" sz="2000">
                <a:latin typeface="Times New Roman" panose="02020603050405020304" pitchFamily="18" charset="0"/>
              </a:rPr>
              <a:t>　</a:t>
            </a:r>
            <a:r>
              <a:rPr lang="en-US" altLang="ja-JP" sz="2000">
                <a:latin typeface="Times New Roman" panose="02020603050405020304" pitchFamily="18" charset="0"/>
              </a:rPr>
              <a:t>Khởi động text editor</a:t>
            </a:r>
          </a:p>
        </p:txBody>
      </p:sp>
      <p:sp>
        <p:nvSpPr>
          <p:cNvPr id="8" name="Text Box 7">
            <a:extLst>
              <a:ext uri="{FF2B5EF4-FFF2-40B4-BE49-F238E27FC236}">
                <a16:creationId xmlns:a16="http://schemas.microsoft.com/office/drawing/2014/main" id="{08C804DA-99B4-EC7E-C7A1-58FCE905B374}"/>
              </a:ext>
            </a:extLst>
          </p:cNvPr>
          <p:cNvSpPr txBox="1">
            <a:spLocks noChangeArrowheads="1"/>
          </p:cNvSpPr>
          <p:nvPr/>
        </p:nvSpPr>
        <p:spPr bwMode="auto">
          <a:xfrm>
            <a:off x="344488" y="3582987"/>
            <a:ext cx="9120187"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ja-JP" altLang="en-US" sz="2000">
                <a:latin typeface="Times New Roman" panose="02020603050405020304" pitchFamily="18" charset="0"/>
              </a:rPr>
              <a:t>　</a:t>
            </a:r>
            <a:r>
              <a:rPr lang="en-US" altLang="ja-JP" sz="2000">
                <a:latin typeface="Times New Roman" panose="02020603050405020304" pitchFamily="18" charset="0"/>
              </a:rPr>
              <a:t>2)</a:t>
            </a:r>
            <a:r>
              <a:rPr lang="ja-JP" altLang="en-US" sz="2000">
                <a:latin typeface="Times New Roman" panose="02020603050405020304" pitchFamily="18" charset="0"/>
              </a:rPr>
              <a:t>　</a:t>
            </a:r>
            <a:r>
              <a:rPr lang="en-US" altLang="ja-JP" sz="2000">
                <a:latin typeface="Times New Roman" panose="02020603050405020304" pitchFamily="18" charset="0"/>
              </a:rPr>
              <a:t>Input program</a:t>
            </a:r>
          </a:p>
        </p:txBody>
      </p:sp>
      <p:sp>
        <p:nvSpPr>
          <p:cNvPr id="9" name="Text Box 9">
            <a:extLst>
              <a:ext uri="{FF2B5EF4-FFF2-40B4-BE49-F238E27FC236}">
                <a16:creationId xmlns:a16="http://schemas.microsoft.com/office/drawing/2014/main" id="{CEC78C53-5A1D-B8BC-97BA-D7D85EC15928}"/>
              </a:ext>
            </a:extLst>
          </p:cNvPr>
          <p:cNvSpPr txBox="1">
            <a:spLocks noChangeArrowheads="1"/>
          </p:cNvSpPr>
          <p:nvPr/>
        </p:nvSpPr>
        <p:spPr bwMode="auto">
          <a:xfrm>
            <a:off x="344488" y="4937125"/>
            <a:ext cx="9120187"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ja-JP" altLang="en-US" sz="2000">
                <a:latin typeface="Times New Roman" panose="02020603050405020304" pitchFamily="18" charset="0"/>
              </a:rPr>
              <a:t>　</a:t>
            </a:r>
            <a:r>
              <a:rPr lang="en-US" altLang="ja-JP" sz="2000">
                <a:latin typeface="Times New Roman" panose="02020603050405020304" pitchFamily="18" charset="0"/>
              </a:rPr>
              <a:t>3)</a:t>
            </a:r>
            <a:r>
              <a:rPr lang="ja-JP" altLang="en-US" sz="2000">
                <a:latin typeface="Times New Roman" panose="02020603050405020304" pitchFamily="18" charset="0"/>
              </a:rPr>
              <a:t>　</a:t>
            </a:r>
            <a:r>
              <a:rPr lang="en-US" altLang="ja-JP" sz="2000">
                <a:latin typeface="Times New Roman" panose="02020603050405020304" pitchFamily="18" charset="0"/>
              </a:rPr>
              <a:t>Đặt tên là </a:t>
            </a:r>
            <a:r>
              <a:rPr lang="ja-JP" altLang="en-US" sz="2000">
                <a:latin typeface="Times New Roman" panose="02020603050405020304" pitchFamily="18" charset="0"/>
              </a:rPr>
              <a:t>「</a:t>
            </a:r>
            <a:r>
              <a:rPr lang="en-US" altLang="ja-JP" sz="2000">
                <a:latin typeface="Times New Roman" panose="02020603050405020304" pitchFamily="18" charset="0"/>
              </a:rPr>
              <a:t>class name</a:t>
            </a:r>
            <a:r>
              <a:rPr lang="en-US" altLang="ja-JP" sz="2000">
                <a:latin typeface="Times New Roman" panose="02020603050405020304" pitchFamily="18" charset="0"/>
                <a:ea typeface="ＭＳ ゴシック" panose="020B0609070205080204" pitchFamily="49" charset="-128"/>
              </a:rPr>
              <a:t>.java</a:t>
            </a:r>
            <a:r>
              <a:rPr lang="ja-JP" altLang="en-US" sz="2000">
                <a:latin typeface="Times New Roman" panose="02020603050405020304" pitchFamily="18" charset="0"/>
              </a:rPr>
              <a:t>」 </a:t>
            </a:r>
            <a:r>
              <a:rPr lang="en-US" altLang="ja-JP" sz="2000">
                <a:latin typeface="Times New Roman" panose="02020603050405020304" pitchFamily="18" charset="0"/>
              </a:rPr>
              <a:t>rồi save.</a:t>
            </a:r>
          </a:p>
        </p:txBody>
      </p:sp>
      <p:sp>
        <p:nvSpPr>
          <p:cNvPr id="10" name="AutoShape 12">
            <a:extLst>
              <a:ext uri="{FF2B5EF4-FFF2-40B4-BE49-F238E27FC236}">
                <a16:creationId xmlns:a16="http://schemas.microsoft.com/office/drawing/2014/main" id="{C7E572B2-E94C-8B08-705F-55617FE91837}"/>
              </a:ext>
            </a:extLst>
          </p:cNvPr>
          <p:cNvSpPr>
            <a:spLocks noChangeArrowheads="1"/>
          </p:cNvSpPr>
          <p:nvPr/>
        </p:nvSpPr>
        <p:spPr bwMode="auto">
          <a:xfrm>
            <a:off x="3870325" y="3030537"/>
            <a:ext cx="4300538" cy="779463"/>
          </a:xfrm>
          <a:prstGeom prst="wedgeRoundRectCallout">
            <a:avLst>
              <a:gd name="adj1" fmla="val -59597"/>
              <a:gd name="adj2" fmla="val 49593"/>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eaLnBrk="1" hangingPunct="1"/>
            <a:r>
              <a:rPr lang="en-US" altLang="ja-JP" sz="1800">
                <a:latin typeface="Times New Roman" panose="02020603050405020304" pitchFamily="18" charset="0"/>
              </a:rPr>
              <a:t>Nội dung input tham khảo trong phần </a:t>
            </a:r>
            <a:r>
              <a:rPr lang="ja-JP" altLang="en-US" sz="1800">
                <a:latin typeface="Times New Roman" panose="02020603050405020304" pitchFamily="18" charset="0"/>
              </a:rPr>
              <a:t>「</a:t>
            </a:r>
            <a:r>
              <a:rPr lang="en-US" altLang="ja-JP" sz="1800">
                <a:latin typeface="Times New Roman" panose="02020603050405020304" pitchFamily="18" charset="0"/>
              </a:rPr>
              <a:t>2.2 Tạo application đơn giản</a:t>
            </a:r>
            <a:r>
              <a:rPr lang="ja-JP" altLang="en-US" sz="1800">
                <a:latin typeface="Times New Roman" panose="02020603050405020304" pitchFamily="18" charset="0"/>
              </a:rPr>
              <a:t>」</a:t>
            </a:r>
          </a:p>
        </p:txBody>
      </p:sp>
      <p:sp>
        <p:nvSpPr>
          <p:cNvPr id="11" name="AutoShape 13">
            <a:extLst>
              <a:ext uri="{FF2B5EF4-FFF2-40B4-BE49-F238E27FC236}">
                <a16:creationId xmlns:a16="http://schemas.microsoft.com/office/drawing/2014/main" id="{1F0C3796-0AB7-07E2-D403-96BDB9BEB4C8}"/>
              </a:ext>
            </a:extLst>
          </p:cNvPr>
          <p:cNvSpPr>
            <a:spLocks noChangeArrowheads="1"/>
          </p:cNvSpPr>
          <p:nvPr/>
        </p:nvSpPr>
        <p:spPr bwMode="auto">
          <a:xfrm>
            <a:off x="847725" y="4240212"/>
            <a:ext cx="2284413" cy="481013"/>
          </a:xfrm>
          <a:prstGeom prst="wedgeRoundRectCallout">
            <a:avLst>
              <a:gd name="adj1" fmla="val -4968"/>
              <a:gd name="adj2" fmla="val 106764"/>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ja-JP" altLang="en-US" sz="1800">
                <a:latin typeface="Times New Roman" panose="02020603050405020304" pitchFamily="18" charset="0"/>
              </a:rPr>
              <a:t>「</a:t>
            </a:r>
            <a:r>
              <a:rPr lang="en-US" altLang="ja-JP" sz="1800">
                <a:latin typeface="Times New Roman" panose="02020603050405020304" pitchFamily="18" charset="0"/>
              </a:rPr>
              <a:t>HelloWorld. java</a:t>
            </a:r>
            <a:r>
              <a:rPr lang="ja-JP" altLang="en-US" sz="1800">
                <a:latin typeface="Times New Roman" panose="02020603050405020304" pitchFamily="18" charset="0"/>
              </a:rPr>
              <a:t>」</a:t>
            </a:r>
          </a:p>
        </p:txBody>
      </p:sp>
    </p:spTree>
    <p:extLst>
      <p:ext uri="{BB962C8B-B14F-4D97-AF65-F5344CB8AC3E}">
        <p14:creationId xmlns:p14="http://schemas.microsoft.com/office/powerpoint/2010/main" val="502332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AE0C-DA91-25E9-E721-73285DA63E1C}"/>
              </a:ext>
            </a:extLst>
          </p:cNvPr>
          <p:cNvSpPr>
            <a:spLocks noGrp="1"/>
          </p:cNvSpPr>
          <p:nvPr>
            <p:ph type="title"/>
          </p:nvPr>
        </p:nvSpPr>
        <p:spPr/>
        <p:txBody>
          <a:bodyPr>
            <a:normAutofit fontScale="90000"/>
          </a:bodyPr>
          <a:lstStyle/>
          <a:p>
            <a:r>
              <a:rPr lang="en-US" altLang="ja-JP" dirty="0" err="1">
                <a:latin typeface="Times New Roman" panose="02020603050405020304" pitchFamily="18" charset="0"/>
                <a:ea typeface="MS UI Gothic" panose="020B0600070205080204" pitchFamily="50" charset="-128"/>
              </a:rPr>
              <a:t>Tạo</a:t>
            </a:r>
            <a:r>
              <a:rPr lang="en-US" altLang="ja-JP" dirty="0">
                <a:latin typeface="Times New Roman" panose="02020603050405020304" pitchFamily="18" charset="0"/>
                <a:ea typeface="MS UI Gothic" panose="020B0600070205080204" pitchFamily="50" charset="-128"/>
              </a:rPr>
              <a:t> program </a:t>
            </a:r>
            <a:r>
              <a:rPr lang="en-US" altLang="ja-JP" dirty="0" err="1">
                <a:latin typeface="Times New Roman" panose="02020603050405020304" pitchFamily="18" charset="0"/>
                <a:ea typeface="MS UI Gothic" panose="020B0600070205080204" pitchFamily="50" charset="-128"/>
              </a:rPr>
              <a:t>đơn</a:t>
            </a:r>
            <a:r>
              <a:rPr lang="en-US" altLang="ja-JP" dirty="0">
                <a:latin typeface="Times New Roman" panose="02020603050405020304" pitchFamily="18" charset="0"/>
                <a:ea typeface="MS UI Gothic" panose="020B0600070205080204" pitchFamily="50" charset="-128"/>
              </a:rPr>
              <a:t> </a:t>
            </a:r>
            <a:r>
              <a:rPr lang="en-US" altLang="ja-JP" dirty="0" err="1">
                <a:latin typeface="Times New Roman" panose="02020603050405020304" pitchFamily="18" charset="0"/>
                <a:ea typeface="MS UI Gothic" panose="020B0600070205080204" pitchFamily="50" charset="-128"/>
              </a:rPr>
              <a:t>giản</a:t>
            </a:r>
            <a:endParaRPr kumimoji="1" lang="ja-JP" altLang="en-US" dirty="0"/>
          </a:p>
        </p:txBody>
      </p:sp>
      <p:sp>
        <p:nvSpPr>
          <p:cNvPr id="4" name="Slide Number Placeholder 3">
            <a:extLst>
              <a:ext uri="{FF2B5EF4-FFF2-40B4-BE49-F238E27FC236}">
                <a16:creationId xmlns:a16="http://schemas.microsoft.com/office/drawing/2014/main" id="{E714ABAC-B094-49D7-0E0B-B1DB159BAC09}"/>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16</a:t>
            </a:fld>
            <a:endParaRPr lang="en-US" altLang="ja-JP"/>
          </a:p>
        </p:txBody>
      </p:sp>
      <p:sp>
        <p:nvSpPr>
          <p:cNvPr id="5" name="Slide Number Placeholder 4">
            <a:extLst>
              <a:ext uri="{FF2B5EF4-FFF2-40B4-BE49-F238E27FC236}">
                <a16:creationId xmlns:a16="http://schemas.microsoft.com/office/drawing/2014/main" id="{8FA1361B-29BC-63C6-A6A7-7BF576E7BD21}"/>
              </a:ext>
            </a:extLst>
          </p:cNvPr>
          <p:cNvSpPr txBox="1">
            <a:spLocks/>
          </p:cNvSpPr>
          <p:nvPr/>
        </p:nvSpPr>
        <p:spPr>
          <a:xfrm>
            <a:off x="7616825" y="6381750"/>
            <a:ext cx="2133600" cy="476250"/>
          </a:xfrm>
          <a:prstGeom prst="rect">
            <a:avLst/>
          </a:prstGeom>
        </p:spPr>
        <p:txBody>
          <a:bodyPr anchor="ctr"/>
          <a:lstStyle>
            <a:defPPr>
              <a:defRPr lang="ja-JP"/>
            </a:defPPr>
            <a:lvl1pPr algn="l" rtl="0" eaLnBrk="0" fontAlgn="base" hangingPunct="0">
              <a:spcBef>
                <a:spcPct val="0"/>
              </a:spcBef>
              <a:spcAft>
                <a:spcPct val="0"/>
              </a:spcAft>
              <a:defRPr kumimoji="1" sz="105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a:lstStyle>
          <a:p>
            <a:pPr>
              <a:defRPr/>
            </a:pPr>
            <a:fld id="{9DE1E46D-4E33-45E5-9283-E01678CCEC9E}" type="slidenum">
              <a:rPr lang="en-US" altLang="ja-JP" smtClean="0"/>
              <a:pPr>
                <a:defRPr/>
              </a:pPr>
              <a:t>16</a:t>
            </a:fld>
            <a:endParaRPr lang="en-US" altLang="ja-JP"/>
          </a:p>
        </p:txBody>
      </p:sp>
      <p:sp>
        <p:nvSpPr>
          <p:cNvPr id="6" name="Rectangle 4">
            <a:extLst>
              <a:ext uri="{FF2B5EF4-FFF2-40B4-BE49-F238E27FC236}">
                <a16:creationId xmlns:a16="http://schemas.microsoft.com/office/drawing/2014/main" id="{B4083A6A-85EB-E865-682E-6F33176957E4}"/>
              </a:ext>
            </a:extLst>
          </p:cNvPr>
          <p:cNvSpPr>
            <a:spLocks noChangeArrowheads="1"/>
          </p:cNvSpPr>
          <p:nvPr/>
        </p:nvSpPr>
        <p:spPr bwMode="auto">
          <a:xfrm>
            <a:off x="348575" y="889738"/>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449263" indent="-265113">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eaLnBrk="1" hangingPunct="1"/>
            <a:r>
              <a:rPr lang="en-US" altLang="ja-JP" sz="2400" b="0" dirty="0">
                <a:latin typeface="Times New Roman" panose="02020603050405020304" pitchFamily="18" charset="0"/>
              </a:rPr>
              <a:t>Program </a:t>
            </a:r>
            <a:r>
              <a:rPr lang="en-US" altLang="ja-JP" sz="2400" b="0" dirty="0" err="1">
                <a:latin typeface="Times New Roman" panose="02020603050405020304" pitchFamily="18" charset="0"/>
              </a:rPr>
              <a:t>sẽ</a:t>
            </a:r>
            <a:r>
              <a:rPr lang="en-US" altLang="ja-JP" sz="2400" b="0" dirty="0">
                <a:latin typeface="Times New Roman" panose="02020603050405020304" pitchFamily="18" charset="0"/>
              </a:rPr>
              <a:t> </a:t>
            </a:r>
            <a:r>
              <a:rPr lang="en-US" altLang="ja-JP" sz="2400" b="0" dirty="0" err="1">
                <a:latin typeface="Times New Roman" panose="02020603050405020304" pitchFamily="18" charset="0"/>
              </a:rPr>
              <a:t>tạo</a:t>
            </a:r>
            <a:r>
              <a:rPr lang="en-US" altLang="ja-JP" sz="2400" b="0" dirty="0">
                <a:latin typeface="Times New Roman" panose="02020603050405020304" pitchFamily="18" charset="0"/>
              </a:rPr>
              <a:t> (</a:t>
            </a:r>
            <a:r>
              <a:rPr lang="en-US" altLang="ja-JP" sz="1800" b="0" dirty="0">
                <a:latin typeface="Times New Roman" panose="02020603050405020304" pitchFamily="18" charset="0"/>
              </a:rPr>
              <a:t>HelloWorld. java</a:t>
            </a:r>
            <a:r>
              <a:rPr lang="en-US" altLang="ja-JP" sz="2400" b="0" dirty="0">
                <a:latin typeface="Times New Roman" panose="02020603050405020304" pitchFamily="18" charset="0"/>
              </a:rPr>
              <a:t>)</a:t>
            </a:r>
          </a:p>
          <a:p>
            <a:pPr eaLnBrk="1" hangingPunct="1"/>
            <a:endParaRPr lang="en-US" altLang="ja-JP" sz="2400" b="0" dirty="0">
              <a:latin typeface="Times New Roman" panose="02020603050405020304" pitchFamily="18" charset="0"/>
            </a:endParaRPr>
          </a:p>
          <a:p>
            <a:pPr eaLnBrk="1" hangingPunct="1"/>
            <a:endParaRPr lang="en-US" altLang="ja-JP" sz="2400" b="0" dirty="0">
              <a:latin typeface="Times New Roman" panose="02020603050405020304" pitchFamily="18" charset="0"/>
            </a:endParaRPr>
          </a:p>
          <a:p>
            <a:pPr eaLnBrk="1" hangingPunct="1"/>
            <a:endParaRPr lang="en-US" altLang="ja-JP" sz="2400" b="0" dirty="0">
              <a:latin typeface="Times New Roman" panose="02020603050405020304" pitchFamily="18" charset="0"/>
            </a:endParaRPr>
          </a:p>
          <a:p>
            <a:pPr eaLnBrk="1" hangingPunct="1"/>
            <a:endParaRPr lang="en-US" altLang="ja-JP" sz="2400" b="0" dirty="0">
              <a:latin typeface="Times New Roman" panose="02020603050405020304" pitchFamily="18" charset="0"/>
            </a:endParaRPr>
          </a:p>
          <a:p>
            <a:pPr eaLnBrk="1" hangingPunct="1"/>
            <a:endParaRPr lang="en-US" altLang="ja-JP" sz="2400" b="0" dirty="0">
              <a:latin typeface="Times New Roman" panose="02020603050405020304" pitchFamily="18" charset="0"/>
            </a:endParaRPr>
          </a:p>
          <a:p>
            <a:pPr eaLnBrk="1" hangingPunct="1"/>
            <a:endParaRPr lang="en-US" altLang="ja-JP" sz="2400" b="0" dirty="0">
              <a:latin typeface="Times New Roman" panose="02020603050405020304" pitchFamily="18" charset="0"/>
            </a:endParaRPr>
          </a:p>
          <a:p>
            <a:pPr eaLnBrk="1" hangingPunct="1"/>
            <a:r>
              <a:rPr lang="en-US" altLang="ja-JP" sz="2400" b="0" dirty="0" err="1">
                <a:latin typeface="Times New Roman" panose="02020603050405020304" pitchFamily="18" charset="0"/>
              </a:rPr>
              <a:t>Chú</a:t>
            </a:r>
            <a:r>
              <a:rPr lang="en-US" altLang="ja-JP" sz="2400" b="0" dirty="0">
                <a:latin typeface="Times New Roman" panose="02020603050405020304" pitchFamily="18" charset="0"/>
              </a:rPr>
              <a:t> ý </a:t>
            </a:r>
            <a:r>
              <a:rPr lang="en-US" altLang="ja-JP" sz="2400" b="0" dirty="0" err="1">
                <a:latin typeface="Times New Roman" panose="02020603050405020304" pitchFamily="18" charset="0"/>
              </a:rPr>
              <a:t>khi</a:t>
            </a:r>
            <a:r>
              <a:rPr lang="en-US" altLang="ja-JP" sz="2400" b="0" dirty="0">
                <a:latin typeface="Times New Roman" panose="02020603050405020304" pitchFamily="18" charset="0"/>
              </a:rPr>
              <a:t> </a:t>
            </a:r>
            <a:r>
              <a:rPr lang="en-US" altLang="ja-JP" sz="2400" b="0" dirty="0" err="1">
                <a:latin typeface="Times New Roman" panose="02020603050405020304" pitchFamily="18" charset="0"/>
              </a:rPr>
              <a:t>tạo</a:t>
            </a:r>
            <a:endParaRPr lang="en-US" altLang="ja-JP" sz="2400" b="0" dirty="0">
              <a:latin typeface="Times New Roman" panose="02020603050405020304" pitchFamily="18" charset="0"/>
            </a:endParaRPr>
          </a:p>
        </p:txBody>
      </p:sp>
      <p:sp>
        <p:nvSpPr>
          <p:cNvPr id="7" name="Text Box 20">
            <a:extLst>
              <a:ext uri="{FF2B5EF4-FFF2-40B4-BE49-F238E27FC236}">
                <a16:creationId xmlns:a16="http://schemas.microsoft.com/office/drawing/2014/main" id="{8EBFC0BF-81F5-12D0-2538-795C0600A507}"/>
              </a:ext>
            </a:extLst>
          </p:cNvPr>
          <p:cNvSpPr txBox="1">
            <a:spLocks noChangeArrowheads="1"/>
          </p:cNvSpPr>
          <p:nvPr/>
        </p:nvSpPr>
        <p:spPr bwMode="auto">
          <a:xfrm>
            <a:off x="363538" y="5438775"/>
            <a:ext cx="9120187"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ja-JP" altLang="en-US" sz="2000">
                <a:latin typeface="Times New Roman" panose="02020603050405020304" pitchFamily="18" charset="0"/>
              </a:rPr>
              <a:t>　</a:t>
            </a:r>
            <a:r>
              <a:rPr lang="en-US" altLang="ja-JP" sz="2000">
                <a:latin typeface="Times New Roman" panose="02020603050405020304" pitchFamily="18" charset="0"/>
              </a:rPr>
              <a:t>Cũng có thể tự do ngắt dòng</a:t>
            </a:r>
          </a:p>
        </p:txBody>
      </p:sp>
      <p:sp>
        <p:nvSpPr>
          <p:cNvPr id="9" name="Text Box 17">
            <a:extLst>
              <a:ext uri="{FF2B5EF4-FFF2-40B4-BE49-F238E27FC236}">
                <a16:creationId xmlns:a16="http://schemas.microsoft.com/office/drawing/2014/main" id="{51EDC29C-DA2F-9698-28F8-BF0F9343FCB4}"/>
              </a:ext>
            </a:extLst>
          </p:cNvPr>
          <p:cNvSpPr txBox="1">
            <a:spLocks noChangeArrowheads="1"/>
          </p:cNvSpPr>
          <p:nvPr/>
        </p:nvSpPr>
        <p:spPr bwMode="auto">
          <a:xfrm>
            <a:off x="350838" y="4194175"/>
            <a:ext cx="9120187"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en-US" altLang="ja-JP" sz="2000">
                <a:latin typeface="Times New Roman" panose="02020603050405020304" pitchFamily="18" charset="0"/>
              </a:rPr>
              <a:t>Input chữ tiếng anh ở dạng haftsize, và phân biệt chữ hoa chữ thường.</a:t>
            </a:r>
          </a:p>
        </p:txBody>
      </p:sp>
      <p:sp>
        <p:nvSpPr>
          <p:cNvPr id="10" name="Text Box 18">
            <a:extLst>
              <a:ext uri="{FF2B5EF4-FFF2-40B4-BE49-F238E27FC236}">
                <a16:creationId xmlns:a16="http://schemas.microsoft.com/office/drawing/2014/main" id="{A5FADD02-A167-1AA6-DAF9-8220D4ADE300}"/>
              </a:ext>
            </a:extLst>
          </p:cNvPr>
          <p:cNvSpPr txBox="1">
            <a:spLocks noChangeArrowheads="1"/>
          </p:cNvSpPr>
          <p:nvPr/>
        </p:nvSpPr>
        <p:spPr bwMode="auto">
          <a:xfrm>
            <a:off x="357188" y="4821238"/>
            <a:ext cx="9120187"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ja-JP" altLang="en-US" sz="2000">
                <a:latin typeface="Times New Roman" panose="02020603050405020304" pitchFamily="18" charset="0"/>
              </a:rPr>
              <a:t>　</a:t>
            </a:r>
            <a:r>
              <a:rPr lang="en-US" altLang="ja-JP" sz="2000">
                <a:latin typeface="Times New Roman" panose="02020603050405020304" pitchFamily="18" charset="0"/>
              </a:rPr>
              <a:t>Số lượng của blank có thể chỉ định tùy ý với số lượng &gt;=1</a:t>
            </a:r>
          </a:p>
        </p:txBody>
      </p:sp>
      <p:sp>
        <p:nvSpPr>
          <p:cNvPr id="11" name="AutoShape 19">
            <a:extLst>
              <a:ext uri="{FF2B5EF4-FFF2-40B4-BE49-F238E27FC236}">
                <a16:creationId xmlns:a16="http://schemas.microsoft.com/office/drawing/2014/main" id="{47599DA8-32D9-3EF9-26A6-B8E064882138}"/>
              </a:ext>
            </a:extLst>
          </p:cNvPr>
          <p:cNvSpPr>
            <a:spLocks noChangeArrowheads="1"/>
          </p:cNvSpPr>
          <p:nvPr/>
        </p:nvSpPr>
        <p:spPr bwMode="auto">
          <a:xfrm>
            <a:off x="5073650" y="5526088"/>
            <a:ext cx="3765550" cy="815975"/>
          </a:xfrm>
          <a:prstGeom prst="wedgeRoundRectCallout">
            <a:avLst>
              <a:gd name="adj1" fmla="val -48440"/>
              <a:gd name="adj2" fmla="val -110699"/>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sz="1800">
                <a:latin typeface="Times New Roman" panose="02020603050405020304" pitchFamily="18" charset="0"/>
              </a:rPr>
              <a:t>Blank được chỉ định số lượng tùy ý bằng haftsize space , tab</a:t>
            </a:r>
          </a:p>
        </p:txBody>
      </p:sp>
      <p:sp>
        <p:nvSpPr>
          <p:cNvPr id="12" name="Text Box 21">
            <a:extLst>
              <a:ext uri="{FF2B5EF4-FFF2-40B4-BE49-F238E27FC236}">
                <a16:creationId xmlns:a16="http://schemas.microsoft.com/office/drawing/2014/main" id="{2FC4C13A-0FB8-47F9-5D56-BB25C17A85D0}"/>
              </a:ext>
            </a:extLst>
          </p:cNvPr>
          <p:cNvSpPr txBox="1">
            <a:spLocks noChangeArrowheads="1"/>
          </p:cNvSpPr>
          <p:nvPr/>
        </p:nvSpPr>
        <p:spPr bwMode="auto">
          <a:xfrm>
            <a:off x="1943100" y="1414463"/>
            <a:ext cx="7594600" cy="21304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1" tIns="19884" rIns="9941" bIns="9941"/>
          <a:lstStyle>
            <a:lvl1pPr marL="358775" indent="-358775" defTabSz="447675">
              <a:defRPr kumimoji="1" sz="1000" b="1">
                <a:solidFill>
                  <a:schemeClr val="tx1"/>
                </a:solidFill>
                <a:latin typeface="Arial" panose="020B0604020202020204" pitchFamily="34" charset="0"/>
                <a:ea typeface="MS UI Gothic" panose="020B0600070205080204" pitchFamily="50" charset="-128"/>
              </a:defRPr>
            </a:lvl1pPr>
            <a:lvl2pPr marL="536575" indent="-357188" defTabSz="447675">
              <a:defRPr kumimoji="1" sz="1000" b="1">
                <a:solidFill>
                  <a:schemeClr val="tx1"/>
                </a:solidFill>
                <a:latin typeface="Arial" panose="020B0604020202020204" pitchFamily="34" charset="0"/>
                <a:ea typeface="MS UI Gothic" panose="020B0600070205080204" pitchFamily="50" charset="-128"/>
              </a:defRPr>
            </a:lvl2pPr>
            <a:lvl3pPr marL="1312863" indent="-358775" defTabSz="447675">
              <a:defRPr kumimoji="1" sz="1000" b="1">
                <a:solidFill>
                  <a:schemeClr val="tx1"/>
                </a:solidFill>
                <a:latin typeface="Arial" panose="020B0604020202020204" pitchFamily="34" charset="0"/>
                <a:ea typeface="MS UI Gothic" panose="020B0600070205080204" pitchFamily="50" charset="-128"/>
              </a:defRPr>
            </a:lvl3pPr>
            <a:lvl4pPr marL="1790700" indent="-358775" defTabSz="447675">
              <a:defRPr kumimoji="1" sz="1000" b="1">
                <a:solidFill>
                  <a:schemeClr val="tx1"/>
                </a:solidFill>
                <a:latin typeface="Arial" panose="020B0604020202020204" pitchFamily="34" charset="0"/>
                <a:ea typeface="MS UI Gothic" panose="020B0600070205080204" pitchFamily="50" charset="-128"/>
              </a:defRPr>
            </a:lvl4pPr>
            <a:lvl5pPr marL="2266950" indent="-357188" defTabSz="447675">
              <a:defRPr kumimoji="1" sz="1000" b="1">
                <a:solidFill>
                  <a:schemeClr val="tx1"/>
                </a:solidFill>
                <a:latin typeface="Arial" panose="020B0604020202020204" pitchFamily="34" charset="0"/>
                <a:ea typeface="MS UI Gothic" panose="020B0600070205080204" pitchFamily="50" charset="-128"/>
              </a:defRPr>
            </a:lvl5pPr>
            <a:lvl6pPr marL="2724150" indent="-357188" defTabSz="4476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3181350" indent="-357188" defTabSz="4476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638550" indent="-357188" defTabSz="4476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4095750" indent="-357188" defTabSz="4476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buFontTx/>
              <a:buAutoNum type="arabicPeriod"/>
            </a:pPr>
            <a:r>
              <a:rPr lang="en-US" altLang="ja-JP" sz="1800" b="0" dirty="0">
                <a:latin typeface="Times New Roman" panose="02020603050405020304" pitchFamily="18" charset="0"/>
                <a:ea typeface="ＭＳ ゴシック" panose="020B0609070205080204" pitchFamily="49" charset="-128"/>
              </a:rPr>
              <a:t> //  HelloWorld.java</a:t>
            </a:r>
          </a:p>
          <a:p>
            <a:pPr lvl="1" algn="just" eaLnBrk="1" hangingPunct="1">
              <a:buFontTx/>
              <a:buAutoNum type="arabicPeriod"/>
            </a:pPr>
            <a:r>
              <a:rPr lang="ja-JP" altLang="en-US" sz="1800" b="0" dirty="0">
                <a:latin typeface="Times New Roman" panose="02020603050405020304" pitchFamily="18" charset="0"/>
                <a:ea typeface="ＭＳ ゴシック" panose="020B0609070205080204" pitchFamily="49" charset="-128"/>
              </a:rPr>
              <a:t>　</a:t>
            </a:r>
          </a:p>
          <a:p>
            <a:pPr lvl="1" algn="just" eaLnBrk="1" hangingPunct="1">
              <a:buFontTx/>
              <a:buAutoNum type="arabicPeriod"/>
            </a:pPr>
            <a:r>
              <a:rPr lang="ja-JP" altLang="en-US" sz="1800" b="0" dirty="0">
                <a:latin typeface="Times New Roman" panose="02020603050405020304" pitchFamily="18" charset="0"/>
                <a:ea typeface="ＭＳ ゴシック" panose="020B0609070205080204" pitchFamily="49" charset="-128"/>
              </a:rPr>
              <a:t> </a:t>
            </a:r>
            <a:r>
              <a:rPr lang="en-US" altLang="ja-JP" sz="1800" b="0" dirty="0">
                <a:latin typeface="Times New Roman" panose="02020603050405020304" pitchFamily="18" charset="0"/>
                <a:ea typeface="ＭＳ ゴシック" panose="020B0609070205080204" pitchFamily="49" charset="-128"/>
              </a:rPr>
              <a:t>public </a:t>
            </a:r>
            <a:r>
              <a:rPr lang="en-US" altLang="en-US" sz="1800" b="0" dirty="0">
                <a:latin typeface="Times New Roman" panose="02020603050405020304" pitchFamily="18" charset="0"/>
                <a:ea typeface="ＭＳ ゴシック" panose="020B0609070205080204" pitchFamily="49" charset="-128"/>
              </a:rPr>
              <a:t>class HelloWorld</a:t>
            </a:r>
            <a:r>
              <a:rPr lang="en-US" altLang="ja-JP" sz="1800" b="0" dirty="0">
                <a:latin typeface="Times New Roman" panose="02020603050405020304" pitchFamily="18" charset="0"/>
                <a:ea typeface="ＭＳ ゴシック" panose="020B0609070205080204" pitchFamily="49" charset="-128"/>
              </a:rPr>
              <a:t> </a:t>
            </a:r>
            <a:r>
              <a:rPr lang="en-US" altLang="en-US" sz="1800" b="0" dirty="0">
                <a:latin typeface="Times New Roman" panose="02020603050405020304" pitchFamily="18" charset="0"/>
                <a:ea typeface="ＭＳ ゴシック" panose="020B0609070205080204" pitchFamily="49" charset="-128"/>
              </a:rPr>
              <a:t>{</a:t>
            </a:r>
          </a:p>
          <a:p>
            <a:pPr lvl="1" algn="just" eaLnBrk="1" hangingPunct="1">
              <a:buFontTx/>
              <a:buAutoNum type="arabicPeriod"/>
            </a:pPr>
            <a:r>
              <a:rPr lang="en-US" altLang="ja-JP" sz="1800" b="0" dirty="0">
                <a:latin typeface="Times New Roman" panose="02020603050405020304" pitchFamily="18" charset="0"/>
                <a:ea typeface="ＭＳ ゴシック" panose="020B0609070205080204" pitchFamily="49" charset="-128"/>
              </a:rPr>
              <a:t> </a:t>
            </a:r>
            <a:r>
              <a:rPr lang="en-US" altLang="en-US" sz="1800" b="0" dirty="0">
                <a:latin typeface="Times New Roman" panose="02020603050405020304" pitchFamily="18" charset="0"/>
                <a:ea typeface="ＭＳ ゴシック" panose="020B0609070205080204" pitchFamily="49" charset="-128"/>
              </a:rPr>
              <a:t>    public static</a:t>
            </a:r>
            <a:r>
              <a:rPr lang="en-US" altLang="ja-JP" sz="1800" b="0" dirty="0">
                <a:latin typeface="Times New Roman" panose="02020603050405020304" pitchFamily="18" charset="0"/>
                <a:ea typeface="ＭＳ ゴシック" panose="020B0609070205080204" pitchFamily="49" charset="-128"/>
              </a:rPr>
              <a:t> </a:t>
            </a:r>
            <a:r>
              <a:rPr lang="en-US" altLang="en-US" sz="1800" b="0" dirty="0">
                <a:latin typeface="Times New Roman" panose="02020603050405020304" pitchFamily="18" charset="0"/>
                <a:ea typeface="ＭＳ ゴシック" panose="020B0609070205080204" pitchFamily="49" charset="-128"/>
              </a:rPr>
              <a:t>void main(String[] </a:t>
            </a:r>
            <a:r>
              <a:rPr lang="en-US" altLang="en-US" sz="1800" b="0" dirty="0" err="1">
                <a:latin typeface="Times New Roman" panose="02020603050405020304" pitchFamily="18" charset="0"/>
                <a:ea typeface="ＭＳ ゴシック" panose="020B0609070205080204" pitchFamily="49" charset="-128"/>
              </a:rPr>
              <a:t>args</a:t>
            </a:r>
            <a:r>
              <a:rPr lang="en-US" altLang="en-US" sz="1800" b="0" dirty="0">
                <a:latin typeface="Times New Roman" panose="02020603050405020304" pitchFamily="18" charset="0"/>
                <a:ea typeface="ＭＳ ゴシック" panose="020B0609070205080204" pitchFamily="49" charset="-128"/>
              </a:rPr>
              <a:t>)</a:t>
            </a:r>
            <a:r>
              <a:rPr lang="en-US" altLang="ja-JP" sz="1800" b="0" dirty="0">
                <a:latin typeface="Times New Roman" panose="02020603050405020304" pitchFamily="18" charset="0"/>
                <a:ea typeface="ＭＳ ゴシック" panose="020B0609070205080204" pitchFamily="49" charset="-128"/>
              </a:rPr>
              <a:t> </a:t>
            </a:r>
            <a:r>
              <a:rPr lang="en-US" altLang="en-US" sz="1800" b="0" dirty="0">
                <a:latin typeface="Times New Roman" panose="02020603050405020304" pitchFamily="18" charset="0"/>
                <a:ea typeface="ＭＳ ゴシック" panose="020B0609070205080204" pitchFamily="49" charset="-128"/>
              </a:rPr>
              <a:t>{</a:t>
            </a:r>
          </a:p>
          <a:p>
            <a:pPr lvl="1" algn="just" eaLnBrk="1" hangingPunct="1">
              <a:buFontTx/>
              <a:buAutoNum type="arabicPeriod"/>
            </a:pPr>
            <a:r>
              <a:rPr lang="en-US" altLang="ja-JP" sz="1800" b="0" dirty="0">
                <a:latin typeface="Times New Roman" panose="02020603050405020304" pitchFamily="18" charset="0"/>
                <a:ea typeface="ＭＳ ゴシック" panose="020B0609070205080204" pitchFamily="49" charset="-128"/>
              </a:rPr>
              <a:t>         </a:t>
            </a:r>
            <a:r>
              <a:rPr lang="en-US" altLang="en-US" sz="1800" b="0" dirty="0" err="1">
                <a:latin typeface="Times New Roman" panose="02020603050405020304" pitchFamily="18" charset="0"/>
                <a:ea typeface="ＭＳ ゴシック" panose="020B0609070205080204" pitchFamily="49" charset="-128"/>
              </a:rPr>
              <a:t>System.out.println</a:t>
            </a:r>
            <a:r>
              <a:rPr lang="en-US" altLang="en-US" sz="1800" b="0" dirty="0">
                <a:latin typeface="Times New Roman" panose="02020603050405020304" pitchFamily="18" charset="0"/>
                <a:ea typeface="ＭＳ ゴシック" panose="020B0609070205080204" pitchFamily="49" charset="-128"/>
              </a:rPr>
              <a:t>(</a:t>
            </a:r>
            <a:r>
              <a:rPr lang="en-US" altLang="ja-JP" sz="1800" b="0" dirty="0">
                <a:latin typeface="Times New Roman" panose="02020603050405020304" pitchFamily="18" charset="0"/>
                <a:ea typeface="ＭＳ ゴシック" panose="020B0609070205080204" pitchFamily="49" charset="-128"/>
              </a:rPr>
              <a:t>"</a:t>
            </a:r>
            <a:r>
              <a:rPr lang="en-US" altLang="en-US" sz="1800" b="0" dirty="0">
                <a:latin typeface="Times New Roman" panose="02020603050405020304" pitchFamily="18" charset="0"/>
                <a:ea typeface="ＭＳ ゴシック" panose="020B0609070205080204" pitchFamily="49" charset="-128"/>
              </a:rPr>
              <a:t>Hello World!</a:t>
            </a:r>
            <a:r>
              <a:rPr lang="en-US" altLang="ja-JP" sz="1800" b="0" dirty="0">
                <a:latin typeface="Times New Roman" panose="02020603050405020304" pitchFamily="18" charset="0"/>
                <a:ea typeface="ＭＳ ゴシック" panose="020B0609070205080204" pitchFamily="49" charset="-128"/>
              </a:rPr>
              <a:t>"</a:t>
            </a:r>
            <a:r>
              <a:rPr lang="en-US" altLang="en-US" sz="1800" b="0" dirty="0">
                <a:latin typeface="Times New Roman" panose="02020603050405020304" pitchFamily="18" charset="0"/>
                <a:ea typeface="ＭＳ ゴシック" panose="020B0609070205080204" pitchFamily="49" charset="-128"/>
              </a:rPr>
              <a:t>);</a:t>
            </a:r>
          </a:p>
          <a:p>
            <a:pPr lvl="1" algn="just" eaLnBrk="1" hangingPunct="1">
              <a:buFontTx/>
              <a:buAutoNum type="arabicPeriod"/>
            </a:pPr>
            <a:r>
              <a:rPr lang="en-US" altLang="en-US" sz="1800" b="0" dirty="0">
                <a:latin typeface="Times New Roman" panose="02020603050405020304" pitchFamily="18" charset="0"/>
                <a:ea typeface="ＭＳ ゴシック" panose="020B0609070205080204" pitchFamily="49" charset="-128"/>
              </a:rPr>
              <a:t>  </a:t>
            </a:r>
            <a:r>
              <a:rPr lang="en-US" altLang="ja-JP" sz="1800" b="0" dirty="0">
                <a:latin typeface="Times New Roman" panose="02020603050405020304" pitchFamily="18" charset="0"/>
                <a:ea typeface="ＭＳ ゴシック" panose="020B0609070205080204" pitchFamily="49" charset="-128"/>
              </a:rPr>
              <a:t> </a:t>
            </a:r>
            <a:r>
              <a:rPr lang="en-US" altLang="en-US" sz="1800" b="0" dirty="0">
                <a:latin typeface="Times New Roman" panose="02020603050405020304" pitchFamily="18" charset="0"/>
                <a:ea typeface="ＭＳ ゴシック" panose="020B0609070205080204" pitchFamily="49" charset="-128"/>
              </a:rPr>
              <a:t>  }</a:t>
            </a:r>
          </a:p>
          <a:p>
            <a:pPr lvl="1" algn="just" eaLnBrk="1" hangingPunct="1">
              <a:buFontTx/>
              <a:buAutoNum type="arabicPeriod"/>
            </a:pPr>
            <a:r>
              <a:rPr lang="en-US" altLang="ja-JP" sz="1800" b="0" dirty="0">
                <a:latin typeface="Times New Roman" panose="02020603050405020304" pitchFamily="18" charset="0"/>
                <a:ea typeface="ＭＳ ゴシック" panose="020B0609070205080204" pitchFamily="49" charset="-128"/>
              </a:rPr>
              <a:t> </a:t>
            </a:r>
            <a:r>
              <a:rPr lang="en-US" altLang="en-US" sz="1800" b="0" dirty="0">
                <a:latin typeface="Times New Roman" panose="02020603050405020304" pitchFamily="18" charset="0"/>
                <a:ea typeface="ＭＳ ゴシック" panose="020B0609070205080204" pitchFamily="49" charset="-128"/>
              </a:rPr>
              <a:t>}</a:t>
            </a:r>
          </a:p>
        </p:txBody>
      </p:sp>
      <p:sp>
        <p:nvSpPr>
          <p:cNvPr id="13" name="AutoShape 22">
            <a:extLst>
              <a:ext uri="{FF2B5EF4-FFF2-40B4-BE49-F238E27FC236}">
                <a16:creationId xmlns:a16="http://schemas.microsoft.com/office/drawing/2014/main" id="{BAF708F6-C29E-2898-AE2D-B4A84370C411}"/>
              </a:ext>
            </a:extLst>
          </p:cNvPr>
          <p:cNvSpPr>
            <a:spLocks noChangeArrowheads="1"/>
          </p:cNvSpPr>
          <p:nvPr/>
        </p:nvSpPr>
        <p:spPr bwMode="auto">
          <a:xfrm>
            <a:off x="5722938" y="871538"/>
            <a:ext cx="3619500" cy="963612"/>
          </a:xfrm>
          <a:prstGeom prst="wedgeRoundRectCallout">
            <a:avLst>
              <a:gd name="adj1" fmla="val -73116"/>
              <a:gd name="adj2" fmla="val 21005"/>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ja-JP" altLang="en-US" sz="1800">
                <a:latin typeface="Times New Roman" panose="02020603050405020304" pitchFamily="18" charset="0"/>
              </a:rPr>
              <a:t>「</a:t>
            </a:r>
            <a:r>
              <a:rPr lang="en-US" altLang="ja-JP" sz="1800">
                <a:latin typeface="Times New Roman" panose="02020603050405020304" pitchFamily="18" charset="0"/>
              </a:rPr>
              <a:t>//</a:t>
            </a:r>
            <a:r>
              <a:rPr lang="ja-JP" altLang="en-US" sz="1800">
                <a:latin typeface="Times New Roman" panose="02020603050405020304" pitchFamily="18" charset="0"/>
              </a:rPr>
              <a:t>　～」 </a:t>
            </a:r>
            <a:r>
              <a:rPr lang="en-US" altLang="ja-JP" sz="1800">
                <a:latin typeface="Times New Roman" panose="02020603050405020304" pitchFamily="18" charset="0"/>
              </a:rPr>
              <a:t>là comment, có thể lược bớt</a:t>
            </a:r>
            <a:r>
              <a:rPr lang="ja-JP" altLang="en-US" sz="1800">
                <a:latin typeface="Times New Roman" panose="02020603050405020304" pitchFamily="18" charset="0"/>
              </a:rPr>
              <a:t>（</a:t>
            </a:r>
            <a:r>
              <a:rPr lang="en-US" altLang="ja-JP" sz="1800">
                <a:latin typeface="Times New Roman" panose="02020603050405020304" pitchFamily="18" charset="0"/>
              </a:rPr>
              <a:t>không ảnh hưởng đến việc thực hiện chương trình</a:t>
            </a:r>
            <a:r>
              <a:rPr lang="ja-JP" altLang="en-US" sz="1800">
                <a:latin typeface="Times New Roman" panose="02020603050405020304" pitchFamily="18" charset="0"/>
              </a:rPr>
              <a:t>）</a:t>
            </a:r>
          </a:p>
        </p:txBody>
      </p:sp>
      <p:sp>
        <p:nvSpPr>
          <p:cNvPr id="14" name="AutoShape 23">
            <a:extLst>
              <a:ext uri="{FF2B5EF4-FFF2-40B4-BE49-F238E27FC236}">
                <a16:creationId xmlns:a16="http://schemas.microsoft.com/office/drawing/2014/main" id="{4B2D4DEB-C8AE-D9AB-267C-9BB8779FD848}"/>
              </a:ext>
            </a:extLst>
          </p:cNvPr>
          <p:cNvSpPr>
            <a:spLocks noChangeArrowheads="1"/>
          </p:cNvSpPr>
          <p:nvPr/>
        </p:nvSpPr>
        <p:spPr bwMode="auto">
          <a:xfrm>
            <a:off x="450850" y="1349375"/>
            <a:ext cx="1450975" cy="1023938"/>
          </a:xfrm>
          <a:prstGeom prst="wedgeRoundRectCallout">
            <a:avLst>
              <a:gd name="adj1" fmla="val 58204"/>
              <a:gd name="adj2" fmla="val 65505"/>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sz="1800" b="0">
                <a:latin typeface="Times New Roman" panose="02020603050405020304" pitchFamily="18" charset="0"/>
              </a:rPr>
              <a:t>Mã số dòng(không cần input)</a:t>
            </a:r>
          </a:p>
        </p:txBody>
      </p:sp>
      <p:sp>
        <p:nvSpPr>
          <p:cNvPr id="15" name="Rectangle 25">
            <a:extLst>
              <a:ext uri="{FF2B5EF4-FFF2-40B4-BE49-F238E27FC236}">
                <a16:creationId xmlns:a16="http://schemas.microsoft.com/office/drawing/2014/main" id="{3704035C-729A-4E74-31EC-BF583992DC8F}"/>
              </a:ext>
            </a:extLst>
          </p:cNvPr>
          <p:cNvSpPr>
            <a:spLocks noChangeArrowheads="1"/>
          </p:cNvSpPr>
          <p:nvPr/>
        </p:nvSpPr>
        <p:spPr bwMode="auto">
          <a:xfrm>
            <a:off x="1995488" y="1460500"/>
            <a:ext cx="398462" cy="2039938"/>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sz="1000" b="1">
                <a:solidFill>
                  <a:schemeClr val="tx1"/>
                </a:solidFill>
                <a:latin typeface="Arial" panose="020B0604020202020204" pitchFamily="34" charset="0"/>
                <a:ea typeface="MS UI Gothic" panose="020B0600070205080204" pitchFamily="50" charset="-128"/>
              </a:defRPr>
            </a:lvl1pPr>
            <a:lvl2pPr marL="742950" indent="-285750" defTabSz="863600">
              <a:defRPr kumimoji="1" sz="1000" b="1">
                <a:solidFill>
                  <a:schemeClr val="tx1"/>
                </a:solidFill>
                <a:latin typeface="Arial" panose="020B0604020202020204" pitchFamily="34" charset="0"/>
                <a:ea typeface="MS UI Gothic" panose="020B0600070205080204" pitchFamily="50" charset="-128"/>
              </a:defRPr>
            </a:lvl2pPr>
            <a:lvl3pPr marL="1143000" indent="-228600" defTabSz="863600">
              <a:defRPr kumimoji="1" sz="1000" b="1">
                <a:solidFill>
                  <a:schemeClr val="tx1"/>
                </a:solidFill>
                <a:latin typeface="Arial" panose="020B0604020202020204" pitchFamily="34" charset="0"/>
                <a:ea typeface="MS UI Gothic" panose="020B0600070205080204" pitchFamily="50" charset="-128"/>
              </a:defRPr>
            </a:lvl3pPr>
            <a:lvl4pPr marL="1600200" indent="-228600" defTabSz="863600">
              <a:defRPr kumimoji="1" sz="1000" b="1">
                <a:solidFill>
                  <a:schemeClr val="tx1"/>
                </a:solidFill>
                <a:latin typeface="Arial" panose="020B0604020202020204" pitchFamily="34" charset="0"/>
                <a:ea typeface="MS UI Gothic" panose="020B0600070205080204" pitchFamily="50" charset="-128"/>
              </a:defRPr>
            </a:lvl4pPr>
            <a:lvl5pPr marL="2057400" indent="-228600" defTabSz="863600">
              <a:defRPr kumimoji="1" sz="1000" b="1">
                <a:solidFill>
                  <a:schemeClr val="tx1"/>
                </a:solidFill>
                <a:latin typeface="Arial" panose="020B0604020202020204" pitchFamily="34" charset="0"/>
                <a:ea typeface="MS UI Gothic" panose="020B0600070205080204" pitchFamily="50" charset="-128"/>
              </a:defRPr>
            </a:lvl5pPr>
            <a:lvl6pPr marL="25146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endParaRPr lang="ja-JP" altLang="ja-JP" sz="1100" b="0">
              <a:latin typeface="Times New Roman" panose="02020603050405020304" pitchFamily="18" charset="0"/>
              <a:ea typeface="ＭＳ Ｐゴシック" panose="020B0600070205080204" pitchFamily="50" charset="-128"/>
            </a:endParaRPr>
          </a:p>
        </p:txBody>
      </p:sp>
    </p:spTree>
    <p:extLst>
      <p:ext uri="{BB962C8B-B14F-4D97-AF65-F5344CB8AC3E}">
        <p14:creationId xmlns:p14="http://schemas.microsoft.com/office/powerpoint/2010/main" val="203598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80CF3-9EF2-2C2F-1220-C9DC4F7F3FE4}"/>
              </a:ext>
            </a:extLst>
          </p:cNvPr>
          <p:cNvSpPr>
            <a:spLocks noGrp="1"/>
          </p:cNvSpPr>
          <p:nvPr>
            <p:ph type="title"/>
          </p:nvPr>
        </p:nvSpPr>
        <p:spPr/>
        <p:txBody>
          <a:bodyPr>
            <a:normAutofit fontScale="90000"/>
          </a:bodyPr>
          <a:lstStyle/>
          <a:p>
            <a:r>
              <a:rPr lang="en-US" altLang="ja-JP" dirty="0">
                <a:latin typeface="Times New Roman" panose="02020603050405020304" pitchFamily="18" charset="0"/>
                <a:ea typeface="MS UI Gothic" panose="020B0600070205080204" pitchFamily="50" charset="-128"/>
              </a:rPr>
              <a:t>Compile</a:t>
            </a:r>
            <a:endParaRPr kumimoji="1" lang="ja-JP" altLang="en-US" dirty="0"/>
          </a:p>
        </p:txBody>
      </p:sp>
      <p:sp>
        <p:nvSpPr>
          <p:cNvPr id="4" name="Slide Number Placeholder 3">
            <a:extLst>
              <a:ext uri="{FF2B5EF4-FFF2-40B4-BE49-F238E27FC236}">
                <a16:creationId xmlns:a16="http://schemas.microsoft.com/office/drawing/2014/main" id="{2E897492-5C2D-840C-7587-79E93B81AE5D}"/>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17</a:t>
            </a:fld>
            <a:endParaRPr lang="en-US" altLang="ja-JP"/>
          </a:p>
        </p:txBody>
      </p:sp>
      <p:sp>
        <p:nvSpPr>
          <p:cNvPr id="5" name="Rectangle 2">
            <a:extLst>
              <a:ext uri="{FF2B5EF4-FFF2-40B4-BE49-F238E27FC236}">
                <a16:creationId xmlns:a16="http://schemas.microsoft.com/office/drawing/2014/main" id="{618EA05A-18B2-D82A-B3D5-95A3D2D554DA}"/>
              </a:ext>
            </a:extLst>
          </p:cNvPr>
          <p:cNvSpPr txBox="1">
            <a:spLocks noChangeArrowheads="1"/>
          </p:cNvSpPr>
          <p:nvPr/>
        </p:nvSpPr>
        <p:spPr bwMode="auto">
          <a:xfrm>
            <a:off x="344488" y="84138"/>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endParaRPr lang="en-US" altLang="ja-JP" b="0" kern="0" dirty="0">
              <a:latin typeface="Times New Roman" panose="02020603050405020304" pitchFamily="18" charset="0"/>
            </a:endParaRPr>
          </a:p>
        </p:txBody>
      </p:sp>
      <p:sp>
        <p:nvSpPr>
          <p:cNvPr id="6" name="Rectangle 13">
            <a:extLst>
              <a:ext uri="{FF2B5EF4-FFF2-40B4-BE49-F238E27FC236}">
                <a16:creationId xmlns:a16="http://schemas.microsoft.com/office/drawing/2014/main" id="{3E14EB8A-D5E1-0B11-6459-577B20DF3F86}"/>
              </a:ext>
            </a:extLst>
          </p:cNvPr>
          <p:cNvSpPr>
            <a:spLocks noChangeArrowheads="1"/>
          </p:cNvSpPr>
          <p:nvPr/>
        </p:nvSpPr>
        <p:spPr bwMode="auto">
          <a:xfrm>
            <a:off x="344488" y="873126"/>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449263" indent="-265113">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eaLnBrk="1" hangingPunct="1"/>
            <a:r>
              <a:rPr lang="en-US" altLang="ja-JP" sz="2400" b="0" dirty="0">
                <a:latin typeface="Times New Roman" panose="02020603050405020304" pitchFamily="18" charset="0"/>
                <a:ea typeface="ＭＳ ゴシック" panose="020B0609070205080204" pitchFamily="49" charset="-128"/>
              </a:rPr>
              <a:t>Javac command</a:t>
            </a:r>
            <a:r>
              <a:rPr lang="en-US" altLang="ja-JP" sz="2400" b="0" dirty="0">
                <a:latin typeface="Times New Roman" panose="02020603050405020304" pitchFamily="18" charset="0"/>
              </a:rPr>
              <a:t> </a:t>
            </a:r>
          </a:p>
          <a:p>
            <a:pPr eaLnBrk="1" hangingPunct="1">
              <a:spcBef>
                <a:spcPct val="50000"/>
              </a:spcBef>
              <a:buFont typeface="Wingdings" panose="05000000000000000000" pitchFamily="2" charset="2"/>
              <a:buNone/>
            </a:pPr>
            <a:r>
              <a:rPr lang="en-US" altLang="ja-JP" b="0" dirty="0">
                <a:latin typeface="Times New Roman" panose="02020603050405020304" pitchFamily="18" charset="0"/>
              </a:rPr>
              <a:t>●Cú </a:t>
            </a:r>
            <a:r>
              <a:rPr lang="en-US" altLang="ja-JP" b="0" dirty="0" err="1">
                <a:latin typeface="Times New Roman" panose="02020603050405020304" pitchFamily="18" charset="0"/>
              </a:rPr>
              <a:t>pháp</a:t>
            </a:r>
            <a:endParaRPr lang="en-US" altLang="ja-JP" sz="2400" b="0" dirty="0">
              <a:latin typeface="Times New Roman" panose="02020603050405020304" pitchFamily="18" charset="0"/>
            </a:endParaRPr>
          </a:p>
        </p:txBody>
      </p:sp>
      <p:sp>
        <p:nvSpPr>
          <p:cNvPr id="7" name="Text Box 14">
            <a:extLst>
              <a:ext uri="{FF2B5EF4-FFF2-40B4-BE49-F238E27FC236}">
                <a16:creationId xmlns:a16="http://schemas.microsoft.com/office/drawing/2014/main" id="{EC925A86-CEA1-3EF9-BBBC-38B8C1B5A03A}"/>
              </a:ext>
            </a:extLst>
          </p:cNvPr>
          <p:cNvSpPr txBox="1">
            <a:spLocks noChangeArrowheads="1"/>
          </p:cNvSpPr>
          <p:nvPr/>
        </p:nvSpPr>
        <p:spPr bwMode="auto">
          <a:xfrm>
            <a:off x="350838" y="1739900"/>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en-US" altLang="ja-JP" sz="2000">
                <a:latin typeface="Times New Roman" panose="02020603050405020304" pitchFamily="18" charset="0"/>
                <a:ea typeface="ＭＳ ゴシック" panose="020B0609070205080204" pitchFamily="49" charset="-128"/>
              </a:rPr>
              <a:t>javac source file name</a:t>
            </a:r>
            <a:endParaRPr lang="en-US" altLang="ja-JP" sz="2000">
              <a:latin typeface="Times New Roman" panose="02020603050405020304" pitchFamily="18" charset="0"/>
            </a:endParaRPr>
          </a:p>
        </p:txBody>
      </p:sp>
      <p:sp>
        <p:nvSpPr>
          <p:cNvPr id="8" name="Rectangle 15">
            <a:extLst>
              <a:ext uri="{FF2B5EF4-FFF2-40B4-BE49-F238E27FC236}">
                <a16:creationId xmlns:a16="http://schemas.microsoft.com/office/drawing/2014/main" id="{A060D99E-FEAA-5D84-3D66-687B4BBB6B29}"/>
              </a:ext>
            </a:extLst>
          </p:cNvPr>
          <p:cNvSpPr>
            <a:spLocks noChangeArrowheads="1"/>
          </p:cNvSpPr>
          <p:nvPr/>
        </p:nvSpPr>
        <p:spPr bwMode="auto">
          <a:xfrm>
            <a:off x="273050" y="242728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449263" indent="-265113">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eaLnBrk="1" hangingPunct="1">
              <a:spcBef>
                <a:spcPct val="50000"/>
              </a:spcBef>
              <a:buFont typeface="Wingdings" panose="05000000000000000000" pitchFamily="2" charset="2"/>
              <a:buNone/>
            </a:pPr>
            <a:r>
              <a:rPr lang="en-US" altLang="ja-JP" b="0">
                <a:latin typeface="Times New Roman" panose="02020603050405020304" pitchFamily="18" charset="0"/>
              </a:rPr>
              <a:t>●Ví dụ</a:t>
            </a:r>
            <a:r>
              <a:rPr lang="ja-JP" altLang="en-US" b="0">
                <a:latin typeface="Times New Roman" panose="02020603050405020304" pitchFamily="18" charset="0"/>
              </a:rPr>
              <a:t>： </a:t>
            </a:r>
            <a:r>
              <a:rPr lang="en-US" altLang="ja-JP" b="0">
                <a:latin typeface="Times New Roman" panose="02020603050405020304" pitchFamily="18" charset="0"/>
              </a:rPr>
              <a:t>Trường hợp compile thành công</a:t>
            </a:r>
          </a:p>
        </p:txBody>
      </p:sp>
      <p:sp>
        <p:nvSpPr>
          <p:cNvPr id="9" name="Rectangle 16">
            <a:extLst>
              <a:ext uri="{FF2B5EF4-FFF2-40B4-BE49-F238E27FC236}">
                <a16:creationId xmlns:a16="http://schemas.microsoft.com/office/drawing/2014/main" id="{822E0495-022A-01AD-5251-0DEDAD31A307}"/>
              </a:ext>
            </a:extLst>
          </p:cNvPr>
          <p:cNvSpPr>
            <a:spLocks noChangeArrowheads="1"/>
          </p:cNvSpPr>
          <p:nvPr/>
        </p:nvSpPr>
        <p:spPr bwMode="auto">
          <a:xfrm>
            <a:off x="344488" y="2903538"/>
            <a:ext cx="9120187" cy="8715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lvl="1" eaLnBrk="1" hangingPunct="1">
              <a:lnSpc>
                <a:spcPct val="75000"/>
              </a:lnSpc>
            </a:pPr>
            <a:r>
              <a:rPr lang="en-US" altLang="ja-JP" sz="1800" b="0">
                <a:latin typeface="Times New Roman" panose="02020603050405020304" pitchFamily="18" charset="0"/>
                <a:ea typeface="ＭＳ ゴシック" panose="020B0609070205080204" pitchFamily="49" charset="-128"/>
              </a:rPr>
              <a:t>C:\javahome&gt;javac HelloWorld.java</a:t>
            </a:r>
            <a:br>
              <a:rPr lang="en-US" altLang="ja-JP" sz="1800" b="0">
                <a:latin typeface="Times New Roman" panose="02020603050405020304" pitchFamily="18" charset="0"/>
                <a:ea typeface="ＭＳ ゴシック" panose="020B0609070205080204" pitchFamily="49" charset="-128"/>
              </a:rPr>
            </a:br>
            <a:br>
              <a:rPr lang="en-US" altLang="ja-JP" sz="1800" b="0">
                <a:latin typeface="Times New Roman" panose="02020603050405020304" pitchFamily="18" charset="0"/>
                <a:ea typeface="ＭＳ ゴシック" panose="020B0609070205080204" pitchFamily="49" charset="-128"/>
              </a:rPr>
            </a:br>
            <a:r>
              <a:rPr lang="en-US" altLang="ja-JP" sz="1800" b="0">
                <a:latin typeface="Times New Roman" panose="02020603050405020304" pitchFamily="18" charset="0"/>
                <a:ea typeface="ＭＳ ゴシック" panose="020B0609070205080204" pitchFamily="49" charset="-128"/>
              </a:rPr>
              <a:t>C:\javahome&gt;</a:t>
            </a:r>
          </a:p>
        </p:txBody>
      </p:sp>
      <p:sp>
        <p:nvSpPr>
          <p:cNvPr id="10" name="Rectangle 17">
            <a:extLst>
              <a:ext uri="{FF2B5EF4-FFF2-40B4-BE49-F238E27FC236}">
                <a16:creationId xmlns:a16="http://schemas.microsoft.com/office/drawing/2014/main" id="{9512E413-173B-8E10-2696-8191B99385A3}"/>
              </a:ext>
            </a:extLst>
          </p:cNvPr>
          <p:cNvSpPr>
            <a:spLocks noChangeArrowheads="1"/>
          </p:cNvSpPr>
          <p:nvPr/>
        </p:nvSpPr>
        <p:spPr bwMode="auto">
          <a:xfrm>
            <a:off x="273050" y="38973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449263" indent="-265113">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eaLnBrk="1" hangingPunct="1">
              <a:spcBef>
                <a:spcPct val="50000"/>
              </a:spcBef>
              <a:buFont typeface="Wingdings" panose="05000000000000000000" pitchFamily="2" charset="2"/>
              <a:buNone/>
            </a:pPr>
            <a:r>
              <a:rPr lang="en-US" altLang="ja-JP" b="0">
                <a:latin typeface="Times New Roman" panose="02020603050405020304" pitchFamily="18" charset="0"/>
              </a:rPr>
              <a:t>●Ví dụ</a:t>
            </a:r>
            <a:r>
              <a:rPr lang="ja-JP" altLang="en-US" b="0">
                <a:latin typeface="Times New Roman" panose="02020603050405020304" pitchFamily="18" charset="0"/>
              </a:rPr>
              <a:t>： </a:t>
            </a:r>
            <a:r>
              <a:rPr lang="en-US" altLang="ja-JP" b="0">
                <a:latin typeface="Times New Roman" panose="02020603050405020304" pitchFamily="18" charset="0"/>
              </a:rPr>
              <a:t>Trường hợp compile thất bại</a:t>
            </a:r>
          </a:p>
        </p:txBody>
      </p:sp>
      <p:sp>
        <p:nvSpPr>
          <p:cNvPr id="11" name="Rectangle 18">
            <a:extLst>
              <a:ext uri="{FF2B5EF4-FFF2-40B4-BE49-F238E27FC236}">
                <a16:creationId xmlns:a16="http://schemas.microsoft.com/office/drawing/2014/main" id="{FF53133D-72B0-1057-585B-488F2F744EFB}"/>
              </a:ext>
            </a:extLst>
          </p:cNvPr>
          <p:cNvSpPr>
            <a:spLocks noChangeArrowheads="1"/>
          </p:cNvSpPr>
          <p:nvPr/>
        </p:nvSpPr>
        <p:spPr bwMode="auto">
          <a:xfrm>
            <a:off x="344488" y="4387850"/>
            <a:ext cx="9120187" cy="2017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lvl="1" eaLnBrk="1" hangingPunct="1">
              <a:lnSpc>
                <a:spcPct val="85000"/>
              </a:lnSpc>
            </a:pPr>
            <a:r>
              <a:rPr lang="en-US" altLang="ja-JP" sz="1800" b="0">
                <a:latin typeface="Times New Roman" panose="02020603050405020304" pitchFamily="18" charset="0"/>
                <a:ea typeface="ＭＳ ゴシック" panose="020B0609070205080204" pitchFamily="49" charset="-128"/>
              </a:rPr>
              <a:t>C:\javahome&gt;javac HelloWorld.java</a:t>
            </a:r>
            <a:br>
              <a:rPr lang="en-US" altLang="ja-JP" sz="1800" b="0">
                <a:latin typeface="Times New Roman" panose="02020603050405020304" pitchFamily="18" charset="0"/>
                <a:ea typeface="ＭＳ ゴシック" panose="020B0609070205080204" pitchFamily="49" charset="-128"/>
              </a:rPr>
            </a:br>
            <a:r>
              <a:rPr lang="en-US" altLang="en-US" sz="1800" b="0">
                <a:latin typeface="Times New Roman" panose="02020603050405020304" pitchFamily="18" charset="0"/>
                <a:ea typeface="ＭＳ ゴシック" panose="020B0609070205080204" pitchFamily="49" charset="-128"/>
              </a:rPr>
              <a:t>HelloWorld.java:5: package system  không tồn tại.</a:t>
            </a:r>
          </a:p>
          <a:p>
            <a:pPr lvl="1" eaLnBrk="1" hangingPunct="1">
              <a:lnSpc>
                <a:spcPct val="85000"/>
              </a:lnSpc>
            </a:pPr>
            <a:r>
              <a:rPr lang="en-US" altLang="en-US" sz="1800" b="0">
                <a:latin typeface="Times New Roman" panose="02020603050405020304" pitchFamily="18" charset="0"/>
                <a:ea typeface="ＭＳ ゴシック" panose="020B0609070205080204" pitchFamily="49" charset="-128"/>
              </a:rPr>
              <a:t>        system.out.println("Hello World!");</a:t>
            </a:r>
          </a:p>
          <a:p>
            <a:pPr lvl="1" eaLnBrk="1" hangingPunct="1">
              <a:lnSpc>
                <a:spcPct val="85000"/>
              </a:lnSpc>
            </a:pPr>
            <a:r>
              <a:rPr lang="en-US" altLang="en-US" sz="1800" b="0">
                <a:latin typeface="Times New Roman" panose="02020603050405020304" pitchFamily="18" charset="0"/>
                <a:ea typeface="ＭＳ ゴシック" panose="020B0609070205080204" pitchFamily="49" charset="-128"/>
              </a:rPr>
              <a:t>              ^</a:t>
            </a:r>
          </a:p>
          <a:p>
            <a:pPr lvl="1" eaLnBrk="1" hangingPunct="1">
              <a:lnSpc>
                <a:spcPct val="85000"/>
              </a:lnSpc>
            </a:pPr>
            <a:r>
              <a:rPr lang="en-US" altLang="en-US" sz="1800" b="0">
                <a:latin typeface="Times New Roman" panose="02020603050405020304" pitchFamily="18" charset="0"/>
                <a:ea typeface="ＭＳ ゴシック" panose="020B0609070205080204" pitchFamily="49" charset="-128"/>
              </a:rPr>
              <a:t>1 error</a:t>
            </a:r>
          </a:p>
          <a:p>
            <a:pPr lvl="1" eaLnBrk="1" hangingPunct="1">
              <a:lnSpc>
                <a:spcPct val="85000"/>
              </a:lnSpc>
            </a:pPr>
            <a:endParaRPr lang="en-US" altLang="en-US" sz="1800" b="0">
              <a:latin typeface="Times New Roman" panose="02020603050405020304" pitchFamily="18" charset="0"/>
              <a:ea typeface="ＭＳ ゴシック" panose="020B0609070205080204" pitchFamily="49" charset="-128"/>
            </a:endParaRPr>
          </a:p>
          <a:p>
            <a:pPr lvl="1" eaLnBrk="1" hangingPunct="1">
              <a:lnSpc>
                <a:spcPct val="85000"/>
              </a:lnSpc>
            </a:pPr>
            <a:r>
              <a:rPr lang="en-US" altLang="en-US" sz="1800" b="0">
                <a:latin typeface="Times New Roman" panose="02020603050405020304" pitchFamily="18" charset="0"/>
                <a:ea typeface="ＭＳ ゴシック" panose="020B0609070205080204" pitchFamily="49" charset="-128"/>
              </a:rPr>
              <a:t>C:\javahome&gt;</a:t>
            </a:r>
            <a:endParaRPr lang="en-US" altLang="ja-JP" sz="1800" b="0">
              <a:latin typeface="Times New Roman" panose="02020603050405020304" pitchFamily="18" charset="0"/>
              <a:ea typeface="ＭＳ ゴシック" panose="020B0609070205080204" pitchFamily="49" charset="-128"/>
            </a:endParaRPr>
          </a:p>
        </p:txBody>
      </p:sp>
    </p:spTree>
    <p:extLst>
      <p:ext uri="{BB962C8B-B14F-4D97-AF65-F5344CB8AC3E}">
        <p14:creationId xmlns:p14="http://schemas.microsoft.com/office/powerpoint/2010/main" val="439229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25E01-C529-CE8E-53E4-89D6F092C5B8}"/>
              </a:ext>
            </a:extLst>
          </p:cNvPr>
          <p:cNvSpPr>
            <a:spLocks noGrp="1"/>
          </p:cNvSpPr>
          <p:nvPr>
            <p:ph type="title"/>
          </p:nvPr>
        </p:nvSpPr>
        <p:spPr>
          <a:xfrm>
            <a:off x="128464" y="330970"/>
            <a:ext cx="9649072" cy="504056"/>
          </a:xfrm>
        </p:spPr>
        <p:txBody>
          <a:bodyPr>
            <a:normAutofit fontScale="90000"/>
          </a:bodyPr>
          <a:lstStyle/>
          <a:p>
            <a:r>
              <a:rPr lang="en-US" altLang="ja-JP" dirty="0">
                <a:latin typeface="Arial" panose="020B0604020202020204" pitchFamily="34" charset="0"/>
                <a:ea typeface="MS UI Gothic" panose="020B0600070205080204" pitchFamily="50" charset="-128"/>
              </a:rPr>
              <a:t>Execute</a:t>
            </a:r>
            <a:endParaRPr kumimoji="1" lang="ja-JP" altLang="en-US" dirty="0"/>
          </a:p>
        </p:txBody>
      </p:sp>
      <p:sp>
        <p:nvSpPr>
          <p:cNvPr id="4" name="Slide Number Placeholder 3">
            <a:extLst>
              <a:ext uri="{FF2B5EF4-FFF2-40B4-BE49-F238E27FC236}">
                <a16:creationId xmlns:a16="http://schemas.microsoft.com/office/drawing/2014/main" id="{F2ED3C70-7B63-C368-6AB7-9B1210AF4D04}"/>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18</a:t>
            </a:fld>
            <a:endParaRPr lang="en-US" altLang="ja-JP"/>
          </a:p>
        </p:txBody>
      </p:sp>
      <p:sp>
        <p:nvSpPr>
          <p:cNvPr id="5" name="Rectangle 2">
            <a:extLst>
              <a:ext uri="{FF2B5EF4-FFF2-40B4-BE49-F238E27FC236}">
                <a16:creationId xmlns:a16="http://schemas.microsoft.com/office/drawing/2014/main" id="{F584CD71-6FF7-AC99-9264-5678DDF3494D}"/>
              </a:ext>
            </a:extLst>
          </p:cNvPr>
          <p:cNvSpPr txBox="1">
            <a:spLocks noChangeArrowheads="1"/>
          </p:cNvSpPr>
          <p:nvPr/>
        </p:nvSpPr>
        <p:spPr bwMode="auto">
          <a:xfrm>
            <a:off x="344488" y="84138"/>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endParaRPr lang="en-US" altLang="ja-JP" b="0" kern="0" dirty="0">
              <a:latin typeface="Arial" panose="020B0604020202020204" pitchFamily="34" charset="0"/>
            </a:endParaRPr>
          </a:p>
        </p:txBody>
      </p:sp>
      <p:sp>
        <p:nvSpPr>
          <p:cNvPr id="6" name="Rectangle 4">
            <a:extLst>
              <a:ext uri="{FF2B5EF4-FFF2-40B4-BE49-F238E27FC236}">
                <a16:creationId xmlns:a16="http://schemas.microsoft.com/office/drawing/2014/main" id="{DDF6FF24-2C0F-1A20-BF16-E054B6504870}"/>
              </a:ext>
            </a:extLst>
          </p:cNvPr>
          <p:cNvSpPr>
            <a:spLocks noChangeArrowheads="1"/>
          </p:cNvSpPr>
          <p:nvPr/>
        </p:nvSpPr>
        <p:spPr bwMode="auto">
          <a:xfrm>
            <a:off x="344488" y="852410"/>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449263" indent="-265113">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eaLnBrk="1" hangingPunct="1"/>
            <a:r>
              <a:rPr lang="en-US" altLang="ja-JP" sz="2400" b="0" dirty="0">
                <a:latin typeface="Arial" panose="020B0604020202020204" pitchFamily="34" charset="0"/>
                <a:ea typeface="ＭＳ ゴシック" panose="020B0609070205080204" pitchFamily="49" charset="-128"/>
              </a:rPr>
              <a:t>java command</a:t>
            </a:r>
            <a:r>
              <a:rPr lang="en-US" altLang="ja-JP" sz="2400" b="0" dirty="0">
                <a:latin typeface="Arial" panose="020B0604020202020204" pitchFamily="34" charset="0"/>
              </a:rPr>
              <a:t> </a:t>
            </a:r>
          </a:p>
          <a:p>
            <a:pPr eaLnBrk="1" hangingPunct="1">
              <a:spcBef>
                <a:spcPct val="50000"/>
              </a:spcBef>
              <a:buFont typeface="Wingdings" panose="05000000000000000000" pitchFamily="2" charset="2"/>
              <a:buNone/>
            </a:pPr>
            <a:r>
              <a:rPr lang="en-US" altLang="ja-JP" b="0" dirty="0">
                <a:latin typeface="Arial" panose="020B0604020202020204" pitchFamily="34" charset="0"/>
              </a:rPr>
              <a:t>●Cú </a:t>
            </a:r>
            <a:r>
              <a:rPr lang="en-US" altLang="ja-JP" b="0" dirty="0" err="1">
                <a:latin typeface="Arial" panose="020B0604020202020204" pitchFamily="34" charset="0"/>
              </a:rPr>
              <a:t>pháp</a:t>
            </a:r>
            <a:endParaRPr lang="en-US" altLang="ja-JP" sz="2400" b="0" dirty="0">
              <a:latin typeface="Arial" panose="020B0604020202020204" pitchFamily="34" charset="0"/>
            </a:endParaRPr>
          </a:p>
        </p:txBody>
      </p:sp>
      <p:sp>
        <p:nvSpPr>
          <p:cNvPr id="7" name="Text Box 5">
            <a:extLst>
              <a:ext uri="{FF2B5EF4-FFF2-40B4-BE49-F238E27FC236}">
                <a16:creationId xmlns:a16="http://schemas.microsoft.com/office/drawing/2014/main" id="{55A1489A-CFF8-AE10-F438-280FA79F87EA}"/>
              </a:ext>
            </a:extLst>
          </p:cNvPr>
          <p:cNvSpPr txBox="1">
            <a:spLocks noChangeArrowheads="1"/>
          </p:cNvSpPr>
          <p:nvPr/>
        </p:nvSpPr>
        <p:spPr bwMode="auto">
          <a:xfrm>
            <a:off x="350838" y="1739900"/>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en-US" altLang="ja-JP" sz="2000">
                <a:ea typeface="ＭＳ ゴシック" panose="020B0609070205080204" pitchFamily="49" charset="-128"/>
              </a:rPr>
              <a:t>java main class name</a:t>
            </a:r>
            <a:endParaRPr lang="en-US" altLang="ja-JP" sz="2000"/>
          </a:p>
        </p:txBody>
      </p:sp>
      <p:sp>
        <p:nvSpPr>
          <p:cNvPr id="8" name="Rectangle 6">
            <a:extLst>
              <a:ext uri="{FF2B5EF4-FFF2-40B4-BE49-F238E27FC236}">
                <a16:creationId xmlns:a16="http://schemas.microsoft.com/office/drawing/2014/main" id="{790838B8-A844-C279-EC46-61E93C70FE97}"/>
              </a:ext>
            </a:extLst>
          </p:cNvPr>
          <p:cNvSpPr>
            <a:spLocks noChangeArrowheads="1"/>
          </p:cNvSpPr>
          <p:nvPr/>
        </p:nvSpPr>
        <p:spPr bwMode="auto">
          <a:xfrm>
            <a:off x="273050" y="238918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449263" indent="-265113">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eaLnBrk="1" hangingPunct="1">
              <a:spcBef>
                <a:spcPct val="50000"/>
              </a:spcBef>
              <a:buFont typeface="Wingdings" panose="05000000000000000000" pitchFamily="2" charset="2"/>
              <a:buNone/>
            </a:pPr>
            <a:r>
              <a:rPr lang="en-US" altLang="ja-JP" b="0">
                <a:latin typeface="Arial" panose="020B0604020202020204" pitchFamily="34" charset="0"/>
              </a:rPr>
              <a:t>●ví dụ</a:t>
            </a:r>
            <a:r>
              <a:rPr lang="ja-JP" altLang="en-US" b="0">
                <a:latin typeface="Arial" panose="020B0604020202020204" pitchFamily="34" charset="0"/>
              </a:rPr>
              <a:t>： </a:t>
            </a:r>
            <a:r>
              <a:rPr lang="en-US" altLang="ja-JP" b="0">
                <a:latin typeface="Arial" panose="020B0604020202020204" pitchFamily="34" charset="0"/>
              </a:rPr>
              <a:t>trường hợp đã execute thành công</a:t>
            </a:r>
          </a:p>
        </p:txBody>
      </p:sp>
      <p:sp>
        <p:nvSpPr>
          <p:cNvPr id="9" name="Rectangle 7">
            <a:extLst>
              <a:ext uri="{FF2B5EF4-FFF2-40B4-BE49-F238E27FC236}">
                <a16:creationId xmlns:a16="http://schemas.microsoft.com/office/drawing/2014/main" id="{EE47BA5F-ACE1-5D20-057C-F5ED156A2115}"/>
              </a:ext>
            </a:extLst>
          </p:cNvPr>
          <p:cNvSpPr>
            <a:spLocks noChangeArrowheads="1"/>
          </p:cNvSpPr>
          <p:nvPr/>
        </p:nvSpPr>
        <p:spPr bwMode="auto">
          <a:xfrm>
            <a:off x="344488" y="2878138"/>
            <a:ext cx="9120187" cy="1028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lvl="1" eaLnBrk="1" hangingPunct="1">
              <a:lnSpc>
                <a:spcPct val="75000"/>
              </a:lnSpc>
            </a:pPr>
            <a:r>
              <a:rPr lang="en-US" altLang="en-US" sz="1800" b="0">
                <a:latin typeface="Arial" panose="020B0604020202020204" pitchFamily="34" charset="0"/>
                <a:ea typeface="ＭＳ ゴシック" panose="020B0609070205080204" pitchFamily="49" charset="-128"/>
              </a:rPr>
              <a:t>C:\javahome&gt;java HelloWorld</a:t>
            </a:r>
          </a:p>
          <a:p>
            <a:pPr lvl="1" eaLnBrk="1" hangingPunct="1">
              <a:lnSpc>
                <a:spcPct val="75000"/>
              </a:lnSpc>
            </a:pPr>
            <a:r>
              <a:rPr lang="en-US" altLang="en-US" sz="1800" b="0">
                <a:latin typeface="Arial" panose="020B0604020202020204" pitchFamily="34" charset="0"/>
                <a:ea typeface="ＭＳ ゴシック" panose="020B0609070205080204" pitchFamily="49" charset="-128"/>
              </a:rPr>
              <a:t>Hello World!</a:t>
            </a:r>
          </a:p>
          <a:p>
            <a:pPr lvl="1" eaLnBrk="1" hangingPunct="1">
              <a:lnSpc>
                <a:spcPct val="75000"/>
              </a:lnSpc>
            </a:pPr>
            <a:endParaRPr lang="en-US" altLang="en-US" sz="1800" b="0">
              <a:latin typeface="Arial" panose="020B0604020202020204" pitchFamily="34" charset="0"/>
              <a:ea typeface="ＭＳ ゴシック" panose="020B0609070205080204" pitchFamily="49" charset="-128"/>
            </a:endParaRPr>
          </a:p>
          <a:p>
            <a:pPr lvl="1" eaLnBrk="1" hangingPunct="1">
              <a:lnSpc>
                <a:spcPct val="75000"/>
              </a:lnSpc>
            </a:pPr>
            <a:r>
              <a:rPr lang="en-US" altLang="en-US" sz="1800" b="0">
                <a:latin typeface="Arial" panose="020B0604020202020204" pitchFamily="34" charset="0"/>
                <a:ea typeface="ＭＳ ゴシック" panose="020B0609070205080204" pitchFamily="49" charset="-128"/>
              </a:rPr>
              <a:t>C:\javahome&gt;</a:t>
            </a:r>
            <a:endParaRPr lang="en-US" altLang="ja-JP" sz="1800" b="0">
              <a:latin typeface="Arial" panose="020B0604020202020204" pitchFamily="34" charset="0"/>
              <a:ea typeface="ＭＳ ゴシック" panose="020B0609070205080204" pitchFamily="49" charset="-128"/>
            </a:endParaRPr>
          </a:p>
        </p:txBody>
      </p:sp>
      <p:sp>
        <p:nvSpPr>
          <p:cNvPr id="10" name="Rectangle 8">
            <a:extLst>
              <a:ext uri="{FF2B5EF4-FFF2-40B4-BE49-F238E27FC236}">
                <a16:creationId xmlns:a16="http://schemas.microsoft.com/office/drawing/2014/main" id="{8E5B43C2-9FF5-8A03-2AFC-994EFE1A81A0}"/>
              </a:ext>
            </a:extLst>
          </p:cNvPr>
          <p:cNvSpPr>
            <a:spLocks noChangeArrowheads="1"/>
          </p:cNvSpPr>
          <p:nvPr/>
        </p:nvSpPr>
        <p:spPr bwMode="auto">
          <a:xfrm>
            <a:off x="273050" y="39481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449263" indent="-265113">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eaLnBrk="1" hangingPunct="1">
              <a:spcBef>
                <a:spcPct val="50000"/>
              </a:spcBef>
              <a:buFont typeface="Wingdings" panose="05000000000000000000" pitchFamily="2" charset="2"/>
              <a:buNone/>
            </a:pPr>
            <a:r>
              <a:rPr lang="en-US" altLang="ja-JP" b="0">
                <a:latin typeface="Arial" panose="020B0604020202020204" pitchFamily="34" charset="0"/>
              </a:rPr>
              <a:t>●Ví dụ</a:t>
            </a:r>
            <a:r>
              <a:rPr lang="ja-JP" altLang="en-US" b="0">
                <a:latin typeface="Arial" panose="020B0604020202020204" pitchFamily="34" charset="0"/>
              </a:rPr>
              <a:t>： </a:t>
            </a:r>
            <a:r>
              <a:rPr lang="en-US" altLang="ja-JP" b="0">
                <a:latin typeface="Arial" panose="020B0604020202020204" pitchFamily="34" charset="0"/>
              </a:rPr>
              <a:t>trường hợp đã execute thất bại</a:t>
            </a:r>
          </a:p>
        </p:txBody>
      </p:sp>
      <p:sp>
        <p:nvSpPr>
          <p:cNvPr id="11" name="Rectangle 9">
            <a:extLst>
              <a:ext uri="{FF2B5EF4-FFF2-40B4-BE49-F238E27FC236}">
                <a16:creationId xmlns:a16="http://schemas.microsoft.com/office/drawing/2014/main" id="{D9E5899B-0045-0718-230D-04D13C9FA85C}"/>
              </a:ext>
            </a:extLst>
          </p:cNvPr>
          <p:cNvSpPr>
            <a:spLocks noChangeArrowheads="1"/>
          </p:cNvSpPr>
          <p:nvPr/>
        </p:nvSpPr>
        <p:spPr bwMode="auto">
          <a:xfrm>
            <a:off x="344488" y="4451350"/>
            <a:ext cx="9120187" cy="2017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lvl="1" eaLnBrk="1" hangingPunct="1">
              <a:lnSpc>
                <a:spcPct val="85000"/>
              </a:lnSpc>
            </a:pPr>
            <a:r>
              <a:rPr lang="en-US" altLang="en-US" sz="1800" b="0">
                <a:latin typeface="Arial" panose="020B0604020202020204" pitchFamily="34" charset="0"/>
                <a:ea typeface="ＭＳ ゴシック" panose="020B0609070205080204" pitchFamily="49" charset="-128"/>
              </a:rPr>
              <a:t>C:\javahome&gt;java HelloWorld.class</a:t>
            </a:r>
          </a:p>
          <a:p>
            <a:pPr lvl="1" eaLnBrk="1" hangingPunct="1">
              <a:lnSpc>
                <a:spcPct val="85000"/>
              </a:lnSpc>
            </a:pPr>
            <a:r>
              <a:rPr lang="en-US" altLang="en-US" sz="1800" b="0">
                <a:latin typeface="Arial" panose="020B0604020202020204" pitchFamily="34" charset="0"/>
                <a:ea typeface="ＭＳ ゴシック" panose="020B0609070205080204" pitchFamily="49" charset="-128"/>
              </a:rPr>
              <a:t>Exception in thread "main" java.lang.NoClassDefFoundError: HelloWorld/class</a:t>
            </a:r>
          </a:p>
          <a:p>
            <a:pPr lvl="1" eaLnBrk="1" hangingPunct="1">
              <a:lnSpc>
                <a:spcPct val="85000"/>
              </a:lnSpc>
            </a:pPr>
            <a:r>
              <a:rPr lang="en-US" altLang="en-US" sz="1800" b="0">
                <a:latin typeface="Arial" panose="020B0604020202020204" pitchFamily="34" charset="0"/>
                <a:ea typeface="ＭＳ ゴシック" panose="020B0609070205080204" pitchFamily="49" charset="-128"/>
              </a:rPr>
              <a:t>Caused by: java.lang.ClassNotFoundException: HelloWorld.class</a:t>
            </a:r>
          </a:p>
          <a:p>
            <a:pPr lvl="1" eaLnBrk="1" hangingPunct="1">
              <a:lnSpc>
                <a:spcPct val="85000"/>
              </a:lnSpc>
            </a:pPr>
            <a:r>
              <a:rPr lang="ja-JP" altLang="en-US" sz="1800" b="0">
                <a:latin typeface="Arial" panose="020B0604020202020204" pitchFamily="34" charset="0"/>
                <a:ea typeface="ＭＳ ゴシック" panose="020B0609070205080204" pitchFamily="49" charset="-128"/>
              </a:rPr>
              <a:t>　　　　：</a:t>
            </a:r>
          </a:p>
          <a:p>
            <a:pPr lvl="1" eaLnBrk="1" hangingPunct="1">
              <a:lnSpc>
                <a:spcPct val="85000"/>
              </a:lnSpc>
            </a:pPr>
            <a:r>
              <a:rPr lang="en-US" altLang="en-US" sz="1800" b="0">
                <a:latin typeface="Arial" panose="020B0604020202020204" pitchFamily="34" charset="0"/>
                <a:ea typeface="ＭＳ ゴシック" panose="020B0609070205080204" pitchFamily="49" charset="-128"/>
              </a:rPr>
              <a:t>Could not find the main class: HelloWorld.class.  Program will exit.</a:t>
            </a:r>
          </a:p>
          <a:p>
            <a:pPr lvl="1" eaLnBrk="1" hangingPunct="1">
              <a:lnSpc>
                <a:spcPct val="85000"/>
              </a:lnSpc>
            </a:pPr>
            <a:endParaRPr lang="en-US" altLang="en-US" sz="1800" b="0">
              <a:latin typeface="Arial" panose="020B0604020202020204" pitchFamily="34" charset="0"/>
              <a:ea typeface="ＭＳ ゴシック" panose="020B0609070205080204" pitchFamily="49" charset="-128"/>
            </a:endParaRPr>
          </a:p>
          <a:p>
            <a:pPr lvl="1" eaLnBrk="1" hangingPunct="1">
              <a:lnSpc>
                <a:spcPct val="85000"/>
              </a:lnSpc>
            </a:pPr>
            <a:r>
              <a:rPr lang="en-US" altLang="en-US" sz="1800" b="0">
                <a:latin typeface="Arial" panose="020B0604020202020204" pitchFamily="34" charset="0"/>
                <a:ea typeface="ＭＳ ゴシック" panose="020B0609070205080204" pitchFamily="49" charset="-128"/>
              </a:rPr>
              <a:t>C:\javahome&gt;</a:t>
            </a:r>
            <a:endParaRPr lang="en-US" altLang="ja-JP" sz="1800" b="0">
              <a:latin typeface="Arial" panose="020B0604020202020204" pitchFamily="34" charset="0"/>
              <a:ea typeface="ＭＳ ゴシック" panose="020B0609070205080204" pitchFamily="49" charset="-128"/>
            </a:endParaRPr>
          </a:p>
        </p:txBody>
      </p:sp>
      <p:sp>
        <p:nvSpPr>
          <p:cNvPr id="12" name="AutoShape 10">
            <a:extLst>
              <a:ext uri="{FF2B5EF4-FFF2-40B4-BE49-F238E27FC236}">
                <a16:creationId xmlns:a16="http://schemas.microsoft.com/office/drawing/2014/main" id="{1B1FA100-8584-F422-BA39-0BB65EE94F51}"/>
              </a:ext>
            </a:extLst>
          </p:cNvPr>
          <p:cNvSpPr>
            <a:spLocks noChangeArrowheads="1"/>
          </p:cNvSpPr>
          <p:nvPr/>
        </p:nvSpPr>
        <p:spPr bwMode="auto">
          <a:xfrm>
            <a:off x="3179763" y="1039813"/>
            <a:ext cx="3425825" cy="588962"/>
          </a:xfrm>
          <a:prstGeom prst="wedgeRoundRectCallout">
            <a:avLst>
              <a:gd name="adj1" fmla="val -56440"/>
              <a:gd name="adj2" fmla="val 9420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sz="1800">
                <a:ea typeface="ＭＳ ゴシック" panose="020B0609070205080204" pitchFamily="49" charset="-128"/>
              </a:rPr>
              <a:t>Tên của class có main method</a:t>
            </a:r>
            <a:endParaRPr lang="en-US" altLang="ja-JP" sz="1800"/>
          </a:p>
        </p:txBody>
      </p:sp>
      <p:sp>
        <p:nvSpPr>
          <p:cNvPr id="13" name="AutoShape 11">
            <a:extLst>
              <a:ext uri="{FF2B5EF4-FFF2-40B4-BE49-F238E27FC236}">
                <a16:creationId xmlns:a16="http://schemas.microsoft.com/office/drawing/2014/main" id="{3FBC5E5C-71F8-595C-2BCA-D7E0AEA97729}"/>
              </a:ext>
            </a:extLst>
          </p:cNvPr>
          <p:cNvSpPr>
            <a:spLocks noChangeArrowheads="1"/>
          </p:cNvSpPr>
          <p:nvPr/>
        </p:nvSpPr>
        <p:spPr bwMode="auto">
          <a:xfrm>
            <a:off x="5089525" y="3922713"/>
            <a:ext cx="4017963" cy="433387"/>
          </a:xfrm>
          <a:prstGeom prst="wedgeRoundRectCallout">
            <a:avLst>
              <a:gd name="adj1" fmla="val -72681"/>
              <a:gd name="adj2" fmla="val 9029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sz="1800"/>
              <a:t>Ví dụ đã chỉ định tên file bị nhầm</a:t>
            </a:r>
          </a:p>
        </p:txBody>
      </p:sp>
      <p:sp>
        <p:nvSpPr>
          <p:cNvPr id="14" name="Rectangle 12">
            <a:extLst>
              <a:ext uri="{FF2B5EF4-FFF2-40B4-BE49-F238E27FC236}">
                <a16:creationId xmlns:a16="http://schemas.microsoft.com/office/drawing/2014/main" id="{4DAC099B-88A9-10FC-0DEE-DC461E8523CA}"/>
              </a:ext>
            </a:extLst>
          </p:cNvPr>
          <p:cNvSpPr>
            <a:spLocks noChangeArrowheads="1"/>
          </p:cNvSpPr>
          <p:nvPr/>
        </p:nvSpPr>
        <p:spPr bwMode="auto">
          <a:xfrm>
            <a:off x="2517775" y="4505325"/>
            <a:ext cx="1993900" cy="303213"/>
          </a:xfrm>
          <a:prstGeom prst="rect">
            <a:avLst/>
          </a:prstGeom>
          <a:noFill/>
          <a:ln w="254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sz="1000" b="1">
                <a:solidFill>
                  <a:schemeClr val="tx1"/>
                </a:solidFill>
                <a:latin typeface="Arial" panose="020B0604020202020204" pitchFamily="34" charset="0"/>
                <a:ea typeface="MS UI Gothic" panose="020B0600070205080204" pitchFamily="50" charset="-128"/>
              </a:defRPr>
            </a:lvl1pPr>
            <a:lvl2pPr marL="742950" indent="-285750" defTabSz="863600">
              <a:defRPr kumimoji="1" sz="1000" b="1">
                <a:solidFill>
                  <a:schemeClr val="tx1"/>
                </a:solidFill>
                <a:latin typeface="Arial" panose="020B0604020202020204" pitchFamily="34" charset="0"/>
                <a:ea typeface="MS UI Gothic" panose="020B0600070205080204" pitchFamily="50" charset="-128"/>
              </a:defRPr>
            </a:lvl2pPr>
            <a:lvl3pPr marL="1143000" indent="-228600" defTabSz="863600">
              <a:defRPr kumimoji="1" sz="1000" b="1">
                <a:solidFill>
                  <a:schemeClr val="tx1"/>
                </a:solidFill>
                <a:latin typeface="Arial" panose="020B0604020202020204" pitchFamily="34" charset="0"/>
                <a:ea typeface="MS UI Gothic" panose="020B0600070205080204" pitchFamily="50" charset="-128"/>
              </a:defRPr>
            </a:lvl3pPr>
            <a:lvl4pPr marL="1600200" indent="-228600" defTabSz="863600">
              <a:defRPr kumimoji="1" sz="1000" b="1">
                <a:solidFill>
                  <a:schemeClr val="tx1"/>
                </a:solidFill>
                <a:latin typeface="Arial" panose="020B0604020202020204" pitchFamily="34" charset="0"/>
                <a:ea typeface="MS UI Gothic" panose="020B0600070205080204" pitchFamily="50" charset="-128"/>
              </a:defRPr>
            </a:lvl4pPr>
            <a:lvl5pPr marL="2057400" indent="-228600" defTabSz="863600">
              <a:defRPr kumimoji="1" sz="1000" b="1">
                <a:solidFill>
                  <a:schemeClr val="tx1"/>
                </a:solidFill>
                <a:latin typeface="Arial" panose="020B0604020202020204" pitchFamily="34" charset="0"/>
                <a:ea typeface="MS UI Gothic" panose="020B0600070205080204" pitchFamily="50" charset="-128"/>
              </a:defRPr>
            </a:lvl5pPr>
            <a:lvl6pPr marL="25146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endParaRPr lang="ja-JP" altLang="ja-JP" sz="1100" b="0">
              <a:ea typeface="ＭＳ Ｐゴシック" panose="020B0600070205080204" pitchFamily="50" charset="-128"/>
            </a:endParaRPr>
          </a:p>
        </p:txBody>
      </p:sp>
    </p:spTree>
    <p:extLst>
      <p:ext uri="{BB962C8B-B14F-4D97-AF65-F5344CB8AC3E}">
        <p14:creationId xmlns:p14="http://schemas.microsoft.com/office/powerpoint/2010/main" val="1348661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89E1D-A708-9C22-5E57-CC4C14DE31EC}"/>
              </a:ext>
            </a:extLst>
          </p:cNvPr>
          <p:cNvSpPr>
            <a:spLocks noGrp="1"/>
          </p:cNvSpPr>
          <p:nvPr>
            <p:ph type="title"/>
          </p:nvPr>
        </p:nvSpPr>
        <p:spPr>
          <a:xfrm>
            <a:off x="128464" y="334144"/>
            <a:ext cx="9649072" cy="504056"/>
          </a:xfrm>
        </p:spPr>
        <p:txBody>
          <a:bodyPr>
            <a:normAutofit fontScale="90000"/>
          </a:bodyPr>
          <a:lstStyle/>
          <a:p>
            <a:r>
              <a:rPr lang="en-US" altLang="ja-JP" dirty="0">
                <a:latin typeface="Arial" panose="020B0604020202020204" pitchFamily="34" charset="0"/>
                <a:ea typeface="MS UI Gothic" panose="020B0600070205080204" pitchFamily="50" charset="-128"/>
              </a:rPr>
              <a:t>Execute</a:t>
            </a:r>
            <a:endParaRPr kumimoji="1" lang="ja-JP" altLang="en-US" dirty="0"/>
          </a:p>
        </p:txBody>
      </p:sp>
      <p:sp>
        <p:nvSpPr>
          <p:cNvPr id="4" name="Slide Number Placeholder 3">
            <a:extLst>
              <a:ext uri="{FF2B5EF4-FFF2-40B4-BE49-F238E27FC236}">
                <a16:creationId xmlns:a16="http://schemas.microsoft.com/office/drawing/2014/main" id="{A77AC074-9F1C-A84B-3D39-81C9FB421447}"/>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19</a:t>
            </a:fld>
            <a:endParaRPr lang="en-US" altLang="ja-JP"/>
          </a:p>
        </p:txBody>
      </p:sp>
      <p:sp>
        <p:nvSpPr>
          <p:cNvPr id="7" name="Rectangle 3">
            <a:extLst>
              <a:ext uri="{FF2B5EF4-FFF2-40B4-BE49-F238E27FC236}">
                <a16:creationId xmlns:a16="http://schemas.microsoft.com/office/drawing/2014/main" id="{8EC50CDB-374B-F32E-E5FE-585B68904B85}"/>
              </a:ext>
            </a:extLst>
          </p:cNvPr>
          <p:cNvSpPr>
            <a:spLocks noChangeArrowheads="1"/>
          </p:cNvSpPr>
          <p:nvPr/>
        </p:nvSpPr>
        <p:spPr bwMode="auto">
          <a:xfrm>
            <a:off x="304800" y="9398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sz="2000">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2pPr>
            <a:lvl3pPr marL="893763" indent="-266700">
              <a:spcBef>
                <a:spcPct val="10000"/>
              </a:spcBef>
              <a:defRPr kumimoji="1" sz="2000">
                <a:solidFill>
                  <a:schemeClr val="tx1"/>
                </a:solidFill>
                <a:latin typeface="MS UI Gothic" panose="020B0600070205080204" pitchFamily="50" charset="-128"/>
                <a:ea typeface="MS UI Gothic" panose="020B0600070205080204" pitchFamily="50" charset="-128"/>
              </a:defRPr>
            </a:lvl3pPr>
            <a:lvl4pPr marL="1339850" indent="-228600">
              <a:spcBef>
                <a:spcPct val="10000"/>
              </a:spcBef>
              <a:buFont typeface="Wingdings" panose="05000000000000000000" pitchFamily="2" charset="2"/>
              <a:defRPr kumimoji="1" sz="2000">
                <a:solidFill>
                  <a:schemeClr val="tx1"/>
                </a:solidFill>
                <a:latin typeface="MS UI Gothic" panose="020B0600070205080204" pitchFamily="50" charset="-128"/>
                <a:ea typeface="MS UI Gothic" panose="020B0600070205080204" pitchFamily="50" charset="-128"/>
              </a:defRPr>
            </a:lvl4pPr>
            <a:lvl5pPr marL="1747838" indent="-228600">
              <a:spcBef>
                <a:spcPct val="10000"/>
              </a:spcBef>
              <a:defRPr kumimoji="1" sz="2000">
                <a:solidFill>
                  <a:schemeClr val="tx1"/>
                </a:solidFill>
                <a:latin typeface="MS UI Gothic" panose="020B0600070205080204" pitchFamily="50" charset="-128"/>
                <a:ea typeface="MS UI Gothic" panose="020B0600070205080204" pitchFamily="50" charset="-128"/>
              </a:defRPr>
            </a:lvl5pPr>
            <a:lvl6pPr marL="22050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6pPr>
            <a:lvl7pPr marL="26622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7pPr>
            <a:lvl8pPr marL="31194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8pPr>
            <a:lvl9pPr marL="3576638" indent="-228600" eaLnBrk="0" fontAlgn="base" hangingPunct="0">
              <a:spcBef>
                <a:spcPct val="10000"/>
              </a:spcBef>
              <a:spcAft>
                <a:spcPct val="0"/>
              </a:spcAft>
              <a:defRPr kumimoji="1" sz="2000">
                <a:solidFill>
                  <a:schemeClr val="tx1"/>
                </a:solidFill>
                <a:latin typeface="MS UI Gothic" panose="020B0600070205080204" pitchFamily="50" charset="-128"/>
                <a:ea typeface="MS UI Gothic" panose="020B0600070205080204" pitchFamily="50" charset="-128"/>
              </a:defRPr>
            </a:lvl9pPr>
          </a:lstStyle>
          <a:p>
            <a:pPr eaLnBrk="1" hangingPunct="1"/>
            <a:r>
              <a:rPr lang="en-US" altLang="ja-JP" sz="2400" b="0" dirty="0" err="1">
                <a:latin typeface="Arial" panose="020B0604020202020204" pitchFamily="34" charset="0"/>
              </a:rPr>
              <a:t>Trình</a:t>
            </a:r>
            <a:r>
              <a:rPr lang="en-US" altLang="ja-JP" sz="2400" b="0" dirty="0">
                <a:latin typeface="Arial" panose="020B0604020202020204" pitchFamily="34" charset="0"/>
              </a:rPr>
              <a:t> </a:t>
            </a:r>
            <a:r>
              <a:rPr lang="en-US" altLang="ja-JP" sz="2400" b="0" dirty="0" err="1">
                <a:latin typeface="Arial" panose="020B0604020202020204" pitchFamily="34" charset="0"/>
              </a:rPr>
              <a:t>tư</a:t>
            </a:r>
            <a:r>
              <a:rPr lang="en-US" altLang="ja-JP" sz="2400" b="0" dirty="0">
                <a:latin typeface="Arial" panose="020B0604020202020204" pitchFamily="34" charset="0"/>
              </a:rPr>
              <a:t>̣ execute</a:t>
            </a:r>
          </a:p>
          <a:p>
            <a:pPr lvl="1" eaLnBrk="1" hangingPunct="1"/>
            <a:endParaRPr lang="en-US" altLang="ja-JP" sz="2400" b="0" dirty="0">
              <a:latin typeface="Arial" panose="020B0604020202020204" pitchFamily="34" charset="0"/>
            </a:endParaRPr>
          </a:p>
        </p:txBody>
      </p:sp>
      <p:sp>
        <p:nvSpPr>
          <p:cNvPr id="8" name="Text Box 4">
            <a:extLst>
              <a:ext uri="{FF2B5EF4-FFF2-40B4-BE49-F238E27FC236}">
                <a16:creationId xmlns:a16="http://schemas.microsoft.com/office/drawing/2014/main" id="{CE64ACCA-C247-BE04-52BA-8C70ECD0F263}"/>
              </a:ext>
            </a:extLst>
          </p:cNvPr>
          <p:cNvSpPr txBox="1">
            <a:spLocks noChangeArrowheads="1"/>
          </p:cNvSpPr>
          <p:nvPr/>
        </p:nvSpPr>
        <p:spPr bwMode="auto">
          <a:xfrm>
            <a:off x="527050" y="2593975"/>
            <a:ext cx="8937625"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ja-JP" altLang="en-US" sz="2000"/>
              <a:t>　</a:t>
            </a:r>
            <a:r>
              <a:rPr lang="en-US" altLang="ja-JP" sz="2000"/>
              <a:t>2)</a:t>
            </a:r>
            <a:r>
              <a:rPr lang="ja-JP" altLang="en-US" sz="2000"/>
              <a:t>　</a:t>
            </a:r>
            <a:r>
              <a:rPr lang="en-US" altLang="ja-JP" sz="2000"/>
              <a:t>Thay đổi current folder thành chỗ lưu file</a:t>
            </a:r>
          </a:p>
        </p:txBody>
      </p:sp>
      <p:sp>
        <p:nvSpPr>
          <p:cNvPr id="9" name="Text Box 5">
            <a:extLst>
              <a:ext uri="{FF2B5EF4-FFF2-40B4-BE49-F238E27FC236}">
                <a16:creationId xmlns:a16="http://schemas.microsoft.com/office/drawing/2014/main" id="{D85029B3-6D03-06C3-B648-8876CAE163A7}"/>
              </a:ext>
            </a:extLst>
          </p:cNvPr>
          <p:cNvSpPr txBox="1">
            <a:spLocks noChangeArrowheads="1"/>
          </p:cNvSpPr>
          <p:nvPr/>
        </p:nvSpPr>
        <p:spPr bwMode="auto">
          <a:xfrm>
            <a:off x="527050" y="1919288"/>
            <a:ext cx="8937625"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ja-JP" altLang="en-US" sz="2000"/>
              <a:t>　</a:t>
            </a:r>
            <a:r>
              <a:rPr lang="en-US" altLang="ja-JP" sz="2000"/>
              <a:t>1)</a:t>
            </a:r>
            <a:r>
              <a:rPr lang="ja-JP" altLang="en-US" sz="2000"/>
              <a:t>　</a:t>
            </a:r>
            <a:r>
              <a:rPr lang="en-US" altLang="ja-JP" sz="2000"/>
              <a:t>Khởi động command prompt.</a:t>
            </a:r>
          </a:p>
        </p:txBody>
      </p:sp>
      <p:sp>
        <p:nvSpPr>
          <p:cNvPr id="10" name="Text Box 6">
            <a:extLst>
              <a:ext uri="{FF2B5EF4-FFF2-40B4-BE49-F238E27FC236}">
                <a16:creationId xmlns:a16="http://schemas.microsoft.com/office/drawing/2014/main" id="{60862BB3-43F9-12B9-8816-80FE49C72F70}"/>
              </a:ext>
            </a:extLst>
          </p:cNvPr>
          <p:cNvSpPr txBox="1">
            <a:spLocks noChangeArrowheads="1"/>
          </p:cNvSpPr>
          <p:nvPr/>
        </p:nvSpPr>
        <p:spPr bwMode="auto">
          <a:xfrm>
            <a:off x="527050" y="4464050"/>
            <a:ext cx="8937625"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ja-JP" altLang="en-US" sz="2000"/>
              <a:t>　</a:t>
            </a:r>
            <a:r>
              <a:rPr lang="en-US" altLang="ja-JP" sz="2000"/>
              <a:t>3)</a:t>
            </a:r>
            <a:r>
              <a:rPr lang="ja-JP" altLang="en-US" sz="2000"/>
              <a:t>　</a:t>
            </a:r>
            <a:r>
              <a:rPr lang="en-US" altLang="ja-JP" sz="2000"/>
              <a:t>Sử dụng </a:t>
            </a:r>
            <a:r>
              <a:rPr lang="en-US" altLang="ja-JP" sz="2000">
                <a:ea typeface="ＭＳ ゴシック" panose="020B0609070205080204" pitchFamily="49" charset="-128"/>
              </a:rPr>
              <a:t>java command để execute</a:t>
            </a:r>
            <a:r>
              <a:rPr lang="en-US" altLang="ja-JP" sz="2000"/>
              <a:t>.</a:t>
            </a:r>
          </a:p>
        </p:txBody>
      </p:sp>
      <p:sp>
        <p:nvSpPr>
          <p:cNvPr id="11" name="Text Box 7">
            <a:extLst>
              <a:ext uri="{FF2B5EF4-FFF2-40B4-BE49-F238E27FC236}">
                <a16:creationId xmlns:a16="http://schemas.microsoft.com/office/drawing/2014/main" id="{5B41D08F-DC21-978F-64D9-9B7ECC648EAF}"/>
              </a:ext>
            </a:extLst>
          </p:cNvPr>
          <p:cNvSpPr txBox="1">
            <a:spLocks noChangeArrowheads="1"/>
          </p:cNvSpPr>
          <p:nvPr/>
        </p:nvSpPr>
        <p:spPr bwMode="auto">
          <a:xfrm>
            <a:off x="527050" y="5303838"/>
            <a:ext cx="8937625" cy="473075"/>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marL="342900" indent="-342900">
              <a:defRPr kumimoji="1" sz="1000" b="1">
                <a:solidFill>
                  <a:schemeClr val="tx1"/>
                </a:solidFill>
                <a:latin typeface="Arial" panose="020B0604020202020204" pitchFamily="34" charset="0"/>
                <a:ea typeface="MS UI Gothic" panose="020B0600070205080204" pitchFamily="50" charset="-128"/>
              </a:defRPr>
            </a:lvl1pPr>
            <a:lvl2pPr marL="179388">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lnSpc>
                <a:spcPct val="112000"/>
              </a:lnSpc>
            </a:pPr>
            <a:r>
              <a:rPr lang="ja-JP" altLang="en-US" sz="2000"/>
              <a:t>　</a:t>
            </a:r>
            <a:r>
              <a:rPr lang="en-US" altLang="ja-JP" sz="2000"/>
              <a:t>4)</a:t>
            </a:r>
            <a:r>
              <a:rPr lang="ja-JP" altLang="en-US" sz="2000"/>
              <a:t>　</a:t>
            </a:r>
            <a:r>
              <a:rPr lang="en-US" altLang="ja-JP" sz="2000"/>
              <a:t>Xác nhận kết quả execute.</a:t>
            </a:r>
          </a:p>
        </p:txBody>
      </p:sp>
      <p:sp>
        <p:nvSpPr>
          <p:cNvPr id="12" name="Rectangle 10">
            <a:extLst>
              <a:ext uri="{FF2B5EF4-FFF2-40B4-BE49-F238E27FC236}">
                <a16:creationId xmlns:a16="http://schemas.microsoft.com/office/drawing/2014/main" id="{6EEF02F2-0560-0988-182E-724792534718}"/>
              </a:ext>
            </a:extLst>
          </p:cNvPr>
          <p:cNvSpPr>
            <a:spLocks noChangeArrowheads="1"/>
          </p:cNvSpPr>
          <p:nvPr/>
        </p:nvSpPr>
        <p:spPr bwMode="auto">
          <a:xfrm>
            <a:off x="349250" y="4078288"/>
            <a:ext cx="9313863" cy="2033587"/>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sz="1000" b="1">
                <a:solidFill>
                  <a:schemeClr val="tx1"/>
                </a:solidFill>
                <a:latin typeface="Arial" panose="020B0604020202020204" pitchFamily="34" charset="0"/>
                <a:ea typeface="MS UI Gothic" panose="020B0600070205080204" pitchFamily="50" charset="-128"/>
              </a:defRPr>
            </a:lvl1pPr>
            <a:lvl2pPr marL="742950" indent="-285750" defTabSz="863600">
              <a:defRPr kumimoji="1" sz="1000" b="1">
                <a:solidFill>
                  <a:schemeClr val="tx1"/>
                </a:solidFill>
                <a:latin typeface="Arial" panose="020B0604020202020204" pitchFamily="34" charset="0"/>
                <a:ea typeface="MS UI Gothic" panose="020B0600070205080204" pitchFamily="50" charset="-128"/>
              </a:defRPr>
            </a:lvl2pPr>
            <a:lvl3pPr marL="1143000" indent="-228600" defTabSz="863600">
              <a:defRPr kumimoji="1" sz="1000" b="1">
                <a:solidFill>
                  <a:schemeClr val="tx1"/>
                </a:solidFill>
                <a:latin typeface="Arial" panose="020B0604020202020204" pitchFamily="34" charset="0"/>
                <a:ea typeface="MS UI Gothic" panose="020B0600070205080204" pitchFamily="50" charset="-128"/>
              </a:defRPr>
            </a:lvl3pPr>
            <a:lvl4pPr marL="1600200" indent="-228600" defTabSz="863600">
              <a:defRPr kumimoji="1" sz="1000" b="1">
                <a:solidFill>
                  <a:schemeClr val="tx1"/>
                </a:solidFill>
                <a:latin typeface="Arial" panose="020B0604020202020204" pitchFamily="34" charset="0"/>
                <a:ea typeface="MS UI Gothic" panose="020B0600070205080204" pitchFamily="50" charset="-128"/>
              </a:defRPr>
            </a:lvl4pPr>
            <a:lvl5pPr marL="2057400" indent="-228600" defTabSz="863600">
              <a:defRPr kumimoji="1" sz="1000" b="1">
                <a:solidFill>
                  <a:schemeClr val="tx1"/>
                </a:solidFill>
                <a:latin typeface="Arial" panose="020B0604020202020204" pitchFamily="34" charset="0"/>
                <a:ea typeface="MS UI Gothic" panose="020B0600070205080204" pitchFamily="50" charset="-128"/>
              </a:defRPr>
            </a:lvl5pPr>
            <a:lvl6pPr marL="25146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endParaRPr lang="ja-JP" altLang="ja-JP" sz="1100" b="0">
              <a:ea typeface="ＭＳ Ｐゴシック" panose="020B0600070205080204" pitchFamily="50" charset="-128"/>
            </a:endParaRPr>
          </a:p>
        </p:txBody>
      </p:sp>
      <p:sp>
        <p:nvSpPr>
          <p:cNvPr id="13" name="Rectangle 12">
            <a:extLst>
              <a:ext uri="{FF2B5EF4-FFF2-40B4-BE49-F238E27FC236}">
                <a16:creationId xmlns:a16="http://schemas.microsoft.com/office/drawing/2014/main" id="{F120B444-5BB3-2A24-1536-5B47682C7171}"/>
              </a:ext>
            </a:extLst>
          </p:cNvPr>
          <p:cNvSpPr>
            <a:spLocks noChangeArrowheads="1"/>
          </p:cNvSpPr>
          <p:nvPr/>
        </p:nvSpPr>
        <p:spPr bwMode="auto">
          <a:xfrm>
            <a:off x="344488" y="1597025"/>
            <a:ext cx="9313862" cy="1792288"/>
          </a:xfrm>
          <a:prstGeom prst="rect">
            <a:avLst/>
          </a:prstGeom>
          <a:noFill/>
          <a:ln w="3810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sz="1000" b="1">
                <a:solidFill>
                  <a:schemeClr val="tx1"/>
                </a:solidFill>
                <a:latin typeface="Arial" panose="020B0604020202020204" pitchFamily="34" charset="0"/>
                <a:ea typeface="MS UI Gothic" panose="020B0600070205080204" pitchFamily="50" charset="-128"/>
              </a:defRPr>
            </a:lvl1pPr>
            <a:lvl2pPr marL="742950" indent="-285750" defTabSz="863600">
              <a:defRPr kumimoji="1" sz="1000" b="1">
                <a:solidFill>
                  <a:schemeClr val="tx1"/>
                </a:solidFill>
                <a:latin typeface="Arial" panose="020B0604020202020204" pitchFamily="34" charset="0"/>
                <a:ea typeface="MS UI Gothic" panose="020B0600070205080204" pitchFamily="50" charset="-128"/>
              </a:defRPr>
            </a:lvl2pPr>
            <a:lvl3pPr marL="1143000" indent="-228600" defTabSz="863600">
              <a:defRPr kumimoji="1" sz="1000" b="1">
                <a:solidFill>
                  <a:schemeClr val="tx1"/>
                </a:solidFill>
                <a:latin typeface="Arial" panose="020B0604020202020204" pitchFamily="34" charset="0"/>
                <a:ea typeface="MS UI Gothic" panose="020B0600070205080204" pitchFamily="50" charset="-128"/>
              </a:defRPr>
            </a:lvl3pPr>
            <a:lvl4pPr marL="1600200" indent="-228600" defTabSz="863600">
              <a:defRPr kumimoji="1" sz="1000" b="1">
                <a:solidFill>
                  <a:schemeClr val="tx1"/>
                </a:solidFill>
                <a:latin typeface="Arial" panose="020B0604020202020204" pitchFamily="34" charset="0"/>
                <a:ea typeface="MS UI Gothic" panose="020B0600070205080204" pitchFamily="50" charset="-128"/>
              </a:defRPr>
            </a:lvl4pPr>
            <a:lvl5pPr marL="2057400" indent="-228600" defTabSz="863600">
              <a:defRPr kumimoji="1" sz="1000" b="1">
                <a:solidFill>
                  <a:schemeClr val="tx1"/>
                </a:solidFill>
                <a:latin typeface="Arial" panose="020B0604020202020204" pitchFamily="34" charset="0"/>
                <a:ea typeface="MS UI Gothic" panose="020B0600070205080204" pitchFamily="50" charset="-128"/>
              </a:defRPr>
            </a:lvl5pPr>
            <a:lvl6pPr marL="25146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defTabSz="863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endParaRPr lang="ja-JP" altLang="ja-JP" sz="1100" b="0">
              <a:ea typeface="ＭＳ Ｐゴシック" panose="020B0600070205080204" pitchFamily="50" charset="-128"/>
            </a:endParaRPr>
          </a:p>
        </p:txBody>
      </p:sp>
      <p:sp>
        <p:nvSpPr>
          <p:cNvPr id="14" name="AutoShape 11">
            <a:extLst>
              <a:ext uri="{FF2B5EF4-FFF2-40B4-BE49-F238E27FC236}">
                <a16:creationId xmlns:a16="http://schemas.microsoft.com/office/drawing/2014/main" id="{3556EAAE-8891-C921-45D2-2AEA262499F6}"/>
              </a:ext>
            </a:extLst>
          </p:cNvPr>
          <p:cNvSpPr>
            <a:spLocks noChangeArrowheads="1"/>
          </p:cNvSpPr>
          <p:nvPr/>
        </p:nvSpPr>
        <p:spPr bwMode="auto">
          <a:xfrm>
            <a:off x="4035425" y="1160463"/>
            <a:ext cx="5429250" cy="558800"/>
          </a:xfrm>
          <a:prstGeom prst="wedgeRoundRectCallout">
            <a:avLst>
              <a:gd name="adj1" fmla="val -37690"/>
              <a:gd name="adj2" fmla="val 37218"/>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sz="1800"/>
              <a:t>Trường hợp tiếp tục compile để execute thì có thể lược 1) và 2)</a:t>
            </a:r>
          </a:p>
        </p:txBody>
      </p:sp>
      <p:sp>
        <p:nvSpPr>
          <p:cNvPr id="15" name="AutoShape 13">
            <a:extLst>
              <a:ext uri="{FF2B5EF4-FFF2-40B4-BE49-F238E27FC236}">
                <a16:creationId xmlns:a16="http://schemas.microsoft.com/office/drawing/2014/main" id="{62071C8C-5646-3A2B-EA61-FECF48911CD2}"/>
              </a:ext>
            </a:extLst>
          </p:cNvPr>
          <p:cNvSpPr>
            <a:spLocks noChangeArrowheads="1"/>
          </p:cNvSpPr>
          <p:nvPr/>
        </p:nvSpPr>
        <p:spPr bwMode="auto">
          <a:xfrm>
            <a:off x="4071938" y="3651250"/>
            <a:ext cx="5392737" cy="558800"/>
          </a:xfrm>
          <a:prstGeom prst="wedgeRoundRectCallout">
            <a:avLst>
              <a:gd name="adj1" fmla="val -8903"/>
              <a:gd name="adj2" fmla="val 18181"/>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sz="1800"/>
              <a:t>Trường hợp tiếp tục compile để execute thì chỉ tiến hành 3) và 4)</a:t>
            </a:r>
          </a:p>
        </p:txBody>
      </p:sp>
      <p:sp>
        <p:nvSpPr>
          <p:cNvPr id="16" name="AutoShape 14">
            <a:extLst>
              <a:ext uri="{FF2B5EF4-FFF2-40B4-BE49-F238E27FC236}">
                <a16:creationId xmlns:a16="http://schemas.microsoft.com/office/drawing/2014/main" id="{E9346784-2CB4-64A0-A00F-B9EA0F8F518D}"/>
              </a:ext>
            </a:extLst>
          </p:cNvPr>
          <p:cNvSpPr>
            <a:spLocks noChangeArrowheads="1"/>
          </p:cNvSpPr>
          <p:nvPr/>
        </p:nvSpPr>
        <p:spPr bwMode="auto">
          <a:xfrm>
            <a:off x="5614988" y="5124450"/>
            <a:ext cx="2943225" cy="390525"/>
          </a:xfrm>
          <a:prstGeom prst="wedgeRoundRectCallout">
            <a:avLst>
              <a:gd name="adj1" fmla="val -68931"/>
              <a:gd name="adj2" fmla="val 3983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sz="1700"/>
              <a:t>Hiển thị là </a:t>
            </a:r>
            <a:r>
              <a:rPr lang="ja-JP" altLang="en-US" sz="1700"/>
              <a:t>「</a:t>
            </a:r>
            <a:r>
              <a:rPr lang="en-US" altLang="ja-JP" sz="1700">
                <a:ea typeface="ＭＳ ゴシック" panose="020B0609070205080204" pitchFamily="49" charset="-128"/>
              </a:rPr>
              <a:t>Hello World!</a:t>
            </a:r>
            <a:r>
              <a:rPr lang="ja-JP" altLang="en-US" sz="1700"/>
              <a:t>」 </a:t>
            </a:r>
          </a:p>
        </p:txBody>
      </p:sp>
      <p:sp>
        <p:nvSpPr>
          <p:cNvPr id="17" name="AutoShape 15">
            <a:extLst>
              <a:ext uri="{FF2B5EF4-FFF2-40B4-BE49-F238E27FC236}">
                <a16:creationId xmlns:a16="http://schemas.microsoft.com/office/drawing/2014/main" id="{D452F009-3252-0617-1CD9-4D57CBEBA9BC}"/>
              </a:ext>
            </a:extLst>
          </p:cNvPr>
          <p:cNvSpPr>
            <a:spLocks noChangeArrowheads="1"/>
          </p:cNvSpPr>
          <p:nvPr/>
        </p:nvSpPr>
        <p:spPr bwMode="auto">
          <a:xfrm>
            <a:off x="5640388" y="4289425"/>
            <a:ext cx="2903537" cy="350838"/>
          </a:xfrm>
          <a:prstGeom prst="wedgeRoundRectCallout">
            <a:avLst>
              <a:gd name="adj1" fmla="val -70009"/>
              <a:gd name="adj2" fmla="val 4230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lvl1pPr>
              <a:defRPr kumimoji="1" sz="1000" b="1">
                <a:solidFill>
                  <a:schemeClr val="tx1"/>
                </a:solidFill>
                <a:latin typeface="Arial" panose="020B0604020202020204" pitchFamily="34" charset="0"/>
                <a:ea typeface="MS UI Gothic" panose="020B0600070205080204" pitchFamily="50" charset="-128"/>
              </a:defRPr>
            </a:lvl1pPr>
            <a:lvl2pPr marL="742950" indent="-285750">
              <a:defRPr kumimoji="1" sz="1000" b="1">
                <a:solidFill>
                  <a:schemeClr val="tx1"/>
                </a:solidFill>
                <a:latin typeface="Arial" panose="020B0604020202020204" pitchFamily="34" charset="0"/>
                <a:ea typeface="MS UI Gothic" panose="020B0600070205080204" pitchFamily="50" charset="-128"/>
              </a:defRPr>
            </a:lvl2pPr>
            <a:lvl3pPr marL="1143000" indent="-228600">
              <a:defRPr kumimoji="1" sz="1000" b="1">
                <a:solidFill>
                  <a:schemeClr val="tx1"/>
                </a:solidFill>
                <a:latin typeface="Arial" panose="020B0604020202020204" pitchFamily="34" charset="0"/>
                <a:ea typeface="MS UI Gothic" panose="020B0600070205080204" pitchFamily="50" charset="-128"/>
              </a:defRPr>
            </a:lvl3pPr>
            <a:lvl4pPr marL="1600200" indent="-228600">
              <a:defRPr kumimoji="1" sz="1000" b="1">
                <a:solidFill>
                  <a:schemeClr val="tx1"/>
                </a:solidFill>
                <a:latin typeface="Arial" panose="020B0604020202020204" pitchFamily="34" charset="0"/>
                <a:ea typeface="MS UI Gothic" panose="020B0600070205080204" pitchFamily="50" charset="-128"/>
              </a:defRPr>
            </a:lvl4pPr>
            <a:lvl5pPr marL="2057400" indent="-228600">
              <a:defRPr kumimoji="1" sz="1000" b="1">
                <a:solidFill>
                  <a:schemeClr val="tx1"/>
                </a:solidFill>
                <a:latin typeface="Arial" panose="020B0604020202020204" pitchFamily="34" charset="0"/>
                <a:ea typeface="MS UI Gothic" panose="020B0600070205080204" pitchFamily="50" charset="-128"/>
              </a:defRPr>
            </a:lvl5pPr>
            <a:lvl6pPr marL="25146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29718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4290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3886200" indent="-228600"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algn="ctr" eaLnBrk="1" hangingPunct="1"/>
            <a:r>
              <a:rPr lang="en-US" altLang="ja-JP" sz="1800">
                <a:ea typeface="ＭＳ ゴシック" panose="020B0609070205080204" pitchFamily="49" charset="-128"/>
              </a:rPr>
              <a:t>java HelloWorld</a:t>
            </a:r>
          </a:p>
        </p:txBody>
      </p:sp>
    </p:spTree>
    <p:extLst>
      <p:ext uri="{BB962C8B-B14F-4D97-AF65-F5344CB8AC3E}">
        <p14:creationId xmlns:p14="http://schemas.microsoft.com/office/powerpoint/2010/main" val="3194936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9DF01-B8FA-ECE2-A5F7-F56E72DA5372}"/>
              </a:ext>
            </a:extLst>
          </p:cNvPr>
          <p:cNvSpPr>
            <a:spLocks noGrp="1"/>
          </p:cNvSpPr>
          <p:nvPr>
            <p:ph type="title"/>
          </p:nvPr>
        </p:nvSpPr>
        <p:spPr/>
        <p:txBody>
          <a:bodyPr>
            <a:normAutofit fontScale="90000"/>
          </a:bodyPr>
          <a:lstStyle/>
          <a:p>
            <a:r>
              <a:rPr lang="en-US" altLang="ja-JP" dirty="0" err="1">
                <a:ea typeface="MS UI Gothic" panose="020B0600070205080204" pitchFamily="50" charset="-128"/>
              </a:rPr>
              <a:t>Cấu</a:t>
            </a:r>
            <a:r>
              <a:rPr lang="en-US" altLang="ja-JP" dirty="0">
                <a:ea typeface="MS UI Gothic" panose="020B0600070205080204" pitchFamily="50" charset="-128"/>
              </a:rPr>
              <a:t> </a:t>
            </a:r>
            <a:r>
              <a:rPr lang="en-US" altLang="ja-JP" dirty="0" err="1">
                <a:ea typeface="MS UI Gothic" panose="020B0600070205080204" pitchFamily="50" charset="-128"/>
              </a:rPr>
              <a:t>tạo</a:t>
            </a:r>
            <a:r>
              <a:rPr lang="en-US" altLang="ja-JP" dirty="0">
                <a:ea typeface="MS UI Gothic" panose="020B0600070205080204" pitchFamily="50" charset="-128"/>
              </a:rPr>
              <a:t> </a:t>
            </a:r>
            <a:r>
              <a:rPr lang="en-US" altLang="ja-JP" dirty="0" err="1">
                <a:ea typeface="MS UI Gothic" panose="020B0600070205080204" pitchFamily="50" charset="-128"/>
              </a:rPr>
              <a:t>cơ</a:t>
            </a:r>
            <a:r>
              <a:rPr lang="en-US" altLang="ja-JP" dirty="0">
                <a:ea typeface="MS UI Gothic" panose="020B0600070205080204" pitchFamily="50" charset="-128"/>
              </a:rPr>
              <a:t> </a:t>
            </a:r>
            <a:r>
              <a:rPr lang="en-US" altLang="ja-JP" dirty="0" err="1">
                <a:ea typeface="MS UI Gothic" panose="020B0600070205080204" pitchFamily="50" charset="-128"/>
              </a:rPr>
              <a:t>bản</a:t>
            </a:r>
            <a:r>
              <a:rPr lang="en-US" altLang="ja-JP" dirty="0">
                <a:ea typeface="MS UI Gothic" panose="020B0600070205080204" pitchFamily="50" charset="-128"/>
              </a:rPr>
              <a:t> </a:t>
            </a:r>
            <a:r>
              <a:rPr lang="en-US" altLang="ja-JP" dirty="0" err="1">
                <a:ea typeface="MS UI Gothic" panose="020B0600070205080204" pitchFamily="50" charset="-128"/>
              </a:rPr>
              <a:t>của</a:t>
            </a:r>
            <a:r>
              <a:rPr lang="en-US" altLang="ja-JP" dirty="0">
                <a:ea typeface="MS UI Gothic" panose="020B0600070205080204" pitchFamily="50" charset="-128"/>
              </a:rPr>
              <a:t> program</a:t>
            </a:r>
            <a:endParaRPr kumimoji="1" lang="ja-JP" altLang="en-US" dirty="0"/>
          </a:p>
        </p:txBody>
      </p:sp>
      <p:sp>
        <p:nvSpPr>
          <p:cNvPr id="3" name="Content Placeholder 2">
            <a:extLst>
              <a:ext uri="{FF2B5EF4-FFF2-40B4-BE49-F238E27FC236}">
                <a16:creationId xmlns:a16="http://schemas.microsoft.com/office/drawing/2014/main" id="{8C91EDC7-E885-E9D5-4786-4773ADE0BA1C}"/>
              </a:ext>
            </a:extLst>
          </p:cNvPr>
          <p:cNvSpPr>
            <a:spLocks noGrp="1"/>
          </p:cNvSpPr>
          <p:nvPr>
            <p:ph idx="1"/>
          </p:nvPr>
        </p:nvSpPr>
        <p:spPr/>
        <p:txBody>
          <a:bodyPr/>
          <a:lstStyle/>
          <a:p>
            <a:r>
              <a:rPr lang="en-US" altLang="ja-JP" dirty="0">
                <a:ea typeface="MS UI Gothic" panose="020B0600070205080204" pitchFamily="50" charset="-128"/>
              </a:rPr>
              <a:t>Khi </a:t>
            </a:r>
            <a:r>
              <a:rPr lang="en-US" altLang="ja-JP" dirty="0" err="1">
                <a:ea typeface="MS UI Gothic" panose="020B0600070205080204" pitchFamily="50" charset="-128"/>
              </a:rPr>
              <a:t>tạo</a:t>
            </a:r>
            <a:r>
              <a:rPr lang="en-US" altLang="ja-JP" dirty="0">
                <a:ea typeface="MS UI Gothic" panose="020B0600070205080204" pitchFamily="50" charset="-128"/>
              </a:rPr>
              <a:t> program </a:t>
            </a:r>
            <a:r>
              <a:rPr lang="en-US" altLang="ja-JP" dirty="0" err="1">
                <a:ea typeface="MS UI Gothic" panose="020B0600070205080204" pitchFamily="50" charset="-128"/>
              </a:rPr>
              <a:t>bằng</a:t>
            </a:r>
            <a:r>
              <a:rPr lang="en-US" altLang="ja-JP" dirty="0">
                <a:ea typeface="MS UI Gothic" panose="020B0600070205080204" pitchFamily="50" charset="-128"/>
              </a:rPr>
              <a:t> Java </a:t>
            </a:r>
            <a:r>
              <a:rPr lang="en-US" altLang="ja-JP" dirty="0" err="1">
                <a:ea typeface="MS UI Gothic" panose="020B0600070205080204" pitchFamily="50" charset="-128"/>
              </a:rPr>
              <a:t>thi</a:t>
            </a:r>
            <a:r>
              <a:rPr lang="en-US" altLang="ja-JP" dirty="0">
                <a:ea typeface="MS UI Gothic" panose="020B0600070205080204" pitchFamily="50" charset="-128"/>
              </a:rPr>
              <a:t>̀ sẽ </a:t>
            </a:r>
            <a:r>
              <a:rPr lang="en-US" altLang="ja-JP" dirty="0" err="1">
                <a:ea typeface="MS UI Gothic" panose="020B0600070205080204" pitchFamily="50" charset="-128"/>
              </a:rPr>
              <a:t>phải</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a:t>
            </a:r>
            <a:r>
              <a:rPr lang="en-US" altLang="ja-JP" dirty="0" err="1">
                <a:ea typeface="MS UI Gothic" panose="020B0600070205080204" pitchFamily="50" charset="-128"/>
              </a:rPr>
              <a:t>tư</a:t>
            </a:r>
            <a:r>
              <a:rPr lang="en-US" altLang="ja-JP" dirty="0">
                <a:ea typeface="MS UI Gothic" panose="020B0600070205080204" pitchFamily="50" charset="-128"/>
              </a:rPr>
              <a:t>̀ 1 class </a:t>
            </a:r>
            <a:r>
              <a:rPr lang="en-US" altLang="ja-JP" dirty="0" err="1">
                <a:ea typeface="MS UI Gothic" panose="020B0600070205080204" pitchFamily="50" charset="-128"/>
              </a:rPr>
              <a:t>trơ</a:t>
            </a:r>
            <a:r>
              <a:rPr lang="en-US" altLang="ja-JP" dirty="0">
                <a:ea typeface="MS UI Gothic" panose="020B0600070205080204" pitchFamily="50" charset="-128"/>
              </a:rPr>
              <a:t>̉ </a:t>
            </a:r>
            <a:r>
              <a:rPr lang="en-US" altLang="ja-JP" dirty="0" err="1">
                <a:ea typeface="MS UI Gothic" panose="020B0600070205080204" pitchFamily="50" charset="-128"/>
              </a:rPr>
              <a:t>lên</a:t>
            </a:r>
            <a:r>
              <a:rPr lang="en-US" altLang="ja-JP" dirty="0">
                <a:ea typeface="MS UI Gothic" panose="020B0600070205080204" pitchFamily="50" charset="-128"/>
              </a:rPr>
              <a:t>.</a:t>
            </a:r>
            <a:endParaRPr kumimoji="1" lang="ja-JP" altLang="en-US" dirty="0"/>
          </a:p>
        </p:txBody>
      </p:sp>
      <p:sp>
        <p:nvSpPr>
          <p:cNvPr id="4" name="Slide Number Placeholder 3">
            <a:extLst>
              <a:ext uri="{FF2B5EF4-FFF2-40B4-BE49-F238E27FC236}">
                <a16:creationId xmlns:a16="http://schemas.microsoft.com/office/drawing/2014/main" id="{28F0C5B1-0BD7-954B-664E-FE8656EE8487}"/>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20</a:t>
            </a:fld>
            <a:endParaRPr lang="en-US" altLang="ja-JP"/>
          </a:p>
        </p:txBody>
      </p:sp>
      <p:sp>
        <p:nvSpPr>
          <p:cNvPr id="5" name="Text Box 85">
            <a:extLst>
              <a:ext uri="{FF2B5EF4-FFF2-40B4-BE49-F238E27FC236}">
                <a16:creationId xmlns:a16="http://schemas.microsoft.com/office/drawing/2014/main" id="{935E34A4-2069-2A17-0D05-5C8F4DCA19F7}"/>
              </a:ext>
            </a:extLst>
          </p:cNvPr>
          <p:cNvSpPr txBox="1">
            <a:spLocks noChangeArrowheads="1"/>
          </p:cNvSpPr>
          <p:nvPr/>
        </p:nvSpPr>
        <p:spPr bwMode="auto">
          <a:xfrm>
            <a:off x="725488" y="4386263"/>
            <a:ext cx="5794375" cy="206707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endParaRPr lang="en-US" altLang="ja-JP" b="0" dirty="0">
              <a:latin typeface="ＭＳ ゴシック" panose="020B0609070205080204" pitchFamily="49" charset="-128"/>
              <a:ea typeface="ＭＳ ゴシック" panose="020B0609070205080204" pitchFamily="49" charset="-128"/>
            </a:endParaRPr>
          </a:p>
          <a:p>
            <a:pPr lvl="1" algn="just"/>
            <a:r>
              <a:rPr lang="en-US" altLang="ja-JP" b="0" dirty="0">
                <a:latin typeface="ＭＳ ゴシック" panose="020B0609070205080204" pitchFamily="49" charset="-128"/>
                <a:ea typeface="ＭＳ ゴシック" panose="020B0609070205080204" pitchFamily="49" charset="-128"/>
              </a:rPr>
              <a:t>class HelloWorld {</a:t>
            </a:r>
          </a:p>
          <a:p>
            <a:pPr lvl="1" algn="just"/>
            <a:endParaRPr lang="en-US" altLang="ja-JP" b="0" dirty="0">
              <a:latin typeface="ＭＳ ゴシック" panose="020B0609070205080204" pitchFamily="49" charset="-128"/>
              <a:ea typeface="ＭＳ ゴシック" panose="020B0609070205080204" pitchFamily="49" charset="-128"/>
            </a:endParaRPr>
          </a:p>
          <a:p>
            <a:pPr lvl="1" algn="just"/>
            <a:r>
              <a:rPr lang="en-US" altLang="ja-JP" b="0" dirty="0">
                <a:latin typeface="ＭＳ ゴシック" panose="020B0609070205080204" pitchFamily="49" charset="-128"/>
                <a:ea typeface="ＭＳ ゴシック" panose="020B0609070205080204" pitchFamily="49" charset="-128"/>
              </a:rPr>
              <a:t>    // main</a:t>
            </a:r>
            <a:r>
              <a:rPr lang="en-US" altLang="ja-JP" b="0" dirty="0">
                <a:latin typeface="MS UI Gothic" panose="020B0600070205080204" pitchFamily="50" charset="-128"/>
                <a:ea typeface="MS UI Gothic" panose="020B0600070205080204" pitchFamily="50" charset="-128"/>
              </a:rPr>
              <a:t> method</a:t>
            </a:r>
          </a:p>
          <a:p>
            <a:pPr lvl="1" algn="just"/>
            <a:r>
              <a:rPr lang="en-US" altLang="ja-JP" b="0" dirty="0">
                <a:latin typeface="ＭＳ ゴシック" panose="020B0609070205080204" pitchFamily="49" charset="-128"/>
                <a:ea typeface="ＭＳ ゴシック" panose="020B0609070205080204" pitchFamily="49" charset="-128"/>
              </a:rPr>
              <a:t>    public static void main(String[] </a:t>
            </a:r>
            <a:r>
              <a:rPr lang="en-US" altLang="ja-JP" b="0" dirty="0" err="1">
                <a:latin typeface="ＭＳ ゴシック" panose="020B0609070205080204" pitchFamily="49" charset="-128"/>
                <a:ea typeface="ＭＳ ゴシック" panose="020B0609070205080204" pitchFamily="49" charset="-128"/>
              </a:rPr>
              <a:t>args</a:t>
            </a:r>
            <a:r>
              <a:rPr lang="en-US" altLang="ja-JP" b="0" dirty="0">
                <a:latin typeface="ＭＳ ゴシック" panose="020B0609070205080204" pitchFamily="49" charset="-128"/>
                <a:ea typeface="ＭＳ ゴシック" panose="020B0609070205080204" pitchFamily="49" charset="-128"/>
              </a:rPr>
              <a:t>) {</a:t>
            </a:r>
          </a:p>
          <a:p>
            <a:pPr lvl="1" algn="just"/>
            <a:r>
              <a:rPr lang="en-US" altLang="ja-JP" b="0" dirty="0">
                <a:latin typeface="ＭＳ ゴシック" panose="020B0609070205080204" pitchFamily="49" charset="-128"/>
                <a:ea typeface="ＭＳ ゴシック" panose="020B0609070205080204" pitchFamily="49" charset="-128"/>
              </a:rPr>
              <a:t>              </a:t>
            </a:r>
            <a:r>
              <a:rPr lang="ja-JP" altLang="en-US" b="0" dirty="0">
                <a:latin typeface="ＭＳ ゴシック" panose="020B0609070205080204" pitchFamily="49" charset="-128"/>
                <a:ea typeface="ＭＳ ゴシック" panose="020B0609070205080204" pitchFamily="49" charset="-128"/>
              </a:rPr>
              <a:t>：</a:t>
            </a:r>
          </a:p>
          <a:p>
            <a:pPr lvl="1" algn="just"/>
            <a:r>
              <a:rPr lang="ja-JP" altLang="en-US" b="0" dirty="0">
                <a:latin typeface="ＭＳ ゴシック" panose="020B0609070205080204" pitchFamily="49" charset="-128"/>
                <a:ea typeface="ＭＳ ゴシック" panose="020B0609070205080204" pitchFamily="49" charset="-128"/>
              </a:rPr>
              <a:t>    </a:t>
            </a:r>
            <a:r>
              <a:rPr lang="en-US" altLang="ja-JP" b="0" dirty="0">
                <a:latin typeface="ＭＳ ゴシック" panose="020B0609070205080204" pitchFamily="49" charset="-128"/>
                <a:ea typeface="ＭＳ ゴシック" panose="020B0609070205080204" pitchFamily="49" charset="-128"/>
              </a:rPr>
              <a:t>}</a:t>
            </a:r>
          </a:p>
          <a:p>
            <a:pPr lvl="1" algn="just"/>
            <a:r>
              <a:rPr lang="en-US" altLang="ja-JP" b="0" dirty="0">
                <a:latin typeface="ＭＳ ゴシック" panose="020B0609070205080204" pitchFamily="49" charset="-128"/>
                <a:ea typeface="ＭＳ ゴシック" panose="020B0609070205080204" pitchFamily="49" charset="-128"/>
              </a:rPr>
              <a:t>}</a:t>
            </a:r>
          </a:p>
        </p:txBody>
      </p:sp>
      <p:sp>
        <p:nvSpPr>
          <p:cNvPr id="6" name="Rectangle 86">
            <a:extLst>
              <a:ext uri="{FF2B5EF4-FFF2-40B4-BE49-F238E27FC236}">
                <a16:creationId xmlns:a16="http://schemas.microsoft.com/office/drawing/2014/main" id="{67D67606-4418-A230-5508-29D1A0EE5887}"/>
              </a:ext>
            </a:extLst>
          </p:cNvPr>
          <p:cNvSpPr>
            <a:spLocks noChangeArrowheads="1"/>
          </p:cNvSpPr>
          <p:nvPr/>
        </p:nvSpPr>
        <p:spPr bwMode="auto">
          <a:xfrm>
            <a:off x="841375" y="4511675"/>
            <a:ext cx="5254625" cy="1293813"/>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7" name="Rectangle 87">
            <a:extLst>
              <a:ext uri="{FF2B5EF4-FFF2-40B4-BE49-F238E27FC236}">
                <a16:creationId xmlns:a16="http://schemas.microsoft.com/office/drawing/2014/main" id="{3B76D225-BC6F-7068-5869-EF59271EBFBD}"/>
              </a:ext>
            </a:extLst>
          </p:cNvPr>
          <p:cNvSpPr>
            <a:spLocks noChangeArrowheads="1"/>
          </p:cNvSpPr>
          <p:nvPr/>
        </p:nvSpPr>
        <p:spPr bwMode="auto">
          <a:xfrm>
            <a:off x="841375" y="4600575"/>
            <a:ext cx="3241675" cy="428625"/>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8" name="AutoShape 88">
            <a:extLst>
              <a:ext uri="{FF2B5EF4-FFF2-40B4-BE49-F238E27FC236}">
                <a16:creationId xmlns:a16="http://schemas.microsoft.com/office/drawing/2014/main" id="{8DBCC705-15FD-2E7B-98D6-4E3170492816}"/>
              </a:ext>
            </a:extLst>
          </p:cNvPr>
          <p:cNvSpPr>
            <a:spLocks noChangeArrowheads="1"/>
          </p:cNvSpPr>
          <p:nvPr/>
        </p:nvSpPr>
        <p:spPr bwMode="auto">
          <a:xfrm>
            <a:off x="4450564" y="4687801"/>
            <a:ext cx="4236236" cy="457200"/>
          </a:xfrm>
          <a:prstGeom prst="wedgeRoundRectCallout">
            <a:avLst>
              <a:gd name="adj1" fmla="val -43759"/>
              <a:gd name="adj2" fmla="val 11250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394" tIns="45695" rIns="91394" bIns="45695"/>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a:ea typeface="ＭＳ ゴシック" panose="020B0609070205080204" pitchFamily="49" charset="-128"/>
              </a:rPr>
              <a:t>main method là </a:t>
            </a:r>
            <a:r>
              <a:rPr lang="en-US" altLang="ja-JP" b="0" dirty="0" err="1">
                <a:ea typeface="ＭＳ ゴシック" panose="020B0609070205080204" pitchFamily="49" charset="-128"/>
              </a:rPr>
              <a:t>điểm</a:t>
            </a:r>
            <a:r>
              <a:rPr lang="en-US" altLang="ja-JP" b="0" dirty="0">
                <a:ea typeface="ＭＳ ゴシック" panose="020B0609070205080204" pitchFamily="49" charset="-128"/>
              </a:rPr>
              <a:t> </a:t>
            </a:r>
            <a:r>
              <a:rPr lang="en-US" altLang="ja-JP" b="0" dirty="0" err="1">
                <a:ea typeface="ＭＳ ゴシック" panose="020B0609070205080204" pitchFamily="49" charset="-128"/>
              </a:rPr>
              <a:t>bắt</a:t>
            </a:r>
            <a:r>
              <a:rPr lang="en-US" altLang="ja-JP" b="0" dirty="0">
                <a:ea typeface="ＭＳ ゴシック" panose="020B0609070205080204" pitchFamily="49" charset="-128"/>
              </a:rPr>
              <a:t> </a:t>
            </a:r>
            <a:r>
              <a:rPr lang="en-US" altLang="ja-JP" b="0" dirty="0" err="1">
                <a:ea typeface="ＭＳ ゴシック" panose="020B0609070205080204" pitchFamily="49" charset="-128"/>
              </a:rPr>
              <a:t>đầu</a:t>
            </a:r>
            <a:r>
              <a:rPr lang="en-US" altLang="ja-JP" b="0" dirty="0">
                <a:ea typeface="ＭＳ ゴシック" panose="020B0609070205080204" pitchFamily="49" charset="-128"/>
              </a:rPr>
              <a:t> program</a:t>
            </a:r>
            <a:endParaRPr lang="en-US" altLang="ja-JP" b="0" dirty="0">
              <a:ea typeface="MS UI Gothic" panose="020B0600070205080204" pitchFamily="50" charset="-128"/>
            </a:endParaRPr>
          </a:p>
        </p:txBody>
      </p:sp>
      <p:grpSp>
        <p:nvGrpSpPr>
          <p:cNvPr id="9" name="Group 118">
            <a:extLst>
              <a:ext uri="{FF2B5EF4-FFF2-40B4-BE49-F238E27FC236}">
                <a16:creationId xmlns:a16="http://schemas.microsoft.com/office/drawing/2014/main" id="{E674BE71-095E-5C89-C61C-ACA38405303E}"/>
              </a:ext>
            </a:extLst>
          </p:cNvPr>
          <p:cNvGrpSpPr>
            <a:grpSpLocks/>
          </p:cNvGrpSpPr>
          <p:nvPr/>
        </p:nvGrpSpPr>
        <p:grpSpPr bwMode="auto">
          <a:xfrm>
            <a:off x="754912" y="2245310"/>
            <a:ext cx="5794375" cy="1782003"/>
            <a:chOff x="437" y="1390"/>
            <a:chExt cx="3518" cy="805"/>
          </a:xfrm>
        </p:grpSpPr>
        <p:sp>
          <p:nvSpPr>
            <p:cNvPr id="10" name="Text Box 90">
              <a:extLst>
                <a:ext uri="{FF2B5EF4-FFF2-40B4-BE49-F238E27FC236}">
                  <a16:creationId xmlns:a16="http://schemas.microsoft.com/office/drawing/2014/main" id="{00B83233-9179-E74F-E9B5-F378455B0FA4}"/>
                </a:ext>
              </a:extLst>
            </p:cNvPr>
            <p:cNvSpPr txBox="1">
              <a:spLocks noChangeArrowheads="1"/>
            </p:cNvSpPr>
            <p:nvPr/>
          </p:nvSpPr>
          <p:spPr bwMode="auto">
            <a:xfrm>
              <a:off x="437" y="1390"/>
              <a:ext cx="3518" cy="80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endParaRPr lang="en-US" altLang="ja-JP" b="0" dirty="0">
                <a:latin typeface="ＭＳ ゴシック" panose="020B0609070205080204" pitchFamily="49" charset="-128"/>
                <a:ea typeface="ＭＳ ゴシック" panose="020B0609070205080204" pitchFamily="49" charset="-128"/>
              </a:endParaRPr>
            </a:p>
            <a:p>
              <a:pPr lvl="1" algn="just"/>
              <a:r>
                <a:rPr lang="en-US" altLang="ja-JP" b="0" dirty="0">
                  <a:latin typeface="ＭＳ ゴシック" panose="020B0609070205080204" pitchFamily="49" charset="-128"/>
                  <a:ea typeface="ＭＳ ゴシック" panose="020B0609070205080204" pitchFamily="49" charset="-128"/>
                </a:rPr>
                <a:t>class </a:t>
              </a:r>
              <a:r>
                <a:rPr lang="en-US" altLang="ja-JP" b="0" dirty="0" err="1">
                  <a:latin typeface="MS UI Gothic" panose="020B0600070205080204" pitchFamily="50" charset="-128"/>
                  <a:ea typeface="MS UI Gothic" panose="020B0600070205080204" pitchFamily="50" charset="-128"/>
                </a:rPr>
                <a:t>Class</a:t>
              </a:r>
              <a:r>
                <a:rPr lang="en-US" altLang="ja-JP" b="0" dirty="0">
                  <a:latin typeface="MS UI Gothic" panose="020B0600070205080204" pitchFamily="50" charset="-128"/>
                  <a:ea typeface="MS UI Gothic" panose="020B0600070205080204" pitchFamily="50" charset="-128"/>
                </a:rPr>
                <a:t> name</a:t>
              </a:r>
              <a:r>
                <a:rPr lang="en-US" altLang="ja-JP" b="0" dirty="0">
                  <a:latin typeface="ＭＳ ゴシック" panose="020B0609070205080204" pitchFamily="49" charset="-128"/>
                  <a:ea typeface="ＭＳ ゴシック" panose="020B0609070205080204" pitchFamily="49" charset="-128"/>
                </a:rPr>
                <a:t> {</a:t>
              </a:r>
            </a:p>
            <a:p>
              <a:pPr lvl="1" algn="just"/>
              <a:r>
                <a:rPr lang="en-US" altLang="ja-JP" b="0" dirty="0">
                  <a:latin typeface="ＭＳ ゴシック" panose="020B0609070205080204" pitchFamily="49" charset="-128"/>
                  <a:ea typeface="ＭＳ ゴシック" panose="020B0609070205080204" pitchFamily="49" charset="-128"/>
                </a:rPr>
                <a:t>    :</a:t>
              </a:r>
            </a:p>
            <a:p>
              <a:pPr lvl="1" algn="just"/>
              <a:r>
                <a:rPr lang="en-US" altLang="ja-JP" b="0" dirty="0">
                  <a:latin typeface="ＭＳ ゴシック" panose="020B0609070205080204" pitchFamily="49" charset="-128"/>
                  <a:ea typeface="ＭＳ ゴシック" panose="020B0609070205080204" pitchFamily="49" charset="-128"/>
                </a:rPr>
                <a:t>    </a:t>
              </a:r>
              <a:r>
                <a:rPr lang="en-US" altLang="ja-JP" b="0" dirty="0">
                  <a:latin typeface="MS UI Gothic" panose="020B0600070205080204" pitchFamily="50" charset="-128"/>
                  <a:ea typeface="MS UI Gothic" panose="020B0600070205080204" pitchFamily="50" charset="-128"/>
                </a:rPr>
                <a:t>Method</a:t>
              </a:r>
              <a:r>
                <a:rPr lang="en-US" altLang="ja-JP" b="0" dirty="0">
                  <a:latin typeface="ＭＳ ゴシック" panose="020B0609070205080204" pitchFamily="49" charset="-128"/>
                  <a:ea typeface="ＭＳ ゴシック" panose="020B0609070205080204" pitchFamily="49" charset="-128"/>
                </a:rPr>
                <a:t> {</a:t>
              </a:r>
            </a:p>
            <a:p>
              <a:pPr lvl="1" algn="just"/>
              <a:r>
                <a:rPr lang="en-US" altLang="ja-JP" b="0" dirty="0">
                  <a:latin typeface="ＭＳ ゴシック" panose="020B0609070205080204" pitchFamily="49" charset="-128"/>
                  <a:ea typeface="ＭＳ ゴシック" panose="020B0609070205080204" pitchFamily="49" charset="-128"/>
                </a:rPr>
                <a:t>        </a:t>
              </a:r>
              <a:r>
                <a:rPr lang="ja-JP" altLang="en-US" b="0" dirty="0">
                  <a:latin typeface="ＭＳ ゴシック" panose="020B0609070205080204" pitchFamily="49" charset="-128"/>
                  <a:ea typeface="ＭＳ ゴシック" panose="020B0609070205080204" pitchFamily="49" charset="-128"/>
                </a:rPr>
                <a:t>：</a:t>
              </a:r>
            </a:p>
            <a:p>
              <a:pPr lvl="1" algn="just"/>
              <a:r>
                <a:rPr lang="ja-JP" altLang="en-US" b="0" dirty="0">
                  <a:latin typeface="ＭＳ ゴシック" panose="020B0609070205080204" pitchFamily="49" charset="-128"/>
                  <a:ea typeface="ＭＳ ゴシック" panose="020B0609070205080204" pitchFamily="49" charset="-128"/>
                </a:rPr>
                <a:t>    </a:t>
              </a:r>
              <a:r>
                <a:rPr lang="en-US" altLang="ja-JP" b="0" dirty="0">
                  <a:latin typeface="ＭＳ ゴシック" panose="020B0609070205080204" pitchFamily="49" charset="-128"/>
                  <a:ea typeface="ＭＳ ゴシック" panose="020B0609070205080204" pitchFamily="49" charset="-128"/>
                </a:rPr>
                <a:t>}</a:t>
              </a:r>
            </a:p>
            <a:p>
              <a:pPr lvl="1" algn="just"/>
              <a:r>
                <a:rPr lang="en-US" altLang="ja-JP" b="0" dirty="0">
                  <a:latin typeface="ＭＳ ゴシック" panose="020B0609070205080204" pitchFamily="49" charset="-128"/>
                  <a:ea typeface="ＭＳ ゴシック" panose="020B0609070205080204" pitchFamily="49" charset="-128"/>
                </a:rPr>
                <a:t>}</a:t>
              </a:r>
            </a:p>
          </p:txBody>
        </p:sp>
        <p:sp>
          <p:nvSpPr>
            <p:cNvPr id="11" name="Rectangle 91">
              <a:extLst>
                <a:ext uri="{FF2B5EF4-FFF2-40B4-BE49-F238E27FC236}">
                  <a16:creationId xmlns:a16="http://schemas.microsoft.com/office/drawing/2014/main" id="{82B80EA0-137D-FE09-549B-1E657A507971}"/>
                </a:ext>
              </a:extLst>
            </p:cNvPr>
            <p:cNvSpPr>
              <a:spLocks noChangeArrowheads="1"/>
            </p:cNvSpPr>
            <p:nvPr/>
          </p:nvSpPr>
          <p:spPr bwMode="auto">
            <a:xfrm>
              <a:off x="490" y="1479"/>
              <a:ext cx="2262" cy="623"/>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12" name="Rectangle 92">
              <a:extLst>
                <a:ext uri="{FF2B5EF4-FFF2-40B4-BE49-F238E27FC236}">
                  <a16:creationId xmlns:a16="http://schemas.microsoft.com/office/drawing/2014/main" id="{44C6B781-6ACC-BA5F-038E-9B44465D361B}"/>
                </a:ext>
              </a:extLst>
            </p:cNvPr>
            <p:cNvSpPr>
              <a:spLocks noChangeArrowheads="1"/>
            </p:cNvSpPr>
            <p:nvPr/>
          </p:nvSpPr>
          <p:spPr bwMode="auto">
            <a:xfrm>
              <a:off x="636" y="1712"/>
              <a:ext cx="1845" cy="225"/>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13" name="Rectangle 93">
              <a:extLst>
                <a:ext uri="{FF2B5EF4-FFF2-40B4-BE49-F238E27FC236}">
                  <a16:creationId xmlns:a16="http://schemas.microsoft.com/office/drawing/2014/main" id="{690A2A5E-7D50-272B-E26D-48D8810FFED1}"/>
                </a:ext>
              </a:extLst>
            </p:cNvPr>
            <p:cNvSpPr>
              <a:spLocks noChangeArrowheads="1"/>
            </p:cNvSpPr>
            <p:nvPr/>
          </p:nvSpPr>
          <p:spPr bwMode="auto">
            <a:xfrm>
              <a:off x="2933" y="1496"/>
              <a:ext cx="892" cy="182"/>
            </a:xfrm>
            <a:prstGeom prst="rect">
              <a:avLst/>
            </a:prstGeom>
            <a:noFill/>
            <a:ln w="190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08" tIns="45703" rIns="91408" bIns="45703"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Class block</a:t>
              </a:r>
            </a:p>
          </p:txBody>
        </p:sp>
        <p:sp>
          <p:nvSpPr>
            <p:cNvPr id="14" name="Line 94">
              <a:extLst>
                <a:ext uri="{FF2B5EF4-FFF2-40B4-BE49-F238E27FC236}">
                  <a16:creationId xmlns:a16="http://schemas.microsoft.com/office/drawing/2014/main" id="{B6664204-14CA-246B-0B03-B42E66111494}"/>
                </a:ext>
              </a:extLst>
            </p:cNvPr>
            <p:cNvSpPr>
              <a:spLocks noChangeShapeType="1"/>
            </p:cNvSpPr>
            <p:nvPr/>
          </p:nvSpPr>
          <p:spPr bwMode="auto">
            <a:xfrm flipH="1">
              <a:off x="2747" y="1574"/>
              <a:ext cx="191" cy="0"/>
            </a:xfrm>
            <a:prstGeom prst="line">
              <a:avLst/>
            </a:prstGeom>
            <a:noFill/>
            <a:ln w="19050">
              <a:solidFill>
                <a:srgbClr val="3FB007"/>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nvGrpSpPr>
            <p:cNvPr id="15" name="Group 95">
              <a:extLst>
                <a:ext uri="{FF2B5EF4-FFF2-40B4-BE49-F238E27FC236}">
                  <a16:creationId xmlns:a16="http://schemas.microsoft.com/office/drawing/2014/main" id="{C67386C0-7FE3-2FF9-CB92-919C4884619D}"/>
                </a:ext>
              </a:extLst>
            </p:cNvPr>
            <p:cNvGrpSpPr>
              <a:grpSpLocks/>
            </p:cNvGrpSpPr>
            <p:nvPr/>
          </p:nvGrpSpPr>
          <p:grpSpPr bwMode="auto">
            <a:xfrm>
              <a:off x="2930" y="1725"/>
              <a:ext cx="1016" cy="207"/>
              <a:chOff x="3042" y="1775"/>
              <a:chExt cx="1054" cy="212"/>
            </a:xfrm>
          </p:grpSpPr>
          <p:sp>
            <p:nvSpPr>
              <p:cNvPr id="17" name="Rectangle 96">
                <a:extLst>
                  <a:ext uri="{FF2B5EF4-FFF2-40B4-BE49-F238E27FC236}">
                    <a16:creationId xmlns:a16="http://schemas.microsoft.com/office/drawing/2014/main" id="{0CD59097-FD50-D00B-0876-3BB0C8B85BEC}"/>
                  </a:ext>
                </a:extLst>
              </p:cNvPr>
              <p:cNvSpPr>
                <a:spLocks noChangeArrowheads="1"/>
              </p:cNvSpPr>
              <p:nvPr/>
            </p:nvSpPr>
            <p:spPr bwMode="auto">
              <a:xfrm>
                <a:off x="3060" y="1775"/>
                <a:ext cx="925" cy="194"/>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18" name="Text Box 97">
                <a:extLst>
                  <a:ext uri="{FF2B5EF4-FFF2-40B4-BE49-F238E27FC236}">
                    <a16:creationId xmlns:a16="http://schemas.microsoft.com/office/drawing/2014/main" id="{07E7801C-9FC1-4E40-9592-713A5987E599}"/>
                  </a:ext>
                </a:extLst>
              </p:cNvPr>
              <p:cNvSpPr txBox="1">
                <a:spLocks noChangeArrowheads="1"/>
              </p:cNvSpPr>
              <p:nvPr/>
            </p:nvSpPr>
            <p:spPr bwMode="auto">
              <a:xfrm>
                <a:off x="3042" y="1775"/>
                <a:ext cx="1054" cy="2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3" tIns="45712" rIns="91423" bIns="45712">
                <a:spAutoFit/>
              </a:bodyPr>
              <a:lstStyle/>
              <a:p>
                <a:pPr algn="ctr">
                  <a:spcBef>
                    <a:spcPct val="50000"/>
                  </a:spcBef>
                </a:pPr>
                <a:r>
                  <a:rPr lang="en-US" altLang="ja-JP" b="0"/>
                  <a:t>Method block</a:t>
                </a:r>
              </a:p>
            </p:txBody>
          </p:sp>
        </p:grpSp>
        <p:sp>
          <p:nvSpPr>
            <p:cNvPr id="16" name="Line 98">
              <a:extLst>
                <a:ext uri="{FF2B5EF4-FFF2-40B4-BE49-F238E27FC236}">
                  <a16:creationId xmlns:a16="http://schemas.microsoft.com/office/drawing/2014/main" id="{CA01B367-F3EC-6296-B59A-E6952A289C4C}"/>
                </a:ext>
              </a:extLst>
            </p:cNvPr>
            <p:cNvSpPr>
              <a:spLocks noChangeShapeType="1"/>
            </p:cNvSpPr>
            <p:nvPr/>
          </p:nvSpPr>
          <p:spPr bwMode="auto">
            <a:xfrm flipH="1">
              <a:off x="2481" y="1831"/>
              <a:ext cx="457" cy="0"/>
            </a:xfrm>
            <a:prstGeom prst="line">
              <a:avLst/>
            </a:prstGeom>
            <a:noFill/>
            <a:ln w="19050">
              <a:solidFill>
                <a:srgbClr val="FF8519"/>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Tree>
    <p:extLst>
      <p:ext uri="{BB962C8B-B14F-4D97-AF65-F5344CB8AC3E}">
        <p14:creationId xmlns:p14="http://schemas.microsoft.com/office/powerpoint/2010/main" val="3684992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02392-63F3-2B2F-2C64-33F082DE3D8C}"/>
              </a:ext>
            </a:extLst>
          </p:cNvPr>
          <p:cNvSpPr>
            <a:spLocks noGrp="1"/>
          </p:cNvSpPr>
          <p:nvPr>
            <p:ph type="title"/>
          </p:nvPr>
        </p:nvSpPr>
        <p:spPr/>
        <p:txBody>
          <a:bodyPr>
            <a:normAutofit fontScale="90000"/>
          </a:bodyPr>
          <a:lstStyle/>
          <a:p>
            <a:r>
              <a:rPr lang="en-US" altLang="ja-JP" dirty="0">
                <a:ea typeface="MS UI Gothic" panose="020B0600070205080204" pitchFamily="50" charset="-128"/>
              </a:rPr>
              <a:t>Khai </a:t>
            </a:r>
            <a:r>
              <a:rPr lang="en-US" altLang="ja-JP" dirty="0" err="1">
                <a:ea typeface="MS UI Gothic" panose="020B0600070205080204" pitchFamily="50" charset="-128"/>
              </a:rPr>
              <a:t>báo</a:t>
            </a:r>
            <a:r>
              <a:rPr lang="en-US" altLang="ja-JP" dirty="0">
                <a:ea typeface="MS UI Gothic" panose="020B0600070205080204" pitchFamily="50" charset="-128"/>
              </a:rPr>
              <a:t> </a:t>
            </a:r>
            <a:r>
              <a:rPr lang="en-US" altLang="ja-JP" dirty="0" err="1">
                <a:ea typeface="MS UI Gothic" panose="020B0600070205080204" pitchFamily="50" charset="-128"/>
              </a:rPr>
              <a:t>biến</a:t>
            </a:r>
            <a:r>
              <a:rPr lang="en-US" altLang="ja-JP" dirty="0">
                <a:ea typeface="MS UI Gothic" panose="020B0600070205080204" pitchFamily="50" charset="-128"/>
              </a:rPr>
              <a:t>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sư</a:t>
            </a:r>
            <a:r>
              <a:rPr lang="en-US" altLang="ja-JP" dirty="0">
                <a:ea typeface="MS UI Gothic" panose="020B0600070205080204" pitchFamily="50" charset="-128"/>
              </a:rPr>
              <a:t>̉ </a:t>
            </a:r>
            <a:r>
              <a:rPr lang="en-US" altLang="ja-JP" dirty="0" err="1">
                <a:ea typeface="MS UI Gothic" panose="020B0600070205080204" pitchFamily="50" charset="-128"/>
              </a:rPr>
              <a:t>dụng</a:t>
            </a:r>
            <a:r>
              <a:rPr lang="en-US" altLang="ja-JP" dirty="0">
                <a:ea typeface="MS UI Gothic" panose="020B0600070205080204" pitchFamily="50" charset="-128"/>
              </a:rPr>
              <a:t> </a:t>
            </a:r>
            <a:r>
              <a:rPr lang="en-US" altLang="ja-JP" dirty="0" err="1">
                <a:ea typeface="MS UI Gothic" panose="020B0600070205080204" pitchFamily="50" charset="-128"/>
              </a:rPr>
              <a:t>biến</a:t>
            </a:r>
            <a:endParaRPr kumimoji="1" lang="ja-JP" altLang="en-US" dirty="0"/>
          </a:p>
        </p:txBody>
      </p:sp>
      <p:sp>
        <p:nvSpPr>
          <p:cNvPr id="3" name="Content Placeholder 2">
            <a:extLst>
              <a:ext uri="{FF2B5EF4-FFF2-40B4-BE49-F238E27FC236}">
                <a16:creationId xmlns:a16="http://schemas.microsoft.com/office/drawing/2014/main" id="{BDDB394D-3044-E086-7FC6-2E22D89D6156}"/>
              </a:ext>
            </a:extLst>
          </p:cNvPr>
          <p:cNvSpPr>
            <a:spLocks noGrp="1"/>
          </p:cNvSpPr>
          <p:nvPr>
            <p:ph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D07404A3-8C6E-A264-7144-9E443B9B9949}"/>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21</a:t>
            </a:fld>
            <a:endParaRPr lang="en-US" altLang="ja-JP"/>
          </a:p>
        </p:txBody>
      </p:sp>
      <p:grpSp>
        <p:nvGrpSpPr>
          <p:cNvPr id="5" name="Group 126">
            <a:extLst>
              <a:ext uri="{FF2B5EF4-FFF2-40B4-BE49-F238E27FC236}">
                <a16:creationId xmlns:a16="http://schemas.microsoft.com/office/drawing/2014/main" id="{6F474793-6071-6AA5-3FFB-4EB3E27947BA}"/>
              </a:ext>
            </a:extLst>
          </p:cNvPr>
          <p:cNvGrpSpPr>
            <a:grpSpLocks/>
          </p:cNvGrpSpPr>
          <p:nvPr/>
        </p:nvGrpSpPr>
        <p:grpSpPr bwMode="auto">
          <a:xfrm>
            <a:off x="358776" y="1124745"/>
            <a:ext cx="8861747" cy="4284664"/>
            <a:chOff x="453" y="4178"/>
            <a:chExt cx="5265" cy="2699"/>
          </a:xfrm>
        </p:grpSpPr>
        <p:sp>
          <p:nvSpPr>
            <p:cNvPr id="6" name="Text Box 102">
              <a:extLst>
                <a:ext uri="{FF2B5EF4-FFF2-40B4-BE49-F238E27FC236}">
                  <a16:creationId xmlns:a16="http://schemas.microsoft.com/office/drawing/2014/main" id="{0F185CDF-AB5B-9746-0BB5-2E7D004DF920}"/>
                </a:ext>
              </a:extLst>
            </p:cNvPr>
            <p:cNvSpPr txBox="1">
              <a:spLocks noChangeArrowheads="1"/>
            </p:cNvSpPr>
            <p:nvPr/>
          </p:nvSpPr>
          <p:spPr bwMode="auto">
            <a:xfrm>
              <a:off x="453" y="4178"/>
              <a:ext cx="5265" cy="2699"/>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marL="358775" indent="-358775" defTabSz="447675">
                <a:defRPr kumimoji="1">
                  <a:solidFill>
                    <a:schemeClr val="tx1"/>
                  </a:solidFill>
                  <a:latin typeface="Arial" panose="020B0604020202020204" pitchFamily="34" charset="0"/>
                  <a:ea typeface="ＭＳ Ｐゴシック" panose="020B0600070205080204" pitchFamily="50" charset="-128"/>
                </a:defRPr>
              </a:lvl1pPr>
              <a:lvl2pPr marL="536575" indent="-357188" defTabSz="447675">
                <a:defRPr kumimoji="1">
                  <a:solidFill>
                    <a:schemeClr val="tx1"/>
                  </a:solidFill>
                  <a:latin typeface="Arial" panose="020B0604020202020204" pitchFamily="34" charset="0"/>
                  <a:ea typeface="ＭＳ Ｐゴシック" panose="020B0600070205080204" pitchFamily="50" charset="-128"/>
                </a:defRPr>
              </a:lvl2pPr>
              <a:lvl3pPr marL="1312863" indent="-358775" defTabSz="447675">
                <a:defRPr kumimoji="1">
                  <a:solidFill>
                    <a:schemeClr val="tx1"/>
                  </a:solidFill>
                  <a:latin typeface="Arial" panose="020B0604020202020204" pitchFamily="34" charset="0"/>
                  <a:ea typeface="ＭＳ Ｐゴシック" panose="020B0600070205080204" pitchFamily="50" charset="-128"/>
                </a:defRPr>
              </a:lvl3pPr>
              <a:lvl4pPr marL="1790700" indent="-360363" defTabSz="447675">
                <a:defRPr kumimoji="1">
                  <a:solidFill>
                    <a:schemeClr val="tx1"/>
                  </a:solidFill>
                  <a:latin typeface="Arial" panose="020B0604020202020204" pitchFamily="34" charset="0"/>
                  <a:ea typeface="ＭＳ Ｐゴシック" panose="020B0600070205080204" pitchFamily="50" charset="-128"/>
                </a:defRPr>
              </a:lvl4pPr>
              <a:lvl5pPr marL="2266950" indent="-357188" defTabSz="447675">
                <a:defRPr kumimoji="1">
                  <a:solidFill>
                    <a:schemeClr val="tx1"/>
                  </a:solidFill>
                  <a:latin typeface="Arial" panose="020B0604020202020204" pitchFamily="34" charset="0"/>
                  <a:ea typeface="ＭＳ Ｐゴシック" panose="020B0600070205080204" pitchFamily="50" charset="-128"/>
                </a:defRPr>
              </a:lvl5pPr>
              <a:lvl6pPr marL="27241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813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385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95750" indent="-357188"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HelloWorld.java</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class HelloWorld {</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public static void main(String[] </a:t>
              </a:r>
              <a:r>
                <a:rPr lang="en-US" altLang="ja-JP" b="0" dirty="0" err="1">
                  <a:latin typeface="ＭＳ ゴシック" panose="020B0609070205080204" pitchFamily="49" charset="-128"/>
                  <a:ea typeface="ＭＳ ゴシック" panose="020B0609070205080204" pitchFamily="49" charset="-128"/>
                </a:rPr>
                <a:t>args</a:t>
              </a:r>
              <a:r>
                <a:rPr lang="en-US" altLang="ja-JP" b="0" dirty="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int x;</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String str1;</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x = 10;</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str1 = "Hello";</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System.out.println</a:t>
              </a:r>
              <a:r>
                <a:rPr lang="en-US" altLang="ja-JP" b="0" dirty="0">
                  <a:latin typeface="ＭＳ ゴシック" panose="020B0609070205080204" pitchFamily="49" charset="-128"/>
                  <a:ea typeface="ＭＳ ゴシック" panose="020B0609070205080204" pitchFamily="49" charset="-128"/>
                </a:rPr>
                <a:t>(x);</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System.out.println</a:t>
              </a:r>
              <a:r>
                <a:rPr lang="en-US" altLang="ja-JP" b="0" dirty="0">
                  <a:latin typeface="ＭＳ ゴシック" panose="020B0609070205080204" pitchFamily="49" charset="-128"/>
                  <a:ea typeface="ＭＳ ゴシック" panose="020B0609070205080204" pitchFamily="49" charset="-128"/>
                </a:rPr>
                <a:t>(str1);</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    }</a:t>
              </a:r>
            </a:p>
            <a:p>
              <a:pPr lvl="1" algn="just">
                <a:spcBef>
                  <a:spcPct val="10000"/>
                </a:spcBef>
                <a:buFontTx/>
                <a:buAutoNum type="arabicPeriod"/>
              </a:pPr>
              <a:r>
                <a:rPr lang="en-US" altLang="ja-JP" b="0" dirty="0">
                  <a:latin typeface="ＭＳ ゴシック" panose="020B0609070205080204" pitchFamily="49" charset="-128"/>
                  <a:ea typeface="ＭＳ ゴシック" panose="020B0609070205080204" pitchFamily="49" charset="-128"/>
                </a:rPr>
                <a:t>}</a:t>
              </a:r>
            </a:p>
            <a:p>
              <a:pPr lvl="1" algn="just">
                <a:spcBef>
                  <a:spcPct val="10000"/>
                </a:spcBef>
                <a:buFontTx/>
                <a:buAutoNum type="arabicPeriod"/>
              </a:pPr>
              <a:endParaRPr lang="ja-JP" altLang="ja-JP" b="0" dirty="0">
                <a:latin typeface="ＭＳ ゴシック" panose="020B0609070205080204" pitchFamily="49" charset="-128"/>
                <a:ea typeface="ＭＳ ゴシック" panose="020B0609070205080204" pitchFamily="49" charset="-128"/>
              </a:endParaRPr>
            </a:p>
          </p:txBody>
        </p:sp>
        <p:sp>
          <p:nvSpPr>
            <p:cNvPr id="7" name="Rectangle 103">
              <a:extLst>
                <a:ext uri="{FF2B5EF4-FFF2-40B4-BE49-F238E27FC236}">
                  <a16:creationId xmlns:a16="http://schemas.microsoft.com/office/drawing/2014/main" id="{21F10333-0582-75F7-3FA5-84ECD3C1B34C}"/>
                </a:ext>
              </a:extLst>
            </p:cNvPr>
            <p:cNvSpPr>
              <a:spLocks noChangeArrowheads="1"/>
            </p:cNvSpPr>
            <p:nvPr/>
          </p:nvSpPr>
          <p:spPr bwMode="auto">
            <a:xfrm>
              <a:off x="1026" y="4811"/>
              <a:ext cx="1213" cy="410"/>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8" name="Rectangle 104">
              <a:extLst>
                <a:ext uri="{FF2B5EF4-FFF2-40B4-BE49-F238E27FC236}">
                  <a16:creationId xmlns:a16="http://schemas.microsoft.com/office/drawing/2014/main" id="{E202E5D7-08DD-AEF6-1B23-5DD5F7CCEE83}"/>
                </a:ext>
              </a:extLst>
            </p:cNvPr>
            <p:cNvSpPr>
              <a:spLocks noChangeArrowheads="1"/>
            </p:cNvSpPr>
            <p:nvPr/>
          </p:nvSpPr>
          <p:spPr bwMode="auto">
            <a:xfrm>
              <a:off x="1026" y="5294"/>
              <a:ext cx="1213" cy="439"/>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9" name="Rectangle 105">
              <a:extLst>
                <a:ext uri="{FF2B5EF4-FFF2-40B4-BE49-F238E27FC236}">
                  <a16:creationId xmlns:a16="http://schemas.microsoft.com/office/drawing/2014/main" id="{B3655C8A-7271-1710-765A-A072F0E65C86}"/>
                </a:ext>
              </a:extLst>
            </p:cNvPr>
            <p:cNvSpPr>
              <a:spLocks noChangeArrowheads="1"/>
            </p:cNvSpPr>
            <p:nvPr/>
          </p:nvSpPr>
          <p:spPr bwMode="auto">
            <a:xfrm>
              <a:off x="1032" y="5845"/>
              <a:ext cx="1788" cy="408"/>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10" name="Rectangle 106">
              <a:extLst>
                <a:ext uri="{FF2B5EF4-FFF2-40B4-BE49-F238E27FC236}">
                  <a16:creationId xmlns:a16="http://schemas.microsoft.com/office/drawing/2014/main" id="{CA7DCAE8-51BA-F1CB-8DF4-52628647EB2E}"/>
                </a:ext>
              </a:extLst>
            </p:cNvPr>
            <p:cNvSpPr>
              <a:spLocks noChangeArrowheads="1"/>
            </p:cNvSpPr>
            <p:nvPr/>
          </p:nvSpPr>
          <p:spPr bwMode="auto">
            <a:xfrm>
              <a:off x="2820" y="4727"/>
              <a:ext cx="925" cy="186"/>
            </a:xfrm>
            <a:prstGeom prst="rect">
              <a:avLst/>
            </a:prstGeom>
            <a:noFill/>
            <a:ln w="190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08" tIns="45703" rIns="91408" bIns="45703"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Khai báo biến</a:t>
              </a:r>
            </a:p>
          </p:txBody>
        </p:sp>
        <p:sp>
          <p:nvSpPr>
            <p:cNvPr id="11" name="Rectangle 112">
              <a:extLst>
                <a:ext uri="{FF2B5EF4-FFF2-40B4-BE49-F238E27FC236}">
                  <a16:creationId xmlns:a16="http://schemas.microsoft.com/office/drawing/2014/main" id="{EB67DF0C-9008-50BF-BCF7-D2A93269543C}"/>
                </a:ext>
              </a:extLst>
            </p:cNvPr>
            <p:cNvSpPr>
              <a:spLocks noChangeArrowheads="1"/>
            </p:cNvSpPr>
            <p:nvPr/>
          </p:nvSpPr>
          <p:spPr bwMode="auto">
            <a:xfrm>
              <a:off x="2823" y="4959"/>
              <a:ext cx="1304" cy="186"/>
            </a:xfrm>
            <a:prstGeom prst="rect">
              <a:avLst/>
            </a:prstGeom>
            <a:noFill/>
            <a:ln w="190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08" tIns="45703" rIns="91408" bIns="45703"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err="1">
                  <a:ea typeface="MS UI Gothic" panose="020B0600070205080204" pitchFamily="50" charset="-128"/>
                </a:rPr>
                <a:t>Gán</a:t>
              </a:r>
              <a:r>
                <a:rPr lang="en-US" altLang="ja-JP" b="0" dirty="0">
                  <a:ea typeface="MS UI Gothic" panose="020B0600070205080204" pitchFamily="50" charset="-128"/>
                </a:rPr>
                <a:t> </a:t>
              </a:r>
              <a:r>
                <a:rPr lang="en-US" altLang="ja-JP" b="0" dirty="0" err="1">
                  <a:ea typeface="MS UI Gothic" panose="020B0600070205080204" pitchFamily="50" charset="-128"/>
                </a:rPr>
                <a:t>gia</a:t>
              </a:r>
              <a:r>
                <a:rPr lang="en-US" altLang="ja-JP" b="0" dirty="0">
                  <a:ea typeface="MS UI Gothic" panose="020B0600070205080204" pitchFamily="50" charset="-128"/>
                </a:rPr>
                <a:t>́ trị </a:t>
              </a:r>
              <a:r>
                <a:rPr lang="en-US" altLang="ja-JP" b="0" dirty="0" err="1">
                  <a:ea typeface="MS UI Gothic" panose="020B0600070205080204" pitchFamily="50" charset="-128"/>
                </a:rPr>
                <a:t>cho</a:t>
              </a:r>
              <a:r>
                <a:rPr lang="en-US" altLang="ja-JP" b="0" dirty="0">
                  <a:ea typeface="MS UI Gothic" panose="020B0600070205080204" pitchFamily="50" charset="-128"/>
                </a:rPr>
                <a:t> </a:t>
              </a:r>
              <a:r>
                <a:rPr lang="en-US" altLang="ja-JP" b="0" dirty="0" err="1">
                  <a:ea typeface="MS UI Gothic" panose="020B0600070205080204" pitchFamily="50" charset="-128"/>
                </a:rPr>
                <a:t>biến</a:t>
              </a:r>
              <a:endParaRPr lang="en-US" altLang="ja-JP" b="0" dirty="0">
                <a:ea typeface="MS UI Gothic" panose="020B0600070205080204" pitchFamily="50" charset="-128"/>
              </a:endParaRPr>
            </a:p>
          </p:txBody>
        </p:sp>
        <p:sp>
          <p:nvSpPr>
            <p:cNvPr id="12" name="Rectangle 115">
              <a:extLst>
                <a:ext uri="{FF2B5EF4-FFF2-40B4-BE49-F238E27FC236}">
                  <a16:creationId xmlns:a16="http://schemas.microsoft.com/office/drawing/2014/main" id="{6059B771-1717-A82D-28C4-737EBBE93C17}"/>
                </a:ext>
              </a:extLst>
            </p:cNvPr>
            <p:cNvSpPr>
              <a:spLocks noChangeArrowheads="1"/>
            </p:cNvSpPr>
            <p:nvPr/>
          </p:nvSpPr>
          <p:spPr bwMode="auto">
            <a:xfrm>
              <a:off x="3079" y="5439"/>
              <a:ext cx="1598" cy="186"/>
            </a:xfrm>
            <a:prstGeom prst="rect">
              <a:avLst/>
            </a:prstGeom>
            <a:noFill/>
            <a:ln w="1905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08" tIns="45703" rIns="91408" bIns="45703"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Hiển thị giá trị của biến</a:t>
              </a:r>
            </a:p>
          </p:txBody>
        </p:sp>
        <p:cxnSp>
          <p:nvCxnSpPr>
            <p:cNvPr id="13" name="AutoShape 123">
              <a:extLst>
                <a:ext uri="{FF2B5EF4-FFF2-40B4-BE49-F238E27FC236}">
                  <a16:creationId xmlns:a16="http://schemas.microsoft.com/office/drawing/2014/main" id="{31A4E033-7776-8451-A35E-F23481A23FA1}"/>
                </a:ext>
              </a:extLst>
            </p:cNvPr>
            <p:cNvCxnSpPr>
              <a:cxnSpLocks noChangeShapeType="1"/>
              <a:stCxn id="10" idx="1"/>
              <a:endCxn id="7" idx="3"/>
            </p:cNvCxnSpPr>
            <p:nvPr/>
          </p:nvCxnSpPr>
          <p:spPr bwMode="auto">
            <a:xfrm flipH="1">
              <a:off x="2239" y="4820"/>
              <a:ext cx="581" cy="196"/>
            </a:xfrm>
            <a:prstGeom prst="straightConnector1">
              <a:avLst/>
            </a:prstGeom>
            <a:noFill/>
            <a:ln w="190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24">
              <a:extLst>
                <a:ext uri="{FF2B5EF4-FFF2-40B4-BE49-F238E27FC236}">
                  <a16:creationId xmlns:a16="http://schemas.microsoft.com/office/drawing/2014/main" id="{1E2B867D-A768-E599-A0D2-82670D3F7978}"/>
                </a:ext>
              </a:extLst>
            </p:cNvPr>
            <p:cNvCxnSpPr>
              <a:cxnSpLocks noChangeShapeType="1"/>
              <a:stCxn id="11" idx="1"/>
              <a:endCxn id="8" idx="3"/>
            </p:cNvCxnSpPr>
            <p:nvPr/>
          </p:nvCxnSpPr>
          <p:spPr bwMode="auto">
            <a:xfrm flipH="1">
              <a:off x="2239" y="5052"/>
              <a:ext cx="584" cy="462"/>
            </a:xfrm>
            <a:prstGeom prst="straightConnector1">
              <a:avLst/>
            </a:prstGeom>
            <a:noFill/>
            <a:ln w="190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25">
              <a:extLst>
                <a:ext uri="{FF2B5EF4-FFF2-40B4-BE49-F238E27FC236}">
                  <a16:creationId xmlns:a16="http://schemas.microsoft.com/office/drawing/2014/main" id="{BEFE5951-E3B8-9F81-A5F4-28B0CAB0574E}"/>
                </a:ext>
              </a:extLst>
            </p:cNvPr>
            <p:cNvCxnSpPr>
              <a:cxnSpLocks noChangeShapeType="1"/>
              <a:stCxn id="12" idx="1"/>
              <a:endCxn id="9" idx="3"/>
            </p:cNvCxnSpPr>
            <p:nvPr/>
          </p:nvCxnSpPr>
          <p:spPr bwMode="auto">
            <a:xfrm flipH="1">
              <a:off x="2820" y="5532"/>
              <a:ext cx="259" cy="517"/>
            </a:xfrm>
            <a:prstGeom prst="straightConnector1">
              <a:avLst/>
            </a:prstGeom>
            <a:noFill/>
            <a:ln w="1905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324841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88AE-DB55-FF52-EDC2-7B7A68863AE3}"/>
              </a:ext>
            </a:extLst>
          </p:cNvPr>
          <p:cNvSpPr>
            <a:spLocks noGrp="1"/>
          </p:cNvSpPr>
          <p:nvPr>
            <p:ph type="title"/>
          </p:nvPr>
        </p:nvSpPr>
        <p:spPr/>
        <p:txBody>
          <a:bodyPr>
            <a:normAutofit fontScale="90000"/>
          </a:bodyPr>
          <a:lstStyle/>
          <a:p>
            <a:r>
              <a:rPr lang="en-US" altLang="ja-JP" dirty="0" err="1">
                <a:ea typeface="MS UI Gothic" panose="020B0600070205080204" pitchFamily="50" charset="-128"/>
              </a:rPr>
              <a:t>Kiểu</a:t>
            </a:r>
            <a:r>
              <a:rPr lang="en-US" altLang="ja-JP" dirty="0">
                <a:ea typeface="MS UI Gothic" panose="020B0600070205080204" pitchFamily="50" charset="-128"/>
              </a:rPr>
              <a:t> </a:t>
            </a:r>
            <a:r>
              <a:rPr lang="en-US" altLang="ja-JP" dirty="0" err="1">
                <a:ea typeface="MS UI Gothic" panose="020B0600070205080204" pitchFamily="50" charset="-128"/>
              </a:rPr>
              <a:t>gia</a:t>
            </a:r>
            <a:r>
              <a:rPr lang="en-US" altLang="ja-JP" dirty="0">
                <a:ea typeface="MS UI Gothic" panose="020B0600070205080204" pitchFamily="50" charset="-128"/>
              </a:rPr>
              <a:t>́ trị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kiểu</a:t>
            </a:r>
            <a:r>
              <a:rPr lang="en-US" altLang="ja-JP" dirty="0">
                <a:ea typeface="MS UI Gothic" panose="020B0600070205080204" pitchFamily="50" charset="-128"/>
              </a:rPr>
              <a:t> </a:t>
            </a:r>
            <a:r>
              <a:rPr lang="en-US" altLang="ja-JP" dirty="0" err="1">
                <a:ea typeface="MS UI Gothic" panose="020B0600070205080204" pitchFamily="50" charset="-128"/>
              </a:rPr>
              <a:t>tham</a:t>
            </a:r>
            <a:r>
              <a:rPr lang="en-US" altLang="ja-JP" dirty="0">
                <a:ea typeface="MS UI Gothic" panose="020B0600070205080204" pitchFamily="50" charset="-128"/>
              </a:rPr>
              <a:t> </a:t>
            </a:r>
            <a:r>
              <a:rPr lang="en-US" altLang="ja-JP" dirty="0" err="1">
                <a:ea typeface="MS UI Gothic" panose="020B0600070205080204" pitchFamily="50" charset="-128"/>
              </a:rPr>
              <a:t>chiếu</a:t>
            </a:r>
            <a:endParaRPr kumimoji="1" lang="ja-JP" altLang="en-US" dirty="0"/>
          </a:p>
        </p:txBody>
      </p:sp>
      <p:sp>
        <p:nvSpPr>
          <p:cNvPr id="3" name="Content Placeholder 2">
            <a:extLst>
              <a:ext uri="{FF2B5EF4-FFF2-40B4-BE49-F238E27FC236}">
                <a16:creationId xmlns:a16="http://schemas.microsoft.com/office/drawing/2014/main" id="{CD6519A0-0ED1-7200-C95D-391C3C4D67AD}"/>
              </a:ext>
            </a:extLst>
          </p:cNvPr>
          <p:cNvSpPr>
            <a:spLocks noGrp="1"/>
          </p:cNvSpPr>
          <p:nvPr>
            <p:ph idx="1"/>
          </p:nvPr>
        </p:nvSpPr>
        <p:spPr/>
        <p:txBody>
          <a:bodyPr>
            <a:normAutofit/>
          </a:bodyPr>
          <a:lstStyle/>
          <a:p>
            <a:r>
              <a:rPr lang="ja-JP" altLang="en-US" sz="2800" dirty="0">
                <a:ea typeface="MS UI Gothic" panose="020B0600070205080204" pitchFamily="50" charset="-128"/>
              </a:rPr>
              <a:t>　</a:t>
            </a:r>
            <a:r>
              <a:rPr lang="en-US" altLang="ja-JP" sz="2800" dirty="0" err="1">
                <a:ea typeface="MS UI Gothic" panose="020B0600070205080204" pitchFamily="50" charset="-128"/>
              </a:rPr>
              <a:t>Kiểu</a:t>
            </a:r>
            <a:r>
              <a:rPr lang="en-US" altLang="ja-JP" sz="2800" dirty="0">
                <a:ea typeface="MS UI Gothic" panose="020B0600070205080204" pitchFamily="50" charset="-128"/>
              </a:rPr>
              <a:t> data </a:t>
            </a:r>
            <a:r>
              <a:rPr lang="en-US" altLang="ja-JP" sz="2800" dirty="0" err="1">
                <a:ea typeface="MS UI Gothic" panose="020B0600070205080204" pitchFamily="50" charset="-128"/>
              </a:rPr>
              <a:t>của</a:t>
            </a:r>
            <a:r>
              <a:rPr lang="en-US" altLang="ja-JP" sz="2800" dirty="0">
                <a:ea typeface="MS UI Gothic" panose="020B0600070205080204" pitchFamily="50" charset="-128"/>
              </a:rPr>
              <a:t> </a:t>
            </a:r>
            <a:r>
              <a:rPr lang="en-US" altLang="ja-JP" sz="2800" dirty="0" err="1">
                <a:ea typeface="MS UI Gothic" panose="020B0600070205080204" pitchFamily="50" charset="-128"/>
              </a:rPr>
              <a:t>biến</a:t>
            </a:r>
            <a:r>
              <a:rPr lang="en-US" altLang="ja-JP" sz="2800" dirty="0">
                <a:ea typeface="MS UI Gothic" panose="020B0600070205080204" pitchFamily="50" charset="-128"/>
              </a:rPr>
              <a:t> </a:t>
            </a:r>
            <a:r>
              <a:rPr lang="en-US" altLang="ja-JP" sz="2800" dirty="0" err="1">
                <a:ea typeface="MS UI Gothic" panose="020B0600070205080204" pitchFamily="50" charset="-128"/>
              </a:rPr>
              <a:t>sư</a:t>
            </a:r>
            <a:r>
              <a:rPr lang="en-US" altLang="ja-JP" sz="2800" dirty="0">
                <a:ea typeface="MS UI Gothic" panose="020B0600070205080204" pitchFamily="50" charset="-128"/>
              </a:rPr>
              <a:t>̉ </a:t>
            </a:r>
            <a:r>
              <a:rPr lang="en-US" altLang="ja-JP" sz="2800" dirty="0" err="1">
                <a:ea typeface="MS UI Gothic" panose="020B0600070205080204" pitchFamily="50" charset="-128"/>
              </a:rPr>
              <a:t>dụng</a:t>
            </a:r>
            <a:r>
              <a:rPr lang="en-US" altLang="ja-JP" sz="2800" dirty="0">
                <a:ea typeface="MS UI Gothic" panose="020B0600070205080204" pitchFamily="50" charset="-128"/>
              </a:rPr>
              <a:t> ở Java </a:t>
            </a:r>
            <a:r>
              <a:rPr lang="en-US" altLang="ja-JP" sz="2800" dirty="0" err="1">
                <a:ea typeface="MS UI Gothic" panose="020B0600070205080204" pitchFamily="50" charset="-128"/>
              </a:rPr>
              <a:t>được</a:t>
            </a:r>
            <a:r>
              <a:rPr lang="en-US" altLang="ja-JP" sz="2800" dirty="0">
                <a:ea typeface="MS UI Gothic" panose="020B0600070205080204" pitchFamily="50" charset="-128"/>
              </a:rPr>
              <a:t> chia </a:t>
            </a:r>
            <a:r>
              <a:rPr lang="en-US" altLang="ja-JP" sz="2800" dirty="0" err="1">
                <a:ea typeface="MS UI Gothic" panose="020B0600070205080204" pitchFamily="50" charset="-128"/>
              </a:rPr>
              <a:t>làm</a:t>
            </a:r>
            <a:r>
              <a:rPr lang="en-US" altLang="ja-JP" sz="2800" dirty="0">
                <a:ea typeface="MS UI Gothic" panose="020B0600070205080204" pitchFamily="50" charset="-128"/>
              </a:rPr>
              <a:t> 2 </a:t>
            </a:r>
            <a:r>
              <a:rPr lang="en-US" altLang="ja-JP" sz="2800" dirty="0" err="1">
                <a:ea typeface="MS UI Gothic" panose="020B0600070205080204" pitchFamily="50" charset="-128"/>
              </a:rPr>
              <a:t>loại</a:t>
            </a:r>
            <a:r>
              <a:rPr lang="en-US" altLang="ja-JP" sz="2800" dirty="0">
                <a:ea typeface="MS UI Gothic" panose="020B0600070205080204" pitchFamily="50" charset="-128"/>
              </a:rPr>
              <a:t> là </a:t>
            </a:r>
            <a:r>
              <a:rPr lang="en-US" altLang="ja-JP" sz="2800" dirty="0" err="1">
                <a:ea typeface="MS UI Gothic" panose="020B0600070205080204" pitchFamily="50" charset="-128"/>
              </a:rPr>
              <a:t>kiểu</a:t>
            </a:r>
            <a:r>
              <a:rPr lang="en-US" altLang="ja-JP" sz="2800" dirty="0">
                <a:ea typeface="MS UI Gothic" panose="020B0600070205080204" pitchFamily="50" charset="-128"/>
              </a:rPr>
              <a:t> </a:t>
            </a:r>
            <a:r>
              <a:rPr lang="en-US" altLang="ja-JP" sz="2800" dirty="0" err="1">
                <a:ea typeface="MS UI Gothic" panose="020B0600070205080204" pitchFamily="50" charset="-128"/>
              </a:rPr>
              <a:t>gia</a:t>
            </a:r>
            <a:r>
              <a:rPr lang="en-US" altLang="ja-JP" sz="2800" dirty="0">
                <a:ea typeface="MS UI Gothic" panose="020B0600070205080204" pitchFamily="50" charset="-128"/>
              </a:rPr>
              <a:t>́ trị </a:t>
            </a:r>
            <a:r>
              <a:rPr lang="en-US" altLang="ja-JP" sz="2800" dirty="0" err="1">
                <a:ea typeface="MS UI Gothic" panose="020B0600070205080204" pitchFamily="50" charset="-128"/>
              </a:rPr>
              <a:t>va</a:t>
            </a:r>
            <a:r>
              <a:rPr lang="en-US" altLang="ja-JP" sz="2800" dirty="0">
                <a:ea typeface="MS UI Gothic" panose="020B0600070205080204" pitchFamily="50" charset="-128"/>
              </a:rPr>
              <a:t>̀ </a:t>
            </a:r>
            <a:r>
              <a:rPr lang="en-US" altLang="ja-JP" sz="2800" dirty="0" err="1">
                <a:ea typeface="MS UI Gothic" panose="020B0600070205080204" pitchFamily="50" charset="-128"/>
              </a:rPr>
              <a:t>kiểu</a:t>
            </a:r>
            <a:r>
              <a:rPr lang="en-US" altLang="ja-JP" sz="2800" dirty="0">
                <a:ea typeface="MS UI Gothic" panose="020B0600070205080204" pitchFamily="50" charset="-128"/>
              </a:rPr>
              <a:t> </a:t>
            </a:r>
            <a:r>
              <a:rPr lang="en-US" altLang="ja-JP" sz="2800" dirty="0" err="1">
                <a:ea typeface="MS UI Gothic" panose="020B0600070205080204" pitchFamily="50" charset="-128"/>
              </a:rPr>
              <a:t>tham</a:t>
            </a:r>
            <a:r>
              <a:rPr lang="en-US" altLang="ja-JP" sz="2800" dirty="0">
                <a:ea typeface="MS UI Gothic" panose="020B0600070205080204" pitchFamily="50" charset="-128"/>
              </a:rPr>
              <a:t> </a:t>
            </a:r>
            <a:r>
              <a:rPr lang="en-US" altLang="ja-JP" sz="2800" dirty="0" err="1">
                <a:ea typeface="MS UI Gothic" panose="020B0600070205080204" pitchFamily="50" charset="-128"/>
              </a:rPr>
              <a:t>chiếu</a:t>
            </a:r>
            <a:r>
              <a:rPr lang="en-US" altLang="ja-JP" sz="2800" dirty="0">
                <a:ea typeface="MS UI Gothic" panose="020B0600070205080204" pitchFamily="50" charset="-128"/>
              </a:rPr>
              <a:t>.</a:t>
            </a:r>
          </a:p>
          <a:p>
            <a:r>
              <a:rPr lang="ja-JP" altLang="en-US" sz="2800" dirty="0">
                <a:ea typeface="MS UI Gothic" panose="020B0600070205080204" pitchFamily="50" charset="-128"/>
              </a:rPr>
              <a:t>　</a:t>
            </a:r>
            <a:r>
              <a:rPr lang="en-US" altLang="ja-JP" sz="2800" dirty="0">
                <a:ea typeface="MS UI Gothic" panose="020B0600070205080204" pitchFamily="50" charset="-128"/>
              </a:rPr>
              <a:t>Ở </a:t>
            </a:r>
            <a:r>
              <a:rPr lang="en-US" altLang="ja-JP" sz="2800" dirty="0" err="1">
                <a:ea typeface="MS UI Gothic" panose="020B0600070205080204" pitchFamily="50" charset="-128"/>
              </a:rPr>
              <a:t>kiểu</a:t>
            </a:r>
            <a:r>
              <a:rPr lang="en-US" altLang="ja-JP" sz="2800" dirty="0">
                <a:ea typeface="MS UI Gothic" panose="020B0600070205080204" pitchFamily="50" charset="-128"/>
              </a:rPr>
              <a:t> </a:t>
            </a:r>
            <a:r>
              <a:rPr lang="en-US" altLang="ja-JP" sz="2800" dirty="0" err="1">
                <a:ea typeface="MS UI Gothic" panose="020B0600070205080204" pitchFamily="50" charset="-128"/>
              </a:rPr>
              <a:t>gia</a:t>
            </a:r>
            <a:r>
              <a:rPr lang="en-US" altLang="ja-JP" sz="2800" dirty="0">
                <a:ea typeface="MS UI Gothic" panose="020B0600070205080204" pitchFamily="50" charset="-128"/>
              </a:rPr>
              <a:t>́ trị </a:t>
            </a:r>
            <a:r>
              <a:rPr lang="en-US" altLang="ja-JP" sz="2800" dirty="0" err="1">
                <a:ea typeface="MS UI Gothic" panose="020B0600070205080204" pitchFamily="50" charset="-128"/>
              </a:rPr>
              <a:t>va</a:t>
            </a:r>
            <a:r>
              <a:rPr lang="en-US" altLang="ja-JP" sz="2800" dirty="0">
                <a:ea typeface="MS UI Gothic" panose="020B0600070205080204" pitchFamily="50" charset="-128"/>
              </a:rPr>
              <a:t>̀ </a:t>
            </a:r>
            <a:r>
              <a:rPr lang="en-US" altLang="ja-JP" sz="2800" dirty="0" err="1">
                <a:ea typeface="MS UI Gothic" panose="020B0600070205080204" pitchFamily="50" charset="-128"/>
              </a:rPr>
              <a:t>kiểu</a:t>
            </a:r>
            <a:r>
              <a:rPr lang="en-US" altLang="ja-JP" sz="2800" dirty="0">
                <a:ea typeface="MS UI Gothic" panose="020B0600070205080204" pitchFamily="50" charset="-128"/>
              </a:rPr>
              <a:t> </a:t>
            </a:r>
            <a:r>
              <a:rPr lang="en-US" altLang="ja-JP" sz="2800" dirty="0" err="1">
                <a:ea typeface="MS UI Gothic" panose="020B0600070205080204" pitchFamily="50" charset="-128"/>
              </a:rPr>
              <a:t>tham</a:t>
            </a:r>
            <a:r>
              <a:rPr lang="en-US" altLang="ja-JP" sz="2800" dirty="0">
                <a:ea typeface="MS UI Gothic" panose="020B0600070205080204" pitchFamily="50" charset="-128"/>
              </a:rPr>
              <a:t> </a:t>
            </a:r>
            <a:r>
              <a:rPr lang="en-US" altLang="ja-JP" sz="2800" dirty="0" err="1">
                <a:ea typeface="MS UI Gothic" panose="020B0600070205080204" pitchFamily="50" charset="-128"/>
              </a:rPr>
              <a:t>chiếu</a:t>
            </a:r>
            <a:r>
              <a:rPr lang="en-US" altLang="ja-JP" sz="2800" dirty="0">
                <a:ea typeface="MS UI Gothic" panose="020B0600070205080204" pitchFamily="50" charset="-128"/>
              </a:rPr>
              <a:t> do </a:t>
            </a:r>
            <a:r>
              <a:rPr lang="en-US" altLang="ja-JP" sz="2800" dirty="0" err="1">
                <a:ea typeface="MS UI Gothic" panose="020B0600070205080204" pitchFamily="50" charset="-128"/>
              </a:rPr>
              <a:t>cách</a:t>
            </a:r>
            <a:r>
              <a:rPr lang="en-US" altLang="ja-JP" sz="2800" dirty="0">
                <a:ea typeface="MS UI Gothic" panose="020B0600070205080204" pitchFamily="50" charset="-128"/>
              </a:rPr>
              <a:t> </a:t>
            </a:r>
            <a:r>
              <a:rPr lang="en-US" altLang="ja-JP" sz="2800" dirty="0" err="1">
                <a:ea typeface="MS UI Gothic" panose="020B0600070205080204" pitchFamily="50" charset="-128"/>
              </a:rPr>
              <a:t>sư</a:t>
            </a:r>
            <a:r>
              <a:rPr lang="en-US" altLang="ja-JP" sz="2800" dirty="0">
                <a:ea typeface="MS UI Gothic" panose="020B0600070205080204" pitchFamily="50" charset="-128"/>
              </a:rPr>
              <a:t>̉ </a:t>
            </a:r>
            <a:r>
              <a:rPr lang="en-US" altLang="ja-JP" sz="2800" dirty="0" err="1">
                <a:ea typeface="MS UI Gothic" panose="020B0600070205080204" pitchFamily="50" charset="-128"/>
              </a:rPr>
              <a:t>dụng</a:t>
            </a:r>
            <a:r>
              <a:rPr lang="en-US" altLang="ja-JP" sz="2800" dirty="0">
                <a:ea typeface="MS UI Gothic" panose="020B0600070205080204" pitchFamily="50" charset="-128"/>
              </a:rPr>
              <a:t> memory </a:t>
            </a:r>
            <a:r>
              <a:rPr lang="en-US" altLang="ja-JP" sz="2800" dirty="0" err="1">
                <a:ea typeface="MS UI Gothic" panose="020B0600070205080204" pitchFamily="50" charset="-128"/>
              </a:rPr>
              <a:t>khác</a:t>
            </a:r>
            <a:r>
              <a:rPr lang="en-US" altLang="ja-JP" sz="2800" dirty="0">
                <a:ea typeface="MS UI Gothic" panose="020B0600070205080204" pitchFamily="50" charset="-128"/>
              </a:rPr>
              <a:t> </a:t>
            </a:r>
            <a:r>
              <a:rPr lang="en-US" altLang="ja-JP" sz="2800" dirty="0" err="1">
                <a:ea typeface="MS UI Gothic" panose="020B0600070205080204" pitchFamily="50" charset="-128"/>
              </a:rPr>
              <a:t>nhau</a:t>
            </a:r>
            <a:r>
              <a:rPr lang="en-US" altLang="ja-JP" sz="2800" dirty="0">
                <a:ea typeface="MS UI Gothic" panose="020B0600070205080204" pitchFamily="50" charset="-128"/>
              </a:rPr>
              <a:t> </a:t>
            </a:r>
            <a:r>
              <a:rPr lang="en-US" altLang="ja-JP" sz="2800" dirty="0" err="1">
                <a:ea typeface="MS UI Gothic" panose="020B0600070205080204" pitchFamily="50" charset="-128"/>
              </a:rPr>
              <a:t>nên</a:t>
            </a:r>
            <a:r>
              <a:rPr lang="en-US" altLang="ja-JP" sz="2800" dirty="0">
                <a:ea typeface="MS UI Gothic" panose="020B0600070205080204" pitchFamily="50" charset="-128"/>
              </a:rPr>
              <a:t> </a:t>
            </a:r>
            <a:r>
              <a:rPr lang="en-US" altLang="ja-JP" sz="2800" dirty="0" err="1">
                <a:ea typeface="MS UI Gothic" panose="020B0600070205080204" pitchFamily="50" charset="-128"/>
              </a:rPr>
              <a:t>chúng</a:t>
            </a:r>
            <a:r>
              <a:rPr lang="en-US" altLang="ja-JP" sz="2800" dirty="0">
                <a:ea typeface="MS UI Gothic" panose="020B0600070205080204" pitchFamily="50" charset="-128"/>
              </a:rPr>
              <a:t> ta </a:t>
            </a:r>
            <a:r>
              <a:rPr lang="en-US" altLang="ja-JP" sz="2800" dirty="0" err="1">
                <a:ea typeface="MS UI Gothic" panose="020B0600070205080204" pitchFamily="50" charset="-128"/>
              </a:rPr>
              <a:t>hãy</a:t>
            </a:r>
            <a:r>
              <a:rPr lang="en-US" altLang="ja-JP" sz="2800" dirty="0">
                <a:ea typeface="MS UI Gothic" panose="020B0600070205080204" pitchFamily="50" charset="-128"/>
              </a:rPr>
              <a:t> </a:t>
            </a:r>
            <a:r>
              <a:rPr lang="en-US" altLang="ja-JP" sz="2800" dirty="0" err="1">
                <a:ea typeface="MS UI Gothic" panose="020B0600070205080204" pitchFamily="50" charset="-128"/>
              </a:rPr>
              <a:t>cùng</a:t>
            </a:r>
            <a:r>
              <a:rPr lang="en-US" altLang="ja-JP" sz="2800" dirty="0">
                <a:ea typeface="MS UI Gothic" panose="020B0600070205080204" pitchFamily="50" charset="-128"/>
              </a:rPr>
              <a:t> </a:t>
            </a:r>
            <a:r>
              <a:rPr lang="en-US" altLang="ja-JP" sz="2800" dirty="0" err="1">
                <a:ea typeface="MS UI Gothic" panose="020B0600070205080204" pitchFamily="50" charset="-128"/>
              </a:rPr>
              <a:t>hạn</a:t>
            </a:r>
            <a:r>
              <a:rPr lang="en-US" altLang="ja-JP" sz="2800" dirty="0">
                <a:ea typeface="MS UI Gothic" panose="020B0600070205080204" pitchFamily="50" charset="-128"/>
              </a:rPr>
              <a:t> </a:t>
            </a:r>
            <a:r>
              <a:rPr lang="en-US" altLang="ja-JP" sz="2800" dirty="0" err="1">
                <a:ea typeface="MS UI Gothic" panose="020B0600070205080204" pitchFamily="50" charset="-128"/>
              </a:rPr>
              <a:t>chê</a:t>
            </a:r>
            <a:r>
              <a:rPr lang="en-US" altLang="ja-JP" sz="2800" dirty="0">
                <a:ea typeface="MS UI Gothic" panose="020B0600070205080204" pitchFamily="50" charset="-128"/>
              </a:rPr>
              <a:t>́ </a:t>
            </a:r>
            <a:r>
              <a:rPr lang="en-US" altLang="ja-JP" sz="2800" dirty="0" err="1">
                <a:ea typeface="MS UI Gothic" panose="020B0600070205080204" pitchFamily="50" charset="-128"/>
              </a:rPr>
              <a:t>sư</a:t>
            </a:r>
            <a:r>
              <a:rPr lang="en-US" altLang="ja-JP" sz="2800" dirty="0">
                <a:ea typeface="MS UI Gothic" panose="020B0600070205080204" pitchFamily="50" charset="-128"/>
              </a:rPr>
              <a:t>̣ </a:t>
            </a:r>
            <a:r>
              <a:rPr lang="en-US" altLang="ja-JP" sz="2800" dirty="0" err="1">
                <a:ea typeface="MS UI Gothic" panose="020B0600070205080204" pitchFamily="50" charset="-128"/>
              </a:rPr>
              <a:t>sai</a:t>
            </a:r>
            <a:r>
              <a:rPr lang="en-US" altLang="ja-JP" sz="2800" dirty="0">
                <a:ea typeface="MS UI Gothic" panose="020B0600070205080204" pitchFamily="50" charset="-128"/>
              </a:rPr>
              <a:t> </a:t>
            </a:r>
            <a:r>
              <a:rPr lang="en-US" altLang="ja-JP" sz="2800" dirty="0" err="1">
                <a:ea typeface="MS UI Gothic" panose="020B0600070205080204" pitchFamily="50" charset="-128"/>
              </a:rPr>
              <a:t>sót</a:t>
            </a:r>
            <a:r>
              <a:rPr lang="en-US" altLang="ja-JP" sz="2800" dirty="0">
                <a:ea typeface="MS UI Gothic" panose="020B0600070205080204" pitchFamily="50" charset="-128"/>
              </a:rPr>
              <a:t>.</a:t>
            </a:r>
          </a:p>
          <a:p>
            <a:r>
              <a:rPr lang="en-US" altLang="ja-JP" sz="2800" dirty="0" err="1">
                <a:ea typeface="MS UI Gothic" panose="020B0600070205080204" pitchFamily="50" charset="-128"/>
              </a:rPr>
              <a:t>Kiểu</a:t>
            </a:r>
            <a:r>
              <a:rPr lang="en-US" altLang="ja-JP" sz="2800" dirty="0">
                <a:ea typeface="MS UI Gothic" panose="020B0600070205080204" pitchFamily="50" charset="-128"/>
              </a:rPr>
              <a:t> </a:t>
            </a:r>
            <a:r>
              <a:rPr lang="en-US" altLang="ja-JP" sz="2800" dirty="0" err="1">
                <a:ea typeface="MS UI Gothic" panose="020B0600070205080204" pitchFamily="50" charset="-128"/>
              </a:rPr>
              <a:t>gia</a:t>
            </a:r>
            <a:r>
              <a:rPr lang="en-US" altLang="ja-JP" sz="2800" dirty="0">
                <a:ea typeface="MS UI Gothic" panose="020B0600070205080204" pitchFamily="50" charset="-128"/>
              </a:rPr>
              <a:t>́ trị: </a:t>
            </a:r>
            <a:r>
              <a:rPr lang="en-US" altLang="ja-JP" sz="2800" dirty="0" err="1">
                <a:ea typeface="MS UI Gothic" panose="020B0600070205080204" pitchFamily="50" charset="-128"/>
              </a:rPr>
              <a:t>Chính</a:t>
            </a:r>
            <a:r>
              <a:rPr lang="en-US" altLang="ja-JP" sz="2800" dirty="0">
                <a:ea typeface="MS UI Gothic" panose="020B0600070205080204" pitchFamily="50" charset="-128"/>
              </a:rPr>
              <a:t> </a:t>
            </a:r>
            <a:r>
              <a:rPr lang="en-US" altLang="ja-JP" sz="2800" dirty="0" err="1">
                <a:ea typeface="MS UI Gothic" panose="020B0600070205080204" pitchFamily="50" charset="-128"/>
              </a:rPr>
              <a:t>gia</a:t>
            </a:r>
            <a:r>
              <a:rPr lang="en-US" altLang="ja-JP" sz="2800" dirty="0">
                <a:ea typeface="MS UI Gothic" panose="020B0600070205080204" pitchFamily="50" charset="-128"/>
              </a:rPr>
              <a:t>́ </a:t>
            </a:r>
            <a:r>
              <a:rPr lang="en-US" altLang="ja-JP" sz="2800" dirty="0" err="1">
                <a:ea typeface="MS UI Gothic" panose="020B0600070205080204" pitchFamily="50" charset="-128"/>
              </a:rPr>
              <a:t>trị</a:t>
            </a:r>
            <a:r>
              <a:rPr lang="en-US" altLang="ja-JP" sz="2800" dirty="0">
                <a:ea typeface="MS UI Gothic" panose="020B0600070205080204" pitchFamily="50" charset="-128"/>
              </a:rPr>
              <a:t> </a:t>
            </a:r>
            <a:r>
              <a:rPr lang="en-US" altLang="ja-JP" sz="2800" dirty="0" err="1">
                <a:ea typeface="MS UI Gothic" panose="020B0600070205080204" pitchFamily="50" charset="-128"/>
              </a:rPr>
              <a:t>trong</a:t>
            </a:r>
            <a:r>
              <a:rPr lang="en-US" altLang="ja-JP" sz="2800" dirty="0">
                <a:ea typeface="MS UI Gothic" panose="020B0600070205080204" pitchFamily="50" charset="-128"/>
              </a:rPr>
              <a:t> </a:t>
            </a:r>
            <a:r>
              <a:rPr lang="en-US" altLang="ja-JP" sz="2800" dirty="0" err="1">
                <a:ea typeface="MS UI Gothic" panose="020B0600070205080204" pitchFamily="50" charset="-128"/>
              </a:rPr>
              <a:t>biến</a:t>
            </a:r>
            <a:r>
              <a:rPr lang="en-US" altLang="ja-JP" sz="2800" dirty="0">
                <a:ea typeface="MS UI Gothic" panose="020B0600070205080204" pitchFamily="50" charset="-128"/>
              </a:rPr>
              <a:t> </a:t>
            </a:r>
            <a:r>
              <a:rPr lang="en-US" altLang="ja-JP" sz="2800" dirty="0" err="1">
                <a:ea typeface="MS UI Gothic" panose="020B0600070205080204" pitchFamily="50" charset="-128"/>
              </a:rPr>
              <a:t>được</a:t>
            </a:r>
            <a:r>
              <a:rPr lang="en-US" altLang="ja-JP" sz="2800" dirty="0">
                <a:ea typeface="MS UI Gothic" panose="020B0600070205080204" pitchFamily="50" charset="-128"/>
              </a:rPr>
              <a:t> </a:t>
            </a:r>
            <a:r>
              <a:rPr lang="en-US" altLang="ja-JP" sz="2800" dirty="0" err="1">
                <a:ea typeface="MS UI Gothic" panose="020B0600070205080204" pitchFamily="50" charset="-128"/>
              </a:rPr>
              <a:t>lưu</a:t>
            </a:r>
            <a:r>
              <a:rPr lang="en-US" altLang="ja-JP" sz="2800" dirty="0">
                <a:ea typeface="MS UI Gothic" panose="020B0600070205080204" pitchFamily="50" charset="-128"/>
              </a:rPr>
              <a:t>.</a:t>
            </a:r>
          </a:p>
          <a:p>
            <a:endParaRPr kumimoji="1" lang="ja-JP" altLang="en-US" sz="2800" dirty="0"/>
          </a:p>
        </p:txBody>
      </p:sp>
      <p:sp>
        <p:nvSpPr>
          <p:cNvPr id="4" name="Slide Number Placeholder 3">
            <a:extLst>
              <a:ext uri="{FF2B5EF4-FFF2-40B4-BE49-F238E27FC236}">
                <a16:creationId xmlns:a16="http://schemas.microsoft.com/office/drawing/2014/main" id="{855C2960-ACC6-84FC-34BE-CCB5D2BB4403}"/>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22</a:t>
            </a:fld>
            <a:endParaRPr lang="en-US" altLang="ja-JP"/>
          </a:p>
        </p:txBody>
      </p:sp>
      <p:grpSp>
        <p:nvGrpSpPr>
          <p:cNvPr id="41" name="Group 40">
            <a:extLst>
              <a:ext uri="{FF2B5EF4-FFF2-40B4-BE49-F238E27FC236}">
                <a16:creationId xmlns:a16="http://schemas.microsoft.com/office/drawing/2014/main" id="{70F12DD0-CB7E-6F54-9850-1D16B38AF6FB}"/>
              </a:ext>
            </a:extLst>
          </p:cNvPr>
          <p:cNvGrpSpPr/>
          <p:nvPr/>
        </p:nvGrpSpPr>
        <p:grpSpPr>
          <a:xfrm>
            <a:off x="478531" y="4300419"/>
            <a:ext cx="9000327" cy="1463675"/>
            <a:chOff x="719138" y="2000250"/>
            <a:chExt cx="5764212" cy="1463675"/>
          </a:xfrm>
        </p:grpSpPr>
        <p:sp>
          <p:nvSpPr>
            <p:cNvPr id="24" name="Rectangle 77">
              <a:extLst>
                <a:ext uri="{FF2B5EF4-FFF2-40B4-BE49-F238E27FC236}">
                  <a16:creationId xmlns:a16="http://schemas.microsoft.com/office/drawing/2014/main" id="{8A5688DE-FD05-4619-88E2-C5801D767230}"/>
                </a:ext>
              </a:extLst>
            </p:cNvPr>
            <p:cNvSpPr>
              <a:spLocks noChangeArrowheads="1"/>
            </p:cNvSpPr>
            <p:nvPr/>
          </p:nvSpPr>
          <p:spPr bwMode="auto">
            <a:xfrm>
              <a:off x="719138" y="2000250"/>
              <a:ext cx="5764212" cy="146367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6" name="Rectangle 79">
              <a:extLst>
                <a:ext uri="{FF2B5EF4-FFF2-40B4-BE49-F238E27FC236}">
                  <a16:creationId xmlns:a16="http://schemas.microsoft.com/office/drawing/2014/main" id="{F16643A5-6E2C-5237-28C2-150C75946C4A}"/>
                </a:ext>
              </a:extLst>
            </p:cNvPr>
            <p:cNvSpPr>
              <a:spLocks noChangeArrowheads="1"/>
            </p:cNvSpPr>
            <p:nvPr/>
          </p:nvSpPr>
          <p:spPr bwMode="auto">
            <a:xfrm>
              <a:off x="2622412" y="2525713"/>
              <a:ext cx="3643452" cy="636587"/>
            </a:xfrm>
            <a:prstGeom prst="rect">
              <a:avLst/>
            </a:prstGeom>
            <a:solidFill>
              <a:schemeClr val="accent1">
                <a:alpha val="50000"/>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8" name="AutoShape 80">
              <a:extLst>
                <a:ext uri="{FF2B5EF4-FFF2-40B4-BE49-F238E27FC236}">
                  <a16:creationId xmlns:a16="http://schemas.microsoft.com/office/drawing/2014/main" id="{3FE3A84E-1367-7CE9-E310-AB2D328579A9}"/>
                </a:ext>
              </a:extLst>
            </p:cNvPr>
            <p:cNvSpPr>
              <a:spLocks noChangeArrowheads="1"/>
            </p:cNvSpPr>
            <p:nvPr/>
          </p:nvSpPr>
          <p:spPr bwMode="auto">
            <a:xfrm>
              <a:off x="820738" y="2525713"/>
              <a:ext cx="1235075" cy="638175"/>
            </a:xfrm>
            <a:prstGeom prst="foldedCorner">
              <a:avLst>
                <a:gd name="adj" fmla="val 12500"/>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endParaRPr lang="en-US" altLang="ja-JP" b="0" dirty="0">
                <a:latin typeface="ＭＳ ゴシック" panose="020B0609070205080204" pitchFamily="49" charset="-128"/>
                <a:ea typeface="ＭＳ ゴシック" panose="020B0609070205080204" pitchFamily="49" charset="-128"/>
              </a:endParaRPr>
            </a:p>
            <a:p>
              <a:r>
                <a:rPr lang="en-US" altLang="ja-JP" b="0" dirty="0">
                  <a:latin typeface="ＭＳ ゴシック" panose="020B0609070205080204" pitchFamily="49" charset="-128"/>
                  <a:ea typeface="ＭＳ ゴシック" panose="020B0609070205080204" pitchFamily="49" charset="-128"/>
                </a:rPr>
                <a:t>int val1 = 10; </a:t>
              </a:r>
            </a:p>
          </p:txBody>
        </p:sp>
        <p:sp>
          <p:nvSpPr>
            <p:cNvPr id="30" name="Text Box 81">
              <a:extLst>
                <a:ext uri="{FF2B5EF4-FFF2-40B4-BE49-F238E27FC236}">
                  <a16:creationId xmlns:a16="http://schemas.microsoft.com/office/drawing/2014/main" id="{09662895-3B21-9242-2059-AA3AAE6D3DE1}"/>
                </a:ext>
              </a:extLst>
            </p:cNvPr>
            <p:cNvSpPr txBox="1">
              <a:spLocks noChangeArrowheads="1"/>
            </p:cNvSpPr>
            <p:nvPr/>
          </p:nvSpPr>
          <p:spPr bwMode="auto">
            <a:xfrm>
              <a:off x="844550" y="2232025"/>
              <a:ext cx="1019175" cy="3385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spAutoFit/>
            </a:bodyPr>
            <a:lstStyle/>
            <a:p>
              <a:pPr algn="ctr">
                <a:spcBef>
                  <a:spcPct val="50000"/>
                </a:spcBef>
              </a:pPr>
              <a:r>
                <a:rPr lang="en-US" altLang="ja-JP" b="0" dirty="0">
                  <a:latin typeface="+mj-lt"/>
                </a:rPr>
                <a:t>Ví dụ program</a:t>
              </a:r>
            </a:p>
          </p:txBody>
        </p:sp>
        <p:sp>
          <p:nvSpPr>
            <p:cNvPr id="32" name="Rectangle 82">
              <a:extLst>
                <a:ext uri="{FF2B5EF4-FFF2-40B4-BE49-F238E27FC236}">
                  <a16:creationId xmlns:a16="http://schemas.microsoft.com/office/drawing/2014/main" id="{4A4AEED7-8CF6-0F3F-4A5B-5B8BC4E4DBA0}"/>
                </a:ext>
              </a:extLst>
            </p:cNvPr>
            <p:cNvSpPr>
              <a:spLocks noChangeArrowheads="1"/>
            </p:cNvSpPr>
            <p:nvPr/>
          </p:nvSpPr>
          <p:spPr bwMode="auto">
            <a:xfrm>
              <a:off x="2735263" y="2738438"/>
              <a:ext cx="3651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ja-JP" b="0">
                  <a:latin typeface="ＭＳ ゴシック" panose="020B0609070205080204" pitchFamily="49" charset="-128"/>
                  <a:ea typeface="ＭＳ ゴシック" panose="020B0609070205080204" pitchFamily="49" charset="-128"/>
                </a:rPr>
                <a:t>val1</a:t>
              </a:r>
              <a:r>
                <a:rPr lang="ja-JP" altLang="en-US" b="0">
                  <a:latin typeface="ＭＳ ゴシック" panose="020B0609070205080204" pitchFamily="49" charset="-128"/>
                  <a:ea typeface="ＭＳ ゴシック" panose="020B0609070205080204" pitchFamily="49" charset="-128"/>
                </a:rPr>
                <a:t>　　　　　</a:t>
              </a:r>
            </a:p>
          </p:txBody>
        </p:sp>
        <p:sp>
          <p:nvSpPr>
            <p:cNvPr id="34" name="Text Box 83">
              <a:extLst>
                <a:ext uri="{FF2B5EF4-FFF2-40B4-BE49-F238E27FC236}">
                  <a16:creationId xmlns:a16="http://schemas.microsoft.com/office/drawing/2014/main" id="{85346A37-ECF3-CECD-467F-D85F057599B4}"/>
                </a:ext>
              </a:extLst>
            </p:cNvPr>
            <p:cNvSpPr txBox="1">
              <a:spLocks noChangeArrowheads="1"/>
            </p:cNvSpPr>
            <p:nvPr/>
          </p:nvSpPr>
          <p:spPr bwMode="auto">
            <a:xfrm>
              <a:off x="3055938" y="2736850"/>
              <a:ext cx="704850" cy="25400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spAutoFit/>
            </a:bodyPr>
            <a:lstStyle/>
            <a:p>
              <a:pPr algn="ctr">
                <a:spcBef>
                  <a:spcPct val="50000"/>
                </a:spcBef>
              </a:pPr>
              <a:r>
                <a:rPr lang="en-US" altLang="ja-JP" b="0">
                  <a:latin typeface="ＭＳ ゴシック" panose="020B0609070205080204" pitchFamily="49" charset="-128"/>
                  <a:ea typeface="ＭＳ ゴシック" panose="020B0609070205080204" pitchFamily="49" charset="-128"/>
                </a:rPr>
                <a:t>10</a:t>
              </a:r>
            </a:p>
          </p:txBody>
        </p:sp>
        <p:sp>
          <p:nvSpPr>
            <p:cNvPr id="36" name="Text Box 84">
              <a:extLst>
                <a:ext uri="{FF2B5EF4-FFF2-40B4-BE49-F238E27FC236}">
                  <a16:creationId xmlns:a16="http://schemas.microsoft.com/office/drawing/2014/main" id="{E3710FF9-7E24-81A3-CDFD-B24ECFC12099}"/>
                </a:ext>
              </a:extLst>
            </p:cNvPr>
            <p:cNvSpPr txBox="1">
              <a:spLocks noChangeArrowheads="1"/>
            </p:cNvSpPr>
            <p:nvPr/>
          </p:nvSpPr>
          <p:spPr bwMode="auto">
            <a:xfrm>
              <a:off x="2527300" y="2228850"/>
              <a:ext cx="1685925" cy="3385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spAutoFit/>
            </a:bodyPr>
            <a:lstStyle/>
            <a:p>
              <a:pPr>
                <a:spcBef>
                  <a:spcPct val="50000"/>
                </a:spcBef>
              </a:pPr>
              <a:r>
                <a:rPr lang="en-US" altLang="ja-JP" b="0" dirty="0">
                  <a:latin typeface="+mj-lt"/>
                </a:rPr>
                <a:t>Image </a:t>
              </a:r>
              <a:r>
                <a:rPr lang="en-US" altLang="ja-JP" b="0" dirty="0" err="1">
                  <a:latin typeface="+mj-lt"/>
                </a:rPr>
                <a:t>của</a:t>
              </a:r>
              <a:r>
                <a:rPr lang="en-US" altLang="ja-JP" b="0" dirty="0">
                  <a:latin typeface="+mj-lt"/>
                </a:rPr>
                <a:t> memory</a:t>
              </a:r>
            </a:p>
          </p:txBody>
        </p:sp>
        <p:sp>
          <p:nvSpPr>
            <p:cNvPr id="38" name="AutoShape 85">
              <a:extLst>
                <a:ext uri="{FF2B5EF4-FFF2-40B4-BE49-F238E27FC236}">
                  <a16:creationId xmlns:a16="http://schemas.microsoft.com/office/drawing/2014/main" id="{4AE0471A-93AD-0307-DA54-C3EF6BB118B9}"/>
                </a:ext>
              </a:extLst>
            </p:cNvPr>
            <p:cNvSpPr>
              <a:spLocks noChangeArrowheads="1"/>
            </p:cNvSpPr>
            <p:nvPr/>
          </p:nvSpPr>
          <p:spPr bwMode="auto">
            <a:xfrm>
              <a:off x="2205038" y="2595562"/>
              <a:ext cx="342900" cy="496888"/>
            </a:xfrm>
            <a:prstGeom prst="rightArrow">
              <a:avLst>
                <a:gd name="adj1" fmla="val 50000"/>
                <a:gd name="adj2" fmla="val 25000"/>
              </a:avLst>
            </a:prstGeom>
            <a:solidFill>
              <a:srgbClr val="0000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40" name="AutoShape 86">
              <a:extLst>
                <a:ext uri="{FF2B5EF4-FFF2-40B4-BE49-F238E27FC236}">
                  <a16:creationId xmlns:a16="http://schemas.microsoft.com/office/drawing/2014/main" id="{DDFD088B-FB23-FA2A-385D-588FA7774427}"/>
                </a:ext>
              </a:extLst>
            </p:cNvPr>
            <p:cNvSpPr>
              <a:spLocks noChangeArrowheads="1"/>
            </p:cNvSpPr>
            <p:nvPr/>
          </p:nvSpPr>
          <p:spPr bwMode="auto">
            <a:xfrm>
              <a:off x="3940063" y="2105025"/>
              <a:ext cx="2510375" cy="279400"/>
            </a:xfrm>
            <a:prstGeom prst="wedgeRoundRectCallout">
              <a:avLst>
                <a:gd name="adj1" fmla="val -55505"/>
                <a:gd name="adj2" fmla="val 172727"/>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1" tIns="19043" rIns="9521" bIns="9521"/>
            <a:lstStyle/>
            <a:p>
              <a:pPr algn="ctr"/>
              <a:r>
                <a:rPr lang="en-US" altLang="ja-JP" b="0" dirty="0" err="1">
                  <a:latin typeface="+mj-lt"/>
                </a:rPr>
                <a:t>Chính</a:t>
              </a:r>
              <a:r>
                <a:rPr lang="en-US" altLang="ja-JP" dirty="0">
                  <a:latin typeface="+mj-lt"/>
                </a:rPr>
                <a:t> </a:t>
              </a:r>
              <a:r>
                <a:rPr lang="en-US" altLang="ja-JP" b="0" dirty="0" err="1">
                  <a:latin typeface="+mj-lt"/>
                </a:rPr>
                <a:t>g</a:t>
              </a:r>
              <a:r>
                <a:rPr lang="en-US" altLang="ja-JP" b="0" dirty="0" err="1">
                  <a:latin typeface="+mj-lt"/>
                  <a:ea typeface="ＭＳ ゴシック" panose="020B0609070205080204" pitchFamily="49" charset="-128"/>
                  <a:cs typeface="Times New Roman" panose="02020603050405020304" pitchFamily="18" charset="0"/>
                </a:rPr>
                <a:t>ia</a:t>
              </a:r>
              <a:r>
                <a:rPr lang="en-US" altLang="ja-JP" b="0" dirty="0">
                  <a:latin typeface="+mj-lt"/>
                  <a:ea typeface="ＭＳ ゴシック" panose="020B0609070205080204" pitchFamily="49" charset="-128"/>
                  <a:cs typeface="Times New Roman" panose="02020603050405020304" pitchFamily="18" charset="0"/>
                </a:rPr>
                <a:t>́ trị </a:t>
              </a:r>
              <a:r>
                <a:rPr lang="en-US" altLang="ja-JP" b="0" dirty="0" err="1">
                  <a:latin typeface="+mj-lt"/>
                  <a:ea typeface="ＭＳ ゴシック" panose="020B0609070205080204" pitchFamily="49" charset="-128"/>
                  <a:cs typeface="Times New Roman" panose="02020603050405020304" pitchFamily="18" charset="0"/>
                </a:rPr>
                <a:t>kiểu</a:t>
              </a:r>
              <a:r>
                <a:rPr lang="en-US" altLang="ja-JP" b="0" dirty="0">
                  <a:latin typeface="+mj-lt"/>
                  <a:ea typeface="ＭＳ ゴシック" panose="020B0609070205080204" pitchFamily="49" charset="-128"/>
                  <a:cs typeface="Times New Roman" panose="02020603050405020304" pitchFamily="18" charset="0"/>
                </a:rPr>
                <a:t> int </a:t>
              </a:r>
              <a:r>
                <a:rPr lang="en-US" altLang="ja-JP" b="0" dirty="0" err="1">
                  <a:latin typeface="+mj-lt"/>
                  <a:ea typeface="ＭＳ ゴシック" panose="020B0609070205080204" pitchFamily="49" charset="-128"/>
                  <a:cs typeface="Times New Roman" panose="02020603050405020304" pitchFamily="18" charset="0"/>
                </a:rPr>
                <a:t>được</a:t>
              </a:r>
              <a:r>
                <a:rPr lang="en-US" altLang="ja-JP" b="0" dirty="0">
                  <a:latin typeface="+mj-lt"/>
                  <a:ea typeface="ＭＳ ゴシック" panose="020B0609070205080204" pitchFamily="49" charset="-128"/>
                  <a:cs typeface="Times New Roman" panose="02020603050405020304" pitchFamily="18" charset="0"/>
                </a:rPr>
                <a:t> </a:t>
              </a:r>
              <a:r>
                <a:rPr lang="en-US" altLang="ja-JP" b="0" dirty="0" err="1">
                  <a:latin typeface="+mj-lt"/>
                  <a:ea typeface="ＭＳ ゴシック" panose="020B0609070205080204" pitchFamily="49" charset="-128"/>
                  <a:cs typeface="Times New Roman" panose="02020603050405020304" pitchFamily="18" charset="0"/>
                </a:rPr>
                <a:t>lưu</a:t>
              </a:r>
              <a:r>
                <a:rPr lang="en-US" altLang="ja-JP" b="0" dirty="0">
                  <a:latin typeface="+mj-lt"/>
                  <a:ea typeface="ＭＳ ゴシック" panose="020B0609070205080204" pitchFamily="49" charset="-128"/>
                  <a:cs typeface="Times New Roman" panose="02020603050405020304" pitchFamily="18" charset="0"/>
                </a:rPr>
                <a:t>.</a:t>
              </a:r>
            </a:p>
          </p:txBody>
        </p:sp>
      </p:grpSp>
    </p:spTree>
    <p:extLst>
      <p:ext uri="{BB962C8B-B14F-4D97-AF65-F5344CB8AC3E}">
        <p14:creationId xmlns:p14="http://schemas.microsoft.com/office/powerpoint/2010/main" val="3467474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908DC-D518-62B2-5957-ACDCD7A6931E}"/>
              </a:ext>
            </a:extLst>
          </p:cNvPr>
          <p:cNvSpPr>
            <a:spLocks noGrp="1"/>
          </p:cNvSpPr>
          <p:nvPr>
            <p:ph type="title"/>
          </p:nvPr>
        </p:nvSpPr>
        <p:spPr/>
        <p:txBody>
          <a:bodyPr>
            <a:normAutofit fontScale="90000"/>
          </a:bodyPr>
          <a:lstStyle/>
          <a:p>
            <a:r>
              <a:rPr lang="en-US" altLang="ja-JP" dirty="0" err="1">
                <a:ea typeface="MS UI Gothic" panose="020B0600070205080204" pitchFamily="50" charset="-128"/>
              </a:rPr>
              <a:t>Kiểu</a:t>
            </a:r>
            <a:r>
              <a:rPr lang="en-US" altLang="ja-JP" dirty="0">
                <a:ea typeface="MS UI Gothic" panose="020B0600070205080204" pitchFamily="50" charset="-128"/>
              </a:rPr>
              <a:t> </a:t>
            </a:r>
            <a:r>
              <a:rPr lang="en-US" altLang="ja-JP" dirty="0" err="1">
                <a:ea typeface="MS UI Gothic" panose="020B0600070205080204" pitchFamily="50" charset="-128"/>
              </a:rPr>
              <a:t>gia</a:t>
            </a:r>
            <a:r>
              <a:rPr lang="en-US" altLang="ja-JP" dirty="0">
                <a:ea typeface="MS UI Gothic" panose="020B0600070205080204" pitchFamily="50" charset="-128"/>
              </a:rPr>
              <a:t>́ trị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kiểu</a:t>
            </a:r>
            <a:r>
              <a:rPr lang="en-US" altLang="ja-JP" dirty="0">
                <a:ea typeface="MS UI Gothic" panose="020B0600070205080204" pitchFamily="50" charset="-128"/>
              </a:rPr>
              <a:t> </a:t>
            </a:r>
            <a:r>
              <a:rPr lang="en-US" altLang="ja-JP" dirty="0" err="1">
                <a:ea typeface="MS UI Gothic" panose="020B0600070205080204" pitchFamily="50" charset="-128"/>
              </a:rPr>
              <a:t>tham</a:t>
            </a:r>
            <a:r>
              <a:rPr lang="en-US" altLang="ja-JP" dirty="0">
                <a:ea typeface="MS UI Gothic" panose="020B0600070205080204" pitchFamily="50" charset="-128"/>
              </a:rPr>
              <a:t> </a:t>
            </a:r>
            <a:r>
              <a:rPr lang="en-US" altLang="ja-JP" dirty="0" err="1">
                <a:ea typeface="MS UI Gothic" panose="020B0600070205080204" pitchFamily="50" charset="-128"/>
              </a:rPr>
              <a:t>chiếu</a:t>
            </a:r>
            <a:endParaRPr kumimoji="1" lang="ja-JP" altLang="en-US" dirty="0"/>
          </a:p>
        </p:txBody>
      </p:sp>
      <p:sp>
        <p:nvSpPr>
          <p:cNvPr id="3" name="Content Placeholder 2">
            <a:extLst>
              <a:ext uri="{FF2B5EF4-FFF2-40B4-BE49-F238E27FC236}">
                <a16:creationId xmlns:a16="http://schemas.microsoft.com/office/drawing/2014/main" id="{5DC44A14-A456-65D1-0054-644D7E5CB904}"/>
              </a:ext>
            </a:extLst>
          </p:cNvPr>
          <p:cNvSpPr>
            <a:spLocks noGrp="1"/>
          </p:cNvSpPr>
          <p:nvPr>
            <p:ph idx="1"/>
          </p:nvPr>
        </p:nvSpPr>
        <p:spPr/>
        <p:txBody>
          <a:bodyPr/>
          <a:lstStyle/>
          <a:p>
            <a:r>
              <a:rPr lang="en-US" altLang="ja-JP" dirty="0" err="1">
                <a:ea typeface="MS UI Gothic" panose="020B0600070205080204" pitchFamily="50" charset="-128"/>
              </a:rPr>
              <a:t>Kiểu</a:t>
            </a:r>
            <a:r>
              <a:rPr lang="en-US" altLang="ja-JP" dirty="0">
                <a:ea typeface="MS UI Gothic" panose="020B0600070205080204" pitchFamily="50" charset="-128"/>
              </a:rPr>
              <a:t> </a:t>
            </a:r>
            <a:r>
              <a:rPr lang="en-US" altLang="ja-JP" dirty="0" err="1">
                <a:ea typeface="MS UI Gothic" panose="020B0600070205080204" pitchFamily="50" charset="-128"/>
              </a:rPr>
              <a:t>tham</a:t>
            </a:r>
            <a:r>
              <a:rPr lang="en-US" altLang="ja-JP" dirty="0">
                <a:ea typeface="MS UI Gothic" panose="020B0600070205080204" pitchFamily="50" charset="-128"/>
              </a:rPr>
              <a:t> </a:t>
            </a:r>
            <a:r>
              <a:rPr lang="en-US" altLang="ja-JP" dirty="0" err="1">
                <a:ea typeface="MS UI Gothic" panose="020B0600070205080204" pitchFamily="50" charset="-128"/>
              </a:rPr>
              <a:t>chiếu</a:t>
            </a:r>
            <a:r>
              <a:rPr lang="en-US" altLang="ja-JP" dirty="0">
                <a:ea typeface="MS UI Gothic" panose="020B0600070205080204" pitchFamily="50" charset="-128"/>
              </a:rPr>
              <a:t>: Trong </a:t>
            </a:r>
            <a:r>
              <a:rPr lang="en-US" altLang="ja-JP" dirty="0" err="1">
                <a:ea typeface="MS UI Gothic" panose="020B0600070205080204" pitchFamily="50" charset="-128"/>
              </a:rPr>
              <a:t>biến</a:t>
            </a:r>
            <a:r>
              <a:rPr lang="en-US" altLang="ja-JP" dirty="0">
                <a:ea typeface="MS UI Gothic" panose="020B0600070205080204" pitchFamily="50" charset="-128"/>
              </a:rPr>
              <a:t>, sẽ </a:t>
            </a:r>
            <a:r>
              <a:rPr lang="en-US" altLang="ja-JP" dirty="0" err="1">
                <a:ea typeface="MS UI Gothic" panose="020B0600070205080204" pitchFamily="50" charset="-128"/>
              </a:rPr>
              <a:t>lưu</a:t>
            </a:r>
            <a:r>
              <a:rPr lang="en-US" altLang="ja-JP" dirty="0">
                <a:ea typeface="MS UI Gothic" panose="020B0600070205080204" pitchFamily="50" charset="-128"/>
              </a:rPr>
              <a:t> </a:t>
            </a:r>
            <a:r>
              <a:rPr lang="en-US" altLang="ja-JP" dirty="0" err="1">
                <a:ea typeface="MS UI Gothic" panose="020B0600070205080204" pitchFamily="50" charset="-128"/>
              </a:rPr>
              <a:t>gia</a:t>
            </a:r>
            <a:r>
              <a:rPr lang="en-US" altLang="ja-JP" dirty="0">
                <a:ea typeface="MS UI Gothic" panose="020B0600070205080204" pitchFamily="50" charset="-128"/>
              </a:rPr>
              <a:t>́ trị </a:t>
            </a:r>
            <a:r>
              <a:rPr lang="en-US" altLang="ja-JP" dirty="0" err="1">
                <a:ea typeface="MS UI Gothic" panose="020B0600070205080204" pitchFamily="50" charset="-128"/>
              </a:rPr>
              <a:t>biểu</a:t>
            </a:r>
            <a:r>
              <a:rPr lang="en-US" altLang="ja-JP" dirty="0">
                <a:ea typeface="MS UI Gothic" panose="020B0600070205080204" pitchFamily="50" charset="-128"/>
              </a:rPr>
              <a:t> </a:t>
            </a:r>
            <a:r>
              <a:rPr lang="en-US" altLang="ja-JP" dirty="0" err="1">
                <a:ea typeface="MS UI Gothic" panose="020B0600070205080204" pitchFamily="50" charset="-128"/>
              </a:rPr>
              <a:t>thi</a:t>
            </a:r>
            <a:r>
              <a:rPr lang="en-US" altLang="ja-JP" dirty="0">
                <a:ea typeface="MS UI Gothic" panose="020B0600070205080204" pitchFamily="50" charset="-128"/>
              </a:rPr>
              <a:t>̣ </a:t>
            </a:r>
            <a:r>
              <a:rPr lang="en-US" altLang="ja-JP" dirty="0" err="1">
                <a:ea typeface="MS UI Gothic" panose="020B0600070205080204" pitchFamily="50" charset="-128"/>
              </a:rPr>
              <a:t>chô</a:t>
            </a:r>
            <a:r>
              <a:rPr lang="en-US" altLang="ja-JP" dirty="0">
                <a:ea typeface="MS UI Gothic" panose="020B0600070205080204" pitchFamily="50" charset="-128"/>
              </a:rPr>
              <a:t>̃ mà data </a:t>
            </a:r>
            <a:r>
              <a:rPr lang="en-US" altLang="ja-JP" dirty="0" err="1">
                <a:ea typeface="MS UI Gothic" panose="020B0600070205080204" pitchFamily="50" charset="-128"/>
              </a:rPr>
              <a:t>của</a:t>
            </a:r>
            <a:r>
              <a:rPr lang="en-US" altLang="ja-JP" dirty="0">
                <a:ea typeface="MS UI Gothic" panose="020B0600070205080204" pitchFamily="50" charset="-128"/>
              </a:rPr>
              <a:t> </a:t>
            </a:r>
            <a:r>
              <a:rPr lang="en-US" altLang="ja-JP" dirty="0" err="1">
                <a:ea typeface="MS UI Gothic" panose="020B0600070205080204" pitchFamily="50" charset="-128"/>
              </a:rPr>
              <a:t>kiểu</a:t>
            </a:r>
            <a:r>
              <a:rPr lang="en-US" altLang="ja-JP" dirty="0">
                <a:ea typeface="MS UI Gothic" panose="020B0600070205080204" pitchFamily="50" charset="-128"/>
              </a:rPr>
              <a:t> </a:t>
            </a:r>
            <a:r>
              <a:rPr lang="en-US" altLang="ja-JP" dirty="0" err="1">
                <a:ea typeface="MS UI Gothic" panose="020B0600070205080204" pitchFamily="50" charset="-128"/>
              </a:rPr>
              <a:t>tham</a:t>
            </a:r>
            <a:r>
              <a:rPr lang="en-US" altLang="ja-JP" dirty="0">
                <a:ea typeface="MS UI Gothic" panose="020B0600070205080204" pitchFamily="50" charset="-128"/>
              </a:rPr>
              <a:t> </a:t>
            </a:r>
            <a:r>
              <a:rPr lang="en-US" altLang="ja-JP" dirty="0" err="1">
                <a:ea typeface="MS UI Gothic" panose="020B0600070205080204" pitchFamily="50" charset="-128"/>
              </a:rPr>
              <a:t>chiếu</a:t>
            </a:r>
            <a:r>
              <a:rPr lang="en-US" altLang="ja-JP" dirty="0">
                <a:ea typeface="MS UI Gothic" panose="020B0600070205080204" pitchFamily="50" charset="-128"/>
              </a:rPr>
              <a:t>(object) </a:t>
            </a:r>
            <a:r>
              <a:rPr lang="en-US" altLang="ja-JP" dirty="0" err="1">
                <a:ea typeface="MS UI Gothic" panose="020B0600070205080204" pitchFamily="50" charset="-128"/>
              </a:rPr>
              <a:t>đa</a:t>
            </a:r>
            <a:r>
              <a:rPr lang="en-US" altLang="ja-JP" dirty="0">
                <a:ea typeface="MS UI Gothic" panose="020B0600070205080204" pitchFamily="50" charset="-128"/>
              </a:rPr>
              <a:t>̃ </a:t>
            </a:r>
            <a:r>
              <a:rPr lang="en-US" altLang="ja-JP" dirty="0" err="1">
                <a:ea typeface="MS UI Gothic" panose="020B0600070205080204" pitchFamily="50" charset="-128"/>
              </a:rPr>
              <a:t>được</a:t>
            </a:r>
            <a:r>
              <a:rPr lang="en-US" altLang="ja-JP" dirty="0">
                <a:ea typeface="MS UI Gothic" panose="020B0600070205080204" pitchFamily="50" charset="-128"/>
              </a:rPr>
              <a:t> </a:t>
            </a:r>
            <a:r>
              <a:rPr lang="en-US" altLang="ja-JP" dirty="0" err="1">
                <a:ea typeface="MS UI Gothic" panose="020B0600070205080204" pitchFamily="50" charset="-128"/>
              </a:rPr>
              <a:t>lưu</a:t>
            </a:r>
            <a:r>
              <a:rPr lang="en-US" altLang="ja-JP" dirty="0">
                <a:ea typeface="MS UI Gothic" panose="020B0600070205080204" pitchFamily="50" charset="-128"/>
              </a:rPr>
              <a:t>. </a:t>
            </a:r>
          </a:p>
          <a:p>
            <a:endParaRPr kumimoji="1" lang="ja-JP" altLang="en-US" dirty="0"/>
          </a:p>
        </p:txBody>
      </p:sp>
      <p:sp>
        <p:nvSpPr>
          <p:cNvPr id="4" name="Slide Number Placeholder 3">
            <a:extLst>
              <a:ext uri="{FF2B5EF4-FFF2-40B4-BE49-F238E27FC236}">
                <a16:creationId xmlns:a16="http://schemas.microsoft.com/office/drawing/2014/main" id="{05CF412E-65B8-9F57-0D9F-1FC11CCF9CC1}"/>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23</a:t>
            </a:fld>
            <a:endParaRPr lang="en-US" altLang="ja-JP"/>
          </a:p>
        </p:txBody>
      </p:sp>
      <p:grpSp>
        <p:nvGrpSpPr>
          <p:cNvPr id="37" name="Group 36">
            <a:extLst>
              <a:ext uri="{FF2B5EF4-FFF2-40B4-BE49-F238E27FC236}">
                <a16:creationId xmlns:a16="http://schemas.microsoft.com/office/drawing/2014/main" id="{37BFBA9F-35C4-63BB-59B3-7B736EFAF403}"/>
              </a:ext>
            </a:extLst>
          </p:cNvPr>
          <p:cNvGrpSpPr/>
          <p:nvPr/>
        </p:nvGrpSpPr>
        <p:grpSpPr>
          <a:xfrm>
            <a:off x="2049463" y="2788243"/>
            <a:ext cx="7246936" cy="2850557"/>
            <a:chOff x="865188" y="4156668"/>
            <a:chExt cx="5457653" cy="2850557"/>
          </a:xfrm>
        </p:grpSpPr>
        <p:sp>
          <p:nvSpPr>
            <p:cNvPr id="6" name="Text Box 90">
              <a:extLst>
                <a:ext uri="{FF2B5EF4-FFF2-40B4-BE49-F238E27FC236}">
                  <a16:creationId xmlns:a16="http://schemas.microsoft.com/office/drawing/2014/main" id="{86EA60FD-A753-2FC5-CEA7-EC5BA82D1A06}"/>
                </a:ext>
              </a:extLst>
            </p:cNvPr>
            <p:cNvSpPr txBox="1">
              <a:spLocks noChangeArrowheads="1"/>
            </p:cNvSpPr>
            <p:nvPr/>
          </p:nvSpPr>
          <p:spPr bwMode="auto">
            <a:xfrm>
              <a:off x="2495551" y="4156668"/>
              <a:ext cx="1685925" cy="3385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spAutoFit/>
            </a:bodyPr>
            <a:lstStyle/>
            <a:p>
              <a:pPr>
                <a:spcBef>
                  <a:spcPct val="50000"/>
                </a:spcBef>
              </a:pPr>
              <a:r>
                <a:rPr lang="en-US" altLang="ja-JP" b="0" dirty="0">
                  <a:latin typeface="+mj-lt"/>
                </a:rPr>
                <a:t>Image </a:t>
              </a:r>
              <a:r>
                <a:rPr lang="en-US" altLang="ja-JP" b="0" dirty="0" err="1">
                  <a:latin typeface="+mj-lt"/>
                </a:rPr>
                <a:t>của</a:t>
              </a:r>
              <a:r>
                <a:rPr lang="en-US" altLang="ja-JP" b="0" dirty="0">
                  <a:latin typeface="+mj-lt"/>
                </a:rPr>
                <a:t> memory</a:t>
              </a:r>
            </a:p>
          </p:txBody>
        </p:sp>
        <p:sp>
          <p:nvSpPr>
            <p:cNvPr id="8" name="AutoShape 91">
              <a:extLst>
                <a:ext uri="{FF2B5EF4-FFF2-40B4-BE49-F238E27FC236}">
                  <a16:creationId xmlns:a16="http://schemas.microsoft.com/office/drawing/2014/main" id="{FEFDD839-9860-B629-DF18-F073D3C0A39E}"/>
                </a:ext>
              </a:extLst>
            </p:cNvPr>
            <p:cNvSpPr>
              <a:spLocks noChangeArrowheads="1"/>
            </p:cNvSpPr>
            <p:nvPr/>
          </p:nvSpPr>
          <p:spPr bwMode="auto">
            <a:xfrm>
              <a:off x="877888" y="5094288"/>
              <a:ext cx="1054100" cy="858837"/>
            </a:xfrm>
            <a:prstGeom prst="foldedCorner">
              <a:avLst>
                <a:gd name="adj" fmla="val 12500"/>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dirty="0">
                  <a:latin typeface="ＭＳ ゴシック" panose="020B0609070205080204" pitchFamily="49" charset="-128"/>
                  <a:ea typeface="ＭＳ ゴシック" panose="020B0609070205080204" pitchFamily="49" charset="-128"/>
                </a:rPr>
                <a:t>String str1 =</a:t>
              </a:r>
              <a:br>
                <a:rPr lang="en-US" altLang="ja-JP" b="0" dirty="0">
                  <a:latin typeface="ＭＳ ゴシック" panose="020B0609070205080204" pitchFamily="49" charset="-128"/>
                  <a:ea typeface="ＭＳ ゴシック" panose="020B0609070205080204" pitchFamily="49" charset="-128"/>
                </a:rPr>
              </a:br>
              <a:r>
                <a:rPr lang="en-US" altLang="ja-JP" b="0" dirty="0">
                  <a:latin typeface="ＭＳ ゴシック" panose="020B0609070205080204" pitchFamily="49" charset="-128"/>
                  <a:ea typeface="ＭＳ ゴシック" panose="020B0609070205080204" pitchFamily="49" charset="-128"/>
                </a:rPr>
                <a:t>"Hello";</a:t>
              </a:r>
            </a:p>
          </p:txBody>
        </p:sp>
        <p:sp>
          <p:nvSpPr>
            <p:cNvPr id="10" name="Rectangle 93">
              <a:extLst>
                <a:ext uri="{FF2B5EF4-FFF2-40B4-BE49-F238E27FC236}">
                  <a16:creationId xmlns:a16="http://schemas.microsoft.com/office/drawing/2014/main" id="{5E6B22E8-5B8B-FB89-C9A9-C9A4443DA7C6}"/>
                </a:ext>
              </a:extLst>
            </p:cNvPr>
            <p:cNvSpPr>
              <a:spLocks noChangeArrowheads="1"/>
            </p:cNvSpPr>
            <p:nvPr/>
          </p:nvSpPr>
          <p:spPr bwMode="auto">
            <a:xfrm>
              <a:off x="2588947" y="5290392"/>
              <a:ext cx="223202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ja-JP" b="0" dirty="0">
                  <a:latin typeface="ＭＳ ゴシック" panose="020B0609070205080204" pitchFamily="49" charset="-128"/>
                  <a:ea typeface="ＭＳ ゴシック" panose="020B0609070205080204" pitchFamily="49" charset="-128"/>
                </a:rPr>
                <a:t>str1</a:t>
              </a:r>
              <a:r>
                <a:rPr lang="ja-JP" altLang="en-US"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xxxx</a:t>
              </a:r>
              <a:r>
                <a:rPr lang="ja-JP" altLang="en-US" b="0" dirty="0">
                  <a:latin typeface="ＭＳ ゴシック" panose="020B0609070205080204" pitchFamily="49" charset="-128"/>
                  <a:ea typeface="ＭＳ ゴシック" panose="020B0609070205080204" pitchFamily="49" charset="-128"/>
                </a:rPr>
                <a:t>　　　　</a:t>
              </a:r>
            </a:p>
          </p:txBody>
        </p:sp>
        <p:sp>
          <p:nvSpPr>
            <p:cNvPr id="12" name="Text Box 94">
              <a:extLst>
                <a:ext uri="{FF2B5EF4-FFF2-40B4-BE49-F238E27FC236}">
                  <a16:creationId xmlns:a16="http://schemas.microsoft.com/office/drawing/2014/main" id="{55A7C137-9542-7B07-DF26-D08F80AEC542}"/>
                </a:ext>
              </a:extLst>
            </p:cNvPr>
            <p:cNvSpPr txBox="1">
              <a:spLocks noChangeArrowheads="1"/>
            </p:cNvSpPr>
            <p:nvPr/>
          </p:nvSpPr>
          <p:spPr bwMode="auto">
            <a:xfrm>
              <a:off x="3055938" y="5265738"/>
              <a:ext cx="704850" cy="25400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spAutoFit/>
            </a:bodyPr>
            <a:lstStyle/>
            <a:p>
              <a:pPr algn="ctr">
                <a:spcBef>
                  <a:spcPct val="50000"/>
                </a:spcBef>
              </a:pPr>
              <a:r>
                <a:rPr lang="en-US" altLang="ja-JP" b="0">
                  <a:latin typeface="ＭＳ ゴシック" panose="020B0609070205080204" pitchFamily="49" charset="-128"/>
                  <a:ea typeface="ＭＳ ゴシック" panose="020B0609070205080204" pitchFamily="49" charset="-128"/>
                </a:rPr>
                <a:t>xxxx</a:t>
              </a:r>
            </a:p>
          </p:txBody>
        </p:sp>
        <p:sp>
          <p:nvSpPr>
            <p:cNvPr id="14" name="AutoShape 95">
              <a:extLst>
                <a:ext uri="{FF2B5EF4-FFF2-40B4-BE49-F238E27FC236}">
                  <a16:creationId xmlns:a16="http://schemas.microsoft.com/office/drawing/2014/main" id="{ADBAB2CB-DE2F-327F-C4F2-9314714D7649}"/>
                </a:ext>
              </a:extLst>
            </p:cNvPr>
            <p:cNvSpPr>
              <a:spLocks noChangeArrowheads="1"/>
            </p:cNvSpPr>
            <p:nvPr/>
          </p:nvSpPr>
          <p:spPr bwMode="auto">
            <a:xfrm>
              <a:off x="2055813" y="5132388"/>
              <a:ext cx="342900" cy="495300"/>
            </a:xfrm>
            <a:prstGeom prst="rightArrow">
              <a:avLst>
                <a:gd name="adj1" fmla="val 50000"/>
                <a:gd name="adj2" fmla="val 25000"/>
              </a:avLst>
            </a:prstGeom>
            <a:solidFill>
              <a:srgbClr val="0000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6" name="Cloud">
              <a:extLst>
                <a:ext uri="{FF2B5EF4-FFF2-40B4-BE49-F238E27FC236}">
                  <a16:creationId xmlns:a16="http://schemas.microsoft.com/office/drawing/2014/main" id="{BC07615B-431E-D3CC-498B-2057710E8BAD}"/>
                </a:ext>
              </a:extLst>
            </p:cNvPr>
            <p:cNvSpPr>
              <a:spLocks noChangeAspect="1" noEditPoints="1" noChangeArrowheads="1"/>
            </p:cNvSpPr>
            <p:nvPr/>
          </p:nvSpPr>
          <p:spPr bwMode="auto">
            <a:xfrm>
              <a:off x="4849813" y="5208588"/>
              <a:ext cx="1128712" cy="8128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ja-JP" altLang="en-US"/>
            </a:p>
          </p:txBody>
        </p:sp>
        <p:sp>
          <p:nvSpPr>
            <p:cNvPr id="18" name="AutoShape 98">
              <a:extLst>
                <a:ext uri="{FF2B5EF4-FFF2-40B4-BE49-F238E27FC236}">
                  <a16:creationId xmlns:a16="http://schemas.microsoft.com/office/drawing/2014/main" id="{4DDA2A4B-BCDF-B5AA-E49F-35B2F5B733BB}"/>
                </a:ext>
              </a:extLst>
            </p:cNvPr>
            <p:cNvSpPr>
              <a:spLocks noChangeArrowheads="1"/>
            </p:cNvSpPr>
            <p:nvPr/>
          </p:nvSpPr>
          <p:spPr bwMode="auto">
            <a:xfrm rot="21596852" flipV="1">
              <a:off x="3836988" y="5302250"/>
              <a:ext cx="588962" cy="146050"/>
            </a:xfrm>
            <a:prstGeom prst="rightArrow">
              <a:avLst>
                <a:gd name="adj1" fmla="val 59509"/>
                <a:gd name="adj2" fmla="val 62281"/>
              </a:avLst>
            </a:prstGeom>
            <a:solidFill>
              <a:srgbClr val="0000FF"/>
            </a:solidFill>
            <a:ln w="9525">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20" name="Rectangle 99">
              <a:extLst>
                <a:ext uri="{FF2B5EF4-FFF2-40B4-BE49-F238E27FC236}">
                  <a16:creationId xmlns:a16="http://schemas.microsoft.com/office/drawing/2014/main" id="{EC006327-D031-EA49-FFC5-B3FDD1956E30}"/>
                </a:ext>
              </a:extLst>
            </p:cNvPr>
            <p:cNvSpPr>
              <a:spLocks noChangeArrowheads="1"/>
            </p:cNvSpPr>
            <p:nvPr/>
          </p:nvSpPr>
          <p:spPr bwMode="auto">
            <a:xfrm>
              <a:off x="4949825" y="5538788"/>
              <a:ext cx="9271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a:latin typeface="ＭＳ ゴシック" panose="020B0609070205080204" pitchFamily="49" charset="-128"/>
                  <a:ea typeface="ＭＳ ゴシック" panose="020B0609070205080204" pitchFamily="49" charset="-128"/>
                </a:rPr>
                <a:t>"Hello"</a:t>
              </a:r>
            </a:p>
          </p:txBody>
        </p:sp>
        <p:sp>
          <p:nvSpPr>
            <p:cNvPr id="22" name="AutoShape 100">
              <a:extLst>
                <a:ext uri="{FF2B5EF4-FFF2-40B4-BE49-F238E27FC236}">
                  <a16:creationId xmlns:a16="http://schemas.microsoft.com/office/drawing/2014/main" id="{4ED93C70-8B71-A61F-2BF3-0BB3D3832AEF}"/>
                </a:ext>
              </a:extLst>
            </p:cNvPr>
            <p:cNvSpPr>
              <a:spLocks noChangeArrowheads="1"/>
            </p:cNvSpPr>
            <p:nvPr/>
          </p:nvSpPr>
          <p:spPr bwMode="auto">
            <a:xfrm>
              <a:off x="865188" y="6083300"/>
              <a:ext cx="1025525" cy="855662"/>
            </a:xfrm>
            <a:prstGeom prst="foldedCorner">
              <a:avLst>
                <a:gd name="adj" fmla="val 12500"/>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68425">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latin typeface="ＭＳ ゴシック" panose="020B0609070205080204" pitchFamily="49" charset="-128"/>
                  <a:ea typeface="ＭＳ ゴシック" panose="020B0609070205080204" pitchFamily="49" charset="-128"/>
                </a:rPr>
                <a:t>Object obj1 =</a:t>
              </a:r>
            </a:p>
            <a:p>
              <a:r>
                <a:rPr lang="en-US" altLang="ja-JP" b="0">
                  <a:latin typeface="ＭＳ ゴシック" panose="020B0609070205080204" pitchFamily="49" charset="-128"/>
                  <a:ea typeface="ＭＳ ゴシック" panose="020B0609070205080204" pitchFamily="49" charset="-128"/>
                </a:rPr>
                <a:t>new Object();</a:t>
              </a:r>
            </a:p>
          </p:txBody>
        </p:sp>
        <p:sp>
          <p:nvSpPr>
            <p:cNvPr id="24" name="Rectangle 101">
              <a:extLst>
                <a:ext uri="{FF2B5EF4-FFF2-40B4-BE49-F238E27FC236}">
                  <a16:creationId xmlns:a16="http://schemas.microsoft.com/office/drawing/2014/main" id="{6622175D-1CB2-B888-38AC-B6CC747E02B3}"/>
                </a:ext>
              </a:extLst>
            </p:cNvPr>
            <p:cNvSpPr>
              <a:spLocks noChangeArrowheads="1"/>
            </p:cNvSpPr>
            <p:nvPr/>
          </p:nvSpPr>
          <p:spPr bwMode="auto">
            <a:xfrm>
              <a:off x="2495551" y="6275388"/>
              <a:ext cx="26193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ja-JP" b="0" dirty="0">
                  <a:latin typeface="ＭＳ ゴシック" panose="020B0609070205080204" pitchFamily="49" charset="-128"/>
                  <a:ea typeface="ＭＳ ゴシック" panose="020B0609070205080204" pitchFamily="49" charset="-128"/>
                </a:rPr>
                <a:t>obj1</a:t>
              </a:r>
              <a:r>
                <a:rPr lang="ja-JP" altLang="en-US" b="0" dirty="0">
                  <a:latin typeface="ＭＳ ゴシック" panose="020B0609070205080204" pitchFamily="49" charset="-128"/>
                  <a:ea typeface="ＭＳ ゴシック" panose="020B0609070205080204" pitchFamily="49" charset="-128"/>
                </a:rPr>
                <a:t>　　　　　　　　       </a:t>
              </a:r>
              <a:r>
                <a:rPr lang="en-US" altLang="ja-JP" b="0" dirty="0" err="1">
                  <a:latin typeface="ＭＳ ゴシック" panose="020B0609070205080204" pitchFamily="49" charset="-128"/>
                  <a:ea typeface="ＭＳ ゴシック" panose="020B0609070205080204" pitchFamily="49" charset="-128"/>
                </a:rPr>
                <a:t>yyyy</a:t>
              </a:r>
              <a:r>
                <a:rPr lang="ja-JP" altLang="en-US" b="0" dirty="0">
                  <a:latin typeface="ＭＳ ゴシック" panose="020B0609070205080204" pitchFamily="49" charset="-128"/>
                  <a:ea typeface="ＭＳ ゴシック" panose="020B0609070205080204" pitchFamily="49" charset="-128"/>
                </a:rPr>
                <a:t>　　　　</a:t>
              </a:r>
            </a:p>
          </p:txBody>
        </p:sp>
        <p:sp>
          <p:nvSpPr>
            <p:cNvPr id="26" name="Text Box 102">
              <a:extLst>
                <a:ext uri="{FF2B5EF4-FFF2-40B4-BE49-F238E27FC236}">
                  <a16:creationId xmlns:a16="http://schemas.microsoft.com/office/drawing/2014/main" id="{4ACAFB65-7F51-B541-771F-2A302FE6F225}"/>
                </a:ext>
              </a:extLst>
            </p:cNvPr>
            <p:cNvSpPr txBox="1">
              <a:spLocks noChangeArrowheads="1"/>
            </p:cNvSpPr>
            <p:nvPr/>
          </p:nvSpPr>
          <p:spPr bwMode="auto">
            <a:xfrm>
              <a:off x="3052763" y="6251575"/>
              <a:ext cx="704850" cy="25400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spAutoFit/>
            </a:bodyPr>
            <a:lstStyle/>
            <a:p>
              <a:pPr algn="ctr">
                <a:spcBef>
                  <a:spcPct val="50000"/>
                </a:spcBef>
              </a:pPr>
              <a:r>
                <a:rPr lang="en-US" altLang="ja-JP" b="0">
                  <a:latin typeface="ＭＳ ゴシック" panose="020B0609070205080204" pitchFamily="49" charset="-128"/>
                  <a:ea typeface="ＭＳ ゴシック" panose="020B0609070205080204" pitchFamily="49" charset="-128"/>
                </a:rPr>
                <a:t>yyyy</a:t>
              </a:r>
            </a:p>
          </p:txBody>
        </p:sp>
        <p:sp>
          <p:nvSpPr>
            <p:cNvPr id="28" name="AutoShape 103">
              <a:extLst>
                <a:ext uri="{FF2B5EF4-FFF2-40B4-BE49-F238E27FC236}">
                  <a16:creationId xmlns:a16="http://schemas.microsoft.com/office/drawing/2014/main" id="{42B250D1-A66F-6599-F3D4-701AEDD4F5BF}"/>
                </a:ext>
              </a:extLst>
            </p:cNvPr>
            <p:cNvSpPr>
              <a:spLocks noChangeArrowheads="1"/>
            </p:cNvSpPr>
            <p:nvPr/>
          </p:nvSpPr>
          <p:spPr bwMode="auto">
            <a:xfrm>
              <a:off x="2052638" y="6118225"/>
              <a:ext cx="342900" cy="495300"/>
            </a:xfrm>
            <a:prstGeom prst="rightArrow">
              <a:avLst>
                <a:gd name="adj1" fmla="val 50000"/>
                <a:gd name="adj2" fmla="val 25000"/>
              </a:avLst>
            </a:prstGeom>
            <a:solidFill>
              <a:srgbClr val="0000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0" name="Cloud">
              <a:extLst>
                <a:ext uri="{FF2B5EF4-FFF2-40B4-BE49-F238E27FC236}">
                  <a16:creationId xmlns:a16="http://schemas.microsoft.com/office/drawing/2014/main" id="{11F978FC-69F1-F337-D061-8D732801E1B2}"/>
                </a:ext>
              </a:extLst>
            </p:cNvPr>
            <p:cNvSpPr>
              <a:spLocks noChangeAspect="1" noEditPoints="1" noChangeArrowheads="1"/>
            </p:cNvSpPr>
            <p:nvPr/>
          </p:nvSpPr>
          <p:spPr bwMode="auto">
            <a:xfrm>
              <a:off x="4846638" y="6194425"/>
              <a:ext cx="1128712" cy="8128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ja-JP" altLang="en-US"/>
            </a:p>
          </p:txBody>
        </p:sp>
        <p:sp>
          <p:nvSpPr>
            <p:cNvPr id="32" name="AutoShape 106">
              <a:extLst>
                <a:ext uri="{FF2B5EF4-FFF2-40B4-BE49-F238E27FC236}">
                  <a16:creationId xmlns:a16="http://schemas.microsoft.com/office/drawing/2014/main" id="{355312BB-586F-30CB-4717-B01DEB38A5B8}"/>
                </a:ext>
              </a:extLst>
            </p:cNvPr>
            <p:cNvSpPr>
              <a:spLocks noChangeArrowheads="1"/>
            </p:cNvSpPr>
            <p:nvPr/>
          </p:nvSpPr>
          <p:spPr bwMode="auto">
            <a:xfrm rot="21596852" flipV="1">
              <a:off x="3833813" y="6289675"/>
              <a:ext cx="588962" cy="144462"/>
            </a:xfrm>
            <a:prstGeom prst="rightArrow">
              <a:avLst>
                <a:gd name="adj1" fmla="val 59509"/>
                <a:gd name="adj2" fmla="val 62966"/>
              </a:avLst>
            </a:prstGeom>
            <a:solidFill>
              <a:srgbClr val="0000FF"/>
            </a:solidFill>
            <a:ln w="9525">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34" name="Rectangle 107">
              <a:extLst>
                <a:ext uri="{FF2B5EF4-FFF2-40B4-BE49-F238E27FC236}">
                  <a16:creationId xmlns:a16="http://schemas.microsoft.com/office/drawing/2014/main" id="{70F43D19-1849-A823-9071-C7534DCA661B}"/>
                </a:ext>
              </a:extLst>
            </p:cNvPr>
            <p:cNvSpPr>
              <a:spLocks noChangeArrowheads="1"/>
            </p:cNvSpPr>
            <p:nvPr/>
          </p:nvSpPr>
          <p:spPr bwMode="auto">
            <a:xfrm>
              <a:off x="4946650" y="6527800"/>
              <a:ext cx="9271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ja-JP"/>
                <a:t>Object</a:t>
              </a:r>
            </a:p>
          </p:txBody>
        </p:sp>
        <p:sp>
          <p:nvSpPr>
            <p:cNvPr id="36" name="AutoShape 108">
              <a:extLst>
                <a:ext uri="{FF2B5EF4-FFF2-40B4-BE49-F238E27FC236}">
                  <a16:creationId xmlns:a16="http://schemas.microsoft.com/office/drawing/2014/main" id="{2383726C-D944-6289-31C3-54620237B6F3}"/>
                </a:ext>
              </a:extLst>
            </p:cNvPr>
            <p:cNvSpPr>
              <a:spLocks noChangeArrowheads="1"/>
            </p:cNvSpPr>
            <p:nvPr/>
          </p:nvSpPr>
          <p:spPr bwMode="auto">
            <a:xfrm>
              <a:off x="3160631" y="4518025"/>
              <a:ext cx="3162210" cy="498475"/>
            </a:xfrm>
            <a:prstGeom prst="wedgeRoundRectCallout">
              <a:avLst>
                <a:gd name="adj1" fmla="val -32718"/>
                <a:gd name="adj2" fmla="val 108917"/>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1" tIns="19043" rIns="9521" bIns="9521"/>
            <a:lstStyle/>
            <a:p>
              <a:r>
                <a:rPr lang="en-US" altLang="ja-JP" b="0" dirty="0">
                  <a:latin typeface="+mj-lt"/>
                  <a:cs typeface="Times New Roman" panose="02020603050405020304" pitchFamily="18" charset="0"/>
                </a:rPr>
                <a:t>Sẽ </a:t>
              </a:r>
              <a:r>
                <a:rPr lang="en-US" altLang="ja-JP" b="0" dirty="0" err="1">
                  <a:latin typeface="+mj-lt"/>
                  <a:cs typeface="Times New Roman" panose="02020603050405020304" pitchFamily="18" charset="0"/>
                </a:rPr>
                <a:t>lưu</a:t>
              </a:r>
              <a:r>
                <a:rPr lang="en-US" altLang="ja-JP" b="0" dirty="0">
                  <a:latin typeface="+mj-lt"/>
                  <a:cs typeface="Times New Roman" panose="02020603050405020304" pitchFamily="18" charset="0"/>
                </a:rPr>
                <a:t> </a:t>
              </a:r>
              <a:r>
                <a:rPr lang="en-US" altLang="ja-JP" b="0" dirty="0" err="1">
                  <a:latin typeface="+mj-lt"/>
                  <a:cs typeface="Times New Roman" panose="02020603050405020304" pitchFamily="18" charset="0"/>
                </a:rPr>
                <a:t>gia</a:t>
              </a:r>
              <a:r>
                <a:rPr lang="en-US" altLang="ja-JP" b="0" dirty="0">
                  <a:latin typeface="+mj-lt"/>
                  <a:cs typeface="Times New Roman" panose="02020603050405020304" pitchFamily="18" charset="0"/>
                </a:rPr>
                <a:t>́ trị (</a:t>
              </a:r>
              <a:r>
                <a:rPr lang="en-US" altLang="ja-JP" b="0" dirty="0" err="1">
                  <a:latin typeface="+mj-lt"/>
                  <a:cs typeface="Times New Roman" panose="02020603050405020304" pitchFamily="18" charset="0"/>
                </a:rPr>
                <a:t>tham</a:t>
              </a:r>
              <a:r>
                <a:rPr lang="en-US" altLang="ja-JP" b="0" dirty="0">
                  <a:latin typeface="+mj-lt"/>
                  <a:cs typeface="Times New Roman" panose="02020603050405020304" pitchFamily="18" charset="0"/>
                </a:rPr>
                <a:t> </a:t>
              </a:r>
              <a:r>
                <a:rPr lang="en-US" altLang="ja-JP" b="0" dirty="0" err="1">
                  <a:latin typeface="+mj-lt"/>
                  <a:cs typeface="Times New Roman" panose="02020603050405020304" pitchFamily="18" charset="0"/>
                </a:rPr>
                <a:t>chiếu</a:t>
              </a:r>
              <a:r>
                <a:rPr lang="en-US" altLang="ja-JP" b="0" dirty="0">
                  <a:latin typeface="+mj-lt"/>
                  <a:cs typeface="Times New Roman" panose="02020603050405020304" pitchFamily="18" charset="0"/>
                </a:rPr>
                <a:t>) </a:t>
              </a:r>
              <a:r>
                <a:rPr lang="en-US" altLang="ja-JP" b="0" dirty="0" err="1">
                  <a:latin typeface="+mj-lt"/>
                  <a:cs typeface="Times New Roman" panose="02020603050405020304" pitchFamily="18" charset="0"/>
                </a:rPr>
                <a:t>biểu</a:t>
              </a:r>
              <a:r>
                <a:rPr lang="en-US" altLang="ja-JP" b="0" dirty="0">
                  <a:latin typeface="+mj-lt"/>
                  <a:cs typeface="Times New Roman" panose="02020603050405020304" pitchFamily="18" charset="0"/>
                </a:rPr>
                <a:t> </a:t>
              </a:r>
              <a:r>
                <a:rPr lang="en-US" altLang="ja-JP" b="0" dirty="0" err="1">
                  <a:latin typeface="+mj-lt"/>
                  <a:cs typeface="Times New Roman" panose="02020603050405020304" pitchFamily="18" charset="0"/>
                </a:rPr>
                <a:t>thi</a:t>
              </a:r>
              <a:r>
                <a:rPr lang="en-US" altLang="ja-JP" b="0" dirty="0">
                  <a:latin typeface="+mj-lt"/>
                  <a:cs typeface="Times New Roman" panose="02020603050405020304" pitchFamily="18" charset="0"/>
                </a:rPr>
                <a:t>̣ </a:t>
              </a:r>
              <a:r>
                <a:rPr lang="en-US" altLang="ja-JP" b="0" dirty="0" err="1">
                  <a:latin typeface="+mj-lt"/>
                  <a:cs typeface="Times New Roman" panose="02020603050405020304" pitchFamily="18" charset="0"/>
                </a:rPr>
                <a:t>chô</a:t>
              </a:r>
              <a:r>
                <a:rPr lang="en-US" altLang="ja-JP" b="0" dirty="0">
                  <a:latin typeface="+mj-lt"/>
                  <a:cs typeface="Times New Roman" panose="02020603050405020304" pitchFamily="18" charset="0"/>
                </a:rPr>
                <a:t>̃ mà object </a:t>
              </a:r>
              <a:r>
                <a:rPr lang="en-US" altLang="ja-JP" b="0" dirty="0" err="1">
                  <a:latin typeface="+mj-lt"/>
                  <a:cs typeface="Times New Roman" panose="02020603050405020304" pitchFamily="18" charset="0"/>
                </a:rPr>
                <a:t>đa</a:t>
              </a:r>
              <a:r>
                <a:rPr lang="en-US" altLang="ja-JP" b="0" dirty="0">
                  <a:latin typeface="+mj-lt"/>
                  <a:cs typeface="Times New Roman" panose="02020603050405020304" pitchFamily="18" charset="0"/>
                </a:rPr>
                <a:t>̃ </a:t>
              </a:r>
              <a:r>
                <a:rPr lang="en-US" altLang="ja-JP" b="0" dirty="0" err="1">
                  <a:latin typeface="+mj-lt"/>
                  <a:cs typeface="Times New Roman" panose="02020603050405020304" pitchFamily="18" charset="0"/>
                </a:rPr>
                <a:t>được</a:t>
              </a:r>
              <a:r>
                <a:rPr lang="en-US" altLang="ja-JP" b="0" dirty="0">
                  <a:latin typeface="+mj-lt"/>
                  <a:cs typeface="Times New Roman" panose="02020603050405020304" pitchFamily="18" charset="0"/>
                </a:rPr>
                <a:t> </a:t>
              </a:r>
              <a:r>
                <a:rPr lang="en-US" altLang="ja-JP" b="0" dirty="0" err="1">
                  <a:latin typeface="+mj-lt"/>
                  <a:cs typeface="Times New Roman" panose="02020603050405020304" pitchFamily="18" charset="0"/>
                </a:rPr>
                <a:t>lưu</a:t>
              </a:r>
              <a:r>
                <a:rPr lang="en-US" altLang="ja-JP" b="0" dirty="0">
                  <a:latin typeface="+mj-lt"/>
                  <a:cs typeface="Times New Roman" panose="02020603050405020304" pitchFamily="18" charset="0"/>
                </a:rPr>
                <a:t>.</a:t>
              </a:r>
            </a:p>
          </p:txBody>
        </p:sp>
      </p:grpSp>
      <p:sp>
        <p:nvSpPr>
          <p:cNvPr id="39" name="Text Box 92">
            <a:extLst>
              <a:ext uri="{FF2B5EF4-FFF2-40B4-BE49-F238E27FC236}">
                <a16:creationId xmlns:a16="http://schemas.microsoft.com/office/drawing/2014/main" id="{BB32C9DE-E23D-D9C1-F096-2D9EBA751CA1}"/>
              </a:ext>
            </a:extLst>
          </p:cNvPr>
          <p:cNvSpPr txBox="1">
            <a:spLocks noChangeArrowheads="1"/>
          </p:cNvSpPr>
          <p:nvPr/>
        </p:nvSpPr>
        <p:spPr bwMode="auto">
          <a:xfrm>
            <a:off x="1606497" y="3205337"/>
            <a:ext cx="2403073" cy="33853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3" tIns="45712" rIns="91423" bIns="45712">
            <a:spAutoFit/>
          </a:bodyPr>
          <a:lstStyle/>
          <a:p>
            <a:pPr algn="ctr">
              <a:spcBef>
                <a:spcPct val="50000"/>
              </a:spcBef>
            </a:pPr>
            <a:r>
              <a:rPr lang="en-US" altLang="ja-JP" b="0" dirty="0">
                <a:latin typeface="+mj-lt"/>
              </a:rPr>
              <a:t>Ví dụ program</a:t>
            </a:r>
          </a:p>
        </p:txBody>
      </p:sp>
    </p:spTree>
    <p:extLst>
      <p:ext uri="{BB962C8B-B14F-4D97-AF65-F5344CB8AC3E}">
        <p14:creationId xmlns:p14="http://schemas.microsoft.com/office/powerpoint/2010/main" val="3554306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DF4C2-2DFA-0888-4C82-E0A083C1B3D8}"/>
              </a:ext>
            </a:extLst>
          </p:cNvPr>
          <p:cNvSpPr>
            <a:spLocks noGrp="1"/>
          </p:cNvSpPr>
          <p:nvPr>
            <p:ph type="title"/>
          </p:nvPr>
        </p:nvSpPr>
        <p:spPr/>
        <p:txBody>
          <a:bodyPr>
            <a:normAutofit fontScale="90000"/>
          </a:bodyPr>
          <a:lstStyle/>
          <a:p>
            <a:r>
              <a:rPr lang="en-US" altLang="ja-JP" dirty="0" err="1">
                <a:latin typeface="Arial" panose="020B0604020202020204" pitchFamily="34" charset="0"/>
              </a:rPr>
              <a:t>Cấu</a:t>
            </a:r>
            <a:r>
              <a:rPr lang="en-US" altLang="ja-JP" dirty="0">
                <a:latin typeface="Arial" panose="020B0604020202020204" pitchFamily="34" charset="0"/>
              </a:rPr>
              <a:t> </a:t>
            </a:r>
            <a:r>
              <a:rPr lang="en-US" altLang="ja-JP" dirty="0" err="1">
                <a:latin typeface="Arial" panose="020B0604020202020204" pitchFamily="34" charset="0"/>
              </a:rPr>
              <a:t>tạo</a:t>
            </a:r>
            <a:r>
              <a:rPr lang="en-US" altLang="ja-JP" dirty="0">
                <a:latin typeface="Arial" panose="020B0604020202020204" pitchFamily="34" charset="0"/>
              </a:rPr>
              <a:t> </a:t>
            </a:r>
            <a:r>
              <a:rPr lang="en-US" altLang="ja-JP" dirty="0" err="1">
                <a:latin typeface="Arial" panose="020B0604020202020204" pitchFamily="34" charset="0"/>
              </a:rPr>
              <a:t>cơ</a:t>
            </a:r>
            <a:r>
              <a:rPr lang="en-US" altLang="ja-JP" dirty="0">
                <a:latin typeface="Arial" panose="020B0604020202020204" pitchFamily="34" charset="0"/>
              </a:rPr>
              <a:t> </a:t>
            </a:r>
            <a:r>
              <a:rPr lang="en-US" altLang="ja-JP" dirty="0" err="1">
                <a:latin typeface="Arial" panose="020B0604020202020204" pitchFamily="34" charset="0"/>
              </a:rPr>
              <a:t>bản</a:t>
            </a:r>
            <a:r>
              <a:rPr lang="en-US" altLang="ja-JP" dirty="0">
                <a:latin typeface="Arial" panose="020B0604020202020204" pitchFamily="34" charset="0"/>
              </a:rPr>
              <a:t> </a:t>
            </a:r>
            <a:r>
              <a:rPr lang="en-US" altLang="ja-JP" dirty="0" err="1">
                <a:latin typeface="Arial" panose="020B0604020202020204" pitchFamily="34" charset="0"/>
              </a:rPr>
              <a:t>của</a:t>
            </a:r>
            <a:r>
              <a:rPr lang="en-US" altLang="ja-JP" dirty="0">
                <a:latin typeface="Arial" panose="020B0604020202020204" pitchFamily="34" charset="0"/>
              </a:rPr>
              <a:t> class</a:t>
            </a:r>
            <a:endParaRPr kumimoji="1" lang="ja-JP" altLang="en-US" dirty="0"/>
          </a:p>
        </p:txBody>
      </p:sp>
      <p:sp>
        <p:nvSpPr>
          <p:cNvPr id="4" name="Slide Number Placeholder 3">
            <a:extLst>
              <a:ext uri="{FF2B5EF4-FFF2-40B4-BE49-F238E27FC236}">
                <a16:creationId xmlns:a16="http://schemas.microsoft.com/office/drawing/2014/main" id="{E74CAF34-D6B1-DA96-8257-F7B7643785E8}"/>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24</a:t>
            </a:fld>
            <a:endParaRPr lang="en-US" altLang="ja-JP"/>
          </a:p>
        </p:txBody>
      </p:sp>
      <p:sp>
        <p:nvSpPr>
          <p:cNvPr id="5" name="Rectangle 2">
            <a:extLst>
              <a:ext uri="{FF2B5EF4-FFF2-40B4-BE49-F238E27FC236}">
                <a16:creationId xmlns:a16="http://schemas.microsoft.com/office/drawing/2014/main" id="{993E74DD-9463-A8FE-82E3-9354F6ECA3C2}"/>
              </a:ext>
            </a:extLst>
          </p:cNvPr>
          <p:cNvSpPr txBox="1">
            <a:spLocks noChangeArrowheads="1"/>
          </p:cNvSpPr>
          <p:nvPr/>
        </p:nvSpPr>
        <p:spPr bwMode="auto">
          <a:xfrm>
            <a:off x="304800" y="682625"/>
            <a:ext cx="9296400" cy="5770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har char="•"/>
              <a:defRPr kumimoji="1" sz="3200">
                <a:solidFill>
                  <a:schemeClr val="tx1"/>
                </a:solidFill>
                <a:latin typeface="+mj-lt"/>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j-lt"/>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j-lt"/>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j-lt"/>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j-lt"/>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indent="0"/>
            <a:endParaRPr lang="en-US" altLang="ja-JP" sz="1800" b="0" kern="0" dirty="0">
              <a:latin typeface="Arial" panose="020B0604020202020204" pitchFamily="34" charset="0"/>
            </a:endParaRPr>
          </a:p>
          <a:p>
            <a:pPr marL="0" indent="0"/>
            <a:r>
              <a:rPr lang="ja-JP" altLang="en-US" sz="1800" b="0" kern="0" dirty="0">
                <a:latin typeface="Arial" panose="020B0604020202020204" pitchFamily="34" charset="0"/>
              </a:rPr>
              <a:t>　</a:t>
            </a:r>
            <a:r>
              <a:rPr lang="en-US" altLang="ja-JP" sz="1800" b="0" kern="0" dirty="0">
                <a:latin typeface="Arial" panose="020B0604020202020204" pitchFamily="34" charset="0"/>
              </a:rPr>
              <a:t>Trong class sẽ </a:t>
            </a:r>
            <a:r>
              <a:rPr lang="en-US" altLang="ja-JP" sz="1800" b="0" kern="0" dirty="0" err="1">
                <a:latin typeface="Arial" panose="020B0604020202020204" pitchFamily="34" charset="0"/>
              </a:rPr>
              <a:t>định</a:t>
            </a:r>
            <a:r>
              <a:rPr lang="en-US" altLang="ja-JP" sz="1800" b="0" kern="0" dirty="0">
                <a:latin typeface="Arial" panose="020B0604020202020204" pitchFamily="34" charset="0"/>
              </a:rPr>
              <a:t> </a:t>
            </a:r>
            <a:r>
              <a:rPr lang="en-US" altLang="ja-JP" sz="1800" b="0" kern="0" dirty="0" err="1">
                <a:latin typeface="Arial" panose="020B0604020202020204" pitchFamily="34" charset="0"/>
              </a:rPr>
              <a:t>nghĩa</a:t>
            </a:r>
            <a:r>
              <a:rPr lang="en-US" altLang="ja-JP" sz="1800" b="0" kern="0" dirty="0">
                <a:latin typeface="Arial" panose="020B0604020202020204" pitchFamily="34" charset="0"/>
              </a:rPr>
              <a:t> </a:t>
            </a:r>
            <a:r>
              <a:rPr lang="en-US" altLang="ja-JP" sz="1800" b="0" kern="0" dirty="0" err="1">
                <a:latin typeface="Arial" panose="020B0604020202020204" pitchFamily="34" charset="0"/>
              </a:rPr>
              <a:t>biến</a:t>
            </a:r>
            <a:r>
              <a:rPr lang="en-US" altLang="ja-JP" sz="1800" b="0" kern="0" dirty="0">
                <a:latin typeface="Arial" panose="020B0604020202020204" pitchFamily="34" charset="0"/>
              </a:rPr>
              <a:t> </a:t>
            </a:r>
            <a:r>
              <a:rPr lang="en-US" altLang="ja-JP" sz="1800" b="0" kern="0" dirty="0" err="1">
                <a:latin typeface="Arial" panose="020B0604020202020204" pitchFamily="34" charset="0"/>
              </a:rPr>
              <a:t>sô</a:t>
            </a:r>
            <a:r>
              <a:rPr lang="en-US" altLang="ja-JP" sz="1800" b="0" kern="0" dirty="0">
                <a:latin typeface="Arial" panose="020B0604020202020204" pitchFamily="34" charset="0"/>
              </a:rPr>
              <a:t>́̉ </a:t>
            </a:r>
            <a:r>
              <a:rPr lang="en-US" altLang="ja-JP" sz="1800" b="0" kern="0" dirty="0" err="1">
                <a:latin typeface="Arial" panose="020B0604020202020204" pitchFamily="34" charset="0"/>
              </a:rPr>
              <a:t>biểu</a:t>
            </a:r>
            <a:r>
              <a:rPr lang="en-US" altLang="ja-JP" sz="1800" b="0" kern="0" dirty="0">
                <a:latin typeface="Arial" panose="020B0604020202020204" pitchFamily="34" charset="0"/>
              </a:rPr>
              <a:t> </a:t>
            </a:r>
            <a:r>
              <a:rPr lang="en-US" altLang="ja-JP" sz="1800" b="0" kern="0" dirty="0" err="1">
                <a:latin typeface="Arial" panose="020B0604020202020204" pitchFamily="34" charset="0"/>
              </a:rPr>
              <a:t>thi</a:t>
            </a:r>
            <a:r>
              <a:rPr lang="en-US" altLang="ja-JP" sz="1800" b="0" kern="0" dirty="0">
                <a:latin typeface="Arial" panose="020B0604020202020204" pitchFamily="34" charset="0"/>
              </a:rPr>
              <a:t>̣ </a:t>
            </a:r>
            <a:r>
              <a:rPr lang="en-US" altLang="ja-JP" sz="1800" b="0" kern="0" dirty="0" err="1">
                <a:latin typeface="Arial" panose="020B0604020202020204" pitchFamily="34" charset="0"/>
              </a:rPr>
              <a:t>thuộc</a:t>
            </a:r>
            <a:r>
              <a:rPr lang="en-US" altLang="ja-JP" sz="1800" b="0" kern="0" dirty="0">
                <a:latin typeface="Arial" panose="020B0604020202020204" pitchFamily="34" charset="0"/>
              </a:rPr>
              <a:t> </a:t>
            </a:r>
            <a:r>
              <a:rPr lang="en-US" altLang="ja-JP" sz="1800" b="0" kern="0" dirty="0" err="1">
                <a:latin typeface="Arial" panose="020B0604020202020204" pitchFamily="34" charset="0"/>
              </a:rPr>
              <a:t>tính</a:t>
            </a:r>
            <a:r>
              <a:rPr lang="en-US" altLang="ja-JP" sz="1800" b="0" kern="0" dirty="0">
                <a:latin typeface="Arial" panose="020B0604020202020204" pitchFamily="34" charset="0"/>
              </a:rPr>
              <a:t> </a:t>
            </a:r>
            <a:r>
              <a:rPr lang="en-US" altLang="ja-JP" sz="1800" b="0" kern="0" dirty="0" err="1">
                <a:latin typeface="Arial" panose="020B0604020202020204" pitchFamily="34" charset="0"/>
              </a:rPr>
              <a:t>va</a:t>
            </a:r>
            <a:r>
              <a:rPr lang="en-US" altLang="ja-JP" sz="1800" b="0" kern="0" dirty="0">
                <a:latin typeface="Arial" panose="020B0604020202020204" pitchFamily="34" charset="0"/>
              </a:rPr>
              <a:t>̀ method </a:t>
            </a:r>
            <a:r>
              <a:rPr lang="en-US" altLang="ja-JP" sz="1800" b="0" kern="0" dirty="0" err="1">
                <a:latin typeface="Arial" panose="020B0604020202020204" pitchFamily="34" charset="0"/>
              </a:rPr>
              <a:t>đê</a:t>
            </a:r>
            <a:r>
              <a:rPr lang="en-US" altLang="ja-JP" sz="1800" b="0" kern="0" dirty="0">
                <a:latin typeface="Arial" panose="020B0604020202020204" pitchFamily="34" charset="0"/>
              </a:rPr>
              <a:t>̉ </a:t>
            </a:r>
            <a:r>
              <a:rPr lang="en-US" altLang="ja-JP" sz="1800" b="0" kern="0" dirty="0" err="1">
                <a:latin typeface="Arial" panose="020B0604020202020204" pitchFamily="34" charset="0"/>
              </a:rPr>
              <a:t>biểu</a:t>
            </a:r>
            <a:r>
              <a:rPr lang="en-US" altLang="ja-JP" sz="1800" b="0" kern="0" dirty="0">
                <a:latin typeface="Arial" panose="020B0604020202020204" pitchFamily="34" charset="0"/>
              </a:rPr>
              <a:t> </a:t>
            </a:r>
            <a:r>
              <a:rPr lang="en-US" altLang="ja-JP" sz="1800" b="0" kern="0" dirty="0" err="1">
                <a:latin typeface="Arial" panose="020B0604020202020204" pitchFamily="34" charset="0"/>
              </a:rPr>
              <a:t>thi</a:t>
            </a:r>
            <a:r>
              <a:rPr lang="en-US" altLang="ja-JP" sz="1800" b="0" kern="0" dirty="0">
                <a:latin typeface="Arial" panose="020B0604020202020204" pitchFamily="34" charset="0"/>
              </a:rPr>
              <a:t>̣ behavior.</a:t>
            </a:r>
          </a:p>
          <a:p>
            <a:pPr marL="0" indent="0"/>
            <a:r>
              <a:rPr lang="en-US" altLang="ja-JP" sz="1800" b="0" kern="0" dirty="0">
                <a:latin typeface="Arial" panose="020B0604020202020204" pitchFamily="34" charset="0"/>
              </a:rPr>
              <a:t> Cú </a:t>
            </a:r>
            <a:r>
              <a:rPr lang="en-US" altLang="ja-JP" sz="1800" b="0" kern="0" dirty="0" err="1">
                <a:latin typeface="Arial" panose="020B0604020202020204" pitchFamily="34" charset="0"/>
              </a:rPr>
              <a:t>pháp</a:t>
            </a:r>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buNone/>
            </a:pPr>
            <a:r>
              <a:rPr lang="ja-JP" altLang="en-US" sz="1800" b="0" kern="0" dirty="0">
                <a:latin typeface="Arial" panose="020B0604020202020204" pitchFamily="34" charset="0"/>
              </a:rPr>
              <a:t>　</a:t>
            </a:r>
            <a:r>
              <a:rPr lang="en-US" altLang="ja-JP" sz="1800" b="0" kern="0" dirty="0">
                <a:latin typeface="Arial" panose="020B0604020202020204" pitchFamily="34" charset="0"/>
              </a:rPr>
              <a:t>Ví dụ:</a:t>
            </a:r>
            <a:r>
              <a:rPr lang="ja-JP" altLang="en-US" sz="1800" b="0" kern="0" dirty="0">
                <a:latin typeface="Arial" panose="020B0604020202020204" pitchFamily="34" charset="0"/>
              </a:rPr>
              <a:t>　</a:t>
            </a:r>
            <a:r>
              <a:rPr lang="en-US" altLang="ja-JP" sz="1800" b="0" kern="0" dirty="0">
                <a:latin typeface="Arial" panose="020B0604020202020204" pitchFamily="34" charset="0"/>
              </a:rPr>
              <a:t>Trong ví dụ </a:t>
            </a:r>
            <a:r>
              <a:rPr lang="en-US" altLang="ja-JP" sz="1800" b="0" kern="0" dirty="0" err="1">
                <a:latin typeface="Arial" panose="020B0604020202020204" pitchFamily="34" charset="0"/>
              </a:rPr>
              <a:t>vê</a:t>
            </a:r>
            <a:r>
              <a:rPr lang="en-US" altLang="ja-JP" sz="1800" b="0" kern="0" dirty="0">
                <a:latin typeface="Arial" panose="020B0604020202020204" pitchFamily="34" charset="0"/>
              </a:rPr>
              <a:t>̀ HelloWorld class, </a:t>
            </a:r>
            <a:r>
              <a:rPr lang="en-US" altLang="ja-JP" sz="1800" b="0" kern="0" dirty="0" err="1">
                <a:latin typeface="Arial" panose="020B0604020202020204" pitchFamily="34" charset="0"/>
              </a:rPr>
              <a:t>không</a:t>
            </a:r>
            <a:r>
              <a:rPr lang="en-US" altLang="ja-JP" sz="1800" b="0" kern="0" dirty="0">
                <a:latin typeface="Arial" panose="020B0604020202020204" pitchFamily="34" charset="0"/>
              </a:rPr>
              <a:t> có </a:t>
            </a:r>
            <a:r>
              <a:rPr lang="en-US" altLang="ja-JP" sz="1800" b="0" kern="0" dirty="0" err="1">
                <a:latin typeface="Arial" panose="020B0604020202020204" pitchFamily="34" charset="0"/>
              </a:rPr>
              <a:t>định</a:t>
            </a:r>
            <a:r>
              <a:rPr lang="en-US" altLang="ja-JP" sz="1800" b="0" kern="0" dirty="0">
                <a:latin typeface="Arial" panose="020B0604020202020204" pitchFamily="34" charset="0"/>
              </a:rPr>
              <a:t> </a:t>
            </a:r>
            <a:r>
              <a:rPr lang="en-US" altLang="ja-JP" sz="1800" b="0" kern="0" dirty="0" err="1">
                <a:latin typeface="Arial" panose="020B0604020202020204" pitchFamily="34" charset="0"/>
              </a:rPr>
              <a:t>nghĩa</a:t>
            </a:r>
            <a:r>
              <a:rPr lang="en-US" altLang="ja-JP" sz="1800" b="0" kern="0" dirty="0">
                <a:latin typeface="Arial" panose="020B0604020202020204" pitchFamily="34" charset="0"/>
              </a:rPr>
              <a:t> </a:t>
            </a:r>
            <a:r>
              <a:rPr lang="en-US" altLang="ja-JP" sz="1800" b="0" kern="0" dirty="0" err="1">
                <a:latin typeface="Arial" panose="020B0604020202020204" pitchFamily="34" charset="0"/>
              </a:rPr>
              <a:t>biến</a:t>
            </a:r>
            <a:r>
              <a:rPr lang="en-US" altLang="ja-JP" sz="1800" b="0" kern="0" dirty="0">
                <a:latin typeface="Arial" panose="020B0604020202020204" pitchFamily="34" charset="0"/>
              </a:rPr>
              <a:t> </a:t>
            </a:r>
            <a:r>
              <a:rPr lang="en-US" altLang="ja-JP" sz="1800" b="0" kern="0" dirty="0" err="1">
                <a:latin typeface="Arial" panose="020B0604020202020204" pitchFamily="34" charset="0"/>
              </a:rPr>
              <a:t>sô</a:t>
            </a:r>
            <a:r>
              <a:rPr lang="en-US" altLang="ja-JP" sz="1800" b="0" kern="0" dirty="0">
                <a:latin typeface="Arial" panose="020B0604020202020204" pitchFamily="34" charset="0"/>
              </a:rPr>
              <a:t>́ mà chỉ </a:t>
            </a:r>
            <a:r>
              <a:rPr lang="en-US" altLang="ja-JP" sz="1800" b="0" kern="0" dirty="0" err="1">
                <a:latin typeface="Arial" panose="020B0604020202020204" pitchFamily="34" charset="0"/>
              </a:rPr>
              <a:t>định</a:t>
            </a:r>
            <a:r>
              <a:rPr lang="en-US" altLang="ja-JP" sz="1800" b="0" kern="0" dirty="0">
                <a:latin typeface="Arial" panose="020B0604020202020204" pitchFamily="34" charset="0"/>
              </a:rPr>
              <a:t> </a:t>
            </a:r>
            <a:r>
              <a:rPr lang="en-US" altLang="ja-JP" sz="1800" b="0" kern="0" dirty="0" err="1">
                <a:latin typeface="Arial" panose="020B0604020202020204" pitchFamily="34" charset="0"/>
              </a:rPr>
              <a:t>nghĩa</a:t>
            </a:r>
            <a:r>
              <a:rPr lang="en-US" altLang="ja-JP" sz="1800" b="0" kern="0" dirty="0">
                <a:latin typeface="Arial" panose="020B0604020202020204" pitchFamily="34" charset="0"/>
              </a:rPr>
              <a:t> 1 method có </a:t>
            </a:r>
            <a:r>
              <a:rPr lang="en-US" altLang="ja-JP" sz="1800" b="0" kern="0" dirty="0" err="1">
                <a:latin typeface="Arial" panose="020B0604020202020204" pitchFamily="34" charset="0"/>
              </a:rPr>
              <a:t>tên</a:t>
            </a:r>
            <a:r>
              <a:rPr lang="en-US" altLang="ja-JP" sz="1800" b="0" kern="0" dirty="0">
                <a:latin typeface="Arial" panose="020B0604020202020204" pitchFamily="34" charset="0"/>
              </a:rPr>
              <a:t> là </a:t>
            </a:r>
            <a:r>
              <a:rPr lang="en-US" altLang="ja-JP" sz="1800" b="0" kern="0" dirty="0">
                <a:latin typeface="Arial" panose="020B0604020202020204" pitchFamily="34" charset="0"/>
                <a:ea typeface="ＭＳ ゴシック" panose="020B0609070205080204" pitchFamily="49" charset="-128"/>
              </a:rPr>
              <a:t>main.</a:t>
            </a:r>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a:p>
            <a:pPr marL="0" indent="0"/>
            <a:endParaRPr lang="en-US" altLang="ja-JP" sz="1800" b="0" kern="0" dirty="0">
              <a:latin typeface="Arial" panose="020B0604020202020204" pitchFamily="34" charset="0"/>
            </a:endParaRPr>
          </a:p>
        </p:txBody>
      </p:sp>
      <p:sp>
        <p:nvSpPr>
          <p:cNvPr id="6" name="Text Box 13">
            <a:extLst>
              <a:ext uri="{FF2B5EF4-FFF2-40B4-BE49-F238E27FC236}">
                <a16:creationId xmlns:a16="http://schemas.microsoft.com/office/drawing/2014/main" id="{DF285F76-688E-9E0F-6B8A-298D53199757}"/>
              </a:ext>
            </a:extLst>
          </p:cNvPr>
          <p:cNvSpPr txBox="1">
            <a:spLocks noChangeArrowheads="1"/>
          </p:cNvSpPr>
          <p:nvPr/>
        </p:nvSpPr>
        <p:spPr bwMode="auto">
          <a:xfrm>
            <a:off x="780108" y="1751013"/>
            <a:ext cx="6900862" cy="14097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dirty="0" err="1">
                <a:ea typeface="MS UI Gothic" panose="020B0600070205080204" pitchFamily="50" charset="-128"/>
              </a:rPr>
              <a:t>Tư</a:t>
            </a:r>
            <a:r>
              <a:rPr lang="en-US" altLang="ja-JP" b="0" dirty="0">
                <a:ea typeface="MS UI Gothic" panose="020B0600070205080204" pitchFamily="50" charset="-128"/>
              </a:rPr>
              <a:t>̀ </a:t>
            </a:r>
            <a:r>
              <a:rPr lang="en-US" altLang="ja-JP" b="0" dirty="0" err="1">
                <a:ea typeface="MS UI Gothic" panose="020B0600070205080204" pitchFamily="50" charset="-128"/>
              </a:rPr>
              <a:t>định</a:t>
            </a:r>
            <a:r>
              <a:rPr lang="en-US" altLang="ja-JP" b="0" dirty="0">
                <a:ea typeface="MS UI Gothic" panose="020B0600070205080204" pitchFamily="50" charset="-128"/>
              </a:rPr>
              <a:t> </a:t>
            </a:r>
            <a:r>
              <a:rPr lang="en-US" altLang="ja-JP" b="0" dirty="0" err="1">
                <a:ea typeface="MS UI Gothic" panose="020B0600070205080204" pitchFamily="50" charset="-128"/>
              </a:rPr>
              <a:t>danh</a:t>
            </a:r>
            <a:r>
              <a:rPr lang="en-US" altLang="ja-JP" b="0" dirty="0">
                <a:ea typeface="ＭＳ ゴシック" panose="020B0609070205080204" pitchFamily="49" charset="-128"/>
              </a:rPr>
              <a:t> class </a:t>
            </a:r>
            <a:r>
              <a:rPr lang="en-US" altLang="ja-JP" b="0" dirty="0" err="1">
                <a:ea typeface="ＭＳ ゴシック" panose="020B0609070205080204" pitchFamily="49" charset="-128"/>
              </a:rPr>
              <a:t>Class</a:t>
            </a:r>
            <a:r>
              <a:rPr lang="en-US" altLang="ja-JP" b="0" dirty="0">
                <a:ea typeface="ＭＳ ゴシック" panose="020B0609070205080204" pitchFamily="49" charset="-128"/>
              </a:rPr>
              <a:t> name {</a:t>
            </a:r>
          </a:p>
          <a:p>
            <a:pPr lvl="1" algn="just"/>
            <a:r>
              <a:rPr lang="en-US" altLang="ja-JP" b="0" dirty="0">
                <a:ea typeface="MS UI Gothic" panose="020B0600070205080204" pitchFamily="50" charset="-128"/>
              </a:rPr>
              <a:t>    </a:t>
            </a:r>
            <a:r>
              <a:rPr lang="en-US" altLang="ja-JP" b="0" dirty="0" err="1">
                <a:ea typeface="MS UI Gothic" panose="020B0600070205080204" pitchFamily="50" charset="-128"/>
              </a:rPr>
              <a:t>Định</a:t>
            </a:r>
            <a:r>
              <a:rPr lang="en-US" altLang="ja-JP" b="0" dirty="0">
                <a:ea typeface="MS UI Gothic" panose="020B0600070205080204" pitchFamily="50" charset="-128"/>
              </a:rPr>
              <a:t> </a:t>
            </a:r>
            <a:r>
              <a:rPr lang="en-US" altLang="ja-JP" b="0" dirty="0" err="1">
                <a:ea typeface="MS UI Gothic" panose="020B0600070205080204" pitchFamily="50" charset="-128"/>
              </a:rPr>
              <a:t>nghĩa</a:t>
            </a:r>
            <a:r>
              <a:rPr lang="en-US" altLang="ja-JP" b="0" dirty="0">
                <a:ea typeface="MS UI Gothic" panose="020B0600070205080204" pitchFamily="50" charset="-128"/>
              </a:rPr>
              <a:t> </a:t>
            </a:r>
            <a:r>
              <a:rPr lang="en-US" altLang="ja-JP" b="0" dirty="0" err="1">
                <a:ea typeface="MS UI Gothic" panose="020B0600070205080204" pitchFamily="50" charset="-128"/>
              </a:rPr>
              <a:t>biến</a:t>
            </a:r>
            <a:r>
              <a:rPr lang="en-US" altLang="ja-JP" b="0" dirty="0">
                <a:ea typeface="MS UI Gothic" panose="020B0600070205080204" pitchFamily="50" charset="-128"/>
              </a:rPr>
              <a:t> </a:t>
            </a:r>
            <a:r>
              <a:rPr lang="en-US" altLang="ja-JP" b="0" dirty="0" err="1">
                <a:ea typeface="MS UI Gothic" panose="020B0600070205080204" pitchFamily="50" charset="-128"/>
              </a:rPr>
              <a:t>sô</a:t>
            </a:r>
            <a:r>
              <a:rPr lang="en-US" altLang="ja-JP" b="0" dirty="0">
                <a:ea typeface="MS UI Gothic" panose="020B0600070205080204" pitchFamily="50" charset="-128"/>
              </a:rPr>
              <a:t>́</a:t>
            </a:r>
            <a:r>
              <a:rPr lang="ja-JP" altLang="en-US" b="0" dirty="0">
                <a:ea typeface="MS UI Gothic" panose="020B0600070205080204" pitchFamily="50" charset="-128"/>
              </a:rPr>
              <a:t>（</a:t>
            </a:r>
            <a:r>
              <a:rPr lang="en-US" altLang="ja-JP" b="0" dirty="0" err="1">
                <a:ea typeface="MS UI Gothic" panose="020B0600070205080204" pitchFamily="50" charset="-128"/>
              </a:rPr>
              <a:t>Thuộc</a:t>
            </a:r>
            <a:r>
              <a:rPr lang="en-US" altLang="ja-JP" b="0" dirty="0">
                <a:ea typeface="MS UI Gothic" panose="020B0600070205080204" pitchFamily="50" charset="-128"/>
              </a:rPr>
              <a:t> </a:t>
            </a:r>
            <a:r>
              <a:rPr lang="en-US" altLang="ja-JP" b="0" dirty="0" err="1">
                <a:ea typeface="MS UI Gothic" panose="020B0600070205080204" pitchFamily="50" charset="-128"/>
              </a:rPr>
              <a:t>tính</a:t>
            </a:r>
            <a:r>
              <a:rPr lang="ja-JP" altLang="en-US" b="0" dirty="0">
                <a:ea typeface="MS UI Gothic" panose="020B0600070205080204" pitchFamily="50" charset="-128"/>
              </a:rPr>
              <a:t>）</a:t>
            </a:r>
          </a:p>
          <a:p>
            <a:pPr lvl="1" algn="just"/>
            <a:r>
              <a:rPr lang="ja-JP" altLang="en-US" b="0" dirty="0">
                <a:ea typeface="MS UI Gothic" panose="020B0600070205080204" pitchFamily="50" charset="-128"/>
              </a:rPr>
              <a:t>	：</a:t>
            </a:r>
          </a:p>
          <a:p>
            <a:pPr lvl="1" algn="just"/>
            <a:r>
              <a:rPr lang="ja-JP" altLang="en-US" b="0" dirty="0">
                <a:ea typeface="MS UI Gothic" panose="020B0600070205080204" pitchFamily="50" charset="-128"/>
              </a:rPr>
              <a:t>    </a:t>
            </a:r>
            <a:r>
              <a:rPr lang="en-US" altLang="ja-JP" b="0" dirty="0" err="1">
                <a:ea typeface="MS UI Gothic" panose="020B0600070205080204" pitchFamily="50" charset="-128"/>
              </a:rPr>
              <a:t>Định</a:t>
            </a:r>
            <a:r>
              <a:rPr lang="en-US" altLang="ja-JP" b="0" dirty="0">
                <a:ea typeface="MS UI Gothic" panose="020B0600070205080204" pitchFamily="50" charset="-128"/>
              </a:rPr>
              <a:t> </a:t>
            </a:r>
            <a:r>
              <a:rPr lang="en-US" altLang="ja-JP" b="0" dirty="0" err="1">
                <a:ea typeface="MS UI Gothic" panose="020B0600070205080204" pitchFamily="50" charset="-128"/>
              </a:rPr>
              <a:t>nghĩa</a:t>
            </a:r>
            <a:r>
              <a:rPr lang="en-US" altLang="ja-JP" b="0" dirty="0">
                <a:ea typeface="MS UI Gothic" panose="020B0600070205080204" pitchFamily="50" charset="-128"/>
              </a:rPr>
              <a:t> method</a:t>
            </a:r>
            <a:r>
              <a:rPr lang="ja-JP" altLang="en-US" b="0" dirty="0">
                <a:ea typeface="MS UI Gothic" panose="020B0600070205080204" pitchFamily="50" charset="-128"/>
              </a:rPr>
              <a:t>（</a:t>
            </a:r>
            <a:r>
              <a:rPr lang="en-US" altLang="ja-JP" b="0" dirty="0">
                <a:ea typeface="MS UI Gothic" panose="020B0600070205080204" pitchFamily="50" charset="-128"/>
              </a:rPr>
              <a:t>behavior</a:t>
            </a:r>
            <a:r>
              <a:rPr lang="ja-JP" altLang="en-US" b="0" dirty="0">
                <a:ea typeface="MS UI Gothic" panose="020B0600070205080204" pitchFamily="50" charset="-128"/>
              </a:rPr>
              <a:t>）</a:t>
            </a:r>
          </a:p>
          <a:p>
            <a:pPr lvl="1" algn="just"/>
            <a:r>
              <a:rPr lang="en-US" altLang="ja-JP" b="0" dirty="0">
                <a:ea typeface="ＭＳ ゴシック" panose="020B0609070205080204" pitchFamily="49" charset="-128"/>
              </a:rPr>
              <a:t>}</a:t>
            </a:r>
          </a:p>
        </p:txBody>
      </p:sp>
      <p:grpSp>
        <p:nvGrpSpPr>
          <p:cNvPr id="7" name="Group 34">
            <a:extLst>
              <a:ext uri="{FF2B5EF4-FFF2-40B4-BE49-F238E27FC236}">
                <a16:creationId xmlns:a16="http://schemas.microsoft.com/office/drawing/2014/main" id="{E8565472-323F-A559-90A6-1A67BAAE144C}"/>
              </a:ext>
            </a:extLst>
          </p:cNvPr>
          <p:cNvGrpSpPr>
            <a:grpSpLocks/>
          </p:cNvGrpSpPr>
          <p:nvPr/>
        </p:nvGrpSpPr>
        <p:grpSpPr bwMode="auto">
          <a:xfrm>
            <a:off x="728545" y="4191000"/>
            <a:ext cx="5794375" cy="1722437"/>
            <a:chOff x="453" y="2105"/>
            <a:chExt cx="3650" cy="1085"/>
          </a:xfrm>
        </p:grpSpPr>
        <p:sp>
          <p:nvSpPr>
            <p:cNvPr id="8" name="Text Box 14">
              <a:extLst>
                <a:ext uri="{FF2B5EF4-FFF2-40B4-BE49-F238E27FC236}">
                  <a16:creationId xmlns:a16="http://schemas.microsoft.com/office/drawing/2014/main" id="{E7D09447-E38A-143F-7D92-746F8226E395}"/>
                </a:ext>
              </a:extLst>
            </p:cNvPr>
            <p:cNvSpPr txBox="1">
              <a:spLocks noChangeArrowheads="1"/>
            </p:cNvSpPr>
            <p:nvPr/>
          </p:nvSpPr>
          <p:spPr bwMode="auto">
            <a:xfrm>
              <a:off x="453" y="2105"/>
              <a:ext cx="3650" cy="108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39" tIns="19880" rIns="9939" bIns="9939"/>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87325"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0338"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dirty="0">
                  <a:ea typeface="ＭＳ ゴシック" panose="020B0609070205080204" pitchFamily="49" charset="-128"/>
                </a:rPr>
                <a:t>public class HelloWorld {</a:t>
              </a:r>
            </a:p>
            <a:p>
              <a:pPr lvl="1" algn="just"/>
              <a:endParaRPr lang="en-US" altLang="ja-JP" b="0" dirty="0">
                <a:ea typeface="ＭＳ ゴシック" panose="020B0609070205080204" pitchFamily="49" charset="-128"/>
              </a:endParaRPr>
            </a:p>
            <a:p>
              <a:pPr lvl="1" algn="just"/>
              <a:r>
                <a:rPr lang="en-US" altLang="ja-JP" b="0" dirty="0">
                  <a:ea typeface="ＭＳ ゴシック" panose="020B0609070205080204" pitchFamily="49" charset="-128"/>
                </a:rPr>
                <a:t>    // main method</a:t>
              </a:r>
            </a:p>
            <a:p>
              <a:pPr lvl="1" algn="just"/>
              <a:r>
                <a:rPr lang="en-US" altLang="ja-JP" b="0" dirty="0">
                  <a:ea typeface="ＭＳ ゴシック" panose="020B0609070205080204" pitchFamily="49" charset="-128"/>
                </a:rPr>
                <a:t>    public static void main(String[] </a:t>
              </a:r>
              <a:r>
                <a:rPr lang="en-US" altLang="ja-JP" b="0" dirty="0" err="1">
                  <a:ea typeface="ＭＳ ゴシック" panose="020B0609070205080204" pitchFamily="49" charset="-128"/>
                </a:rPr>
                <a:t>args</a:t>
              </a:r>
              <a:r>
                <a:rPr lang="en-US" altLang="ja-JP" b="0" dirty="0">
                  <a:ea typeface="ＭＳ ゴシック" panose="020B0609070205080204" pitchFamily="49" charset="-128"/>
                </a:rPr>
                <a:t>) {</a:t>
              </a:r>
            </a:p>
            <a:p>
              <a:pPr lvl="1" algn="just"/>
              <a:r>
                <a:rPr lang="en-US" altLang="ja-JP" b="0" dirty="0">
                  <a:ea typeface="ＭＳ ゴシック" panose="020B0609070205080204" pitchFamily="49" charset="-128"/>
                </a:rPr>
                <a:t>              </a:t>
              </a:r>
              <a:r>
                <a:rPr lang="ja-JP" altLang="en-US" b="0" dirty="0">
                  <a:ea typeface="ＭＳ ゴシック" panose="020B0609070205080204" pitchFamily="49" charset="-128"/>
                </a:rPr>
                <a:t>：</a:t>
              </a:r>
            </a:p>
            <a:p>
              <a:pPr lvl="1" algn="just"/>
              <a:r>
                <a:rPr lang="ja-JP" altLang="en-US" b="0" dirty="0">
                  <a:ea typeface="ＭＳ ゴシック" panose="020B0609070205080204" pitchFamily="49" charset="-128"/>
                </a:rPr>
                <a:t>    </a:t>
              </a:r>
              <a:r>
                <a:rPr lang="en-US" altLang="ja-JP" b="0" dirty="0">
                  <a:ea typeface="ＭＳ ゴシック" panose="020B0609070205080204" pitchFamily="49" charset="-128"/>
                </a:rPr>
                <a:t>}</a:t>
              </a:r>
            </a:p>
            <a:p>
              <a:pPr lvl="1" algn="just"/>
              <a:r>
                <a:rPr lang="en-US" altLang="ja-JP" b="0" dirty="0">
                  <a:ea typeface="ＭＳ ゴシック" panose="020B0609070205080204" pitchFamily="49" charset="-128"/>
                </a:rPr>
                <a:t>}</a:t>
              </a:r>
            </a:p>
          </p:txBody>
        </p:sp>
        <p:sp>
          <p:nvSpPr>
            <p:cNvPr id="9" name="Rectangle 15">
              <a:extLst>
                <a:ext uri="{FF2B5EF4-FFF2-40B4-BE49-F238E27FC236}">
                  <a16:creationId xmlns:a16="http://schemas.microsoft.com/office/drawing/2014/main" id="{D2F56DD7-764C-747C-B967-B2EB9E4852BF}"/>
                </a:ext>
              </a:extLst>
            </p:cNvPr>
            <p:cNvSpPr>
              <a:spLocks noChangeArrowheads="1"/>
            </p:cNvSpPr>
            <p:nvPr/>
          </p:nvSpPr>
          <p:spPr bwMode="auto">
            <a:xfrm>
              <a:off x="653" y="2259"/>
              <a:ext cx="2536" cy="839"/>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94" tIns="45695" rIns="91394" bIns="4569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68425"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ea typeface="ＭＳ ゴシック" panose="020B0609070205080204" pitchFamily="49" charset="-128"/>
              </a:endParaRPr>
            </a:p>
          </p:txBody>
        </p:sp>
      </p:grpSp>
    </p:spTree>
    <p:extLst>
      <p:ext uri="{BB962C8B-B14F-4D97-AF65-F5344CB8AC3E}">
        <p14:creationId xmlns:p14="http://schemas.microsoft.com/office/powerpoint/2010/main" val="658310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6EA3B1-D51F-B654-5D6A-BC07963D1590}"/>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25</a:t>
            </a:fld>
            <a:endParaRPr lang="en-US" altLang="ja-JP"/>
          </a:p>
        </p:txBody>
      </p:sp>
      <p:sp>
        <p:nvSpPr>
          <p:cNvPr id="5" name="Rectangle 2">
            <a:extLst>
              <a:ext uri="{FF2B5EF4-FFF2-40B4-BE49-F238E27FC236}">
                <a16:creationId xmlns:a16="http://schemas.microsoft.com/office/drawing/2014/main" id="{734BB133-DDAC-DF9A-DB48-37124000EF26}"/>
              </a:ext>
            </a:extLst>
          </p:cNvPr>
          <p:cNvSpPr txBox="1">
            <a:spLocks noChangeArrowheads="1"/>
          </p:cNvSpPr>
          <p:nvPr/>
        </p:nvSpPr>
        <p:spPr bwMode="auto">
          <a:xfrm>
            <a:off x="221273" y="392040"/>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r>
              <a:rPr lang="en-US" altLang="ja-JP" b="0" kern="0" dirty="0" err="1">
                <a:latin typeface="Arial" panose="020B0604020202020204" pitchFamily="34" charset="0"/>
                <a:ea typeface="MS UI Gothic" panose="020B0600070205080204" pitchFamily="34" charset="-128"/>
              </a:rPr>
              <a:t>Cấu</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tạo</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cơ</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bản</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của</a:t>
            </a:r>
            <a:r>
              <a:rPr lang="en-US" altLang="ja-JP" b="0" kern="0" dirty="0">
                <a:latin typeface="Arial" panose="020B0604020202020204" pitchFamily="34" charset="0"/>
                <a:ea typeface="MS UI Gothic" panose="020B0600070205080204" pitchFamily="34" charset="-128"/>
              </a:rPr>
              <a:t> program</a:t>
            </a:r>
            <a:r>
              <a:rPr lang="en-US" altLang="ja-JP" b="0" kern="0" dirty="0">
                <a:latin typeface="Arial" panose="020B0604020202020204" pitchFamily="34" charset="0"/>
              </a:rPr>
              <a:t>(2)</a:t>
            </a:r>
            <a:endParaRPr lang="en-US" altLang="ja-JP" b="0" kern="0" dirty="0">
              <a:latin typeface="Arial" panose="020B0604020202020204" pitchFamily="34" charset="0"/>
              <a:ea typeface="MS UI Gothic" panose="020B0600070205080204" pitchFamily="34" charset="-128"/>
            </a:endParaRPr>
          </a:p>
        </p:txBody>
      </p:sp>
      <p:sp>
        <p:nvSpPr>
          <p:cNvPr id="6" name="Rectangle 8">
            <a:extLst>
              <a:ext uri="{FF2B5EF4-FFF2-40B4-BE49-F238E27FC236}">
                <a16:creationId xmlns:a16="http://schemas.microsoft.com/office/drawing/2014/main" id="{0FF05734-BCA0-0703-B36B-5BCC59321391}"/>
              </a:ext>
            </a:extLst>
          </p:cNvPr>
          <p:cNvSpPr>
            <a:spLocks noChangeArrowheads="1"/>
          </p:cNvSpPr>
          <p:nvPr/>
        </p:nvSpPr>
        <p:spPr bwMode="auto">
          <a:xfrm>
            <a:off x="230065" y="887413"/>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dirty="0">
                <a:latin typeface="Arial" panose="020B0604020202020204" pitchFamily="34" charset="0"/>
                <a:ea typeface="ＭＳ ゴシック" panose="020B0609070205080204" pitchFamily="49" charset="-128"/>
              </a:rPr>
              <a:t>main method</a:t>
            </a:r>
            <a:endParaRPr lang="en-US" altLang="ja-JP" sz="2400" b="0" dirty="0">
              <a:latin typeface="Arial" panose="020B0604020202020204" pitchFamily="34" charset="0"/>
            </a:endParaRPr>
          </a:p>
          <a:p>
            <a:pPr lvl="1"/>
            <a:endParaRPr lang="en-US" altLang="ja-JP" sz="2400" b="0" dirty="0">
              <a:latin typeface="Arial" panose="020B0604020202020204" pitchFamily="34" charset="0"/>
            </a:endParaRPr>
          </a:p>
        </p:txBody>
      </p:sp>
      <p:sp>
        <p:nvSpPr>
          <p:cNvPr id="7" name="Text Box 9">
            <a:extLst>
              <a:ext uri="{FF2B5EF4-FFF2-40B4-BE49-F238E27FC236}">
                <a16:creationId xmlns:a16="http://schemas.microsoft.com/office/drawing/2014/main" id="{5017A1F8-0151-84F0-6188-6E86AA273F35}"/>
              </a:ext>
            </a:extLst>
          </p:cNvPr>
          <p:cNvSpPr txBox="1">
            <a:spLocks noChangeArrowheads="1"/>
          </p:cNvSpPr>
          <p:nvPr/>
        </p:nvSpPr>
        <p:spPr bwMode="auto">
          <a:xfrm>
            <a:off x="344488" y="2792413"/>
            <a:ext cx="9120187" cy="120650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ja-JP" altLang="ja-JP" sz="2000" dirty="0">
                <a:ea typeface="MS UI Gothic" panose="020B0600070205080204" pitchFamily="34" charset="-128"/>
              </a:rPr>
              <a:t>　</a:t>
            </a:r>
            <a:r>
              <a:rPr lang="ja-JP" altLang="ja-JP" sz="2000" dirty="0">
                <a:ea typeface="ＭＳ ゴシック" panose="020B0609070205080204" pitchFamily="49" charset="-128"/>
              </a:rPr>
              <a:t>public</a:t>
            </a:r>
            <a:r>
              <a:rPr lang="en-US" altLang="ja-JP" sz="2000" dirty="0">
                <a:ea typeface="ＭＳ ゴシック" panose="020B0609070205080204" pitchFamily="49" charset="-128"/>
              </a:rPr>
              <a:t> </a:t>
            </a:r>
            <a:r>
              <a:rPr lang="ja-JP" altLang="ja-JP" sz="2000" dirty="0">
                <a:ea typeface="ＭＳ ゴシック" panose="020B0609070205080204" pitchFamily="49" charset="-128"/>
              </a:rPr>
              <a:t>static</a:t>
            </a:r>
            <a:r>
              <a:rPr lang="en-US" altLang="ja-JP" sz="2000" dirty="0">
                <a:ea typeface="ＭＳ ゴシック" panose="020B0609070205080204" pitchFamily="49" charset="-128"/>
              </a:rPr>
              <a:t> </a:t>
            </a:r>
            <a:r>
              <a:rPr lang="ja-JP" altLang="ja-JP" sz="2000" dirty="0">
                <a:ea typeface="ＭＳ ゴシック" panose="020B0609070205080204" pitchFamily="49" charset="-128"/>
              </a:rPr>
              <a:t>void</a:t>
            </a:r>
            <a:r>
              <a:rPr lang="en-US" altLang="ja-JP" sz="2000" dirty="0">
                <a:ea typeface="ＭＳ ゴシック" panose="020B0609070205080204" pitchFamily="49" charset="-128"/>
              </a:rPr>
              <a:t> </a:t>
            </a:r>
            <a:r>
              <a:rPr lang="ja-JP" altLang="ja-JP" sz="2000" dirty="0">
                <a:ea typeface="ＭＳ ゴシック" panose="020B0609070205080204" pitchFamily="49" charset="-128"/>
              </a:rPr>
              <a:t>main(String[] args) {</a:t>
            </a:r>
          </a:p>
          <a:p>
            <a:pPr lvl="1" algn="just">
              <a:lnSpc>
                <a:spcPct val="112000"/>
              </a:lnSpc>
            </a:pPr>
            <a:r>
              <a:rPr lang="ja-JP" altLang="ja-JP" sz="2000" dirty="0">
                <a:ea typeface="MS UI Gothic" panose="020B0600070205080204" pitchFamily="34" charset="-128"/>
              </a:rPr>
              <a:t>　　　　　　</a:t>
            </a:r>
            <a:r>
              <a:rPr lang="ja-JP" altLang="ja-JP" sz="2000" dirty="0">
                <a:ea typeface="ＭＳ ゴシック" panose="020B0609070205080204" pitchFamily="49" charset="-128"/>
              </a:rPr>
              <a:t>//</a:t>
            </a:r>
            <a:r>
              <a:rPr lang="ja-JP" altLang="ja-JP" sz="2000" dirty="0">
                <a:ea typeface="MS UI Gothic" panose="020B0600070205080204" pitchFamily="34" charset="-128"/>
              </a:rPr>
              <a:t>  </a:t>
            </a:r>
            <a:r>
              <a:rPr lang="en-US" altLang="ja-JP" sz="2000" dirty="0" err="1">
                <a:ea typeface="MS UI Gothic" panose="020B0600070205080204" pitchFamily="34" charset="-128"/>
              </a:rPr>
              <a:t>Xư</a:t>
            </a:r>
            <a:r>
              <a:rPr lang="en-US" altLang="ja-JP" sz="2000" dirty="0">
                <a:ea typeface="MS UI Gothic" panose="020B0600070205080204" pitchFamily="34" charset="-128"/>
              </a:rPr>
              <a:t>̉ </a:t>
            </a:r>
            <a:r>
              <a:rPr lang="en-US" altLang="ja-JP" sz="2000" dirty="0" err="1">
                <a:ea typeface="MS UI Gothic" panose="020B0600070205080204" pitchFamily="34" charset="-128"/>
              </a:rPr>
              <a:t>ly</a:t>
            </a:r>
            <a:r>
              <a:rPr lang="en-US" altLang="ja-JP" sz="2000" dirty="0">
                <a:ea typeface="MS UI Gothic" panose="020B0600070205080204" pitchFamily="34" charset="-128"/>
              </a:rPr>
              <a:t>́</a:t>
            </a:r>
            <a:endParaRPr lang="ja-JP" altLang="ja-JP" sz="2000" dirty="0">
              <a:ea typeface="MS UI Gothic" panose="020B0600070205080204" pitchFamily="34" charset="-128"/>
            </a:endParaRPr>
          </a:p>
          <a:p>
            <a:pPr lvl="1" algn="just">
              <a:lnSpc>
                <a:spcPct val="112000"/>
              </a:lnSpc>
            </a:pPr>
            <a:r>
              <a:rPr lang="ja-JP" altLang="ja-JP" sz="2000" dirty="0">
                <a:ea typeface="MS UI Gothic" panose="020B0600070205080204" pitchFamily="34" charset="-128"/>
              </a:rPr>
              <a:t>　</a:t>
            </a:r>
            <a:r>
              <a:rPr lang="ja-JP" altLang="ja-JP" sz="2000" dirty="0">
                <a:ea typeface="ＭＳ ゴシック" panose="020B0609070205080204" pitchFamily="49" charset="-128"/>
              </a:rPr>
              <a:t>}</a:t>
            </a:r>
          </a:p>
        </p:txBody>
      </p:sp>
      <p:sp>
        <p:nvSpPr>
          <p:cNvPr id="8" name="AutoShape 11">
            <a:extLst>
              <a:ext uri="{FF2B5EF4-FFF2-40B4-BE49-F238E27FC236}">
                <a16:creationId xmlns:a16="http://schemas.microsoft.com/office/drawing/2014/main" id="{88232ED8-F18F-F4FE-D2F0-D6AEB3135C1C}"/>
              </a:ext>
            </a:extLst>
          </p:cNvPr>
          <p:cNvSpPr>
            <a:spLocks noChangeArrowheads="1"/>
          </p:cNvSpPr>
          <p:nvPr/>
        </p:nvSpPr>
        <p:spPr bwMode="auto">
          <a:xfrm>
            <a:off x="2938463" y="3922713"/>
            <a:ext cx="6156325" cy="584200"/>
          </a:xfrm>
          <a:prstGeom prst="wedgeRoundRectCallout">
            <a:avLst>
              <a:gd name="adj1" fmla="val -34657"/>
              <a:gd name="adj2" fmla="val -107880"/>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ea typeface="ＭＳ ゴシック" panose="020B0609070205080204" pitchFamily="49" charset="-128"/>
              </a:rPr>
              <a:t>main method là method </a:t>
            </a:r>
            <a:r>
              <a:rPr lang="en-US" altLang="ja-JP" sz="1800" dirty="0" err="1">
                <a:latin typeface="+mj-lt"/>
                <a:ea typeface="ＭＳ ゴシック" panose="020B0609070205080204" pitchFamily="49" charset="-128"/>
              </a:rPr>
              <a:t>đặc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biệt</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nên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có</a:t>
            </a:r>
            <a:r>
              <a:rPr lang="en-US" altLang="ja-JP" sz="1800" dirty="0">
                <a:latin typeface="+mj-lt"/>
                <a:ea typeface="ＭＳ ゴシック" panose="020B0609070205080204" pitchFamily="49" charset="-128"/>
              </a:rPr>
              <a:t> format </a:t>
            </a:r>
            <a:r>
              <a:rPr lang="en-US" altLang="ja-JP" sz="1800" dirty="0" err="1">
                <a:latin typeface="+mj-lt"/>
                <a:ea typeface="ＭＳ ゴシック" panose="020B0609070205080204" pitchFamily="49" charset="-128"/>
              </a:rPr>
              <a:t>cô</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định</a:t>
            </a:r>
            <a:r>
              <a:rPr lang="en-US" altLang="ja-JP" sz="1800" dirty="0">
                <a:latin typeface="+mj-lt"/>
                <a:ea typeface="ＭＳ ゴシック" panose="020B0609070205080204" pitchFamily="49" charset="-128"/>
              </a:rPr>
              <a:t>.</a:t>
            </a:r>
            <a:endParaRPr lang="en-US" altLang="ja-JP" sz="1800" dirty="0">
              <a:latin typeface="+mj-lt"/>
            </a:endParaRPr>
          </a:p>
        </p:txBody>
      </p:sp>
      <p:sp>
        <p:nvSpPr>
          <p:cNvPr id="9" name="Rectangle 27">
            <a:extLst>
              <a:ext uri="{FF2B5EF4-FFF2-40B4-BE49-F238E27FC236}">
                <a16:creationId xmlns:a16="http://schemas.microsoft.com/office/drawing/2014/main" id="{28023733-E273-6A37-FB0E-525D717EDE21}"/>
              </a:ext>
            </a:extLst>
          </p:cNvPr>
          <p:cNvSpPr>
            <a:spLocks noChangeArrowheads="1"/>
          </p:cNvSpPr>
          <p:nvPr/>
        </p:nvSpPr>
        <p:spPr bwMode="auto">
          <a:xfrm>
            <a:off x="344488" y="1300163"/>
            <a:ext cx="9120187" cy="909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ja-JP" altLang="en-US" sz="2000" dirty="0">
                <a:latin typeface="Arial" panose="020B0604020202020204" pitchFamily="34" charset="0"/>
              </a:rPr>
              <a:t>・　</a:t>
            </a:r>
            <a:r>
              <a:rPr lang="en-US" altLang="ja-JP" sz="2000" dirty="0">
                <a:latin typeface="Arial" panose="020B0604020202020204" pitchFamily="34" charset="0"/>
              </a:rPr>
              <a:t>Là method </a:t>
            </a:r>
            <a:r>
              <a:rPr lang="en-US" altLang="ja-JP" sz="2000" dirty="0" err="1">
                <a:latin typeface="Arial" panose="020B0604020202020204" pitchFamily="34" charset="0"/>
              </a:rPr>
              <a:t>được</a:t>
            </a:r>
            <a:r>
              <a:rPr lang="en-US" altLang="ja-JP" sz="2000" dirty="0">
                <a:latin typeface="Arial" panose="020B0604020202020204" pitchFamily="34" charset="0"/>
              </a:rPr>
              <a:t> </a:t>
            </a:r>
            <a:r>
              <a:rPr lang="en-US" altLang="ja-JP" sz="2000" dirty="0" err="1">
                <a:latin typeface="Arial" panose="020B0604020202020204" pitchFamily="34" charset="0"/>
              </a:rPr>
              <a:t>gọi</a:t>
            </a:r>
            <a:r>
              <a:rPr lang="en-US" altLang="ja-JP" sz="2000" dirty="0">
                <a:latin typeface="Arial" panose="020B0604020202020204" pitchFamily="34" charset="0"/>
              </a:rPr>
              <a:t> </a:t>
            </a:r>
            <a:r>
              <a:rPr lang="en-US" altLang="ja-JP" sz="2000" dirty="0" err="1">
                <a:latin typeface="Arial" panose="020B0604020202020204" pitchFamily="34" charset="0"/>
              </a:rPr>
              <a:t>ra</a:t>
            </a:r>
            <a:r>
              <a:rPr lang="en-US" altLang="ja-JP" sz="2000" dirty="0">
                <a:latin typeface="Arial" panose="020B0604020202020204" pitchFamily="34" charset="0"/>
              </a:rPr>
              <a:t> </a:t>
            </a:r>
            <a:r>
              <a:rPr lang="en-US" altLang="ja-JP" sz="2000" dirty="0" err="1">
                <a:latin typeface="Arial" panose="020B0604020202020204" pitchFamily="34" charset="0"/>
              </a:rPr>
              <a:t>đầu</a:t>
            </a:r>
            <a:r>
              <a:rPr lang="en-US" altLang="ja-JP" sz="2000" dirty="0">
                <a:latin typeface="Arial" panose="020B0604020202020204" pitchFamily="34" charset="0"/>
              </a:rPr>
              <a:t> </a:t>
            </a:r>
            <a:r>
              <a:rPr lang="en-US" altLang="ja-JP" sz="2000" dirty="0" err="1">
                <a:latin typeface="Arial" panose="020B0604020202020204" pitchFamily="34" charset="0"/>
              </a:rPr>
              <a:t>tiên</a:t>
            </a:r>
            <a:r>
              <a:rPr lang="en-US" altLang="ja-JP" sz="2000" dirty="0">
                <a:latin typeface="Arial" panose="020B0604020202020204" pitchFamily="34" charset="0"/>
              </a:rPr>
              <a:t> </a:t>
            </a:r>
            <a:r>
              <a:rPr lang="en-US" altLang="ja-JP" sz="2000" dirty="0" err="1">
                <a:latin typeface="Arial" panose="020B0604020202020204" pitchFamily="34" charset="0"/>
              </a:rPr>
              <a:t>lúc</a:t>
            </a:r>
            <a:r>
              <a:rPr lang="en-US" altLang="ja-JP" sz="2000" dirty="0">
                <a:latin typeface="Arial" panose="020B0604020202020204" pitchFamily="34" charset="0"/>
              </a:rPr>
              <a:t> </a:t>
            </a:r>
            <a:r>
              <a:rPr lang="en-US" altLang="ja-JP" sz="2000" dirty="0" err="1">
                <a:latin typeface="Arial" panose="020B0604020202020204" pitchFamily="34" charset="0"/>
              </a:rPr>
              <a:t>chạy</a:t>
            </a:r>
            <a:r>
              <a:rPr lang="en-US" altLang="ja-JP" sz="2000" dirty="0">
                <a:latin typeface="Arial" panose="020B0604020202020204" pitchFamily="34" charset="0"/>
              </a:rPr>
              <a:t> application.</a:t>
            </a:r>
          </a:p>
          <a:p>
            <a:pPr>
              <a:buFont typeface="Wingdings" panose="05000000000000000000" pitchFamily="2" charset="2"/>
              <a:buNone/>
            </a:pPr>
            <a:r>
              <a:rPr lang="ja-JP" altLang="en-US" sz="2000" dirty="0">
                <a:latin typeface="Arial" panose="020B0604020202020204" pitchFamily="34" charset="0"/>
              </a:rPr>
              <a:t>・　</a:t>
            </a:r>
            <a:r>
              <a:rPr lang="en-US" altLang="ja-JP" sz="2000" dirty="0">
                <a:latin typeface="Arial" panose="020B0604020202020204" pitchFamily="34" charset="0"/>
              </a:rPr>
              <a:t>Trong Java application </a:t>
            </a:r>
            <a:r>
              <a:rPr lang="en-US" altLang="ja-JP" sz="2000" dirty="0" err="1">
                <a:latin typeface="Arial" panose="020B0604020202020204" pitchFamily="34" charset="0"/>
              </a:rPr>
              <a:t>cần</a:t>
            </a:r>
            <a:r>
              <a:rPr lang="en-US" altLang="ja-JP" sz="2000" dirty="0">
                <a:latin typeface="Arial" panose="020B0604020202020204" pitchFamily="34" charset="0"/>
              </a:rPr>
              <a:t> có 1 class có </a:t>
            </a:r>
            <a:r>
              <a:rPr lang="en-US" altLang="ja-JP" sz="2000" dirty="0">
                <a:latin typeface="Arial" panose="020B0604020202020204" pitchFamily="34" charset="0"/>
                <a:ea typeface="ＭＳ ゴシック" panose="020B0609070205080204" pitchFamily="49" charset="-128"/>
              </a:rPr>
              <a:t>main method.</a:t>
            </a:r>
            <a:endParaRPr lang="en-US" altLang="ja-JP" sz="2000" dirty="0">
              <a:latin typeface="Arial" panose="020B0604020202020204" pitchFamily="34" charset="0"/>
            </a:endParaRPr>
          </a:p>
        </p:txBody>
      </p:sp>
      <p:sp>
        <p:nvSpPr>
          <p:cNvPr id="10" name="Rectangle 28">
            <a:extLst>
              <a:ext uri="{FF2B5EF4-FFF2-40B4-BE49-F238E27FC236}">
                <a16:creationId xmlns:a16="http://schemas.microsoft.com/office/drawing/2014/main" id="{D98080D7-74B8-8450-D084-76B6C9DF0365}"/>
              </a:ext>
            </a:extLst>
          </p:cNvPr>
          <p:cNvSpPr>
            <a:spLocks noChangeArrowheads="1"/>
          </p:cNvSpPr>
          <p:nvPr/>
        </p:nvSpPr>
        <p:spPr bwMode="auto">
          <a:xfrm>
            <a:off x="344488" y="41243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11" name="Rectangle 29">
            <a:extLst>
              <a:ext uri="{FF2B5EF4-FFF2-40B4-BE49-F238E27FC236}">
                <a16:creationId xmlns:a16="http://schemas.microsoft.com/office/drawing/2014/main" id="{09B5935B-82AB-C6F6-D4E3-ADDD27EDFDF6}"/>
              </a:ext>
            </a:extLst>
          </p:cNvPr>
          <p:cNvSpPr>
            <a:spLocks noChangeArrowheads="1"/>
          </p:cNvSpPr>
          <p:nvPr/>
        </p:nvSpPr>
        <p:spPr bwMode="auto">
          <a:xfrm>
            <a:off x="344488" y="4584700"/>
            <a:ext cx="9120187" cy="16494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lvl="1"/>
            <a:r>
              <a:rPr lang="en-US" altLang="ja-JP" sz="1800" b="0" dirty="0">
                <a:latin typeface="ＭＳ ゴシック" panose="020B0609070205080204" pitchFamily="49" charset="-128"/>
                <a:ea typeface="ＭＳ ゴシック" panose="020B0609070205080204" pitchFamily="49" charset="-128"/>
              </a:rPr>
              <a:t>public class</a:t>
            </a:r>
            <a:r>
              <a:rPr lang="en-US" altLang="en-US" sz="1800" b="0" dirty="0">
                <a:latin typeface="ＭＳ ゴシック" panose="020B0609070205080204" pitchFamily="49" charset="-128"/>
                <a:ea typeface="ＭＳ ゴシック" panose="020B0609070205080204" pitchFamily="49" charset="-128"/>
              </a:rPr>
              <a:t> HelloWorld {</a:t>
            </a:r>
          </a:p>
          <a:p>
            <a:pPr lvl="1"/>
            <a:r>
              <a:rPr lang="en-US" altLang="en-US" sz="1800" b="0" dirty="0">
                <a:latin typeface="ＭＳ ゴシック" panose="020B0609070205080204" pitchFamily="49" charset="-128"/>
                <a:ea typeface="ＭＳ ゴシック" panose="020B0609070205080204" pitchFamily="49" charset="-128"/>
              </a:rPr>
              <a:t>    public static void main(String[] </a:t>
            </a:r>
            <a:r>
              <a:rPr lang="en-US" altLang="en-US" sz="1800" b="0" dirty="0" err="1">
                <a:latin typeface="ＭＳ ゴシック" panose="020B0609070205080204" pitchFamily="49" charset="-128"/>
                <a:ea typeface="ＭＳ ゴシック" panose="020B0609070205080204" pitchFamily="49" charset="-128"/>
              </a:rPr>
              <a:t>args</a:t>
            </a:r>
            <a:r>
              <a:rPr lang="en-US" altLang="en-US" sz="1800" b="0" dirty="0">
                <a:latin typeface="ＭＳ ゴシック" panose="020B0609070205080204" pitchFamily="49" charset="-128"/>
                <a:ea typeface="ＭＳ ゴシック" panose="020B0609070205080204" pitchFamily="49" charset="-128"/>
              </a:rPr>
              <a:t>) {</a:t>
            </a:r>
          </a:p>
          <a:p>
            <a:pPr lvl="1"/>
            <a:r>
              <a:rPr lang="en-US" altLang="en-US" sz="1800" b="0" dirty="0">
                <a:latin typeface="ＭＳ ゴシック" panose="020B0609070205080204" pitchFamily="49" charset="-128"/>
                <a:ea typeface="ＭＳ ゴシック" panose="020B0609070205080204" pitchFamily="49" charset="-128"/>
              </a:rPr>
              <a:t>              ：</a:t>
            </a:r>
          </a:p>
          <a:p>
            <a:pPr lvl="1"/>
            <a:r>
              <a:rPr lang="en-US" altLang="en-US" sz="1800" b="0" dirty="0">
                <a:latin typeface="ＭＳ ゴシック" panose="020B0609070205080204" pitchFamily="49" charset="-128"/>
                <a:ea typeface="ＭＳ ゴシック" panose="020B0609070205080204" pitchFamily="49" charset="-128"/>
              </a:rPr>
              <a:t>    }</a:t>
            </a:r>
          </a:p>
          <a:p>
            <a:pPr lvl="1"/>
            <a:r>
              <a:rPr lang="en-US" altLang="en-US" sz="1800" b="0" dirty="0">
                <a:latin typeface="ＭＳ ゴシック" panose="020B0609070205080204" pitchFamily="49" charset="-128"/>
                <a:ea typeface="ＭＳ ゴシック" panose="020B0609070205080204" pitchFamily="49" charset="-128"/>
              </a:rPr>
              <a:t>}</a:t>
            </a:r>
          </a:p>
        </p:txBody>
      </p:sp>
      <p:sp>
        <p:nvSpPr>
          <p:cNvPr id="12" name="Rectangle 30">
            <a:extLst>
              <a:ext uri="{FF2B5EF4-FFF2-40B4-BE49-F238E27FC236}">
                <a16:creationId xmlns:a16="http://schemas.microsoft.com/office/drawing/2014/main" id="{09F31813-A2C1-1698-E72E-D711E72A6757}"/>
              </a:ext>
            </a:extLst>
          </p:cNvPr>
          <p:cNvSpPr>
            <a:spLocks noChangeArrowheads="1"/>
          </p:cNvSpPr>
          <p:nvPr/>
        </p:nvSpPr>
        <p:spPr bwMode="auto">
          <a:xfrm>
            <a:off x="862013" y="4949825"/>
            <a:ext cx="5414962" cy="9683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32">
            <a:extLst>
              <a:ext uri="{FF2B5EF4-FFF2-40B4-BE49-F238E27FC236}">
                <a16:creationId xmlns:a16="http://schemas.microsoft.com/office/drawing/2014/main" id="{5EBACB15-10B2-CDA5-AEC8-A2E3827B9D3C}"/>
              </a:ext>
            </a:extLst>
          </p:cNvPr>
          <p:cNvSpPr>
            <a:spLocks noChangeArrowheads="1"/>
          </p:cNvSpPr>
          <p:nvPr/>
        </p:nvSpPr>
        <p:spPr bwMode="auto">
          <a:xfrm>
            <a:off x="344488" y="23082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●Cấu trúc câu lệnh cơ bản</a:t>
            </a:r>
            <a:endParaRPr lang="en-US" altLang="ja-JP" sz="2400" b="0">
              <a:latin typeface="Arial" panose="020B0604020202020204" pitchFamily="34" charset="0"/>
            </a:endParaRPr>
          </a:p>
        </p:txBody>
      </p:sp>
    </p:spTree>
    <p:extLst>
      <p:ext uri="{BB962C8B-B14F-4D97-AF65-F5344CB8AC3E}">
        <p14:creationId xmlns:p14="http://schemas.microsoft.com/office/powerpoint/2010/main" val="4246122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AEB9DC-25A2-76A1-8734-6793E637DFF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26</a:t>
            </a:fld>
            <a:endParaRPr lang="en-US" altLang="ja-JP"/>
          </a:p>
        </p:txBody>
      </p:sp>
      <p:sp>
        <p:nvSpPr>
          <p:cNvPr id="5" name="Rectangle 2">
            <a:extLst>
              <a:ext uri="{FF2B5EF4-FFF2-40B4-BE49-F238E27FC236}">
                <a16:creationId xmlns:a16="http://schemas.microsoft.com/office/drawing/2014/main" id="{1B5038DE-8415-762B-9246-BF3DC3C5F2BF}"/>
              </a:ext>
            </a:extLst>
          </p:cNvPr>
          <p:cNvSpPr txBox="1">
            <a:spLocks noChangeArrowheads="1"/>
          </p:cNvSpPr>
          <p:nvPr/>
        </p:nvSpPr>
        <p:spPr bwMode="auto">
          <a:xfrm>
            <a:off x="212481" y="425451"/>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r>
              <a:rPr lang="en-US" altLang="ja-JP" b="0" kern="0" dirty="0" err="1">
                <a:latin typeface="Arial" panose="020B0604020202020204" pitchFamily="34" charset="0"/>
                <a:ea typeface="MS UI Gothic" panose="020B0600070205080204" pitchFamily="34" charset="-128"/>
              </a:rPr>
              <a:t>Cấu</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tạo</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cơ</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bản</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của</a:t>
            </a:r>
            <a:r>
              <a:rPr lang="en-US" altLang="ja-JP" b="0" kern="0" dirty="0">
                <a:latin typeface="Arial" panose="020B0604020202020204" pitchFamily="34" charset="0"/>
                <a:ea typeface="MS UI Gothic" panose="020B0600070205080204" pitchFamily="34" charset="-128"/>
              </a:rPr>
              <a:t> program</a:t>
            </a:r>
            <a:r>
              <a:rPr lang="en-US" altLang="en-US" b="0" kern="0" dirty="0">
                <a:latin typeface="Arial" panose="020B0604020202020204" pitchFamily="34" charset="0"/>
                <a:ea typeface="MS UI Gothic" panose="020B0600070205080204" pitchFamily="34" charset="-128"/>
              </a:rPr>
              <a:t>(</a:t>
            </a:r>
            <a:r>
              <a:rPr lang="en-US" altLang="ja-JP" b="0" kern="0" dirty="0">
                <a:latin typeface="Arial" panose="020B0604020202020204" pitchFamily="34" charset="0"/>
                <a:ea typeface="MS UI Gothic" panose="020B0600070205080204" pitchFamily="34" charset="-128"/>
              </a:rPr>
              <a:t>3</a:t>
            </a:r>
            <a:r>
              <a:rPr lang="en-US" altLang="en-US" b="0" kern="0" dirty="0">
                <a:latin typeface="Arial" panose="020B0604020202020204" pitchFamily="34" charset="0"/>
                <a:ea typeface="MS UI Gothic" panose="020B0600070205080204" pitchFamily="34" charset="-128"/>
              </a:rPr>
              <a:t>)</a:t>
            </a:r>
            <a:endParaRPr lang="en-US" altLang="ja-JP" b="0" kern="0" dirty="0">
              <a:latin typeface="Arial" panose="020B0604020202020204" pitchFamily="34" charset="0"/>
              <a:ea typeface="MS UI Gothic" panose="020B0600070205080204" pitchFamily="34" charset="-128"/>
            </a:endParaRPr>
          </a:p>
        </p:txBody>
      </p:sp>
      <p:sp>
        <p:nvSpPr>
          <p:cNvPr id="7" name="Rectangle 4">
            <a:extLst>
              <a:ext uri="{FF2B5EF4-FFF2-40B4-BE49-F238E27FC236}">
                <a16:creationId xmlns:a16="http://schemas.microsoft.com/office/drawing/2014/main" id="{F91C9060-46A3-FA6A-9EDE-A0C6256C998F}"/>
              </a:ext>
            </a:extLst>
          </p:cNvPr>
          <p:cNvSpPr>
            <a:spLocks noChangeArrowheads="1"/>
          </p:cNvSpPr>
          <p:nvPr/>
        </p:nvSpPr>
        <p:spPr bwMode="auto">
          <a:xfrm>
            <a:off x="224204" y="887716"/>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dirty="0">
                <a:latin typeface="Arial" panose="020B0604020202020204" pitchFamily="34" charset="0"/>
              </a:rPr>
              <a:t>Statement</a:t>
            </a:r>
          </a:p>
        </p:txBody>
      </p:sp>
      <p:sp>
        <p:nvSpPr>
          <p:cNvPr id="8" name="Rectangle 8">
            <a:extLst>
              <a:ext uri="{FF2B5EF4-FFF2-40B4-BE49-F238E27FC236}">
                <a16:creationId xmlns:a16="http://schemas.microsoft.com/office/drawing/2014/main" id="{02313BB4-2021-680B-EF10-3D214310AD0A}"/>
              </a:ext>
            </a:extLst>
          </p:cNvPr>
          <p:cNvSpPr>
            <a:spLocks noChangeArrowheads="1"/>
          </p:cNvSpPr>
          <p:nvPr/>
        </p:nvSpPr>
        <p:spPr bwMode="auto">
          <a:xfrm>
            <a:off x="344488" y="1312863"/>
            <a:ext cx="9120187" cy="909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ja-JP" altLang="en-US" sz="2000">
                <a:latin typeface="Arial" panose="020B0604020202020204" pitchFamily="34" charset="0"/>
              </a:rPr>
              <a:t>・　</a:t>
            </a:r>
            <a:r>
              <a:rPr lang="en-US" altLang="ja-JP" sz="2000">
                <a:latin typeface="Arial" panose="020B0604020202020204" pitchFamily="34" charset="0"/>
              </a:rPr>
              <a:t>Từng câu từng câu 1 cấu thành nên xử lý.</a:t>
            </a:r>
          </a:p>
          <a:p>
            <a:pPr>
              <a:buFont typeface="Wingdings" panose="05000000000000000000" pitchFamily="2" charset="2"/>
              <a:buNone/>
            </a:pPr>
            <a:r>
              <a:rPr lang="ja-JP" altLang="en-US" sz="2000">
                <a:latin typeface="Arial" panose="020B0604020202020204" pitchFamily="34" charset="0"/>
              </a:rPr>
              <a:t>・　</a:t>
            </a:r>
            <a:r>
              <a:rPr lang="en-US" altLang="ja-JP" sz="2000">
                <a:latin typeface="Arial" panose="020B0604020202020204" pitchFamily="34" charset="0"/>
              </a:rPr>
              <a:t>Sẽ phải đặt dấu chấm phẩy (</a:t>
            </a:r>
            <a:r>
              <a:rPr lang="en-US" altLang="ja-JP" sz="2000">
                <a:latin typeface="Arial" panose="020B0604020202020204" pitchFamily="34" charset="0"/>
                <a:ea typeface="ＭＳ ゴシック" panose="020B0609070205080204" pitchFamily="49" charset="-128"/>
              </a:rPr>
              <a:t>;</a:t>
            </a:r>
            <a:r>
              <a:rPr lang="en-US" altLang="ja-JP" sz="2000">
                <a:latin typeface="Arial" panose="020B0604020202020204" pitchFamily="34" charset="0"/>
              </a:rPr>
              <a:t>) ở cuối statement.</a:t>
            </a:r>
          </a:p>
        </p:txBody>
      </p:sp>
      <p:sp>
        <p:nvSpPr>
          <p:cNvPr id="9" name="Rectangle 10">
            <a:extLst>
              <a:ext uri="{FF2B5EF4-FFF2-40B4-BE49-F238E27FC236}">
                <a16:creationId xmlns:a16="http://schemas.microsoft.com/office/drawing/2014/main" id="{3C42E0E8-1031-1B65-F917-9BF0EE633D9C}"/>
              </a:ext>
            </a:extLst>
          </p:cNvPr>
          <p:cNvSpPr>
            <a:spLocks noChangeArrowheads="1"/>
          </p:cNvSpPr>
          <p:nvPr/>
        </p:nvSpPr>
        <p:spPr bwMode="auto">
          <a:xfrm>
            <a:off x="344488" y="5084763"/>
            <a:ext cx="9120187" cy="52863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000">
                <a:latin typeface="Arial" panose="020B0604020202020204" pitchFamily="34" charset="0"/>
              </a:rPr>
              <a:t> Một cụm sẽ được biểu thị bao quanh bởi </a:t>
            </a:r>
            <a:r>
              <a:rPr lang="en-US" altLang="ja-JP" sz="2000">
                <a:latin typeface="Arial" panose="020B0604020202020204" pitchFamily="34" charset="0"/>
                <a:ea typeface="ＭＳ ゴシック" panose="020B0609070205080204" pitchFamily="49" charset="-128"/>
              </a:rPr>
              <a:t>{}</a:t>
            </a:r>
            <a:endParaRPr lang="en-US" altLang="ja-JP" sz="2000">
              <a:latin typeface="Arial" panose="020B0604020202020204" pitchFamily="34" charset="0"/>
            </a:endParaRPr>
          </a:p>
        </p:txBody>
      </p:sp>
      <p:sp>
        <p:nvSpPr>
          <p:cNvPr id="10" name="Rectangle 12">
            <a:extLst>
              <a:ext uri="{FF2B5EF4-FFF2-40B4-BE49-F238E27FC236}">
                <a16:creationId xmlns:a16="http://schemas.microsoft.com/office/drawing/2014/main" id="{C1DB7E80-C48E-38CA-C93B-9499E74E014E}"/>
              </a:ext>
            </a:extLst>
          </p:cNvPr>
          <p:cNvSpPr>
            <a:spLocks noChangeArrowheads="1"/>
          </p:cNvSpPr>
          <p:nvPr/>
        </p:nvSpPr>
        <p:spPr bwMode="auto">
          <a:xfrm>
            <a:off x="344488" y="23876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trí miêu tả</a:t>
            </a:r>
          </a:p>
          <a:p>
            <a:pPr>
              <a:spcBef>
                <a:spcPct val="50000"/>
              </a:spcBef>
              <a:buFont typeface="Wingdings" panose="05000000000000000000" pitchFamily="2" charset="2"/>
              <a:buNone/>
            </a:pPr>
            <a:endParaRPr lang="en-US" altLang="ja-JP" sz="2000" b="0">
              <a:latin typeface="Arial" panose="020B0604020202020204" pitchFamily="34" charset="0"/>
            </a:endParaRPr>
          </a:p>
        </p:txBody>
      </p:sp>
      <p:sp>
        <p:nvSpPr>
          <p:cNvPr id="11" name="Rectangle 13">
            <a:extLst>
              <a:ext uri="{FF2B5EF4-FFF2-40B4-BE49-F238E27FC236}">
                <a16:creationId xmlns:a16="http://schemas.microsoft.com/office/drawing/2014/main" id="{82CC6866-8015-1BF3-47D2-1A046A31AABC}"/>
              </a:ext>
            </a:extLst>
          </p:cNvPr>
          <p:cNvSpPr>
            <a:spLocks noChangeArrowheads="1"/>
          </p:cNvSpPr>
          <p:nvPr/>
        </p:nvSpPr>
        <p:spPr bwMode="auto">
          <a:xfrm>
            <a:off x="344488" y="45720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a:t>Block</a:t>
            </a:r>
            <a:endParaRPr lang="en-US" altLang="ja-JP" sz="2000" b="0"/>
          </a:p>
        </p:txBody>
      </p:sp>
      <p:grpSp>
        <p:nvGrpSpPr>
          <p:cNvPr id="12" name="Group 16">
            <a:extLst>
              <a:ext uri="{FF2B5EF4-FFF2-40B4-BE49-F238E27FC236}">
                <a16:creationId xmlns:a16="http://schemas.microsoft.com/office/drawing/2014/main" id="{CDB30F47-F28F-E478-DB5F-FE0DF77F2E37}"/>
              </a:ext>
            </a:extLst>
          </p:cNvPr>
          <p:cNvGrpSpPr>
            <a:grpSpLocks/>
          </p:cNvGrpSpPr>
          <p:nvPr/>
        </p:nvGrpSpPr>
        <p:grpSpPr bwMode="auto">
          <a:xfrm>
            <a:off x="344488" y="2936875"/>
            <a:ext cx="9120187" cy="1465263"/>
            <a:chOff x="217" y="1794"/>
            <a:chExt cx="5745" cy="923"/>
          </a:xfrm>
        </p:grpSpPr>
        <p:sp>
          <p:nvSpPr>
            <p:cNvPr id="13" name="Text Box 5">
              <a:extLst>
                <a:ext uri="{FF2B5EF4-FFF2-40B4-BE49-F238E27FC236}">
                  <a16:creationId xmlns:a16="http://schemas.microsoft.com/office/drawing/2014/main" id="{A265CF27-7BD5-B79A-B09F-396E56798D58}"/>
                </a:ext>
              </a:extLst>
            </p:cNvPr>
            <p:cNvSpPr txBox="1">
              <a:spLocks noChangeArrowheads="1"/>
            </p:cNvSpPr>
            <p:nvPr/>
          </p:nvSpPr>
          <p:spPr bwMode="auto">
            <a:xfrm>
              <a:off x="217" y="1794"/>
              <a:ext cx="5745" cy="923"/>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a:ea typeface="MS UI Gothic" panose="020B0600070205080204" pitchFamily="34" charset="-128"/>
                </a:rPr>
                <a:t>Method  </a:t>
              </a:r>
              <a:r>
                <a:rPr lang="en-US" altLang="ja-JP" sz="2000">
                  <a:ea typeface="ＭＳ ゴシック" panose="020B0609070205080204" pitchFamily="49" charset="-128"/>
                </a:rPr>
                <a:t>{</a:t>
              </a:r>
            </a:p>
            <a:p>
              <a:pPr lvl="1" algn="just">
                <a:lnSpc>
                  <a:spcPct val="112000"/>
                </a:lnSpc>
              </a:pPr>
              <a:r>
                <a:rPr lang="en-US" altLang="ja-JP" sz="2000">
                  <a:ea typeface="MS UI Gothic" panose="020B0600070205080204" pitchFamily="34" charset="-128"/>
                </a:rPr>
                <a:t>    Statement</a:t>
              </a:r>
              <a:r>
                <a:rPr lang="en-US" altLang="ja-JP" sz="2000">
                  <a:ea typeface="ＭＳ ゴシック" panose="020B0609070205080204" pitchFamily="49" charset="-128"/>
                </a:rPr>
                <a:t>;</a:t>
              </a:r>
            </a:p>
            <a:p>
              <a:pPr lvl="1" algn="just">
                <a:lnSpc>
                  <a:spcPct val="112000"/>
                </a:lnSpc>
              </a:pPr>
              <a:r>
                <a:rPr lang="en-US" altLang="ja-JP" sz="2000">
                  <a:ea typeface="MS UI Gothic" panose="020B0600070205080204" pitchFamily="34" charset="-128"/>
                </a:rPr>
                <a:t>	</a:t>
              </a:r>
              <a:r>
                <a:rPr lang="ja-JP" altLang="en-US" sz="2000">
                  <a:ea typeface="MS UI Gothic" panose="020B0600070205080204" pitchFamily="34" charset="-128"/>
                </a:rPr>
                <a:t>：</a:t>
              </a:r>
            </a:p>
            <a:p>
              <a:pPr lvl="1" algn="just">
                <a:lnSpc>
                  <a:spcPct val="112000"/>
                </a:lnSpc>
              </a:pPr>
              <a:r>
                <a:rPr lang="en-US" altLang="ja-JP" sz="2000">
                  <a:ea typeface="ＭＳ ゴシック" panose="020B0609070205080204" pitchFamily="49" charset="-128"/>
                </a:rPr>
                <a:t>}</a:t>
              </a:r>
            </a:p>
          </p:txBody>
        </p:sp>
        <p:sp>
          <p:nvSpPr>
            <p:cNvPr id="14" name="Rectangle 14">
              <a:extLst>
                <a:ext uri="{FF2B5EF4-FFF2-40B4-BE49-F238E27FC236}">
                  <a16:creationId xmlns:a16="http://schemas.microsoft.com/office/drawing/2014/main" id="{0EC3040C-36D0-2C4F-96A7-19D1F3AAF683}"/>
                </a:ext>
              </a:extLst>
            </p:cNvPr>
            <p:cNvSpPr>
              <a:spLocks noChangeArrowheads="1"/>
            </p:cNvSpPr>
            <p:nvPr/>
          </p:nvSpPr>
          <p:spPr bwMode="auto">
            <a:xfrm>
              <a:off x="455" y="2038"/>
              <a:ext cx="2235" cy="466"/>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 name="AutoShape 15">
            <a:extLst>
              <a:ext uri="{FF2B5EF4-FFF2-40B4-BE49-F238E27FC236}">
                <a16:creationId xmlns:a16="http://schemas.microsoft.com/office/drawing/2014/main" id="{F13DFC6B-3786-8F13-3F59-8AB0CC05CCA6}"/>
              </a:ext>
            </a:extLst>
          </p:cNvPr>
          <p:cNvSpPr>
            <a:spLocks noChangeArrowheads="1"/>
          </p:cNvSpPr>
          <p:nvPr/>
        </p:nvSpPr>
        <p:spPr bwMode="auto">
          <a:xfrm>
            <a:off x="4270375" y="852487"/>
            <a:ext cx="5070475" cy="404813"/>
          </a:xfrm>
          <a:prstGeom prst="wedgeRoundRectCallout">
            <a:avLst>
              <a:gd name="adj1" fmla="val -39588"/>
              <a:gd name="adj2" fmla="val 8719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Xư</a:t>
            </a:r>
            <a:r>
              <a:rPr lang="en-US" altLang="ja-JP" sz="1800" dirty="0">
                <a:latin typeface="+mj-lt"/>
              </a:rPr>
              <a:t>̉ </a:t>
            </a:r>
            <a:r>
              <a:rPr lang="en-US" altLang="ja-JP" sz="1800" dirty="0" err="1">
                <a:latin typeface="+mj-lt"/>
              </a:rPr>
              <a:t>ly</a:t>
            </a:r>
            <a:r>
              <a:rPr lang="en-US" altLang="ja-JP" sz="1800" dirty="0">
                <a:latin typeface="+mj-lt"/>
              </a:rPr>
              <a:t>́ </a:t>
            </a:r>
            <a:r>
              <a:rPr lang="en-US" altLang="ja-JP" sz="1800" dirty="0" err="1">
                <a:latin typeface="+mj-lt"/>
              </a:rPr>
              <a:t>muốn</a:t>
            </a:r>
            <a:r>
              <a:rPr lang="en-US" altLang="ja-JP" sz="1800" dirty="0">
                <a:latin typeface="+mj-lt"/>
              </a:rPr>
              <a:t> </a:t>
            </a:r>
            <a:r>
              <a:rPr lang="en-US" altLang="ja-JP" sz="1800" dirty="0" err="1">
                <a:latin typeface="+mj-lt"/>
              </a:rPr>
              <a:t>tiến</a:t>
            </a:r>
            <a:r>
              <a:rPr lang="en-US" altLang="ja-JP" sz="1800" dirty="0">
                <a:latin typeface="+mj-lt"/>
              </a:rPr>
              <a:t> </a:t>
            </a:r>
            <a:r>
              <a:rPr lang="en-US" altLang="ja-JP" sz="1800" dirty="0" err="1">
                <a:latin typeface="+mj-lt"/>
              </a:rPr>
              <a:t>hành</a:t>
            </a:r>
            <a:r>
              <a:rPr lang="en-US" altLang="ja-JP" sz="1800" dirty="0">
                <a:latin typeface="+mj-lt"/>
              </a:rPr>
              <a:t> sẽ </a:t>
            </a:r>
            <a:r>
              <a:rPr lang="en-US" altLang="ja-JP" sz="1800" dirty="0" err="1">
                <a:latin typeface="+mj-lt"/>
              </a:rPr>
              <a:t>ghi</a:t>
            </a:r>
            <a:r>
              <a:rPr lang="en-US" altLang="ja-JP" sz="1800" dirty="0">
                <a:latin typeface="+mj-lt"/>
              </a:rPr>
              <a:t> ở </a:t>
            </a:r>
            <a:r>
              <a:rPr lang="en-US" altLang="ja-JP" sz="1800" dirty="0" err="1">
                <a:latin typeface="+mj-lt"/>
              </a:rPr>
              <a:t>trong</a:t>
            </a:r>
            <a:r>
              <a:rPr lang="en-US" altLang="ja-JP" sz="1800" dirty="0">
                <a:latin typeface="+mj-lt"/>
              </a:rPr>
              <a:t> method.</a:t>
            </a:r>
          </a:p>
        </p:txBody>
      </p:sp>
    </p:spTree>
    <p:extLst>
      <p:ext uri="{BB962C8B-B14F-4D97-AF65-F5344CB8AC3E}">
        <p14:creationId xmlns:p14="http://schemas.microsoft.com/office/powerpoint/2010/main" val="224846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B51E56-D3B2-BE7C-E92D-1320FDCD9077}"/>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27</a:t>
            </a:fld>
            <a:endParaRPr lang="en-US" altLang="ja-JP"/>
          </a:p>
        </p:txBody>
      </p:sp>
      <p:sp>
        <p:nvSpPr>
          <p:cNvPr id="5" name="Rectangle 2">
            <a:extLst>
              <a:ext uri="{FF2B5EF4-FFF2-40B4-BE49-F238E27FC236}">
                <a16:creationId xmlns:a16="http://schemas.microsoft.com/office/drawing/2014/main" id="{B2FAA4B1-B156-6390-B824-B37FD146A241}"/>
              </a:ext>
            </a:extLst>
          </p:cNvPr>
          <p:cNvSpPr txBox="1">
            <a:spLocks noChangeArrowheads="1"/>
          </p:cNvSpPr>
          <p:nvPr/>
        </p:nvSpPr>
        <p:spPr bwMode="auto">
          <a:xfrm>
            <a:off x="241300" y="469901"/>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r>
              <a:rPr lang="en-US" altLang="ja-JP" b="0" kern="0" dirty="0">
                <a:latin typeface="Arial" panose="020B0604020202020204" pitchFamily="34" charset="0"/>
              </a:rPr>
              <a:t>Comment</a:t>
            </a:r>
            <a:endParaRPr lang="en-US" altLang="ja-JP" b="0" kern="0" dirty="0">
              <a:latin typeface="Arial" panose="020B0604020202020204" pitchFamily="34" charset="0"/>
              <a:ea typeface="MS UI Gothic" panose="020B0600070205080204" pitchFamily="34" charset="-128"/>
            </a:endParaRPr>
          </a:p>
        </p:txBody>
      </p:sp>
      <p:sp>
        <p:nvSpPr>
          <p:cNvPr id="6" name="Rectangle 4">
            <a:extLst>
              <a:ext uri="{FF2B5EF4-FFF2-40B4-BE49-F238E27FC236}">
                <a16:creationId xmlns:a16="http://schemas.microsoft.com/office/drawing/2014/main" id="{17D195BC-B14F-521F-A708-694688BC3C7E}"/>
              </a:ext>
            </a:extLst>
          </p:cNvPr>
          <p:cNvSpPr>
            <a:spLocks noChangeArrowheads="1"/>
          </p:cNvSpPr>
          <p:nvPr/>
        </p:nvSpPr>
        <p:spPr bwMode="auto">
          <a:xfrm>
            <a:off x="335207" y="922338"/>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dirty="0" err="1">
                <a:latin typeface="Arial" panose="020B0604020202020204" pitchFamily="34" charset="0"/>
              </a:rPr>
              <a:t>Các</a:t>
            </a:r>
            <a:r>
              <a:rPr lang="en-US" altLang="ja-JP" sz="2400" b="0" dirty="0">
                <a:latin typeface="Arial" panose="020B0604020202020204" pitchFamily="34" charset="0"/>
              </a:rPr>
              <a:t> </a:t>
            </a:r>
            <a:r>
              <a:rPr lang="en-US" altLang="ja-JP" sz="2400" b="0" dirty="0" err="1">
                <a:latin typeface="Arial" panose="020B0604020202020204" pitchFamily="34" charset="0"/>
              </a:rPr>
              <a:t>loại</a:t>
            </a:r>
            <a:r>
              <a:rPr lang="en-US" altLang="ja-JP" sz="2400" b="0" dirty="0">
                <a:latin typeface="Arial" panose="020B0604020202020204" pitchFamily="34" charset="0"/>
              </a:rPr>
              <a:t> comment</a:t>
            </a:r>
          </a:p>
          <a:p>
            <a:pPr>
              <a:spcBef>
                <a:spcPct val="50000"/>
              </a:spcBef>
              <a:buFont typeface="Wingdings" panose="05000000000000000000" pitchFamily="2" charset="2"/>
              <a:buNone/>
            </a:pPr>
            <a:r>
              <a:rPr lang="en-US" altLang="ja-JP" sz="2000" b="0" dirty="0">
                <a:latin typeface="Arial" panose="020B0604020202020204" pitchFamily="34" charset="0"/>
              </a:rPr>
              <a:t>●Comment 1 </a:t>
            </a:r>
            <a:r>
              <a:rPr lang="en-US" altLang="ja-JP" sz="2000" b="0" dirty="0" err="1">
                <a:latin typeface="Arial" panose="020B0604020202020204" pitchFamily="34" charset="0"/>
              </a:rPr>
              <a:t>dòng</a:t>
            </a:r>
            <a:endParaRPr lang="en-US" altLang="ja-JP" sz="2000" b="0" dirty="0">
              <a:latin typeface="Arial" panose="020B0604020202020204" pitchFamily="34" charset="0"/>
            </a:endParaRPr>
          </a:p>
          <a:p>
            <a:pPr>
              <a:spcBef>
                <a:spcPct val="50000"/>
              </a:spcBef>
              <a:buFont typeface="Wingdings" panose="05000000000000000000" pitchFamily="2" charset="2"/>
              <a:buNone/>
            </a:pPr>
            <a:endParaRPr lang="en-US" altLang="ja-JP" sz="2000" b="0" dirty="0">
              <a:latin typeface="Arial" panose="020B0604020202020204" pitchFamily="34" charset="0"/>
            </a:endParaRPr>
          </a:p>
          <a:p>
            <a:pPr>
              <a:spcBef>
                <a:spcPct val="50000"/>
              </a:spcBef>
              <a:buFont typeface="Wingdings" panose="05000000000000000000" pitchFamily="2" charset="2"/>
              <a:buNone/>
            </a:pPr>
            <a:endParaRPr lang="en-US" altLang="ja-JP" sz="2000" b="0" dirty="0">
              <a:latin typeface="Arial" panose="020B0604020202020204" pitchFamily="34" charset="0"/>
            </a:endParaRPr>
          </a:p>
          <a:p>
            <a:pPr>
              <a:spcBef>
                <a:spcPct val="50000"/>
              </a:spcBef>
              <a:buFont typeface="Wingdings" panose="05000000000000000000" pitchFamily="2" charset="2"/>
              <a:buNone/>
            </a:pPr>
            <a:r>
              <a:rPr lang="en-US" altLang="ja-JP" sz="2000" b="0" dirty="0">
                <a:latin typeface="Arial" panose="020B0604020202020204" pitchFamily="34" charset="0"/>
              </a:rPr>
              <a:t>●Comment </a:t>
            </a:r>
            <a:r>
              <a:rPr lang="en-US" altLang="ja-JP" sz="2000" b="0" dirty="0" err="1">
                <a:latin typeface="Arial" panose="020B0604020202020204" pitchFamily="34" charset="0"/>
              </a:rPr>
              <a:t>nhiều</a:t>
            </a:r>
            <a:r>
              <a:rPr lang="en-US" altLang="ja-JP" sz="2000" b="0" dirty="0">
                <a:latin typeface="Arial" panose="020B0604020202020204" pitchFamily="34" charset="0"/>
              </a:rPr>
              <a:t> </a:t>
            </a:r>
            <a:r>
              <a:rPr lang="en-US" altLang="ja-JP" sz="2000" b="0" dirty="0" err="1">
                <a:latin typeface="Arial" panose="020B0604020202020204" pitchFamily="34" charset="0"/>
              </a:rPr>
              <a:t>dòng</a:t>
            </a:r>
            <a:endParaRPr lang="en-US" altLang="ja-JP" sz="2000" b="0" dirty="0">
              <a:latin typeface="Arial" panose="020B0604020202020204" pitchFamily="34" charset="0"/>
            </a:endParaRPr>
          </a:p>
          <a:p>
            <a:pPr>
              <a:spcBef>
                <a:spcPct val="50000"/>
              </a:spcBef>
              <a:buFont typeface="Wingdings" panose="05000000000000000000" pitchFamily="2" charset="2"/>
              <a:buNone/>
            </a:pPr>
            <a:endParaRPr lang="en-US" altLang="ja-JP" sz="2000" b="0" dirty="0">
              <a:latin typeface="Arial" panose="020B0604020202020204" pitchFamily="34" charset="0"/>
            </a:endParaRPr>
          </a:p>
          <a:p>
            <a:pPr>
              <a:spcBef>
                <a:spcPct val="50000"/>
              </a:spcBef>
              <a:buFont typeface="Wingdings" panose="05000000000000000000" pitchFamily="2" charset="2"/>
              <a:buNone/>
            </a:pPr>
            <a:endParaRPr lang="en-US" altLang="ja-JP" sz="2000" b="0" dirty="0">
              <a:latin typeface="Arial" panose="020B0604020202020204" pitchFamily="34" charset="0"/>
            </a:endParaRPr>
          </a:p>
          <a:p>
            <a:pPr>
              <a:spcBef>
                <a:spcPct val="50000"/>
              </a:spcBef>
              <a:buFont typeface="Wingdings" panose="05000000000000000000" pitchFamily="2" charset="2"/>
              <a:buNone/>
            </a:pPr>
            <a:endParaRPr lang="en-US" altLang="ja-JP" sz="2000" b="0" dirty="0">
              <a:latin typeface="Arial" panose="020B0604020202020204" pitchFamily="34" charset="0"/>
            </a:endParaRPr>
          </a:p>
          <a:p>
            <a:pPr>
              <a:spcBef>
                <a:spcPct val="50000"/>
              </a:spcBef>
              <a:buFont typeface="Wingdings" panose="05000000000000000000" pitchFamily="2" charset="2"/>
              <a:buNone/>
            </a:pPr>
            <a:r>
              <a:rPr lang="en-US" altLang="ja-JP" sz="2000" b="0" dirty="0">
                <a:latin typeface="Arial" panose="020B0604020202020204" pitchFamily="34" charset="0"/>
              </a:rPr>
              <a:t>●Comment </a:t>
            </a:r>
            <a:r>
              <a:rPr lang="en-US" altLang="ja-JP" sz="2000" b="0" dirty="0" err="1">
                <a:latin typeface="Arial" panose="020B0604020202020204" pitchFamily="34" charset="0"/>
              </a:rPr>
              <a:t>dùng</a:t>
            </a:r>
            <a:r>
              <a:rPr lang="en-US" altLang="ja-JP" sz="2000" b="0" dirty="0">
                <a:latin typeface="Arial" panose="020B0604020202020204" pitchFamily="34" charset="0"/>
              </a:rPr>
              <a:t> </a:t>
            </a:r>
            <a:r>
              <a:rPr lang="en-US" altLang="ja-JP" sz="2000" b="0" dirty="0" err="1">
                <a:latin typeface="Arial" panose="020B0604020202020204" pitchFamily="34" charset="0"/>
              </a:rPr>
              <a:t>cho</a:t>
            </a:r>
            <a:r>
              <a:rPr lang="en-US" altLang="ja-JP" sz="2000" b="0" dirty="0">
                <a:latin typeface="Arial" panose="020B0604020202020204" pitchFamily="34" charset="0"/>
              </a:rPr>
              <a:t> </a:t>
            </a:r>
            <a:r>
              <a:rPr lang="en-US" altLang="ja-JP" sz="2000" b="0" dirty="0" err="1">
                <a:latin typeface="Arial" panose="020B0604020202020204" pitchFamily="34" charset="0"/>
              </a:rPr>
              <a:t>javadoc</a:t>
            </a:r>
            <a:r>
              <a:rPr lang="en-US" altLang="ja-JP" sz="2000" b="0" dirty="0">
                <a:latin typeface="Arial" panose="020B0604020202020204" pitchFamily="34" charset="0"/>
              </a:rPr>
              <a:t> command</a:t>
            </a:r>
            <a:endParaRPr lang="en-US" altLang="ja-JP" sz="2400" b="0" dirty="0">
              <a:latin typeface="Arial" panose="020B0604020202020204" pitchFamily="34" charset="0"/>
            </a:endParaRPr>
          </a:p>
          <a:p>
            <a:pPr lvl="1"/>
            <a:endParaRPr lang="en-US" altLang="ja-JP" sz="2400" b="0" dirty="0">
              <a:latin typeface="Arial" panose="020B0604020202020204" pitchFamily="34" charset="0"/>
            </a:endParaRPr>
          </a:p>
        </p:txBody>
      </p:sp>
      <p:sp>
        <p:nvSpPr>
          <p:cNvPr id="7" name="Text Box 20">
            <a:extLst>
              <a:ext uri="{FF2B5EF4-FFF2-40B4-BE49-F238E27FC236}">
                <a16:creationId xmlns:a16="http://schemas.microsoft.com/office/drawing/2014/main" id="{69E5A3D0-D32D-E30B-C2B2-83DB38B52751}"/>
              </a:ext>
            </a:extLst>
          </p:cNvPr>
          <p:cNvSpPr txBox="1">
            <a:spLocks noChangeArrowheads="1"/>
          </p:cNvSpPr>
          <p:nvPr/>
        </p:nvSpPr>
        <p:spPr bwMode="auto">
          <a:xfrm>
            <a:off x="338138" y="1766888"/>
            <a:ext cx="9120187" cy="53022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a:ea typeface="ＭＳ ゴシック" panose="020B0609070205080204" pitchFamily="49" charset="-128"/>
              </a:rPr>
              <a:t>//</a:t>
            </a:r>
            <a:r>
              <a:rPr lang="ja-JP" altLang="en-US" sz="2000">
                <a:ea typeface="ＭＳ ゴシック" panose="020B0609070205080204" pitchFamily="49" charset="-128"/>
              </a:rPr>
              <a:t>　</a:t>
            </a:r>
            <a:r>
              <a:rPr lang="en-US" altLang="ja-JP" sz="2000">
                <a:ea typeface="MS UI Gothic" panose="020B0600070205080204" pitchFamily="34" charset="-128"/>
              </a:rPr>
              <a:t>Comment</a:t>
            </a:r>
          </a:p>
        </p:txBody>
      </p:sp>
      <p:sp>
        <p:nvSpPr>
          <p:cNvPr id="8" name="Text Box 29">
            <a:extLst>
              <a:ext uri="{FF2B5EF4-FFF2-40B4-BE49-F238E27FC236}">
                <a16:creationId xmlns:a16="http://schemas.microsoft.com/office/drawing/2014/main" id="{4984A355-E5AF-2FB8-0C43-6A8307F154D1}"/>
              </a:ext>
            </a:extLst>
          </p:cNvPr>
          <p:cNvSpPr txBox="1">
            <a:spLocks noChangeArrowheads="1"/>
          </p:cNvSpPr>
          <p:nvPr/>
        </p:nvSpPr>
        <p:spPr bwMode="auto">
          <a:xfrm>
            <a:off x="338138" y="3141663"/>
            <a:ext cx="9120187" cy="1116012"/>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a:ea typeface="ＭＳ ゴシック" panose="020B0609070205080204" pitchFamily="49" charset="-128"/>
              </a:rPr>
              <a:t>/*</a:t>
            </a:r>
          </a:p>
          <a:p>
            <a:pPr lvl="1" algn="just">
              <a:lnSpc>
                <a:spcPct val="112000"/>
              </a:lnSpc>
            </a:pPr>
            <a:r>
              <a:rPr lang="ja-JP" altLang="en-US" sz="2000">
                <a:ea typeface="ＭＳ ゴシック" panose="020B0609070205080204" pitchFamily="49" charset="-128"/>
              </a:rPr>
              <a:t>　　</a:t>
            </a:r>
            <a:r>
              <a:rPr lang="en-US" altLang="ja-JP" sz="2000">
                <a:ea typeface="MS UI Gothic" panose="020B0600070205080204" pitchFamily="34" charset="-128"/>
              </a:rPr>
              <a:t>Comment</a:t>
            </a:r>
          </a:p>
          <a:p>
            <a:pPr lvl="1" algn="just">
              <a:lnSpc>
                <a:spcPct val="112000"/>
              </a:lnSpc>
            </a:pPr>
            <a:r>
              <a:rPr lang="en-US" altLang="ja-JP" sz="2000">
                <a:ea typeface="ＭＳ ゴシック" panose="020B0609070205080204" pitchFamily="49" charset="-128"/>
              </a:rPr>
              <a:t>*/</a:t>
            </a:r>
          </a:p>
        </p:txBody>
      </p:sp>
      <p:sp>
        <p:nvSpPr>
          <p:cNvPr id="9" name="Text Box 30">
            <a:extLst>
              <a:ext uri="{FF2B5EF4-FFF2-40B4-BE49-F238E27FC236}">
                <a16:creationId xmlns:a16="http://schemas.microsoft.com/office/drawing/2014/main" id="{137DC868-AB09-E043-CEA5-1303A0B35EEA}"/>
              </a:ext>
            </a:extLst>
          </p:cNvPr>
          <p:cNvSpPr txBox="1">
            <a:spLocks noChangeArrowheads="1"/>
          </p:cNvSpPr>
          <p:nvPr/>
        </p:nvSpPr>
        <p:spPr bwMode="auto">
          <a:xfrm>
            <a:off x="338138" y="4979988"/>
            <a:ext cx="9120187" cy="1116012"/>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a:ea typeface="ＭＳ ゴシック" panose="020B0609070205080204" pitchFamily="49" charset="-128"/>
              </a:rPr>
              <a:t>/**</a:t>
            </a:r>
          </a:p>
          <a:p>
            <a:pPr lvl="1" algn="just">
              <a:lnSpc>
                <a:spcPct val="112000"/>
              </a:lnSpc>
            </a:pPr>
            <a:r>
              <a:rPr lang="en-US" altLang="ja-JP" sz="2000">
                <a:ea typeface="ＭＳ ゴシック" panose="020B0609070205080204" pitchFamily="49" charset="-128"/>
              </a:rPr>
              <a:t>   </a:t>
            </a:r>
            <a:r>
              <a:rPr lang="en-US" altLang="ja-JP" sz="2000">
                <a:ea typeface="MS UI Gothic" panose="020B0600070205080204" pitchFamily="34" charset="-128"/>
              </a:rPr>
              <a:t> Comment</a:t>
            </a:r>
          </a:p>
          <a:p>
            <a:pPr lvl="1" algn="just">
              <a:lnSpc>
                <a:spcPct val="112000"/>
              </a:lnSpc>
            </a:pPr>
            <a:r>
              <a:rPr lang="en-US" altLang="ja-JP" sz="2000">
                <a:ea typeface="ＭＳ ゴシック" panose="020B0609070205080204" pitchFamily="49" charset="-128"/>
              </a:rPr>
              <a:t>*/</a:t>
            </a:r>
          </a:p>
        </p:txBody>
      </p:sp>
    </p:spTree>
    <p:extLst>
      <p:ext uri="{BB962C8B-B14F-4D97-AF65-F5344CB8AC3E}">
        <p14:creationId xmlns:p14="http://schemas.microsoft.com/office/powerpoint/2010/main" val="3351600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B91759-F171-3A84-4410-14CD9CF956DB}"/>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28</a:t>
            </a:fld>
            <a:endParaRPr lang="en-US" altLang="ja-JP"/>
          </a:p>
        </p:txBody>
      </p:sp>
      <p:sp>
        <p:nvSpPr>
          <p:cNvPr id="5" name="Rectangle 2">
            <a:extLst>
              <a:ext uri="{FF2B5EF4-FFF2-40B4-BE49-F238E27FC236}">
                <a16:creationId xmlns:a16="http://schemas.microsoft.com/office/drawing/2014/main" id="{56D94CB9-DEC7-B92F-508B-B9A4E227891D}"/>
              </a:ext>
            </a:extLst>
          </p:cNvPr>
          <p:cNvSpPr txBox="1">
            <a:spLocks noChangeArrowheads="1"/>
          </p:cNvSpPr>
          <p:nvPr/>
        </p:nvSpPr>
        <p:spPr bwMode="auto">
          <a:xfrm>
            <a:off x="379656" y="408781"/>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r>
              <a:rPr lang="en-US" altLang="ja-JP" b="0" kern="0" dirty="0" err="1">
                <a:latin typeface="Arial" panose="020B0604020202020204" pitchFamily="34" charset="0"/>
              </a:rPr>
              <a:t>Từ</a:t>
            </a:r>
            <a:r>
              <a:rPr lang="en-US" altLang="ja-JP" b="0" kern="0" dirty="0">
                <a:latin typeface="Arial" panose="020B0604020202020204" pitchFamily="34" charset="0"/>
              </a:rPr>
              <a:t> </a:t>
            </a:r>
            <a:r>
              <a:rPr lang="en-US" altLang="ja-JP" b="0" kern="0" dirty="0" err="1">
                <a:latin typeface="Arial" panose="020B0604020202020204" pitchFamily="34" charset="0"/>
              </a:rPr>
              <a:t>định</a:t>
            </a:r>
            <a:r>
              <a:rPr lang="en-US" altLang="ja-JP" b="0" kern="0" dirty="0">
                <a:latin typeface="Arial" panose="020B0604020202020204" pitchFamily="34" charset="0"/>
              </a:rPr>
              <a:t> </a:t>
            </a:r>
            <a:r>
              <a:rPr lang="en-US" altLang="ja-JP" b="0" kern="0" dirty="0" err="1">
                <a:latin typeface="Arial" panose="020B0604020202020204" pitchFamily="34" charset="0"/>
              </a:rPr>
              <a:t>danh</a:t>
            </a:r>
            <a:r>
              <a:rPr lang="en-US" altLang="ja-JP" b="0" kern="0" dirty="0">
                <a:latin typeface="Arial" panose="020B0604020202020204" pitchFamily="34" charset="0"/>
              </a:rPr>
              <a:t> (Identifier)</a:t>
            </a:r>
            <a:endParaRPr lang="en-US" altLang="ja-JP" b="0" kern="0" dirty="0">
              <a:latin typeface="Arial" panose="020B0604020202020204" pitchFamily="34" charset="0"/>
              <a:ea typeface="MS UI Gothic" panose="020B0600070205080204" pitchFamily="34" charset="-128"/>
            </a:endParaRPr>
          </a:p>
        </p:txBody>
      </p:sp>
      <p:sp>
        <p:nvSpPr>
          <p:cNvPr id="6" name="Rectangle 4">
            <a:extLst>
              <a:ext uri="{FF2B5EF4-FFF2-40B4-BE49-F238E27FC236}">
                <a16:creationId xmlns:a16="http://schemas.microsoft.com/office/drawing/2014/main" id="{70699F1A-1076-C26A-30C1-16FC1A47448C}"/>
              </a:ext>
            </a:extLst>
          </p:cNvPr>
          <p:cNvSpPr>
            <a:spLocks noChangeArrowheads="1"/>
          </p:cNvSpPr>
          <p:nvPr/>
        </p:nvSpPr>
        <p:spPr bwMode="auto">
          <a:xfrm>
            <a:off x="397241" y="980281"/>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dirty="0" err="1">
                <a:latin typeface="Arial" panose="020B0604020202020204" pitchFamily="34" charset="0"/>
              </a:rPr>
              <a:t>Từ</a:t>
            </a:r>
            <a:r>
              <a:rPr lang="en-US" altLang="ja-JP" sz="2400" b="0" dirty="0">
                <a:latin typeface="Arial" panose="020B0604020202020204" pitchFamily="34" charset="0"/>
              </a:rPr>
              <a:t> </a:t>
            </a:r>
            <a:r>
              <a:rPr lang="en-US" altLang="ja-JP" sz="2400" b="0" dirty="0" err="1">
                <a:latin typeface="Arial" panose="020B0604020202020204" pitchFamily="34" charset="0"/>
              </a:rPr>
              <a:t>định</a:t>
            </a:r>
            <a:r>
              <a:rPr lang="en-US" altLang="ja-JP" sz="2400" b="0" dirty="0">
                <a:latin typeface="Arial" panose="020B0604020202020204" pitchFamily="34" charset="0"/>
              </a:rPr>
              <a:t> </a:t>
            </a:r>
            <a:r>
              <a:rPr lang="en-US" altLang="ja-JP" sz="2400" b="0" dirty="0" err="1">
                <a:latin typeface="Arial" panose="020B0604020202020204" pitchFamily="34" charset="0"/>
              </a:rPr>
              <a:t>danh</a:t>
            </a:r>
            <a:r>
              <a:rPr lang="en-US" altLang="ja-JP" sz="2400" b="0" dirty="0">
                <a:latin typeface="Arial" panose="020B0604020202020204" pitchFamily="34" charset="0"/>
              </a:rPr>
              <a:t>(identifier) là</a:t>
            </a:r>
          </a:p>
          <a:p>
            <a:endParaRPr lang="en-US" altLang="ja-JP" sz="2400" b="0" dirty="0">
              <a:latin typeface="Arial" panose="020B0604020202020204" pitchFamily="34" charset="0"/>
            </a:endParaRPr>
          </a:p>
          <a:p>
            <a:endParaRPr lang="en-US" altLang="ja-JP" sz="2400" b="0" dirty="0">
              <a:latin typeface="Arial" panose="020B0604020202020204" pitchFamily="34" charset="0"/>
            </a:endParaRPr>
          </a:p>
          <a:p>
            <a:r>
              <a:rPr lang="en-US" altLang="ja-JP" sz="2400" b="0" dirty="0">
                <a:latin typeface="Arial" panose="020B0604020202020204" pitchFamily="34" charset="0"/>
              </a:rPr>
              <a:t>Quy </a:t>
            </a:r>
            <a:r>
              <a:rPr lang="en-US" altLang="ja-JP" sz="2400" b="0" dirty="0" err="1">
                <a:latin typeface="Arial" panose="020B0604020202020204" pitchFamily="34" charset="0"/>
              </a:rPr>
              <a:t>tắc</a:t>
            </a:r>
            <a:r>
              <a:rPr lang="en-US" altLang="ja-JP" sz="2400" b="0" dirty="0">
                <a:latin typeface="Arial" panose="020B0604020202020204" pitchFamily="34" charset="0"/>
              </a:rPr>
              <a:t> </a:t>
            </a:r>
            <a:r>
              <a:rPr lang="en-US" altLang="ja-JP" sz="2400" b="0" dirty="0" err="1">
                <a:latin typeface="Arial" panose="020B0604020202020204" pitchFamily="34" charset="0"/>
              </a:rPr>
              <a:t>ngư</a:t>
            </a:r>
            <a:r>
              <a:rPr lang="en-US" altLang="ja-JP" sz="2400" b="0" dirty="0">
                <a:latin typeface="Arial" panose="020B0604020202020204" pitchFamily="34" charset="0"/>
              </a:rPr>
              <a:t>̃ </a:t>
            </a:r>
            <a:r>
              <a:rPr lang="en-US" altLang="ja-JP" sz="2400" b="0" dirty="0" err="1">
                <a:latin typeface="Arial" panose="020B0604020202020204" pitchFamily="34" charset="0"/>
              </a:rPr>
              <a:t>pháp</a:t>
            </a:r>
            <a:r>
              <a:rPr lang="en-US" altLang="ja-JP" sz="2400" b="0" dirty="0">
                <a:latin typeface="Arial" panose="020B0604020202020204" pitchFamily="34" charset="0"/>
              </a:rPr>
              <a:t> </a:t>
            </a:r>
            <a:r>
              <a:rPr lang="en-US" altLang="ja-JP" sz="2400" b="0" dirty="0" err="1">
                <a:latin typeface="Arial" panose="020B0604020202020204" pitchFamily="34" charset="0"/>
              </a:rPr>
              <a:t>của</a:t>
            </a:r>
            <a:r>
              <a:rPr lang="en-US" altLang="ja-JP" sz="2400" b="0" dirty="0">
                <a:latin typeface="Arial" panose="020B0604020202020204" pitchFamily="34" charset="0"/>
              </a:rPr>
              <a:t> </a:t>
            </a:r>
            <a:r>
              <a:rPr lang="en-US" altLang="ja-JP" sz="2400" b="0" dirty="0" err="1">
                <a:latin typeface="Arial" panose="020B0604020202020204" pitchFamily="34" charset="0"/>
              </a:rPr>
              <a:t>tư</a:t>
            </a:r>
            <a:r>
              <a:rPr lang="en-US" altLang="ja-JP" sz="2400" b="0" dirty="0">
                <a:latin typeface="Arial" panose="020B0604020202020204" pitchFamily="34" charset="0"/>
              </a:rPr>
              <a:t>̀ </a:t>
            </a:r>
            <a:r>
              <a:rPr lang="en-US" altLang="ja-JP" sz="2400" b="0" dirty="0" err="1">
                <a:latin typeface="Arial" panose="020B0604020202020204" pitchFamily="34" charset="0"/>
              </a:rPr>
              <a:t>định</a:t>
            </a:r>
            <a:r>
              <a:rPr lang="en-US" altLang="ja-JP" sz="2400" b="0" dirty="0">
                <a:latin typeface="Arial" panose="020B0604020202020204" pitchFamily="34" charset="0"/>
              </a:rPr>
              <a:t> </a:t>
            </a:r>
            <a:r>
              <a:rPr lang="en-US" altLang="ja-JP" sz="2400" b="0" dirty="0" err="1">
                <a:latin typeface="Arial" panose="020B0604020202020204" pitchFamily="34" charset="0"/>
              </a:rPr>
              <a:t>danh</a:t>
            </a:r>
            <a:endParaRPr lang="en-US" altLang="ja-JP" sz="2400" b="0" dirty="0">
              <a:latin typeface="Arial" panose="020B0604020202020204" pitchFamily="34" charset="0"/>
            </a:endParaRPr>
          </a:p>
          <a:p>
            <a:pPr>
              <a:spcBef>
                <a:spcPct val="50000"/>
              </a:spcBef>
              <a:buFont typeface="Wingdings" panose="05000000000000000000" pitchFamily="2" charset="2"/>
              <a:buNone/>
            </a:pPr>
            <a:r>
              <a:rPr lang="en-US" altLang="ja-JP" sz="2000" b="0" dirty="0">
                <a:latin typeface="Arial" panose="020B0604020202020204" pitchFamily="34" charset="0"/>
              </a:rPr>
              <a:t>●</a:t>
            </a:r>
            <a:r>
              <a:rPr lang="en-US" altLang="ja-JP" sz="2000" b="0" dirty="0" err="1">
                <a:latin typeface="Arial" panose="020B0604020202020204" pitchFamily="34" charset="0"/>
              </a:rPr>
              <a:t>Đô</a:t>
            </a:r>
            <a:r>
              <a:rPr lang="en-US" altLang="ja-JP" sz="2000" b="0" dirty="0">
                <a:latin typeface="Arial" panose="020B0604020202020204" pitchFamily="34" charset="0"/>
              </a:rPr>
              <a:t>̣ </a:t>
            </a:r>
            <a:r>
              <a:rPr lang="en-US" altLang="ja-JP" sz="2000" b="0" dirty="0" err="1">
                <a:latin typeface="Arial" panose="020B0604020202020204" pitchFamily="34" charset="0"/>
              </a:rPr>
              <a:t>dài</a:t>
            </a:r>
            <a:r>
              <a:rPr lang="en-US" altLang="ja-JP" sz="2000" b="0" dirty="0">
                <a:latin typeface="Arial" panose="020B0604020202020204" pitchFamily="34" charset="0"/>
              </a:rPr>
              <a:t> </a:t>
            </a:r>
            <a:r>
              <a:rPr lang="en-US" altLang="ja-JP" sz="2000" b="0" dirty="0" err="1">
                <a:latin typeface="Arial" panose="020B0604020202020204" pitchFamily="34" charset="0"/>
              </a:rPr>
              <a:t>không</a:t>
            </a:r>
            <a:r>
              <a:rPr lang="en-US" altLang="ja-JP" sz="2000" b="0" dirty="0">
                <a:latin typeface="Arial" panose="020B0604020202020204" pitchFamily="34" charset="0"/>
              </a:rPr>
              <a:t> </a:t>
            </a:r>
            <a:r>
              <a:rPr lang="en-US" altLang="ja-JP" sz="2000" b="0" dirty="0" err="1">
                <a:latin typeface="Arial" panose="020B0604020202020204" pitchFamily="34" charset="0"/>
              </a:rPr>
              <a:t>giới</a:t>
            </a:r>
            <a:r>
              <a:rPr lang="en-US" altLang="ja-JP" sz="2000" b="0" dirty="0">
                <a:latin typeface="Arial" panose="020B0604020202020204" pitchFamily="34" charset="0"/>
              </a:rPr>
              <a:t> </a:t>
            </a:r>
            <a:r>
              <a:rPr lang="en-US" altLang="ja-JP" sz="2000" b="0" dirty="0" err="1">
                <a:latin typeface="Arial" panose="020B0604020202020204" pitchFamily="34" charset="0"/>
              </a:rPr>
              <a:t>hạn</a:t>
            </a:r>
            <a:endParaRPr lang="en-US" altLang="ja-JP" sz="2000" b="0" dirty="0">
              <a:latin typeface="Arial" panose="020B0604020202020204" pitchFamily="34" charset="0"/>
            </a:endParaRPr>
          </a:p>
          <a:p>
            <a:pPr>
              <a:spcBef>
                <a:spcPct val="50000"/>
              </a:spcBef>
              <a:buFont typeface="Wingdings" panose="05000000000000000000" pitchFamily="2" charset="2"/>
              <a:buNone/>
            </a:pPr>
            <a:r>
              <a:rPr lang="en-US" altLang="ja-JP" sz="2000" b="0" dirty="0">
                <a:latin typeface="Arial" panose="020B0604020202020204" pitchFamily="34" charset="0"/>
              </a:rPr>
              <a:t>●</a:t>
            </a:r>
            <a:r>
              <a:rPr lang="en-US" altLang="ja-JP" sz="2000" b="0" dirty="0" err="1">
                <a:latin typeface="Arial" panose="020B0604020202020204" pitchFamily="34" charset="0"/>
              </a:rPr>
              <a:t>Các</a:t>
            </a:r>
            <a:r>
              <a:rPr lang="en-US" altLang="ja-JP" sz="2000" b="0" dirty="0">
                <a:latin typeface="Arial" panose="020B0604020202020204" pitchFamily="34" charset="0"/>
              </a:rPr>
              <a:t> </a:t>
            </a:r>
            <a:r>
              <a:rPr lang="en-US" altLang="ja-JP" sz="2000" b="0" dirty="0" err="1">
                <a:latin typeface="Arial" panose="020B0604020202020204" pitchFamily="34" charset="0"/>
              </a:rPr>
              <a:t>ky</a:t>
            </a:r>
            <a:r>
              <a:rPr lang="en-US" altLang="ja-JP" sz="2000" b="0" dirty="0">
                <a:latin typeface="Arial" panose="020B0604020202020204" pitchFamily="34" charset="0"/>
              </a:rPr>
              <a:t>́ </a:t>
            </a:r>
            <a:r>
              <a:rPr lang="en-US" altLang="ja-JP" sz="2000" b="0" dirty="0" err="1">
                <a:latin typeface="Arial" panose="020B0604020202020204" pitchFamily="34" charset="0"/>
              </a:rPr>
              <a:t>tư</a:t>
            </a:r>
            <a:r>
              <a:rPr lang="en-US" altLang="ja-JP" sz="2000" b="0" dirty="0">
                <a:latin typeface="Arial" panose="020B0604020202020204" pitchFamily="34" charset="0"/>
              </a:rPr>
              <a:t>̣ có </a:t>
            </a:r>
            <a:r>
              <a:rPr lang="en-US" altLang="ja-JP" sz="2000" b="0" dirty="0" err="1">
                <a:latin typeface="Arial" panose="020B0604020202020204" pitchFamily="34" charset="0"/>
              </a:rPr>
              <a:t>thê</a:t>
            </a:r>
            <a:r>
              <a:rPr lang="en-US" altLang="ja-JP" sz="2000" b="0" dirty="0">
                <a:latin typeface="Arial" panose="020B0604020202020204" pitchFamily="34" charset="0"/>
              </a:rPr>
              <a:t>̉ </a:t>
            </a:r>
            <a:r>
              <a:rPr lang="en-US" altLang="ja-JP" sz="2000" b="0" dirty="0" err="1">
                <a:latin typeface="Arial" panose="020B0604020202020204" pitchFamily="34" charset="0"/>
              </a:rPr>
              <a:t>sư</a:t>
            </a:r>
            <a:r>
              <a:rPr lang="en-US" altLang="ja-JP" sz="2000" b="0" dirty="0">
                <a:latin typeface="Arial" panose="020B0604020202020204" pitchFamily="34" charset="0"/>
              </a:rPr>
              <a:t>̉ </a:t>
            </a:r>
            <a:r>
              <a:rPr lang="en-US" altLang="ja-JP" sz="2000" b="0" dirty="0" err="1">
                <a:latin typeface="Arial" panose="020B0604020202020204" pitchFamily="34" charset="0"/>
              </a:rPr>
              <a:t>dụng</a:t>
            </a:r>
            <a:r>
              <a:rPr lang="en-US" altLang="ja-JP" sz="2000" b="0" dirty="0">
                <a:latin typeface="Arial" panose="020B0604020202020204" pitchFamily="34" charset="0"/>
              </a:rPr>
              <a:t> ở </a:t>
            </a:r>
            <a:r>
              <a:rPr lang="en-US" altLang="ja-JP" sz="2000" b="0" dirty="0" err="1">
                <a:latin typeface="Arial" panose="020B0604020202020204" pitchFamily="34" charset="0"/>
              </a:rPr>
              <a:t>ky</a:t>
            </a:r>
            <a:r>
              <a:rPr lang="en-US" altLang="ja-JP" sz="2000" b="0" dirty="0">
                <a:latin typeface="Arial" panose="020B0604020202020204" pitchFamily="34" charset="0"/>
              </a:rPr>
              <a:t>́ </a:t>
            </a:r>
            <a:r>
              <a:rPr lang="en-US" altLang="ja-JP" sz="2000" b="0" dirty="0" err="1">
                <a:latin typeface="Arial" panose="020B0604020202020204" pitchFamily="34" charset="0"/>
              </a:rPr>
              <a:t>tư</a:t>
            </a:r>
            <a:r>
              <a:rPr lang="en-US" altLang="ja-JP" sz="2000" b="0" dirty="0">
                <a:latin typeface="Arial" panose="020B0604020202020204" pitchFamily="34" charset="0"/>
              </a:rPr>
              <a:t>̣ </a:t>
            </a:r>
            <a:r>
              <a:rPr lang="en-US" altLang="ja-JP" sz="2000" b="0" dirty="0" err="1">
                <a:latin typeface="Arial" panose="020B0604020202020204" pitchFamily="34" charset="0"/>
              </a:rPr>
              <a:t>thư</a:t>
            </a:r>
            <a:r>
              <a:rPr lang="en-US" altLang="ja-JP" sz="2000" b="0" dirty="0">
                <a:latin typeface="Arial" panose="020B0604020202020204" pitchFamily="34" charset="0"/>
              </a:rPr>
              <a:t>́ 1</a:t>
            </a:r>
          </a:p>
          <a:p>
            <a:pPr>
              <a:spcBef>
                <a:spcPct val="50000"/>
              </a:spcBef>
              <a:buFont typeface="Wingdings" panose="05000000000000000000" pitchFamily="2" charset="2"/>
              <a:buNone/>
            </a:pPr>
            <a:endParaRPr lang="en-US" altLang="ja-JP" sz="2000" b="0" dirty="0">
              <a:latin typeface="Arial" panose="020B0604020202020204" pitchFamily="34" charset="0"/>
            </a:endParaRPr>
          </a:p>
          <a:p>
            <a:pPr>
              <a:spcBef>
                <a:spcPct val="50000"/>
              </a:spcBef>
              <a:buFont typeface="Wingdings" panose="05000000000000000000" pitchFamily="2" charset="2"/>
              <a:buNone/>
            </a:pPr>
            <a:endParaRPr lang="en-US" altLang="ja-JP" sz="2000" b="0" dirty="0">
              <a:latin typeface="Arial" panose="020B0604020202020204" pitchFamily="34" charset="0"/>
            </a:endParaRPr>
          </a:p>
          <a:p>
            <a:pPr>
              <a:spcBef>
                <a:spcPct val="50000"/>
              </a:spcBef>
              <a:buFont typeface="Wingdings" panose="05000000000000000000" pitchFamily="2" charset="2"/>
              <a:buNone/>
            </a:pPr>
            <a:r>
              <a:rPr lang="en-US" altLang="ja-JP" sz="2000" b="0" dirty="0">
                <a:latin typeface="Arial" panose="020B0604020202020204" pitchFamily="34" charset="0"/>
              </a:rPr>
              <a:t>● </a:t>
            </a:r>
            <a:r>
              <a:rPr lang="en-US" altLang="ja-JP" sz="2000" b="0" dirty="0" err="1">
                <a:latin typeface="Arial" panose="020B0604020202020204" pitchFamily="34" charset="0"/>
              </a:rPr>
              <a:t>Các</a:t>
            </a:r>
            <a:r>
              <a:rPr lang="en-US" altLang="ja-JP" sz="2000" b="0" dirty="0">
                <a:latin typeface="Arial" panose="020B0604020202020204" pitchFamily="34" charset="0"/>
              </a:rPr>
              <a:t> </a:t>
            </a:r>
            <a:r>
              <a:rPr lang="en-US" altLang="ja-JP" sz="2000" b="0" dirty="0" err="1">
                <a:latin typeface="Arial" panose="020B0604020202020204" pitchFamily="34" charset="0"/>
              </a:rPr>
              <a:t>ky</a:t>
            </a:r>
            <a:r>
              <a:rPr lang="en-US" altLang="ja-JP" sz="2000" b="0" dirty="0">
                <a:latin typeface="Arial" panose="020B0604020202020204" pitchFamily="34" charset="0"/>
              </a:rPr>
              <a:t>́ </a:t>
            </a:r>
            <a:r>
              <a:rPr lang="en-US" altLang="ja-JP" sz="2000" b="0" dirty="0" err="1">
                <a:latin typeface="Arial" panose="020B0604020202020204" pitchFamily="34" charset="0"/>
              </a:rPr>
              <a:t>tư</a:t>
            </a:r>
            <a:r>
              <a:rPr lang="en-US" altLang="ja-JP" sz="2000" b="0" dirty="0">
                <a:latin typeface="Arial" panose="020B0604020202020204" pitchFamily="34" charset="0"/>
              </a:rPr>
              <a:t>̣ có </a:t>
            </a:r>
            <a:r>
              <a:rPr lang="en-US" altLang="ja-JP" sz="2000" b="0" dirty="0" err="1">
                <a:latin typeface="Arial" panose="020B0604020202020204" pitchFamily="34" charset="0"/>
              </a:rPr>
              <a:t>thê</a:t>
            </a:r>
            <a:r>
              <a:rPr lang="en-US" altLang="ja-JP" sz="2000" b="0" dirty="0">
                <a:latin typeface="Arial" panose="020B0604020202020204" pitchFamily="34" charset="0"/>
              </a:rPr>
              <a:t>̉ </a:t>
            </a:r>
            <a:r>
              <a:rPr lang="en-US" altLang="ja-JP" sz="2000" b="0" dirty="0" err="1">
                <a:latin typeface="Arial" panose="020B0604020202020204" pitchFamily="34" charset="0"/>
              </a:rPr>
              <a:t>sư</a:t>
            </a:r>
            <a:r>
              <a:rPr lang="en-US" altLang="ja-JP" sz="2000" b="0" dirty="0">
                <a:latin typeface="Arial" panose="020B0604020202020204" pitchFamily="34" charset="0"/>
              </a:rPr>
              <a:t>̉ </a:t>
            </a:r>
            <a:r>
              <a:rPr lang="en-US" altLang="ja-JP" sz="2000" b="0" dirty="0" err="1">
                <a:latin typeface="Arial" panose="020B0604020202020204" pitchFamily="34" charset="0"/>
              </a:rPr>
              <a:t>dụng</a:t>
            </a:r>
            <a:r>
              <a:rPr lang="en-US" altLang="ja-JP" sz="2000" b="0" dirty="0">
                <a:latin typeface="Arial" panose="020B0604020202020204" pitchFamily="34" charset="0"/>
              </a:rPr>
              <a:t> </a:t>
            </a:r>
            <a:r>
              <a:rPr lang="en-US" altLang="ja-JP" sz="2000" b="0" dirty="0" err="1">
                <a:latin typeface="Arial" panose="020B0604020202020204" pitchFamily="34" charset="0"/>
              </a:rPr>
              <a:t>tư</a:t>
            </a:r>
            <a:r>
              <a:rPr lang="en-US" altLang="ja-JP" sz="2000" b="0" dirty="0">
                <a:latin typeface="Arial" panose="020B0604020202020204" pitchFamily="34" charset="0"/>
              </a:rPr>
              <a:t>̀ </a:t>
            </a:r>
            <a:r>
              <a:rPr lang="en-US" altLang="ja-JP" sz="2000" b="0" dirty="0" err="1">
                <a:latin typeface="Arial" panose="020B0604020202020204" pitchFamily="34" charset="0"/>
              </a:rPr>
              <a:t>ky</a:t>
            </a:r>
            <a:r>
              <a:rPr lang="en-US" altLang="ja-JP" sz="2000" b="0" dirty="0">
                <a:latin typeface="Arial" panose="020B0604020202020204" pitchFamily="34" charset="0"/>
              </a:rPr>
              <a:t>́ </a:t>
            </a:r>
            <a:r>
              <a:rPr lang="en-US" altLang="ja-JP" sz="2000" b="0" dirty="0" err="1">
                <a:latin typeface="Arial" panose="020B0604020202020204" pitchFamily="34" charset="0"/>
              </a:rPr>
              <a:t>tư</a:t>
            </a:r>
            <a:r>
              <a:rPr lang="en-US" altLang="ja-JP" sz="2000" b="0" dirty="0">
                <a:latin typeface="Arial" panose="020B0604020202020204" pitchFamily="34" charset="0"/>
              </a:rPr>
              <a:t>̣ </a:t>
            </a:r>
            <a:r>
              <a:rPr lang="en-US" altLang="ja-JP" sz="2000" b="0" dirty="0" err="1">
                <a:latin typeface="Arial" panose="020B0604020202020204" pitchFamily="34" charset="0"/>
              </a:rPr>
              <a:t>thư</a:t>
            </a:r>
            <a:r>
              <a:rPr lang="en-US" altLang="ja-JP" sz="2000" b="0" dirty="0">
                <a:latin typeface="Arial" panose="020B0604020202020204" pitchFamily="34" charset="0"/>
              </a:rPr>
              <a:t>́ 2 </a:t>
            </a:r>
            <a:r>
              <a:rPr lang="en-US" altLang="ja-JP" sz="2000" b="0" dirty="0" err="1">
                <a:latin typeface="Arial" panose="020B0604020202020204" pitchFamily="34" charset="0"/>
              </a:rPr>
              <a:t>trơ</a:t>
            </a:r>
            <a:r>
              <a:rPr lang="en-US" altLang="ja-JP" sz="2000" b="0" dirty="0">
                <a:latin typeface="Arial" panose="020B0604020202020204" pitchFamily="34" charset="0"/>
              </a:rPr>
              <a:t>̉ </a:t>
            </a:r>
            <a:r>
              <a:rPr lang="en-US" altLang="ja-JP" sz="2000" b="0" dirty="0" err="1">
                <a:latin typeface="Arial" panose="020B0604020202020204" pitchFamily="34" charset="0"/>
              </a:rPr>
              <a:t>đi</a:t>
            </a:r>
            <a:r>
              <a:rPr lang="en-US" altLang="ja-JP" sz="2000" b="0" dirty="0">
                <a:latin typeface="Arial" panose="020B0604020202020204" pitchFamily="34" charset="0"/>
              </a:rPr>
              <a:t>.</a:t>
            </a:r>
          </a:p>
          <a:p>
            <a:pPr>
              <a:spcBef>
                <a:spcPct val="50000"/>
              </a:spcBef>
              <a:buFont typeface="Wingdings" panose="05000000000000000000" pitchFamily="2" charset="2"/>
              <a:buNone/>
            </a:pPr>
            <a:endParaRPr lang="en-US" altLang="ja-JP" sz="2000" b="0" dirty="0">
              <a:latin typeface="Arial" panose="020B0604020202020204" pitchFamily="34" charset="0"/>
            </a:endParaRPr>
          </a:p>
          <a:p>
            <a:pPr>
              <a:spcBef>
                <a:spcPct val="50000"/>
              </a:spcBef>
              <a:buFont typeface="Wingdings" panose="05000000000000000000" pitchFamily="2" charset="2"/>
              <a:buNone/>
            </a:pPr>
            <a:endParaRPr lang="en-US" altLang="ja-JP" sz="2000" b="0" dirty="0">
              <a:latin typeface="Arial" panose="020B0604020202020204" pitchFamily="34" charset="0"/>
            </a:endParaRPr>
          </a:p>
          <a:p>
            <a:pPr>
              <a:spcBef>
                <a:spcPct val="50000"/>
              </a:spcBef>
              <a:buFont typeface="Wingdings" panose="05000000000000000000" pitchFamily="2" charset="2"/>
              <a:buNone/>
            </a:pPr>
            <a:r>
              <a:rPr lang="en-US" altLang="ja-JP" sz="2000" b="0" dirty="0">
                <a:latin typeface="Arial" panose="020B0604020202020204" pitchFamily="34" charset="0"/>
              </a:rPr>
              <a:t>●</a:t>
            </a:r>
            <a:r>
              <a:rPr lang="en-US" altLang="ja-JP" sz="2000" b="0" dirty="0" err="1">
                <a:latin typeface="Arial" panose="020B0604020202020204" pitchFamily="34" charset="0"/>
              </a:rPr>
              <a:t>Không</a:t>
            </a:r>
            <a:r>
              <a:rPr lang="en-US" altLang="ja-JP" sz="2000" b="0" dirty="0">
                <a:latin typeface="Arial" panose="020B0604020202020204" pitchFamily="34" charset="0"/>
              </a:rPr>
              <a:t> </a:t>
            </a:r>
            <a:r>
              <a:rPr lang="en-US" altLang="ja-JP" sz="2000" b="0" dirty="0" err="1">
                <a:latin typeface="Arial" panose="020B0604020202020204" pitchFamily="34" charset="0"/>
              </a:rPr>
              <a:t>thê</a:t>
            </a:r>
            <a:r>
              <a:rPr lang="en-US" altLang="ja-JP" sz="2000" b="0" dirty="0">
                <a:latin typeface="Arial" panose="020B0604020202020204" pitchFamily="34" charset="0"/>
              </a:rPr>
              <a:t>̉ </a:t>
            </a:r>
            <a:r>
              <a:rPr lang="en-US" altLang="ja-JP" sz="2000" b="0" dirty="0" err="1">
                <a:latin typeface="Arial" panose="020B0604020202020204" pitchFamily="34" charset="0"/>
              </a:rPr>
              <a:t>sư</a:t>
            </a:r>
            <a:r>
              <a:rPr lang="en-US" altLang="ja-JP" sz="2000" b="0" dirty="0">
                <a:latin typeface="Arial" panose="020B0604020202020204" pitchFamily="34" charset="0"/>
              </a:rPr>
              <a:t>̉ </a:t>
            </a:r>
            <a:r>
              <a:rPr lang="en-US" altLang="ja-JP" sz="2000" b="0" dirty="0" err="1">
                <a:latin typeface="Arial" panose="020B0604020202020204" pitchFamily="34" charset="0"/>
              </a:rPr>
              <a:t>dụng</a:t>
            </a:r>
            <a:r>
              <a:rPr lang="en-US" altLang="ja-JP" sz="2000" b="0" dirty="0">
                <a:latin typeface="Arial" panose="020B0604020202020204" pitchFamily="34" charset="0"/>
              </a:rPr>
              <a:t> </a:t>
            </a:r>
            <a:r>
              <a:rPr lang="en-US" altLang="ja-JP" sz="2000" b="0" dirty="0" err="1">
                <a:latin typeface="Arial" panose="020B0604020202020204" pitchFamily="34" charset="0"/>
              </a:rPr>
              <a:t>các</a:t>
            </a:r>
            <a:r>
              <a:rPr lang="en-US" altLang="ja-JP" sz="2000" b="0" dirty="0">
                <a:latin typeface="Arial" panose="020B0604020202020204" pitchFamily="34" charset="0"/>
              </a:rPr>
              <a:t> keyword </a:t>
            </a:r>
            <a:r>
              <a:rPr lang="en-US" altLang="ja-JP" sz="2000" b="0" dirty="0" err="1">
                <a:latin typeface="Arial" panose="020B0604020202020204" pitchFamily="34" charset="0"/>
              </a:rPr>
              <a:t>va</a:t>
            </a:r>
            <a:r>
              <a:rPr lang="en-US" altLang="ja-JP" sz="2000" b="0" dirty="0">
                <a:latin typeface="Arial" panose="020B0604020202020204" pitchFamily="34" charset="0"/>
              </a:rPr>
              <a:t>̀ literal </a:t>
            </a:r>
            <a:r>
              <a:rPr lang="en-US" altLang="ja-JP" sz="2000" b="0" dirty="0" err="1">
                <a:latin typeface="Arial" panose="020B0604020202020204" pitchFamily="34" charset="0"/>
              </a:rPr>
              <a:t>đa</a:t>
            </a:r>
            <a:r>
              <a:rPr lang="en-US" altLang="ja-JP" sz="2000" b="0" dirty="0">
                <a:latin typeface="Arial" panose="020B0604020202020204" pitchFamily="34" charset="0"/>
              </a:rPr>
              <a:t>̃ </a:t>
            </a:r>
            <a:r>
              <a:rPr lang="en-US" altLang="ja-JP" sz="2000" b="0" dirty="0" err="1">
                <a:latin typeface="Arial" panose="020B0604020202020204" pitchFamily="34" charset="0"/>
              </a:rPr>
              <a:t>được</a:t>
            </a:r>
            <a:r>
              <a:rPr lang="en-US" altLang="ja-JP" sz="2000" b="0" dirty="0">
                <a:latin typeface="Arial" panose="020B0604020202020204" pitchFamily="34" charset="0"/>
              </a:rPr>
              <a:t> </a:t>
            </a:r>
            <a:r>
              <a:rPr lang="en-US" altLang="ja-JP" sz="2000" b="0" dirty="0" err="1">
                <a:latin typeface="Arial" panose="020B0604020202020204" pitchFamily="34" charset="0"/>
              </a:rPr>
              <a:t>đặt</a:t>
            </a:r>
            <a:r>
              <a:rPr lang="en-US" altLang="ja-JP" sz="2000" b="0" dirty="0">
                <a:latin typeface="Arial" panose="020B0604020202020204" pitchFamily="34" charset="0"/>
              </a:rPr>
              <a:t> </a:t>
            </a:r>
            <a:r>
              <a:rPr lang="en-US" altLang="ja-JP" sz="2000" b="0" dirty="0" err="1">
                <a:latin typeface="Arial" panose="020B0604020202020204" pitchFamily="34" charset="0"/>
              </a:rPr>
              <a:t>trước</a:t>
            </a:r>
            <a:r>
              <a:rPr lang="en-US" altLang="ja-JP" sz="2000" b="0" dirty="0">
                <a:latin typeface="Arial" panose="020B0604020202020204" pitchFamily="34" charset="0"/>
              </a:rPr>
              <a:t>.</a:t>
            </a:r>
          </a:p>
        </p:txBody>
      </p:sp>
      <p:sp>
        <p:nvSpPr>
          <p:cNvPr id="7" name="Text Box 5">
            <a:extLst>
              <a:ext uri="{FF2B5EF4-FFF2-40B4-BE49-F238E27FC236}">
                <a16:creationId xmlns:a16="http://schemas.microsoft.com/office/drawing/2014/main" id="{5A3A69CB-5D96-7A6F-6CF9-22ABED6681D7}"/>
              </a:ext>
            </a:extLst>
          </p:cNvPr>
          <p:cNvSpPr txBox="1">
            <a:spLocks noChangeArrowheads="1"/>
          </p:cNvSpPr>
          <p:nvPr/>
        </p:nvSpPr>
        <p:spPr bwMode="auto">
          <a:xfrm>
            <a:off x="344488" y="3494088"/>
            <a:ext cx="9120187" cy="503237"/>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a:ea typeface="MS UI Gothic" panose="020B0600070205080204" pitchFamily="34" charset="-128"/>
              </a:rPr>
              <a:t>Chữ tiếng Anh</a:t>
            </a:r>
            <a:r>
              <a:rPr lang="ja-JP" altLang="en-US" sz="2000">
                <a:ea typeface="ＭＳ ゴシック" panose="020B0609070205080204" pitchFamily="49" charset="-128"/>
              </a:rPr>
              <a:t>（</a:t>
            </a:r>
            <a:r>
              <a:rPr lang="en-US" altLang="ja-JP" sz="2000">
                <a:ea typeface="ＭＳ ゴシック" panose="020B0609070205080204" pitchFamily="49" charset="-128"/>
              </a:rPr>
              <a:t>a</a:t>
            </a:r>
            <a:r>
              <a:rPr lang="ja-JP" altLang="en-US" sz="2000">
                <a:ea typeface="ＭＳ ゴシック" panose="020B0609070205080204" pitchFamily="49" charset="-128"/>
              </a:rPr>
              <a:t>～</a:t>
            </a:r>
            <a:r>
              <a:rPr lang="en-US" altLang="ja-JP" sz="2000">
                <a:ea typeface="ＭＳ ゴシック" panose="020B0609070205080204" pitchFamily="49" charset="-128"/>
              </a:rPr>
              <a:t>z A</a:t>
            </a:r>
            <a:r>
              <a:rPr lang="ja-JP" altLang="en-US" sz="2000">
                <a:ea typeface="ＭＳ ゴシック" panose="020B0609070205080204" pitchFamily="49" charset="-128"/>
              </a:rPr>
              <a:t>～</a:t>
            </a:r>
            <a:r>
              <a:rPr lang="en-US" altLang="ja-JP" sz="2000">
                <a:ea typeface="ＭＳ ゴシック" panose="020B0609070205080204" pitchFamily="49" charset="-128"/>
              </a:rPr>
              <a:t>Z</a:t>
            </a:r>
            <a:r>
              <a:rPr lang="ja-JP" altLang="en-US" sz="2000">
                <a:ea typeface="ＭＳ ゴシック" panose="020B0609070205080204" pitchFamily="49" charset="-128"/>
              </a:rPr>
              <a:t>）</a:t>
            </a:r>
            <a:r>
              <a:rPr lang="en-US" altLang="ja-JP" sz="2000">
                <a:ea typeface="MS UI Gothic" panose="020B0600070205080204" pitchFamily="34" charset="-128"/>
              </a:rPr>
              <a:t>, Gạch nối dưới</a:t>
            </a:r>
            <a:r>
              <a:rPr lang="ja-JP" altLang="en-US" sz="2000">
                <a:ea typeface="ＭＳ ゴシック" panose="020B0609070205080204" pitchFamily="49" charset="-128"/>
              </a:rPr>
              <a:t>（ </a:t>
            </a:r>
            <a:r>
              <a:rPr lang="en-US" altLang="ja-JP" sz="2000">
                <a:ea typeface="ＭＳ ゴシック" panose="020B0609070205080204" pitchFamily="49" charset="-128"/>
              </a:rPr>
              <a:t>_ </a:t>
            </a:r>
            <a:r>
              <a:rPr lang="ja-JP" altLang="en-US" sz="2000">
                <a:ea typeface="ＭＳ ゴシック" panose="020B0609070205080204" pitchFamily="49" charset="-128"/>
              </a:rPr>
              <a:t>）</a:t>
            </a:r>
            <a:r>
              <a:rPr lang="en-US" altLang="ja-JP" sz="2000">
                <a:ea typeface="MS UI Gothic" panose="020B0600070205080204" pitchFamily="34" charset="-128"/>
              </a:rPr>
              <a:t>, ký hiệu dollar</a:t>
            </a:r>
            <a:r>
              <a:rPr lang="ja-JP" altLang="en-US" sz="2000">
                <a:ea typeface="ＭＳ ゴシック" panose="020B0609070205080204" pitchFamily="49" charset="-128"/>
              </a:rPr>
              <a:t>（</a:t>
            </a:r>
            <a:r>
              <a:rPr lang="en-US" altLang="ja-JP" sz="2000">
                <a:ea typeface="ＭＳ ゴシック" panose="020B0609070205080204" pitchFamily="49" charset="-128"/>
              </a:rPr>
              <a:t>$</a:t>
            </a:r>
            <a:r>
              <a:rPr lang="ja-JP" altLang="en-US" sz="2000">
                <a:ea typeface="ＭＳ ゴシック" panose="020B0609070205080204" pitchFamily="49" charset="-128"/>
              </a:rPr>
              <a:t>）</a:t>
            </a:r>
          </a:p>
        </p:txBody>
      </p:sp>
      <p:sp>
        <p:nvSpPr>
          <p:cNvPr id="8" name="Text Box 8">
            <a:extLst>
              <a:ext uri="{FF2B5EF4-FFF2-40B4-BE49-F238E27FC236}">
                <a16:creationId xmlns:a16="http://schemas.microsoft.com/office/drawing/2014/main" id="{1AF6FB84-7572-B0B2-87CC-07B4EC79C8AE}"/>
              </a:ext>
            </a:extLst>
          </p:cNvPr>
          <p:cNvSpPr txBox="1">
            <a:spLocks noChangeArrowheads="1"/>
          </p:cNvSpPr>
          <p:nvPr/>
        </p:nvSpPr>
        <p:spPr bwMode="auto">
          <a:xfrm>
            <a:off x="344488" y="5042755"/>
            <a:ext cx="9120187" cy="674687"/>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dirty="0" err="1">
                <a:ea typeface="MS UI Gothic" panose="020B0600070205080204" pitchFamily="34" charset="-128"/>
              </a:rPr>
              <a:t>Chư</a:t>
            </a:r>
            <a:r>
              <a:rPr lang="en-US" altLang="ja-JP" sz="2000" dirty="0">
                <a:ea typeface="MS UI Gothic" panose="020B0600070205080204" pitchFamily="34" charset="-128"/>
              </a:rPr>
              <a:t>̃ </a:t>
            </a:r>
            <a:r>
              <a:rPr lang="en-US" altLang="ja-JP" sz="2000" dirty="0" err="1">
                <a:ea typeface="MS UI Gothic" panose="020B0600070205080204" pitchFamily="34" charset="-128"/>
              </a:rPr>
              <a:t>tiếng</a:t>
            </a:r>
            <a:r>
              <a:rPr lang="en-US" altLang="ja-JP" sz="2000" dirty="0">
                <a:ea typeface="MS UI Gothic" panose="020B0600070205080204" pitchFamily="34" charset="-128"/>
              </a:rPr>
              <a:t> Anh</a:t>
            </a:r>
            <a:r>
              <a:rPr lang="ja-JP" altLang="en-US" sz="2000" dirty="0">
                <a:ea typeface="ＭＳ ゴシック" panose="020B0609070205080204" pitchFamily="49" charset="-128"/>
              </a:rPr>
              <a:t>（</a:t>
            </a:r>
            <a:r>
              <a:rPr lang="en-US" altLang="ja-JP" sz="2000" dirty="0">
                <a:ea typeface="ＭＳ ゴシック" panose="020B0609070205080204" pitchFamily="49" charset="-128"/>
              </a:rPr>
              <a:t>a</a:t>
            </a:r>
            <a:r>
              <a:rPr lang="ja-JP" altLang="en-US" sz="2000" dirty="0">
                <a:ea typeface="ＭＳ ゴシック" panose="020B0609070205080204" pitchFamily="49" charset="-128"/>
              </a:rPr>
              <a:t>～</a:t>
            </a:r>
            <a:r>
              <a:rPr lang="en-US" altLang="ja-JP" sz="2000" dirty="0">
                <a:ea typeface="ＭＳ ゴシック" panose="020B0609070205080204" pitchFamily="49" charset="-128"/>
              </a:rPr>
              <a:t>z A</a:t>
            </a:r>
            <a:r>
              <a:rPr lang="ja-JP" altLang="en-US" sz="2000" dirty="0">
                <a:ea typeface="ＭＳ ゴシック" panose="020B0609070205080204" pitchFamily="49" charset="-128"/>
              </a:rPr>
              <a:t>～</a:t>
            </a:r>
            <a:r>
              <a:rPr lang="en-US" altLang="ja-JP" sz="2000" dirty="0">
                <a:ea typeface="ＭＳ ゴシック" panose="020B0609070205080204" pitchFamily="49" charset="-128"/>
              </a:rPr>
              <a:t>Z</a:t>
            </a:r>
            <a:r>
              <a:rPr lang="ja-JP" altLang="en-US" sz="2000" dirty="0">
                <a:ea typeface="ＭＳ ゴシック" panose="020B0609070205080204" pitchFamily="49" charset="-128"/>
              </a:rPr>
              <a:t>）</a:t>
            </a:r>
            <a:r>
              <a:rPr lang="en-US" altLang="ja-JP" sz="2000" dirty="0">
                <a:ea typeface="MS UI Gothic" panose="020B0600070205080204" pitchFamily="34" charset="-128"/>
              </a:rPr>
              <a:t>, Gach </a:t>
            </a:r>
            <a:r>
              <a:rPr lang="en-US" altLang="ja-JP" sz="2000" dirty="0" err="1">
                <a:ea typeface="MS UI Gothic" panose="020B0600070205080204" pitchFamily="34" charset="-128"/>
              </a:rPr>
              <a:t>nối</a:t>
            </a:r>
            <a:r>
              <a:rPr lang="en-US" altLang="ja-JP" sz="2000" dirty="0">
                <a:ea typeface="MS UI Gothic" panose="020B0600070205080204" pitchFamily="34" charset="-128"/>
              </a:rPr>
              <a:t> </a:t>
            </a:r>
            <a:r>
              <a:rPr lang="en-US" altLang="ja-JP" sz="2000" dirty="0" err="1">
                <a:ea typeface="MS UI Gothic" panose="020B0600070205080204" pitchFamily="34" charset="-128"/>
              </a:rPr>
              <a:t>dưới</a:t>
            </a:r>
            <a:r>
              <a:rPr lang="ja-JP" altLang="en-US" sz="2000" dirty="0">
                <a:ea typeface="ＭＳ ゴシック" panose="020B0609070205080204" pitchFamily="49" charset="-128"/>
              </a:rPr>
              <a:t>（ </a:t>
            </a:r>
            <a:r>
              <a:rPr lang="en-US" altLang="ja-JP" sz="2000" dirty="0">
                <a:ea typeface="ＭＳ ゴシック" panose="020B0609070205080204" pitchFamily="49" charset="-128"/>
              </a:rPr>
              <a:t>_ </a:t>
            </a:r>
            <a:r>
              <a:rPr lang="ja-JP" altLang="en-US" sz="2000" dirty="0">
                <a:ea typeface="ＭＳ ゴシック" panose="020B0609070205080204" pitchFamily="49" charset="-128"/>
              </a:rPr>
              <a:t>）</a:t>
            </a:r>
            <a:r>
              <a:rPr lang="en-US" altLang="ja-JP" sz="2000" dirty="0">
                <a:ea typeface="MS UI Gothic" panose="020B0600070205080204" pitchFamily="34" charset="-128"/>
              </a:rPr>
              <a:t>, </a:t>
            </a:r>
            <a:r>
              <a:rPr lang="en-US" altLang="ja-JP" sz="2000" dirty="0" err="1">
                <a:ea typeface="MS UI Gothic" panose="020B0600070205080204" pitchFamily="34" charset="-128"/>
              </a:rPr>
              <a:t>ky</a:t>
            </a:r>
            <a:r>
              <a:rPr lang="en-US" altLang="ja-JP" sz="2000" dirty="0">
                <a:ea typeface="MS UI Gothic" panose="020B0600070205080204" pitchFamily="34" charset="-128"/>
              </a:rPr>
              <a:t>́ </a:t>
            </a:r>
            <a:r>
              <a:rPr lang="en-US" altLang="ja-JP" sz="2000" dirty="0" err="1">
                <a:ea typeface="MS UI Gothic" panose="020B0600070205080204" pitchFamily="34" charset="-128"/>
              </a:rPr>
              <a:t>hiệu</a:t>
            </a:r>
            <a:r>
              <a:rPr lang="en-US" altLang="ja-JP" sz="2000" dirty="0">
                <a:ea typeface="MS UI Gothic" panose="020B0600070205080204" pitchFamily="34" charset="-128"/>
              </a:rPr>
              <a:t> dollar</a:t>
            </a:r>
            <a:r>
              <a:rPr lang="ja-JP" altLang="en-US" sz="2000" dirty="0">
                <a:ea typeface="ＭＳ ゴシック" panose="020B0609070205080204" pitchFamily="49" charset="-128"/>
              </a:rPr>
              <a:t>（</a:t>
            </a:r>
            <a:r>
              <a:rPr lang="en-US" altLang="ja-JP" sz="2000" dirty="0">
                <a:ea typeface="ＭＳ ゴシック" panose="020B0609070205080204" pitchFamily="49" charset="-128"/>
              </a:rPr>
              <a:t>$</a:t>
            </a:r>
            <a:r>
              <a:rPr lang="ja-JP" altLang="en-US" sz="2000" dirty="0">
                <a:ea typeface="ＭＳ ゴシック" panose="020B0609070205080204" pitchFamily="49" charset="-128"/>
              </a:rPr>
              <a:t>）</a:t>
            </a:r>
            <a:r>
              <a:rPr lang="en-US" altLang="ja-JP" sz="2000" dirty="0">
                <a:ea typeface="MS UI Gothic" panose="020B0600070205080204" pitchFamily="34" charset="-128"/>
              </a:rPr>
              <a:t>, </a:t>
            </a:r>
            <a:r>
              <a:rPr lang="en-US" altLang="ja-JP" sz="2000" dirty="0" err="1">
                <a:ea typeface="MS UI Gothic" panose="020B0600070205080204" pitchFamily="34" charset="-128"/>
              </a:rPr>
              <a:t>Chư</a:t>
            </a:r>
            <a:r>
              <a:rPr lang="en-US" altLang="ja-JP" sz="2000" dirty="0">
                <a:ea typeface="MS UI Gothic" panose="020B0600070205080204" pitchFamily="34" charset="-128"/>
              </a:rPr>
              <a:t>̃ </a:t>
            </a:r>
            <a:r>
              <a:rPr lang="en-US" altLang="ja-JP" sz="2000" dirty="0" err="1">
                <a:ea typeface="MS UI Gothic" panose="020B0600070205080204" pitchFamily="34" charset="-128"/>
              </a:rPr>
              <a:t>sô</a:t>
            </a:r>
            <a:r>
              <a:rPr lang="en-US" altLang="ja-JP" sz="2000" dirty="0">
                <a:ea typeface="MS UI Gothic" panose="020B0600070205080204" pitchFamily="34" charset="-128"/>
              </a:rPr>
              <a:t>́</a:t>
            </a:r>
            <a:r>
              <a:rPr lang="ja-JP" altLang="en-US" sz="2000" dirty="0">
                <a:ea typeface="ＭＳ ゴシック" panose="020B0609070205080204" pitchFamily="49" charset="-128"/>
              </a:rPr>
              <a:t>（</a:t>
            </a:r>
            <a:r>
              <a:rPr lang="en-US" altLang="ja-JP" sz="2000" dirty="0">
                <a:ea typeface="ＭＳ ゴシック" panose="020B0609070205080204" pitchFamily="49" charset="-128"/>
              </a:rPr>
              <a:t>0</a:t>
            </a:r>
            <a:r>
              <a:rPr lang="ja-JP" altLang="en-US" sz="2000" dirty="0">
                <a:ea typeface="ＭＳ ゴシック" panose="020B0609070205080204" pitchFamily="49" charset="-128"/>
              </a:rPr>
              <a:t>～</a:t>
            </a:r>
            <a:r>
              <a:rPr lang="en-US" altLang="ja-JP" sz="2000" dirty="0">
                <a:ea typeface="ＭＳ ゴシック" panose="020B0609070205080204" pitchFamily="49" charset="-128"/>
              </a:rPr>
              <a:t>9</a:t>
            </a:r>
            <a:r>
              <a:rPr lang="ja-JP" altLang="en-US" sz="2000" dirty="0">
                <a:ea typeface="ＭＳ ゴシック" panose="020B0609070205080204" pitchFamily="49" charset="-128"/>
              </a:rPr>
              <a:t>）</a:t>
            </a:r>
          </a:p>
        </p:txBody>
      </p:sp>
      <p:sp>
        <p:nvSpPr>
          <p:cNvPr id="9" name="Rectangle 14">
            <a:extLst>
              <a:ext uri="{FF2B5EF4-FFF2-40B4-BE49-F238E27FC236}">
                <a16:creationId xmlns:a16="http://schemas.microsoft.com/office/drawing/2014/main" id="{D426BB46-9FD2-0710-4FD3-3E21069A07B6}"/>
              </a:ext>
            </a:extLst>
          </p:cNvPr>
          <p:cNvSpPr>
            <a:spLocks noChangeArrowheads="1"/>
          </p:cNvSpPr>
          <p:nvPr/>
        </p:nvSpPr>
        <p:spPr bwMode="auto">
          <a:xfrm>
            <a:off x="392906" y="1608931"/>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000" dirty="0" err="1">
                <a:latin typeface="Arial" panose="020B0604020202020204" pitchFamily="34" charset="0"/>
              </a:rPr>
              <a:t>Tên</a:t>
            </a:r>
            <a:r>
              <a:rPr lang="en-US" altLang="ja-JP" sz="2000" dirty="0">
                <a:latin typeface="Arial" panose="020B0604020202020204" pitchFamily="34" charset="0"/>
              </a:rPr>
              <a:t> </a:t>
            </a:r>
            <a:r>
              <a:rPr lang="en-US" altLang="ja-JP" sz="2000" dirty="0" err="1">
                <a:latin typeface="Arial" panose="020B0604020202020204" pitchFamily="34" charset="0"/>
              </a:rPr>
              <a:t>được</a:t>
            </a:r>
            <a:r>
              <a:rPr lang="en-US" altLang="ja-JP" sz="2000" dirty="0">
                <a:latin typeface="Arial" panose="020B0604020202020204" pitchFamily="34" charset="0"/>
              </a:rPr>
              <a:t> </a:t>
            </a:r>
            <a:r>
              <a:rPr lang="en-US" altLang="ja-JP" sz="2000" dirty="0" err="1">
                <a:latin typeface="Arial" panose="020B0604020202020204" pitchFamily="34" charset="0"/>
              </a:rPr>
              <a:t>đặt</a:t>
            </a:r>
            <a:r>
              <a:rPr lang="en-US" altLang="ja-JP" sz="2000" dirty="0">
                <a:latin typeface="Arial" panose="020B0604020202020204" pitchFamily="34" charset="0"/>
              </a:rPr>
              <a:t> </a:t>
            </a:r>
            <a:r>
              <a:rPr lang="en-US" altLang="ja-JP" sz="2000" dirty="0" err="1">
                <a:latin typeface="Arial" panose="020B0604020202020204" pitchFamily="34" charset="0"/>
              </a:rPr>
              <a:t>cho</a:t>
            </a:r>
            <a:r>
              <a:rPr lang="en-US" altLang="ja-JP" sz="2000" dirty="0">
                <a:latin typeface="Arial" panose="020B0604020202020204" pitchFamily="34" charset="0"/>
              </a:rPr>
              <a:t> class, </a:t>
            </a:r>
            <a:r>
              <a:rPr lang="en-US" altLang="ja-JP" sz="2000" dirty="0" err="1">
                <a:latin typeface="Arial" panose="020B0604020202020204" pitchFamily="34" charset="0"/>
              </a:rPr>
              <a:t>biến</a:t>
            </a:r>
            <a:r>
              <a:rPr lang="en-US" altLang="ja-JP" sz="2000" dirty="0">
                <a:latin typeface="Arial" panose="020B0604020202020204" pitchFamily="34" charset="0"/>
              </a:rPr>
              <a:t>, </a:t>
            </a:r>
            <a:r>
              <a:rPr lang="en-US" altLang="ja-JP" sz="2000" dirty="0" err="1">
                <a:latin typeface="Arial" panose="020B0604020202020204" pitchFamily="34" charset="0"/>
              </a:rPr>
              <a:t>method.v.v</a:t>
            </a:r>
            <a:r>
              <a:rPr lang="en-US" altLang="ja-JP" sz="2000" dirty="0">
                <a:latin typeface="Arial" panose="020B0604020202020204" pitchFamily="34" charset="0"/>
              </a:rPr>
              <a:t>…</a:t>
            </a:r>
            <a:r>
              <a:rPr lang="en-US" altLang="ja-JP" sz="2000" dirty="0" err="1">
                <a:latin typeface="Arial" panose="020B0604020202020204" pitchFamily="34" charset="0"/>
              </a:rPr>
              <a:t>trong</a:t>
            </a:r>
            <a:r>
              <a:rPr lang="en-US" altLang="ja-JP" sz="2000" dirty="0">
                <a:latin typeface="Arial" panose="020B0604020202020204" pitchFamily="34" charset="0"/>
              </a:rPr>
              <a:t> program.</a:t>
            </a:r>
          </a:p>
        </p:txBody>
      </p:sp>
      <p:sp>
        <p:nvSpPr>
          <p:cNvPr id="10" name="AutoShape 15">
            <a:extLst>
              <a:ext uri="{FF2B5EF4-FFF2-40B4-BE49-F238E27FC236}">
                <a16:creationId xmlns:a16="http://schemas.microsoft.com/office/drawing/2014/main" id="{615D9052-FE44-72E8-58D3-945C253BD691}"/>
              </a:ext>
            </a:extLst>
          </p:cNvPr>
          <p:cNvSpPr>
            <a:spLocks noChangeArrowheads="1"/>
          </p:cNvSpPr>
          <p:nvPr/>
        </p:nvSpPr>
        <p:spPr bwMode="auto">
          <a:xfrm>
            <a:off x="6019800" y="2536826"/>
            <a:ext cx="3713162" cy="868362"/>
          </a:xfrm>
          <a:prstGeom prst="wedgeRoundRectCallout">
            <a:avLst>
              <a:gd name="adj1" fmla="val -146963"/>
              <a:gd name="adj2" fmla="val -3931"/>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Nhưng</a:t>
            </a:r>
            <a:r>
              <a:rPr lang="en-US" altLang="ja-JP" sz="1800" dirty="0">
                <a:latin typeface="+mj-lt"/>
              </a:rPr>
              <a:t>, class </a:t>
            </a:r>
            <a:r>
              <a:rPr lang="en-US" altLang="ja-JP" sz="1800" dirty="0" err="1">
                <a:latin typeface="+mj-lt"/>
              </a:rPr>
              <a:t>name.v.v</a:t>
            </a:r>
            <a:r>
              <a:rPr lang="en-US" altLang="ja-JP" sz="1800" dirty="0">
                <a:latin typeface="+mj-lt"/>
              </a:rPr>
              <a:t>… có </a:t>
            </a:r>
            <a:r>
              <a:rPr lang="en-US" altLang="ja-JP" sz="1800" dirty="0" err="1">
                <a:latin typeface="+mj-lt"/>
              </a:rPr>
              <a:t>nhiều</a:t>
            </a:r>
            <a:r>
              <a:rPr lang="en-US" altLang="ja-JP" sz="1800" dirty="0">
                <a:latin typeface="+mj-lt"/>
              </a:rPr>
              <a:t> </a:t>
            </a:r>
            <a:r>
              <a:rPr lang="en-US" altLang="ja-JP" sz="1800" dirty="0" err="1">
                <a:latin typeface="+mj-lt"/>
              </a:rPr>
              <a:t>trường</a:t>
            </a:r>
            <a:r>
              <a:rPr lang="en-US" altLang="ja-JP" sz="1800" dirty="0">
                <a:latin typeface="+mj-lt"/>
              </a:rPr>
              <a:t> </a:t>
            </a:r>
            <a:r>
              <a:rPr lang="en-US" altLang="ja-JP" sz="1800" dirty="0" err="1">
                <a:latin typeface="+mj-lt"/>
              </a:rPr>
              <a:t>hợp</a:t>
            </a:r>
            <a:r>
              <a:rPr lang="en-US" altLang="ja-JP" sz="1800" dirty="0">
                <a:latin typeface="+mj-lt"/>
              </a:rPr>
              <a:t> sẽ </a:t>
            </a:r>
            <a:r>
              <a:rPr lang="en-US" altLang="ja-JP" sz="1800" dirty="0" err="1">
                <a:latin typeface="+mj-lt"/>
              </a:rPr>
              <a:t>nhận</a:t>
            </a:r>
            <a:r>
              <a:rPr lang="en-US" altLang="ja-JP" sz="1800" dirty="0">
                <a:latin typeface="+mj-lt"/>
              </a:rPr>
              <a:t> </a:t>
            </a:r>
            <a:r>
              <a:rPr lang="en-US" altLang="ja-JP" sz="1800" dirty="0" err="1">
                <a:latin typeface="+mj-lt"/>
              </a:rPr>
              <a:t>giới</a:t>
            </a:r>
            <a:r>
              <a:rPr lang="en-US" altLang="ja-JP" sz="1800" dirty="0">
                <a:latin typeface="+mj-lt"/>
              </a:rPr>
              <a:t> </a:t>
            </a:r>
            <a:r>
              <a:rPr lang="en-US" altLang="ja-JP" sz="1800" dirty="0" err="1">
                <a:latin typeface="+mj-lt"/>
              </a:rPr>
              <a:t>hạn</a:t>
            </a:r>
            <a:r>
              <a:rPr lang="en-US" altLang="ja-JP" sz="1800" dirty="0">
                <a:latin typeface="+mj-lt"/>
              </a:rPr>
              <a:t> </a:t>
            </a:r>
            <a:r>
              <a:rPr lang="en-US" altLang="ja-JP" sz="1800" dirty="0" err="1">
                <a:latin typeface="+mj-lt"/>
              </a:rPr>
              <a:t>của</a:t>
            </a:r>
            <a:r>
              <a:rPr lang="en-US" altLang="ja-JP" sz="1800" dirty="0">
                <a:latin typeface="+mj-lt"/>
              </a:rPr>
              <a:t> </a:t>
            </a:r>
            <a:r>
              <a:rPr lang="en-US" altLang="ja-JP" sz="1800" dirty="0" err="1">
                <a:latin typeface="+mj-lt"/>
              </a:rPr>
              <a:t>phía</a:t>
            </a:r>
            <a:r>
              <a:rPr lang="en-US" altLang="ja-JP" sz="1800" dirty="0">
                <a:latin typeface="+mj-lt"/>
              </a:rPr>
              <a:t> OS.</a:t>
            </a:r>
          </a:p>
        </p:txBody>
      </p:sp>
    </p:spTree>
    <p:extLst>
      <p:ext uri="{BB962C8B-B14F-4D97-AF65-F5344CB8AC3E}">
        <p14:creationId xmlns:p14="http://schemas.microsoft.com/office/powerpoint/2010/main" val="3766788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F3E606-AFAC-7B88-1AA7-D69E0E0185A5}"/>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29</a:t>
            </a:fld>
            <a:endParaRPr lang="en-US" altLang="ja-JP"/>
          </a:p>
        </p:txBody>
      </p:sp>
      <p:sp>
        <p:nvSpPr>
          <p:cNvPr id="5" name="Rectangle 2">
            <a:extLst>
              <a:ext uri="{FF2B5EF4-FFF2-40B4-BE49-F238E27FC236}">
                <a16:creationId xmlns:a16="http://schemas.microsoft.com/office/drawing/2014/main" id="{6D08D3FD-06AD-F77A-C658-66F5F066E718}"/>
              </a:ext>
            </a:extLst>
          </p:cNvPr>
          <p:cNvSpPr txBox="1">
            <a:spLocks noChangeArrowheads="1"/>
          </p:cNvSpPr>
          <p:nvPr/>
        </p:nvSpPr>
        <p:spPr bwMode="auto">
          <a:xfrm>
            <a:off x="319088" y="423863"/>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r>
              <a:rPr lang="en-US" altLang="ja-JP" b="0" kern="0" dirty="0" err="1">
                <a:latin typeface="Arial" panose="020B0604020202020204" pitchFamily="34" charset="0"/>
                <a:ea typeface="MS UI Gothic" panose="020B0600070205080204" pitchFamily="34" charset="-128"/>
              </a:rPr>
              <a:t>Kiểu</a:t>
            </a:r>
            <a:r>
              <a:rPr lang="en-US" altLang="ja-JP" b="0" kern="0" dirty="0">
                <a:latin typeface="Arial" panose="020B0604020202020204" pitchFamily="34" charset="0"/>
                <a:ea typeface="MS UI Gothic" panose="020B0600070205080204" pitchFamily="34" charset="-128"/>
              </a:rPr>
              <a:t> data</a:t>
            </a:r>
          </a:p>
        </p:txBody>
      </p:sp>
      <p:sp>
        <p:nvSpPr>
          <p:cNvPr id="6" name="Rectangle 4">
            <a:extLst>
              <a:ext uri="{FF2B5EF4-FFF2-40B4-BE49-F238E27FC236}">
                <a16:creationId xmlns:a16="http://schemas.microsoft.com/office/drawing/2014/main" id="{18AA755E-A99C-AF50-7A49-4EA7D53F7E29}"/>
              </a:ext>
            </a:extLst>
          </p:cNvPr>
          <p:cNvSpPr>
            <a:spLocks noChangeArrowheads="1"/>
          </p:cNvSpPr>
          <p:nvPr/>
        </p:nvSpPr>
        <p:spPr bwMode="auto">
          <a:xfrm>
            <a:off x="228600" y="914400"/>
            <a:ext cx="9001125" cy="443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dirty="0" err="1">
                <a:latin typeface="Arial" panose="020B0604020202020204" pitchFamily="34" charset="0"/>
              </a:rPr>
              <a:t>Kiểu</a:t>
            </a:r>
            <a:r>
              <a:rPr lang="en-US" altLang="ja-JP" sz="2400" b="0" dirty="0">
                <a:latin typeface="Arial" panose="020B0604020202020204" pitchFamily="34" charset="0"/>
              </a:rPr>
              <a:t> data </a:t>
            </a:r>
            <a:r>
              <a:rPr lang="en-US" altLang="ja-JP" sz="2400" b="0" dirty="0" err="1">
                <a:latin typeface="Arial" panose="020B0604020202020204" pitchFamily="34" charset="0"/>
              </a:rPr>
              <a:t>cơ</a:t>
            </a:r>
            <a:r>
              <a:rPr lang="en-US" altLang="ja-JP" sz="2400" b="0" dirty="0">
                <a:latin typeface="Arial" panose="020B0604020202020204" pitchFamily="34" charset="0"/>
              </a:rPr>
              <a:t> </a:t>
            </a:r>
            <a:r>
              <a:rPr lang="en-US" altLang="ja-JP" sz="2400" b="0" dirty="0" err="1">
                <a:latin typeface="Arial" panose="020B0604020202020204" pitchFamily="34" charset="0"/>
              </a:rPr>
              <a:t>bản</a:t>
            </a:r>
            <a:endParaRPr lang="en-US" altLang="ja-JP" sz="2400" b="0" dirty="0">
              <a:latin typeface="Arial" panose="020B0604020202020204" pitchFamily="34" charset="0"/>
            </a:endParaRPr>
          </a:p>
        </p:txBody>
      </p:sp>
      <p:graphicFrame>
        <p:nvGraphicFramePr>
          <p:cNvPr id="7" name="Group 209">
            <a:extLst>
              <a:ext uri="{FF2B5EF4-FFF2-40B4-BE49-F238E27FC236}">
                <a16:creationId xmlns:a16="http://schemas.microsoft.com/office/drawing/2014/main" id="{816ED866-7A1C-1FC1-F780-883CDCC70918}"/>
              </a:ext>
            </a:extLst>
          </p:cNvPr>
          <p:cNvGraphicFramePr>
            <a:graphicFrameLocks/>
          </p:cNvGraphicFramePr>
          <p:nvPr>
            <p:extLst>
              <p:ext uri="{D42A27DB-BD31-4B8C-83A1-F6EECF244321}">
                <p14:modId xmlns:p14="http://schemas.microsoft.com/office/powerpoint/2010/main" val="1458709906"/>
              </p:ext>
            </p:extLst>
          </p:nvPr>
        </p:nvGraphicFramePr>
        <p:xfrm>
          <a:off x="357188" y="1344613"/>
          <a:ext cx="9178925" cy="5193983"/>
        </p:xfrm>
        <a:graphic>
          <a:graphicData uri="http://schemas.openxmlformats.org/drawingml/2006/table">
            <a:tbl>
              <a:tblPr/>
              <a:tblGrid>
                <a:gridCol w="1287462">
                  <a:extLst>
                    <a:ext uri="{9D8B030D-6E8A-4147-A177-3AD203B41FA5}">
                      <a16:colId xmlns:a16="http://schemas.microsoft.com/office/drawing/2014/main" val="2165350655"/>
                    </a:ext>
                  </a:extLst>
                </a:gridCol>
                <a:gridCol w="1120775">
                  <a:extLst>
                    <a:ext uri="{9D8B030D-6E8A-4147-A177-3AD203B41FA5}">
                      <a16:colId xmlns:a16="http://schemas.microsoft.com/office/drawing/2014/main" val="130678064"/>
                    </a:ext>
                  </a:extLst>
                </a:gridCol>
                <a:gridCol w="996950">
                  <a:extLst>
                    <a:ext uri="{9D8B030D-6E8A-4147-A177-3AD203B41FA5}">
                      <a16:colId xmlns:a16="http://schemas.microsoft.com/office/drawing/2014/main" val="1408876364"/>
                    </a:ext>
                  </a:extLst>
                </a:gridCol>
                <a:gridCol w="4483100">
                  <a:extLst>
                    <a:ext uri="{9D8B030D-6E8A-4147-A177-3AD203B41FA5}">
                      <a16:colId xmlns:a16="http://schemas.microsoft.com/office/drawing/2014/main" val="3597855077"/>
                    </a:ext>
                  </a:extLst>
                </a:gridCol>
                <a:gridCol w="1290638">
                  <a:extLst>
                    <a:ext uri="{9D8B030D-6E8A-4147-A177-3AD203B41FA5}">
                      <a16:colId xmlns:a16="http://schemas.microsoft.com/office/drawing/2014/main" val="1458178298"/>
                    </a:ext>
                  </a:extLst>
                </a:gridCol>
              </a:tblGrid>
              <a:tr h="433388">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Kiểu data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Size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Giá trị hữu hiệu</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Giá trị default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366374330"/>
                  </a:ext>
                </a:extLst>
              </a:tr>
              <a:tr h="466725">
                <a:tc rowSpan="4">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Số nguyên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1 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-128</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127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s-E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0</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753829"/>
                  </a:ext>
                </a:extLst>
              </a:tr>
              <a:tr h="466725">
                <a:tc vMerge="1">
                  <a:txBody>
                    <a:bodyPr/>
                    <a:lstStyle/>
                    <a:p>
                      <a:endParaRPr 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short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2 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-32768</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32767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s-E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0</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07072497"/>
                  </a:ext>
                </a:extLst>
              </a:tr>
              <a:tr h="466725">
                <a:tc vMerge="1">
                  <a:txBody>
                    <a:bodyPr/>
                    <a:lstStyle/>
                    <a:p>
                      <a:endParaRPr 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4 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-2147483648</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2147483647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s-E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0</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30484697"/>
                  </a:ext>
                </a:extLst>
              </a:tr>
              <a:tr h="766763">
                <a:tc vMerge="1">
                  <a:txBody>
                    <a:bodyPr/>
                    <a:lstStyle/>
                    <a:p>
                      <a:endParaRPr 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8 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-9223372036854775808L</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9223372036854775807L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s-E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0L</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88798251"/>
                  </a:ext>
                </a:extLst>
              </a:tr>
              <a:tr h="434975">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Số thập phân dấu phẩy động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4 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Số dấu phẩy động 32 bít dựa theo IEEE754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s-E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0.0f</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1608531"/>
                  </a:ext>
                </a:extLst>
              </a:tr>
              <a:tr h="466725">
                <a:tc vMerge="1">
                  <a:txBody>
                    <a:bodyPr/>
                    <a:lstStyle/>
                    <a:p>
                      <a:endParaRPr 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8 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Số dấu phẩy động 64 bít dựa theo IEEE754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s-E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0.0d</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0614708"/>
                  </a:ext>
                </a:extLst>
              </a:tr>
              <a:tr h="466725">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Giá trị đúng sai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 hoặc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s-E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false</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46314460"/>
                  </a:ext>
                </a:extLst>
              </a:tr>
              <a:tr h="466725">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Ký tự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char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2 byte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1 ký tự Unicode</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\u0000</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\uFFFF</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s-E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\u0000</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2884637"/>
                  </a:ext>
                </a:extLst>
              </a:tr>
            </a:tbl>
          </a:graphicData>
        </a:graphic>
      </p:graphicFrame>
    </p:spTree>
    <p:extLst>
      <p:ext uri="{BB962C8B-B14F-4D97-AF65-F5344CB8AC3E}">
        <p14:creationId xmlns:p14="http://schemas.microsoft.com/office/powerpoint/2010/main" val="3737015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0B5080-7E95-8ABD-555C-7D6E1D25BE2F}"/>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30</a:t>
            </a:fld>
            <a:endParaRPr lang="en-US" altLang="ja-JP"/>
          </a:p>
        </p:txBody>
      </p:sp>
      <p:sp>
        <p:nvSpPr>
          <p:cNvPr id="5" name="Rectangle 2">
            <a:extLst>
              <a:ext uri="{FF2B5EF4-FFF2-40B4-BE49-F238E27FC236}">
                <a16:creationId xmlns:a16="http://schemas.microsoft.com/office/drawing/2014/main" id="{4C682FCE-1698-0D3F-78D1-9B8A167D7C30}"/>
              </a:ext>
            </a:extLst>
          </p:cNvPr>
          <p:cNvSpPr txBox="1">
            <a:spLocks noChangeArrowheads="1"/>
          </p:cNvSpPr>
          <p:nvPr/>
        </p:nvSpPr>
        <p:spPr bwMode="auto">
          <a:xfrm>
            <a:off x="326903" y="441325"/>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r>
              <a:rPr lang="en-US" altLang="ja-JP" b="0" kern="0" dirty="0">
                <a:latin typeface="Arial" panose="020B0604020202020204" pitchFamily="34" charset="0"/>
              </a:rPr>
              <a:t>Literal</a:t>
            </a:r>
            <a:endParaRPr lang="en-US" altLang="ja-JP" b="0" kern="0" dirty="0">
              <a:latin typeface="Arial" panose="020B0604020202020204" pitchFamily="34" charset="0"/>
              <a:ea typeface="MS UI Gothic" panose="020B0600070205080204" pitchFamily="34" charset="-128"/>
            </a:endParaRPr>
          </a:p>
        </p:txBody>
      </p:sp>
      <p:sp>
        <p:nvSpPr>
          <p:cNvPr id="6" name="Rectangle 4">
            <a:extLst>
              <a:ext uri="{FF2B5EF4-FFF2-40B4-BE49-F238E27FC236}">
                <a16:creationId xmlns:a16="http://schemas.microsoft.com/office/drawing/2014/main" id="{99B57FB4-6449-2266-3F27-745F2FC090C2}"/>
              </a:ext>
            </a:extLst>
          </p:cNvPr>
          <p:cNvSpPr>
            <a:spLocks noChangeArrowheads="1"/>
          </p:cNvSpPr>
          <p:nvPr/>
        </p:nvSpPr>
        <p:spPr bwMode="auto">
          <a:xfrm>
            <a:off x="344488" y="891381"/>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dirty="0">
                <a:latin typeface="Arial" panose="020B0604020202020204" pitchFamily="34" charset="0"/>
              </a:rPr>
              <a:t>Literal là</a:t>
            </a:r>
          </a:p>
          <a:p>
            <a:endParaRPr lang="en-US" altLang="ja-JP" sz="2400" b="0" dirty="0">
              <a:latin typeface="Arial" panose="020B0604020202020204" pitchFamily="34" charset="0"/>
            </a:endParaRPr>
          </a:p>
          <a:p>
            <a:endParaRPr lang="en-US" altLang="ja-JP" sz="2400" b="0" dirty="0">
              <a:latin typeface="Arial" panose="020B0604020202020204" pitchFamily="34" charset="0"/>
            </a:endParaRPr>
          </a:p>
          <a:p>
            <a:r>
              <a:rPr lang="en-US" altLang="ja-JP" sz="2400" b="0" dirty="0">
                <a:latin typeface="Arial" panose="020B0604020202020204" pitchFamily="34" charset="0"/>
              </a:rPr>
              <a:t>Ví dụ </a:t>
            </a:r>
            <a:r>
              <a:rPr lang="en-US" altLang="ja-JP" sz="2400" b="0" dirty="0" err="1">
                <a:latin typeface="Arial" panose="020B0604020202020204" pitchFamily="34" charset="0"/>
              </a:rPr>
              <a:t>của</a:t>
            </a:r>
            <a:r>
              <a:rPr lang="en-US" altLang="ja-JP" sz="2400" b="0" dirty="0">
                <a:latin typeface="Arial" panose="020B0604020202020204" pitchFamily="34" charset="0"/>
              </a:rPr>
              <a:t> literal</a:t>
            </a:r>
          </a:p>
        </p:txBody>
      </p:sp>
      <p:graphicFrame>
        <p:nvGraphicFramePr>
          <p:cNvPr id="7" name="Group 109">
            <a:extLst>
              <a:ext uri="{FF2B5EF4-FFF2-40B4-BE49-F238E27FC236}">
                <a16:creationId xmlns:a16="http://schemas.microsoft.com/office/drawing/2014/main" id="{633E94B4-BC54-39A2-461A-C4DA8C539CEE}"/>
              </a:ext>
            </a:extLst>
          </p:cNvPr>
          <p:cNvGraphicFramePr>
            <a:graphicFrameLocks/>
          </p:cNvGraphicFramePr>
          <p:nvPr>
            <p:extLst>
              <p:ext uri="{D42A27DB-BD31-4B8C-83A1-F6EECF244321}">
                <p14:modId xmlns:p14="http://schemas.microsoft.com/office/powerpoint/2010/main" val="2167231906"/>
              </p:ext>
            </p:extLst>
          </p:nvPr>
        </p:nvGraphicFramePr>
        <p:xfrm>
          <a:off x="666750" y="2593975"/>
          <a:ext cx="8523288" cy="3449638"/>
        </p:xfrm>
        <a:graphic>
          <a:graphicData uri="http://schemas.openxmlformats.org/drawingml/2006/table">
            <a:tbl>
              <a:tblPr/>
              <a:tblGrid>
                <a:gridCol w="1641475">
                  <a:extLst>
                    <a:ext uri="{9D8B030D-6E8A-4147-A177-3AD203B41FA5}">
                      <a16:colId xmlns:a16="http://schemas.microsoft.com/office/drawing/2014/main" val="92925211"/>
                    </a:ext>
                  </a:extLst>
                </a:gridCol>
                <a:gridCol w="1978025">
                  <a:extLst>
                    <a:ext uri="{9D8B030D-6E8A-4147-A177-3AD203B41FA5}">
                      <a16:colId xmlns:a16="http://schemas.microsoft.com/office/drawing/2014/main" val="3710100861"/>
                    </a:ext>
                  </a:extLst>
                </a:gridCol>
                <a:gridCol w="4903788">
                  <a:extLst>
                    <a:ext uri="{9D8B030D-6E8A-4147-A177-3AD203B41FA5}">
                      <a16:colId xmlns:a16="http://schemas.microsoft.com/office/drawing/2014/main" val="2703211533"/>
                    </a:ext>
                  </a:extLst>
                </a:gridCol>
              </a:tblGrid>
              <a:tr h="407988">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Kiểu</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Ví dụ</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(Giá trị cụ thể)</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647868320"/>
                  </a:ext>
                </a:extLst>
              </a:tr>
              <a:tr h="425450">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Số nguyên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66013389"/>
                  </a:ext>
                </a:extLst>
              </a:tr>
              <a:tr h="425450">
                <a:tc vMerge="1">
                  <a:txBody>
                    <a:bodyPr/>
                    <a:lstStyle/>
                    <a:p>
                      <a:endParaRPr 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long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2147483648L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91440430"/>
                  </a:ext>
                </a:extLst>
              </a:tr>
              <a:tr h="425450">
                <a:tc rowSpan="2">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Số thập phân dấu phẩy động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float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2.345F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0569741"/>
                  </a:ext>
                </a:extLst>
              </a:tr>
              <a:tr h="425450">
                <a:tc vMerge="1">
                  <a:txBody>
                    <a:bodyPr/>
                    <a:lstStyle/>
                    <a:p>
                      <a:endParaRPr lang="en-US"/>
                    </a:p>
                  </a:txBody>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double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1.234</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hoặc</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1.234D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69160485"/>
                  </a:ext>
                </a:extLst>
              </a:tr>
              <a:tr h="425450">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boolean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89677015"/>
                  </a:ext>
                </a:extLst>
              </a:tr>
              <a:tr h="425450">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Ký tự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char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3818521"/>
                  </a:ext>
                </a:extLst>
              </a:tr>
              <a:tr h="425450">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Chuỗi ký tự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String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"Hello World!", "</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山田　太郎</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34" charset="-128"/>
                        </a:rPr>
                        <a:t>(Yamada Taro)"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80532692"/>
                  </a:ext>
                </a:extLst>
              </a:tr>
            </a:tbl>
          </a:graphicData>
        </a:graphic>
      </p:graphicFrame>
      <p:sp>
        <p:nvSpPr>
          <p:cNvPr id="8" name="Rectangle 99">
            <a:extLst>
              <a:ext uri="{FF2B5EF4-FFF2-40B4-BE49-F238E27FC236}">
                <a16:creationId xmlns:a16="http://schemas.microsoft.com/office/drawing/2014/main" id="{AAD917C1-9E9D-11FC-9D03-1825333248A1}"/>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000">
                <a:latin typeface="Arial" panose="020B0604020202020204" pitchFamily="34" charset="0"/>
              </a:rPr>
              <a:t>Cái để ghi giá trị cụ thể của giá trị số và ký tự vào program</a:t>
            </a:r>
          </a:p>
        </p:txBody>
      </p:sp>
    </p:spTree>
    <p:extLst>
      <p:ext uri="{BB962C8B-B14F-4D97-AF65-F5344CB8AC3E}">
        <p14:creationId xmlns:p14="http://schemas.microsoft.com/office/powerpoint/2010/main" val="11417698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A0AAF2-C69C-8864-DDE4-9E6D421110E4}"/>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31</a:t>
            </a:fld>
            <a:endParaRPr lang="en-US" altLang="ja-JP"/>
          </a:p>
        </p:txBody>
      </p:sp>
      <p:sp>
        <p:nvSpPr>
          <p:cNvPr id="5" name="Rectangle 2">
            <a:extLst>
              <a:ext uri="{FF2B5EF4-FFF2-40B4-BE49-F238E27FC236}">
                <a16:creationId xmlns:a16="http://schemas.microsoft.com/office/drawing/2014/main" id="{DAF58DB2-B12F-4B30-D714-AAA94481012A}"/>
              </a:ext>
            </a:extLst>
          </p:cNvPr>
          <p:cNvSpPr txBox="1">
            <a:spLocks noChangeArrowheads="1"/>
          </p:cNvSpPr>
          <p:nvPr/>
        </p:nvSpPr>
        <p:spPr bwMode="auto">
          <a:xfrm>
            <a:off x="247650" y="400974"/>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r>
              <a:rPr lang="en-US" altLang="ja-JP" b="0" kern="0" dirty="0" err="1">
                <a:latin typeface="Arial" panose="020B0604020202020204" pitchFamily="34" charset="0"/>
                <a:ea typeface="MS UI Gothic" panose="020B0600070205080204" pitchFamily="34" charset="-128"/>
              </a:rPr>
              <a:t>Biến</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sô</a:t>
            </a:r>
            <a:r>
              <a:rPr lang="en-US" altLang="ja-JP" b="0" kern="0" dirty="0">
                <a:latin typeface="Arial" panose="020B0604020202020204" pitchFamily="34" charset="0"/>
                <a:ea typeface="MS UI Gothic" panose="020B0600070205080204" pitchFamily="34" charset="-128"/>
              </a:rPr>
              <a:t>́(1)</a:t>
            </a:r>
          </a:p>
        </p:txBody>
      </p:sp>
      <p:sp>
        <p:nvSpPr>
          <p:cNvPr id="6" name="Rectangle 4">
            <a:extLst>
              <a:ext uri="{FF2B5EF4-FFF2-40B4-BE49-F238E27FC236}">
                <a16:creationId xmlns:a16="http://schemas.microsoft.com/office/drawing/2014/main" id="{C55AC6E1-6468-EAA8-8486-D1876E0D1458}"/>
              </a:ext>
            </a:extLst>
          </p:cNvPr>
          <p:cNvSpPr>
            <a:spLocks noChangeArrowheads="1"/>
          </p:cNvSpPr>
          <p:nvPr/>
        </p:nvSpPr>
        <p:spPr bwMode="auto">
          <a:xfrm>
            <a:off x="304800" y="905432"/>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dirty="0" err="1">
                <a:latin typeface="Arial" panose="020B0604020202020204" pitchFamily="34" charset="0"/>
              </a:rPr>
              <a:t>Biến</a:t>
            </a:r>
            <a:r>
              <a:rPr lang="en-US" altLang="ja-JP" sz="2400" b="0" dirty="0">
                <a:latin typeface="Arial" panose="020B0604020202020204" pitchFamily="34" charset="0"/>
              </a:rPr>
              <a:t> </a:t>
            </a:r>
            <a:r>
              <a:rPr lang="en-US" altLang="ja-JP" sz="2400" b="0" dirty="0" err="1">
                <a:latin typeface="Arial" panose="020B0604020202020204" pitchFamily="34" charset="0"/>
              </a:rPr>
              <a:t>sô</a:t>
            </a:r>
            <a:r>
              <a:rPr lang="en-US" altLang="ja-JP" sz="2400" b="0" dirty="0">
                <a:latin typeface="Arial" panose="020B0604020202020204" pitchFamily="34" charset="0"/>
              </a:rPr>
              <a:t>́ là</a:t>
            </a:r>
          </a:p>
        </p:txBody>
      </p:sp>
      <p:sp>
        <p:nvSpPr>
          <p:cNvPr id="7" name="Rectangle 18">
            <a:extLst>
              <a:ext uri="{FF2B5EF4-FFF2-40B4-BE49-F238E27FC236}">
                <a16:creationId xmlns:a16="http://schemas.microsoft.com/office/drawing/2014/main" id="{C86220C8-5C68-5743-62FF-40297135277E}"/>
              </a:ext>
            </a:extLst>
          </p:cNvPr>
          <p:cNvSpPr>
            <a:spLocks noChangeArrowheads="1"/>
          </p:cNvSpPr>
          <p:nvPr/>
        </p:nvSpPr>
        <p:spPr bwMode="auto">
          <a:xfrm>
            <a:off x="344488" y="13208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000">
                <a:latin typeface="Arial" panose="020B0604020202020204" pitchFamily="34" charset="0"/>
              </a:rPr>
              <a:t>Vật chứa để cho các giá trị như giá trị số và ký tự vào</a:t>
            </a:r>
          </a:p>
        </p:txBody>
      </p:sp>
      <p:grpSp>
        <p:nvGrpSpPr>
          <p:cNvPr id="8" name="Group 111">
            <a:extLst>
              <a:ext uri="{FF2B5EF4-FFF2-40B4-BE49-F238E27FC236}">
                <a16:creationId xmlns:a16="http://schemas.microsoft.com/office/drawing/2014/main" id="{108C9FAD-8CA3-3CD3-384E-89EEA293C9FF}"/>
              </a:ext>
            </a:extLst>
          </p:cNvPr>
          <p:cNvGrpSpPr>
            <a:grpSpLocks/>
          </p:cNvGrpSpPr>
          <p:nvPr/>
        </p:nvGrpSpPr>
        <p:grpSpPr bwMode="auto">
          <a:xfrm>
            <a:off x="306388" y="1927225"/>
            <a:ext cx="9158287" cy="4478338"/>
            <a:chOff x="193" y="1214"/>
            <a:chExt cx="5769" cy="2821"/>
          </a:xfrm>
        </p:grpSpPr>
        <p:sp>
          <p:nvSpPr>
            <p:cNvPr id="9" name="Rectangle 20">
              <a:extLst>
                <a:ext uri="{FF2B5EF4-FFF2-40B4-BE49-F238E27FC236}">
                  <a16:creationId xmlns:a16="http://schemas.microsoft.com/office/drawing/2014/main" id="{ABFA1683-2803-A620-FD78-6F19CDBC0C48}"/>
                </a:ext>
              </a:extLst>
            </p:cNvPr>
            <p:cNvSpPr>
              <a:spLocks noChangeArrowheads="1"/>
            </p:cNvSpPr>
            <p:nvPr/>
          </p:nvSpPr>
          <p:spPr bwMode="auto">
            <a:xfrm>
              <a:off x="217" y="1552"/>
              <a:ext cx="5745" cy="248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38">
              <a:extLst>
                <a:ext uri="{FF2B5EF4-FFF2-40B4-BE49-F238E27FC236}">
                  <a16:creationId xmlns:a16="http://schemas.microsoft.com/office/drawing/2014/main" id="{074B1F86-6522-7656-EE27-4D310EC4E09E}"/>
                </a:ext>
              </a:extLst>
            </p:cNvPr>
            <p:cNvSpPr>
              <a:spLocks noChangeArrowheads="1"/>
            </p:cNvSpPr>
            <p:nvPr/>
          </p:nvSpPr>
          <p:spPr bwMode="auto">
            <a:xfrm>
              <a:off x="193" y="1253"/>
              <a:ext cx="5606"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400" b="0">
                  <a:latin typeface="Arial" panose="020B0604020202020204" pitchFamily="34" charset="0"/>
                </a:rPr>
                <a:t>■Ví dụ của kiểu data của biến số</a:t>
              </a:r>
            </a:p>
          </p:txBody>
        </p:sp>
        <p:grpSp>
          <p:nvGrpSpPr>
            <p:cNvPr id="11" name="Group 82">
              <a:extLst>
                <a:ext uri="{FF2B5EF4-FFF2-40B4-BE49-F238E27FC236}">
                  <a16:creationId xmlns:a16="http://schemas.microsoft.com/office/drawing/2014/main" id="{1F5F39BF-AB25-81CF-50A0-B48FEFD43823}"/>
                </a:ext>
              </a:extLst>
            </p:cNvPr>
            <p:cNvGrpSpPr>
              <a:grpSpLocks/>
            </p:cNvGrpSpPr>
            <p:nvPr/>
          </p:nvGrpSpPr>
          <p:grpSpPr bwMode="auto">
            <a:xfrm>
              <a:off x="1606" y="1939"/>
              <a:ext cx="4217" cy="1018"/>
              <a:chOff x="1614" y="1826"/>
              <a:chExt cx="4457" cy="1076"/>
            </a:xfrm>
          </p:grpSpPr>
          <p:grpSp>
            <p:nvGrpSpPr>
              <p:cNvPr id="28" name="Group 39">
                <a:extLst>
                  <a:ext uri="{FF2B5EF4-FFF2-40B4-BE49-F238E27FC236}">
                    <a16:creationId xmlns:a16="http://schemas.microsoft.com/office/drawing/2014/main" id="{DD5796C7-D6C2-8004-0E56-AE215522E652}"/>
                  </a:ext>
                </a:extLst>
              </p:cNvPr>
              <p:cNvGrpSpPr>
                <a:grpSpLocks/>
              </p:cNvGrpSpPr>
              <p:nvPr/>
            </p:nvGrpSpPr>
            <p:grpSpPr bwMode="auto">
              <a:xfrm>
                <a:off x="2570" y="2151"/>
                <a:ext cx="689" cy="613"/>
                <a:chOff x="2588" y="2366"/>
                <a:chExt cx="824" cy="710"/>
              </a:xfrm>
            </p:grpSpPr>
            <p:sp>
              <p:nvSpPr>
                <p:cNvPr id="38" name="AutoShape 31">
                  <a:extLst>
                    <a:ext uri="{FF2B5EF4-FFF2-40B4-BE49-F238E27FC236}">
                      <a16:creationId xmlns:a16="http://schemas.microsoft.com/office/drawing/2014/main" id="{7636C194-0CA8-DAE6-3A13-3C88A2A6F74E}"/>
                    </a:ext>
                  </a:extLst>
                </p:cNvPr>
                <p:cNvSpPr>
                  <a:spLocks noChangeArrowheads="1"/>
                </p:cNvSpPr>
                <p:nvPr/>
              </p:nvSpPr>
              <p:spPr bwMode="auto">
                <a:xfrm>
                  <a:off x="2594" y="2370"/>
                  <a:ext cx="806" cy="706"/>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AutoShape 32">
                  <a:extLst>
                    <a:ext uri="{FF2B5EF4-FFF2-40B4-BE49-F238E27FC236}">
                      <a16:creationId xmlns:a16="http://schemas.microsoft.com/office/drawing/2014/main" id="{BDE6432F-97AF-D0D4-2152-A4A3B9556CB8}"/>
                    </a:ext>
                  </a:extLst>
                </p:cNvPr>
                <p:cNvSpPr>
                  <a:spLocks noChangeArrowheads="1"/>
                </p:cNvSpPr>
                <p:nvPr/>
              </p:nvSpPr>
              <p:spPr bwMode="auto">
                <a:xfrm>
                  <a:off x="2588" y="2366"/>
                  <a:ext cx="824" cy="174"/>
                </a:xfrm>
                <a:prstGeom prst="parallelogram">
                  <a:avLst>
                    <a:gd name="adj" fmla="val 109775"/>
                  </a:avLst>
                </a:prstGeom>
                <a:solidFill>
                  <a:schemeClr val="tx2">
                    <a:alpha val="30000"/>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9" name="Text Box 33">
                <a:extLst>
                  <a:ext uri="{FF2B5EF4-FFF2-40B4-BE49-F238E27FC236}">
                    <a16:creationId xmlns:a16="http://schemas.microsoft.com/office/drawing/2014/main" id="{D0118E5C-F498-2F16-8BB4-328D974F47CA}"/>
                  </a:ext>
                </a:extLst>
              </p:cNvPr>
              <p:cNvSpPr txBox="1">
                <a:spLocks noChangeArrowheads="1"/>
              </p:cNvSpPr>
              <p:nvPr/>
            </p:nvSpPr>
            <p:spPr bwMode="auto">
              <a:xfrm>
                <a:off x="2588" y="2440"/>
                <a:ext cx="951" cy="246"/>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800" b="0" dirty="0" err="1">
                    <a:latin typeface="+mj-lt"/>
                  </a:rPr>
                  <a:t>Biến</a:t>
                </a:r>
                <a:r>
                  <a:rPr lang="en-US" altLang="ja-JP" sz="1800" b="0" dirty="0">
                    <a:latin typeface="+mj-lt"/>
                  </a:rPr>
                  <a:t> </a:t>
                </a:r>
                <a:r>
                  <a:rPr lang="en-US" altLang="ja-JP" sz="1800" b="0" dirty="0" err="1">
                    <a:latin typeface="+mj-lt"/>
                  </a:rPr>
                  <a:t>sô</a:t>
                </a:r>
                <a:r>
                  <a:rPr lang="en-US" altLang="ja-JP" sz="1800" b="0" dirty="0">
                    <a:latin typeface="+mj-lt"/>
                  </a:rPr>
                  <a:t>́</a:t>
                </a:r>
              </a:p>
            </p:txBody>
          </p:sp>
          <p:sp>
            <p:nvSpPr>
              <p:cNvPr id="30" name="Text Box 34">
                <a:extLst>
                  <a:ext uri="{FF2B5EF4-FFF2-40B4-BE49-F238E27FC236}">
                    <a16:creationId xmlns:a16="http://schemas.microsoft.com/office/drawing/2014/main" id="{78791D5B-6BA7-8C35-A4C4-AB5F10ABD706}"/>
                  </a:ext>
                </a:extLst>
              </p:cNvPr>
              <p:cNvSpPr txBox="1">
                <a:spLocks noChangeArrowheads="1"/>
              </p:cNvSpPr>
              <p:nvPr/>
            </p:nvSpPr>
            <p:spPr bwMode="auto">
              <a:xfrm>
                <a:off x="1614" y="2287"/>
                <a:ext cx="576" cy="244"/>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800" b="0" dirty="0"/>
                  <a:t>100</a:t>
                </a:r>
              </a:p>
            </p:txBody>
          </p:sp>
          <p:cxnSp>
            <p:nvCxnSpPr>
              <p:cNvPr id="31" name="AutoShape 36">
                <a:extLst>
                  <a:ext uri="{FF2B5EF4-FFF2-40B4-BE49-F238E27FC236}">
                    <a16:creationId xmlns:a16="http://schemas.microsoft.com/office/drawing/2014/main" id="{482B8508-84F0-F4E3-5C6F-BF427A38CFC0}"/>
                  </a:ext>
                </a:extLst>
              </p:cNvPr>
              <p:cNvCxnSpPr>
                <a:cxnSpLocks noChangeShapeType="1"/>
              </p:cNvCxnSpPr>
              <p:nvPr/>
            </p:nvCxnSpPr>
            <p:spPr bwMode="auto">
              <a:xfrm rot="16200000">
                <a:off x="2251" y="1685"/>
                <a:ext cx="164" cy="1081"/>
              </a:xfrm>
              <a:prstGeom prst="bentConnector3">
                <a:avLst>
                  <a:gd name="adj1" fmla="val 214023"/>
                </a:avLst>
              </a:prstGeom>
              <a:noFill/>
              <a:ln w="22225">
                <a:solidFill>
                  <a:srgbClr val="0000FF"/>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Text Box 41">
                <a:extLst>
                  <a:ext uri="{FF2B5EF4-FFF2-40B4-BE49-F238E27FC236}">
                    <a16:creationId xmlns:a16="http://schemas.microsoft.com/office/drawing/2014/main" id="{77839AB8-9616-4DD9-4F80-AC263D6FDCFB}"/>
                  </a:ext>
                </a:extLst>
              </p:cNvPr>
              <p:cNvSpPr txBox="1">
                <a:spLocks noChangeArrowheads="1"/>
              </p:cNvSpPr>
              <p:nvPr/>
            </p:nvSpPr>
            <p:spPr bwMode="auto">
              <a:xfrm>
                <a:off x="3609" y="2287"/>
                <a:ext cx="2462" cy="615"/>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800" b="0" dirty="0"/>
                  <a:t>　</a:t>
                </a:r>
                <a:r>
                  <a:rPr lang="en-US" altLang="ja-JP" sz="1800" b="0" dirty="0"/>
                  <a:t>"Hello World!"</a:t>
                </a:r>
                <a:br>
                  <a:rPr lang="en-US" altLang="ja-JP" sz="1800" b="0" dirty="0"/>
                </a:br>
                <a:r>
                  <a:rPr lang="ja-JP" altLang="en-US" sz="1800" b="0" dirty="0"/>
                  <a:t>　</a:t>
                </a:r>
                <a:r>
                  <a:rPr lang="en-US" altLang="en-US" sz="1800" b="0" dirty="0"/>
                  <a:t>3000000000</a:t>
                </a:r>
                <a:br>
                  <a:rPr lang="en-US" altLang="ja-JP" sz="1800" b="0" dirty="0"/>
                </a:br>
                <a:r>
                  <a:rPr lang="ja-JP" altLang="en-US" sz="1800" b="0" dirty="0"/>
                  <a:t>　</a:t>
                </a:r>
                <a:r>
                  <a:rPr lang="en-US" altLang="ja-JP" sz="1800" b="0" dirty="0"/>
                  <a:t>true v.v...</a:t>
                </a:r>
              </a:p>
            </p:txBody>
          </p:sp>
          <p:cxnSp>
            <p:nvCxnSpPr>
              <p:cNvPr id="33" name="AutoShape 42">
                <a:extLst>
                  <a:ext uri="{FF2B5EF4-FFF2-40B4-BE49-F238E27FC236}">
                    <a16:creationId xmlns:a16="http://schemas.microsoft.com/office/drawing/2014/main" id="{EB603C43-B2B7-1CE1-CE72-3D5609786A24}"/>
                  </a:ext>
                </a:extLst>
              </p:cNvPr>
              <p:cNvCxnSpPr>
                <a:cxnSpLocks noChangeShapeType="1"/>
                <a:stCxn id="32" idx="0"/>
                <a:endCxn id="39" idx="0"/>
              </p:cNvCxnSpPr>
              <p:nvPr/>
            </p:nvCxnSpPr>
            <p:spPr bwMode="auto">
              <a:xfrm rot="16200000" flipV="1">
                <a:off x="3809" y="1256"/>
                <a:ext cx="136" cy="1925"/>
              </a:xfrm>
              <a:prstGeom prst="bentConnector3">
                <a:avLst>
                  <a:gd name="adj1" fmla="val 211915"/>
                </a:avLst>
              </a:prstGeom>
              <a:noFill/>
              <a:ln w="22225">
                <a:solidFill>
                  <a:srgbClr val="0000FF"/>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Oval 44">
                <a:extLst>
                  <a:ext uri="{FF2B5EF4-FFF2-40B4-BE49-F238E27FC236}">
                    <a16:creationId xmlns:a16="http://schemas.microsoft.com/office/drawing/2014/main" id="{51AF5A56-5F92-D770-E4EC-700D7A648BFF}"/>
                  </a:ext>
                </a:extLst>
              </p:cNvPr>
              <p:cNvSpPr>
                <a:spLocks noChangeArrowheads="1"/>
              </p:cNvSpPr>
              <p:nvPr/>
            </p:nvSpPr>
            <p:spPr bwMode="auto">
              <a:xfrm>
                <a:off x="2188" y="1828"/>
                <a:ext cx="291" cy="277"/>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5" name="Group 47">
                <a:extLst>
                  <a:ext uri="{FF2B5EF4-FFF2-40B4-BE49-F238E27FC236}">
                    <a16:creationId xmlns:a16="http://schemas.microsoft.com/office/drawing/2014/main" id="{2B18F79E-B435-8467-E651-054017184331}"/>
                  </a:ext>
                </a:extLst>
              </p:cNvPr>
              <p:cNvGrpSpPr>
                <a:grpSpLocks/>
              </p:cNvGrpSpPr>
              <p:nvPr/>
            </p:nvGrpSpPr>
            <p:grpSpPr bwMode="auto">
              <a:xfrm>
                <a:off x="3459" y="1826"/>
                <a:ext cx="243" cy="243"/>
                <a:chOff x="3438" y="1406"/>
                <a:chExt cx="243" cy="243"/>
              </a:xfrm>
            </p:grpSpPr>
            <p:sp>
              <p:nvSpPr>
                <p:cNvPr id="36" name="Line 45">
                  <a:extLst>
                    <a:ext uri="{FF2B5EF4-FFF2-40B4-BE49-F238E27FC236}">
                      <a16:creationId xmlns:a16="http://schemas.microsoft.com/office/drawing/2014/main" id="{2447EE42-3466-4A1C-F060-B00EEB70812F}"/>
                    </a:ext>
                  </a:extLst>
                </p:cNvPr>
                <p:cNvSpPr>
                  <a:spLocks noChangeShapeType="1"/>
                </p:cNvSpPr>
                <p:nvPr/>
              </p:nvSpPr>
              <p:spPr bwMode="auto">
                <a:xfrm>
                  <a:off x="3442" y="1406"/>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46">
                  <a:extLst>
                    <a:ext uri="{FF2B5EF4-FFF2-40B4-BE49-F238E27FC236}">
                      <a16:creationId xmlns:a16="http://schemas.microsoft.com/office/drawing/2014/main" id="{9980C95F-EC29-A042-9EF8-2DEA754DCA07}"/>
                    </a:ext>
                  </a:extLst>
                </p:cNvPr>
                <p:cNvSpPr>
                  <a:spLocks noChangeShapeType="1"/>
                </p:cNvSpPr>
                <p:nvPr/>
              </p:nvSpPr>
              <p:spPr bwMode="auto">
                <a:xfrm flipH="1">
                  <a:off x="3438" y="1409"/>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12" name="AutoShape 65">
              <a:extLst>
                <a:ext uri="{FF2B5EF4-FFF2-40B4-BE49-F238E27FC236}">
                  <a16:creationId xmlns:a16="http://schemas.microsoft.com/office/drawing/2014/main" id="{48C14BDB-4B5A-B84D-4D34-5BA90D26CA7D}"/>
                </a:ext>
              </a:extLst>
            </p:cNvPr>
            <p:cNvSpPr>
              <a:spLocks noChangeArrowheads="1"/>
            </p:cNvSpPr>
            <p:nvPr/>
          </p:nvSpPr>
          <p:spPr bwMode="auto">
            <a:xfrm>
              <a:off x="3584" y="1214"/>
              <a:ext cx="2214" cy="478"/>
            </a:xfrm>
            <a:prstGeom prst="wedgeRoundRectCallout">
              <a:avLst>
                <a:gd name="adj1" fmla="val -43676"/>
                <a:gd name="adj2" fmla="val 120500"/>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800" b="0" dirty="0" err="1">
                  <a:latin typeface="+mj-lt"/>
                </a:rPr>
                <a:t>Nếu</a:t>
              </a:r>
              <a:r>
                <a:rPr lang="en-US" altLang="ja-JP" sz="1800" b="0" dirty="0">
                  <a:latin typeface="+mj-lt"/>
                </a:rPr>
                <a:t> mà </a:t>
              </a:r>
              <a:r>
                <a:rPr lang="en-US" altLang="ja-JP" sz="1800" b="0" dirty="0" err="1">
                  <a:latin typeface="+mj-lt"/>
                </a:rPr>
                <a:t>lưu</a:t>
              </a:r>
              <a:r>
                <a:rPr lang="en-US" altLang="ja-JP" sz="1800" b="0" dirty="0">
                  <a:latin typeface="+mj-lt"/>
                </a:rPr>
                <a:t> </a:t>
              </a:r>
              <a:r>
                <a:rPr lang="en-US" altLang="ja-JP" sz="1800" b="0" dirty="0" err="1">
                  <a:latin typeface="+mj-lt"/>
                </a:rPr>
                <a:t>các</a:t>
              </a:r>
              <a:r>
                <a:rPr lang="en-US" altLang="ja-JP" sz="1800" b="0" dirty="0">
                  <a:latin typeface="+mj-lt"/>
                </a:rPr>
                <a:t> data </a:t>
              </a:r>
              <a:r>
                <a:rPr lang="en-US" altLang="ja-JP" sz="1800" b="0" dirty="0" err="1">
                  <a:latin typeface="+mj-lt"/>
                </a:rPr>
                <a:t>không</a:t>
              </a:r>
              <a:r>
                <a:rPr lang="en-US" altLang="ja-JP" sz="1800" b="0" dirty="0">
                  <a:latin typeface="+mj-lt"/>
                </a:rPr>
                <a:t> </a:t>
              </a:r>
              <a:r>
                <a:rPr lang="en-US" altLang="ja-JP" sz="1800" b="0" dirty="0" err="1">
                  <a:latin typeface="+mj-lt"/>
                </a:rPr>
                <a:t>đúng</a:t>
              </a:r>
              <a:r>
                <a:rPr lang="en-US" altLang="ja-JP" sz="1800" b="0" dirty="0">
                  <a:latin typeface="+mj-lt"/>
                </a:rPr>
                <a:t> </a:t>
              </a:r>
              <a:r>
                <a:rPr lang="en-US" altLang="ja-JP" sz="1800" b="0" dirty="0" err="1">
                  <a:latin typeface="+mj-lt"/>
                </a:rPr>
                <a:t>vào</a:t>
              </a:r>
              <a:r>
                <a:rPr lang="en-US" altLang="ja-JP" sz="1800" b="0" dirty="0">
                  <a:latin typeface="+mj-lt"/>
                </a:rPr>
                <a:t> </a:t>
              </a:r>
              <a:r>
                <a:rPr lang="en-US" altLang="ja-JP" sz="1800" b="0" dirty="0" err="1">
                  <a:latin typeface="+mj-lt"/>
                </a:rPr>
                <a:t>thi</a:t>
              </a:r>
              <a:r>
                <a:rPr lang="en-US" altLang="ja-JP" sz="1800" b="0" dirty="0">
                  <a:latin typeface="+mj-lt"/>
                </a:rPr>
                <a:t>̀ sẽ bị compile error.</a:t>
              </a:r>
            </a:p>
          </p:txBody>
        </p:sp>
        <p:sp>
          <p:nvSpPr>
            <p:cNvPr id="13" name="Rectangle 96">
              <a:extLst>
                <a:ext uri="{FF2B5EF4-FFF2-40B4-BE49-F238E27FC236}">
                  <a16:creationId xmlns:a16="http://schemas.microsoft.com/office/drawing/2014/main" id="{32B83BEA-4416-03D9-1ACB-849B946B58FB}"/>
                </a:ext>
              </a:extLst>
            </p:cNvPr>
            <p:cNvSpPr>
              <a:spLocks noChangeArrowheads="1"/>
            </p:cNvSpPr>
            <p:nvPr/>
          </p:nvSpPr>
          <p:spPr bwMode="auto">
            <a:xfrm>
              <a:off x="193" y="1709"/>
              <a:ext cx="5606"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1800" b="0">
                  <a:latin typeface="Arial" panose="020B0604020202020204" pitchFamily="34" charset="0"/>
                </a:rPr>
                <a:t>●Biến số kiểu số nguyên(</a:t>
              </a:r>
              <a:r>
                <a:rPr lang="en-US" altLang="ja-JP" sz="1800" b="0">
                  <a:latin typeface="Arial" panose="020B0604020202020204" pitchFamily="34" charset="0"/>
                  <a:ea typeface="ＭＳ ゴシック" panose="020B0609070205080204" pitchFamily="49" charset="-128"/>
                </a:rPr>
                <a:t>int</a:t>
              </a:r>
              <a:r>
                <a:rPr lang="en-US" altLang="ja-JP" sz="1800" b="0">
                  <a:latin typeface="Arial" panose="020B0604020202020204" pitchFamily="34" charset="0"/>
                </a:rPr>
                <a:t>)</a:t>
              </a:r>
              <a:endParaRPr lang="en-US" altLang="ja-JP" sz="2400" b="0">
                <a:latin typeface="Arial" panose="020B0604020202020204" pitchFamily="34" charset="0"/>
              </a:endParaRPr>
            </a:p>
          </p:txBody>
        </p:sp>
        <p:sp>
          <p:nvSpPr>
            <p:cNvPr id="14" name="Rectangle 97">
              <a:extLst>
                <a:ext uri="{FF2B5EF4-FFF2-40B4-BE49-F238E27FC236}">
                  <a16:creationId xmlns:a16="http://schemas.microsoft.com/office/drawing/2014/main" id="{A916C1E9-EFC1-C560-B507-46CC7C78D174}"/>
                </a:ext>
              </a:extLst>
            </p:cNvPr>
            <p:cNvSpPr>
              <a:spLocks noChangeArrowheads="1"/>
            </p:cNvSpPr>
            <p:nvPr/>
          </p:nvSpPr>
          <p:spPr bwMode="auto">
            <a:xfrm>
              <a:off x="193" y="2805"/>
              <a:ext cx="5606"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1800" b="0">
                  <a:latin typeface="Arial" panose="020B0604020202020204" pitchFamily="34" charset="0"/>
                </a:rPr>
                <a:t>●Biến số kiểu ký tự(</a:t>
              </a:r>
              <a:r>
                <a:rPr lang="en-US" altLang="ja-JP" sz="1800" b="0">
                  <a:latin typeface="Arial" panose="020B0604020202020204" pitchFamily="34" charset="0"/>
                  <a:ea typeface="ＭＳ ゴシック" panose="020B0609070205080204" pitchFamily="49" charset="-128"/>
                </a:rPr>
                <a:t>char</a:t>
              </a:r>
              <a:r>
                <a:rPr lang="en-US" altLang="ja-JP" sz="1800" b="0">
                  <a:latin typeface="Arial" panose="020B0604020202020204" pitchFamily="34" charset="0"/>
                </a:rPr>
                <a:t>)</a:t>
              </a:r>
              <a:endParaRPr lang="en-US" altLang="ja-JP" sz="2400" b="0">
                <a:latin typeface="Arial" panose="020B0604020202020204" pitchFamily="34" charset="0"/>
              </a:endParaRPr>
            </a:p>
          </p:txBody>
        </p:sp>
        <p:grpSp>
          <p:nvGrpSpPr>
            <p:cNvPr id="15" name="Group 98">
              <a:extLst>
                <a:ext uri="{FF2B5EF4-FFF2-40B4-BE49-F238E27FC236}">
                  <a16:creationId xmlns:a16="http://schemas.microsoft.com/office/drawing/2014/main" id="{0BB4F215-F9AB-79C2-F306-60D93F42173D}"/>
                </a:ext>
              </a:extLst>
            </p:cNvPr>
            <p:cNvGrpSpPr>
              <a:grpSpLocks/>
            </p:cNvGrpSpPr>
            <p:nvPr/>
          </p:nvGrpSpPr>
          <p:grpSpPr bwMode="auto">
            <a:xfrm>
              <a:off x="1606" y="2987"/>
              <a:ext cx="4154" cy="1018"/>
              <a:chOff x="1614" y="1826"/>
              <a:chExt cx="4390" cy="1076"/>
            </a:xfrm>
          </p:grpSpPr>
          <p:grpSp>
            <p:nvGrpSpPr>
              <p:cNvPr id="16" name="Group 99">
                <a:extLst>
                  <a:ext uri="{FF2B5EF4-FFF2-40B4-BE49-F238E27FC236}">
                    <a16:creationId xmlns:a16="http://schemas.microsoft.com/office/drawing/2014/main" id="{8C518CCB-1F6B-E034-8351-AA76AB82A2EC}"/>
                  </a:ext>
                </a:extLst>
              </p:cNvPr>
              <p:cNvGrpSpPr>
                <a:grpSpLocks/>
              </p:cNvGrpSpPr>
              <p:nvPr/>
            </p:nvGrpSpPr>
            <p:grpSpPr bwMode="auto">
              <a:xfrm>
                <a:off x="2570" y="2151"/>
                <a:ext cx="689" cy="613"/>
                <a:chOff x="2588" y="2366"/>
                <a:chExt cx="824" cy="710"/>
              </a:xfrm>
            </p:grpSpPr>
            <p:sp>
              <p:nvSpPr>
                <p:cNvPr id="26" name="AutoShape 100">
                  <a:extLst>
                    <a:ext uri="{FF2B5EF4-FFF2-40B4-BE49-F238E27FC236}">
                      <a16:creationId xmlns:a16="http://schemas.microsoft.com/office/drawing/2014/main" id="{20D79BAD-2CB0-ACBE-9C97-2216791E8BC6}"/>
                    </a:ext>
                  </a:extLst>
                </p:cNvPr>
                <p:cNvSpPr>
                  <a:spLocks noChangeArrowheads="1"/>
                </p:cNvSpPr>
                <p:nvPr/>
              </p:nvSpPr>
              <p:spPr bwMode="auto">
                <a:xfrm>
                  <a:off x="2594" y="2370"/>
                  <a:ext cx="806" cy="706"/>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AutoShape 101">
                  <a:extLst>
                    <a:ext uri="{FF2B5EF4-FFF2-40B4-BE49-F238E27FC236}">
                      <a16:creationId xmlns:a16="http://schemas.microsoft.com/office/drawing/2014/main" id="{C23C02AA-6330-8B13-9976-CDFA68C7BF86}"/>
                    </a:ext>
                  </a:extLst>
                </p:cNvPr>
                <p:cNvSpPr>
                  <a:spLocks noChangeArrowheads="1"/>
                </p:cNvSpPr>
                <p:nvPr/>
              </p:nvSpPr>
              <p:spPr bwMode="auto">
                <a:xfrm>
                  <a:off x="2588" y="2366"/>
                  <a:ext cx="824" cy="174"/>
                </a:xfrm>
                <a:prstGeom prst="parallelogram">
                  <a:avLst>
                    <a:gd name="adj" fmla="val 109775"/>
                  </a:avLst>
                </a:prstGeom>
                <a:solidFill>
                  <a:schemeClr val="tx2">
                    <a:alpha val="30000"/>
                  </a:scheme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7" name="Text Box 102">
                <a:extLst>
                  <a:ext uri="{FF2B5EF4-FFF2-40B4-BE49-F238E27FC236}">
                    <a16:creationId xmlns:a16="http://schemas.microsoft.com/office/drawing/2014/main" id="{A1C85BF8-C835-8F4E-B1DC-D02CBAA6B4C9}"/>
                  </a:ext>
                </a:extLst>
              </p:cNvPr>
              <p:cNvSpPr txBox="1">
                <a:spLocks noChangeArrowheads="1"/>
              </p:cNvSpPr>
              <p:nvPr/>
            </p:nvSpPr>
            <p:spPr bwMode="auto">
              <a:xfrm>
                <a:off x="2658" y="2405"/>
                <a:ext cx="470" cy="42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dirty="0" err="1">
                    <a:latin typeface="+mj-lt"/>
                  </a:rPr>
                  <a:t>Biến</a:t>
                </a:r>
                <a:r>
                  <a:rPr lang="en-US" altLang="ja-JP" sz="1800" b="0" dirty="0">
                    <a:latin typeface="+mj-lt"/>
                  </a:rPr>
                  <a:t> </a:t>
                </a:r>
                <a:r>
                  <a:rPr lang="en-US" altLang="ja-JP" sz="1800" b="0" dirty="0" err="1">
                    <a:latin typeface="+mj-lt"/>
                  </a:rPr>
                  <a:t>sô</a:t>
                </a:r>
                <a:r>
                  <a:rPr lang="en-US" altLang="ja-JP" sz="1800" b="0" dirty="0">
                    <a:latin typeface="+mj-lt"/>
                  </a:rPr>
                  <a:t>́</a:t>
                </a:r>
              </a:p>
            </p:txBody>
          </p:sp>
          <p:sp>
            <p:nvSpPr>
              <p:cNvPr id="18" name="Text Box 103">
                <a:extLst>
                  <a:ext uri="{FF2B5EF4-FFF2-40B4-BE49-F238E27FC236}">
                    <a16:creationId xmlns:a16="http://schemas.microsoft.com/office/drawing/2014/main" id="{C295B783-5FD7-2FFD-D56C-8C3E85AB1435}"/>
                  </a:ext>
                </a:extLst>
              </p:cNvPr>
              <p:cNvSpPr txBox="1">
                <a:spLocks noChangeArrowheads="1"/>
              </p:cNvSpPr>
              <p:nvPr/>
            </p:nvSpPr>
            <p:spPr bwMode="auto">
              <a:xfrm>
                <a:off x="1614" y="2287"/>
                <a:ext cx="458" cy="244"/>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t>'a'</a:t>
                </a:r>
              </a:p>
            </p:txBody>
          </p:sp>
          <p:cxnSp>
            <p:nvCxnSpPr>
              <p:cNvPr id="19" name="AutoShape 104">
                <a:extLst>
                  <a:ext uri="{FF2B5EF4-FFF2-40B4-BE49-F238E27FC236}">
                    <a16:creationId xmlns:a16="http://schemas.microsoft.com/office/drawing/2014/main" id="{49285305-8D04-F464-645B-54B89A1BCAF1}"/>
                  </a:ext>
                </a:extLst>
              </p:cNvPr>
              <p:cNvCxnSpPr>
                <a:cxnSpLocks noChangeShapeType="1"/>
              </p:cNvCxnSpPr>
              <p:nvPr/>
            </p:nvCxnSpPr>
            <p:spPr bwMode="auto">
              <a:xfrm rot="16200000">
                <a:off x="2251" y="1685"/>
                <a:ext cx="164" cy="1081"/>
              </a:xfrm>
              <a:prstGeom prst="bentConnector3">
                <a:avLst>
                  <a:gd name="adj1" fmla="val 214023"/>
                </a:avLst>
              </a:prstGeom>
              <a:noFill/>
              <a:ln w="22225">
                <a:solidFill>
                  <a:srgbClr val="0000FF"/>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 Box 105">
                <a:extLst>
                  <a:ext uri="{FF2B5EF4-FFF2-40B4-BE49-F238E27FC236}">
                    <a16:creationId xmlns:a16="http://schemas.microsoft.com/office/drawing/2014/main" id="{511C4C4E-0487-2A2B-B97E-D8B668EA3A9C}"/>
                  </a:ext>
                </a:extLst>
              </p:cNvPr>
              <p:cNvSpPr txBox="1">
                <a:spLocks noChangeArrowheads="1"/>
              </p:cNvSpPr>
              <p:nvPr/>
            </p:nvSpPr>
            <p:spPr bwMode="auto">
              <a:xfrm>
                <a:off x="3609" y="2287"/>
                <a:ext cx="2395" cy="615"/>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800" b="0" dirty="0"/>
                  <a:t>　</a:t>
                </a:r>
                <a:r>
                  <a:rPr lang="en-US" altLang="ja-JP" sz="1800" b="0" dirty="0"/>
                  <a:t>"Hello World!"</a:t>
                </a:r>
                <a:br>
                  <a:rPr lang="en-US" altLang="ja-JP" sz="1800" b="0" dirty="0"/>
                </a:br>
                <a:r>
                  <a:rPr lang="ja-JP" altLang="en-US" sz="1800" b="0" dirty="0"/>
                  <a:t>　</a:t>
                </a:r>
                <a:r>
                  <a:rPr lang="en-US" altLang="ja-JP" sz="1800" b="0" dirty="0"/>
                  <a:t>123.45</a:t>
                </a:r>
                <a:br>
                  <a:rPr lang="en-US" altLang="ja-JP" sz="1800" b="0" dirty="0"/>
                </a:br>
                <a:r>
                  <a:rPr lang="ja-JP" altLang="en-US" sz="1800" b="0" dirty="0"/>
                  <a:t>　</a:t>
                </a:r>
                <a:r>
                  <a:rPr lang="en-US" altLang="ja-JP" sz="1800" b="0" dirty="0"/>
                  <a:t>true </a:t>
                </a:r>
                <a:r>
                  <a:rPr lang="en-US" altLang="ja-JP" sz="1800" b="0" dirty="0" err="1"/>
                  <a:t>v.v</a:t>
                </a:r>
                <a:r>
                  <a:rPr lang="en-US" altLang="ja-JP" sz="1800" b="0" dirty="0"/>
                  <a:t>…</a:t>
                </a:r>
              </a:p>
            </p:txBody>
          </p:sp>
          <p:cxnSp>
            <p:nvCxnSpPr>
              <p:cNvPr id="21" name="AutoShape 106">
                <a:extLst>
                  <a:ext uri="{FF2B5EF4-FFF2-40B4-BE49-F238E27FC236}">
                    <a16:creationId xmlns:a16="http://schemas.microsoft.com/office/drawing/2014/main" id="{6E15139F-6656-BEFD-4928-928B7B4EE8EC}"/>
                  </a:ext>
                </a:extLst>
              </p:cNvPr>
              <p:cNvCxnSpPr>
                <a:cxnSpLocks noChangeShapeType="1"/>
                <a:stCxn id="20" idx="0"/>
                <a:endCxn id="27" idx="0"/>
              </p:cNvCxnSpPr>
              <p:nvPr/>
            </p:nvCxnSpPr>
            <p:spPr bwMode="auto">
              <a:xfrm rot="16200000" flipV="1">
                <a:off x="3793" y="1273"/>
                <a:ext cx="136" cy="1892"/>
              </a:xfrm>
              <a:prstGeom prst="bentConnector3">
                <a:avLst>
                  <a:gd name="adj1" fmla="val 211915"/>
                </a:avLst>
              </a:prstGeom>
              <a:noFill/>
              <a:ln w="22225">
                <a:solidFill>
                  <a:srgbClr val="0000FF"/>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Oval 107">
                <a:extLst>
                  <a:ext uri="{FF2B5EF4-FFF2-40B4-BE49-F238E27FC236}">
                    <a16:creationId xmlns:a16="http://schemas.microsoft.com/office/drawing/2014/main" id="{050171A2-0E14-900B-53A9-FEE75A592522}"/>
                  </a:ext>
                </a:extLst>
              </p:cNvPr>
              <p:cNvSpPr>
                <a:spLocks noChangeArrowheads="1"/>
              </p:cNvSpPr>
              <p:nvPr/>
            </p:nvSpPr>
            <p:spPr bwMode="auto">
              <a:xfrm>
                <a:off x="2188" y="1828"/>
                <a:ext cx="291" cy="277"/>
              </a:xfrm>
              <a:prstGeom prst="ellipse">
                <a:avLst/>
              </a:prstGeom>
              <a:noFill/>
              <a:ln w="28575" algn="ctr">
                <a:solidFill>
                  <a:srgbClr val="E10000"/>
                </a:solidFill>
                <a:round/>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3" name="Group 108">
                <a:extLst>
                  <a:ext uri="{FF2B5EF4-FFF2-40B4-BE49-F238E27FC236}">
                    <a16:creationId xmlns:a16="http://schemas.microsoft.com/office/drawing/2014/main" id="{F445C5E9-1EE1-7C55-B127-94C3BB53A1F8}"/>
                  </a:ext>
                </a:extLst>
              </p:cNvPr>
              <p:cNvGrpSpPr>
                <a:grpSpLocks/>
              </p:cNvGrpSpPr>
              <p:nvPr/>
            </p:nvGrpSpPr>
            <p:grpSpPr bwMode="auto">
              <a:xfrm>
                <a:off x="3459" y="1826"/>
                <a:ext cx="243" cy="243"/>
                <a:chOff x="3438" y="1406"/>
                <a:chExt cx="243" cy="243"/>
              </a:xfrm>
            </p:grpSpPr>
            <p:sp>
              <p:nvSpPr>
                <p:cNvPr id="24" name="Line 109">
                  <a:extLst>
                    <a:ext uri="{FF2B5EF4-FFF2-40B4-BE49-F238E27FC236}">
                      <a16:creationId xmlns:a16="http://schemas.microsoft.com/office/drawing/2014/main" id="{30C9BCDB-5719-6FB6-F839-D76427239073}"/>
                    </a:ext>
                  </a:extLst>
                </p:cNvPr>
                <p:cNvSpPr>
                  <a:spLocks noChangeShapeType="1"/>
                </p:cNvSpPr>
                <p:nvPr/>
              </p:nvSpPr>
              <p:spPr bwMode="auto">
                <a:xfrm>
                  <a:off x="3442" y="1406"/>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110">
                  <a:extLst>
                    <a:ext uri="{FF2B5EF4-FFF2-40B4-BE49-F238E27FC236}">
                      <a16:creationId xmlns:a16="http://schemas.microsoft.com/office/drawing/2014/main" id="{95CF54E8-EF6B-F04C-306E-45665D0A89C4}"/>
                    </a:ext>
                  </a:extLst>
                </p:cNvPr>
                <p:cNvSpPr>
                  <a:spLocks noChangeShapeType="1"/>
                </p:cNvSpPr>
                <p:nvPr/>
              </p:nvSpPr>
              <p:spPr bwMode="auto">
                <a:xfrm flipH="1">
                  <a:off x="3438" y="1409"/>
                  <a:ext cx="239" cy="240"/>
                </a:xfrm>
                <a:prstGeom prst="line">
                  <a:avLst/>
                </a:prstGeom>
                <a:noFill/>
                <a:ln w="28575">
                  <a:solidFill>
                    <a:srgbClr val="E1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spTree>
    <p:extLst>
      <p:ext uri="{BB962C8B-B14F-4D97-AF65-F5344CB8AC3E}">
        <p14:creationId xmlns:p14="http://schemas.microsoft.com/office/powerpoint/2010/main" val="25836700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6C6562-F008-CD76-5B9E-00D272048FA8}"/>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32</a:t>
            </a:fld>
            <a:endParaRPr lang="en-US" altLang="ja-JP"/>
          </a:p>
        </p:txBody>
      </p:sp>
      <p:sp>
        <p:nvSpPr>
          <p:cNvPr id="5" name="Text Box 2">
            <a:extLst>
              <a:ext uri="{FF2B5EF4-FFF2-40B4-BE49-F238E27FC236}">
                <a16:creationId xmlns:a16="http://schemas.microsoft.com/office/drawing/2014/main" id="{EB069836-0C57-58F5-03D5-19D1AF21421D}"/>
              </a:ext>
            </a:extLst>
          </p:cNvPr>
          <p:cNvSpPr txBox="1">
            <a:spLocks noChangeArrowheads="1"/>
          </p:cNvSpPr>
          <p:nvPr/>
        </p:nvSpPr>
        <p:spPr bwMode="auto">
          <a:xfrm>
            <a:off x="344488" y="2498725"/>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ja-JP" altLang="en-US" sz="2000">
                <a:ea typeface="MS UI Gothic" panose="020B0600070205080204" pitchFamily="34" charset="-128"/>
              </a:rPr>
              <a:t>　</a:t>
            </a:r>
            <a:r>
              <a:rPr lang="en-US" altLang="ja-JP" sz="2000">
                <a:ea typeface="MS UI Gothic" panose="020B0600070205080204" pitchFamily="34" charset="-128"/>
              </a:rPr>
              <a:t>Kiểu data  tên biến  </a:t>
            </a:r>
            <a:r>
              <a:rPr lang="en-US" altLang="ja-JP" sz="2000">
                <a:ea typeface="ＭＳ ゴシック" panose="020B0609070205080204" pitchFamily="49" charset="-128"/>
              </a:rPr>
              <a:t>=</a:t>
            </a:r>
            <a:r>
              <a:rPr lang="en-US" altLang="ja-JP" sz="2000">
                <a:ea typeface="MS UI Gothic" panose="020B0600070205080204" pitchFamily="34" charset="-128"/>
              </a:rPr>
              <a:t>  giá trị khởi tạo</a:t>
            </a:r>
            <a:r>
              <a:rPr lang="en-US" altLang="ja-JP" sz="2000">
                <a:ea typeface="ＭＳ ゴシック" panose="020B0609070205080204" pitchFamily="49" charset="-128"/>
              </a:rPr>
              <a:t>;</a:t>
            </a:r>
          </a:p>
        </p:txBody>
      </p:sp>
      <p:sp>
        <p:nvSpPr>
          <p:cNvPr id="6" name="Rectangle 3">
            <a:extLst>
              <a:ext uri="{FF2B5EF4-FFF2-40B4-BE49-F238E27FC236}">
                <a16:creationId xmlns:a16="http://schemas.microsoft.com/office/drawing/2014/main" id="{BA82102C-FDE3-00EC-BD14-C1A6627EE2DD}"/>
              </a:ext>
            </a:extLst>
          </p:cNvPr>
          <p:cNvSpPr txBox="1">
            <a:spLocks noChangeArrowheads="1"/>
          </p:cNvSpPr>
          <p:nvPr/>
        </p:nvSpPr>
        <p:spPr bwMode="auto">
          <a:xfrm>
            <a:off x="296068" y="408782"/>
            <a:ext cx="9217025"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kumimoji="1" sz="3600">
                <a:solidFill>
                  <a:schemeClr val="tx2"/>
                </a:solidFill>
                <a:latin typeface="+mj-lt"/>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r>
              <a:rPr lang="en-US" altLang="ja-JP" b="0" kern="0" dirty="0" err="1">
                <a:latin typeface="Arial" panose="020B0604020202020204" pitchFamily="34" charset="0"/>
                <a:ea typeface="MS UI Gothic" panose="020B0600070205080204" pitchFamily="34" charset="-128"/>
              </a:rPr>
              <a:t>Biến</a:t>
            </a:r>
            <a:r>
              <a:rPr lang="en-US" altLang="ja-JP" b="0" kern="0" dirty="0">
                <a:latin typeface="Arial" panose="020B0604020202020204" pitchFamily="34" charset="0"/>
                <a:ea typeface="MS UI Gothic" panose="020B0600070205080204" pitchFamily="34" charset="-128"/>
              </a:rPr>
              <a:t> </a:t>
            </a:r>
            <a:r>
              <a:rPr lang="en-US" altLang="ja-JP" b="0" kern="0" dirty="0" err="1">
                <a:latin typeface="Arial" panose="020B0604020202020204" pitchFamily="34" charset="0"/>
                <a:ea typeface="MS UI Gothic" panose="020B0600070205080204" pitchFamily="34" charset="-128"/>
              </a:rPr>
              <a:t>sô</a:t>
            </a:r>
            <a:r>
              <a:rPr lang="en-US" altLang="ja-JP" b="0" kern="0" dirty="0">
                <a:latin typeface="Arial" panose="020B0604020202020204" pitchFamily="34" charset="0"/>
                <a:ea typeface="MS UI Gothic" panose="020B0600070205080204" pitchFamily="34" charset="-128"/>
              </a:rPr>
              <a:t>́(2)</a:t>
            </a:r>
          </a:p>
        </p:txBody>
      </p:sp>
      <p:sp>
        <p:nvSpPr>
          <p:cNvPr id="7" name="Rectangle 5">
            <a:extLst>
              <a:ext uri="{FF2B5EF4-FFF2-40B4-BE49-F238E27FC236}">
                <a16:creationId xmlns:a16="http://schemas.microsoft.com/office/drawing/2014/main" id="{CCEE5137-010F-331F-CF40-CC0DE21F9AED}"/>
              </a:ext>
            </a:extLst>
          </p:cNvPr>
          <p:cNvSpPr>
            <a:spLocks noChangeArrowheads="1"/>
          </p:cNvSpPr>
          <p:nvPr/>
        </p:nvSpPr>
        <p:spPr bwMode="auto">
          <a:xfrm>
            <a:off x="344488" y="956469"/>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dirty="0">
                <a:latin typeface="Arial" panose="020B0604020202020204" pitchFamily="34" charset="0"/>
              </a:rPr>
              <a:t>Khai </a:t>
            </a:r>
            <a:r>
              <a:rPr lang="en-US" altLang="ja-JP" sz="2400" b="0" dirty="0" err="1">
                <a:latin typeface="Arial" panose="020B0604020202020204" pitchFamily="34" charset="0"/>
              </a:rPr>
              <a:t>báo</a:t>
            </a:r>
            <a:r>
              <a:rPr lang="en-US" altLang="ja-JP" sz="2400" b="0" dirty="0">
                <a:latin typeface="Arial" panose="020B0604020202020204" pitchFamily="34" charset="0"/>
              </a:rPr>
              <a:t> </a:t>
            </a:r>
            <a:r>
              <a:rPr lang="en-US" altLang="ja-JP" sz="2400" b="0" dirty="0" err="1">
                <a:latin typeface="Arial" panose="020B0604020202020204" pitchFamily="34" charset="0"/>
              </a:rPr>
              <a:t>biến</a:t>
            </a:r>
            <a:endParaRPr lang="en-US" altLang="ja-JP" sz="2400" b="0" dirty="0">
              <a:latin typeface="Arial" panose="020B0604020202020204" pitchFamily="34" charset="0"/>
            </a:endParaRPr>
          </a:p>
          <a:p>
            <a:pPr>
              <a:spcBef>
                <a:spcPct val="50000"/>
              </a:spcBef>
              <a:buFont typeface="Wingdings" panose="05000000000000000000" pitchFamily="2" charset="2"/>
              <a:buNone/>
            </a:pPr>
            <a:r>
              <a:rPr lang="en-US" altLang="ja-JP" sz="2000" b="0" dirty="0">
                <a:latin typeface="Arial" panose="020B0604020202020204" pitchFamily="34" charset="0"/>
              </a:rPr>
              <a:t>●Cú </a:t>
            </a:r>
            <a:r>
              <a:rPr lang="en-US" altLang="ja-JP" sz="2000" b="0" dirty="0" err="1">
                <a:latin typeface="Arial" panose="020B0604020202020204" pitchFamily="34" charset="0"/>
              </a:rPr>
              <a:t>pháp</a:t>
            </a:r>
            <a:r>
              <a:rPr lang="en-US" altLang="ja-JP" sz="2000" b="0" dirty="0">
                <a:latin typeface="Arial" panose="020B0604020202020204" pitchFamily="34" charset="0"/>
              </a:rPr>
              <a:t> </a:t>
            </a:r>
            <a:r>
              <a:rPr lang="en-US" altLang="ja-JP" sz="2000" b="0" dirty="0" err="1">
                <a:latin typeface="Arial" panose="020B0604020202020204" pitchFamily="34" charset="0"/>
              </a:rPr>
              <a:t>cơ</a:t>
            </a:r>
            <a:r>
              <a:rPr lang="en-US" altLang="ja-JP" sz="2000" b="0" dirty="0">
                <a:latin typeface="Arial" panose="020B0604020202020204" pitchFamily="34" charset="0"/>
              </a:rPr>
              <a:t> </a:t>
            </a:r>
            <a:r>
              <a:rPr lang="en-US" altLang="ja-JP" sz="2000" b="0" dirty="0" err="1">
                <a:latin typeface="Arial" panose="020B0604020202020204" pitchFamily="34" charset="0"/>
              </a:rPr>
              <a:t>bản</a:t>
            </a:r>
            <a:endParaRPr lang="en-US" altLang="ja-JP" sz="2400" b="0" dirty="0">
              <a:latin typeface="Arial" panose="020B0604020202020204" pitchFamily="34" charset="0"/>
            </a:endParaRPr>
          </a:p>
          <a:p>
            <a:pPr lvl="1"/>
            <a:endParaRPr lang="en-US" altLang="ja-JP" sz="2400" b="0" dirty="0">
              <a:latin typeface="Arial" panose="020B0604020202020204" pitchFamily="34" charset="0"/>
            </a:endParaRPr>
          </a:p>
        </p:txBody>
      </p:sp>
      <p:sp>
        <p:nvSpPr>
          <p:cNvPr id="8" name="Text Box 6">
            <a:extLst>
              <a:ext uri="{FF2B5EF4-FFF2-40B4-BE49-F238E27FC236}">
                <a16:creationId xmlns:a16="http://schemas.microsoft.com/office/drawing/2014/main" id="{BEBCB339-D4B6-02BB-F96F-B347C2F45CDE}"/>
              </a:ext>
            </a:extLst>
          </p:cNvPr>
          <p:cNvSpPr txBox="1">
            <a:spLocks noChangeArrowheads="1"/>
          </p:cNvSpPr>
          <p:nvPr/>
        </p:nvSpPr>
        <p:spPr bwMode="auto">
          <a:xfrm>
            <a:off x="344488" y="1835150"/>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ja-JP" altLang="en-US" sz="2000">
                <a:ea typeface="MS UI Gothic" panose="020B0600070205080204" pitchFamily="34" charset="-128"/>
              </a:rPr>
              <a:t>　</a:t>
            </a:r>
            <a:r>
              <a:rPr lang="en-US" altLang="ja-JP" sz="2000">
                <a:ea typeface="MS UI Gothic" panose="020B0600070205080204" pitchFamily="34" charset="-128"/>
              </a:rPr>
              <a:t>Kiểu data  tên biến</a:t>
            </a:r>
            <a:r>
              <a:rPr lang="en-US" altLang="ja-JP" sz="2000">
                <a:ea typeface="ＭＳ ゴシック" panose="020B0609070205080204" pitchFamily="49" charset="-128"/>
              </a:rPr>
              <a:t>;</a:t>
            </a:r>
          </a:p>
        </p:txBody>
      </p:sp>
      <p:sp>
        <p:nvSpPr>
          <p:cNvPr id="9" name="Rectangle 7">
            <a:extLst>
              <a:ext uri="{FF2B5EF4-FFF2-40B4-BE49-F238E27FC236}">
                <a16:creationId xmlns:a16="http://schemas.microsoft.com/office/drawing/2014/main" id="{4C603D02-F124-3962-5A62-6BBD3988618C}"/>
              </a:ext>
            </a:extLst>
          </p:cNvPr>
          <p:cNvSpPr>
            <a:spLocks noChangeArrowheads="1"/>
          </p:cNvSpPr>
          <p:nvPr/>
        </p:nvSpPr>
        <p:spPr bwMode="auto">
          <a:xfrm>
            <a:off x="344488" y="32258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10" name="Rectangle 8">
            <a:extLst>
              <a:ext uri="{FF2B5EF4-FFF2-40B4-BE49-F238E27FC236}">
                <a16:creationId xmlns:a16="http://schemas.microsoft.com/office/drawing/2014/main" id="{3B9A2A50-AB72-3434-E0E1-C6314E55AD21}"/>
              </a:ext>
            </a:extLst>
          </p:cNvPr>
          <p:cNvSpPr>
            <a:spLocks noChangeArrowheads="1"/>
          </p:cNvSpPr>
          <p:nvPr/>
        </p:nvSpPr>
        <p:spPr bwMode="auto">
          <a:xfrm>
            <a:off x="344488" y="3671888"/>
            <a:ext cx="9120187" cy="25384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lvl="1"/>
            <a:r>
              <a:rPr lang="en-US" altLang="ja-JP" sz="1800" b="0">
                <a:latin typeface="Arial" panose="020B0604020202020204" pitchFamily="34" charset="0"/>
                <a:ea typeface="ＭＳ ゴシック" panose="020B0609070205080204" pitchFamily="49" charset="-128"/>
              </a:rPr>
              <a:t>int x;</a:t>
            </a:r>
          </a:p>
          <a:p>
            <a:pPr lvl="1"/>
            <a:r>
              <a:rPr lang="en-US" altLang="ja-JP" sz="1800" b="0">
                <a:latin typeface="Arial" panose="020B0604020202020204" pitchFamily="34" charset="0"/>
                <a:ea typeface="ＭＳ ゴシック" panose="020B0609070205080204" pitchFamily="49" charset="-128"/>
              </a:rPr>
              <a:t>char c;</a:t>
            </a:r>
          </a:p>
          <a:p>
            <a:pPr lvl="1"/>
            <a:r>
              <a:rPr lang="en-US" altLang="ja-JP" sz="1800" b="0">
                <a:latin typeface="Arial" panose="020B0604020202020204" pitchFamily="34" charset="0"/>
                <a:ea typeface="ＭＳ ゴシック" panose="020B0609070205080204" pitchFamily="49" charset="-128"/>
              </a:rPr>
              <a:t>int val1, val2;</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a:t>
            </a:r>
            <a:r>
              <a:rPr lang="ja-JP" altLang="en-US" sz="1800" b="0">
                <a:latin typeface="Arial" panose="020B0604020202020204" pitchFamily="34" charset="0"/>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Ví dụ chỉ định giá trị khởi tạo và khai báo</a:t>
            </a:r>
          </a:p>
          <a:p>
            <a:pPr lvl="1"/>
            <a:r>
              <a:rPr lang="en-US" altLang="ja-JP" sz="1800" b="0">
                <a:latin typeface="Arial" panose="020B0604020202020204" pitchFamily="34" charset="0"/>
                <a:ea typeface="ＭＳ ゴシック" panose="020B0609070205080204" pitchFamily="49" charset="-128"/>
              </a:rPr>
              <a:t>int x = 5;</a:t>
            </a:r>
          </a:p>
          <a:p>
            <a:pPr lvl="1"/>
            <a:r>
              <a:rPr lang="en-US" altLang="ja-JP" sz="1800" b="0">
                <a:latin typeface="Arial" panose="020B0604020202020204" pitchFamily="34" charset="0"/>
                <a:ea typeface="ＭＳ ゴシック" panose="020B0609070205080204" pitchFamily="49" charset="-128"/>
              </a:rPr>
              <a:t>char c = 'a';</a:t>
            </a:r>
          </a:p>
          <a:p>
            <a:pPr lvl="1"/>
            <a:r>
              <a:rPr lang="en-US" altLang="ja-JP" sz="1800" b="0">
                <a:latin typeface="Arial" panose="020B0604020202020204" pitchFamily="34" charset="0"/>
                <a:ea typeface="ＭＳ ゴシック" panose="020B0609070205080204" pitchFamily="49" charset="-128"/>
              </a:rPr>
              <a:t>int val1 = 10, val2 = 20;</a:t>
            </a:r>
          </a:p>
        </p:txBody>
      </p:sp>
    </p:spTree>
    <p:extLst>
      <p:ext uri="{BB962C8B-B14F-4D97-AF65-F5344CB8AC3E}">
        <p14:creationId xmlns:p14="http://schemas.microsoft.com/office/powerpoint/2010/main" val="3381951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83841-3E66-EC64-B155-CB8153D9E65B}"/>
              </a:ext>
            </a:extLst>
          </p:cNvPr>
          <p:cNvSpPr>
            <a:spLocks noGrp="1"/>
          </p:cNvSpPr>
          <p:nvPr>
            <p:ph type="title"/>
          </p:nvPr>
        </p:nvSpPr>
        <p:spPr/>
        <p:txBody>
          <a:bodyPr>
            <a:normAutofit fontScale="90000"/>
          </a:bodyPr>
          <a:lstStyle/>
          <a:p>
            <a:r>
              <a:rPr lang="en-US" dirty="0"/>
              <a:t>Hằng </a:t>
            </a:r>
            <a:r>
              <a:rPr lang="en-US" dirty="0" err="1"/>
              <a:t>số</a:t>
            </a:r>
            <a:endParaRPr lang="en-US" dirty="0"/>
          </a:p>
        </p:txBody>
      </p:sp>
      <p:sp>
        <p:nvSpPr>
          <p:cNvPr id="4" name="Slide Number Placeholder 3">
            <a:extLst>
              <a:ext uri="{FF2B5EF4-FFF2-40B4-BE49-F238E27FC236}">
                <a16:creationId xmlns:a16="http://schemas.microsoft.com/office/drawing/2014/main" id="{A332FAF1-7709-487A-495A-8EDC8E73322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33</a:t>
            </a:fld>
            <a:endParaRPr lang="en-US" altLang="ja-JP"/>
          </a:p>
        </p:txBody>
      </p:sp>
      <p:sp>
        <p:nvSpPr>
          <p:cNvPr id="5" name="Rectangle 4">
            <a:extLst>
              <a:ext uri="{FF2B5EF4-FFF2-40B4-BE49-F238E27FC236}">
                <a16:creationId xmlns:a16="http://schemas.microsoft.com/office/drawing/2014/main" id="{5C4DCDA4-4A25-A0AD-C66A-EB35CAE6EC15}"/>
              </a:ext>
            </a:extLst>
          </p:cNvPr>
          <p:cNvSpPr>
            <a:spLocks noChangeArrowheads="1"/>
          </p:cNvSpPr>
          <p:nvPr/>
        </p:nvSpPr>
        <p:spPr bwMode="auto">
          <a:xfrm>
            <a:off x="344488" y="1392237"/>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a:latin typeface="Arial" panose="020B0604020202020204" pitchFamily="34" charset="0"/>
              </a:rPr>
              <a:t>Hằng số là</a:t>
            </a:r>
          </a:p>
          <a:p>
            <a:endParaRPr lang="en-US" altLang="ja-JP" sz="2400" b="0">
              <a:latin typeface="Arial" panose="020B0604020202020204" pitchFamily="34" charset="0"/>
            </a:endParaRPr>
          </a:p>
          <a:p>
            <a:endParaRPr lang="en-US" altLang="ja-JP" sz="2400" b="0">
              <a:latin typeface="Arial" panose="020B0604020202020204" pitchFamily="34" charset="0"/>
            </a:endParaRPr>
          </a:p>
          <a:p>
            <a:r>
              <a:rPr lang="en-US" altLang="ja-JP" sz="2400" b="0">
                <a:latin typeface="Arial" panose="020B0604020202020204" pitchFamily="34" charset="0"/>
              </a:rPr>
              <a:t>Khai báo hằng số</a:t>
            </a:r>
          </a:p>
          <a:p>
            <a:pPr>
              <a:spcBef>
                <a:spcPct val="50000"/>
              </a:spcBef>
              <a:buFont typeface="Wingdings" panose="05000000000000000000" pitchFamily="2" charset="2"/>
              <a:buNone/>
            </a:pPr>
            <a:r>
              <a:rPr lang="en-US" altLang="ja-JP" sz="2000" b="0">
                <a:latin typeface="Arial" panose="020B0604020202020204" pitchFamily="34" charset="0"/>
              </a:rPr>
              <a:t>● Cú pháp cơ bản</a:t>
            </a: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000" b="0">
              <a:latin typeface="Arial" panose="020B0604020202020204" pitchFamily="34" charset="0"/>
            </a:endParaRPr>
          </a:p>
          <a:p>
            <a:pPr>
              <a:spcBef>
                <a:spcPct val="50000"/>
              </a:spcBef>
              <a:buFont typeface="Wingdings" panose="05000000000000000000" pitchFamily="2" charset="2"/>
              <a:buNone/>
            </a:pPr>
            <a:endParaRPr lang="en-US" altLang="ja-JP" sz="2400" b="0">
              <a:latin typeface="Arial" panose="020B0604020202020204" pitchFamily="34" charset="0"/>
            </a:endParaRPr>
          </a:p>
          <a:p>
            <a:pPr lvl="1"/>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6" name="Rectangle 6">
            <a:extLst>
              <a:ext uri="{FF2B5EF4-FFF2-40B4-BE49-F238E27FC236}">
                <a16:creationId xmlns:a16="http://schemas.microsoft.com/office/drawing/2014/main" id="{E79751F1-AEFE-E30D-4CCA-46A173C59970}"/>
              </a:ext>
            </a:extLst>
          </p:cNvPr>
          <p:cNvSpPr>
            <a:spLocks noChangeArrowheads="1"/>
          </p:cNvSpPr>
          <p:nvPr/>
        </p:nvSpPr>
        <p:spPr bwMode="auto">
          <a:xfrm>
            <a:off x="344488" y="4243387"/>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7" name="Rectangle 7">
            <a:extLst>
              <a:ext uri="{FF2B5EF4-FFF2-40B4-BE49-F238E27FC236}">
                <a16:creationId xmlns:a16="http://schemas.microsoft.com/office/drawing/2014/main" id="{947A6033-28A2-7F5B-B827-340D743F8ED8}"/>
              </a:ext>
            </a:extLst>
          </p:cNvPr>
          <p:cNvSpPr>
            <a:spLocks noChangeArrowheads="1"/>
          </p:cNvSpPr>
          <p:nvPr/>
        </p:nvSpPr>
        <p:spPr bwMode="auto">
          <a:xfrm>
            <a:off x="344488" y="4751387"/>
            <a:ext cx="9120187" cy="5064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lvl="1"/>
            <a:r>
              <a:rPr lang="en-US" altLang="ja-JP" sz="1800" b="0">
                <a:latin typeface="ＭＳ ゴシック" panose="020B0609070205080204" pitchFamily="49" charset="-128"/>
                <a:ea typeface="ＭＳ ゴシック" panose="020B0609070205080204" pitchFamily="49" charset="-128"/>
              </a:rPr>
              <a:t>final double RATE = 0.05;</a:t>
            </a:r>
          </a:p>
        </p:txBody>
      </p:sp>
      <p:sp>
        <p:nvSpPr>
          <p:cNvPr id="8" name="Text Box 8">
            <a:extLst>
              <a:ext uri="{FF2B5EF4-FFF2-40B4-BE49-F238E27FC236}">
                <a16:creationId xmlns:a16="http://schemas.microsoft.com/office/drawing/2014/main" id="{DE194F4A-BCF5-F3D2-FC24-37DB8BF43AA9}"/>
              </a:ext>
            </a:extLst>
          </p:cNvPr>
          <p:cNvSpPr txBox="1">
            <a:spLocks noChangeArrowheads="1"/>
          </p:cNvSpPr>
          <p:nvPr/>
        </p:nvSpPr>
        <p:spPr bwMode="auto">
          <a:xfrm>
            <a:off x="344488" y="3640137"/>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ja-JP" altLang="en-US" sz="2000">
                <a:ea typeface="MS UI Gothic" panose="020B0600070205080204" pitchFamily="34" charset="-128"/>
              </a:rPr>
              <a:t>　</a:t>
            </a:r>
            <a:r>
              <a:rPr lang="en-US" altLang="ja-JP" sz="2000">
                <a:ea typeface="ＭＳ ゴシック" panose="020B0609070205080204" pitchFamily="49" charset="-128"/>
              </a:rPr>
              <a:t>final</a:t>
            </a:r>
            <a:r>
              <a:rPr lang="en-US" altLang="ja-JP" sz="2000">
                <a:ea typeface="MS UI Gothic" panose="020B0600070205080204" pitchFamily="34" charset="-128"/>
              </a:rPr>
              <a:t>  Kiểu data  Tên biến  </a:t>
            </a:r>
            <a:r>
              <a:rPr lang="en-US" altLang="ja-JP" sz="2000">
                <a:ea typeface="ＭＳ ゴシック" panose="020B0609070205080204" pitchFamily="49" charset="-128"/>
              </a:rPr>
              <a:t>=</a:t>
            </a:r>
            <a:r>
              <a:rPr lang="en-US" altLang="ja-JP" sz="2000">
                <a:ea typeface="MS UI Gothic" panose="020B0600070205080204" pitchFamily="34" charset="-128"/>
              </a:rPr>
              <a:t>  Giá trị hoặc biểu thức</a:t>
            </a:r>
            <a:r>
              <a:rPr lang="en-US" altLang="ja-JP" sz="2000">
                <a:ea typeface="ＭＳ ゴシック" panose="020B0609070205080204" pitchFamily="49" charset="-128"/>
              </a:rPr>
              <a:t>;</a:t>
            </a:r>
          </a:p>
        </p:txBody>
      </p:sp>
      <p:sp>
        <p:nvSpPr>
          <p:cNvPr id="9" name="Rectangle 9">
            <a:extLst>
              <a:ext uri="{FF2B5EF4-FFF2-40B4-BE49-F238E27FC236}">
                <a16:creationId xmlns:a16="http://schemas.microsoft.com/office/drawing/2014/main" id="{A15D87C5-5AEA-6E0A-5FE0-F267682F2C94}"/>
              </a:ext>
            </a:extLst>
          </p:cNvPr>
          <p:cNvSpPr>
            <a:spLocks noChangeArrowheads="1"/>
          </p:cNvSpPr>
          <p:nvPr/>
        </p:nvSpPr>
        <p:spPr bwMode="auto">
          <a:xfrm>
            <a:off x="344488" y="1989137"/>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000">
                <a:latin typeface="Arial" panose="020B0604020202020204" pitchFamily="34" charset="0"/>
              </a:rPr>
              <a:t>Vật chứa để cho các giá trị đặc biệt vào</a:t>
            </a:r>
          </a:p>
        </p:txBody>
      </p:sp>
    </p:spTree>
    <p:extLst>
      <p:ext uri="{BB962C8B-B14F-4D97-AF65-F5344CB8AC3E}">
        <p14:creationId xmlns:p14="http://schemas.microsoft.com/office/powerpoint/2010/main" val="8750522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6C27B-4975-4E45-4EEF-AC01CDC5278B}"/>
              </a:ext>
            </a:extLst>
          </p:cNvPr>
          <p:cNvSpPr>
            <a:spLocks noGrp="1"/>
          </p:cNvSpPr>
          <p:nvPr>
            <p:ph type="title"/>
          </p:nvPr>
        </p:nvSpPr>
        <p:spPr>
          <a:xfrm>
            <a:off x="128464" y="434542"/>
            <a:ext cx="9649072" cy="504056"/>
          </a:xfrm>
        </p:spPr>
        <p:txBody>
          <a:bodyPr>
            <a:normAutofit fontScale="90000"/>
          </a:bodyPr>
          <a:lstStyle/>
          <a:p>
            <a:r>
              <a:rPr lang="en-US" dirty="0" err="1"/>
              <a:t>Kiểu</a:t>
            </a:r>
            <a:r>
              <a:rPr lang="en-US" dirty="0"/>
              <a:t> </a:t>
            </a:r>
            <a:r>
              <a:rPr lang="en-US" dirty="0" err="1"/>
              <a:t>giá</a:t>
            </a:r>
            <a:r>
              <a:rPr lang="en-US" dirty="0"/>
              <a:t> </a:t>
            </a:r>
            <a:r>
              <a:rPr lang="en-US" dirty="0" err="1"/>
              <a:t>trị</a:t>
            </a:r>
            <a:r>
              <a:rPr lang="en-US" dirty="0"/>
              <a:t> </a:t>
            </a:r>
            <a:r>
              <a:rPr lang="en-US" dirty="0" err="1"/>
              <a:t>và</a:t>
            </a:r>
            <a:r>
              <a:rPr lang="en-US" dirty="0"/>
              <a:t> </a:t>
            </a:r>
            <a:r>
              <a:rPr lang="en-US" dirty="0" err="1"/>
              <a:t>kiểu</a:t>
            </a:r>
            <a:r>
              <a:rPr lang="en-US" dirty="0"/>
              <a:t> </a:t>
            </a:r>
            <a:r>
              <a:rPr lang="en-US" dirty="0" err="1"/>
              <a:t>tham</a:t>
            </a:r>
            <a:r>
              <a:rPr lang="en-US" dirty="0"/>
              <a:t> </a:t>
            </a:r>
            <a:r>
              <a:rPr lang="en-US" dirty="0" err="1"/>
              <a:t>chiếu</a:t>
            </a:r>
            <a:endParaRPr lang="en-US" dirty="0"/>
          </a:p>
        </p:txBody>
      </p:sp>
      <p:sp>
        <p:nvSpPr>
          <p:cNvPr id="4" name="Slide Number Placeholder 3">
            <a:extLst>
              <a:ext uri="{FF2B5EF4-FFF2-40B4-BE49-F238E27FC236}">
                <a16:creationId xmlns:a16="http://schemas.microsoft.com/office/drawing/2014/main" id="{56C47F73-6DBA-F18D-00C7-3A095ADCB0E3}"/>
              </a:ext>
            </a:extLst>
          </p:cNvPr>
          <p:cNvSpPr>
            <a:spLocks noGrp="1"/>
          </p:cNvSpPr>
          <p:nvPr>
            <p:ph type="sldNum" sz="quarter" idx="11"/>
          </p:nvPr>
        </p:nvSpPr>
        <p:spPr>
          <a:xfrm>
            <a:off x="5097463" y="6805613"/>
            <a:ext cx="2063750" cy="204787"/>
          </a:xfrm>
        </p:spPr>
        <p:txBody>
          <a:bodyPr/>
          <a:lstStyle/>
          <a:p>
            <a:pPr>
              <a:defRPr/>
            </a:pPr>
            <a:r>
              <a:rPr lang="en-US" altLang="ja-JP"/>
              <a:t>Page:</a:t>
            </a:r>
            <a:r>
              <a:rPr lang="ja-JP" altLang="en-US"/>
              <a:t> </a:t>
            </a:r>
            <a:fld id="{DC07468E-517B-4E9D-8840-A4568A307980}" type="slidenum">
              <a:rPr lang="en-US" altLang="ja-JP" smtClean="0"/>
              <a:pPr>
                <a:defRPr/>
              </a:pPr>
              <a:t>34</a:t>
            </a:fld>
            <a:endParaRPr lang="en-US" altLang="ja-JP"/>
          </a:p>
        </p:txBody>
      </p:sp>
      <p:sp>
        <p:nvSpPr>
          <p:cNvPr id="5" name="Rectangle 279">
            <a:extLst>
              <a:ext uri="{FF2B5EF4-FFF2-40B4-BE49-F238E27FC236}">
                <a16:creationId xmlns:a16="http://schemas.microsoft.com/office/drawing/2014/main" id="{EE5191D0-88DA-6A94-20E0-BA906727F401}"/>
              </a:ext>
            </a:extLst>
          </p:cNvPr>
          <p:cNvSpPr>
            <a:spLocks noChangeArrowheads="1"/>
          </p:cNvSpPr>
          <p:nvPr/>
        </p:nvSpPr>
        <p:spPr bwMode="auto">
          <a:xfrm>
            <a:off x="241300" y="1028700"/>
            <a:ext cx="9428163" cy="552132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6" name="Rectangle 197">
            <a:extLst>
              <a:ext uri="{FF2B5EF4-FFF2-40B4-BE49-F238E27FC236}">
                <a16:creationId xmlns:a16="http://schemas.microsoft.com/office/drawing/2014/main" id="{EDAEBE56-C707-DB42-B2AA-DE9E73F86423}"/>
              </a:ext>
            </a:extLst>
          </p:cNvPr>
          <p:cNvSpPr>
            <a:spLocks noChangeArrowheads="1"/>
          </p:cNvSpPr>
          <p:nvPr/>
        </p:nvSpPr>
        <p:spPr bwMode="auto">
          <a:xfrm>
            <a:off x="349250" y="26876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1800" b="0">
                <a:latin typeface="Arial" panose="020B0604020202020204" pitchFamily="34" charset="0"/>
              </a:rPr>
              <a:t>■Kiểu tham chiếu</a:t>
            </a:r>
          </a:p>
          <a:p>
            <a:pPr>
              <a:buFont typeface="Wingdings" panose="05000000000000000000" pitchFamily="2" charset="2"/>
              <a:buNone/>
            </a:pPr>
            <a:endParaRPr lang="en-US" altLang="ja-JP" sz="2400" b="0">
              <a:latin typeface="Arial" panose="020B0604020202020204" pitchFamily="34" charset="0"/>
            </a:endParaRPr>
          </a:p>
          <a:p>
            <a:endParaRPr lang="en-US" altLang="ja-JP" sz="2400" b="0">
              <a:latin typeface="Arial" panose="020B0604020202020204" pitchFamily="34" charset="0"/>
            </a:endParaRPr>
          </a:p>
          <a:p>
            <a:endParaRPr lang="en-US" altLang="ja-JP" sz="2400" b="0">
              <a:latin typeface="Arial" panose="020B0604020202020204" pitchFamily="34" charset="0"/>
            </a:endParaRPr>
          </a:p>
        </p:txBody>
      </p:sp>
      <p:sp>
        <p:nvSpPr>
          <p:cNvPr id="7" name="Rectangle 52">
            <a:extLst>
              <a:ext uri="{FF2B5EF4-FFF2-40B4-BE49-F238E27FC236}">
                <a16:creationId xmlns:a16="http://schemas.microsoft.com/office/drawing/2014/main" id="{9CC53EB4-4ABB-BD00-26F8-34F13E6C4B01}"/>
              </a:ext>
            </a:extLst>
          </p:cNvPr>
          <p:cNvSpPr>
            <a:spLocks noChangeArrowheads="1"/>
          </p:cNvSpPr>
          <p:nvPr/>
        </p:nvSpPr>
        <p:spPr bwMode="auto">
          <a:xfrm>
            <a:off x="2884488" y="1489075"/>
            <a:ext cx="6530975" cy="4867275"/>
          </a:xfrm>
          <a:prstGeom prst="rect">
            <a:avLst/>
          </a:prstGeom>
          <a:solidFill>
            <a:schemeClr val="accent1">
              <a:alpha val="50000"/>
            </a:schemeClr>
          </a:solidFill>
          <a:ln w="9525"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en-US"/>
          </a:p>
        </p:txBody>
      </p:sp>
      <p:sp>
        <p:nvSpPr>
          <p:cNvPr id="8" name="Rectangle 8">
            <a:extLst>
              <a:ext uri="{FF2B5EF4-FFF2-40B4-BE49-F238E27FC236}">
                <a16:creationId xmlns:a16="http://schemas.microsoft.com/office/drawing/2014/main" id="{14C3E331-4256-C61B-D540-8433327CE81A}"/>
              </a:ext>
            </a:extLst>
          </p:cNvPr>
          <p:cNvSpPr>
            <a:spLocks noChangeArrowheads="1"/>
          </p:cNvSpPr>
          <p:nvPr/>
        </p:nvSpPr>
        <p:spPr bwMode="auto">
          <a:xfrm>
            <a:off x="344488" y="11049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1800" b="0">
                <a:latin typeface="Arial" panose="020B0604020202020204" pitchFamily="34" charset="0"/>
              </a:rPr>
              <a:t>■Kiểu giá trị                          Sơ đồ image của memory</a:t>
            </a:r>
          </a:p>
          <a:p>
            <a:pPr>
              <a:buFont typeface="Wingdings" panose="05000000000000000000" pitchFamily="2" charset="2"/>
              <a:buNone/>
            </a:pPr>
            <a:endParaRPr lang="en-US" altLang="ja-JP" sz="1800" b="0">
              <a:latin typeface="Arial" panose="020B0604020202020204" pitchFamily="34" charset="0"/>
            </a:endParaRPr>
          </a:p>
        </p:txBody>
      </p:sp>
      <p:sp>
        <p:nvSpPr>
          <p:cNvPr id="9" name="AutoShape 38">
            <a:extLst>
              <a:ext uri="{FF2B5EF4-FFF2-40B4-BE49-F238E27FC236}">
                <a16:creationId xmlns:a16="http://schemas.microsoft.com/office/drawing/2014/main" id="{847708B1-21E3-8335-85E4-2B0AD9C6E76D}"/>
              </a:ext>
            </a:extLst>
          </p:cNvPr>
          <p:cNvSpPr>
            <a:spLocks noChangeArrowheads="1"/>
          </p:cNvSpPr>
          <p:nvPr/>
        </p:nvSpPr>
        <p:spPr bwMode="auto">
          <a:xfrm>
            <a:off x="466725" y="1749425"/>
            <a:ext cx="1800225" cy="461963"/>
          </a:xfrm>
          <a:prstGeom prst="foldedCorner">
            <a:avLst>
              <a:gd name="adj" fmla="val 12500"/>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0" tIns="45704" rIns="91410" bIns="45704" anchor="ctr"/>
          <a:lstStyle>
            <a:lvl1pPr>
              <a:defRPr kumimoji="1">
                <a:solidFill>
                  <a:schemeClr val="tx1"/>
                </a:solidFill>
                <a:latin typeface="Arial" panose="020B0604020202020204" pitchFamily="34" charset="0"/>
                <a:ea typeface="ＭＳ Ｐゴシック" panose="020B0600070205080204" pitchFamily="34" charset="-128"/>
              </a:defRPr>
            </a:lvl1pPr>
            <a:lvl2pPr>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marL="1368425">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nSpc>
                <a:spcPct val="50000"/>
              </a:lnSpc>
            </a:pPr>
            <a:endParaRPr lang="en-US" altLang="en-US" sz="1800" b="0">
              <a:latin typeface="ＭＳ ゴシック" panose="020B0609070205080204" pitchFamily="49" charset="-128"/>
              <a:ea typeface="ＭＳ ゴシック" panose="020B0609070205080204" pitchFamily="49" charset="-128"/>
            </a:endParaRPr>
          </a:p>
        </p:txBody>
      </p:sp>
      <p:sp>
        <p:nvSpPr>
          <p:cNvPr id="10" name="Text Box 39">
            <a:extLst>
              <a:ext uri="{FF2B5EF4-FFF2-40B4-BE49-F238E27FC236}">
                <a16:creationId xmlns:a16="http://schemas.microsoft.com/office/drawing/2014/main" id="{330CB323-0026-2FDF-522A-8D8CA79B59D3}"/>
              </a:ext>
            </a:extLst>
          </p:cNvPr>
          <p:cNvSpPr txBox="1">
            <a:spLocks noChangeArrowheads="1"/>
          </p:cNvSpPr>
          <p:nvPr/>
        </p:nvSpPr>
        <p:spPr bwMode="auto">
          <a:xfrm>
            <a:off x="531813" y="1871663"/>
            <a:ext cx="1895475" cy="230187"/>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0000"/>
              </a:lnSpc>
              <a:spcBef>
                <a:spcPct val="50000"/>
              </a:spcBef>
            </a:pPr>
            <a:r>
              <a:rPr lang="en-US" altLang="ja-JP" sz="1800" b="0">
                <a:latin typeface="ＭＳ ゴシック" panose="020B0609070205080204" pitchFamily="49" charset="-128"/>
                <a:ea typeface="ＭＳ ゴシック" panose="020B0609070205080204" pitchFamily="49" charset="-128"/>
              </a:rPr>
              <a:t>int val1 = 10;</a:t>
            </a:r>
          </a:p>
        </p:txBody>
      </p:sp>
      <p:sp>
        <p:nvSpPr>
          <p:cNvPr id="11" name="AutoShape 41">
            <a:extLst>
              <a:ext uri="{FF2B5EF4-FFF2-40B4-BE49-F238E27FC236}">
                <a16:creationId xmlns:a16="http://schemas.microsoft.com/office/drawing/2014/main" id="{09F8494B-70B8-2EE1-E97C-FAD48F808513}"/>
              </a:ext>
            </a:extLst>
          </p:cNvPr>
          <p:cNvSpPr>
            <a:spLocks noChangeArrowheads="1"/>
          </p:cNvSpPr>
          <p:nvPr/>
        </p:nvSpPr>
        <p:spPr bwMode="auto">
          <a:xfrm>
            <a:off x="2454275" y="1604963"/>
            <a:ext cx="266700" cy="695325"/>
          </a:xfrm>
          <a:prstGeom prst="rightArrow">
            <a:avLst>
              <a:gd name="adj1" fmla="val 50000"/>
              <a:gd name="adj2" fmla="val 25000"/>
            </a:avLst>
          </a:prstGeom>
          <a:solidFill>
            <a:srgbClr val="0033CC">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Text Box 46">
            <a:extLst>
              <a:ext uri="{FF2B5EF4-FFF2-40B4-BE49-F238E27FC236}">
                <a16:creationId xmlns:a16="http://schemas.microsoft.com/office/drawing/2014/main" id="{F18B662C-78E2-D0ED-BF62-D65A5DCC14E6}"/>
              </a:ext>
            </a:extLst>
          </p:cNvPr>
          <p:cNvSpPr txBox="1">
            <a:spLocks noChangeArrowheads="1"/>
          </p:cNvSpPr>
          <p:nvPr/>
        </p:nvSpPr>
        <p:spPr bwMode="auto">
          <a:xfrm>
            <a:off x="2938463" y="1751013"/>
            <a:ext cx="7207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a:latin typeface="ＭＳ ゴシック" panose="020B0609070205080204" pitchFamily="49" charset="-128"/>
                <a:ea typeface="ＭＳ ゴシック" panose="020B0609070205080204" pitchFamily="49" charset="-128"/>
              </a:rPr>
              <a:t>val1</a:t>
            </a:r>
          </a:p>
        </p:txBody>
      </p:sp>
      <p:grpSp>
        <p:nvGrpSpPr>
          <p:cNvPr id="13" name="Group 56">
            <a:extLst>
              <a:ext uri="{FF2B5EF4-FFF2-40B4-BE49-F238E27FC236}">
                <a16:creationId xmlns:a16="http://schemas.microsoft.com/office/drawing/2014/main" id="{B6FD892E-BB7B-FCC1-4D60-81B990B1B111}"/>
              </a:ext>
            </a:extLst>
          </p:cNvPr>
          <p:cNvGrpSpPr>
            <a:grpSpLocks/>
          </p:cNvGrpSpPr>
          <p:nvPr/>
        </p:nvGrpSpPr>
        <p:grpSpPr bwMode="auto">
          <a:xfrm>
            <a:off x="468313" y="3259138"/>
            <a:ext cx="1800225" cy="854075"/>
            <a:chOff x="302" y="2013"/>
            <a:chExt cx="1235" cy="538"/>
          </a:xfrm>
        </p:grpSpPr>
        <p:sp>
          <p:nvSpPr>
            <p:cNvPr id="14" name="AutoShape 54">
              <a:extLst>
                <a:ext uri="{FF2B5EF4-FFF2-40B4-BE49-F238E27FC236}">
                  <a16:creationId xmlns:a16="http://schemas.microsoft.com/office/drawing/2014/main" id="{6A4496E7-25E5-83EC-5823-1739FE2F4AD8}"/>
                </a:ext>
              </a:extLst>
            </p:cNvPr>
            <p:cNvSpPr>
              <a:spLocks noChangeArrowheads="1"/>
            </p:cNvSpPr>
            <p:nvPr/>
          </p:nvSpPr>
          <p:spPr bwMode="auto">
            <a:xfrm>
              <a:off x="302" y="2013"/>
              <a:ext cx="1222" cy="538"/>
            </a:xfrm>
            <a:prstGeom prst="foldedCorner">
              <a:avLst>
                <a:gd name="adj" fmla="val 12500"/>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0" tIns="45704" rIns="91410" bIns="45704" anchor="ctr"/>
            <a:lstStyle>
              <a:lvl1pPr>
                <a:defRPr kumimoji="1">
                  <a:solidFill>
                    <a:schemeClr val="tx1"/>
                  </a:solidFill>
                  <a:latin typeface="Arial" panose="020B0604020202020204" pitchFamily="34" charset="0"/>
                  <a:ea typeface="ＭＳ Ｐゴシック" panose="020B0600070205080204" pitchFamily="34" charset="-128"/>
                </a:defRPr>
              </a:lvl1pPr>
              <a:lvl2pPr>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marL="1368425">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nSpc>
                  <a:spcPct val="50000"/>
                </a:lnSpc>
              </a:pPr>
              <a:endParaRPr lang="en-US" altLang="en-US" sz="1800" b="0">
                <a:latin typeface="ＭＳ ゴシック" panose="020B0609070205080204" pitchFamily="49" charset="-128"/>
                <a:ea typeface="ＭＳ ゴシック" panose="020B0609070205080204" pitchFamily="49" charset="-128"/>
              </a:endParaRPr>
            </a:p>
          </p:txBody>
        </p:sp>
        <p:sp>
          <p:nvSpPr>
            <p:cNvPr id="15" name="Text Box 55">
              <a:extLst>
                <a:ext uri="{FF2B5EF4-FFF2-40B4-BE49-F238E27FC236}">
                  <a16:creationId xmlns:a16="http://schemas.microsoft.com/office/drawing/2014/main" id="{B3F2BF71-6186-B421-7AA5-BAB5FE43EA89}"/>
                </a:ext>
              </a:extLst>
            </p:cNvPr>
            <p:cNvSpPr txBox="1">
              <a:spLocks noChangeArrowheads="1"/>
            </p:cNvSpPr>
            <p:nvPr/>
          </p:nvSpPr>
          <p:spPr bwMode="auto">
            <a:xfrm>
              <a:off x="343" y="2062"/>
              <a:ext cx="1194" cy="48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35000"/>
                </a:spcBef>
              </a:pPr>
              <a:r>
                <a:rPr lang="en-US" altLang="ja-JP" sz="1800" b="0">
                  <a:latin typeface="ＭＳ ゴシック" panose="020B0609070205080204" pitchFamily="49" charset="-128"/>
                  <a:ea typeface="ＭＳ ゴシック" panose="020B0609070205080204" pitchFamily="49" charset="-128"/>
                </a:rPr>
                <a:t>String str1 = </a:t>
              </a:r>
              <a:br>
                <a:rPr lang="en-US" altLang="ja-JP" sz="1800" b="0">
                  <a:latin typeface="ＭＳ ゴシック" panose="020B0609070205080204" pitchFamily="49" charset="-128"/>
                  <a:ea typeface="ＭＳ ゴシック" panose="020B0609070205080204" pitchFamily="49" charset="-128"/>
                </a:rPr>
              </a:br>
              <a:r>
                <a:rPr lang="en-US" altLang="ja-JP" sz="1800" b="0">
                  <a:latin typeface="ＭＳ ゴシック" panose="020B0609070205080204" pitchFamily="49" charset="-128"/>
                  <a:ea typeface="ＭＳ ゴシック" panose="020B0609070205080204" pitchFamily="49" charset="-128"/>
                </a:rPr>
                <a:t>  "Hello";</a:t>
              </a:r>
            </a:p>
          </p:txBody>
        </p:sp>
      </p:grpSp>
      <p:sp>
        <p:nvSpPr>
          <p:cNvPr id="16" name="Rectangle 57">
            <a:extLst>
              <a:ext uri="{FF2B5EF4-FFF2-40B4-BE49-F238E27FC236}">
                <a16:creationId xmlns:a16="http://schemas.microsoft.com/office/drawing/2014/main" id="{BA236625-234E-D87A-37E4-6FF1CE183191}"/>
              </a:ext>
            </a:extLst>
          </p:cNvPr>
          <p:cNvSpPr>
            <a:spLocks noChangeArrowheads="1"/>
          </p:cNvSpPr>
          <p:nvPr/>
        </p:nvSpPr>
        <p:spPr bwMode="auto">
          <a:xfrm>
            <a:off x="3516313" y="1741488"/>
            <a:ext cx="914400" cy="4159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Text Box 47">
            <a:extLst>
              <a:ext uri="{FF2B5EF4-FFF2-40B4-BE49-F238E27FC236}">
                <a16:creationId xmlns:a16="http://schemas.microsoft.com/office/drawing/2014/main" id="{824F4527-DDAF-1E70-002F-5C7064D9AD7E}"/>
              </a:ext>
            </a:extLst>
          </p:cNvPr>
          <p:cNvSpPr txBox="1">
            <a:spLocks noChangeArrowheads="1"/>
          </p:cNvSpPr>
          <p:nvPr/>
        </p:nvSpPr>
        <p:spPr bwMode="auto">
          <a:xfrm>
            <a:off x="3744913" y="1752600"/>
            <a:ext cx="476250"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10</a:t>
            </a:r>
          </a:p>
        </p:txBody>
      </p:sp>
      <p:sp>
        <p:nvSpPr>
          <p:cNvPr id="18" name="Rectangle 125">
            <a:extLst>
              <a:ext uri="{FF2B5EF4-FFF2-40B4-BE49-F238E27FC236}">
                <a16:creationId xmlns:a16="http://schemas.microsoft.com/office/drawing/2014/main" id="{E2D9E3F4-C90F-1F44-6CDF-D5D945A1808A}"/>
              </a:ext>
            </a:extLst>
          </p:cNvPr>
          <p:cNvSpPr>
            <a:spLocks noChangeArrowheads="1"/>
          </p:cNvSpPr>
          <p:nvPr/>
        </p:nvSpPr>
        <p:spPr bwMode="auto">
          <a:xfrm>
            <a:off x="5164138" y="2189163"/>
            <a:ext cx="3981450" cy="4013200"/>
          </a:xfrm>
          <a:prstGeom prst="rect">
            <a:avLst/>
          </a:prstGeom>
          <a:solidFill>
            <a:srgbClr val="FFFF99"/>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en-US"/>
          </a:p>
        </p:txBody>
      </p:sp>
      <p:graphicFrame>
        <p:nvGraphicFramePr>
          <p:cNvPr id="19" name="Group 292">
            <a:extLst>
              <a:ext uri="{FF2B5EF4-FFF2-40B4-BE49-F238E27FC236}">
                <a16:creationId xmlns:a16="http://schemas.microsoft.com/office/drawing/2014/main" id="{47C62EEE-C95E-971B-A978-817603C69FF3}"/>
              </a:ext>
            </a:extLst>
          </p:cNvPr>
          <p:cNvGraphicFramePr>
            <a:graphicFrameLocks/>
          </p:cNvGraphicFramePr>
          <p:nvPr>
            <p:extLst>
              <p:ext uri="{D42A27DB-BD31-4B8C-83A1-F6EECF244321}">
                <p14:modId xmlns:p14="http://schemas.microsoft.com/office/powerpoint/2010/main" val="3173573734"/>
              </p:ext>
            </p:extLst>
          </p:nvPr>
        </p:nvGraphicFramePr>
        <p:xfrm>
          <a:off x="5819775" y="2368550"/>
          <a:ext cx="1022350" cy="3614738"/>
        </p:xfrm>
        <a:graphic>
          <a:graphicData uri="http://schemas.openxmlformats.org/drawingml/2006/table">
            <a:tbl>
              <a:tblPr/>
              <a:tblGrid>
                <a:gridCol w="1022350">
                  <a:extLst>
                    <a:ext uri="{9D8B030D-6E8A-4147-A177-3AD203B41FA5}">
                      <a16:colId xmlns:a16="http://schemas.microsoft.com/office/drawing/2014/main" val="106856730"/>
                    </a:ext>
                  </a:extLst>
                </a:gridCol>
              </a:tblGrid>
              <a:tr h="290513">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22542055"/>
                  </a:ext>
                </a:extLst>
              </a:tr>
              <a:tr h="288925">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667304054"/>
                  </a:ext>
                </a:extLst>
              </a:tr>
              <a:tr h="290513">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72834589"/>
                  </a:ext>
                </a:extLst>
              </a:tr>
              <a:tr h="871538">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rPr>
                        <a:t>"Hello"</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3928775752"/>
                  </a:ext>
                </a:extLst>
              </a:tr>
              <a:tr h="292100">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57735952"/>
                  </a:ext>
                </a:extLst>
              </a:tr>
              <a:tr h="288925">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68763045"/>
                  </a:ext>
                </a:extLst>
              </a:tr>
              <a:tr h="288925">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910500630"/>
                  </a:ext>
                </a:extLst>
              </a:tr>
              <a:tr h="288925">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199743858"/>
                  </a:ext>
                </a:extLst>
              </a:tr>
              <a:tr h="292100">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453219154"/>
                  </a:ext>
                </a:extLst>
              </a:tr>
              <a:tr h="284163">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329222030"/>
                  </a:ext>
                </a:extLst>
              </a:tr>
            </a:tbl>
          </a:graphicData>
        </a:graphic>
      </p:graphicFrame>
      <p:sp>
        <p:nvSpPr>
          <p:cNvPr id="20" name="Text Box 121">
            <a:extLst>
              <a:ext uri="{FF2B5EF4-FFF2-40B4-BE49-F238E27FC236}">
                <a16:creationId xmlns:a16="http://schemas.microsoft.com/office/drawing/2014/main" id="{150E884B-DC93-F9E6-142B-E3688919A522}"/>
              </a:ext>
            </a:extLst>
          </p:cNvPr>
          <p:cNvSpPr txBox="1">
            <a:spLocks noChangeArrowheads="1"/>
          </p:cNvSpPr>
          <p:nvPr/>
        </p:nvSpPr>
        <p:spPr bwMode="auto">
          <a:xfrm>
            <a:off x="5086350" y="1792288"/>
            <a:ext cx="2932113"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dirty="0">
                <a:latin typeface="+mj-lt"/>
              </a:rPr>
              <a:t>Khu </a:t>
            </a:r>
            <a:r>
              <a:rPr lang="en-US" altLang="ja-JP" sz="1800" b="0" dirty="0" err="1">
                <a:latin typeface="+mj-lt"/>
              </a:rPr>
              <a:t>vực</a:t>
            </a:r>
            <a:r>
              <a:rPr lang="en-US" altLang="ja-JP" sz="1800" b="0" dirty="0">
                <a:latin typeface="+mj-lt"/>
              </a:rPr>
              <a:t> sẽ </a:t>
            </a:r>
            <a:r>
              <a:rPr lang="en-US" altLang="ja-JP" sz="1800" b="0" dirty="0" err="1">
                <a:latin typeface="+mj-lt"/>
              </a:rPr>
              <a:t>lưu</a:t>
            </a:r>
            <a:r>
              <a:rPr lang="en-US" altLang="ja-JP" sz="1800" b="0" dirty="0">
                <a:latin typeface="+mj-lt"/>
              </a:rPr>
              <a:t> object</a:t>
            </a:r>
          </a:p>
        </p:txBody>
      </p:sp>
      <p:sp>
        <p:nvSpPr>
          <p:cNvPr id="21" name="AutoShape 194">
            <a:extLst>
              <a:ext uri="{FF2B5EF4-FFF2-40B4-BE49-F238E27FC236}">
                <a16:creationId xmlns:a16="http://schemas.microsoft.com/office/drawing/2014/main" id="{ABF7231A-8C32-4905-12F5-56F9FB03BF6A}"/>
              </a:ext>
            </a:extLst>
          </p:cNvPr>
          <p:cNvSpPr>
            <a:spLocks noChangeArrowheads="1"/>
          </p:cNvSpPr>
          <p:nvPr/>
        </p:nvSpPr>
        <p:spPr bwMode="auto">
          <a:xfrm>
            <a:off x="2454275" y="3105150"/>
            <a:ext cx="266700" cy="695325"/>
          </a:xfrm>
          <a:prstGeom prst="rightArrow">
            <a:avLst>
              <a:gd name="adj1" fmla="val 50000"/>
              <a:gd name="adj2" fmla="val 25000"/>
            </a:avLst>
          </a:prstGeom>
          <a:solidFill>
            <a:srgbClr val="0033CC">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22" name="Group 293">
            <a:extLst>
              <a:ext uri="{FF2B5EF4-FFF2-40B4-BE49-F238E27FC236}">
                <a16:creationId xmlns:a16="http://schemas.microsoft.com/office/drawing/2014/main" id="{5E80DC77-DA89-E45D-25EB-F2A88C198995}"/>
              </a:ext>
            </a:extLst>
          </p:cNvPr>
          <p:cNvGraphicFramePr>
            <a:graphicFrameLocks noGrp="1"/>
          </p:cNvGraphicFramePr>
          <p:nvPr>
            <p:extLst>
              <p:ext uri="{D42A27DB-BD31-4B8C-83A1-F6EECF244321}">
                <p14:modId xmlns:p14="http://schemas.microsoft.com/office/powerpoint/2010/main" val="3964307738"/>
              </p:ext>
            </p:extLst>
          </p:nvPr>
        </p:nvGraphicFramePr>
        <p:xfrm>
          <a:off x="7734300" y="2355850"/>
          <a:ext cx="1022350" cy="3563938"/>
        </p:xfrm>
        <a:graphic>
          <a:graphicData uri="http://schemas.openxmlformats.org/drawingml/2006/table">
            <a:tbl>
              <a:tblPr/>
              <a:tblGrid>
                <a:gridCol w="1022350">
                  <a:extLst>
                    <a:ext uri="{9D8B030D-6E8A-4147-A177-3AD203B41FA5}">
                      <a16:colId xmlns:a16="http://schemas.microsoft.com/office/drawing/2014/main" val="1095302801"/>
                    </a:ext>
                  </a:extLst>
                </a:gridCol>
              </a:tblGrid>
              <a:tr h="290513">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08063274"/>
                  </a:ext>
                </a:extLst>
              </a:tr>
              <a:tr h="288925">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849496421"/>
                  </a:ext>
                </a:extLst>
              </a:tr>
              <a:tr h="290513">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130140258"/>
                  </a:ext>
                </a:extLst>
              </a:tr>
              <a:tr h="292100">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155358674"/>
                  </a:ext>
                </a:extLst>
              </a:tr>
              <a:tr h="292100">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136203905"/>
                  </a:ext>
                </a:extLst>
              </a:tr>
              <a:tr h="292100">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7883153"/>
                  </a:ext>
                </a:extLst>
              </a:tr>
              <a:tr h="1735138">
                <a:tc>
                  <a:txBody>
                    <a:bodyPr/>
                    <a:lstStyle>
                      <a:lvl1pPr>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en-US" sz="1400" b="0" i="0" u="none" strike="noStrike" cap="none" normalizeH="0" baseline="0">
                        <a:ln>
                          <a:noFill/>
                        </a:ln>
                        <a:solidFill>
                          <a:schemeClr val="tx1"/>
                        </a:solidFill>
                        <a:effectLst/>
                        <a:latin typeface="MS UI Gothic" panose="020B0600070205080204" pitchFamily="34" charset="-128"/>
                        <a:ea typeface="MS UI Gothic" panose="020B0600070205080204" pitchFamily="34" charset="-128"/>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3356168060"/>
                  </a:ext>
                </a:extLst>
              </a:tr>
            </a:tbl>
          </a:graphicData>
        </a:graphic>
      </p:graphicFrame>
      <p:sp>
        <p:nvSpPr>
          <p:cNvPr id="23" name="Text Box 263">
            <a:extLst>
              <a:ext uri="{FF2B5EF4-FFF2-40B4-BE49-F238E27FC236}">
                <a16:creationId xmlns:a16="http://schemas.microsoft.com/office/drawing/2014/main" id="{DDA41BD6-26CF-0F21-EE20-2D937F777F07}"/>
              </a:ext>
            </a:extLst>
          </p:cNvPr>
          <p:cNvSpPr txBox="1">
            <a:spLocks noChangeArrowheads="1"/>
          </p:cNvSpPr>
          <p:nvPr/>
        </p:nvSpPr>
        <p:spPr bwMode="auto">
          <a:xfrm>
            <a:off x="7999413" y="4133850"/>
            <a:ext cx="1022350"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1800" dirty="0"/>
              <a:t>object</a:t>
            </a:r>
          </a:p>
        </p:txBody>
      </p:sp>
      <p:sp>
        <p:nvSpPr>
          <p:cNvPr id="24" name="AutoShape 269">
            <a:extLst>
              <a:ext uri="{FF2B5EF4-FFF2-40B4-BE49-F238E27FC236}">
                <a16:creationId xmlns:a16="http://schemas.microsoft.com/office/drawing/2014/main" id="{DA44CB44-24E8-B34D-B659-34531F67BB12}"/>
              </a:ext>
            </a:extLst>
          </p:cNvPr>
          <p:cNvSpPr>
            <a:spLocks noChangeArrowheads="1"/>
          </p:cNvSpPr>
          <p:nvPr/>
        </p:nvSpPr>
        <p:spPr bwMode="auto">
          <a:xfrm>
            <a:off x="461963" y="4419600"/>
            <a:ext cx="1781175" cy="854075"/>
          </a:xfrm>
          <a:prstGeom prst="foldedCorner">
            <a:avLst>
              <a:gd name="adj" fmla="val 12500"/>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0" tIns="45704" rIns="91410" bIns="45704" anchor="ctr"/>
          <a:lstStyle>
            <a:lvl1pPr>
              <a:defRPr kumimoji="1">
                <a:solidFill>
                  <a:schemeClr val="tx1"/>
                </a:solidFill>
                <a:latin typeface="Arial" panose="020B0604020202020204" pitchFamily="34" charset="0"/>
                <a:ea typeface="ＭＳ Ｐゴシック" panose="020B0600070205080204" pitchFamily="34" charset="-128"/>
              </a:defRPr>
            </a:lvl1pPr>
            <a:lvl2pPr>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marL="1368425">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nSpc>
                <a:spcPct val="50000"/>
              </a:lnSpc>
            </a:pPr>
            <a:endParaRPr lang="en-US" altLang="en-US" sz="1800" b="0">
              <a:latin typeface="ＭＳ ゴシック" panose="020B0609070205080204" pitchFamily="49" charset="-128"/>
              <a:ea typeface="ＭＳ ゴシック" panose="020B0609070205080204" pitchFamily="49" charset="-128"/>
            </a:endParaRPr>
          </a:p>
        </p:txBody>
      </p:sp>
      <p:sp>
        <p:nvSpPr>
          <p:cNvPr id="25" name="Text Box 270">
            <a:extLst>
              <a:ext uri="{FF2B5EF4-FFF2-40B4-BE49-F238E27FC236}">
                <a16:creationId xmlns:a16="http://schemas.microsoft.com/office/drawing/2014/main" id="{0A7EB9FF-2B76-074E-7338-252B2645D53A}"/>
              </a:ext>
            </a:extLst>
          </p:cNvPr>
          <p:cNvSpPr txBox="1">
            <a:spLocks noChangeArrowheads="1"/>
          </p:cNvSpPr>
          <p:nvPr/>
        </p:nvSpPr>
        <p:spPr bwMode="auto">
          <a:xfrm>
            <a:off x="522288" y="4497388"/>
            <a:ext cx="1941512" cy="7651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35000"/>
              </a:spcBef>
            </a:pPr>
            <a:r>
              <a:rPr lang="en-US" altLang="ja-JP" sz="1800" b="0">
                <a:latin typeface="ＭＳ ゴシック" panose="020B0609070205080204" pitchFamily="49" charset="-128"/>
                <a:ea typeface="ＭＳ ゴシック" panose="020B0609070205080204" pitchFamily="49" charset="-128"/>
              </a:rPr>
              <a:t>Object obj1 = </a:t>
            </a:r>
            <a:br>
              <a:rPr lang="en-US" altLang="ja-JP" sz="1800" b="0">
                <a:latin typeface="ＭＳ ゴシック" panose="020B0609070205080204" pitchFamily="49" charset="-128"/>
                <a:ea typeface="ＭＳ ゴシック" panose="020B0609070205080204" pitchFamily="49" charset="-128"/>
              </a:rPr>
            </a:br>
            <a:r>
              <a:rPr lang="en-US" altLang="ja-JP" sz="1800" b="0">
                <a:latin typeface="ＭＳ ゴシック" panose="020B0609070205080204" pitchFamily="49" charset="-128"/>
                <a:ea typeface="ＭＳ ゴシック" panose="020B0609070205080204" pitchFamily="49" charset="-128"/>
              </a:rPr>
              <a:t>new Object();</a:t>
            </a:r>
          </a:p>
        </p:txBody>
      </p:sp>
      <p:sp>
        <p:nvSpPr>
          <p:cNvPr id="26" name="AutoShape 274">
            <a:extLst>
              <a:ext uri="{FF2B5EF4-FFF2-40B4-BE49-F238E27FC236}">
                <a16:creationId xmlns:a16="http://schemas.microsoft.com/office/drawing/2014/main" id="{D0EB7528-8AEE-5DC5-96A5-A2D4A48096F1}"/>
              </a:ext>
            </a:extLst>
          </p:cNvPr>
          <p:cNvSpPr>
            <a:spLocks noChangeArrowheads="1"/>
          </p:cNvSpPr>
          <p:nvPr/>
        </p:nvSpPr>
        <p:spPr bwMode="auto">
          <a:xfrm>
            <a:off x="2454275" y="4265613"/>
            <a:ext cx="266700" cy="695325"/>
          </a:xfrm>
          <a:prstGeom prst="rightArrow">
            <a:avLst>
              <a:gd name="adj1" fmla="val 50000"/>
              <a:gd name="adj2" fmla="val 25000"/>
            </a:avLst>
          </a:prstGeom>
          <a:solidFill>
            <a:srgbClr val="0033CC">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Text Box 58">
            <a:extLst>
              <a:ext uri="{FF2B5EF4-FFF2-40B4-BE49-F238E27FC236}">
                <a16:creationId xmlns:a16="http://schemas.microsoft.com/office/drawing/2014/main" id="{E2378D4F-295E-8E76-E39D-2CABFC28C3B7}"/>
              </a:ext>
            </a:extLst>
          </p:cNvPr>
          <p:cNvSpPr txBox="1">
            <a:spLocks noChangeArrowheads="1"/>
          </p:cNvSpPr>
          <p:nvPr/>
        </p:nvSpPr>
        <p:spPr bwMode="auto">
          <a:xfrm>
            <a:off x="2932113" y="3233738"/>
            <a:ext cx="7207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a:latin typeface="ＭＳ ゴシック" panose="020B0609070205080204" pitchFamily="49" charset="-128"/>
                <a:ea typeface="ＭＳ ゴシック" panose="020B0609070205080204" pitchFamily="49" charset="-128"/>
              </a:rPr>
              <a:t>str1</a:t>
            </a:r>
          </a:p>
        </p:txBody>
      </p:sp>
      <p:sp>
        <p:nvSpPr>
          <p:cNvPr id="28" name="Rectangle 59">
            <a:extLst>
              <a:ext uri="{FF2B5EF4-FFF2-40B4-BE49-F238E27FC236}">
                <a16:creationId xmlns:a16="http://schemas.microsoft.com/office/drawing/2014/main" id="{C856789F-77AB-5320-0358-F56770D4B05B}"/>
              </a:ext>
            </a:extLst>
          </p:cNvPr>
          <p:cNvSpPr>
            <a:spLocks noChangeArrowheads="1"/>
          </p:cNvSpPr>
          <p:nvPr/>
        </p:nvSpPr>
        <p:spPr bwMode="auto">
          <a:xfrm>
            <a:off x="3509963" y="3224213"/>
            <a:ext cx="914400" cy="4159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Text Box 60">
            <a:extLst>
              <a:ext uri="{FF2B5EF4-FFF2-40B4-BE49-F238E27FC236}">
                <a16:creationId xmlns:a16="http://schemas.microsoft.com/office/drawing/2014/main" id="{4A7EB3BE-892D-545A-B700-F954D36C5895}"/>
              </a:ext>
            </a:extLst>
          </p:cNvPr>
          <p:cNvSpPr txBox="1">
            <a:spLocks noChangeArrowheads="1"/>
          </p:cNvSpPr>
          <p:nvPr/>
        </p:nvSpPr>
        <p:spPr bwMode="auto">
          <a:xfrm>
            <a:off x="3573463" y="3235325"/>
            <a:ext cx="796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MS UI Gothic" panose="020B0600070205080204" pitchFamily="34" charset="-128"/>
              </a:rPr>
              <a:t>xxxx</a:t>
            </a:r>
          </a:p>
        </p:txBody>
      </p:sp>
      <p:sp>
        <p:nvSpPr>
          <p:cNvPr id="30" name="Text Box 181">
            <a:extLst>
              <a:ext uri="{FF2B5EF4-FFF2-40B4-BE49-F238E27FC236}">
                <a16:creationId xmlns:a16="http://schemas.microsoft.com/office/drawing/2014/main" id="{D126DC99-5FA0-1A01-27B1-61A9A26A2AC4}"/>
              </a:ext>
            </a:extLst>
          </p:cNvPr>
          <p:cNvSpPr txBox="1">
            <a:spLocks noChangeArrowheads="1"/>
          </p:cNvSpPr>
          <p:nvPr/>
        </p:nvSpPr>
        <p:spPr bwMode="auto">
          <a:xfrm>
            <a:off x="5121275" y="2284413"/>
            <a:ext cx="7969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1000</a:t>
            </a:r>
          </a:p>
        </p:txBody>
      </p:sp>
      <p:sp>
        <p:nvSpPr>
          <p:cNvPr id="31" name="Text Box 183">
            <a:extLst>
              <a:ext uri="{FF2B5EF4-FFF2-40B4-BE49-F238E27FC236}">
                <a16:creationId xmlns:a16="http://schemas.microsoft.com/office/drawing/2014/main" id="{CC20857C-A2E4-D495-E62A-01F87585A9D5}"/>
              </a:ext>
            </a:extLst>
          </p:cNvPr>
          <p:cNvSpPr txBox="1">
            <a:spLocks noChangeArrowheads="1"/>
          </p:cNvSpPr>
          <p:nvPr/>
        </p:nvSpPr>
        <p:spPr bwMode="auto">
          <a:xfrm>
            <a:off x="5121275" y="3133725"/>
            <a:ext cx="796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MS UI Gothic" panose="020B0600070205080204" pitchFamily="34" charset="-128"/>
              </a:rPr>
              <a:t>xxxx</a:t>
            </a:r>
          </a:p>
        </p:txBody>
      </p:sp>
      <p:sp>
        <p:nvSpPr>
          <p:cNvPr id="32" name="Text Box 188">
            <a:extLst>
              <a:ext uri="{FF2B5EF4-FFF2-40B4-BE49-F238E27FC236}">
                <a16:creationId xmlns:a16="http://schemas.microsoft.com/office/drawing/2014/main" id="{F92919CA-9815-E5EB-501B-9F79ECFE6DDB}"/>
              </a:ext>
            </a:extLst>
          </p:cNvPr>
          <p:cNvSpPr txBox="1">
            <a:spLocks noChangeArrowheads="1"/>
          </p:cNvSpPr>
          <p:nvPr/>
        </p:nvSpPr>
        <p:spPr bwMode="auto">
          <a:xfrm>
            <a:off x="5121275" y="2820988"/>
            <a:ext cx="7969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ja-JP" altLang="en-US" sz="1800" b="0">
                <a:latin typeface="ＭＳ ゴシック" panose="020B0609070205080204" pitchFamily="49" charset="-128"/>
                <a:ea typeface="ＭＳ ゴシック" panose="020B0609070205080204" pitchFamily="49" charset="-128"/>
              </a:rPr>
              <a:t>：</a:t>
            </a:r>
          </a:p>
        </p:txBody>
      </p:sp>
      <p:sp>
        <p:nvSpPr>
          <p:cNvPr id="33" name="Text Box 191">
            <a:extLst>
              <a:ext uri="{FF2B5EF4-FFF2-40B4-BE49-F238E27FC236}">
                <a16:creationId xmlns:a16="http://schemas.microsoft.com/office/drawing/2014/main" id="{4A7F3823-454D-2026-537E-BD5E872E8FEA}"/>
              </a:ext>
            </a:extLst>
          </p:cNvPr>
          <p:cNvSpPr txBox="1">
            <a:spLocks noChangeArrowheads="1"/>
          </p:cNvSpPr>
          <p:nvPr/>
        </p:nvSpPr>
        <p:spPr bwMode="auto">
          <a:xfrm>
            <a:off x="5121275" y="2593975"/>
            <a:ext cx="796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1001</a:t>
            </a:r>
          </a:p>
        </p:txBody>
      </p:sp>
      <p:sp>
        <p:nvSpPr>
          <p:cNvPr id="34" name="Text Box 195">
            <a:extLst>
              <a:ext uri="{FF2B5EF4-FFF2-40B4-BE49-F238E27FC236}">
                <a16:creationId xmlns:a16="http://schemas.microsoft.com/office/drawing/2014/main" id="{358624BB-A94D-459C-4590-00706EC35CD4}"/>
              </a:ext>
            </a:extLst>
          </p:cNvPr>
          <p:cNvSpPr txBox="1">
            <a:spLocks noChangeArrowheads="1"/>
          </p:cNvSpPr>
          <p:nvPr/>
        </p:nvSpPr>
        <p:spPr bwMode="auto">
          <a:xfrm>
            <a:off x="5121275" y="4535488"/>
            <a:ext cx="7969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ja-JP" altLang="en-US" sz="1800" b="0">
                <a:latin typeface="ＭＳ ゴシック" panose="020B0609070205080204" pitchFamily="49" charset="-128"/>
                <a:ea typeface="ＭＳ ゴシック" panose="020B0609070205080204" pitchFamily="49" charset="-128"/>
              </a:rPr>
              <a:t>：</a:t>
            </a:r>
          </a:p>
        </p:txBody>
      </p:sp>
      <p:sp>
        <p:nvSpPr>
          <p:cNvPr id="35" name="Text Box 247">
            <a:extLst>
              <a:ext uri="{FF2B5EF4-FFF2-40B4-BE49-F238E27FC236}">
                <a16:creationId xmlns:a16="http://schemas.microsoft.com/office/drawing/2014/main" id="{35D64020-4DDC-2083-914F-54B6C16E3F6C}"/>
              </a:ext>
            </a:extLst>
          </p:cNvPr>
          <p:cNvSpPr txBox="1">
            <a:spLocks noChangeArrowheads="1"/>
          </p:cNvSpPr>
          <p:nvPr/>
        </p:nvSpPr>
        <p:spPr bwMode="auto">
          <a:xfrm>
            <a:off x="7035800" y="2273300"/>
            <a:ext cx="796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2000</a:t>
            </a:r>
          </a:p>
        </p:txBody>
      </p:sp>
      <p:sp>
        <p:nvSpPr>
          <p:cNvPr id="36" name="Text Box 248">
            <a:extLst>
              <a:ext uri="{FF2B5EF4-FFF2-40B4-BE49-F238E27FC236}">
                <a16:creationId xmlns:a16="http://schemas.microsoft.com/office/drawing/2014/main" id="{BBDD64B3-39C4-8E73-05B4-472A1A00F369}"/>
              </a:ext>
            </a:extLst>
          </p:cNvPr>
          <p:cNvSpPr txBox="1">
            <a:spLocks noChangeArrowheads="1"/>
          </p:cNvSpPr>
          <p:nvPr/>
        </p:nvSpPr>
        <p:spPr bwMode="auto">
          <a:xfrm>
            <a:off x="7035800" y="4089400"/>
            <a:ext cx="796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MS UI Gothic" panose="020B0600070205080204" pitchFamily="34" charset="-128"/>
              </a:rPr>
              <a:t>yyyy</a:t>
            </a:r>
          </a:p>
        </p:txBody>
      </p:sp>
      <p:sp>
        <p:nvSpPr>
          <p:cNvPr id="37" name="Text Box 249">
            <a:extLst>
              <a:ext uri="{FF2B5EF4-FFF2-40B4-BE49-F238E27FC236}">
                <a16:creationId xmlns:a16="http://schemas.microsoft.com/office/drawing/2014/main" id="{CD3CB9D3-F7A4-8913-FB1D-66E3B63F0B37}"/>
              </a:ext>
            </a:extLst>
          </p:cNvPr>
          <p:cNvSpPr txBox="1">
            <a:spLocks noChangeArrowheads="1"/>
          </p:cNvSpPr>
          <p:nvPr/>
        </p:nvSpPr>
        <p:spPr bwMode="auto">
          <a:xfrm>
            <a:off x="7035800" y="2582863"/>
            <a:ext cx="7969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2001</a:t>
            </a:r>
          </a:p>
        </p:txBody>
      </p:sp>
      <p:sp>
        <p:nvSpPr>
          <p:cNvPr id="38" name="Text Box 265">
            <a:extLst>
              <a:ext uri="{FF2B5EF4-FFF2-40B4-BE49-F238E27FC236}">
                <a16:creationId xmlns:a16="http://schemas.microsoft.com/office/drawing/2014/main" id="{5D561558-DEF6-1308-D262-531F98759403}"/>
              </a:ext>
            </a:extLst>
          </p:cNvPr>
          <p:cNvSpPr txBox="1">
            <a:spLocks noChangeArrowheads="1"/>
          </p:cNvSpPr>
          <p:nvPr/>
        </p:nvSpPr>
        <p:spPr bwMode="auto">
          <a:xfrm>
            <a:off x="7029450" y="2820988"/>
            <a:ext cx="7969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ja-JP" altLang="en-US" sz="1800" b="0">
                <a:latin typeface="ＭＳ ゴシック" panose="020B0609070205080204" pitchFamily="49" charset="-128"/>
                <a:ea typeface="ＭＳ ゴシック" panose="020B0609070205080204" pitchFamily="49" charset="-128"/>
              </a:rPr>
              <a:t>：</a:t>
            </a:r>
          </a:p>
        </p:txBody>
      </p:sp>
      <p:sp>
        <p:nvSpPr>
          <p:cNvPr id="39" name="Text Box 271">
            <a:extLst>
              <a:ext uri="{FF2B5EF4-FFF2-40B4-BE49-F238E27FC236}">
                <a16:creationId xmlns:a16="http://schemas.microsoft.com/office/drawing/2014/main" id="{CF0037EE-CF4B-EAEE-F83A-1A1392A59D71}"/>
              </a:ext>
            </a:extLst>
          </p:cNvPr>
          <p:cNvSpPr txBox="1">
            <a:spLocks noChangeArrowheads="1"/>
          </p:cNvSpPr>
          <p:nvPr/>
        </p:nvSpPr>
        <p:spPr bwMode="auto">
          <a:xfrm>
            <a:off x="2906713" y="4394200"/>
            <a:ext cx="7207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a:latin typeface="ＭＳ ゴシック" panose="020B0609070205080204" pitchFamily="49" charset="-128"/>
                <a:ea typeface="ＭＳ ゴシック" panose="020B0609070205080204" pitchFamily="49" charset="-128"/>
              </a:rPr>
              <a:t>obj1</a:t>
            </a:r>
          </a:p>
        </p:txBody>
      </p:sp>
      <p:sp>
        <p:nvSpPr>
          <p:cNvPr id="40" name="Rectangle 272">
            <a:extLst>
              <a:ext uri="{FF2B5EF4-FFF2-40B4-BE49-F238E27FC236}">
                <a16:creationId xmlns:a16="http://schemas.microsoft.com/office/drawing/2014/main" id="{FC167C4A-A227-1D69-8049-E201091D1E80}"/>
              </a:ext>
            </a:extLst>
          </p:cNvPr>
          <p:cNvSpPr>
            <a:spLocks noChangeArrowheads="1"/>
          </p:cNvSpPr>
          <p:nvPr/>
        </p:nvSpPr>
        <p:spPr bwMode="auto">
          <a:xfrm>
            <a:off x="3503613" y="4384675"/>
            <a:ext cx="914400" cy="4159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Text Box 273">
            <a:extLst>
              <a:ext uri="{FF2B5EF4-FFF2-40B4-BE49-F238E27FC236}">
                <a16:creationId xmlns:a16="http://schemas.microsoft.com/office/drawing/2014/main" id="{1907702B-4CF8-51D8-1EAA-05190F34297A}"/>
              </a:ext>
            </a:extLst>
          </p:cNvPr>
          <p:cNvSpPr txBox="1">
            <a:spLocks noChangeArrowheads="1"/>
          </p:cNvSpPr>
          <p:nvPr/>
        </p:nvSpPr>
        <p:spPr bwMode="auto">
          <a:xfrm>
            <a:off x="3567113" y="4395788"/>
            <a:ext cx="7969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MS UI Gothic" panose="020B0600070205080204" pitchFamily="34" charset="-128"/>
              </a:rPr>
              <a:t>yyyy</a:t>
            </a:r>
          </a:p>
        </p:txBody>
      </p:sp>
      <p:sp>
        <p:nvSpPr>
          <p:cNvPr id="42" name="AutoShape 281">
            <a:extLst>
              <a:ext uri="{FF2B5EF4-FFF2-40B4-BE49-F238E27FC236}">
                <a16:creationId xmlns:a16="http://schemas.microsoft.com/office/drawing/2014/main" id="{06E7C490-3679-C33D-C5DB-0C5B04D0F5FE}"/>
              </a:ext>
            </a:extLst>
          </p:cNvPr>
          <p:cNvSpPr>
            <a:spLocks noChangeArrowheads="1"/>
          </p:cNvSpPr>
          <p:nvPr/>
        </p:nvSpPr>
        <p:spPr bwMode="auto">
          <a:xfrm>
            <a:off x="1257300" y="5410200"/>
            <a:ext cx="2982913" cy="592138"/>
          </a:xfrm>
          <a:prstGeom prst="wedgeRoundRectCallout">
            <a:avLst>
              <a:gd name="adj1" fmla="val 32755"/>
              <a:gd name="adj2" fmla="val -15938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34" charset="-128"/>
              </a:defRPr>
            </a:lvl1pPr>
            <a:lvl2pPr marL="446088" defTabSz="892175">
              <a:defRPr kumimoji="1">
                <a:solidFill>
                  <a:schemeClr val="tx1"/>
                </a:solidFill>
                <a:latin typeface="Arial" panose="020B0604020202020204" pitchFamily="34" charset="0"/>
                <a:ea typeface="ＭＳ Ｐゴシック" panose="020B0600070205080204" pitchFamily="34" charset="-128"/>
              </a:defRPr>
            </a:lvl2pPr>
            <a:lvl3pPr marL="892175" defTabSz="892175">
              <a:defRPr kumimoji="1">
                <a:solidFill>
                  <a:schemeClr val="tx1"/>
                </a:solidFill>
                <a:latin typeface="Arial" panose="020B0604020202020204" pitchFamily="34" charset="0"/>
                <a:ea typeface="ＭＳ Ｐゴシック" panose="020B0600070205080204" pitchFamily="34" charset="-128"/>
              </a:defRPr>
            </a:lvl3pPr>
            <a:lvl4pPr marL="1335088" defTabSz="892175">
              <a:defRPr kumimoji="1">
                <a:solidFill>
                  <a:schemeClr val="tx1"/>
                </a:solidFill>
                <a:latin typeface="Arial" panose="020B0604020202020204" pitchFamily="34" charset="0"/>
                <a:ea typeface="ＭＳ Ｐゴシック" panose="020B0600070205080204" pitchFamily="34" charset="-128"/>
              </a:defRPr>
            </a:lvl4pPr>
            <a:lvl5pPr marL="1784350" defTabSz="892175">
              <a:defRPr kumimoji="1">
                <a:solidFill>
                  <a:schemeClr val="tx1"/>
                </a:solidFill>
                <a:latin typeface="Arial" panose="020B0604020202020204" pitchFamily="34" charset="0"/>
                <a:ea typeface="ＭＳ Ｐゴシック" panose="020B0600070205080204" pitchFamily="34"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gn="ctr"/>
            <a:r>
              <a:rPr lang="en-US" altLang="ja-JP" sz="1800" b="0">
                <a:ea typeface="MS UI Gothic" panose="020B0600070205080204" pitchFamily="34" charset="-128"/>
              </a:rPr>
              <a:t>Giá trị biểu thị địa điểm trên memory</a:t>
            </a:r>
          </a:p>
        </p:txBody>
      </p:sp>
      <p:sp>
        <p:nvSpPr>
          <p:cNvPr id="43" name="AutoShape 283">
            <a:extLst>
              <a:ext uri="{FF2B5EF4-FFF2-40B4-BE49-F238E27FC236}">
                <a16:creationId xmlns:a16="http://schemas.microsoft.com/office/drawing/2014/main" id="{D06E3269-FBBF-8A40-936E-F5D2362C6DFE}"/>
              </a:ext>
            </a:extLst>
          </p:cNvPr>
          <p:cNvSpPr>
            <a:spLocks noChangeArrowheads="1"/>
          </p:cNvSpPr>
          <p:nvPr/>
        </p:nvSpPr>
        <p:spPr bwMode="auto">
          <a:xfrm>
            <a:off x="2366963" y="2409825"/>
            <a:ext cx="1873250" cy="487363"/>
          </a:xfrm>
          <a:prstGeom prst="wedgeRoundRectCallout">
            <a:avLst>
              <a:gd name="adj1" fmla="val 36866"/>
              <a:gd name="adj2" fmla="val -11025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34" charset="-128"/>
              </a:defRPr>
            </a:lvl1pPr>
            <a:lvl2pPr marL="446088" defTabSz="892175">
              <a:defRPr kumimoji="1">
                <a:solidFill>
                  <a:schemeClr val="tx1"/>
                </a:solidFill>
                <a:latin typeface="Arial" panose="020B0604020202020204" pitchFamily="34" charset="0"/>
                <a:ea typeface="ＭＳ Ｐゴシック" panose="020B0600070205080204" pitchFamily="34" charset="-128"/>
              </a:defRPr>
            </a:lvl2pPr>
            <a:lvl3pPr marL="892175" defTabSz="892175">
              <a:defRPr kumimoji="1">
                <a:solidFill>
                  <a:schemeClr val="tx1"/>
                </a:solidFill>
                <a:latin typeface="Arial" panose="020B0604020202020204" pitchFamily="34" charset="0"/>
                <a:ea typeface="ＭＳ Ｐゴシック" panose="020B0600070205080204" pitchFamily="34" charset="-128"/>
              </a:defRPr>
            </a:lvl3pPr>
            <a:lvl4pPr marL="1335088" defTabSz="892175">
              <a:defRPr kumimoji="1">
                <a:solidFill>
                  <a:schemeClr val="tx1"/>
                </a:solidFill>
                <a:latin typeface="Arial" panose="020B0604020202020204" pitchFamily="34" charset="0"/>
                <a:ea typeface="ＭＳ Ｐゴシック" panose="020B0600070205080204" pitchFamily="34" charset="-128"/>
              </a:defRPr>
            </a:lvl4pPr>
            <a:lvl5pPr marL="1784350" defTabSz="892175">
              <a:defRPr kumimoji="1">
                <a:solidFill>
                  <a:schemeClr val="tx1"/>
                </a:solidFill>
                <a:latin typeface="Arial" panose="020B0604020202020204" pitchFamily="34" charset="0"/>
                <a:ea typeface="ＭＳ Ｐゴシック" panose="020B0600070205080204" pitchFamily="34"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gn="ctr"/>
            <a:r>
              <a:rPr lang="en-US" altLang="ja-JP" sz="1800" b="0">
                <a:ea typeface="MS UI Gothic" panose="020B0600070205080204" pitchFamily="34" charset="-128"/>
              </a:rPr>
              <a:t>Giá trị</a:t>
            </a:r>
          </a:p>
        </p:txBody>
      </p:sp>
      <p:sp>
        <p:nvSpPr>
          <p:cNvPr id="44" name="Rectangle 294">
            <a:extLst>
              <a:ext uri="{FF2B5EF4-FFF2-40B4-BE49-F238E27FC236}">
                <a16:creationId xmlns:a16="http://schemas.microsoft.com/office/drawing/2014/main" id="{70D517C9-28CB-7CB9-320D-C293813B5D63}"/>
              </a:ext>
            </a:extLst>
          </p:cNvPr>
          <p:cNvSpPr>
            <a:spLocks noChangeArrowheads="1"/>
          </p:cNvSpPr>
          <p:nvPr/>
        </p:nvSpPr>
        <p:spPr bwMode="auto">
          <a:xfrm>
            <a:off x="5078413" y="3184525"/>
            <a:ext cx="881062" cy="3587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Rectangle 295">
            <a:extLst>
              <a:ext uri="{FF2B5EF4-FFF2-40B4-BE49-F238E27FC236}">
                <a16:creationId xmlns:a16="http://schemas.microsoft.com/office/drawing/2014/main" id="{FB1ADB9A-D25C-7EBE-4207-30B707E54D49}"/>
              </a:ext>
            </a:extLst>
          </p:cNvPr>
          <p:cNvSpPr>
            <a:spLocks noChangeArrowheads="1"/>
          </p:cNvSpPr>
          <p:nvPr/>
        </p:nvSpPr>
        <p:spPr bwMode="auto">
          <a:xfrm>
            <a:off x="6945313" y="4137025"/>
            <a:ext cx="881062" cy="3587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Line 296">
            <a:extLst>
              <a:ext uri="{FF2B5EF4-FFF2-40B4-BE49-F238E27FC236}">
                <a16:creationId xmlns:a16="http://schemas.microsoft.com/office/drawing/2014/main" id="{6934A010-0DEA-CDBB-7059-7AF29907AF09}"/>
              </a:ext>
            </a:extLst>
          </p:cNvPr>
          <p:cNvSpPr>
            <a:spLocks noChangeShapeType="1"/>
          </p:cNvSpPr>
          <p:nvPr/>
        </p:nvSpPr>
        <p:spPr bwMode="auto">
          <a:xfrm>
            <a:off x="4445000" y="3365500"/>
            <a:ext cx="622300" cy="0"/>
          </a:xfrm>
          <a:prstGeom prst="line">
            <a:avLst/>
          </a:prstGeom>
          <a:noFill/>
          <a:ln w="381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Line 297">
            <a:extLst>
              <a:ext uri="{FF2B5EF4-FFF2-40B4-BE49-F238E27FC236}">
                <a16:creationId xmlns:a16="http://schemas.microsoft.com/office/drawing/2014/main" id="{7A5F1B01-EBA1-08AB-EFEC-7C112A4E66C9}"/>
              </a:ext>
            </a:extLst>
          </p:cNvPr>
          <p:cNvSpPr>
            <a:spLocks noChangeShapeType="1"/>
          </p:cNvSpPr>
          <p:nvPr/>
        </p:nvSpPr>
        <p:spPr bwMode="auto">
          <a:xfrm flipV="1">
            <a:off x="4432300" y="4330700"/>
            <a:ext cx="2501900" cy="279400"/>
          </a:xfrm>
          <a:prstGeom prst="line">
            <a:avLst/>
          </a:prstGeom>
          <a:noFill/>
          <a:ln w="381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755938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ED937-FC58-B9DF-32E7-4211A0274FF4}"/>
              </a:ext>
            </a:extLst>
          </p:cNvPr>
          <p:cNvSpPr>
            <a:spLocks noGrp="1"/>
          </p:cNvSpPr>
          <p:nvPr>
            <p:ph type="title"/>
          </p:nvPr>
        </p:nvSpPr>
        <p:spPr/>
        <p:txBody>
          <a:bodyPr>
            <a:normAutofit fontScale="90000"/>
          </a:bodyPr>
          <a:lstStyle/>
          <a:p>
            <a:r>
              <a:rPr lang="en-US" dirty="0" err="1"/>
              <a:t>Chuỗi</a:t>
            </a:r>
            <a:r>
              <a:rPr lang="en-US" dirty="0"/>
              <a:t> </a:t>
            </a:r>
            <a:r>
              <a:rPr lang="en-US" dirty="0" err="1"/>
              <a:t>ký</a:t>
            </a:r>
            <a:r>
              <a:rPr lang="en-US" dirty="0"/>
              <a:t> </a:t>
            </a:r>
            <a:r>
              <a:rPr lang="en-US" dirty="0" err="1"/>
              <a:t>tự</a:t>
            </a:r>
            <a:endParaRPr lang="en-US" dirty="0"/>
          </a:p>
        </p:txBody>
      </p:sp>
      <p:sp>
        <p:nvSpPr>
          <p:cNvPr id="4" name="Slide Number Placeholder 3">
            <a:extLst>
              <a:ext uri="{FF2B5EF4-FFF2-40B4-BE49-F238E27FC236}">
                <a16:creationId xmlns:a16="http://schemas.microsoft.com/office/drawing/2014/main" id="{DE52EE56-E25E-34CC-959A-99537FDBADA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35</a:t>
            </a:fld>
            <a:endParaRPr lang="en-US" altLang="ja-JP"/>
          </a:p>
        </p:txBody>
      </p:sp>
      <p:sp>
        <p:nvSpPr>
          <p:cNvPr id="5" name="Slide Number Placeholder 4">
            <a:extLst>
              <a:ext uri="{FF2B5EF4-FFF2-40B4-BE49-F238E27FC236}">
                <a16:creationId xmlns:a16="http://schemas.microsoft.com/office/drawing/2014/main" id="{C64F150C-6B80-6F2C-FEBE-3BB4717A41AC}"/>
              </a:ext>
            </a:extLst>
          </p:cNvPr>
          <p:cNvSpPr txBox="1">
            <a:spLocks/>
          </p:cNvSpPr>
          <p:nvPr/>
        </p:nvSpPr>
        <p:spPr>
          <a:xfrm>
            <a:off x="7616825" y="6648450"/>
            <a:ext cx="2133600" cy="476250"/>
          </a:xfrm>
          <a:prstGeom prst="rect">
            <a:avLst/>
          </a:prstGeom>
        </p:spPr>
        <p:txBody>
          <a:bodyPr anchor="ctr"/>
          <a:lstStyle>
            <a:defPPr>
              <a:defRPr lang="ja-JP"/>
            </a:defPPr>
            <a:lvl1pPr algn="l" rtl="0" eaLnBrk="0" fontAlgn="base" hangingPunct="0">
              <a:spcBef>
                <a:spcPct val="0"/>
              </a:spcBef>
              <a:spcAft>
                <a:spcPct val="0"/>
              </a:spcAft>
              <a:defRPr kumimoji="1" sz="105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a:lstStyle>
          <a:p>
            <a:fld id="{DC9900DA-206F-4C28-A11D-8FC57FED1E67}" type="slidenum">
              <a:rPr lang="en-US" altLang="ja-JP" smtClean="0"/>
              <a:pPr/>
              <a:t>35</a:t>
            </a:fld>
            <a:endParaRPr lang="en-US" altLang="ja-JP"/>
          </a:p>
        </p:txBody>
      </p:sp>
      <p:sp>
        <p:nvSpPr>
          <p:cNvPr id="6" name="Rectangle 4">
            <a:extLst>
              <a:ext uri="{FF2B5EF4-FFF2-40B4-BE49-F238E27FC236}">
                <a16:creationId xmlns:a16="http://schemas.microsoft.com/office/drawing/2014/main" id="{B134078C-BFF0-DB38-3882-6684A22EC1D7}"/>
              </a:ext>
            </a:extLst>
          </p:cNvPr>
          <p:cNvSpPr>
            <a:spLocks noChangeArrowheads="1"/>
          </p:cNvSpPr>
          <p:nvPr/>
        </p:nvSpPr>
        <p:spPr bwMode="auto">
          <a:xfrm>
            <a:off x="344488" y="10668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a:latin typeface="Arial" panose="020B0604020202020204" pitchFamily="34" charset="0"/>
              </a:rPr>
              <a:t>Chuỗi ký tự của Java</a:t>
            </a:r>
          </a:p>
          <a:p>
            <a:endParaRPr lang="en-US" altLang="ja-JP" sz="2400" b="0">
              <a:latin typeface="Arial" panose="020B0604020202020204" pitchFamily="34" charset="0"/>
            </a:endParaRPr>
          </a:p>
          <a:p>
            <a:endParaRPr lang="en-US" altLang="ja-JP" sz="2400" b="0">
              <a:latin typeface="Arial" panose="020B0604020202020204" pitchFamily="34" charset="0"/>
            </a:endParaRPr>
          </a:p>
        </p:txBody>
      </p:sp>
      <p:sp>
        <p:nvSpPr>
          <p:cNvPr id="7" name="Rectangle 5">
            <a:extLst>
              <a:ext uri="{FF2B5EF4-FFF2-40B4-BE49-F238E27FC236}">
                <a16:creationId xmlns:a16="http://schemas.microsoft.com/office/drawing/2014/main" id="{EF190AD7-2621-E905-0168-2D0250ACA299}"/>
              </a:ext>
            </a:extLst>
          </p:cNvPr>
          <p:cNvSpPr>
            <a:spLocks noChangeArrowheads="1"/>
          </p:cNvSpPr>
          <p:nvPr/>
        </p:nvSpPr>
        <p:spPr bwMode="auto">
          <a:xfrm>
            <a:off x="344488" y="1663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000">
                <a:latin typeface="Arial" panose="020B0604020202020204" pitchFamily="34" charset="0"/>
                <a:ea typeface="ＭＳ ゴシック" panose="020B0609070205080204" pitchFamily="49" charset="-128"/>
              </a:rPr>
              <a:t>Object của String class</a:t>
            </a:r>
            <a:endParaRPr lang="en-US" altLang="ja-JP" sz="2000">
              <a:latin typeface="Arial" panose="020B0604020202020204" pitchFamily="34" charset="0"/>
            </a:endParaRPr>
          </a:p>
        </p:txBody>
      </p:sp>
      <p:sp>
        <p:nvSpPr>
          <p:cNvPr id="8" name="Rectangle 7">
            <a:extLst>
              <a:ext uri="{FF2B5EF4-FFF2-40B4-BE49-F238E27FC236}">
                <a16:creationId xmlns:a16="http://schemas.microsoft.com/office/drawing/2014/main" id="{5E6CF1EA-34B7-B53F-7BE3-D02E6450F7B0}"/>
              </a:ext>
            </a:extLst>
          </p:cNvPr>
          <p:cNvSpPr>
            <a:spLocks noChangeArrowheads="1"/>
          </p:cNvSpPr>
          <p:nvPr/>
        </p:nvSpPr>
        <p:spPr bwMode="auto">
          <a:xfrm>
            <a:off x="344488" y="2374900"/>
            <a:ext cx="9117012" cy="3897313"/>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8">
            <a:extLst>
              <a:ext uri="{FF2B5EF4-FFF2-40B4-BE49-F238E27FC236}">
                <a16:creationId xmlns:a16="http://schemas.microsoft.com/office/drawing/2014/main" id="{90FE8A97-3B0B-B2AD-698F-BDE6E4E0BAAD}"/>
              </a:ext>
            </a:extLst>
          </p:cNvPr>
          <p:cNvSpPr>
            <a:spLocks noChangeArrowheads="1"/>
          </p:cNvSpPr>
          <p:nvPr/>
        </p:nvSpPr>
        <p:spPr bwMode="auto">
          <a:xfrm>
            <a:off x="3571875" y="4054475"/>
            <a:ext cx="5395913" cy="1625600"/>
          </a:xfrm>
          <a:prstGeom prst="rect">
            <a:avLst/>
          </a:prstGeom>
          <a:solidFill>
            <a:schemeClr val="accent1">
              <a:alpha val="50000"/>
            </a:schemeClr>
          </a:solidFill>
          <a:ln w="9525" algn="ctr">
            <a:solidFill>
              <a:schemeClr val="tx1"/>
            </a:solidFill>
            <a:miter lim="800000"/>
            <a:headEnd/>
            <a:tailEnd/>
          </a:ln>
          <a:effectLst/>
          <a:extLst>
            <a:ext uri="{AF507438-7753-43E0-B8FC-AC1667EBCBE1}">
              <a14:hiddenEffects xmlns:a14="http://schemas.microsoft.com/office/drawing/2010/main">
                <a:effectLst>
                  <a:outerShdw dist="107763" dir="18900000" algn="ctr" rotWithShape="0">
                    <a:schemeClr val="bg2">
                      <a:alpha val="50000"/>
                    </a:schemeClr>
                  </a:outerShdw>
                </a:effectLst>
              </a14:hiddenEffects>
            </a:ext>
          </a:extLst>
        </p:spPr>
        <p:txBody>
          <a:bodyPr wrap="none" anchor="ctr"/>
          <a:lstStyle/>
          <a:p>
            <a:endParaRPr lang="en-US"/>
          </a:p>
        </p:txBody>
      </p:sp>
      <p:sp>
        <p:nvSpPr>
          <p:cNvPr id="10" name="AutoShape 15">
            <a:extLst>
              <a:ext uri="{FF2B5EF4-FFF2-40B4-BE49-F238E27FC236}">
                <a16:creationId xmlns:a16="http://schemas.microsoft.com/office/drawing/2014/main" id="{396128FA-C1D2-DEE1-AEBF-F15437D02708}"/>
              </a:ext>
            </a:extLst>
          </p:cNvPr>
          <p:cNvSpPr>
            <a:spLocks noChangeArrowheads="1"/>
          </p:cNvSpPr>
          <p:nvPr/>
        </p:nvSpPr>
        <p:spPr bwMode="auto">
          <a:xfrm>
            <a:off x="711200" y="3602038"/>
            <a:ext cx="1920875" cy="1465262"/>
          </a:xfrm>
          <a:prstGeom prst="foldedCorner">
            <a:avLst>
              <a:gd name="adj" fmla="val 12500"/>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0" tIns="45704" rIns="91410" bIns="45704" anchor="ctr"/>
          <a:lstStyle>
            <a:lvl1pPr>
              <a:defRPr kumimoji="1">
                <a:solidFill>
                  <a:schemeClr val="tx1"/>
                </a:solidFill>
                <a:latin typeface="Arial" panose="020B0604020202020204" pitchFamily="34" charset="0"/>
                <a:ea typeface="ＭＳ Ｐゴシック" panose="020B0600070205080204" pitchFamily="34" charset="-128"/>
              </a:defRPr>
            </a:lvl1pPr>
            <a:lvl2pPr>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marL="1368425">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nSpc>
                <a:spcPct val="50000"/>
              </a:lnSpc>
            </a:pPr>
            <a:endParaRPr lang="en-US" altLang="en-US" sz="1800" b="0">
              <a:latin typeface="ＭＳ ゴシック" panose="020B0609070205080204" pitchFamily="49" charset="-128"/>
              <a:ea typeface="ＭＳ ゴシック" panose="020B0609070205080204" pitchFamily="49" charset="-128"/>
            </a:endParaRPr>
          </a:p>
        </p:txBody>
      </p:sp>
      <p:sp>
        <p:nvSpPr>
          <p:cNvPr id="11" name="Text Box 16">
            <a:extLst>
              <a:ext uri="{FF2B5EF4-FFF2-40B4-BE49-F238E27FC236}">
                <a16:creationId xmlns:a16="http://schemas.microsoft.com/office/drawing/2014/main" id="{5D6EAC9A-E4FF-0EA3-0BDA-337B07C3E109}"/>
              </a:ext>
            </a:extLst>
          </p:cNvPr>
          <p:cNvSpPr txBox="1">
            <a:spLocks noChangeArrowheads="1"/>
          </p:cNvSpPr>
          <p:nvPr/>
        </p:nvSpPr>
        <p:spPr bwMode="auto">
          <a:xfrm>
            <a:off x="825500" y="3857625"/>
            <a:ext cx="2017713" cy="16287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35000"/>
              </a:spcBef>
            </a:pPr>
            <a:r>
              <a:rPr lang="en-US" altLang="ja-JP" sz="1800" b="0">
                <a:latin typeface="ＭＳ ゴシック" panose="020B0609070205080204" pitchFamily="49" charset="-128"/>
                <a:ea typeface="ＭＳ ゴシック" panose="020B0609070205080204" pitchFamily="49" charset="-128"/>
              </a:rPr>
              <a:t>String str1;</a:t>
            </a:r>
          </a:p>
          <a:p>
            <a:pPr>
              <a:spcBef>
                <a:spcPct val="35000"/>
              </a:spcBef>
            </a:pPr>
            <a:r>
              <a:rPr lang="en-US" altLang="ja-JP" sz="1800" b="0">
                <a:latin typeface="ＭＳ ゴシック" panose="020B0609070205080204" pitchFamily="49" charset="-128"/>
                <a:ea typeface="ＭＳ ゴシック" panose="020B0609070205080204" pitchFamily="49" charset="-128"/>
              </a:rPr>
              <a:t>str1 ="Hello";</a:t>
            </a:r>
          </a:p>
        </p:txBody>
      </p:sp>
      <p:sp>
        <p:nvSpPr>
          <p:cNvPr id="12" name="AutoShape 19">
            <a:extLst>
              <a:ext uri="{FF2B5EF4-FFF2-40B4-BE49-F238E27FC236}">
                <a16:creationId xmlns:a16="http://schemas.microsoft.com/office/drawing/2014/main" id="{E3010D3B-83A8-E6BB-D82E-5AE07D720191}"/>
              </a:ext>
            </a:extLst>
          </p:cNvPr>
          <p:cNvSpPr>
            <a:spLocks noChangeArrowheads="1"/>
          </p:cNvSpPr>
          <p:nvPr/>
        </p:nvSpPr>
        <p:spPr bwMode="auto">
          <a:xfrm>
            <a:off x="3148013" y="4095750"/>
            <a:ext cx="266700" cy="695325"/>
          </a:xfrm>
          <a:prstGeom prst="rightArrow">
            <a:avLst>
              <a:gd name="adj1" fmla="val 50000"/>
              <a:gd name="adj2" fmla="val 25000"/>
            </a:avLst>
          </a:prstGeom>
          <a:solidFill>
            <a:srgbClr val="0033CC">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Text Box 20">
            <a:extLst>
              <a:ext uri="{FF2B5EF4-FFF2-40B4-BE49-F238E27FC236}">
                <a16:creationId xmlns:a16="http://schemas.microsoft.com/office/drawing/2014/main" id="{B2735E0E-460F-5EB2-E38D-75B29EA0BEE3}"/>
              </a:ext>
            </a:extLst>
          </p:cNvPr>
          <p:cNvSpPr txBox="1">
            <a:spLocks noChangeArrowheads="1"/>
          </p:cNvSpPr>
          <p:nvPr/>
        </p:nvSpPr>
        <p:spPr bwMode="auto">
          <a:xfrm>
            <a:off x="3738563" y="4224338"/>
            <a:ext cx="720725"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a:latin typeface="ＭＳ ゴシック" panose="020B0609070205080204" pitchFamily="49" charset="-128"/>
                <a:ea typeface="ＭＳ ゴシック" panose="020B0609070205080204" pitchFamily="49" charset="-128"/>
              </a:rPr>
              <a:t>str1</a:t>
            </a:r>
          </a:p>
        </p:txBody>
      </p:sp>
      <p:sp>
        <p:nvSpPr>
          <p:cNvPr id="14" name="Rectangle 21">
            <a:extLst>
              <a:ext uri="{FF2B5EF4-FFF2-40B4-BE49-F238E27FC236}">
                <a16:creationId xmlns:a16="http://schemas.microsoft.com/office/drawing/2014/main" id="{1FC12BDE-3E32-EEA9-8A19-1259225F4084}"/>
              </a:ext>
            </a:extLst>
          </p:cNvPr>
          <p:cNvSpPr>
            <a:spLocks noChangeArrowheads="1"/>
          </p:cNvSpPr>
          <p:nvPr/>
        </p:nvSpPr>
        <p:spPr bwMode="auto">
          <a:xfrm>
            <a:off x="4324350" y="4214813"/>
            <a:ext cx="914400" cy="4159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Text Box 22">
            <a:extLst>
              <a:ext uri="{FF2B5EF4-FFF2-40B4-BE49-F238E27FC236}">
                <a16:creationId xmlns:a16="http://schemas.microsoft.com/office/drawing/2014/main" id="{528E841A-D979-15C1-CCDC-62328D453D61}"/>
              </a:ext>
            </a:extLst>
          </p:cNvPr>
          <p:cNvSpPr txBox="1">
            <a:spLocks noChangeArrowheads="1"/>
          </p:cNvSpPr>
          <p:nvPr/>
        </p:nvSpPr>
        <p:spPr bwMode="auto">
          <a:xfrm>
            <a:off x="4413250" y="4225925"/>
            <a:ext cx="796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xxxx</a:t>
            </a:r>
          </a:p>
        </p:txBody>
      </p:sp>
      <p:sp>
        <p:nvSpPr>
          <p:cNvPr id="16" name="Line 23">
            <a:extLst>
              <a:ext uri="{FF2B5EF4-FFF2-40B4-BE49-F238E27FC236}">
                <a16:creationId xmlns:a16="http://schemas.microsoft.com/office/drawing/2014/main" id="{6C740722-B3C5-38D5-6153-7C06615D991C}"/>
              </a:ext>
            </a:extLst>
          </p:cNvPr>
          <p:cNvSpPr>
            <a:spLocks noChangeShapeType="1"/>
          </p:cNvSpPr>
          <p:nvPr/>
        </p:nvSpPr>
        <p:spPr bwMode="auto">
          <a:xfrm flipV="1">
            <a:off x="5249863" y="4329113"/>
            <a:ext cx="696912" cy="120650"/>
          </a:xfrm>
          <a:prstGeom prst="line">
            <a:avLst/>
          </a:prstGeom>
          <a:noFill/>
          <a:ln w="381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Text Box 24">
            <a:extLst>
              <a:ext uri="{FF2B5EF4-FFF2-40B4-BE49-F238E27FC236}">
                <a16:creationId xmlns:a16="http://schemas.microsoft.com/office/drawing/2014/main" id="{B319BE06-1582-BD90-3A4F-21E44F3198A0}"/>
              </a:ext>
            </a:extLst>
          </p:cNvPr>
          <p:cNvSpPr txBox="1">
            <a:spLocks noChangeArrowheads="1"/>
          </p:cNvSpPr>
          <p:nvPr/>
        </p:nvSpPr>
        <p:spPr bwMode="auto">
          <a:xfrm>
            <a:off x="5961063" y="4146550"/>
            <a:ext cx="796925"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b="0">
                <a:latin typeface="ＭＳ ゴシック" panose="020B0609070205080204" pitchFamily="49" charset="-128"/>
                <a:ea typeface="ＭＳ ゴシック" panose="020B0609070205080204" pitchFamily="49" charset="-128"/>
              </a:rPr>
              <a:t>xxxx</a:t>
            </a:r>
          </a:p>
        </p:txBody>
      </p:sp>
      <p:sp>
        <p:nvSpPr>
          <p:cNvPr id="18" name="Rectangle 25">
            <a:extLst>
              <a:ext uri="{FF2B5EF4-FFF2-40B4-BE49-F238E27FC236}">
                <a16:creationId xmlns:a16="http://schemas.microsoft.com/office/drawing/2014/main" id="{D9FC28CA-AC64-CD0C-BDEC-BE0BB72F91B8}"/>
              </a:ext>
            </a:extLst>
          </p:cNvPr>
          <p:cNvSpPr>
            <a:spLocks noChangeArrowheads="1"/>
          </p:cNvSpPr>
          <p:nvPr/>
        </p:nvSpPr>
        <p:spPr bwMode="auto">
          <a:xfrm>
            <a:off x="5945188" y="4216400"/>
            <a:ext cx="771525" cy="296863"/>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ea typeface="ＭＳ ゴシック" panose="020B0609070205080204" pitchFamily="49" charset="-128"/>
            </a:endParaRPr>
          </a:p>
        </p:txBody>
      </p:sp>
      <p:sp>
        <p:nvSpPr>
          <p:cNvPr id="19" name="AutoShape 26">
            <a:extLst>
              <a:ext uri="{FF2B5EF4-FFF2-40B4-BE49-F238E27FC236}">
                <a16:creationId xmlns:a16="http://schemas.microsoft.com/office/drawing/2014/main" id="{A5A838CF-E8BA-5D0E-79C4-3F18145AB2C3}"/>
              </a:ext>
            </a:extLst>
          </p:cNvPr>
          <p:cNvSpPr>
            <a:spLocks noChangeArrowheads="1"/>
          </p:cNvSpPr>
          <p:nvPr/>
        </p:nvSpPr>
        <p:spPr bwMode="auto">
          <a:xfrm>
            <a:off x="2076450" y="5303838"/>
            <a:ext cx="3254375" cy="620712"/>
          </a:xfrm>
          <a:prstGeom prst="wedgeRoundRectCallout">
            <a:avLst>
              <a:gd name="adj1" fmla="val 34194"/>
              <a:gd name="adj2" fmla="val -166111"/>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34" charset="-128"/>
              </a:defRPr>
            </a:lvl1pPr>
            <a:lvl2pPr marL="446088" defTabSz="892175">
              <a:defRPr kumimoji="1">
                <a:solidFill>
                  <a:schemeClr val="tx1"/>
                </a:solidFill>
                <a:latin typeface="Arial" panose="020B0604020202020204" pitchFamily="34" charset="0"/>
                <a:ea typeface="ＭＳ Ｐゴシック" panose="020B0600070205080204" pitchFamily="34" charset="-128"/>
              </a:defRPr>
            </a:lvl2pPr>
            <a:lvl3pPr marL="892175" defTabSz="892175">
              <a:defRPr kumimoji="1">
                <a:solidFill>
                  <a:schemeClr val="tx1"/>
                </a:solidFill>
                <a:latin typeface="Arial" panose="020B0604020202020204" pitchFamily="34" charset="0"/>
                <a:ea typeface="ＭＳ Ｐゴシック" panose="020B0600070205080204" pitchFamily="34" charset="-128"/>
              </a:defRPr>
            </a:lvl3pPr>
            <a:lvl4pPr marL="1335088" defTabSz="892175">
              <a:defRPr kumimoji="1">
                <a:solidFill>
                  <a:schemeClr val="tx1"/>
                </a:solidFill>
                <a:latin typeface="Arial" panose="020B0604020202020204" pitchFamily="34" charset="0"/>
                <a:ea typeface="ＭＳ Ｐゴシック" panose="020B0600070205080204" pitchFamily="34" charset="-128"/>
              </a:defRPr>
            </a:lvl4pPr>
            <a:lvl5pPr marL="1784350" defTabSz="892175">
              <a:defRPr kumimoji="1">
                <a:solidFill>
                  <a:schemeClr val="tx1"/>
                </a:solidFill>
                <a:latin typeface="Arial" panose="020B0604020202020204" pitchFamily="34" charset="0"/>
                <a:ea typeface="ＭＳ Ｐゴシック" panose="020B0600070205080204" pitchFamily="34"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gn="ctr"/>
            <a:r>
              <a:rPr lang="en-US" altLang="ja-JP" sz="1800" b="0">
                <a:ea typeface="MS UI Gothic" panose="020B0600070205080204" pitchFamily="34" charset="-128"/>
              </a:rPr>
              <a:t>Tham chiếu của object được lưu.</a:t>
            </a:r>
          </a:p>
        </p:txBody>
      </p:sp>
      <p:sp>
        <p:nvSpPr>
          <p:cNvPr id="20" name="Cloud">
            <a:extLst>
              <a:ext uri="{FF2B5EF4-FFF2-40B4-BE49-F238E27FC236}">
                <a16:creationId xmlns:a16="http://schemas.microsoft.com/office/drawing/2014/main" id="{332F8835-82C8-BE3C-D60B-2F87C0E87461}"/>
              </a:ext>
            </a:extLst>
          </p:cNvPr>
          <p:cNvSpPr>
            <a:spLocks noChangeAspect="1" noEditPoints="1" noChangeArrowheads="1"/>
          </p:cNvSpPr>
          <p:nvPr/>
        </p:nvSpPr>
        <p:spPr bwMode="auto">
          <a:xfrm>
            <a:off x="6581775" y="4097338"/>
            <a:ext cx="1909763" cy="137477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sp>
        <p:nvSpPr>
          <p:cNvPr id="21" name="Text Box 31">
            <a:extLst>
              <a:ext uri="{FF2B5EF4-FFF2-40B4-BE49-F238E27FC236}">
                <a16:creationId xmlns:a16="http://schemas.microsoft.com/office/drawing/2014/main" id="{2ED279EF-5BAE-16A6-2D5C-343758D3270D}"/>
              </a:ext>
            </a:extLst>
          </p:cNvPr>
          <p:cNvSpPr txBox="1">
            <a:spLocks noChangeArrowheads="1"/>
          </p:cNvSpPr>
          <p:nvPr/>
        </p:nvSpPr>
        <p:spPr bwMode="auto">
          <a:xfrm>
            <a:off x="6905625" y="4586288"/>
            <a:ext cx="1233488" cy="3667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1800">
                <a:latin typeface="ＭＳ ゴシック" panose="020B0609070205080204" pitchFamily="49" charset="-128"/>
                <a:ea typeface="ＭＳ ゴシック" panose="020B0609070205080204" pitchFamily="49" charset="-128"/>
              </a:rPr>
              <a:t>"Hello"</a:t>
            </a:r>
          </a:p>
        </p:txBody>
      </p:sp>
      <p:sp>
        <p:nvSpPr>
          <p:cNvPr id="22" name="AutoShape 32">
            <a:extLst>
              <a:ext uri="{FF2B5EF4-FFF2-40B4-BE49-F238E27FC236}">
                <a16:creationId xmlns:a16="http://schemas.microsoft.com/office/drawing/2014/main" id="{43BBFCCD-B00C-EA8C-9554-2167BCACF10E}"/>
              </a:ext>
            </a:extLst>
          </p:cNvPr>
          <p:cNvSpPr>
            <a:spLocks noChangeArrowheads="1"/>
          </p:cNvSpPr>
          <p:nvPr/>
        </p:nvSpPr>
        <p:spPr bwMode="auto">
          <a:xfrm>
            <a:off x="7162800" y="3436938"/>
            <a:ext cx="1774825" cy="487362"/>
          </a:xfrm>
          <a:prstGeom prst="wedgeRoundRectCallout">
            <a:avLst>
              <a:gd name="adj1" fmla="val -34796"/>
              <a:gd name="adj2" fmla="val 159444"/>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34" charset="-128"/>
              </a:defRPr>
            </a:lvl1pPr>
            <a:lvl2pPr marL="446088" defTabSz="892175">
              <a:defRPr kumimoji="1">
                <a:solidFill>
                  <a:schemeClr val="tx1"/>
                </a:solidFill>
                <a:latin typeface="Arial" panose="020B0604020202020204" pitchFamily="34" charset="0"/>
                <a:ea typeface="ＭＳ Ｐゴシック" panose="020B0600070205080204" pitchFamily="34" charset="-128"/>
              </a:defRPr>
            </a:lvl2pPr>
            <a:lvl3pPr marL="892175" defTabSz="892175">
              <a:defRPr kumimoji="1">
                <a:solidFill>
                  <a:schemeClr val="tx1"/>
                </a:solidFill>
                <a:latin typeface="Arial" panose="020B0604020202020204" pitchFamily="34" charset="0"/>
                <a:ea typeface="ＭＳ Ｐゴシック" panose="020B0600070205080204" pitchFamily="34" charset="-128"/>
              </a:defRPr>
            </a:lvl3pPr>
            <a:lvl4pPr marL="1335088" defTabSz="892175">
              <a:defRPr kumimoji="1">
                <a:solidFill>
                  <a:schemeClr val="tx1"/>
                </a:solidFill>
                <a:latin typeface="Arial" panose="020B0604020202020204" pitchFamily="34" charset="0"/>
                <a:ea typeface="ＭＳ Ｐゴシック" panose="020B0600070205080204" pitchFamily="34" charset="-128"/>
              </a:defRPr>
            </a:lvl4pPr>
            <a:lvl5pPr marL="1784350" defTabSz="892175">
              <a:defRPr kumimoji="1">
                <a:solidFill>
                  <a:schemeClr val="tx1"/>
                </a:solidFill>
                <a:latin typeface="Arial" panose="020B0604020202020204" pitchFamily="34" charset="0"/>
                <a:ea typeface="ＭＳ Ｐゴシック" panose="020B0600070205080204" pitchFamily="34"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gn="ctr"/>
            <a:r>
              <a:rPr lang="en-US" altLang="ja-JP" sz="1800" b="0">
                <a:ea typeface="MS UI Gothic" panose="020B0600070205080204" pitchFamily="34" charset="-128"/>
              </a:rPr>
              <a:t>Object</a:t>
            </a:r>
          </a:p>
        </p:txBody>
      </p:sp>
      <p:sp>
        <p:nvSpPr>
          <p:cNvPr id="23" name="AutoShape 34">
            <a:extLst>
              <a:ext uri="{FF2B5EF4-FFF2-40B4-BE49-F238E27FC236}">
                <a16:creationId xmlns:a16="http://schemas.microsoft.com/office/drawing/2014/main" id="{BEB09A2B-30A8-3947-DB1B-0E963F458EF2}"/>
              </a:ext>
            </a:extLst>
          </p:cNvPr>
          <p:cNvSpPr>
            <a:spLocks noChangeArrowheads="1"/>
          </p:cNvSpPr>
          <p:nvPr/>
        </p:nvSpPr>
        <p:spPr bwMode="auto">
          <a:xfrm>
            <a:off x="708025" y="2690813"/>
            <a:ext cx="4953000" cy="595312"/>
          </a:xfrm>
          <a:prstGeom prst="wedgeRoundRectCallout">
            <a:avLst>
              <a:gd name="adj1" fmla="val -33528"/>
              <a:gd name="adj2" fmla="val 120134"/>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34" charset="-128"/>
              </a:defRPr>
            </a:lvl1pPr>
            <a:lvl2pPr marL="446088" defTabSz="892175">
              <a:defRPr kumimoji="1">
                <a:solidFill>
                  <a:schemeClr val="tx1"/>
                </a:solidFill>
                <a:latin typeface="Arial" panose="020B0604020202020204" pitchFamily="34" charset="0"/>
                <a:ea typeface="ＭＳ Ｐゴシック" panose="020B0600070205080204" pitchFamily="34" charset="-128"/>
              </a:defRPr>
            </a:lvl2pPr>
            <a:lvl3pPr marL="892175" defTabSz="892175">
              <a:defRPr kumimoji="1">
                <a:solidFill>
                  <a:schemeClr val="tx1"/>
                </a:solidFill>
                <a:latin typeface="Arial" panose="020B0604020202020204" pitchFamily="34" charset="0"/>
                <a:ea typeface="ＭＳ Ｐゴシック" panose="020B0600070205080204" pitchFamily="34" charset="-128"/>
              </a:defRPr>
            </a:lvl3pPr>
            <a:lvl4pPr marL="1335088" defTabSz="892175">
              <a:defRPr kumimoji="1">
                <a:solidFill>
                  <a:schemeClr val="tx1"/>
                </a:solidFill>
                <a:latin typeface="Arial" panose="020B0604020202020204" pitchFamily="34" charset="0"/>
                <a:ea typeface="ＭＳ Ｐゴシック" panose="020B0600070205080204" pitchFamily="34" charset="-128"/>
              </a:defRPr>
            </a:lvl4pPr>
            <a:lvl5pPr marL="1784350" defTabSz="892175">
              <a:defRPr kumimoji="1">
                <a:solidFill>
                  <a:schemeClr val="tx1"/>
                </a:solidFill>
                <a:latin typeface="Arial" panose="020B0604020202020204" pitchFamily="34" charset="0"/>
                <a:ea typeface="ＭＳ Ｐゴシック" panose="020B0600070205080204" pitchFamily="34"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gn="ctr"/>
            <a:r>
              <a:rPr lang="en-US" altLang="ja-JP" sz="1800" b="0">
                <a:ea typeface="ＭＳ ゴシック" panose="020B0609070205080204" pitchFamily="49" charset="-128"/>
              </a:rPr>
              <a:t>Khái báo biến kiểu String rồi gán chuỗi ký tự vào.</a:t>
            </a:r>
            <a:endParaRPr lang="en-US" altLang="ja-JP" sz="1800" b="0">
              <a:ea typeface="MS UI Gothic" panose="020B0600070205080204" pitchFamily="34" charset="-128"/>
            </a:endParaRPr>
          </a:p>
        </p:txBody>
      </p:sp>
    </p:spTree>
    <p:extLst>
      <p:ext uri="{BB962C8B-B14F-4D97-AF65-F5344CB8AC3E}">
        <p14:creationId xmlns:p14="http://schemas.microsoft.com/office/powerpoint/2010/main" val="817085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D6959-2023-4EE3-B4C3-413C46679D09}"/>
              </a:ext>
            </a:extLst>
          </p:cNvPr>
          <p:cNvSpPr>
            <a:spLocks noGrp="1"/>
          </p:cNvSpPr>
          <p:nvPr>
            <p:ph type="title"/>
          </p:nvPr>
        </p:nvSpPr>
        <p:spPr/>
        <p:txBody>
          <a:bodyPr>
            <a:normAutofit fontScale="90000"/>
          </a:bodyPr>
          <a:lstStyle/>
          <a:p>
            <a:r>
              <a:rPr lang="en-US" dirty="0" err="1"/>
              <a:t>Chuỗi</a:t>
            </a:r>
            <a:r>
              <a:rPr lang="en-US" dirty="0"/>
              <a:t> </a:t>
            </a:r>
            <a:r>
              <a:rPr lang="en-US" dirty="0" err="1"/>
              <a:t>ký</a:t>
            </a:r>
            <a:r>
              <a:rPr lang="en-US" dirty="0"/>
              <a:t> </a:t>
            </a:r>
            <a:r>
              <a:rPr lang="en-US" dirty="0" err="1"/>
              <a:t>tự</a:t>
            </a:r>
            <a:endParaRPr lang="en-US" dirty="0"/>
          </a:p>
        </p:txBody>
      </p:sp>
      <p:sp>
        <p:nvSpPr>
          <p:cNvPr id="4" name="Slide Number Placeholder 3">
            <a:extLst>
              <a:ext uri="{FF2B5EF4-FFF2-40B4-BE49-F238E27FC236}">
                <a16:creationId xmlns:a16="http://schemas.microsoft.com/office/drawing/2014/main" id="{CB9EBF5F-5448-891B-8353-01E3045859B6}"/>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36</a:t>
            </a:fld>
            <a:endParaRPr lang="en-US" altLang="ja-JP"/>
          </a:p>
        </p:txBody>
      </p:sp>
      <p:sp>
        <p:nvSpPr>
          <p:cNvPr id="5" name="Rectangle 4">
            <a:extLst>
              <a:ext uri="{FF2B5EF4-FFF2-40B4-BE49-F238E27FC236}">
                <a16:creationId xmlns:a16="http://schemas.microsoft.com/office/drawing/2014/main" id="{13111687-E304-C827-22B7-977D1084B652}"/>
              </a:ext>
            </a:extLst>
          </p:cNvPr>
          <p:cNvSpPr>
            <a:spLocks noChangeArrowheads="1"/>
          </p:cNvSpPr>
          <p:nvPr/>
        </p:nvSpPr>
        <p:spPr bwMode="auto">
          <a:xfrm>
            <a:off x="344488" y="1036637"/>
            <a:ext cx="8899525"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400" b="0">
                <a:latin typeface="Arial" panose="020B0604020202020204" pitchFamily="34" charset="0"/>
              </a:rPr>
              <a:t>■Khai báo biến kiểu </a:t>
            </a:r>
            <a:r>
              <a:rPr lang="en-US" altLang="ja-JP" sz="2400" b="0">
                <a:latin typeface="Arial" panose="020B0604020202020204" pitchFamily="34" charset="0"/>
                <a:ea typeface="ＭＳ ゴシック" panose="020B0609070205080204" pitchFamily="49" charset="-128"/>
              </a:rPr>
              <a:t>String</a:t>
            </a:r>
            <a:endParaRPr lang="en-US" altLang="ja-JP" sz="2400" b="0">
              <a:latin typeface="Arial" panose="020B0604020202020204" pitchFamily="34" charset="0"/>
            </a:endParaRPr>
          </a:p>
          <a:p>
            <a:pPr>
              <a:buFont typeface="Wingdings" panose="05000000000000000000" pitchFamily="2" charset="2"/>
              <a:buNone/>
            </a:pPr>
            <a:r>
              <a:rPr lang="en-US" altLang="ja-JP" sz="2400" b="0">
                <a:latin typeface="Arial" panose="020B0604020202020204" pitchFamily="34" charset="0"/>
              </a:rPr>
              <a:t>●Cú pháp cơ bản</a:t>
            </a:r>
            <a:r>
              <a:rPr lang="ja-JP" altLang="en-US" sz="2400" b="0">
                <a:latin typeface="Arial" panose="020B0604020202020204" pitchFamily="34" charset="0"/>
              </a:rPr>
              <a:t>（</a:t>
            </a:r>
            <a:r>
              <a:rPr lang="en-US" altLang="ja-JP" sz="2400" b="0">
                <a:latin typeface="Arial" panose="020B0604020202020204" pitchFamily="34" charset="0"/>
              </a:rPr>
              <a:t>Không setting giá trị khởi tạo</a:t>
            </a:r>
            <a:r>
              <a:rPr lang="ja-JP" altLang="en-US" sz="2400" b="0">
                <a:latin typeface="Arial" panose="020B0604020202020204" pitchFamily="34" charset="0"/>
              </a:rPr>
              <a:t>）</a:t>
            </a:r>
          </a:p>
          <a:p>
            <a:pPr>
              <a:buFont typeface="Wingdings" panose="05000000000000000000" pitchFamily="2" charset="2"/>
              <a:buNone/>
            </a:pPr>
            <a:endParaRPr lang="ja-JP" altLang="en-US" sz="2400" b="0">
              <a:latin typeface="Arial" panose="020B0604020202020204" pitchFamily="34" charset="0"/>
            </a:endParaRPr>
          </a:p>
          <a:p>
            <a:pPr>
              <a:buFont typeface="Wingdings" panose="05000000000000000000" pitchFamily="2" charset="2"/>
              <a:buNone/>
            </a:pPr>
            <a:endParaRPr lang="ja-JP" altLang="en-US" sz="2400" b="0">
              <a:latin typeface="Arial" panose="020B0604020202020204" pitchFamily="34" charset="0"/>
            </a:endParaRPr>
          </a:p>
          <a:p>
            <a:pPr>
              <a:buFont typeface="Wingdings" panose="05000000000000000000" pitchFamily="2" charset="2"/>
              <a:buNone/>
            </a:pPr>
            <a:r>
              <a:rPr lang="ja-JP" altLang="en-US" sz="2400" b="0">
                <a:latin typeface="Arial" panose="020B0604020202020204" pitchFamily="34" charset="0"/>
              </a:rPr>
              <a:t>●</a:t>
            </a:r>
            <a:r>
              <a:rPr lang="en-US" altLang="ja-JP" sz="2400" b="0">
                <a:latin typeface="Arial" panose="020B0604020202020204" pitchFamily="34" charset="0"/>
              </a:rPr>
              <a:t>Ví dụ</a:t>
            </a:r>
          </a:p>
          <a:p>
            <a:endParaRPr lang="en-US" altLang="ja-JP" sz="2400" b="0">
              <a:latin typeface="Arial" panose="020B0604020202020204" pitchFamily="34" charset="0"/>
            </a:endParaRPr>
          </a:p>
          <a:p>
            <a:endParaRPr lang="en-US" altLang="ja-JP" sz="2400" b="0">
              <a:latin typeface="Arial" panose="020B0604020202020204" pitchFamily="34" charset="0"/>
            </a:endParaRPr>
          </a:p>
          <a:p>
            <a:pPr>
              <a:buFont typeface="Wingdings" panose="05000000000000000000" pitchFamily="2" charset="2"/>
              <a:buNone/>
            </a:pPr>
            <a:r>
              <a:rPr lang="en-US" altLang="ja-JP" sz="2400" b="0">
                <a:latin typeface="Arial" panose="020B0604020202020204" pitchFamily="34" charset="0"/>
              </a:rPr>
              <a:t>●Cú pháp cơ bản</a:t>
            </a:r>
            <a:r>
              <a:rPr lang="ja-JP" altLang="en-US" sz="2400" b="0">
                <a:latin typeface="Arial" panose="020B0604020202020204" pitchFamily="34" charset="0"/>
              </a:rPr>
              <a:t>（</a:t>
            </a:r>
            <a:r>
              <a:rPr lang="en-US" altLang="ja-JP" sz="2400" b="0">
                <a:latin typeface="Arial" panose="020B0604020202020204" pitchFamily="34" charset="0"/>
              </a:rPr>
              <a:t>Có setting giá trị khởi tạo</a:t>
            </a:r>
            <a:r>
              <a:rPr lang="ja-JP" altLang="en-US" sz="2400" b="0">
                <a:latin typeface="Arial" panose="020B0604020202020204" pitchFamily="34" charset="0"/>
              </a:rPr>
              <a:t>）</a:t>
            </a:r>
          </a:p>
          <a:p>
            <a:pPr>
              <a:buFont typeface="Wingdings" panose="05000000000000000000" pitchFamily="2" charset="2"/>
              <a:buNone/>
            </a:pPr>
            <a:endParaRPr lang="ja-JP" altLang="en-US" sz="2400" b="0">
              <a:latin typeface="Arial" panose="020B0604020202020204" pitchFamily="34" charset="0"/>
            </a:endParaRPr>
          </a:p>
          <a:p>
            <a:pPr>
              <a:buFont typeface="Wingdings" panose="05000000000000000000" pitchFamily="2" charset="2"/>
              <a:buNone/>
            </a:pPr>
            <a:endParaRPr lang="ja-JP" altLang="en-US" sz="2400" b="0">
              <a:latin typeface="Arial" panose="020B0604020202020204" pitchFamily="34" charset="0"/>
            </a:endParaRPr>
          </a:p>
          <a:p>
            <a:pPr>
              <a:buFont typeface="Wingdings" panose="05000000000000000000" pitchFamily="2" charset="2"/>
              <a:buNone/>
            </a:pPr>
            <a:r>
              <a:rPr lang="ja-JP" altLang="en-US" sz="2400" b="0">
                <a:latin typeface="Arial" panose="020B0604020202020204" pitchFamily="34" charset="0"/>
              </a:rPr>
              <a:t>●</a:t>
            </a:r>
            <a:r>
              <a:rPr lang="en-US" altLang="ja-JP" sz="2400" b="0">
                <a:latin typeface="Arial" panose="020B0604020202020204" pitchFamily="34" charset="0"/>
              </a:rPr>
              <a:t>Ví dụ</a:t>
            </a:r>
          </a:p>
        </p:txBody>
      </p:sp>
      <p:sp>
        <p:nvSpPr>
          <p:cNvPr id="6" name="Rectangle 155">
            <a:extLst>
              <a:ext uri="{FF2B5EF4-FFF2-40B4-BE49-F238E27FC236}">
                <a16:creationId xmlns:a16="http://schemas.microsoft.com/office/drawing/2014/main" id="{C9FBD2B2-C505-5AE5-398D-434B3F1E6BB7}"/>
              </a:ext>
            </a:extLst>
          </p:cNvPr>
          <p:cNvSpPr>
            <a:spLocks noChangeArrowheads="1"/>
          </p:cNvSpPr>
          <p:nvPr/>
        </p:nvSpPr>
        <p:spPr bwMode="auto">
          <a:xfrm>
            <a:off x="458788" y="3201987"/>
            <a:ext cx="9120187" cy="508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lvl="1"/>
            <a:r>
              <a:rPr lang="en-US" altLang="ja-JP" sz="1800" b="0">
                <a:latin typeface="ＭＳ ゴシック" panose="020B0609070205080204" pitchFamily="49" charset="-128"/>
                <a:ea typeface="ＭＳ ゴシック" panose="020B0609070205080204" pitchFamily="49" charset="-128"/>
              </a:rPr>
              <a:t>String str1;</a:t>
            </a:r>
          </a:p>
        </p:txBody>
      </p:sp>
      <p:sp>
        <p:nvSpPr>
          <p:cNvPr id="7" name="Text Box 156">
            <a:extLst>
              <a:ext uri="{FF2B5EF4-FFF2-40B4-BE49-F238E27FC236}">
                <a16:creationId xmlns:a16="http://schemas.microsoft.com/office/drawing/2014/main" id="{F5963C75-0099-5A3A-FC93-072D0D80F581}"/>
              </a:ext>
            </a:extLst>
          </p:cNvPr>
          <p:cNvSpPr txBox="1">
            <a:spLocks noChangeArrowheads="1"/>
          </p:cNvSpPr>
          <p:nvPr/>
        </p:nvSpPr>
        <p:spPr bwMode="auto">
          <a:xfrm>
            <a:off x="458788" y="2001837"/>
            <a:ext cx="9120187" cy="500063"/>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a:latin typeface="ＭＳ ゴシック" panose="020B0609070205080204" pitchFamily="49" charset="-128"/>
                <a:ea typeface="ＭＳ ゴシック" panose="020B0609070205080204" pitchFamily="49" charset="-128"/>
              </a:rPr>
              <a:t>String </a:t>
            </a:r>
            <a:r>
              <a:rPr lang="en-US" altLang="ja-JP" sz="2000">
                <a:latin typeface="MS UI Gothic" panose="020B0600070205080204" pitchFamily="34" charset="-128"/>
                <a:ea typeface="MS UI Gothic" panose="020B0600070205080204" pitchFamily="34" charset="-128"/>
              </a:rPr>
              <a:t>tên biến</a:t>
            </a:r>
            <a:r>
              <a:rPr lang="en-US" altLang="ja-JP" sz="2000">
                <a:latin typeface="ＭＳ ゴシック" panose="020B0609070205080204" pitchFamily="49" charset="-128"/>
                <a:ea typeface="ＭＳ ゴシック" panose="020B0609070205080204" pitchFamily="49" charset="-128"/>
              </a:rPr>
              <a:t>;</a:t>
            </a:r>
          </a:p>
        </p:txBody>
      </p:sp>
      <p:sp>
        <p:nvSpPr>
          <p:cNvPr id="8" name="Text Box 157">
            <a:extLst>
              <a:ext uri="{FF2B5EF4-FFF2-40B4-BE49-F238E27FC236}">
                <a16:creationId xmlns:a16="http://schemas.microsoft.com/office/drawing/2014/main" id="{818F55B1-C10D-9FBB-8385-19F78843E2D0}"/>
              </a:ext>
            </a:extLst>
          </p:cNvPr>
          <p:cNvSpPr txBox="1">
            <a:spLocks noChangeArrowheads="1"/>
          </p:cNvSpPr>
          <p:nvPr/>
        </p:nvSpPr>
        <p:spPr bwMode="auto">
          <a:xfrm>
            <a:off x="458788" y="4452937"/>
            <a:ext cx="9120187" cy="4984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a:ea typeface="ＭＳ ゴシック" panose="020B0609070205080204" pitchFamily="49" charset="-128"/>
              </a:rPr>
              <a:t>String </a:t>
            </a:r>
            <a:r>
              <a:rPr lang="en-US" altLang="ja-JP" sz="2000">
                <a:ea typeface="MS UI Gothic" panose="020B0600070205080204" pitchFamily="34" charset="-128"/>
              </a:rPr>
              <a:t>Tên biến</a:t>
            </a:r>
            <a:r>
              <a:rPr lang="en-US" altLang="ja-JP" sz="2000">
                <a:ea typeface="ＭＳ ゴシック" panose="020B0609070205080204" pitchFamily="49" charset="-128"/>
              </a:rPr>
              <a:t> = chuỗi ký tự;</a:t>
            </a:r>
          </a:p>
        </p:txBody>
      </p:sp>
      <p:sp>
        <p:nvSpPr>
          <p:cNvPr id="9" name="Rectangle 158">
            <a:extLst>
              <a:ext uri="{FF2B5EF4-FFF2-40B4-BE49-F238E27FC236}">
                <a16:creationId xmlns:a16="http://schemas.microsoft.com/office/drawing/2014/main" id="{5F0983DE-FCE9-71E4-4F21-2DC67B473E1D}"/>
              </a:ext>
            </a:extLst>
          </p:cNvPr>
          <p:cNvSpPr>
            <a:spLocks noChangeArrowheads="1"/>
          </p:cNvSpPr>
          <p:nvPr/>
        </p:nvSpPr>
        <p:spPr bwMode="auto">
          <a:xfrm>
            <a:off x="458788" y="5665787"/>
            <a:ext cx="9120187" cy="5064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lvl="1"/>
            <a:r>
              <a:rPr lang="en-US" altLang="ja-JP" sz="1800" b="0">
                <a:latin typeface="ＭＳ ゴシック" panose="020B0609070205080204" pitchFamily="49" charset="-128"/>
                <a:ea typeface="ＭＳ ゴシック" panose="020B0609070205080204" pitchFamily="49" charset="-128"/>
              </a:rPr>
              <a:t>String str1 = "Hello";</a:t>
            </a:r>
          </a:p>
        </p:txBody>
      </p:sp>
    </p:spTree>
    <p:extLst>
      <p:ext uri="{BB962C8B-B14F-4D97-AF65-F5344CB8AC3E}">
        <p14:creationId xmlns:p14="http://schemas.microsoft.com/office/powerpoint/2010/main" val="1459503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AC1CB-E957-EC30-76C2-C6B14D8B01ED}"/>
              </a:ext>
            </a:extLst>
          </p:cNvPr>
          <p:cNvSpPr>
            <a:spLocks noGrp="1"/>
          </p:cNvSpPr>
          <p:nvPr>
            <p:ph type="title"/>
          </p:nvPr>
        </p:nvSpPr>
        <p:spPr/>
        <p:txBody>
          <a:bodyPr>
            <a:normAutofit fontScale="90000"/>
          </a:bodyPr>
          <a:lstStyle/>
          <a:p>
            <a:r>
              <a:rPr lang="en-US" dirty="0" err="1"/>
              <a:t>Chuỗi</a:t>
            </a:r>
            <a:r>
              <a:rPr lang="en-US" dirty="0"/>
              <a:t> </a:t>
            </a:r>
            <a:r>
              <a:rPr lang="en-US" dirty="0" err="1"/>
              <a:t>ký</a:t>
            </a:r>
            <a:r>
              <a:rPr lang="en-US" dirty="0"/>
              <a:t> </a:t>
            </a:r>
            <a:r>
              <a:rPr lang="en-US" dirty="0" err="1"/>
              <a:t>tự</a:t>
            </a:r>
            <a:endParaRPr lang="en-US" dirty="0"/>
          </a:p>
        </p:txBody>
      </p:sp>
      <p:sp>
        <p:nvSpPr>
          <p:cNvPr id="4" name="Slide Number Placeholder 3">
            <a:extLst>
              <a:ext uri="{FF2B5EF4-FFF2-40B4-BE49-F238E27FC236}">
                <a16:creationId xmlns:a16="http://schemas.microsoft.com/office/drawing/2014/main" id="{B5CFABCE-49A5-9104-5F52-CAABC52A0BD0}"/>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37</a:t>
            </a:fld>
            <a:endParaRPr lang="en-US" altLang="ja-JP"/>
          </a:p>
        </p:txBody>
      </p:sp>
      <p:sp>
        <p:nvSpPr>
          <p:cNvPr id="5" name="Rectangle 4">
            <a:extLst>
              <a:ext uri="{FF2B5EF4-FFF2-40B4-BE49-F238E27FC236}">
                <a16:creationId xmlns:a16="http://schemas.microsoft.com/office/drawing/2014/main" id="{D7FE6CDC-AF08-1B3C-AE5A-55F445C7F8BE}"/>
              </a:ext>
            </a:extLst>
          </p:cNvPr>
          <p:cNvSpPr>
            <a:spLocks noChangeArrowheads="1"/>
          </p:cNvSpPr>
          <p:nvPr/>
        </p:nvSpPr>
        <p:spPr bwMode="auto">
          <a:xfrm>
            <a:off x="344488" y="10858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400" b="0">
                <a:latin typeface="Arial" panose="020B0604020202020204" pitchFamily="34" charset="0"/>
              </a:rPr>
              <a:t>■Liên kết của chuỗi ký tự</a:t>
            </a:r>
          </a:p>
          <a:p>
            <a:pPr>
              <a:buFont typeface="Wingdings" panose="05000000000000000000" pitchFamily="2" charset="2"/>
              <a:buNone/>
            </a:pPr>
            <a:r>
              <a:rPr lang="en-US" altLang="ja-JP" sz="2400" b="0">
                <a:latin typeface="Arial" panose="020B0604020202020204" pitchFamily="34" charset="0"/>
              </a:rPr>
              <a:t>●Cú pháp cơ bản</a:t>
            </a:r>
          </a:p>
          <a:p>
            <a:pPr>
              <a:buFont typeface="Wingdings" panose="05000000000000000000" pitchFamily="2" charset="2"/>
              <a:buNone/>
            </a:pPr>
            <a:endParaRPr lang="en-US" altLang="ja-JP" sz="2400" b="0">
              <a:latin typeface="Arial" panose="020B0604020202020204" pitchFamily="34" charset="0"/>
            </a:endParaRPr>
          </a:p>
          <a:p>
            <a:pPr>
              <a:buFont typeface="Wingdings" panose="05000000000000000000" pitchFamily="2" charset="2"/>
              <a:buNone/>
            </a:pPr>
            <a:endParaRPr lang="en-US" altLang="ja-JP" sz="2400" b="0">
              <a:latin typeface="Arial" panose="020B0604020202020204" pitchFamily="34" charset="0"/>
            </a:endParaRPr>
          </a:p>
          <a:p>
            <a:pPr>
              <a:buFont typeface="Wingdings" panose="05000000000000000000" pitchFamily="2" charset="2"/>
              <a:buNone/>
            </a:pPr>
            <a:r>
              <a:rPr lang="en-US" altLang="ja-JP" sz="2400" b="0">
                <a:latin typeface="Arial" panose="020B0604020202020204" pitchFamily="34" charset="0"/>
              </a:rPr>
              <a:t>●Ví dụ</a:t>
            </a:r>
          </a:p>
          <a:p>
            <a:endParaRPr lang="en-US" altLang="ja-JP" sz="2400" b="0">
              <a:latin typeface="Arial" panose="020B0604020202020204" pitchFamily="34" charset="0"/>
            </a:endParaRPr>
          </a:p>
        </p:txBody>
      </p:sp>
      <p:sp>
        <p:nvSpPr>
          <p:cNvPr id="6" name="Rectangle 5">
            <a:extLst>
              <a:ext uri="{FF2B5EF4-FFF2-40B4-BE49-F238E27FC236}">
                <a16:creationId xmlns:a16="http://schemas.microsoft.com/office/drawing/2014/main" id="{6F2A33F3-D127-6161-0DA9-4B890380AD02}"/>
              </a:ext>
            </a:extLst>
          </p:cNvPr>
          <p:cNvSpPr>
            <a:spLocks noChangeArrowheads="1"/>
          </p:cNvSpPr>
          <p:nvPr/>
        </p:nvSpPr>
        <p:spPr bwMode="auto">
          <a:xfrm>
            <a:off x="458788" y="3251200"/>
            <a:ext cx="9120187" cy="1854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lvl="1"/>
            <a:r>
              <a:rPr lang="en-US" altLang="ja-JP" sz="1800" b="0">
                <a:latin typeface="ＭＳ ゴシック" panose="020B0609070205080204" pitchFamily="49" charset="-128"/>
                <a:ea typeface="ＭＳ ゴシック" panose="020B0609070205080204" pitchFamily="49" charset="-128"/>
              </a:rPr>
              <a:t>String str1 = "Hello";</a:t>
            </a:r>
          </a:p>
          <a:p>
            <a:pPr lvl="1"/>
            <a:r>
              <a:rPr lang="en-US" altLang="ja-JP" sz="1800" b="0">
                <a:latin typeface="ＭＳ ゴシック" panose="020B0609070205080204" pitchFamily="49" charset="-128"/>
                <a:ea typeface="ＭＳ ゴシック" panose="020B0609070205080204" pitchFamily="49" charset="-128"/>
              </a:rPr>
              <a:t>String str2 = "Java";</a:t>
            </a:r>
          </a:p>
          <a:p>
            <a:pPr lvl="1"/>
            <a:r>
              <a:rPr lang="en-US" altLang="ja-JP" sz="1800" b="0">
                <a:latin typeface="ＭＳ ゴシック" panose="020B0609070205080204" pitchFamily="49" charset="-128"/>
                <a:ea typeface="ＭＳ ゴシック" panose="020B0609070205080204" pitchFamily="49" charset="-128"/>
              </a:rPr>
              <a:t>String str3;</a:t>
            </a:r>
          </a:p>
          <a:p>
            <a:pPr lvl="1"/>
            <a:r>
              <a:rPr lang="en-US" altLang="ja-JP" sz="1800" b="0">
                <a:latin typeface="ＭＳ ゴシック" panose="020B0609070205080204" pitchFamily="49" charset="-128"/>
                <a:ea typeface="ＭＳ ゴシック" panose="020B0609070205080204" pitchFamily="49" charset="-128"/>
              </a:rPr>
              <a:t>str3 = str1 + str2; 		// str3</a:t>
            </a:r>
            <a:r>
              <a:rPr lang="ja-JP" altLang="en-US" sz="1800" b="0">
                <a:latin typeface="ＭＳ ゴシック" panose="020B0609070205080204" pitchFamily="49" charset="-128"/>
                <a:ea typeface="ＭＳ ゴシック" panose="020B0609070205080204" pitchFamily="49" charset="-128"/>
              </a:rPr>
              <a:t>は</a:t>
            </a:r>
            <a:r>
              <a:rPr lang="en-US" altLang="ja-JP" sz="1800" b="0">
                <a:latin typeface="ＭＳ ゴシック" panose="020B0609070205080204" pitchFamily="49" charset="-128"/>
                <a:ea typeface="ＭＳ ゴシック" panose="020B0609070205080204" pitchFamily="49" charset="-128"/>
              </a:rPr>
              <a:t>, "HelloJava"</a:t>
            </a:r>
          </a:p>
          <a:p>
            <a:pPr lvl="1"/>
            <a:r>
              <a:rPr lang="en-US" altLang="ja-JP" sz="1800" b="0">
                <a:latin typeface="ＭＳ ゴシック" panose="020B0609070205080204" pitchFamily="49" charset="-128"/>
                <a:ea typeface="ＭＳ ゴシック" panose="020B0609070205080204" pitchFamily="49" charset="-128"/>
              </a:rPr>
              <a:t>str3 = str1 + ", " + str2;	// str3</a:t>
            </a:r>
            <a:r>
              <a:rPr lang="ja-JP" altLang="en-US" sz="1800" b="0">
                <a:latin typeface="ＭＳ ゴシック" panose="020B0609070205080204" pitchFamily="49" charset="-128"/>
                <a:ea typeface="ＭＳ ゴシック" panose="020B0609070205080204" pitchFamily="49" charset="-128"/>
              </a:rPr>
              <a:t>は</a:t>
            </a:r>
            <a:r>
              <a:rPr lang="en-US" altLang="ja-JP" sz="1800" b="0">
                <a:latin typeface="ＭＳ ゴシック" panose="020B0609070205080204" pitchFamily="49" charset="-128"/>
                <a:ea typeface="ＭＳ ゴシック" panose="020B0609070205080204" pitchFamily="49" charset="-128"/>
              </a:rPr>
              <a:t>, "Hello, Java"</a:t>
            </a:r>
          </a:p>
        </p:txBody>
      </p:sp>
      <p:sp>
        <p:nvSpPr>
          <p:cNvPr id="7" name="Text Box 6">
            <a:extLst>
              <a:ext uri="{FF2B5EF4-FFF2-40B4-BE49-F238E27FC236}">
                <a16:creationId xmlns:a16="http://schemas.microsoft.com/office/drawing/2014/main" id="{03215D61-0FC8-0893-C6AE-6F15D2B85ADB}"/>
              </a:ext>
            </a:extLst>
          </p:cNvPr>
          <p:cNvSpPr txBox="1">
            <a:spLocks noChangeArrowheads="1"/>
          </p:cNvSpPr>
          <p:nvPr/>
        </p:nvSpPr>
        <p:spPr bwMode="auto">
          <a:xfrm>
            <a:off x="458788" y="2051050"/>
            <a:ext cx="9120187" cy="500063"/>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a:ea typeface="MS UI Gothic" panose="020B0600070205080204" pitchFamily="34" charset="-128"/>
              </a:rPr>
              <a:t>Chuỗi ký tự</a:t>
            </a:r>
            <a:r>
              <a:rPr lang="en-US" altLang="ja-JP" sz="2000">
                <a:ea typeface="ＭＳ ゴシック" panose="020B0609070205080204" pitchFamily="49" charset="-128"/>
              </a:rPr>
              <a:t> = chuỗi ký tự + chuỗi ký tự; </a:t>
            </a:r>
          </a:p>
        </p:txBody>
      </p:sp>
      <p:sp>
        <p:nvSpPr>
          <p:cNvPr id="8" name="AutoShape 9">
            <a:extLst>
              <a:ext uri="{FF2B5EF4-FFF2-40B4-BE49-F238E27FC236}">
                <a16:creationId xmlns:a16="http://schemas.microsoft.com/office/drawing/2014/main" id="{55419576-41E5-BC56-E7BD-51B82B9F79DD}"/>
              </a:ext>
            </a:extLst>
          </p:cNvPr>
          <p:cNvSpPr>
            <a:spLocks noChangeArrowheads="1"/>
          </p:cNvSpPr>
          <p:nvPr/>
        </p:nvSpPr>
        <p:spPr bwMode="auto">
          <a:xfrm>
            <a:off x="4151313" y="1504950"/>
            <a:ext cx="5260975" cy="461963"/>
          </a:xfrm>
          <a:prstGeom prst="wedgeRoundRectCallout">
            <a:avLst>
              <a:gd name="adj1" fmla="val -63125"/>
              <a:gd name="adj2" fmla="val 78181"/>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34" charset="-128"/>
              </a:defRPr>
            </a:lvl1pPr>
            <a:lvl2pPr marL="446088" defTabSz="892175">
              <a:defRPr kumimoji="1">
                <a:solidFill>
                  <a:schemeClr val="tx1"/>
                </a:solidFill>
                <a:latin typeface="Arial" panose="020B0604020202020204" pitchFamily="34" charset="0"/>
                <a:ea typeface="ＭＳ Ｐゴシック" panose="020B0600070205080204" pitchFamily="34" charset="-128"/>
              </a:defRPr>
            </a:lvl2pPr>
            <a:lvl3pPr marL="892175" defTabSz="892175">
              <a:defRPr kumimoji="1">
                <a:solidFill>
                  <a:schemeClr val="tx1"/>
                </a:solidFill>
                <a:latin typeface="Arial" panose="020B0604020202020204" pitchFamily="34" charset="0"/>
                <a:ea typeface="ＭＳ Ｐゴシック" panose="020B0600070205080204" pitchFamily="34" charset="-128"/>
              </a:defRPr>
            </a:lvl3pPr>
            <a:lvl4pPr marL="1335088" defTabSz="892175">
              <a:defRPr kumimoji="1">
                <a:solidFill>
                  <a:schemeClr val="tx1"/>
                </a:solidFill>
                <a:latin typeface="Arial" panose="020B0604020202020204" pitchFamily="34" charset="0"/>
                <a:ea typeface="ＭＳ Ｐゴシック" panose="020B0600070205080204" pitchFamily="34" charset="-128"/>
              </a:defRPr>
            </a:lvl4pPr>
            <a:lvl5pPr marL="1784350" defTabSz="892175">
              <a:defRPr kumimoji="1">
                <a:solidFill>
                  <a:schemeClr val="tx1"/>
                </a:solidFill>
                <a:latin typeface="Arial" panose="020B0604020202020204" pitchFamily="34" charset="0"/>
                <a:ea typeface="ＭＳ Ｐゴシック" panose="020B0600070205080204" pitchFamily="34"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gn="ctr"/>
            <a:r>
              <a:rPr lang="en-US" altLang="ja-JP" sz="1800" b="0">
                <a:ea typeface="ＭＳ ゴシック" panose="020B0609070205080204" pitchFamily="49" charset="-128"/>
              </a:rPr>
              <a:t>Biến số kiểu String, literal chuỗi ký tự.v.v…</a:t>
            </a:r>
            <a:endParaRPr lang="en-US" altLang="ja-JP" sz="1800" b="0">
              <a:ea typeface="MS UI Gothic" panose="020B0600070205080204" pitchFamily="34" charset="-128"/>
            </a:endParaRPr>
          </a:p>
        </p:txBody>
      </p:sp>
    </p:spTree>
    <p:extLst>
      <p:ext uri="{BB962C8B-B14F-4D97-AF65-F5344CB8AC3E}">
        <p14:creationId xmlns:p14="http://schemas.microsoft.com/office/powerpoint/2010/main" val="25730626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05A1E-0749-FED5-7C74-110F8350F621}"/>
              </a:ext>
            </a:extLst>
          </p:cNvPr>
          <p:cNvSpPr>
            <a:spLocks noGrp="1"/>
          </p:cNvSpPr>
          <p:nvPr>
            <p:ph type="title"/>
          </p:nvPr>
        </p:nvSpPr>
        <p:spPr/>
        <p:txBody>
          <a:bodyPr>
            <a:normAutofit fontScale="90000"/>
          </a:bodyPr>
          <a:lstStyle/>
          <a:p>
            <a:r>
              <a:rPr lang="en-US" dirty="0" err="1"/>
              <a:t>Mảng</a:t>
            </a:r>
            <a:endParaRPr lang="en-US" dirty="0"/>
          </a:p>
        </p:txBody>
      </p:sp>
      <p:sp>
        <p:nvSpPr>
          <p:cNvPr id="4" name="Slide Number Placeholder 3">
            <a:extLst>
              <a:ext uri="{FF2B5EF4-FFF2-40B4-BE49-F238E27FC236}">
                <a16:creationId xmlns:a16="http://schemas.microsoft.com/office/drawing/2014/main" id="{C7AD2193-240F-70A0-002C-065241D36A9F}"/>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38</a:t>
            </a:fld>
            <a:endParaRPr lang="en-US" altLang="ja-JP"/>
          </a:p>
        </p:txBody>
      </p:sp>
      <p:sp>
        <p:nvSpPr>
          <p:cNvPr id="33" name="Rectangle 7">
            <a:extLst>
              <a:ext uri="{FF2B5EF4-FFF2-40B4-BE49-F238E27FC236}">
                <a16:creationId xmlns:a16="http://schemas.microsoft.com/office/drawing/2014/main" id="{C757126B-5F6B-F251-45A1-2BAC1BE4C9A3}"/>
              </a:ext>
            </a:extLst>
          </p:cNvPr>
          <p:cNvSpPr>
            <a:spLocks noChangeArrowheads="1"/>
          </p:cNvSpPr>
          <p:nvPr/>
        </p:nvSpPr>
        <p:spPr bwMode="auto">
          <a:xfrm>
            <a:off x="342900" y="2327275"/>
            <a:ext cx="9117013" cy="4225925"/>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Rectangle 4">
            <a:extLst>
              <a:ext uri="{FF2B5EF4-FFF2-40B4-BE49-F238E27FC236}">
                <a16:creationId xmlns:a16="http://schemas.microsoft.com/office/drawing/2014/main" id="{F8C81F15-C51D-110B-2D1B-646418E068A9}"/>
              </a:ext>
            </a:extLst>
          </p:cNvPr>
          <p:cNvSpPr>
            <a:spLocks noChangeArrowheads="1"/>
          </p:cNvSpPr>
          <p:nvPr/>
        </p:nvSpPr>
        <p:spPr bwMode="auto">
          <a:xfrm>
            <a:off x="344488" y="992187"/>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a:latin typeface="Arial" panose="020B0604020202020204" pitchFamily="34" charset="0"/>
              </a:rPr>
              <a:t>Mảng là</a:t>
            </a:r>
          </a:p>
          <a:p>
            <a:endParaRPr lang="en-US" altLang="ja-JP" sz="2400" b="0">
              <a:latin typeface="Arial" panose="020B0604020202020204" pitchFamily="34" charset="0"/>
            </a:endParaRPr>
          </a:p>
          <a:p>
            <a:endParaRPr lang="en-US" altLang="ja-JP" sz="2400" b="0">
              <a:latin typeface="Arial" panose="020B0604020202020204" pitchFamily="34" charset="0"/>
            </a:endParaRPr>
          </a:p>
        </p:txBody>
      </p:sp>
      <p:sp>
        <p:nvSpPr>
          <p:cNvPr id="35" name="Rectangle 5">
            <a:extLst>
              <a:ext uri="{FF2B5EF4-FFF2-40B4-BE49-F238E27FC236}">
                <a16:creationId xmlns:a16="http://schemas.microsoft.com/office/drawing/2014/main" id="{10244024-4F80-5BE6-B577-E3C85A8D3CAC}"/>
              </a:ext>
            </a:extLst>
          </p:cNvPr>
          <p:cNvSpPr>
            <a:spLocks noChangeArrowheads="1"/>
          </p:cNvSpPr>
          <p:nvPr/>
        </p:nvSpPr>
        <p:spPr bwMode="auto">
          <a:xfrm>
            <a:off x="344488" y="1589087"/>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000">
                <a:latin typeface="Arial" panose="020B0604020202020204" pitchFamily="34" charset="0"/>
              </a:rPr>
              <a:t>Cái có thể tập hợp và sử dụng các phần tử có kiểu data giống nhau.</a:t>
            </a:r>
          </a:p>
        </p:txBody>
      </p:sp>
      <p:sp>
        <p:nvSpPr>
          <p:cNvPr id="36" name="Rectangle 9">
            <a:extLst>
              <a:ext uri="{FF2B5EF4-FFF2-40B4-BE49-F238E27FC236}">
                <a16:creationId xmlns:a16="http://schemas.microsoft.com/office/drawing/2014/main" id="{E2A12880-CEAD-D8C6-39EE-21BF3BB9F13F}"/>
              </a:ext>
            </a:extLst>
          </p:cNvPr>
          <p:cNvSpPr>
            <a:spLocks noChangeArrowheads="1"/>
          </p:cNvSpPr>
          <p:nvPr/>
        </p:nvSpPr>
        <p:spPr bwMode="auto">
          <a:xfrm>
            <a:off x="1520825" y="3344862"/>
            <a:ext cx="6875463" cy="2146300"/>
          </a:xfrm>
          <a:prstGeom prst="rect">
            <a:avLst/>
          </a:prstGeom>
          <a:solidFill>
            <a:srgbClr val="FFFF99"/>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en-US"/>
          </a:p>
        </p:txBody>
      </p:sp>
      <p:sp>
        <p:nvSpPr>
          <p:cNvPr id="37" name="Text Box 30">
            <a:extLst>
              <a:ext uri="{FF2B5EF4-FFF2-40B4-BE49-F238E27FC236}">
                <a16:creationId xmlns:a16="http://schemas.microsoft.com/office/drawing/2014/main" id="{5CDF0249-731D-A020-3506-B7C7172F1C30}"/>
              </a:ext>
            </a:extLst>
          </p:cNvPr>
          <p:cNvSpPr txBox="1">
            <a:spLocks noChangeArrowheads="1"/>
          </p:cNvSpPr>
          <p:nvPr/>
        </p:nvSpPr>
        <p:spPr bwMode="auto">
          <a:xfrm>
            <a:off x="2027238" y="3695700"/>
            <a:ext cx="1493837" cy="457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400">
                <a:latin typeface="ＭＳ ゴシック" panose="020B0609070205080204" pitchFamily="49" charset="-128"/>
                <a:ea typeface="ＭＳ ゴシック" panose="020B0609070205080204" pitchFamily="49" charset="-128"/>
              </a:rPr>
              <a:t>[0]</a:t>
            </a:r>
          </a:p>
        </p:txBody>
      </p:sp>
      <p:sp>
        <p:nvSpPr>
          <p:cNvPr id="38" name="Rectangle 35">
            <a:extLst>
              <a:ext uri="{FF2B5EF4-FFF2-40B4-BE49-F238E27FC236}">
                <a16:creationId xmlns:a16="http://schemas.microsoft.com/office/drawing/2014/main" id="{E0CE8708-1F3D-6B5A-EACE-0004BDCBB5FC}"/>
              </a:ext>
            </a:extLst>
          </p:cNvPr>
          <p:cNvSpPr>
            <a:spLocks noChangeArrowheads="1"/>
          </p:cNvSpPr>
          <p:nvPr/>
        </p:nvSpPr>
        <p:spPr bwMode="auto">
          <a:xfrm>
            <a:off x="2033588" y="4222750"/>
            <a:ext cx="1468437" cy="103028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Rectangle 37">
            <a:extLst>
              <a:ext uri="{FF2B5EF4-FFF2-40B4-BE49-F238E27FC236}">
                <a16:creationId xmlns:a16="http://schemas.microsoft.com/office/drawing/2014/main" id="{6EB73282-EE6D-37BF-051D-89CE937A9E2C}"/>
              </a:ext>
            </a:extLst>
          </p:cNvPr>
          <p:cNvSpPr>
            <a:spLocks noChangeArrowheads="1"/>
          </p:cNvSpPr>
          <p:nvPr/>
        </p:nvSpPr>
        <p:spPr bwMode="auto">
          <a:xfrm>
            <a:off x="3494088" y="4222750"/>
            <a:ext cx="1468437" cy="103028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Rectangle 38">
            <a:extLst>
              <a:ext uri="{FF2B5EF4-FFF2-40B4-BE49-F238E27FC236}">
                <a16:creationId xmlns:a16="http://schemas.microsoft.com/office/drawing/2014/main" id="{7FDB410B-6337-8525-F3C0-36D39C3622D4}"/>
              </a:ext>
            </a:extLst>
          </p:cNvPr>
          <p:cNvSpPr>
            <a:spLocks noChangeArrowheads="1"/>
          </p:cNvSpPr>
          <p:nvPr/>
        </p:nvSpPr>
        <p:spPr bwMode="auto">
          <a:xfrm>
            <a:off x="4964113" y="4222750"/>
            <a:ext cx="1468437" cy="103028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Rectangle 39">
            <a:extLst>
              <a:ext uri="{FF2B5EF4-FFF2-40B4-BE49-F238E27FC236}">
                <a16:creationId xmlns:a16="http://schemas.microsoft.com/office/drawing/2014/main" id="{3E7F65C1-B37F-2187-7511-E598F532DC0D}"/>
              </a:ext>
            </a:extLst>
          </p:cNvPr>
          <p:cNvSpPr>
            <a:spLocks noChangeArrowheads="1"/>
          </p:cNvSpPr>
          <p:nvPr/>
        </p:nvSpPr>
        <p:spPr bwMode="auto">
          <a:xfrm>
            <a:off x="6427788" y="4222750"/>
            <a:ext cx="1468437" cy="103028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Text Box 42">
            <a:extLst>
              <a:ext uri="{FF2B5EF4-FFF2-40B4-BE49-F238E27FC236}">
                <a16:creationId xmlns:a16="http://schemas.microsoft.com/office/drawing/2014/main" id="{5CC7E7C3-3051-EB54-E09B-48DC221A931A}"/>
              </a:ext>
            </a:extLst>
          </p:cNvPr>
          <p:cNvSpPr txBox="1">
            <a:spLocks noChangeArrowheads="1"/>
          </p:cNvSpPr>
          <p:nvPr/>
        </p:nvSpPr>
        <p:spPr bwMode="auto">
          <a:xfrm>
            <a:off x="3487738" y="3695700"/>
            <a:ext cx="1493837" cy="457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400">
                <a:latin typeface="ＭＳ ゴシック" panose="020B0609070205080204" pitchFamily="49" charset="-128"/>
                <a:ea typeface="ＭＳ ゴシック" panose="020B0609070205080204" pitchFamily="49" charset="-128"/>
              </a:rPr>
              <a:t>[1]</a:t>
            </a:r>
          </a:p>
        </p:txBody>
      </p:sp>
      <p:sp>
        <p:nvSpPr>
          <p:cNvPr id="43" name="Text Box 43">
            <a:extLst>
              <a:ext uri="{FF2B5EF4-FFF2-40B4-BE49-F238E27FC236}">
                <a16:creationId xmlns:a16="http://schemas.microsoft.com/office/drawing/2014/main" id="{C6DF4507-680B-E2CC-EE8F-2B5F62AE0046}"/>
              </a:ext>
            </a:extLst>
          </p:cNvPr>
          <p:cNvSpPr txBox="1">
            <a:spLocks noChangeArrowheads="1"/>
          </p:cNvSpPr>
          <p:nvPr/>
        </p:nvSpPr>
        <p:spPr bwMode="auto">
          <a:xfrm>
            <a:off x="4948238" y="3695700"/>
            <a:ext cx="1493837" cy="457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400">
                <a:latin typeface="ＭＳ ゴシック" panose="020B0609070205080204" pitchFamily="49" charset="-128"/>
                <a:ea typeface="ＭＳ ゴシック" panose="020B0609070205080204" pitchFamily="49" charset="-128"/>
              </a:rPr>
              <a:t>[2]</a:t>
            </a:r>
          </a:p>
        </p:txBody>
      </p:sp>
      <p:sp>
        <p:nvSpPr>
          <p:cNvPr id="44" name="Text Box 44">
            <a:extLst>
              <a:ext uri="{FF2B5EF4-FFF2-40B4-BE49-F238E27FC236}">
                <a16:creationId xmlns:a16="http://schemas.microsoft.com/office/drawing/2014/main" id="{B23DA189-DF45-F7DD-99F3-5986CEBC0844}"/>
              </a:ext>
            </a:extLst>
          </p:cNvPr>
          <p:cNvSpPr txBox="1">
            <a:spLocks noChangeArrowheads="1"/>
          </p:cNvSpPr>
          <p:nvPr/>
        </p:nvSpPr>
        <p:spPr bwMode="auto">
          <a:xfrm>
            <a:off x="6446838" y="3695700"/>
            <a:ext cx="1493837" cy="45720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400">
                <a:latin typeface="ＭＳ ゴシック" panose="020B0609070205080204" pitchFamily="49" charset="-128"/>
                <a:ea typeface="ＭＳ ゴシック" panose="020B0609070205080204" pitchFamily="49" charset="-128"/>
              </a:rPr>
              <a:t>[3]</a:t>
            </a:r>
          </a:p>
        </p:txBody>
      </p:sp>
      <p:sp>
        <p:nvSpPr>
          <p:cNvPr id="45" name="Text Box 45">
            <a:extLst>
              <a:ext uri="{FF2B5EF4-FFF2-40B4-BE49-F238E27FC236}">
                <a16:creationId xmlns:a16="http://schemas.microsoft.com/office/drawing/2014/main" id="{663C2A35-0738-3921-7BC2-265C9505F32F}"/>
              </a:ext>
            </a:extLst>
          </p:cNvPr>
          <p:cNvSpPr txBox="1">
            <a:spLocks noChangeArrowheads="1"/>
          </p:cNvSpPr>
          <p:nvPr/>
        </p:nvSpPr>
        <p:spPr bwMode="auto">
          <a:xfrm>
            <a:off x="2100263" y="4568825"/>
            <a:ext cx="1338262" cy="5191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800" b="0">
                <a:latin typeface="ＭＳ ゴシック" panose="020B0609070205080204" pitchFamily="49" charset="-128"/>
                <a:ea typeface="ＭＳ ゴシック" panose="020B0609070205080204" pitchFamily="49" charset="-128"/>
              </a:rPr>
              <a:t>10</a:t>
            </a:r>
          </a:p>
        </p:txBody>
      </p:sp>
      <p:sp>
        <p:nvSpPr>
          <p:cNvPr id="46" name="Text Box 46">
            <a:extLst>
              <a:ext uri="{FF2B5EF4-FFF2-40B4-BE49-F238E27FC236}">
                <a16:creationId xmlns:a16="http://schemas.microsoft.com/office/drawing/2014/main" id="{B5EE0356-AB6A-6F37-B2B4-542C6CDE5EBB}"/>
              </a:ext>
            </a:extLst>
          </p:cNvPr>
          <p:cNvSpPr txBox="1">
            <a:spLocks noChangeArrowheads="1"/>
          </p:cNvSpPr>
          <p:nvPr/>
        </p:nvSpPr>
        <p:spPr bwMode="auto">
          <a:xfrm>
            <a:off x="3548063" y="4568825"/>
            <a:ext cx="1338262" cy="5191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800" b="0">
                <a:latin typeface="ＭＳ ゴシック" panose="020B0609070205080204" pitchFamily="49" charset="-128"/>
                <a:ea typeface="ＭＳ ゴシック" panose="020B0609070205080204" pitchFamily="49" charset="-128"/>
              </a:rPr>
              <a:t>20</a:t>
            </a:r>
          </a:p>
        </p:txBody>
      </p:sp>
      <p:sp>
        <p:nvSpPr>
          <p:cNvPr id="47" name="Text Box 47">
            <a:extLst>
              <a:ext uri="{FF2B5EF4-FFF2-40B4-BE49-F238E27FC236}">
                <a16:creationId xmlns:a16="http://schemas.microsoft.com/office/drawing/2014/main" id="{0D7ECF94-2EDD-CE86-CD18-A865240F499F}"/>
              </a:ext>
            </a:extLst>
          </p:cNvPr>
          <p:cNvSpPr txBox="1">
            <a:spLocks noChangeArrowheads="1"/>
          </p:cNvSpPr>
          <p:nvPr/>
        </p:nvSpPr>
        <p:spPr bwMode="auto">
          <a:xfrm>
            <a:off x="5033963" y="4568825"/>
            <a:ext cx="1338262" cy="5191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800" b="0">
                <a:latin typeface="ＭＳ ゴシック" panose="020B0609070205080204" pitchFamily="49" charset="-128"/>
                <a:ea typeface="ＭＳ ゴシック" panose="020B0609070205080204" pitchFamily="49" charset="-128"/>
              </a:rPr>
              <a:t>30</a:t>
            </a:r>
          </a:p>
        </p:txBody>
      </p:sp>
      <p:sp>
        <p:nvSpPr>
          <p:cNvPr id="48" name="Text Box 48">
            <a:extLst>
              <a:ext uri="{FF2B5EF4-FFF2-40B4-BE49-F238E27FC236}">
                <a16:creationId xmlns:a16="http://schemas.microsoft.com/office/drawing/2014/main" id="{65A9D1E8-87BF-50F6-C1DD-CF885AEC4493}"/>
              </a:ext>
            </a:extLst>
          </p:cNvPr>
          <p:cNvSpPr txBox="1">
            <a:spLocks noChangeArrowheads="1"/>
          </p:cNvSpPr>
          <p:nvPr/>
        </p:nvSpPr>
        <p:spPr bwMode="auto">
          <a:xfrm>
            <a:off x="6481763" y="4568825"/>
            <a:ext cx="1338262" cy="519112"/>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800" b="0">
                <a:latin typeface="ＭＳ ゴシック" panose="020B0609070205080204" pitchFamily="49" charset="-128"/>
                <a:ea typeface="ＭＳ ゴシック" panose="020B0609070205080204" pitchFamily="49" charset="-128"/>
              </a:rPr>
              <a:t>40</a:t>
            </a:r>
          </a:p>
        </p:txBody>
      </p:sp>
      <p:sp>
        <p:nvSpPr>
          <p:cNvPr id="49" name="Text Box 49">
            <a:extLst>
              <a:ext uri="{FF2B5EF4-FFF2-40B4-BE49-F238E27FC236}">
                <a16:creationId xmlns:a16="http://schemas.microsoft.com/office/drawing/2014/main" id="{0AC65836-E5F9-06B3-79A7-5F37ED2EC752}"/>
              </a:ext>
            </a:extLst>
          </p:cNvPr>
          <p:cNvSpPr txBox="1">
            <a:spLocks noChangeArrowheads="1"/>
          </p:cNvSpPr>
          <p:nvPr/>
        </p:nvSpPr>
        <p:spPr bwMode="auto">
          <a:xfrm>
            <a:off x="557213" y="2430462"/>
            <a:ext cx="6761162" cy="3667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ja-JP" sz="1800" b="0" dirty="0">
                <a:latin typeface="+mj-lt"/>
              </a:rPr>
              <a:t>● Ví dụ </a:t>
            </a:r>
            <a:r>
              <a:rPr lang="en-US" altLang="ja-JP" sz="1800" b="0" dirty="0" err="1">
                <a:latin typeface="+mj-lt"/>
              </a:rPr>
              <a:t>vê</a:t>
            </a:r>
            <a:r>
              <a:rPr lang="en-US" altLang="ja-JP" sz="1800" b="0" dirty="0">
                <a:latin typeface="+mj-lt"/>
              </a:rPr>
              <a:t>̀ </a:t>
            </a:r>
            <a:r>
              <a:rPr lang="en-US" altLang="ja-JP" sz="1800" b="0" dirty="0" err="1">
                <a:latin typeface="+mj-lt"/>
              </a:rPr>
              <a:t>mảng</a:t>
            </a:r>
            <a:r>
              <a:rPr lang="en-US" altLang="ja-JP" sz="1800" b="0" dirty="0">
                <a:latin typeface="+mj-lt"/>
              </a:rPr>
              <a:t> có 4 </a:t>
            </a:r>
            <a:r>
              <a:rPr lang="en-US" altLang="ja-JP" sz="1800" b="0" dirty="0" err="1">
                <a:latin typeface="+mj-lt"/>
              </a:rPr>
              <a:t>phần</a:t>
            </a:r>
            <a:r>
              <a:rPr lang="en-US" altLang="ja-JP" sz="1800" b="0" dirty="0">
                <a:latin typeface="+mj-lt"/>
              </a:rPr>
              <a:t> </a:t>
            </a:r>
            <a:r>
              <a:rPr lang="en-US" altLang="ja-JP" sz="1800" b="0" dirty="0" err="1">
                <a:latin typeface="+mj-lt"/>
              </a:rPr>
              <a:t>tư</a:t>
            </a:r>
            <a:r>
              <a:rPr lang="en-US" altLang="ja-JP" sz="1800" b="0" dirty="0">
                <a:latin typeface="+mj-lt"/>
              </a:rPr>
              <a:t>̉ </a:t>
            </a:r>
            <a:r>
              <a:rPr lang="en-US" altLang="ja-JP" sz="1800" b="0" dirty="0" err="1">
                <a:latin typeface="+mj-lt"/>
              </a:rPr>
              <a:t>kiểu</a:t>
            </a:r>
            <a:r>
              <a:rPr lang="en-US" altLang="ja-JP" sz="1800" b="0" dirty="0">
                <a:latin typeface="+mj-lt"/>
              </a:rPr>
              <a:t> </a:t>
            </a:r>
            <a:r>
              <a:rPr lang="en-US" altLang="ja-JP" sz="1800" b="0" dirty="0">
                <a:latin typeface="+mj-lt"/>
                <a:ea typeface="ＭＳ ゴシック" panose="020B0609070205080204" pitchFamily="49" charset="-128"/>
              </a:rPr>
              <a:t>int</a:t>
            </a:r>
            <a:endParaRPr lang="en-US" altLang="ja-JP" sz="1800" b="0" dirty="0">
              <a:latin typeface="+mj-lt"/>
            </a:endParaRPr>
          </a:p>
        </p:txBody>
      </p:sp>
      <p:sp>
        <p:nvSpPr>
          <p:cNvPr id="50" name="Text Box 50">
            <a:extLst>
              <a:ext uri="{FF2B5EF4-FFF2-40B4-BE49-F238E27FC236}">
                <a16:creationId xmlns:a16="http://schemas.microsoft.com/office/drawing/2014/main" id="{E1F2ADD9-AC22-0AB4-E7B6-FAC596E9A91B}"/>
              </a:ext>
            </a:extLst>
          </p:cNvPr>
          <p:cNvSpPr txBox="1">
            <a:spLocks noChangeArrowheads="1"/>
          </p:cNvSpPr>
          <p:nvPr/>
        </p:nvSpPr>
        <p:spPr bwMode="auto">
          <a:xfrm>
            <a:off x="1585913" y="5932487"/>
            <a:ext cx="6761162" cy="51911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ja-JP" sz="2800" dirty="0" err="1">
                <a:latin typeface="+mj-lt"/>
                <a:ea typeface="ＭＳ ゴシック" panose="020B0609070205080204" pitchFamily="49" charset="-128"/>
              </a:rPr>
              <a:t>Phần</a:t>
            </a:r>
            <a:r>
              <a:rPr lang="en-US" altLang="ja-JP" sz="2800" dirty="0">
                <a:latin typeface="+mj-lt"/>
                <a:ea typeface="ＭＳ ゴシック" panose="020B0609070205080204" pitchFamily="49" charset="-128"/>
              </a:rPr>
              <a:t> </a:t>
            </a:r>
            <a:r>
              <a:rPr lang="en-US" altLang="ja-JP" sz="2800" dirty="0" err="1">
                <a:latin typeface="+mj-lt"/>
                <a:ea typeface="ＭＳ ゴシック" panose="020B0609070205080204" pitchFamily="49" charset="-128"/>
              </a:rPr>
              <a:t>tư</a:t>
            </a:r>
            <a:r>
              <a:rPr lang="en-US" altLang="ja-JP" sz="2800" dirty="0">
                <a:latin typeface="+mj-lt"/>
                <a:ea typeface="ＭＳ ゴシック" panose="020B0609070205080204" pitchFamily="49" charset="-128"/>
              </a:rPr>
              <a:t>̉</a:t>
            </a:r>
          </a:p>
        </p:txBody>
      </p:sp>
      <p:sp>
        <p:nvSpPr>
          <p:cNvPr id="51" name="Rectangle 51">
            <a:extLst>
              <a:ext uri="{FF2B5EF4-FFF2-40B4-BE49-F238E27FC236}">
                <a16:creationId xmlns:a16="http://schemas.microsoft.com/office/drawing/2014/main" id="{E79E56E8-ED81-764E-9499-4F7B86E23E85}"/>
              </a:ext>
            </a:extLst>
          </p:cNvPr>
          <p:cNvSpPr>
            <a:spLocks noChangeArrowheads="1"/>
          </p:cNvSpPr>
          <p:nvPr/>
        </p:nvSpPr>
        <p:spPr bwMode="auto">
          <a:xfrm>
            <a:off x="5245100" y="3697287"/>
            <a:ext cx="936625" cy="471488"/>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AutoShape 28">
            <a:extLst>
              <a:ext uri="{FF2B5EF4-FFF2-40B4-BE49-F238E27FC236}">
                <a16:creationId xmlns:a16="http://schemas.microsoft.com/office/drawing/2014/main" id="{7DFB5F83-C498-864D-3892-9C8F9412EF80}"/>
              </a:ext>
            </a:extLst>
          </p:cNvPr>
          <p:cNvSpPr>
            <a:spLocks noChangeArrowheads="1"/>
          </p:cNvSpPr>
          <p:nvPr/>
        </p:nvSpPr>
        <p:spPr bwMode="auto">
          <a:xfrm>
            <a:off x="5232400" y="2595562"/>
            <a:ext cx="2463800" cy="487363"/>
          </a:xfrm>
          <a:prstGeom prst="wedgeRoundRectCallout">
            <a:avLst>
              <a:gd name="adj1" fmla="val -30347"/>
              <a:gd name="adj2" fmla="val 184852"/>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34" charset="-128"/>
              </a:defRPr>
            </a:lvl1pPr>
            <a:lvl2pPr marL="446088" defTabSz="892175">
              <a:defRPr kumimoji="1">
                <a:solidFill>
                  <a:schemeClr val="tx1"/>
                </a:solidFill>
                <a:latin typeface="Arial" panose="020B0604020202020204" pitchFamily="34" charset="0"/>
                <a:ea typeface="ＭＳ Ｐゴシック" panose="020B0600070205080204" pitchFamily="34" charset="-128"/>
              </a:defRPr>
            </a:lvl2pPr>
            <a:lvl3pPr marL="892175" defTabSz="892175">
              <a:defRPr kumimoji="1">
                <a:solidFill>
                  <a:schemeClr val="tx1"/>
                </a:solidFill>
                <a:latin typeface="Arial" panose="020B0604020202020204" pitchFamily="34" charset="0"/>
                <a:ea typeface="ＭＳ Ｐゴシック" panose="020B0600070205080204" pitchFamily="34" charset="-128"/>
              </a:defRPr>
            </a:lvl3pPr>
            <a:lvl4pPr marL="1335088" defTabSz="892175">
              <a:defRPr kumimoji="1">
                <a:solidFill>
                  <a:schemeClr val="tx1"/>
                </a:solidFill>
                <a:latin typeface="Arial" panose="020B0604020202020204" pitchFamily="34" charset="0"/>
                <a:ea typeface="ＭＳ Ｐゴシック" panose="020B0600070205080204" pitchFamily="34" charset="-128"/>
              </a:defRPr>
            </a:lvl4pPr>
            <a:lvl5pPr marL="1784350" defTabSz="892175">
              <a:defRPr kumimoji="1">
                <a:solidFill>
                  <a:schemeClr val="tx1"/>
                </a:solidFill>
                <a:latin typeface="Arial" panose="020B0604020202020204" pitchFamily="34" charset="0"/>
                <a:ea typeface="ＭＳ Ｐゴシック" panose="020B0600070205080204" pitchFamily="34"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gn="ctr"/>
            <a:r>
              <a:rPr lang="en-US" altLang="ja-JP" sz="1800" b="0">
                <a:ea typeface="MS UI Gothic" panose="020B0600070205080204" pitchFamily="34" charset="-128"/>
              </a:rPr>
              <a:t>Mã số index</a:t>
            </a:r>
          </a:p>
        </p:txBody>
      </p:sp>
      <p:sp>
        <p:nvSpPr>
          <p:cNvPr id="53" name="Line 53">
            <a:extLst>
              <a:ext uri="{FF2B5EF4-FFF2-40B4-BE49-F238E27FC236}">
                <a16:creationId xmlns:a16="http://schemas.microsoft.com/office/drawing/2014/main" id="{A3FDA077-5CC4-4F89-3D50-2FAD7D3E63D7}"/>
              </a:ext>
            </a:extLst>
          </p:cNvPr>
          <p:cNvSpPr>
            <a:spLocks noChangeShapeType="1"/>
          </p:cNvSpPr>
          <p:nvPr/>
        </p:nvSpPr>
        <p:spPr bwMode="auto">
          <a:xfrm flipH="1" flipV="1">
            <a:off x="3036888" y="5276850"/>
            <a:ext cx="1509712" cy="738187"/>
          </a:xfrm>
          <a:prstGeom prst="line">
            <a:avLst/>
          </a:prstGeom>
          <a:noFill/>
          <a:ln w="381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 name="Line 54">
            <a:extLst>
              <a:ext uri="{FF2B5EF4-FFF2-40B4-BE49-F238E27FC236}">
                <a16:creationId xmlns:a16="http://schemas.microsoft.com/office/drawing/2014/main" id="{09C7468E-0A14-CEB4-29A3-9A21A9FD34A9}"/>
              </a:ext>
            </a:extLst>
          </p:cNvPr>
          <p:cNvSpPr>
            <a:spLocks noChangeShapeType="1"/>
          </p:cNvSpPr>
          <p:nvPr/>
        </p:nvSpPr>
        <p:spPr bwMode="auto">
          <a:xfrm flipV="1">
            <a:off x="5316538" y="5289550"/>
            <a:ext cx="1776412" cy="738187"/>
          </a:xfrm>
          <a:prstGeom prst="line">
            <a:avLst/>
          </a:prstGeom>
          <a:noFill/>
          <a:ln w="381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Line 55">
            <a:extLst>
              <a:ext uri="{FF2B5EF4-FFF2-40B4-BE49-F238E27FC236}">
                <a16:creationId xmlns:a16="http://schemas.microsoft.com/office/drawing/2014/main" id="{B0E5AD48-FA0C-674B-8BC3-E6054C38536A}"/>
              </a:ext>
            </a:extLst>
          </p:cNvPr>
          <p:cNvSpPr>
            <a:spLocks noChangeShapeType="1"/>
          </p:cNvSpPr>
          <p:nvPr/>
        </p:nvSpPr>
        <p:spPr bwMode="auto">
          <a:xfrm flipH="1" flipV="1">
            <a:off x="4279900" y="5257800"/>
            <a:ext cx="533400" cy="681037"/>
          </a:xfrm>
          <a:prstGeom prst="line">
            <a:avLst/>
          </a:prstGeom>
          <a:noFill/>
          <a:ln w="381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Line 56">
            <a:extLst>
              <a:ext uri="{FF2B5EF4-FFF2-40B4-BE49-F238E27FC236}">
                <a16:creationId xmlns:a16="http://schemas.microsoft.com/office/drawing/2014/main" id="{9A348B80-8F1F-E30A-EBD1-71A4658554A2}"/>
              </a:ext>
            </a:extLst>
          </p:cNvPr>
          <p:cNvSpPr>
            <a:spLocks noChangeShapeType="1"/>
          </p:cNvSpPr>
          <p:nvPr/>
        </p:nvSpPr>
        <p:spPr bwMode="auto">
          <a:xfrm flipV="1">
            <a:off x="5073650" y="5257800"/>
            <a:ext cx="561975" cy="681037"/>
          </a:xfrm>
          <a:prstGeom prst="line">
            <a:avLst/>
          </a:prstGeom>
          <a:noFill/>
          <a:ln w="38100">
            <a:solidFill>
              <a:srgbClr val="3FB007"/>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Rectangle 57">
            <a:extLst>
              <a:ext uri="{FF2B5EF4-FFF2-40B4-BE49-F238E27FC236}">
                <a16:creationId xmlns:a16="http://schemas.microsoft.com/office/drawing/2014/main" id="{C98B21A7-A19D-227D-E864-B8F5CC20C783}"/>
              </a:ext>
            </a:extLst>
          </p:cNvPr>
          <p:cNvSpPr>
            <a:spLocks noChangeArrowheads="1"/>
          </p:cNvSpPr>
          <p:nvPr/>
        </p:nvSpPr>
        <p:spPr bwMode="auto">
          <a:xfrm>
            <a:off x="2243138" y="4570412"/>
            <a:ext cx="1066800" cy="541338"/>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AutoShape 58">
            <a:extLst>
              <a:ext uri="{FF2B5EF4-FFF2-40B4-BE49-F238E27FC236}">
                <a16:creationId xmlns:a16="http://schemas.microsoft.com/office/drawing/2014/main" id="{05E54825-61D5-F3C1-E487-85340CB3CE23}"/>
              </a:ext>
            </a:extLst>
          </p:cNvPr>
          <p:cNvSpPr>
            <a:spLocks noChangeArrowheads="1"/>
          </p:cNvSpPr>
          <p:nvPr/>
        </p:nvSpPr>
        <p:spPr bwMode="auto">
          <a:xfrm>
            <a:off x="587375" y="5726112"/>
            <a:ext cx="2297113" cy="620713"/>
          </a:xfrm>
          <a:prstGeom prst="wedgeRoundRectCallout">
            <a:avLst>
              <a:gd name="adj1" fmla="val 40394"/>
              <a:gd name="adj2" fmla="val -14539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9152" tIns="44575" rIns="89152" bIns="44575"/>
          <a:lstStyle>
            <a:lvl1pPr defTabSz="892175">
              <a:defRPr kumimoji="1">
                <a:solidFill>
                  <a:schemeClr val="tx1"/>
                </a:solidFill>
                <a:latin typeface="Arial" panose="020B0604020202020204" pitchFamily="34" charset="0"/>
                <a:ea typeface="ＭＳ Ｐゴシック" panose="020B0600070205080204" pitchFamily="34" charset="-128"/>
              </a:defRPr>
            </a:lvl1pPr>
            <a:lvl2pPr marL="446088" defTabSz="892175">
              <a:defRPr kumimoji="1">
                <a:solidFill>
                  <a:schemeClr val="tx1"/>
                </a:solidFill>
                <a:latin typeface="Arial" panose="020B0604020202020204" pitchFamily="34" charset="0"/>
                <a:ea typeface="ＭＳ Ｐゴシック" panose="020B0600070205080204" pitchFamily="34" charset="-128"/>
              </a:defRPr>
            </a:lvl2pPr>
            <a:lvl3pPr marL="892175" defTabSz="892175">
              <a:defRPr kumimoji="1">
                <a:solidFill>
                  <a:schemeClr val="tx1"/>
                </a:solidFill>
                <a:latin typeface="Arial" panose="020B0604020202020204" pitchFamily="34" charset="0"/>
                <a:ea typeface="ＭＳ Ｐゴシック" panose="020B0600070205080204" pitchFamily="34" charset="-128"/>
              </a:defRPr>
            </a:lvl3pPr>
            <a:lvl4pPr marL="1335088" defTabSz="892175">
              <a:defRPr kumimoji="1">
                <a:solidFill>
                  <a:schemeClr val="tx1"/>
                </a:solidFill>
                <a:latin typeface="Arial" panose="020B0604020202020204" pitchFamily="34" charset="0"/>
                <a:ea typeface="ＭＳ Ｐゴシック" panose="020B0600070205080204" pitchFamily="34" charset="-128"/>
              </a:defRPr>
            </a:lvl4pPr>
            <a:lvl5pPr marL="1784350" defTabSz="892175">
              <a:defRPr kumimoji="1">
                <a:solidFill>
                  <a:schemeClr val="tx1"/>
                </a:solidFill>
                <a:latin typeface="Arial" panose="020B0604020202020204" pitchFamily="34" charset="0"/>
                <a:ea typeface="ＭＳ Ｐゴシック" panose="020B0600070205080204" pitchFamily="34" charset="-128"/>
              </a:defRPr>
            </a:lvl5pPr>
            <a:lvl6pPr marL="22415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6987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1559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613150" defTabSz="892175"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algn="ctr"/>
            <a:r>
              <a:rPr lang="en-US" altLang="ja-JP" sz="1800" b="0">
                <a:ea typeface="MS UI Gothic" panose="020B0600070205080204" pitchFamily="34" charset="-128"/>
              </a:rPr>
              <a:t>Giá trị đã được set trong phần tử</a:t>
            </a:r>
          </a:p>
        </p:txBody>
      </p:sp>
    </p:spTree>
    <p:extLst>
      <p:ext uri="{BB962C8B-B14F-4D97-AF65-F5344CB8AC3E}">
        <p14:creationId xmlns:p14="http://schemas.microsoft.com/office/powerpoint/2010/main" val="10770765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E86B4-81AF-5919-1E9C-16B1B106DA5D}"/>
              </a:ext>
            </a:extLst>
          </p:cNvPr>
          <p:cNvSpPr>
            <a:spLocks noGrp="1"/>
          </p:cNvSpPr>
          <p:nvPr>
            <p:ph type="title"/>
          </p:nvPr>
        </p:nvSpPr>
        <p:spPr/>
        <p:txBody>
          <a:bodyPr>
            <a:normAutofit fontScale="90000"/>
          </a:bodyPr>
          <a:lstStyle/>
          <a:p>
            <a:r>
              <a:rPr lang="en-US" dirty="0" err="1"/>
              <a:t>Mảng</a:t>
            </a:r>
            <a:endParaRPr lang="en-US" dirty="0"/>
          </a:p>
        </p:txBody>
      </p:sp>
      <p:sp>
        <p:nvSpPr>
          <p:cNvPr id="4" name="Slide Number Placeholder 3">
            <a:extLst>
              <a:ext uri="{FF2B5EF4-FFF2-40B4-BE49-F238E27FC236}">
                <a16:creationId xmlns:a16="http://schemas.microsoft.com/office/drawing/2014/main" id="{675BBC6E-A16A-4554-BA0D-0CB4B629E4FF}"/>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39</a:t>
            </a:fld>
            <a:endParaRPr lang="en-US" altLang="ja-JP"/>
          </a:p>
        </p:txBody>
      </p:sp>
      <p:sp>
        <p:nvSpPr>
          <p:cNvPr id="5" name="Text Box 2">
            <a:extLst>
              <a:ext uri="{FF2B5EF4-FFF2-40B4-BE49-F238E27FC236}">
                <a16:creationId xmlns:a16="http://schemas.microsoft.com/office/drawing/2014/main" id="{85374D95-9289-574E-1241-30DE1811B33F}"/>
              </a:ext>
            </a:extLst>
          </p:cNvPr>
          <p:cNvSpPr txBox="1">
            <a:spLocks noChangeArrowheads="1"/>
          </p:cNvSpPr>
          <p:nvPr/>
        </p:nvSpPr>
        <p:spPr bwMode="auto">
          <a:xfrm>
            <a:off x="344488" y="3073400"/>
            <a:ext cx="9120187" cy="7302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ja-JP" altLang="en-US" sz="2000">
                <a:ea typeface="ＭＳ ゴシック" panose="020B0609070205080204" pitchFamily="49" charset="-128"/>
              </a:rPr>
              <a:t>　</a:t>
            </a:r>
            <a:r>
              <a:rPr lang="en-US" altLang="ja-JP" sz="2000">
                <a:ea typeface="MS UI Gothic" panose="020B0600070205080204" pitchFamily="34" charset="-128"/>
              </a:rPr>
              <a:t>Kiểu data</a:t>
            </a:r>
            <a:r>
              <a:rPr lang="ja-JP" altLang="ja-JP" sz="2000">
                <a:ea typeface="ＭＳ ゴシック" panose="020B0609070205080204" pitchFamily="49" charset="-128"/>
              </a:rPr>
              <a:t>[]</a:t>
            </a:r>
            <a:r>
              <a:rPr lang="en-US" altLang="ja-JP" sz="2000">
                <a:ea typeface="ＭＳ ゴシック" panose="020B0609070205080204" pitchFamily="49" charset="-128"/>
              </a:rPr>
              <a:t> Tên mảng </a:t>
            </a:r>
            <a:r>
              <a:rPr lang="ja-JP" altLang="ja-JP" sz="2000">
                <a:ea typeface="ＭＳ ゴシック" panose="020B0609070205080204" pitchFamily="49" charset="-128"/>
              </a:rPr>
              <a:t>=</a:t>
            </a:r>
            <a:r>
              <a:rPr lang="en-US" altLang="ja-JP" sz="2000">
                <a:ea typeface="ＭＳ ゴシック" panose="020B0609070205080204" pitchFamily="49" charset="-128"/>
              </a:rPr>
              <a:t> {Giá trị khởi tạo1, Giá trị khởi tạo2, </a:t>
            </a:r>
            <a:r>
              <a:rPr lang="ja-JP" altLang="en-US" sz="2000">
                <a:ea typeface="ＭＳ ゴシック" panose="020B0609070205080204" pitchFamily="49" charset="-128"/>
              </a:rPr>
              <a:t>･･･ </a:t>
            </a:r>
            <a:r>
              <a:rPr lang="en-US" altLang="ja-JP" sz="2000">
                <a:ea typeface="ＭＳ ゴシック" panose="020B0609070205080204" pitchFamily="49" charset="-128"/>
              </a:rPr>
              <a:t>Giá trị khởi tạon};</a:t>
            </a:r>
            <a:endParaRPr lang="ja-JP" altLang="ja-JP" sz="2000">
              <a:ea typeface="ＭＳ ゴシック" panose="020B0609070205080204" pitchFamily="49" charset="-128"/>
            </a:endParaRPr>
          </a:p>
        </p:txBody>
      </p:sp>
      <p:sp>
        <p:nvSpPr>
          <p:cNvPr id="6" name="Rectangle 5">
            <a:extLst>
              <a:ext uri="{FF2B5EF4-FFF2-40B4-BE49-F238E27FC236}">
                <a16:creationId xmlns:a16="http://schemas.microsoft.com/office/drawing/2014/main" id="{EB7AEA51-DE28-422E-CF50-96F2E5B1DF13}"/>
              </a:ext>
            </a:extLst>
          </p:cNvPr>
          <p:cNvSpPr>
            <a:spLocks noChangeArrowheads="1"/>
          </p:cNvSpPr>
          <p:nvPr/>
        </p:nvSpPr>
        <p:spPr bwMode="auto">
          <a:xfrm>
            <a:off x="344488" y="10572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r>
              <a:rPr lang="en-US" altLang="ja-JP" sz="2400" b="0">
                <a:latin typeface="Arial" panose="020B0604020202020204" pitchFamily="34" charset="0"/>
              </a:rPr>
              <a:t>Khai báo mảng</a:t>
            </a: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p:txBody>
      </p:sp>
      <p:sp>
        <p:nvSpPr>
          <p:cNvPr id="7" name="Text Box 6">
            <a:extLst>
              <a:ext uri="{FF2B5EF4-FFF2-40B4-BE49-F238E27FC236}">
                <a16:creationId xmlns:a16="http://schemas.microsoft.com/office/drawing/2014/main" id="{DDA255ED-1513-01AA-741F-9D3F78A4BFF7}"/>
              </a:ext>
            </a:extLst>
          </p:cNvPr>
          <p:cNvSpPr txBox="1">
            <a:spLocks noChangeArrowheads="1"/>
          </p:cNvSpPr>
          <p:nvPr/>
        </p:nvSpPr>
        <p:spPr bwMode="auto">
          <a:xfrm>
            <a:off x="344488" y="2143125"/>
            <a:ext cx="9120187" cy="473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ja-JP" altLang="en-US" sz="2000">
                <a:ea typeface="ＭＳ ゴシック" panose="020B0609070205080204" pitchFamily="49" charset="-128"/>
              </a:rPr>
              <a:t>　</a:t>
            </a:r>
            <a:r>
              <a:rPr lang="en-US" altLang="ja-JP" sz="2000">
                <a:ea typeface="MS UI Gothic" panose="020B0600070205080204" pitchFamily="34" charset="-128"/>
              </a:rPr>
              <a:t>Kiểu data</a:t>
            </a:r>
            <a:r>
              <a:rPr lang="en-US" altLang="ja-JP" sz="2000">
                <a:ea typeface="ＭＳ ゴシック" panose="020B0609070205080204" pitchFamily="49" charset="-128"/>
              </a:rPr>
              <a:t>[] Tên mảng = new kiểu data[Số phần tử];</a:t>
            </a:r>
          </a:p>
        </p:txBody>
      </p:sp>
      <p:sp>
        <p:nvSpPr>
          <p:cNvPr id="8" name="Rectangle 7">
            <a:extLst>
              <a:ext uri="{FF2B5EF4-FFF2-40B4-BE49-F238E27FC236}">
                <a16:creationId xmlns:a16="http://schemas.microsoft.com/office/drawing/2014/main" id="{8003020B-163E-85CB-0C42-ECAEF4FD5956}"/>
              </a:ext>
            </a:extLst>
          </p:cNvPr>
          <p:cNvSpPr>
            <a:spLocks noChangeArrowheads="1"/>
          </p:cNvSpPr>
          <p:nvPr/>
        </p:nvSpPr>
        <p:spPr bwMode="auto">
          <a:xfrm>
            <a:off x="344488" y="37750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endParaRPr lang="en-US" altLang="ja-JP" sz="2400" b="0">
              <a:latin typeface="Arial" panose="020B0604020202020204" pitchFamily="34" charset="0"/>
            </a:endParaRPr>
          </a:p>
        </p:txBody>
      </p:sp>
      <p:sp>
        <p:nvSpPr>
          <p:cNvPr id="9" name="Rectangle 8">
            <a:extLst>
              <a:ext uri="{FF2B5EF4-FFF2-40B4-BE49-F238E27FC236}">
                <a16:creationId xmlns:a16="http://schemas.microsoft.com/office/drawing/2014/main" id="{0711C5C2-CA52-9919-6633-3E0BE4842B1B}"/>
              </a:ext>
            </a:extLst>
          </p:cNvPr>
          <p:cNvSpPr>
            <a:spLocks noChangeArrowheads="1"/>
          </p:cNvSpPr>
          <p:nvPr/>
        </p:nvSpPr>
        <p:spPr bwMode="auto">
          <a:xfrm>
            <a:off x="344488" y="4221163"/>
            <a:ext cx="9120187" cy="18748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lvl="1"/>
            <a:r>
              <a:rPr lang="en-US" altLang="ja-JP" sz="1800" b="0">
                <a:latin typeface="Arial" panose="020B0604020202020204" pitchFamily="34" charset="0"/>
                <a:ea typeface="ＭＳ ゴシック" panose="020B0609070205080204" pitchFamily="49" charset="-128"/>
              </a:rPr>
              <a:t>// Tạo mảng không chỉ định giá trị khởi tạo của phần tử</a:t>
            </a:r>
            <a:endParaRPr lang="en-US" altLang="ja-JP" sz="1800" b="0">
              <a:latin typeface="Arial" panose="020B0604020202020204" pitchFamily="34" charset="0"/>
            </a:endParaRPr>
          </a:p>
          <a:p>
            <a:pPr lvl="1"/>
            <a:r>
              <a:rPr lang="en-US" altLang="ja-JP" sz="1800" b="0">
                <a:latin typeface="Arial" panose="020B0604020202020204" pitchFamily="34" charset="0"/>
                <a:ea typeface="ＭＳ ゴシック" panose="020B0609070205080204" pitchFamily="49" charset="-128"/>
              </a:rPr>
              <a:t>int[] intArray2 = new int[4];</a:t>
            </a:r>
          </a:p>
          <a:p>
            <a:pPr lvl="1"/>
            <a:endParaRPr lang="en-US" altLang="ja-JP"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 Tạo mảng có chỉ định giá trị khởi tạo của phần tử</a:t>
            </a:r>
            <a:endParaRPr lang="en-US" altLang="ja-JP" sz="1800" b="0">
              <a:latin typeface="Arial" panose="020B0604020202020204" pitchFamily="34" charset="0"/>
            </a:endParaRPr>
          </a:p>
          <a:p>
            <a:pPr lvl="1"/>
            <a:r>
              <a:rPr lang="en-US" altLang="ja-JP" sz="1800" b="0">
                <a:latin typeface="Arial" panose="020B0604020202020204" pitchFamily="34" charset="0"/>
                <a:ea typeface="ＭＳ ゴシック" panose="020B0609070205080204" pitchFamily="49" charset="-128"/>
              </a:rPr>
              <a:t>int[] intArray3 = {10, 20, 30, 40};</a:t>
            </a:r>
          </a:p>
        </p:txBody>
      </p:sp>
      <p:sp>
        <p:nvSpPr>
          <p:cNvPr id="10" name="AutoShape 9">
            <a:extLst>
              <a:ext uri="{FF2B5EF4-FFF2-40B4-BE49-F238E27FC236}">
                <a16:creationId xmlns:a16="http://schemas.microsoft.com/office/drawing/2014/main" id="{579D09E2-B40B-EFA6-EC0E-E182493070D7}"/>
              </a:ext>
            </a:extLst>
          </p:cNvPr>
          <p:cNvSpPr>
            <a:spLocks noChangeArrowheads="1"/>
          </p:cNvSpPr>
          <p:nvPr/>
        </p:nvSpPr>
        <p:spPr bwMode="auto">
          <a:xfrm>
            <a:off x="4491038" y="1254125"/>
            <a:ext cx="5092700" cy="584200"/>
          </a:xfrm>
          <a:prstGeom prst="wedgeRoundRectCallout">
            <a:avLst>
              <a:gd name="adj1" fmla="val -79583"/>
              <a:gd name="adj2" fmla="val 12092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Giá trị default của kiểu data được set vào các phần tử.</a:t>
            </a:r>
          </a:p>
        </p:txBody>
      </p:sp>
      <p:sp>
        <p:nvSpPr>
          <p:cNvPr id="11" name="AutoShape 10">
            <a:extLst>
              <a:ext uri="{FF2B5EF4-FFF2-40B4-BE49-F238E27FC236}">
                <a16:creationId xmlns:a16="http://schemas.microsoft.com/office/drawing/2014/main" id="{CCA90B86-01A4-A18A-A793-395AB6F01D62}"/>
              </a:ext>
            </a:extLst>
          </p:cNvPr>
          <p:cNvSpPr>
            <a:spLocks noChangeArrowheads="1"/>
          </p:cNvSpPr>
          <p:nvPr/>
        </p:nvSpPr>
        <p:spPr bwMode="auto">
          <a:xfrm>
            <a:off x="6791325" y="2447925"/>
            <a:ext cx="2806700" cy="534988"/>
          </a:xfrm>
          <a:prstGeom prst="wedgeRoundRectCallout">
            <a:avLst>
              <a:gd name="adj1" fmla="val -54977"/>
              <a:gd name="adj2" fmla="val 82343"/>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Set giá trị khởi tạo của các phần tử</a:t>
            </a:r>
          </a:p>
        </p:txBody>
      </p:sp>
    </p:spTree>
    <p:extLst>
      <p:ext uri="{BB962C8B-B14F-4D97-AF65-F5344CB8AC3E}">
        <p14:creationId xmlns:p14="http://schemas.microsoft.com/office/powerpoint/2010/main" val="4225636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C3B10-C057-B6A5-7D9D-E48CEB4D4C3E}"/>
              </a:ext>
            </a:extLst>
          </p:cNvPr>
          <p:cNvSpPr>
            <a:spLocks noGrp="1"/>
          </p:cNvSpPr>
          <p:nvPr>
            <p:ph type="title"/>
          </p:nvPr>
        </p:nvSpPr>
        <p:spPr/>
        <p:txBody>
          <a:bodyPr>
            <a:normAutofit fontScale="90000"/>
          </a:bodyPr>
          <a:lstStyle/>
          <a:p>
            <a:r>
              <a:rPr lang="en-US" dirty="0" err="1"/>
              <a:t>Mảng</a:t>
            </a:r>
            <a:endParaRPr lang="en-US" dirty="0"/>
          </a:p>
        </p:txBody>
      </p:sp>
      <p:sp>
        <p:nvSpPr>
          <p:cNvPr id="4" name="Slide Number Placeholder 3">
            <a:extLst>
              <a:ext uri="{FF2B5EF4-FFF2-40B4-BE49-F238E27FC236}">
                <a16:creationId xmlns:a16="http://schemas.microsoft.com/office/drawing/2014/main" id="{03805C95-36BE-5079-594D-243221BD052C}"/>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40</a:t>
            </a:fld>
            <a:endParaRPr lang="en-US" altLang="ja-JP"/>
          </a:p>
        </p:txBody>
      </p:sp>
      <p:sp>
        <p:nvSpPr>
          <p:cNvPr id="5" name="Rectangle 4">
            <a:extLst>
              <a:ext uri="{FF2B5EF4-FFF2-40B4-BE49-F238E27FC236}">
                <a16:creationId xmlns:a16="http://schemas.microsoft.com/office/drawing/2014/main" id="{7343B915-3BE8-ABB8-77C4-9DBC312FDEDF}"/>
              </a:ext>
            </a:extLst>
          </p:cNvPr>
          <p:cNvSpPr>
            <a:spLocks noChangeArrowheads="1"/>
          </p:cNvSpPr>
          <p:nvPr/>
        </p:nvSpPr>
        <p:spPr bwMode="auto">
          <a:xfrm>
            <a:off x="344488" y="11080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a:buFont typeface="Wingdings" panose="05000000000000000000" pitchFamily="2" charset="2"/>
              <a:buNone/>
            </a:pPr>
            <a:r>
              <a:rPr lang="en-US" altLang="ja-JP" sz="2400" b="0">
                <a:latin typeface="Arial" panose="020B0604020202020204" pitchFamily="34" charset="0"/>
              </a:rPr>
              <a:t>■Get số phần tử của mảng</a:t>
            </a:r>
          </a:p>
          <a:p>
            <a:pPr>
              <a:spcBef>
                <a:spcPct val="50000"/>
              </a:spcBef>
              <a:buFont typeface="Wingdings" panose="05000000000000000000" pitchFamily="2" charset="2"/>
              <a:buNone/>
            </a:pPr>
            <a:r>
              <a:rPr lang="en-US" altLang="ja-JP" sz="2000" b="0">
                <a:latin typeface="Arial" panose="020B0604020202020204" pitchFamily="34" charset="0"/>
              </a:rPr>
              <a:t>●Cú pháp cơ bản</a:t>
            </a:r>
          </a:p>
          <a:p>
            <a:pPr>
              <a:buFont typeface="Wingdings" panose="05000000000000000000" pitchFamily="2" charset="2"/>
              <a:buNone/>
            </a:pPr>
            <a:endParaRPr lang="en-US" altLang="ja-JP" sz="2400" b="0">
              <a:latin typeface="Arial" panose="020B0604020202020204" pitchFamily="34" charset="0"/>
            </a:endParaRPr>
          </a:p>
          <a:p>
            <a:pPr>
              <a:buFont typeface="Wingdings" panose="05000000000000000000" pitchFamily="2" charset="2"/>
              <a:buNone/>
            </a:pPr>
            <a:endParaRPr lang="en-US" altLang="ja-JP" sz="2400" b="0">
              <a:latin typeface="Arial" panose="020B0604020202020204" pitchFamily="34" charset="0"/>
            </a:endParaRPr>
          </a:p>
          <a:p>
            <a:pPr>
              <a:buFont typeface="Wingdings" panose="05000000000000000000" pitchFamily="2" charset="2"/>
              <a:buNone/>
            </a:pPr>
            <a:r>
              <a:rPr lang="en-US" altLang="ja-JP" sz="2000" b="0">
                <a:latin typeface="Arial" panose="020B0604020202020204" pitchFamily="34" charset="0"/>
              </a:rPr>
              <a:t>●Ví dụ</a:t>
            </a:r>
          </a:p>
          <a:p>
            <a:endParaRPr lang="en-US" altLang="ja-JP" sz="2000" b="0">
              <a:latin typeface="Arial" panose="020B0604020202020204" pitchFamily="34" charset="0"/>
            </a:endParaRPr>
          </a:p>
          <a:p>
            <a:endParaRPr lang="en-US" altLang="ja-JP" sz="2400" b="0">
              <a:latin typeface="Arial" panose="020B0604020202020204" pitchFamily="34" charset="0"/>
            </a:endParaRPr>
          </a:p>
        </p:txBody>
      </p:sp>
      <p:sp>
        <p:nvSpPr>
          <p:cNvPr id="6" name="Rectangle 5">
            <a:extLst>
              <a:ext uri="{FF2B5EF4-FFF2-40B4-BE49-F238E27FC236}">
                <a16:creationId xmlns:a16="http://schemas.microsoft.com/office/drawing/2014/main" id="{A2C340B3-0D51-8E23-80D4-3D1DDC075775}"/>
              </a:ext>
            </a:extLst>
          </p:cNvPr>
          <p:cNvSpPr>
            <a:spLocks noChangeArrowheads="1"/>
          </p:cNvSpPr>
          <p:nvPr/>
        </p:nvSpPr>
        <p:spPr bwMode="auto">
          <a:xfrm>
            <a:off x="458788" y="3559175"/>
            <a:ext cx="9120187" cy="1089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34" charset="-128"/>
                <a:ea typeface="MS UI Gothic" panose="020B0600070205080204" pitchFamily="34"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2pPr>
            <a:lvl3pPr marL="893763">
              <a:spcBef>
                <a:spcPct val="10000"/>
              </a:spcBef>
              <a:defRPr kumimoji="1">
                <a:solidFill>
                  <a:schemeClr val="tx1"/>
                </a:solidFill>
                <a:latin typeface="MS UI Gothic" panose="020B0600070205080204" pitchFamily="34" charset="-128"/>
                <a:ea typeface="MS UI Gothic" panose="020B0600070205080204" pitchFamily="34"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34" charset="-128"/>
                <a:ea typeface="MS UI Gothic" panose="020B0600070205080204" pitchFamily="34" charset="-128"/>
              </a:defRPr>
            </a:lvl4pPr>
            <a:lvl5pPr marL="1747838">
              <a:spcBef>
                <a:spcPct val="10000"/>
              </a:spcBef>
              <a:defRPr kumimoji="1">
                <a:solidFill>
                  <a:schemeClr val="tx1"/>
                </a:solidFill>
                <a:latin typeface="MS UI Gothic" panose="020B0600070205080204" pitchFamily="34" charset="-128"/>
                <a:ea typeface="MS UI Gothic" panose="020B0600070205080204" pitchFamily="34" charset="-128"/>
              </a:defRPr>
            </a:lvl5pPr>
            <a:lvl6pPr marL="22050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6pPr>
            <a:lvl7pPr marL="26622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7pPr>
            <a:lvl8pPr marL="31194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8pPr>
            <a:lvl9pPr marL="3576638" fontAlgn="base">
              <a:spcBef>
                <a:spcPct val="10000"/>
              </a:spcBef>
              <a:spcAft>
                <a:spcPct val="0"/>
              </a:spcAft>
              <a:defRPr kumimoji="1">
                <a:solidFill>
                  <a:schemeClr val="tx1"/>
                </a:solidFill>
                <a:latin typeface="MS UI Gothic" panose="020B0600070205080204" pitchFamily="34" charset="-128"/>
                <a:ea typeface="MS UI Gothic" panose="020B0600070205080204" pitchFamily="34" charset="-128"/>
              </a:defRPr>
            </a:lvl9pPr>
          </a:lstStyle>
          <a:p>
            <a:pPr lvl="1"/>
            <a:r>
              <a:rPr lang="en-US" altLang="ja-JP" sz="1800" b="0">
                <a:latin typeface="Arial" panose="020B0604020202020204" pitchFamily="34" charset="0"/>
                <a:ea typeface="ＭＳ ゴシック" panose="020B0609070205080204" pitchFamily="49" charset="-128"/>
              </a:rPr>
              <a:t>int[] intArray6;</a:t>
            </a:r>
          </a:p>
          <a:p>
            <a:pPr lvl="1"/>
            <a:r>
              <a:rPr lang="en-US" altLang="ja-JP" sz="1800" b="0">
                <a:latin typeface="Arial" panose="020B0604020202020204" pitchFamily="34" charset="0"/>
                <a:ea typeface="ＭＳ ゴシック" panose="020B0609070205080204" pitchFamily="49" charset="-128"/>
              </a:rPr>
              <a:t>intArray6 = new int[4];</a:t>
            </a:r>
          </a:p>
          <a:p>
            <a:pPr lvl="1"/>
            <a:r>
              <a:rPr lang="en-US" altLang="ja-JP" sz="1800" b="0">
                <a:latin typeface="Arial" panose="020B0604020202020204" pitchFamily="34" charset="0"/>
                <a:ea typeface="ＭＳ ゴシック" panose="020B0609070205080204" pitchFamily="49" charset="-128"/>
              </a:rPr>
              <a:t>System.out.println(intArray6.length);</a:t>
            </a:r>
            <a:r>
              <a:rPr lang="ja-JP" altLang="en-US" sz="1800" b="0">
                <a:latin typeface="Arial" panose="020B0604020202020204" pitchFamily="34" charset="0"/>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 Sẽ được hiển thị là</a:t>
            </a:r>
            <a:r>
              <a:rPr lang="ja-JP" altLang="en-US" sz="1800" b="0">
                <a:latin typeface="Arial" panose="020B0604020202020204" pitchFamily="34" charset="0"/>
                <a:ea typeface="ＭＳ ゴシック" panose="020B0609070205080204" pitchFamily="49" charset="-128"/>
              </a:rPr>
              <a:t>「</a:t>
            </a:r>
            <a:r>
              <a:rPr lang="en-US" altLang="ja-JP" sz="1800" b="0">
                <a:latin typeface="Arial" panose="020B0604020202020204" pitchFamily="34" charset="0"/>
                <a:ea typeface="ＭＳ ゴシック" panose="020B0609070205080204" pitchFamily="49" charset="-128"/>
              </a:rPr>
              <a:t>4</a:t>
            </a:r>
            <a:r>
              <a:rPr lang="ja-JP" altLang="en-US" sz="1800" b="0">
                <a:latin typeface="Arial" panose="020B0604020202020204" pitchFamily="34" charset="0"/>
                <a:ea typeface="ＭＳ ゴシック" panose="020B0609070205080204" pitchFamily="49" charset="-128"/>
              </a:rPr>
              <a:t>」</a:t>
            </a:r>
          </a:p>
        </p:txBody>
      </p:sp>
      <p:sp>
        <p:nvSpPr>
          <p:cNvPr id="7" name="Text Box 6">
            <a:extLst>
              <a:ext uri="{FF2B5EF4-FFF2-40B4-BE49-F238E27FC236}">
                <a16:creationId xmlns:a16="http://schemas.microsoft.com/office/drawing/2014/main" id="{9C3CA24C-B489-21FA-DD8C-402CB4B850FA}"/>
              </a:ext>
            </a:extLst>
          </p:cNvPr>
          <p:cNvSpPr txBox="1">
            <a:spLocks noChangeArrowheads="1"/>
          </p:cNvSpPr>
          <p:nvPr/>
        </p:nvSpPr>
        <p:spPr bwMode="auto">
          <a:xfrm>
            <a:off x="458788" y="2054225"/>
            <a:ext cx="9120187" cy="500063"/>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34" charset="-128"/>
              </a:defRPr>
            </a:lvl1pPr>
            <a:lvl2pPr marL="179388">
              <a:defRPr kumimoji="1">
                <a:solidFill>
                  <a:schemeClr val="tx1"/>
                </a:solidFill>
                <a:latin typeface="Arial" panose="020B0604020202020204" pitchFamily="34" charset="0"/>
                <a:ea typeface="ＭＳ Ｐゴシック" panose="020B0600070205080204" pitchFamily="34" charset="-128"/>
              </a:defRPr>
            </a:lvl2pPr>
            <a:lvl3pPr>
              <a:defRPr kumimoji="1">
                <a:solidFill>
                  <a:schemeClr val="tx1"/>
                </a:solidFill>
                <a:latin typeface="Arial" panose="020B0604020202020204" pitchFamily="34" charset="0"/>
                <a:ea typeface="ＭＳ Ｐゴシック" panose="020B0600070205080204" pitchFamily="34" charset="-128"/>
              </a:defRPr>
            </a:lvl3pPr>
            <a:lvl4pPr>
              <a:defRPr kumimoji="1">
                <a:solidFill>
                  <a:schemeClr val="tx1"/>
                </a:solidFill>
                <a:latin typeface="Arial" panose="020B0604020202020204" pitchFamily="34" charset="0"/>
                <a:ea typeface="ＭＳ Ｐゴシック" panose="020B0600070205080204" pitchFamily="34" charset="-128"/>
              </a:defRPr>
            </a:lvl4pPr>
            <a:lvl5pPr>
              <a:defRPr kumimoji="1">
                <a:solidFill>
                  <a:schemeClr val="tx1"/>
                </a:solidFill>
                <a:latin typeface="Arial" panose="020B0604020202020204" pitchFamily="34" charset="0"/>
                <a:ea typeface="ＭＳ Ｐゴシック" panose="020B0600070205080204" pitchFamily="34"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pPr lvl="1" algn="just">
              <a:lnSpc>
                <a:spcPct val="112000"/>
              </a:lnSpc>
            </a:pPr>
            <a:r>
              <a:rPr lang="en-US" altLang="ja-JP" sz="2000">
                <a:ea typeface="MS UI Gothic" panose="020B0600070205080204" pitchFamily="34" charset="-128"/>
              </a:rPr>
              <a:t>Tên mảng</a:t>
            </a:r>
            <a:r>
              <a:rPr lang="en-US" altLang="ja-JP" sz="2000">
                <a:ea typeface="ＭＳ ゴシック" panose="020B0609070205080204" pitchFamily="49" charset="-128"/>
              </a:rPr>
              <a:t>.length</a:t>
            </a:r>
          </a:p>
        </p:txBody>
      </p:sp>
    </p:spTree>
    <p:extLst>
      <p:ext uri="{BB962C8B-B14F-4D97-AF65-F5344CB8AC3E}">
        <p14:creationId xmlns:p14="http://schemas.microsoft.com/office/powerpoint/2010/main" val="32066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0DDFF-EA90-495E-50D4-7E91805844F6}"/>
              </a:ext>
            </a:extLst>
          </p:cNvPr>
          <p:cNvSpPr>
            <a:spLocks noGrp="1"/>
          </p:cNvSpPr>
          <p:nvPr>
            <p:ph type="title"/>
          </p:nvPr>
        </p:nvSpPr>
        <p:spPr/>
        <p:txBody>
          <a:bodyPr>
            <a:normAutofit fontScale="90000"/>
          </a:bodyPr>
          <a:lstStyle/>
          <a:p>
            <a:r>
              <a:rPr lang="en-US" dirty="0" err="1"/>
              <a:t>Phép</a:t>
            </a:r>
            <a:r>
              <a:rPr lang="en-US" dirty="0"/>
              <a:t> </a:t>
            </a:r>
            <a:r>
              <a:rPr lang="en-US" dirty="0" err="1"/>
              <a:t>toán</a:t>
            </a:r>
            <a:endParaRPr lang="en-US" dirty="0"/>
          </a:p>
        </p:txBody>
      </p:sp>
      <p:sp>
        <p:nvSpPr>
          <p:cNvPr id="3" name="Content Placeholder 2">
            <a:extLst>
              <a:ext uri="{FF2B5EF4-FFF2-40B4-BE49-F238E27FC236}">
                <a16:creationId xmlns:a16="http://schemas.microsoft.com/office/drawing/2014/main" id="{965388A7-ACCF-F0D7-DF40-78EAD3AB8B76}"/>
              </a:ext>
            </a:extLst>
          </p:cNvPr>
          <p:cNvSpPr>
            <a:spLocks noGrp="1"/>
          </p:cNvSpPr>
          <p:nvPr>
            <p:ph idx="1"/>
          </p:nvPr>
        </p:nvSpPr>
        <p:spPr/>
        <p:txBody>
          <a:bodyPr/>
          <a:lstStyle/>
          <a:p>
            <a:r>
              <a:rPr lang="vi-VN" dirty="0"/>
              <a:t>Các phép toán </a:t>
            </a:r>
            <a:r>
              <a:rPr lang="vi-VN" dirty="0" err="1"/>
              <a:t>toán</a:t>
            </a:r>
            <a:r>
              <a:rPr lang="vi-VN" dirty="0"/>
              <a:t> học (</a:t>
            </a:r>
            <a:r>
              <a:rPr lang="vi-VN" dirty="0" err="1"/>
              <a:t>arithmetic</a:t>
            </a:r>
            <a:r>
              <a:rPr lang="vi-VN" dirty="0"/>
              <a:t> </a:t>
            </a:r>
            <a:r>
              <a:rPr lang="vi-VN" dirty="0" err="1"/>
              <a:t>operators</a:t>
            </a:r>
            <a:r>
              <a:rPr lang="vi-VN" dirty="0"/>
              <a:t>): </a:t>
            </a:r>
            <a:endParaRPr lang="en-US" dirty="0"/>
          </a:p>
          <a:p>
            <a:pPr lvl="1"/>
            <a:r>
              <a:rPr lang="vi-VN" dirty="0"/>
              <a:t> 5 phép cơ bản: cộng (+), trừ (-), nhân (*), chia (/), chia lấy dư (%)</a:t>
            </a:r>
            <a:r>
              <a:rPr lang="en-US" dirty="0"/>
              <a:t>. </a:t>
            </a:r>
          </a:p>
          <a:p>
            <a:pPr lvl="1"/>
            <a:r>
              <a:rPr lang="vi-VN" dirty="0"/>
              <a:t>Thứ tự ưu tiên như trong toán học </a:t>
            </a:r>
            <a:endParaRPr lang="en-US" dirty="0"/>
          </a:p>
          <a:p>
            <a:pPr lvl="1"/>
            <a:r>
              <a:rPr lang="vi-VN" dirty="0"/>
              <a:t> Phép % chỉ thực hiện với kiểu nguyên </a:t>
            </a:r>
            <a:endParaRPr lang="en-US" dirty="0"/>
          </a:p>
          <a:p>
            <a:pPr lvl="1"/>
            <a:r>
              <a:rPr lang="vi-VN" dirty="0"/>
              <a:t>Phép / trả về thương nếu cả hai phía đều nguyên </a:t>
            </a:r>
            <a:endParaRPr lang="en-US" dirty="0"/>
          </a:p>
          <a:p>
            <a:r>
              <a:rPr lang="vi-VN" dirty="0"/>
              <a:t>Phép tăng (++) và giảm (--) chỉ làm việc với kiểu nguyên (chú ý kết quả trả về)</a:t>
            </a:r>
            <a:endParaRPr lang="en-US" dirty="0"/>
          </a:p>
        </p:txBody>
      </p:sp>
      <p:sp>
        <p:nvSpPr>
          <p:cNvPr id="4" name="Slide Number Placeholder 3">
            <a:extLst>
              <a:ext uri="{FF2B5EF4-FFF2-40B4-BE49-F238E27FC236}">
                <a16:creationId xmlns:a16="http://schemas.microsoft.com/office/drawing/2014/main" id="{7EE736FE-278E-77BF-FE69-9E7AAF26271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41</a:t>
            </a:fld>
            <a:endParaRPr lang="en-US" altLang="ja-JP"/>
          </a:p>
        </p:txBody>
      </p:sp>
    </p:spTree>
    <p:extLst>
      <p:ext uri="{BB962C8B-B14F-4D97-AF65-F5344CB8AC3E}">
        <p14:creationId xmlns:p14="http://schemas.microsoft.com/office/powerpoint/2010/main" val="19218318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0FFD17-69E5-6D51-9B48-7C99467F864C}"/>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D99D67D8-EAF9-4582-8417-3F46B058DC51}" type="slidenum">
              <a:rPr lang="en-US" altLang="ja-JP" smtClean="0"/>
              <a:pPr/>
              <a:t>42</a:t>
            </a:fld>
            <a:endParaRPr lang="en-US" altLang="ja-JP"/>
          </a:p>
        </p:txBody>
      </p:sp>
      <p:sp>
        <p:nvSpPr>
          <p:cNvPr id="256003" name="Text Box 3">
            <a:extLst>
              <a:ext uri="{FF2B5EF4-FFF2-40B4-BE49-F238E27FC236}">
                <a16:creationId xmlns:a16="http://schemas.microsoft.com/office/drawing/2014/main" id="{CD6BFCE7-378F-ADEF-8899-4E55826AD2BB}"/>
              </a:ext>
            </a:extLst>
          </p:cNvPr>
          <p:cNvSpPr txBox="1">
            <a:spLocks noChangeArrowheads="1"/>
          </p:cNvSpPr>
          <p:nvPr/>
        </p:nvSpPr>
        <p:spPr bwMode="auto">
          <a:xfrm>
            <a:off x="2489200" y="2336800"/>
            <a:ext cx="5080000"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2400" b="0">
                <a:ea typeface="ヒラギノ明朝 Pro W6" pitchFamily="18" charset="-128"/>
              </a:rPr>
              <a:t>Chương 4</a:t>
            </a:r>
            <a:br>
              <a:rPr lang="en-US" altLang="ja-JP" sz="2100" b="0">
                <a:ea typeface="ヒラギノ明朝 Pro W6" pitchFamily="18" charset="-128"/>
              </a:rPr>
            </a:br>
            <a:r>
              <a:rPr lang="en-US" altLang="ja-JP" sz="4700" b="0">
                <a:ea typeface="ヒラギノ明朝 Pro W6" pitchFamily="18" charset="-128"/>
              </a:rPr>
              <a:t>Toán tử</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DD8279A-E49E-43CA-DF22-A7375B0A3D52}"/>
              </a:ext>
            </a:extLst>
          </p:cNvPr>
          <p:cNvSpPr>
            <a:spLocks noGrp="1"/>
          </p:cNvSpPr>
          <p:nvPr>
            <p:ph type="sldNum" sz="quarter" idx="10"/>
          </p:nvPr>
        </p:nvSpPr>
        <p:spPr/>
        <p:txBody>
          <a:bodyPr/>
          <a:lstStyle/>
          <a:p>
            <a:fld id="{7265BF83-2A46-43C1-804B-6D5ABA7D6FDC}" type="slidenum">
              <a:rPr lang="en-US" altLang="ja-JP"/>
              <a:pPr/>
              <a:t>43</a:t>
            </a:fld>
            <a:endParaRPr lang="en-US" altLang="ja-JP"/>
          </a:p>
        </p:txBody>
      </p:sp>
      <p:sp>
        <p:nvSpPr>
          <p:cNvPr id="692226" name="Rectangle 2">
            <a:extLst>
              <a:ext uri="{FF2B5EF4-FFF2-40B4-BE49-F238E27FC236}">
                <a16:creationId xmlns:a16="http://schemas.microsoft.com/office/drawing/2014/main" id="{A7ACC8AB-2A5B-8172-C132-597C948D09DE}"/>
              </a:ext>
            </a:extLst>
          </p:cNvPr>
          <p:cNvSpPr>
            <a:spLocks noGrp="1" noChangeArrowheads="1"/>
          </p:cNvSpPr>
          <p:nvPr>
            <p:ph type="title"/>
          </p:nvPr>
        </p:nvSpPr>
        <p:spPr>
          <a:xfrm>
            <a:off x="344487" y="333328"/>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Loại</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endParaRPr lang="en-US" altLang="ja-JP" dirty="0">
              <a:latin typeface="Arial" panose="020B0604020202020204" pitchFamily="34" charset="0"/>
              <a:ea typeface="MS UI Gothic" panose="020B0600070205080204" pitchFamily="50" charset="-128"/>
            </a:endParaRPr>
          </a:p>
        </p:txBody>
      </p:sp>
      <p:sp>
        <p:nvSpPr>
          <p:cNvPr id="692228" name="Rectangle 4">
            <a:extLst>
              <a:ext uri="{FF2B5EF4-FFF2-40B4-BE49-F238E27FC236}">
                <a16:creationId xmlns:a16="http://schemas.microsoft.com/office/drawing/2014/main" id="{C91D3714-8459-00DB-ACFB-A55D437E15A9}"/>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Toán tử là</a:t>
            </a:r>
          </a:p>
          <a:p>
            <a:endParaRPr lang="en-US" altLang="ja-JP" sz="2400" b="0"/>
          </a:p>
          <a:p>
            <a:endParaRPr lang="en-US" altLang="ja-JP" sz="2400" b="0"/>
          </a:p>
          <a:p>
            <a:pPr>
              <a:buFont typeface="Wingdings" panose="05000000000000000000" pitchFamily="2" charset="2"/>
              <a:buNone/>
            </a:pPr>
            <a:r>
              <a:rPr lang="en-US" altLang="ja-JP" sz="2000" b="0"/>
              <a:t>●</a:t>
            </a:r>
            <a:r>
              <a:rPr lang="en-US" altLang="ja-JP" sz="2000" b="0">
                <a:latin typeface="Arial" panose="020B0604020202020204" pitchFamily="34" charset="0"/>
              </a:rPr>
              <a:t>Ví dụ của biểu thức</a:t>
            </a:r>
          </a:p>
        </p:txBody>
      </p:sp>
      <p:sp>
        <p:nvSpPr>
          <p:cNvPr id="692261" name="Rectangle 37">
            <a:extLst>
              <a:ext uri="{FF2B5EF4-FFF2-40B4-BE49-F238E27FC236}">
                <a16:creationId xmlns:a16="http://schemas.microsoft.com/office/drawing/2014/main" id="{FB13FCD2-5D9F-B0A9-DCB9-C10F21F5550C}"/>
              </a:ext>
            </a:extLst>
          </p:cNvPr>
          <p:cNvSpPr>
            <a:spLocks noChangeArrowheads="1"/>
          </p:cNvSpPr>
          <p:nvPr/>
        </p:nvSpPr>
        <p:spPr bwMode="auto">
          <a:xfrm>
            <a:off x="344488" y="1282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Kí hiệu chỉ định xem sẽ thực hiện loại phép toán nào</a:t>
            </a:r>
          </a:p>
        </p:txBody>
      </p:sp>
      <p:grpSp>
        <p:nvGrpSpPr>
          <p:cNvPr id="692299" name="Group 75">
            <a:extLst>
              <a:ext uri="{FF2B5EF4-FFF2-40B4-BE49-F238E27FC236}">
                <a16:creationId xmlns:a16="http://schemas.microsoft.com/office/drawing/2014/main" id="{E1A6199B-E9E6-04D0-9748-3656BC7994B4}"/>
              </a:ext>
            </a:extLst>
          </p:cNvPr>
          <p:cNvGrpSpPr>
            <a:grpSpLocks/>
          </p:cNvGrpSpPr>
          <p:nvPr/>
        </p:nvGrpSpPr>
        <p:grpSpPr bwMode="auto">
          <a:xfrm>
            <a:off x="342900" y="2439988"/>
            <a:ext cx="9117013" cy="4035425"/>
            <a:chOff x="216" y="1537"/>
            <a:chExt cx="5743" cy="2542"/>
          </a:xfrm>
        </p:grpSpPr>
        <p:sp>
          <p:nvSpPr>
            <p:cNvPr id="692291" name="Rectangle 67">
              <a:extLst>
                <a:ext uri="{FF2B5EF4-FFF2-40B4-BE49-F238E27FC236}">
                  <a16:creationId xmlns:a16="http://schemas.microsoft.com/office/drawing/2014/main" id="{C63F8A58-33AC-F176-00D3-3FDF6DE590C0}"/>
                </a:ext>
              </a:extLst>
            </p:cNvPr>
            <p:cNvSpPr>
              <a:spLocks noChangeArrowheads="1"/>
            </p:cNvSpPr>
            <p:nvPr/>
          </p:nvSpPr>
          <p:spPr bwMode="auto">
            <a:xfrm>
              <a:off x="216" y="1537"/>
              <a:ext cx="5743" cy="2542"/>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296" name="Rectangle 72">
              <a:extLst>
                <a:ext uri="{FF2B5EF4-FFF2-40B4-BE49-F238E27FC236}">
                  <a16:creationId xmlns:a16="http://schemas.microsoft.com/office/drawing/2014/main" id="{4675E3F6-C5A2-7BD0-0A6C-1786F3077096}"/>
                </a:ext>
              </a:extLst>
            </p:cNvPr>
            <p:cNvSpPr>
              <a:spLocks noChangeArrowheads="1"/>
            </p:cNvSpPr>
            <p:nvPr/>
          </p:nvSpPr>
          <p:spPr bwMode="auto">
            <a:xfrm>
              <a:off x="2672" y="3424"/>
              <a:ext cx="952" cy="528"/>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295" name="Rectangle 71">
              <a:extLst>
                <a:ext uri="{FF2B5EF4-FFF2-40B4-BE49-F238E27FC236}">
                  <a16:creationId xmlns:a16="http://schemas.microsoft.com/office/drawing/2014/main" id="{8A56AEAA-7760-EDDB-1387-033F63A82FAF}"/>
                </a:ext>
              </a:extLst>
            </p:cNvPr>
            <p:cNvSpPr>
              <a:spLocks noChangeArrowheads="1"/>
            </p:cNvSpPr>
            <p:nvPr/>
          </p:nvSpPr>
          <p:spPr bwMode="auto">
            <a:xfrm>
              <a:off x="1328" y="1768"/>
              <a:ext cx="3521" cy="1376"/>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264" name="Text Box 40">
              <a:extLst>
                <a:ext uri="{FF2B5EF4-FFF2-40B4-BE49-F238E27FC236}">
                  <a16:creationId xmlns:a16="http://schemas.microsoft.com/office/drawing/2014/main" id="{21C6B1A8-2D67-8B19-C6BD-3533AB4D2A2B}"/>
                </a:ext>
              </a:extLst>
            </p:cNvPr>
            <p:cNvSpPr txBox="1">
              <a:spLocks noChangeArrowheads="1"/>
            </p:cNvSpPr>
            <p:nvPr/>
          </p:nvSpPr>
          <p:spPr bwMode="auto">
            <a:xfrm>
              <a:off x="480" y="2328"/>
              <a:ext cx="5280" cy="519"/>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3200" b="0" dirty="0" err="1">
                  <a:latin typeface="+mj-lt"/>
                </a:rPr>
                <a:t>Biến</a:t>
              </a:r>
              <a:r>
                <a:rPr lang="en-US" altLang="ja-JP" sz="3200" b="0" dirty="0">
                  <a:latin typeface="+mj-lt"/>
                </a:rPr>
                <a:t> số1</a:t>
              </a:r>
              <a:r>
                <a:rPr lang="en-US" altLang="ja-JP" sz="4800" b="0" dirty="0">
                  <a:latin typeface="+mj-lt"/>
                </a:rPr>
                <a:t>   </a:t>
              </a:r>
              <a:r>
                <a:rPr lang="en-US" altLang="ja-JP" sz="3200" b="0" dirty="0">
                  <a:latin typeface="+mj-lt"/>
                </a:rPr>
                <a:t>+   </a:t>
              </a:r>
              <a:r>
                <a:rPr lang="en-US" altLang="ja-JP" sz="3200" b="0" dirty="0" err="1">
                  <a:latin typeface="+mj-lt"/>
                </a:rPr>
                <a:t>Biến</a:t>
              </a:r>
              <a:r>
                <a:rPr lang="en-US" altLang="ja-JP" sz="3200" b="0" dirty="0">
                  <a:latin typeface="+mj-lt"/>
                </a:rPr>
                <a:t> </a:t>
              </a:r>
              <a:r>
                <a:rPr lang="en-US" altLang="ja-JP" sz="3200" b="0" dirty="0" err="1">
                  <a:latin typeface="+mj-lt"/>
                </a:rPr>
                <a:t>số</a:t>
              </a:r>
              <a:r>
                <a:rPr lang="en-US" altLang="ja-JP" sz="3200" b="0" dirty="0">
                  <a:latin typeface="+mj-lt"/>
                </a:rPr>
                <a:t> 2</a:t>
              </a:r>
            </a:p>
          </p:txBody>
        </p:sp>
        <p:sp>
          <p:nvSpPr>
            <p:cNvPr id="692267" name="Rectangle 43">
              <a:extLst>
                <a:ext uri="{FF2B5EF4-FFF2-40B4-BE49-F238E27FC236}">
                  <a16:creationId xmlns:a16="http://schemas.microsoft.com/office/drawing/2014/main" id="{786E5C8A-C0C5-85C0-5737-FA09C34720F6}"/>
                </a:ext>
              </a:extLst>
            </p:cNvPr>
            <p:cNvSpPr>
              <a:spLocks noChangeArrowheads="1"/>
            </p:cNvSpPr>
            <p:nvPr/>
          </p:nvSpPr>
          <p:spPr bwMode="auto">
            <a:xfrm>
              <a:off x="1584" y="2320"/>
              <a:ext cx="1168" cy="648"/>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268" name="Rectangle 44">
              <a:extLst>
                <a:ext uri="{FF2B5EF4-FFF2-40B4-BE49-F238E27FC236}">
                  <a16:creationId xmlns:a16="http://schemas.microsoft.com/office/drawing/2014/main" id="{FFF4E48B-8811-9E53-C32C-4B3F28F715E6}"/>
                </a:ext>
              </a:extLst>
            </p:cNvPr>
            <p:cNvSpPr>
              <a:spLocks noChangeArrowheads="1"/>
            </p:cNvSpPr>
            <p:nvPr/>
          </p:nvSpPr>
          <p:spPr bwMode="auto">
            <a:xfrm>
              <a:off x="3448" y="2320"/>
              <a:ext cx="1168" cy="648"/>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269" name="Rectangle 45">
              <a:extLst>
                <a:ext uri="{FF2B5EF4-FFF2-40B4-BE49-F238E27FC236}">
                  <a16:creationId xmlns:a16="http://schemas.microsoft.com/office/drawing/2014/main" id="{A6A9A196-29C3-1724-66CF-CFC182831686}"/>
                </a:ext>
              </a:extLst>
            </p:cNvPr>
            <p:cNvSpPr>
              <a:spLocks noChangeArrowheads="1"/>
            </p:cNvSpPr>
            <p:nvPr/>
          </p:nvSpPr>
          <p:spPr bwMode="auto">
            <a:xfrm>
              <a:off x="2904" y="2320"/>
              <a:ext cx="408" cy="648"/>
            </a:xfrm>
            <a:prstGeom prst="rect">
              <a:avLst/>
            </a:prstGeom>
            <a:noFill/>
            <a:ln w="38100" algn="ctr">
              <a:solidFill>
                <a:srgbClr val="3FB007"/>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273" name="AutoShape 49">
              <a:extLst>
                <a:ext uri="{FF2B5EF4-FFF2-40B4-BE49-F238E27FC236}">
                  <a16:creationId xmlns:a16="http://schemas.microsoft.com/office/drawing/2014/main" id="{5F418CC2-EE4C-19BC-4F40-EF0EB54FB678}"/>
                </a:ext>
              </a:extLst>
            </p:cNvPr>
            <p:cNvSpPr>
              <a:spLocks noChangeArrowheads="1"/>
            </p:cNvSpPr>
            <p:nvPr/>
          </p:nvSpPr>
          <p:spPr bwMode="auto">
            <a:xfrm>
              <a:off x="2759" y="1895"/>
              <a:ext cx="723" cy="285"/>
            </a:xfrm>
            <a:prstGeom prst="wedgeRoundRectCallout">
              <a:avLst>
                <a:gd name="adj1" fmla="val 4218"/>
                <a:gd name="adj2" fmla="val 81227"/>
                <a:gd name="adj3" fmla="val 16667"/>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Toán tử</a:t>
              </a:r>
            </a:p>
          </p:txBody>
        </p:sp>
        <p:sp>
          <p:nvSpPr>
            <p:cNvPr id="692275" name="AutoShape 51">
              <a:extLst>
                <a:ext uri="{FF2B5EF4-FFF2-40B4-BE49-F238E27FC236}">
                  <a16:creationId xmlns:a16="http://schemas.microsoft.com/office/drawing/2014/main" id="{5B570919-F291-2D73-54BE-ACC1C1432686}"/>
                </a:ext>
              </a:extLst>
            </p:cNvPr>
            <p:cNvSpPr>
              <a:spLocks noChangeArrowheads="1"/>
            </p:cNvSpPr>
            <p:nvPr/>
          </p:nvSpPr>
          <p:spPr bwMode="auto">
            <a:xfrm>
              <a:off x="1831" y="1895"/>
              <a:ext cx="723" cy="285"/>
            </a:xfrm>
            <a:prstGeom prst="wedgeRoundRectCallout">
              <a:avLst>
                <a:gd name="adj1" fmla="val 898"/>
                <a:gd name="adj2" fmla="val 8964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Operand</a:t>
              </a:r>
            </a:p>
          </p:txBody>
        </p:sp>
        <p:sp>
          <p:nvSpPr>
            <p:cNvPr id="692282" name="Rectangle 58">
              <a:extLst>
                <a:ext uri="{FF2B5EF4-FFF2-40B4-BE49-F238E27FC236}">
                  <a16:creationId xmlns:a16="http://schemas.microsoft.com/office/drawing/2014/main" id="{61923220-CB9F-6F45-03CB-4526CDEA90A7}"/>
                </a:ext>
              </a:extLst>
            </p:cNvPr>
            <p:cNvSpPr>
              <a:spLocks noChangeArrowheads="1"/>
            </p:cNvSpPr>
            <p:nvPr/>
          </p:nvSpPr>
          <p:spPr bwMode="auto">
            <a:xfrm>
              <a:off x="1328" y="1768"/>
              <a:ext cx="3520" cy="1376"/>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284" name="Line 60">
              <a:extLst>
                <a:ext uri="{FF2B5EF4-FFF2-40B4-BE49-F238E27FC236}">
                  <a16:creationId xmlns:a16="http://schemas.microsoft.com/office/drawing/2014/main" id="{4D9449AF-CDAE-B2EB-22F0-9CC3482EBFDE}"/>
                </a:ext>
              </a:extLst>
            </p:cNvPr>
            <p:cNvSpPr>
              <a:spLocks noChangeShapeType="1"/>
            </p:cNvSpPr>
            <p:nvPr/>
          </p:nvSpPr>
          <p:spPr bwMode="auto">
            <a:xfrm>
              <a:off x="3120" y="3136"/>
              <a:ext cx="0" cy="288"/>
            </a:xfrm>
            <a:prstGeom prst="line">
              <a:avLst/>
            </a:prstGeom>
            <a:noFill/>
            <a:ln w="38100">
              <a:solidFill>
                <a:srgbClr val="FF9900"/>
              </a:solidFill>
              <a:prstDash val="sysDot"/>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nvGrpSpPr>
            <p:cNvPr id="692288" name="Group 64">
              <a:extLst>
                <a:ext uri="{FF2B5EF4-FFF2-40B4-BE49-F238E27FC236}">
                  <a16:creationId xmlns:a16="http://schemas.microsoft.com/office/drawing/2014/main" id="{12AC57A5-22AF-2680-A00A-944AD5E88FF7}"/>
                </a:ext>
              </a:extLst>
            </p:cNvPr>
            <p:cNvGrpSpPr>
              <a:grpSpLocks/>
            </p:cNvGrpSpPr>
            <p:nvPr/>
          </p:nvGrpSpPr>
          <p:grpSpPr bwMode="auto">
            <a:xfrm>
              <a:off x="2672" y="3416"/>
              <a:ext cx="952" cy="528"/>
              <a:chOff x="2672" y="3592"/>
              <a:chExt cx="952" cy="528"/>
            </a:xfrm>
          </p:grpSpPr>
          <p:sp>
            <p:nvSpPr>
              <p:cNvPr id="692286" name="Rectangle 62">
                <a:extLst>
                  <a:ext uri="{FF2B5EF4-FFF2-40B4-BE49-F238E27FC236}">
                    <a16:creationId xmlns:a16="http://schemas.microsoft.com/office/drawing/2014/main" id="{B207DA05-CA61-A09A-46F9-7E80D0EF4E95}"/>
                  </a:ext>
                </a:extLst>
              </p:cNvPr>
              <p:cNvSpPr>
                <a:spLocks noChangeArrowheads="1"/>
              </p:cNvSpPr>
              <p:nvPr/>
            </p:nvSpPr>
            <p:spPr bwMode="auto">
              <a:xfrm>
                <a:off x="2672" y="3608"/>
                <a:ext cx="952" cy="512"/>
              </a:xfrm>
              <a:prstGeom prst="rect">
                <a:avLst/>
              </a:prstGeom>
              <a:noFill/>
              <a:ln w="38100" algn="ctr">
                <a:solidFill>
                  <a:srgbClr val="FF9900"/>
                </a:solidFill>
                <a:prstDash val="sysDot"/>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692287" name="Text Box 63">
                <a:extLst>
                  <a:ext uri="{FF2B5EF4-FFF2-40B4-BE49-F238E27FC236}">
                    <a16:creationId xmlns:a16="http://schemas.microsoft.com/office/drawing/2014/main" id="{67E36AFC-052D-385B-E065-07060EE3A872}"/>
                  </a:ext>
                </a:extLst>
              </p:cNvPr>
              <p:cNvSpPr txBox="1">
                <a:spLocks noChangeArrowheads="1"/>
              </p:cNvSpPr>
              <p:nvPr/>
            </p:nvSpPr>
            <p:spPr bwMode="auto">
              <a:xfrm>
                <a:off x="2672" y="3592"/>
                <a:ext cx="952" cy="523"/>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ja-JP" sz="2400" dirty="0" err="1">
                    <a:latin typeface="+mj-lt"/>
                  </a:rPr>
                  <a:t>Biểu</a:t>
                </a:r>
                <a:r>
                  <a:rPr lang="en-US" altLang="ja-JP" sz="2400" dirty="0">
                    <a:latin typeface="+mj-lt"/>
                  </a:rPr>
                  <a:t> </a:t>
                </a:r>
                <a:r>
                  <a:rPr lang="en-US" altLang="ja-JP" sz="2400" dirty="0" err="1">
                    <a:latin typeface="+mj-lt"/>
                  </a:rPr>
                  <a:t>thức</a:t>
                </a:r>
                <a:endParaRPr lang="en-US" altLang="ja-JP" sz="2400" dirty="0">
                  <a:latin typeface="+mj-lt"/>
                </a:endParaRPr>
              </a:p>
            </p:txBody>
          </p:sp>
        </p:grpSp>
        <p:sp>
          <p:nvSpPr>
            <p:cNvPr id="692298" name="AutoShape 74">
              <a:extLst>
                <a:ext uri="{FF2B5EF4-FFF2-40B4-BE49-F238E27FC236}">
                  <a16:creationId xmlns:a16="http://schemas.microsoft.com/office/drawing/2014/main" id="{F04C061A-635E-0ECE-C14E-CAE1F9EBC058}"/>
                </a:ext>
              </a:extLst>
            </p:cNvPr>
            <p:cNvSpPr>
              <a:spLocks noChangeArrowheads="1"/>
            </p:cNvSpPr>
            <p:nvPr/>
          </p:nvSpPr>
          <p:spPr bwMode="auto">
            <a:xfrm>
              <a:off x="3671" y="1891"/>
              <a:ext cx="723" cy="285"/>
            </a:xfrm>
            <a:prstGeom prst="wedgeRoundRectCallout">
              <a:avLst>
                <a:gd name="adj1" fmla="val 898"/>
                <a:gd name="adj2" fmla="val 89648"/>
                <a:gd name="adj3" fmla="val 16667"/>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t>Operand</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6948509-1643-DD09-9843-E8D1B1A0C535}"/>
              </a:ext>
            </a:extLst>
          </p:cNvPr>
          <p:cNvSpPr>
            <a:spLocks noGrp="1"/>
          </p:cNvSpPr>
          <p:nvPr>
            <p:ph type="sldNum" sz="quarter" idx="10"/>
          </p:nvPr>
        </p:nvSpPr>
        <p:spPr/>
        <p:txBody>
          <a:bodyPr/>
          <a:lstStyle/>
          <a:p>
            <a:fld id="{073BF7F1-92A4-4F4E-8FAD-BC7A83887F02}" type="slidenum">
              <a:rPr lang="en-US" altLang="ja-JP"/>
              <a:pPr/>
              <a:t>44</a:t>
            </a:fld>
            <a:endParaRPr lang="en-US" altLang="ja-JP"/>
          </a:p>
        </p:txBody>
      </p:sp>
      <p:sp>
        <p:nvSpPr>
          <p:cNvPr id="690178" name="Rectangle 2">
            <a:extLst>
              <a:ext uri="{FF2B5EF4-FFF2-40B4-BE49-F238E27FC236}">
                <a16:creationId xmlns:a16="http://schemas.microsoft.com/office/drawing/2014/main" id="{5BC1F6B7-27D0-F338-DE3A-55A86E385693}"/>
              </a:ext>
            </a:extLst>
          </p:cNvPr>
          <p:cNvSpPr>
            <a:spLocks noGrp="1" noChangeArrowheads="1"/>
          </p:cNvSpPr>
          <p:nvPr>
            <p:ph type="title"/>
          </p:nvPr>
        </p:nvSpPr>
        <p:spPr>
          <a:xfrm>
            <a:off x="344488" y="271589"/>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số</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học</a:t>
            </a:r>
            <a:endParaRPr lang="en-US" altLang="ja-JP" dirty="0">
              <a:latin typeface="Arial" panose="020B0604020202020204" pitchFamily="34" charset="0"/>
              <a:ea typeface="MS UI Gothic" panose="020B0600070205080204" pitchFamily="50" charset="-128"/>
            </a:endParaRPr>
          </a:p>
        </p:txBody>
      </p:sp>
      <p:sp>
        <p:nvSpPr>
          <p:cNvPr id="690179" name="Rectangle 3">
            <a:extLst>
              <a:ext uri="{FF2B5EF4-FFF2-40B4-BE49-F238E27FC236}">
                <a16:creationId xmlns:a16="http://schemas.microsoft.com/office/drawing/2014/main" id="{3AB6261E-09F3-4D22-BCA5-43BD97939107}"/>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690180" name="Rectangle 4">
            <a:extLst>
              <a:ext uri="{FF2B5EF4-FFF2-40B4-BE49-F238E27FC236}">
                <a16:creationId xmlns:a16="http://schemas.microsoft.com/office/drawing/2014/main" id="{B4D90DD0-82A3-5C67-40A7-FBEA8F7E57AC}"/>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Toán tử số học</a:t>
            </a:r>
          </a:p>
        </p:txBody>
      </p:sp>
      <p:graphicFrame>
        <p:nvGraphicFramePr>
          <p:cNvPr id="690264" name="Group 88">
            <a:extLst>
              <a:ext uri="{FF2B5EF4-FFF2-40B4-BE49-F238E27FC236}">
                <a16:creationId xmlns:a16="http://schemas.microsoft.com/office/drawing/2014/main" id="{90C329AF-3947-FEBC-AF84-A6634D2672FF}"/>
              </a:ext>
            </a:extLst>
          </p:cNvPr>
          <p:cNvGraphicFramePr>
            <a:graphicFrameLocks noGrp="1"/>
          </p:cNvGraphicFramePr>
          <p:nvPr>
            <p:ph idx="1"/>
          </p:nvPr>
        </p:nvGraphicFramePr>
        <p:xfrm>
          <a:off x="331788" y="1298575"/>
          <a:ext cx="9132887" cy="2524128"/>
        </p:xfrm>
        <a:graphic>
          <a:graphicData uri="http://schemas.openxmlformats.org/drawingml/2006/table">
            <a:tbl>
              <a:tblPr/>
              <a:tblGrid>
                <a:gridCol w="2065337">
                  <a:extLst>
                    <a:ext uri="{9D8B030D-6E8A-4147-A177-3AD203B41FA5}">
                      <a16:colId xmlns:a16="http://schemas.microsoft.com/office/drawing/2014/main" val="2972807475"/>
                    </a:ext>
                  </a:extLst>
                </a:gridCol>
                <a:gridCol w="2863850">
                  <a:extLst>
                    <a:ext uri="{9D8B030D-6E8A-4147-A177-3AD203B41FA5}">
                      <a16:colId xmlns:a16="http://schemas.microsoft.com/office/drawing/2014/main" val="3375517128"/>
                    </a:ext>
                  </a:extLst>
                </a:gridCol>
                <a:gridCol w="4203700">
                  <a:extLst>
                    <a:ext uri="{9D8B030D-6E8A-4147-A177-3AD203B41FA5}">
                      <a16:colId xmlns:a16="http://schemas.microsoft.com/office/drawing/2014/main" val="4219306701"/>
                    </a:ext>
                  </a:extLst>
                </a:gridCol>
              </a:tblGrid>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AU"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Cách sử dụng</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AU"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4002862917"/>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Phép cộng</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94048488"/>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Phép trừ</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61474800"/>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Phép nhân</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5858011"/>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Phép chia</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66498187"/>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zh-TW"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Phép dư</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1913321"/>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3185653-E0F0-8B74-EA9B-00F161463205}"/>
              </a:ext>
            </a:extLst>
          </p:cNvPr>
          <p:cNvSpPr>
            <a:spLocks noGrp="1"/>
          </p:cNvSpPr>
          <p:nvPr>
            <p:ph type="sldNum" sz="quarter" idx="10"/>
          </p:nvPr>
        </p:nvSpPr>
        <p:spPr/>
        <p:txBody>
          <a:bodyPr/>
          <a:lstStyle/>
          <a:p>
            <a:fld id="{B62C409E-E8A2-4AA4-9649-CBF19A47275D}" type="slidenum">
              <a:rPr lang="en-US" altLang="ja-JP"/>
              <a:pPr/>
              <a:t>45</a:t>
            </a:fld>
            <a:endParaRPr lang="en-US" altLang="ja-JP"/>
          </a:p>
        </p:txBody>
      </p:sp>
      <p:sp>
        <p:nvSpPr>
          <p:cNvPr id="694274" name="Rectangle 2">
            <a:extLst>
              <a:ext uri="{FF2B5EF4-FFF2-40B4-BE49-F238E27FC236}">
                <a16:creationId xmlns:a16="http://schemas.microsoft.com/office/drawing/2014/main" id="{02B9DB69-E3A2-E6BA-95C1-49EA63D84C87}"/>
              </a:ext>
            </a:extLst>
          </p:cNvPr>
          <p:cNvSpPr>
            <a:spLocks noGrp="1" noChangeArrowheads="1"/>
          </p:cNvSpPr>
          <p:nvPr>
            <p:ph type="title"/>
          </p:nvPr>
        </p:nvSpPr>
        <p:spPr>
          <a:xfrm>
            <a:off x="331788" y="301626"/>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gán</a:t>
            </a:r>
            <a:endParaRPr lang="en-US" altLang="ja-JP" dirty="0">
              <a:latin typeface="Arial" panose="020B0604020202020204" pitchFamily="34" charset="0"/>
              <a:ea typeface="MS UI Gothic" panose="020B0600070205080204" pitchFamily="50" charset="-128"/>
            </a:endParaRPr>
          </a:p>
        </p:txBody>
      </p:sp>
      <p:sp>
        <p:nvSpPr>
          <p:cNvPr id="694275" name="Rectangle 3">
            <a:extLst>
              <a:ext uri="{FF2B5EF4-FFF2-40B4-BE49-F238E27FC236}">
                <a16:creationId xmlns:a16="http://schemas.microsoft.com/office/drawing/2014/main" id="{276C3B10-1152-376F-39C0-736EE0FA92E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694276" name="Rectangle 4">
            <a:extLst>
              <a:ext uri="{FF2B5EF4-FFF2-40B4-BE49-F238E27FC236}">
                <a16:creationId xmlns:a16="http://schemas.microsoft.com/office/drawing/2014/main" id="{C028B377-D278-2E8C-0C14-5E1F8428990C}"/>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Toán tử gán</a:t>
            </a:r>
          </a:p>
        </p:txBody>
      </p:sp>
      <p:graphicFrame>
        <p:nvGraphicFramePr>
          <p:cNvPr id="694307" name="Group 35">
            <a:extLst>
              <a:ext uri="{FF2B5EF4-FFF2-40B4-BE49-F238E27FC236}">
                <a16:creationId xmlns:a16="http://schemas.microsoft.com/office/drawing/2014/main" id="{43F46FED-1468-A9AD-F1DA-94D81B3B88DD}"/>
              </a:ext>
            </a:extLst>
          </p:cNvPr>
          <p:cNvGraphicFramePr>
            <a:graphicFrameLocks noGrp="1"/>
          </p:cNvGraphicFramePr>
          <p:nvPr>
            <p:ph idx="1"/>
          </p:nvPr>
        </p:nvGraphicFramePr>
        <p:xfrm>
          <a:off x="331788" y="1463675"/>
          <a:ext cx="9132887" cy="841376"/>
        </p:xfrm>
        <a:graphic>
          <a:graphicData uri="http://schemas.openxmlformats.org/drawingml/2006/table">
            <a:tbl>
              <a:tblPr/>
              <a:tblGrid>
                <a:gridCol w="1787525">
                  <a:extLst>
                    <a:ext uri="{9D8B030D-6E8A-4147-A177-3AD203B41FA5}">
                      <a16:colId xmlns:a16="http://schemas.microsoft.com/office/drawing/2014/main" val="673805092"/>
                    </a:ext>
                  </a:extLst>
                </a:gridCol>
                <a:gridCol w="2976562">
                  <a:extLst>
                    <a:ext uri="{9D8B030D-6E8A-4147-A177-3AD203B41FA5}">
                      <a16:colId xmlns:a16="http://schemas.microsoft.com/office/drawing/2014/main" val="1624993739"/>
                    </a:ext>
                  </a:extLst>
                </a:gridCol>
                <a:gridCol w="4368800">
                  <a:extLst>
                    <a:ext uri="{9D8B030D-6E8A-4147-A177-3AD203B41FA5}">
                      <a16:colId xmlns:a16="http://schemas.microsoft.com/office/drawing/2014/main" val="20189640"/>
                    </a:ext>
                  </a:extLst>
                </a:gridCol>
              </a:tblGrid>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Cách sử dụng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449916844"/>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Gán giá trị của oper 2 vào oper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401839"/>
                  </a:ext>
                </a:extLst>
              </a:tr>
            </a:tbl>
          </a:graphicData>
        </a:graphic>
      </p:graphicFrame>
      <p:sp>
        <p:nvSpPr>
          <p:cNvPr id="694309" name="AutoShape 37">
            <a:extLst>
              <a:ext uri="{FF2B5EF4-FFF2-40B4-BE49-F238E27FC236}">
                <a16:creationId xmlns:a16="http://schemas.microsoft.com/office/drawing/2014/main" id="{387210A7-0882-0ED8-F699-3529902D763F}"/>
              </a:ext>
            </a:extLst>
          </p:cNvPr>
          <p:cNvSpPr>
            <a:spLocks noChangeArrowheads="1"/>
          </p:cNvSpPr>
          <p:nvPr/>
        </p:nvSpPr>
        <p:spPr bwMode="auto">
          <a:xfrm>
            <a:off x="862013" y="2914650"/>
            <a:ext cx="7974012" cy="930275"/>
          </a:xfrm>
          <a:prstGeom prst="roundRect">
            <a:avLst>
              <a:gd name="adj" fmla="val 16667"/>
            </a:avLst>
          </a:prstGeom>
          <a:solidFill>
            <a:srgbClr val="FFFF99"/>
          </a:solidFill>
          <a:ln w="12700" algn="ctr">
            <a:solidFill>
              <a:schemeClr val="tx1"/>
            </a:solidFill>
            <a:round/>
            <a:headEnd/>
            <a:tailEnd/>
          </a:ln>
          <a:effectLst>
            <a:outerShdw dist="107763" dir="2700000" algn="ctr" rotWithShape="0">
              <a:srgbClr val="000000">
                <a:alpha val="50000"/>
              </a:srgbClr>
            </a:outerShdw>
          </a:effectLst>
        </p:spPr>
        <p:txBody>
          <a:bodyPr lIns="9945" tIns="19890" rIns="9945" bIns="9945" anchor="ctr" anchorCtr="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a:ea typeface="MS UI Gothic" panose="020B0600070205080204" pitchFamily="50" charset="-128"/>
              </a:rPr>
              <a:t>Trong Java, sẽ biểu hiện toán tử gán bằng dấu </a:t>
            </a:r>
            <a:r>
              <a:rPr lang="ja-JP" altLang="en-US" sz="1800">
                <a:ea typeface="MS UI Gothic" panose="020B0600070205080204" pitchFamily="50" charset="-128"/>
              </a:rPr>
              <a:t>「</a:t>
            </a:r>
            <a:r>
              <a:rPr lang="en-US" altLang="ja-JP" sz="1800">
                <a:ea typeface="MS UI Gothic" panose="020B0600070205080204" pitchFamily="50" charset="-128"/>
              </a:rPr>
              <a:t>=</a:t>
            </a:r>
            <a:r>
              <a:rPr lang="ja-JP" altLang="en-US" sz="1800">
                <a:ea typeface="MS UI Gothic" panose="020B0600070205080204" pitchFamily="50" charset="-128"/>
              </a:rPr>
              <a:t>」</a:t>
            </a:r>
            <a:r>
              <a:rPr lang="en-US" altLang="ja-JP" sz="1800">
                <a:ea typeface="MS UI Gothic" panose="020B0600070205080204" pitchFamily="50" charset="-128"/>
              </a:rPr>
              <a:t>, </a:t>
            </a:r>
            <a:r>
              <a:rPr lang="ja-JP" altLang="en-US" sz="1800">
                <a:ea typeface="MS UI Gothic" panose="020B0600070205080204" pitchFamily="50" charset="-128"/>
              </a:rPr>
              <a:t>「</a:t>
            </a:r>
            <a:r>
              <a:rPr lang="en-US" altLang="ja-JP" sz="1800">
                <a:ea typeface="MS UI Gothic" panose="020B0600070205080204" pitchFamily="50" charset="-128"/>
              </a:rPr>
              <a:t>bằng nhau</a:t>
            </a:r>
            <a:r>
              <a:rPr lang="ja-JP" altLang="en-US" sz="1800">
                <a:ea typeface="MS UI Gothic" panose="020B0600070205080204" pitchFamily="50" charset="-128"/>
              </a:rPr>
              <a:t>」 </a:t>
            </a:r>
            <a:r>
              <a:rPr lang="en-US" altLang="ja-JP" sz="1800">
                <a:ea typeface="MS UI Gothic" panose="020B0600070205080204" pitchFamily="50" charset="-128"/>
              </a:rPr>
              <a:t>của toán tử quan hệ là </a:t>
            </a:r>
            <a:r>
              <a:rPr lang="ja-JP" altLang="en-US" sz="1800">
                <a:ea typeface="MS UI Gothic" panose="020B0600070205080204" pitchFamily="50" charset="-128"/>
              </a:rPr>
              <a:t>「</a:t>
            </a:r>
            <a:r>
              <a:rPr lang="en-US" altLang="ja-JP" sz="1800">
                <a:ea typeface="ＭＳ ゴシック" panose="020B0609070205080204" pitchFamily="49" charset="-128"/>
              </a:rPr>
              <a:t>==</a:t>
            </a:r>
            <a:r>
              <a:rPr lang="ja-JP" altLang="en-US" sz="1800">
                <a:ea typeface="MS UI Gothic" panose="020B0600070205080204" pitchFamily="50" charset="-128"/>
              </a:rPr>
              <a:t>」</a:t>
            </a:r>
            <a:r>
              <a:rPr lang="en-US" altLang="ja-JP" sz="1800">
                <a:ea typeface="MS UI Gothic" panose="020B0600070205080204" pitchFamily="50" charset="-128"/>
              </a:rPr>
              <a:t>.</a:t>
            </a:r>
          </a:p>
          <a:p>
            <a:pPr algn="ctr"/>
            <a:r>
              <a:rPr lang="en-US" altLang="ja-JP" sz="1800">
                <a:ea typeface="MS UI Gothic" panose="020B0600070205080204" pitchFamily="50" charset="-128"/>
              </a:rPr>
              <a:t>Vì rất dễ nhầm lẫn nên chúng ta hãy cùng chú ý</a:t>
            </a:r>
            <a:r>
              <a:rPr lang="ja-JP" altLang="en-US" sz="1800">
                <a:ea typeface="MS UI Gothic" panose="020B0600070205080204" pitchFamily="50" charset="-128"/>
              </a:rPr>
              <a:t>！</a:t>
            </a:r>
          </a:p>
        </p:txBody>
      </p:sp>
      <p:sp>
        <p:nvSpPr>
          <p:cNvPr id="694310" name="Rectangle 38">
            <a:extLst>
              <a:ext uri="{FF2B5EF4-FFF2-40B4-BE49-F238E27FC236}">
                <a16:creationId xmlns:a16="http://schemas.microsoft.com/office/drawing/2014/main" id="{753E7A4A-EF38-B93F-855A-888E149CC3D8}"/>
              </a:ext>
            </a:extLst>
          </p:cNvPr>
          <p:cNvSpPr>
            <a:spLocks noChangeArrowheads="1"/>
          </p:cNvSpPr>
          <p:nvPr/>
        </p:nvSpPr>
        <p:spPr bwMode="auto">
          <a:xfrm>
            <a:off x="4930775" y="3962400"/>
            <a:ext cx="38322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600" b="0"/>
              <a:t>※</a:t>
            </a:r>
            <a:r>
              <a:rPr lang="ja-JP" altLang="en-US" sz="1600" b="0"/>
              <a:t>　</a:t>
            </a:r>
            <a:r>
              <a:rPr lang="en-US" altLang="ja-JP" sz="1600" b="0">
                <a:latin typeface="Arial" panose="020B0604020202020204" pitchFamily="34" charset="0"/>
              </a:rPr>
              <a:t>Về toán tử quan hệ thì sẽ học ở 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5880DED3-2CA5-4E22-AB55-E0653851C783}"/>
              </a:ext>
            </a:extLst>
          </p:cNvPr>
          <p:cNvSpPr>
            <a:spLocks noGrp="1"/>
          </p:cNvSpPr>
          <p:nvPr>
            <p:ph type="sldNum" sz="quarter" idx="10"/>
          </p:nvPr>
        </p:nvSpPr>
        <p:spPr/>
        <p:txBody>
          <a:bodyPr/>
          <a:lstStyle/>
          <a:p>
            <a:fld id="{2CF5FDB0-1775-4E21-8A2B-3FF0D8A7EFCF}" type="slidenum">
              <a:rPr lang="en-US" altLang="ja-JP"/>
              <a:pPr/>
              <a:t>46</a:t>
            </a:fld>
            <a:endParaRPr lang="en-US" altLang="ja-JP"/>
          </a:p>
        </p:txBody>
      </p:sp>
      <p:sp>
        <p:nvSpPr>
          <p:cNvPr id="698370" name="Rectangle 2">
            <a:extLst>
              <a:ext uri="{FF2B5EF4-FFF2-40B4-BE49-F238E27FC236}">
                <a16:creationId xmlns:a16="http://schemas.microsoft.com/office/drawing/2014/main" id="{F7D89CEC-F576-D9CD-E5CA-E83EC08E38A1}"/>
              </a:ext>
            </a:extLst>
          </p:cNvPr>
          <p:cNvSpPr>
            <a:spLocks noGrp="1" noChangeArrowheads="1"/>
          </p:cNvSpPr>
          <p:nvPr>
            <p:ph type="title"/>
          </p:nvPr>
        </p:nvSpPr>
        <p:spPr/>
        <p:txBody>
          <a:bodyPr>
            <a:normAutofit fontScale="90000"/>
          </a:bodyPr>
          <a:lstStyle/>
          <a:p>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increment/decrement</a:t>
            </a:r>
          </a:p>
        </p:txBody>
      </p:sp>
      <p:graphicFrame>
        <p:nvGraphicFramePr>
          <p:cNvPr id="698533" name="Group 165">
            <a:extLst>
              <a:ext uri="{FF2B5EF4-FFF2-40B4-BE49-F238E27FC236}">
                <a16:creationId xmlns:a16="http://schemas.microsoft.com/office/drawing/2014/main" id="{523BB5CA-59E0-94BB-0BAF-0D44EFAE2EE4}"/>
              </a:ext>
            </a:extLst>
          </p:cNvPr>
          <p:cNvGraphicFramePr>
            <a:graphicFrameLocks noGrp="1"/>
          </p:cNvGraphicFramePr>
          <p:nvPr>
            <p:ph sz="half" idx="1"/>
          </p:nvPr>
        </p:nvGraphicFramePr>
        <p:xfrm>
          <a:off x="509588" y="3429000"/>
          <a:ext cx="8647112" cy="1650048"/>
        </p:xfrm>
        <a:graphic>
          <a:graphicData uri="http://schemas.openxmlformats.org/drawingml/2006/table">
            <a:tbl>
              <a:tblPr/>
              <a:tblGrid>
                <a:gridCol w="1497012">
                  <a:extLst>
                    <a:ext uri="{9D8B030D-6E8A-4147-A177-3AD203B41FA5}">
                      <a16:colId xmlns:a16="http://schemas.microsoft.com/office/drawing/2014/main" val="4260114050"/>
                    </a:ext>
                  </a:extLst>
                </a:gridCol>
                <a:gridCol w="1676400">
                  <a:extLst>
                    <a:ext uri="{9D8B030D-6E8A-4147-A177-3AD203B41FA5}">
                      <a16:colId xmlns:a16="http://schemas.microsoft.com/office/drawing/2014/main" val="327273798"/>
                    </a:ext>
                  </a:extLst>
                </a:gridCol>
                <a:gridCol w="5473700">
                  <a:extLst>
                    <a:ext uri="{9D8B030D-6E8A-4147-A177-3AD203B41FA5}">
                      <a16:colId xmlns:a16="http://schemas.microsoft.com/office/drawing/2014/main" val="3828710036"/>
                    </a:ext>
                  </a:extLst>
                </a:gridCol>
              </a:tblGrid>
              <a:tr h="3698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AU"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Cách sử dụng</a:t>
                      </a:r>
                      <a:endPar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003271946"/>
                  </a:ext>
                </a:extLst>
              </a:tr>
              <a:tr h="474663">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oper1++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giá trị của biểu thức ①  ②Increment</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oper1 = oper1 + 1</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77283430"/>
                  </a:ext>
                </a:extLst>
              </a:tr>
              <a:tr h="474663">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oper1--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giá trị của biểu thức ①  ②decrement</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oper1 = oper1 - 1</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1115442"/>
                  </a:ext>
                </a:extLst>
              </a:tr>
            </a:tbl>
          </a:graphicData>
        </a:graphic>
      </p:graphicFrame>
      <p:sp>
        <p:nvSpPr>
          <p:cNvPr id="698371" name="Rectangle 3">
            <a:extLst>
              <a:ext uri="{FF2B5EF4-FFF2-40B4-BE49-F238E27FC236}">
                <a16:creationId xmlns:a16="http://schemas.microsoft.com/office/drawing/2014/main" id="{8156EC7C-0726-3F2A-002C-08F4122E235E}"/>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698372" name="Rectangle 4">
            <a:extLst>
              <a:ext uri="{FF2B5EF4-FFF2-40B4-BE49-F238E27FC236}">
                <a16:creationId xmlns:a16="http://schemas.microsoft.com/office/drawing/2014/main" id="{359E417E-7387-69B2-4C4C-C2958AAF96BD}"/>
              </a:ext>
            </a:extLst>
          </p:cNvPr>
          <p:cNvSpPr>
            <a:spLocks noChangeArrowheads="1"/>
          </p:cNvSpPr>
          <p:nvPr/>
        </p:nvSpPr>
        <p:spPr bwMode="auto">
          <a:xfrm>
            <a:off x="344488" y="785812"/>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000" b="0" dirty="0" err="1">
                <a:latin typeface="Arial" panose="020B0604020202020204" pitchFamily="34" charset="0"/>
              </a:rPr>
              <a:t>Đặt</a:t>
            </a:r>
            <a:r>
              <a:rPr lang="en-US" altLang="ja-JP" sz="2000" b="0" dirty="0">
                <a:latin typeface="Arial" panose="020B0604020202020204" pitchFamily="34" charset="0"/>
              </a:rPr>
              <a:t> </a:t>
            </a:r>
            <a:r>
              <a:rPr lang="en-US" altLang="ja-JP" sz="2000" b="0" dirty="0" err="1">
                <a:latin typeface="Arial" panose="020B0604020202020204" pitchFamily="34" charset="0"/>
              </a:rPr>
              <a:t>trước</a:t>
            </a:r>
            <a:endParaRPr lang="en-US" altLang="ja-JP" sz="2000" b="0" dirty="0">
              <a:latin typeface="Arial" panose="020B0604020202020204" pitchFamily="34" charset="0"/>
            </a:endParaRPr>
          </a:p>
          <a:p>
            <a:endParaRPr lang="en-US" altLang="ja-JP" sz="2400" b="0" dirty="0"/>
          </a:p>
          <a:p>
            <a:endParaRPr lang="en-US" altLang="ja-JP" sz="2400" b="0" dirty="0"/>
          </a:p>
          <a:p>
            <a:endParaRPr lang="en-US" altLang="ja-JP" sz="2400" b="0" dirty="0"/>
          </a:p>
          <a:p>
            <a:endParaRPr lang="en-US" altLang="ja-JP" sz="2400" b="0" dirty="0"/>
          </a:p>
          <a:p>
            <a:endParaRPr lang="en-US" altLang="ja-JP" sz="2000" b="0" dirty="0">
              <a:latin typeface="Arial" panose="020B0604020202020204" pitchFamily="34" charset="0"/>
            </a:endParaRPr>
          </a:p>
          <a:p>
            <a:r>
              <a:rPr lang="en-US" altLang="ja-JP" sz="2000" b="0" dirty="0" err="1">
                <a:latin typeface="Arial" panose="020B0604020202020204" pitchFamily="34" charset="0"/>
              </a:rPr>
              <a:t>Đặt</a:t>
            </a:r>
            <a:r>
              <a:rPr lang="en-US" altLang="ja-JP" sz="2000" b="0" dirty="0">
                <a:latin typeface="Arial" panose="020B0604020202020204" pitchFamily="34" charset="0"/>
              </a:rPr>
              <a:t> </a:t>
            </a:r>
            <a:r>
              <a:rPr lang="en-US" altLang="ja-JP" sz="2000" b="0" dirty="0" err="1">
                <a:latin typeface="Arial" panose="020B0604020202020204" pitchFamily="34" charset="0"/>
              </a:rPr>
              <a:t>sau</a:t>
            </a:r>
            <a:endParaRPr lang="en-US" altLang="ja-JP" sz="2000" b="0" dirty="0">
              <a:latin typeface="Arial" panose="020B0604020202020204" pitchFamily="34" charset="0"/>
            </a:endParaRPr>
          </a:p>
          <a:p>
            <a:pPr>
              <a:buFont typeface="Wingdings" panose="05000000000000000000" pitchFamily="2" charset="2"/>
              <a:buNone/>
            </a:pPr>
            <a:endParaRPr lang="en-US" altLang="ja-JP" sz="2000" b="0" dirty="0"/>
          </a:p>
        </p:txBody>
      </p:sp>
      <p:grpSp>
        <p:nvGrpSpPr>
          <p:cNvPr id="698492" name="Group 124">
            <a:extLst>
              <a:ext uri="{FF2B5EF4-FFF2-40B4-BE49-F238E27FC236}">
                <a16:creationId xmlns:a16="http://schemas.microsoft.com/office/drawing/2014/main" id="{33D418F4-E236-FD3F-B6F8-C36C335D1B4B}"/>
              </a:ext>
            </a:extLst>
          </p:cNvPr>
          <p:cNvGrpSpPr>
            <a:grpSpLocks/>
          </p:cNvGrpSpPr>
          <p:nvPr/>
        </p:nvGrpSpPr>
        <p:grpSpPr bwMode="auto">
          <a:xfrm>
            <a:off x="404813" y="5175250"/>
            <a:ext cx="8685212" cy="1323975"/>
            <a:chOff x="303" y="3132"/>
            <a:chExt cx="5471" cy="834"/>
          </a:xfrm>
        </p:grpSpPr>
        <p:sp>
          <p:nvSpPr>
            <p:cNvPr id="698387" name="AutoShape 19">
              <a:extLst>
                <a:ext uri="{FF2B5EF4-FFF2-40B4-BE49-F238E27FC236}">
                  <a16:creationId xmlns:a16="http://schemas.microsoft.com/office/drawing/2014/main" id="{E79B2417-0FD9-E3F6-7F39-AC7A0A563EE1}"/>
                </a:ext>
              </a:extLst>
            </p:cNvPr>
            <p:cNvSpPr>
              <a:spLocks noChangeArrowheads="1"/>
            </p:cNvSpPr>
            <p:nvPr/>
          </p:nvSpPr>
          <p:spPr bwMode="auto">
            <a:xfrm>
              <a:off x="303" y="3132"/>
              <a:ext cx="5471" cy="834"/>
            </a:xfrm>
            <a:prstGeom prst="roundRect">
              <a:avLst>
                <a:gd name="adj" fmla="val 16667"/>
              </a:avLst>
            </a:prstGeom>
            <a:solidFill>
              <a:srgbClr val="FFFF99"/>
            </a:solidFill>
            <a:ln w="12700" algn="ctr">
              <a:solidFill>
                <a:schemeClr val="tx1"/>
              </a:solidFill>
              <a:round/>
              <a:headEnd/>
              <a:tailEnd/>
            </a:ln>
            <a:effectLst>
              <a:outerShdw dist="107763" dir="2700000" algn="ctr" rotWithShape="0">
                <a:srgbClr val="000000">
                  <a:alpha val="50000"/>
                </a:srgbClr>
              </a:outerShdw>
            </a:effectLst>
          </p:spPr>
          <p:txBody>
            <a:bodyPr lIns="9945" tIns="19890" rIns="9945" bIns="9945" anchor="ctr" anchorCtr="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400">
                  <a:ea typeface="ＭＳ ゴシック" panose="020B0609070205080204" pitchFamily="49" charset="-128"/>
                </a:rPr>
                <a:t>Trường hợp kết hợp sử dụng toán tử ++, -- </a:t>
              </a:r>
              <a:r>
                <a:rPr lang="en-US" altLang="ja-JP" sz="1400">
                  <a:ea typeface="MS UI Gothic" panose="020B0600070205080204" pitchFamily="50" charset="-128"/>
                </a:rPr>
                <a:t> với toán tử khác thì chú ý sự khác nhau giữa đặt trước và đặt sau.</a:t>
              </a:r>
            </a:p>
            <a:p>
              <a:endParaRPr lang="en-US" altLang="ja-JP" sz="1400">
                <a:ea typeface="MS UI Gothic" panose="020B0600070205080204" pitchFamily="50" charset="-128"/>
              </a:endParaRPr>
            </a:p>
            <a:p>
              <a:r>
                <a:rPr lang="en-US" altLang="ja-JP" sz="1400">
                  <a:ea typeface="MS UI Gothic" panose="020B0600070205080204" pitchFamily="50" charset="-128"/>
                </a:rPr>
                <a:t>Giá trị </a:t>
              </a:r>
              <a:r>
                <a:rPr lang="ja-JP" altLang="en-US" sz="1400">
                  <a:ea typeface="MS UI Gothic" panose="020B0600070205080204" pitchFamily="50" charset="-128"/>
                </a:rPr>
                <a:t>１</a:t>
              </a:r>
              <a:r>
                <a:rPr lang="ja-JP" altLang="en-US" sz="1400">
                  <a:ea typeface="ＭＳ ゴシック" panose="020B0609070205080204" pitchFamily="49" charset="-128"/>
                </a:rPr>
                <a:t> </a:t>
              </a:r>
              <a:r>
                <a:rPr lang="en-US" altLang="ja-JP" sz="1400">
                  <a:ea typeface="ＭＳ ゴシック" panose="020B0609070205080204" pitchFamily="49" charset="-128"/>
                </a:rPr>
                <a:t>= ++</a:t>
              </a:r>
              <a:r>
                <a:rPr lang="en-US" altLang="ja-JP" sz="1400">
                  <a:ea typeface="MS UI Gothic" panose="020B0600070205080204" pitchFamily="50" charset="-128"/>
                </a:rPr>
                <a:t>giá trị 2</a:t>
              </a:r>
              <a:r>
                <a:rPr lang="en-US" altLang="ja-JP" sz="1400">
                  <a:ea typeface="ＭＳ ゴシック" panose="020B0609070205080204" pitchFamily="49" charset="-128"/>
                </a:rPr>
                <a:t>;</a:t>
              </a:r>
              <a:r>
                <a:rPr lang="en-US" altLang="ja-JP" sz="1400">
                  <a:ea typeface="MS UI Gothic" panose="020B0600070205080204" pitchFamily="50" charset="-128"/>
                </a:rPr>
                <a:t>	               Ở giá trị 1, có giá trị mà đã cộng thêm 1 vào giá trị  2.</a:t>
              </a:r>
            </a:p>
            <a:p>
              <a:r>
                <a:rPr lang="en-US" altLang="ja-JP" sz="1400">
                  <a:ea typeface="MS UI Gothic" panose="020B0600070205080204" pitchFamily="50" charset="-128"/>
                </a:rPr>
                <a:t>Giá trị </a:t>
              </a:r>
              <a:r>
                <a:rPr lang="ja-JP" altLang="en-US" sz="1400">
                  <a:ea typeface="MS UI Gothic" panose="020B0600070205080204" pitchFamily="50" charset="-128"/>
                </a:rPr>
                <a:t>１</a:t>
              </a:r>
              <a:r>
                <a:rPr lang="ja-JP" altLang="en-US" sz="1400">
                  <a:ea typeface="ＭＳ ゴシック" panose="020B0609070205080204" pitchFamily="49" charset="-128"/>
                </a:rPr>
                <a:t> </a:t>
              </a:r>
              <a:r>
                <a:rPr lang="en-US" altLang="ja-JP" sz="1400">
                  <a:ea typeface="ＭＳ ゴシック" panose="020B0609070205080204" pitchFamily="49" charset="-128"/>
                </a:rPr>
                <a:t>= </a:t>
              </a:r>
              <a:r>
                <a:rPr lang="en-US" altLang="ja-JP" sz="1400">
                  <a:ea typeface="MS UI Gothic" panose="020B0600070205080204" pitchFamily="50" charset="-128"/>
                </a:rPr>
                <a:t>giá trị </a:t>
              </a:r>
              <a:r>
                <a:rPr lang="en-US" altLang="ja-JP" sz="1400">
                  <a:ea typeface="ＭＳ ゴシック" panose="020B0609070205080204" pitchFamily="49" charset="-128"/>
                </a:rPr>
                <a:t>2++;</a:t>
              </a:r>
              <a:r>
                <a:rPr lang="en-US" altLang="ja-JP" sz="1400">
                  <a:ea typeface="MS UI Gothic" panose="020B0600070205080204" pitchFamily="50" charset="-128"/>
                </a:rPr>
                <a:t>	               Ở giá trị 1, có giá trị trước khi cộng thêm 1 vào giá trị  2.</a:t>
              </a:r>
            </a:p>
          </p:txBody>
        </p:sp>
        <p:sp>
          <p:nvSpPr>
            <p:cNvPr id="698388" name="AutoShape 20">
              <a:extLst>
                <a:ext uri="{FF2B5EF4-FFF2-40B4-BE49-F238E27FC236}">
                  <a16:creationId xmlns:a16="http://schemas.microsoft.com/office/drawing/2014/main" id="{EE133494-A7E5-0328-13C2-4287B765A57E}"/>
                </a:ext>
              </a:extLst>
            </p:cNvPr>
            <p:cNvSpPr>
              <a:spLocks noChangeArrowheads="1"/>
            </p:cNvSpPr>
            <p:nvPr/>
          </p:nvSpPr>
          <p:spPr bwMode="auto">
            <a:xfrm rot="3148" flipH="1" flipV="1">
              <a:off x="1608" y="3617"/>
              <a:ext cx="326" cy="108"/>
            </a:xfrm>
            <a:prstGeom prst="rightArrow">
              <a:avLst>
                <a:gd name="adj1" fmla="val 59509"/>
                <a:gd name="adj2" fmla="val 46619"/>
              </a:avLst>
            </a:prstGeom>
            <a:solidFill>
              <a:srgbClr val="0000FF"/>
            </a:solidFill>
            <a:ln w="9525">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698389" name="AutoShape 21">
              <a:extLst>
                <a:ext uri="{FF2B5EF4-FFF2-40B4-BE49-F238E27FC236}">
                  <a16:creationId xmlns:a16="http://schemas.microsoft.com/office/drawing/2014/main" id="{F3EA91E3-8897-062C-5246-AC5FA3B48549}"/>
                </a:ext>
              </a:extLst>
            </p:cNvPr>
            <p:cNvSpPr>
              <a:spLocks noChangeArrowheads="1"/>
            </p:cNvSpPr>
            <p:nvPr/>
          </p:nvSpPr>
          <p:spPr bwMode="auto">
            <a:xfrm rot="3148" flipH="1" flipV="1">
              <a:off x="1608" y="3769"/>
              <a:ext cx="326" cy="108"/>
            </a:xfrm>
            <a:prstGeom prst="rightArrow">
              <a:avLst>
                <a:gd name="adj1" fmla="val 59509"/>
                <a:gd name="adj2" fmla="val 46619"/>
              </a:avLst>
            </a:prstGeom>
            <a:solidFill>
              <a:srgbClr val="0000FF"/>
            </a:solidFill>
            <a:ln w="9525">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graphicFrame>
        <p:nvGraphicFramePr>
          <p:cNvPr id="698534" name="Group 166">
            <a:extLst>
              <a:ext uri="{FF2B5EF4-FFF2-40B4-BE49-F238E27FC236}">
                <a16:creationId xmlns:a16="http://schemas.microsoft.com/office/drawing/2014/main" id="{3BE76055-DC16-A9F6-B3EE-EB0C667E68EB}"/>
              </a:ext>
            </a:extLst>
          </p:cNvPr>
          <p:cNvGraphicFramePr>
            <a:graphicFrameLocks noGrp="1"/>
          </p:cNvGraphicFramePr>
          <p:nvPr>
            <p:ph sz="half" idx="2"/>
            <p:extLst>
              <p:ext uri="{D42A27DB-BD31-4B8C-83A1-F6EECF244321}">
                <p14:modId xmlns:p14="http://schemas.microsoft.com/office/powerpoint/2010/main" val="950083042"/>
              </p:ext>
            </p:extLst>
          </p:nvPr>
        </p:nvGraphicFramePr>
        <p:xfrm>
          <a:off x="546100" y="1176528"/>
          <a:ext cx="8697913" cy="1947672"/>
        </p:xfrm>
        <a:graphic>
          <a:graphicData uri="http://schemas.openxmlformats.org/drawingml/2006/table">
            <a:tbl>
              <a:tblPr/>
              <a:tblGrid>
                <a:gridCol w="1601788">
                  <a:extLst>
                    <a:ext uri="{9D8B030D-6E8A-4147-A177-3AD203B41FA5}">
                      <a16:colId xmlns:a16="http://schemas.microsoft.com/office/drawing/2014/main" val="2402772946"/>
                    </a:ext>
                  </a:extLst>
                </a:gridCol>
                <a:gridCol w="1652587">
                  <a:extLst>
                    <a:ext uri="{9D8B030D-6E8A-4147-A177-3AD203B41FA5}">
                      <a16:colId xmlns:a16="http://schemas.microsoft.com/office/drawing/2014/main" val="3273725404"/>
                    </a:ext>
                  </a:extLst>
                </a:gridCol>
                <a:gridCol w="5443538">
                  <a:extLst>
                    <a:ext uri="{9D8B030D-6E8A-4147-A177-3AD203B41FA5}">
                      <a16:colId xmlns:a16="http://schemas.microsoft.com/office/drawing/2014/main" val="1547308725"/>
                    </a:ext>
                  </a:extLst>
                </a:gridCol>
              </a:tblGrid>
              <a:tr h="334963">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Cách sử dụng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333802775"/>
                  </a:ext>
                </a:extLst>
              </a:tr>
              <a:tr h="481013">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++oper1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①Increment</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oper1 = oper1 + 1</a:t>
                      </a:r>
                      <a:r>
                        <a:rPr kumimoji="1" lang="ja-JP" altLang="en-US"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giá trị của biểu thức 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51901623"/>
                  </a:ext>
                </a:extLst>
              </a:tr>
              <a:tr h="74930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--oper1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①Decrement</a:t>
                      </a:r>
                      <a:r>
                        <a:rPr kumimoji="1" lang="ja-JP" altLang="en-US"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a:t>
                      </a:r>
                      <a:r>
                        <a:rPr kumimoji="1" lang="en-US" altLang="ja-JP" sz="18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oper1 = oper1 - 1</a:t>
                      </a:r>
                      <a:r>
                        <a:rPr kumimoji="1" lang="ja-JP" altLang="en-US"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về</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giá</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trị</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của</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biểu</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thức</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②</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endPar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029025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3D23314F-884B-15F0-390A-B147B7B16049}"/>
              </a:ext>
            </a:extLst>
          </p:cNvPr>
          <p:cNvSpPr>
            <a:spLocks noGrp="1"/>
          </p:cNvSpPr>
          <p:nvPr>
            <p:ph type="sldNum" sz="quarter" idx="10"/>
          </p:nvPr>
        </p:nvSpPr>
        <p:spPr/>
        <p:txBody>
          <a:bodyPr/>
          <a:lstStyle/>
          <a:p>
            <a:fld id="{82621978-A59C-48FC-A7B3-BF1DB7A09004}" type="slidenum">
              <a:rPr lang="en-US" altLang="ja-JP"/>
              <a:pPr/>
              <a:t>47</a:t>
            </a:fld>
            <a:endParaRPr lang="en-US" altLang="ja-JP"/>
          </a:p>
        </p:txBody>
      </p:sp>
      <p:sp>
        <p:nvSpPr>
          <p:cNvPr id="707586" name="Rectangle 2">
            <a:extLst>
              <a:ext uri="{FF2B5EF4-FFF2-40B4-BE49-F238E27FC236}">
                <a16:creationId xmlns:a16="http://schemas.microsoft.com/office/drawing/2014/main" id="{3FC106F4-D534-0FE8-FBEF-87941933C4A7}"/>
              </a:ext>
            </a:extLst>
          </p:cNvPr>
          <p:cNvSpPr>
            <a:spLocks noGrp="1" noChangeArrowheads="1"/>
          </p:cNvSpPr>
          <p:nvPr>
            <p:ph type="title"/>
          </p:nvPr>
        </p:nvSpPr>
        <p:spPr>
          <a:xfrm>
            <a:off x="289718" y="375444"/>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quan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hệ</a:t>
            </a:r>
            <a:endParaRPr lang="en-US" altLang="ja-JP" dirty="0">
              <a:latin typeface="Arial" panose="020B0604020202020204" pitchFamily="34" charset="0"/>
              <a:ea typeface="MS UI Gothic" panose="020B0600070205080204" pitchFamily="50" charset="-128"/>
            </a:endParaRPr>
          </a:p>
        </p:txBody>
      </p:sp>
      <p:sp>
        <p:nvSpPr>
          <p:cNvPr id="707587" name="Rectangle 3">
            <a:extLst>
              <a:ext uri="{FF2B5EF4-FFF2-40B4-BE49-F238E27FC236}">
                <a16:creationId xmlns:a16="http://schemas.microsoft.com/office/drawing/2014/main" id="{7294D2D5-FAD8-FC67-F6E7-F38A7C622029}"/>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07588" name="Rectangle 4">
            <a:extLst>
              <a:ext uri="{FF2B5EF4-FFF2-40B4-BE49-F238E27FC236}">
                <a16:creationId xmlns:a16="http://schemas.microsoft.com/office/drawing/2014/main" id="{941A1931-5DF4-6594-1FAD-C291225A94A2}"/>
              </a:ext>
            </a:extLst>
          </p:cNvPr>
          <p:cNvSpPr>
            <a:spLocks noChangeArrowheads="1"/>
          </p:cNvSpPr>
          <p:nvPr/>
        </p:nvSpPr>
        <p:spPr bwMode="auto">
          <a:xfrm>
            <a:off x="336315" y="85725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err="1">
                <a:latin typeface="Arial" panose="020B0604020202020204" pitchFamily="34" charset="0"/>
              </a:rPr>
              <a:t>Toán</a:t>
            </a:r>
            <a:r>
              <a:rPr lang="en-US" altLang="ja-JP" sz="2400" b="0" dirty="0">
                <a:latin typeface="Arial" panose="020B0604020202020204" pitchFamily="34" charset="0"/>
              </a:rPr>
              <a:t> </a:t>
            </a:r>
            <a:r>
              <a:rPr lang="en-US" altLang="ja-JP" sz="2400" b="0" dirty="0" err="1">
                <a:latin typeface="Arial" panose="020B0604020202020204" pitchFamily="34" charset="0"/>
              </a:rPr>
              <a:t>tử</a:t>
            </a:r>
            <a:r>
              <a:rPr lang="en-US" altLang="ja-JP" sz="2400" b="0" dirty="0">
                <a:latin typeface="Arial" panose="020B0604020202020204" pitchFamily="34" charset="0"/>
              </a:rPr>
              <a:t> </a:t>
            </a:r>
            <a:r>
              <a:rPr lang="en-US" altLang="ja-JP" sz="2400" b="0" dirty="0" err="1">
                <a:latin typeface="Arial" panose="020B0604020202020204" pitchFamily="34" charset="0"/>
              </a:rPr>
              <a:t>quan</a:t>
            </a:r>
            <a:r>
              <a:rPr lang="en-US" altLang="ja-JP" sz="2400" b="0" dirty="0">
                <a:latin typeface="Arial" panose="020B0604020202020204" pitchFamily="34" charset="0"/>
              </a:rPr>
              <a:t> </a:t>
            </a:r>
            <a:r>
              <a:rPr lang="en-US" altLang="ja-JP" sz="2400" b="0" dirty="0" err="1">
                <a:latin typeface="Arial" panose="020B0604020202020204" pitchFamily="34" charset="0"/>
              </a:rPr>
              <a:t>hệ</a:t>
            </a:r>
            <a:r>
              <a:rPr lang="en-US" altLang="ja-JP" sz="2400" b="0" dirty="0"/>
              <a:t>	</a:t>
            </a:r>
          </a:p>
        </p:txBody>
      </p:sp>
      <p:graphicFrame>
        <p:nvGraphicFramePr>
          <p:cNvPr id="707645" name="Group 61">
            <a:extLst>
              <a:ext uri="{FF2B5EF4-FFF2-40B4-BE49-F238E27FC236}">
                <a16:creationId xmlns:a16="http://schemas.microsoft.com/office/drawing/2014/main" id="{E96D7A86-0236-6640-1AD0-4F4BD9471F76}"/>
              </a:ext>
            </a:extLst>
          </p:cNvPr>
          <p:cNvGraphicFramePr>
            <a:graphicFrameLocks noGrp="1"/>
          </p:cNvGraphicFramePr>
          <p:nvPr>
            <p:ph idx="1"/>
          </p:nvPr>
        </p:nvGraphicFramePr>
        <p:xfrm>
          <a:off x="331788" y="1463675"/>
          <a:ext cx="9132887" cy="2944816"/>
        </p:xfrm>
        <a:graphic>
          <a:graphicData uri="http://schemas.openxmlformats.org/drawingml/2006/table">
            <a:tbl>
              <a:tblPr/>
              <a:tblGrid>
                <a:gridCol w="1787525">
                  <a:extLst>
                    <a:ext uri="{9D8B030D-6E8A-4147-A177-3AD203B41FA5}">
                      <a16:colId xmlns:a16="http://schemas.microsoft.com/office/drawing/2014/main" val="4195533214"/>
                    </a:ext>
                  </a:extLst>
                </a:gridCol>
                <a:gridCol w="2516187">
                  <a:extLst>
                    <a:ext uri="{9D8B030D-6E8A-4147-A177-3AD203B41FA5}">
                      <a16:colId xmlns:a16="http://schemas.microsoft.com/office/drawing/2014/main" val="53209971"/>
                    </a:ext>
                  </a:extLst>
                </a:gridCol>
                <a:gridCol w="4829175">
                  <a:extLst>
                    <a:ext uri="{9D8B030D-6E8A-4147-A177-3AD203B41FA5}">
                      <a16:colId xmlns:a16="http://schemas.microsoft.com/office/drawing/2014/main" val="2405708491"/>
                    </a:ext>
                  </a:extLst>
                </a:gridCol>
              </a:tblGrid>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Cách sử dụng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584081082"/>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&gt;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Oper1 lớn hơn oper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47105597"/>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&lt;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Oper1 nhỏ hơn oper2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6645230"/>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&gt;=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Oper1 lớn hơn hoặc bằng oper2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30690598"/>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&lt;=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Oper1 nhỏ hơn hoặc bằng oper2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2232045"/>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Oper1 bằng oper2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34704025"/>
                  </a:ext>
                </a:extLst>
              </a:tr>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 oper2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Oper1 không bằng oper2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4586298"/>
                  </a:ext>
                </a:extLst>
              </a:tr>
            </a:tbl>
          </a:graphicData>
        </a:graphic>
      </p:graphicFrame>
      <p:sp>
        <p:nvSpPr>
          <p:cNvPr id="707639" name="AutoShape 55">
            <a:extLst>
              <a:ext uri="{FF2B5EF4-FFF2-40B4-BE49-F238E27FC236}">
                <a16:creationId xmlns:a16="http://schemas.microsoft.com/office/drawing/2014/main" id="{0D32041D-6DD8-527A-A934-15E16023C160}"/>
              </a:ext>
            </a:extLst>
          </p:cNvPr>
          <p:cNvSpPr>
            <a:spLocks noChangeArrowheads="1"/>
          </p:cNvSpPr>
          <p:nvPr/>
        </p:nvSpPr>
        <p:spPr bwMode="auto">
          <a:xfrm>
            <a:off x="862013" y="4883150"/>
            <a:ext cx="7974012" cy="930275"/>
          </a:xfrm>
          <a:prstGeom prst="roundRect">
            <a:avLst>
              <a:gd name="adj" fmla="val 16667"/>
            </a:avLst>
          </a:prstGeom>
          <a:solidFill>
            <a:srgbClr val="FFFF99"/>
          </a:solidFill>
          <a:ln w="12700" algn="ctr">
            <a:solidFill>
              <a:schemeClr val="tx1"/>
            </a:solidFill>
            <a:round/>
            <a:headEnd/>
            <a:tailEnd/>
          </a:ln>
          <a:effectLst>
            <a:outerShdw dist="107763" dir="2700000" algn="ctr" rotWithShape="0">
              <a:srgbClr val="000000">
                <a:alpha val="50000"/>
              </a:srgbClr>
            </a:outerShdw>
          </a:effectLst>
        </p:spPr>
        <p:txBody>
          <a:bodyPr lIns="9945" tIns="19890" rIns="9945" bIns="9945" anchor="ctr" anchorCtr="1"/>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a:ea typeface="MS UI Gothic" panose="020B0600070205080204" pitchFamily="50" charset="-128"/>
              </a:rPr>
              <a:t>Trong Java, sẽ biểu hiện toán tử gán bằng dấu </a:t>
            </a:r>
            <a:r>
              <a:rPr lang="ja-JP" altLang="en-US" sz="1800">
                <a:ea typeface="MS UI Gothic" panose="020B0600070205080204" pitchFamily="50" charset="-128"/>
              </a:rPr>
              <a:t>「</a:t>
            </a:r>
            <a:r>
              <a:rPr lang="en-US" altLang="ja-JP" sz="1800">
                <a:ea typeface="MS UI Gothic" panose="020B0600070205080204" pitchFamily="50" charset="-128"/>
              </a:rPr>
              <a:t>=</a:t>
            </a:r>
            <a:r>
              <a:rPr lang="ja-JP" altLang="en-US" sz="1800">
                <a:ea typeface="MS UI Gothic" panose="020B0600070205080204" pitchFamily="50" charset="-128"/>
              </a:rPr>
              <a:t>」</a:t>
            </a:r>
            <a:r>
              <a:rPr lang="en-US" altLang="ja-JP" sz="1800">
                <a:ea typeface="MS UI Gothic" panose="020B0600070205080204" pitchFamily="50" charset="-128"/>
              </a:rPr>
              <a:t>, </a:t>
            </a:r>
            <a:r>
              <a:rPr lang="ja-JP" altLang="en-US" sz="1800">
                <a:ea typeface="MS UI Gothic" panose="020B0600070205080204" pitchFamily="50" charset="-128"/>
              </a:rPr>
              <a:t>「</a:t>
            </a:r>
            <a:r>
              <a:rPr lang="en-US" altLang="ja-JP" sz="1800">
                <a:ea typeface="MS UI Gothic" panose="020B0600070205080204" pitchFamily="50" charset="-128"/>
              </a:rPr>
              <a:t>bằng nhau</a:t>
            </a:r>
            <a:r>
              <a:rPr lang="ja-JP" altLang="en-US" sz="1800">
                <a:ea typeface="MS UI Gothic" panose="020B0600070205080204" pitchFamily="50" charset="-128"/>
              </a:rPr>
              <a:t>」 </a:t>
            </a:r>
            <a:r>
              <a:rPr lang="en-US" altLang="ja-JP" sz="1800">
                <a:ea typeface="MS UI Gothic" panose="020B0600070205080204" pitchFamily="50" charset="-128"/>
              </a:rPr>
              <a:t>của toán tử quan hệ là </a:t>
            </a:r>
            <a:r>
              <a:rPr lang="ja-JP" altLang="en-US" sz="1800">
                <a:ea typeface="MS UI Gothic" panose="020B0600070205080204" pitchFamily="50" charset="-128"/>
              </a:rPr>
              <a:t>「</a:t>
            </a:r>
            <a:r>
              <a:rPr lang="en-US" altLang="ja-JP" sz="1800">
                <a:ea typeface="ＭＳ ゴシック" panose="020B0609070205080204" pitchFamily="49" charset="-128"/>
              </a:rPr>
              <a:t>==</a:t>
            </a:r>
            <a:r>
              <a:rPr lang="ja-JP" altLang="en-US" sz="1800">
                <a:ea typeface="MS UI Gothic" panose="020B0600070205080204" pitchFamily="50" charset="-128"/>
              </a:rPr>
              <a:t>」</a:t>
            </a:r>
            <a:r>
              <a:rPr lang="en-US" altLang="ja-JP" sz="1800">
                <a:ea typeface="MS UI Gothic" panose="020B0600070205080204" pitchFamily="50" charset="-128"/>
              </a:rPr>
              <a:t>.</a:t>
            </a:r>
          </a:p>
          <a:p>
            <a:pPr algn="ctr"/>
            <a:r>
              <a:rPr lang="en-US" altLang="ja-JP" sz="1800">
                <a:ea typeface="MS UI Gothic" panose="020B0600070205080204" pitchFamily="50" charset="-128"/>
              </a:rPr>
              <a:t>Vì dễ bị nhầm nên chúng ta hãy cùng chú ý</a:t>
            </a:r>
            <a:r>
              <a:rPr lang="ja-JP" altLang="en-US" sz="1800">
                <a:ea typeface="MS UI Gothic" panose="020B0600070205080204" pitchFamily="50" charset="-128"/>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548A55A1-D0A2-EBC3-9A93-0A917EEE93E3}"/>
              </a:ext>
            </a:extLst>
          </p:cNvPr>
          <p:cNvSpPr>
            <a:spLocks noGrp="1"/>
          </p:cNvSpPr>
          <p:nvPr>
            <p:ph type="sldNum" sz="quarter" idx="10"/>
          </p:nvPr>
        </p:nvSpPr>
        <p:spPr/>
        <p:txBody>
          <a:bodyPr/>
          <a:lstStyle/>
          <a:p>
            <a:fld id="{8B7F7212-9E58-46D5-8877-2EA7C477DD4E}" type="slidenum">
              <a:rPr lang="en-US" altLang="ja-JP"/>
              <a:pPr/>
              <a:t>48</a:t>
            </a:fld>
            <a:endParaRPr lang="en-US" altLang="ja-JP"/>
          </a:p>
        </p:txBody>
      </p:sp>
      <p:sp>
        <p:nvSpPr>
          <p:cNvPr id="709634" name="Rectangle 2">
            <a:extLst>
              <a:ext uri="{FF2B5EF4-FFF2-40B4-BE49-F238E27FC236}">
                <a16:creationId xmlns:a16="http://schemas.microsoft.com/office/drawing/2014/main" id="{6CB617A1-A2B4-49AD-7AAB-28FAA391301F}"/>
              </a:ext>
            </a:extLst>
          </p:cNvPr>
          <p:cNvSpPr>
            <a:spLocks noGrp="1" noChangeArrowheads="1"/>
          </p:cNvSpPr>
          <p:nvPr>
            <p:ph type="title"/>
          </p:nvPr>
        </p:nvSpPr>
        <p:spPr>
          <a:xfrm>
            <a:off x="331788" y="315082"/>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logic</a:t>
            </a:r>
          </a:p>
        </p:txBody>
      </p:sp>
      <p:sp>
        <p:nvSpPr>
          <p:cNvPr id="709635" name="Rectangle 3">
            <a:extLst>
              <a:ext uri="{FF2B5EF4-FFF2-40B4-BE49-F238E27FC236}">
                <a16:creationId xmlns:a16="http://schemas.microsoft.com/office/drawing/2014/main" id="{F7B06514-F8EC-F7EA-D2CB-6698D828E307}"/>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09636" name="Rectangle 4">
            <a:extLst>
              <a:ext uri="{FF2B5EF4-FFF2-40B4-BE49-F238E27FC236}">
                <a16:creationId xmlns:a16="http://schemas.microsoft.com/office/drawing/2014/main" id="{B92EB28A-F9CF-DC8E-54D4-9B2E7D024139}"/>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Toán tử logic</a:t>
            </a:r>
          </a:p>
          <a:p>
            <a:endParaRPr lang="en-US" altLang="ja-JP" sz="2400" b="0"/>
          </a:p>
          <a:p>
            <a:endParaRPr lang="en-US" altLang="ja-JP" sz="2400" b="0"/>
          </a:p>
          <a:p>
            <a:endParaRPr lang="en-US" altLang="ja-JP" sz="2400" b="0"/>
          </a:p>
          <a:p>
            <a:endParaRPr lang="en-US" altLang="ja-JP" sz="2400" b="0"/>
          </a:p>
          <a:p>
            <a:endParaRPr lang="en-US" altLang="ja-JP" sz="2400" b="0"/>
          </a:p>
          <a:p>
            <a:endParaRPr lang="en-US" altLang="ja-JP" sz="2400" b="0"/>
          </a:p>
          <a:p>
            <a:endParaRPr lang="en-US" altLang="ja-JP" sz="2400" b="0"/>
          </a:p>
          <a:p>
            <a:pPr>
              <a:buFont typeface="Wingdings" panose="05000000000000000000" pitchFamily="2" charset="2"/>
              <a:buNone/>
            </a:pPr>
            <a:endParaRPr lang="en-US" altLang="ja-JP" sz="2000" b="0"/>
          </a:p>
          <a:p>
            <a:pPr>
              <a:buFont typeface="Wingdings" panose="05000000000000000000" pitchFamily="2" charset="2"/>
              <a:buNone/>
            </a:pPr>
            <a:r>
              <a:rPr lang="en-US" altLang="ja-JP" sz="2000" b="0"/>
              <a:t>●</a:t>
            </a:r>
            <a:r>
              <a:rPr lang="en-US" altLang="ja-JP" sz="2000" b="0">
                <a:latin typeface="Arial" panose="020B0604020202020204" pitchFamily="34" charset="0"/>
              </a:rPr>
              <a:t>Ví dụ</a:t>
            </a:r>
          </a:p>
        </p:txBody>
      </p:sp>
      <p:graphicFrame>
        <p:nvGraphicFramePr>
          <p:cNvPr id="709718" name="Group 86">
            <a:extLst>
              <a:ext uri="{FF2B5EF4-FFF2-40B4-BE49-F238E27FC236}">
                <a16:creationId xmlns:a16="http://schemas.microsoft.com/office/drawing/2014/main" id="{E80D14ED-3A5A-876F-7A2F-A9CA12E962B0}"/>
              </a:ext>
            </a:extLst>
          </p:cNvPr>
          <p:cNvGraphicFramePr>
            <a:graphicFrameLocks noGrp="1"/>
          </p:cNvGraphicFramePr>
          <p:nvPr>
            <p:ph idx="1"/>
          </p:nvPr>
        </p:nvGraphicFramePr>
        <p:xfrm>
          <a:off x="331788" y="1374775"/>
          <a:ext cx="9132887" cy="2809306"/>
        </p:xfrm>
        <a:graphic>
          <a:graphicData uri="http://schemas.openxmlformats.org/drawingml/2006/table">
            <a:tbl>
              <a:tblPr/>
              <a:tblGrid>
                <a:gridCol w="1492250">
                  <a:extLst>
                    <a:ext uri="{9D8B030D-6E8A-4147-A177-3AD203B41FA5}">
                      <a16:colId xmlns:a16="http://schemas.microsoft.com/office/drawing/2014/main" val="2184006139"/>
                    </a:ext>
                  </a:extLst>
                </a:gridCol>
                <a:gridCol w="2049462">
                  <a:extLst>
                    <a:ext uri="{9D8B030D-6E8A-4147-A177-3AD203B41FA5}">
                      <a16:colId xmlns:a16="http://schemas.microsoft.com/office/drawing/2014/main" val="586001809"/>
                    </a:ext>
                  </a:extLst>
                </a:gridCol>
                <a:gridCol w="4254500">
                  <a:extLst>
                    <a:ext uri="{9D8B030D-6E8A-4147-A177-3AD203B41FA5}">
                      <a16:colId xmlns:a16="http://schemas.microsoft.com/office/drawing/2014/main" val="885362769"/>
                    </a:ext>
                  </a:extLst>
                </a:gridCol>
                <a:gridCol w="1336675">
                  <a:extLst>
                    <a:ext uri="{9D8B030D-6E8A-4147-A177-3AD203B41FA5}">
                      <a16:colId xmlns:a16="http://schemas.microsoft.com/office/drawing/2014/main" val="3056584130"/>
                    </a:ext>
                  </a:extLst>
                </a:gridCol>
              </a:tblGrid>
              <a:tr h="4206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Toán tử</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Cách sử dụng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Điều kiện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3965721248"/>
                  </a:ext>
                </a:extLst>
              </a:tr>
              <a:tr h="722313">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oper1 là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thì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oper1 là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thì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NOT</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52055079"/>
                  </a:ext>
                </a:extLst>
              </a:tr>
              <a:tr h="722313">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&amp;&amp;</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&amp;&amp; oper2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cả oper1, oper2 là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thì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Ngoài ra là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AND</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05352801"/>
                  </a:ext>
                </a:extLst>
              </a:tr>
              <a:tr h="722313">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oper1 || oper2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cả oper1, oper2 cùng là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thì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false</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Ngoài ra là </a:t>
                      </a: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ＭＳ ゴシック" panose="020B0609070205080204" pitchFamily="49" charset="-128"/>
                          <a:ea typeface="ＭＳ ゴシック" panose="020B0609070205080204" pitchFamily="49" charset="-128"/>
                        </a:rPr>
                        <a:t>OR</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22002108"/>
                  </a:ext>
                </a:extLst>
              </a:tr>
            </a:tbl>
          </a:graphicData>
        </a:graphic>
      </p:graphicFrame>
      <p:grpSp>
        <p:nvGrpSpPr>
          <p:cNvPr id="709711" name="Group 79">
            <a:extLst>
              <a:ext uri="{FF2B5EF4-FFF2-40B4-BE49-F238E27FC236}">
                <a16:creationId xmlns:a16="http://schemas.microsoft.com/office/drawing/2014/main" id="{7525FCC2-874D-70AB-F61E-4E2F8D9E3E9B}"/>
              </a:ext>
            </a:extLst>
          </p:cNvPr>
          <p:cNvGrpSpPr>
            <a:grpSpLocks/>
          </p:cNvGrpSpPr>
          <p:nvPr/>
        </p:nvGrpSpPr>
        <p:grpSpPr bwMode="auto">
          <a:xfrm>
            <a:off x="344488" y="4203700"/>
            <a:ext cx="9120187" cy="1993900"/>
            <a:chOff x="217" y="2672"/>
            <a:chExt cx="5745" cy="1232"/>
          </a:xfrm>
        </p:grpSpPr>
        <p:sp>
          <p:nvSpPr>
            <p:cNvPr id="709703" name="Rectangle 71">
              <a:extLst>
                <a:ext uri="{FF2B5EF4-FFF2-40B4-BE49-F238E27FC236}">
                  <a16:creationId xmlns:a16="http://schemas.microsoft.com/office/drawing/2014/main" id="{5F796B9B-E18F-22E0-A6FA-848BC4F32D7D}"/>
                </a:ext>
              </a:extLst>
            </p:cNvPr>
            <p:cNvSpPr>
              <a:spLocks noChangeArrowheads="1"/>
            </p:cNvSpPr>
            <p:nvPr/>
          </p:nvSpPr>
          <p:spPr bwMode="auto">
            <a:xfrm>
              <a:off x="217" y="2993"/>
              <a:ext cx="5745" cy="9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int x = 5;</a:t>
              </a:r>
            </a:p>
            <a:p>
              <a:pPr lvl="1"/>
              <a:r>
                <a:rPr lang="en-US" altLang="ja-JP" sz="1800" b="0">
                  <a:latin typeface="ＭＳ ゴシック" panose="020B0609070205080204" pitchFamily="49" charset="-128"/>
                  <a:ea typeface="ＭＳ ゴシック" panose="020B0609070205080204" pitchFamily="49" charset="-128"/>
                </a:rPr>
                <a:t>System.out.println( x &gt; 0  &amp;&amp;  x &lt; 10 );    // </a:t>
              </a:r>
              <a:r>
                <a:rPr lang="en-US" altLang="ja-JP" sz="1800" b="0">
                  <a:latin typeface="Arial" panose="020B0604020202020204" pitchFamily="34" charset="0"/>
                  <a:ea typeface="ＭＳ ゴシック" panose="020B0609070205080204" pitchFamily="49" charset="-128"/>
                </a:rPr>
                <a:t>hiển thị là</a:t>
              </a:r>
              <a:r>
                <a:rPr lang="ja-JP" altLang="en-US" sz="1800" b="0">
                  <a:latin typeface="Arial" panose="020B0604020202020204" pitchFamily="34" charset="0"/>
                  <a:ea typeface="ＭＳ ゴシック" panose="020B0609070205080204" pitchFamily="49" charset="-128"/>
                </a:rPr>
                <a:t>「</a:t>
              </a:r>
              <a:r>
                <a:rPr lang="en-US" altLang="ja-JP" sz="1800" b="0">
                  <a:latin typeface="Arial" panose="020B0604020202020204" pitchFamily="34" charset="0"/>
                  <a:ea typeface="ＭＳ ゴシック" panose="020B0609070205080204" pitchFamily="49" charset="-128"/>
                </a:rPr>
                <a:t>true</a:t>
              </a:r>
              <a:r>
                <a:rPr lang="ja-JP" altLang="en-US" sz="1800" b="0">
                  <a:latin typeface="Arial" panose="020B0604020202020204" pitchFamily="34" charset="0"/>
                  <a:ea typeface="ＭＳ ゴシック" panose="020B0609070205080204" pitchFamily="49" charset="-128"/>
                </a:rPr>
                <a:t>」</a:t>
              </a:r>
            </a:p>
          </p:txBody>
        </p:sp>
        <p:sp>
          <p:nvSpPr>
            <p:cNvPr id="709704" name="AutoShape 72">
              <a:extLst>
                <a:ext uri="{FF2B5EF4-FFF2-40B4-BE49-F238E27FC236}">
                  <a16:creationId xmlns:a16="http://schemas.microsoft.com/office/drawing/2014/main" id="{C27921A1-C72B-9CAA-6BEB-ABB970660CEF}"/>
                </a:ext>
              </a:extLst>
            </p:cNvPr>
            <p:cNvSpPr>
              <a:spLocks noChangeArrowheads="1"/>
            </p:cNvSpPr>
            <p:nvPr/>
          </p:nvSpPr>
          <p:spPr bwMode="auto">
            <a:xfrm>
              <a:off x="1678" y="2672"/>
              <a:ext cx="4062" cy="301"/>
            </a:xfrm>
            <a:prstGeom prst="wedgeRoundRectCallout">
              <a:avLst>
                <a:gd name="adj1" fmla="val -31366"/>
                <a:gd name="adj2" fmla="val 130398"/>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a:latin typeface="+mj-lt"/>
                </a:rPr>
                <a:t>Do </a:t>
              </a:r>
              <a:r>
                <a:rPr lang="en-US" altLang="ja-JP" sz="1600" dirty="0" err="1">
                  <a:latin typeface="+mj-lt"/>
                </a:rPr>
                <a:t>cả</a:t>
              </a:r>
              <a:r>
                <a:rPr lang="en-US" altLang="ja-JP" sz="1600" dirty="0">
                  <a:latin typeface="+mj-lt"/>
                </a:rPr>
                <a:t> 2 operand </a:t>
              </a:r>
              <a:r>
                <a:rPr lang="en-US" altLang="ja-JP" sz="1600" dirty="0" err="1">
                  <a:latin typeface="+mj-lt"/>
                </a:rPr>
                <a:t>đều</a:t>
              </a:r>
              <a:r>
                <a:rPr lang="en-US" altLang="ja-JP" sz="1600" dirty="0">
                  <a:latin typeface="+mj-lt"/>
                </a:rPr>
                <a:t> </a:t>
              </a:r>
              <a:r>
                <a:rPr lang="en-US" altLang="ja-JP" sz="1600" dirty="0" err="1">
                  <a:latin typeface="+mj-lt"/>
                </a:rPr>
                <a:t>là</a:t>
              </a:r>
              <a:r>
                <a:rPr lang="en-US" altLang="ja-JP" sz="1600" dirty="0">
                  <a:latin typeface="+mj-lt"/>
                </a:rPr>
                <a:t> </a:t>
              </a:r>
              <a:r>
                <a:rPr lang="en-US" altLang="ja-JP" sz="1600" dirty="0">
                  <a:latin typeface="+mj-lt"/>
                  <a:ea typeface="ＭＳ ゴシック" panose="020B0609070205080204" pitchFamily="49" charset="-128"/>
                </a:rPr>
                <a:t>true</a:t>
              </a:r>
              <a:r>
                <a:rPr lang="en-US" altLang="ja-JP" sz="1600" dirty="0">
                  <a:latin typeface="+mj-lt"/>
                </a:rPr>
                <a:t> </a:t>
              </a:r>
              <a:r>
                <a:rPr lang="en-US" altLang="ja-JP" sz="1600" dirty="0" err="1">
                  <a:latin typeface="+mj-lt"/>
                </a:rPr>
                <a:t>nên</a:t>
              </a:r>
              <a:r>
                <a:rPr lang="en-US" altLang="ja-JP" sz="1600" dirty="0">
                  <a:latin typeface="+mj-lt"/>
                </a:rPr>
                <a:t> </a:t>
              </a:r>
              <a:r>
                <a:rPr lang="en-US" altLang="ja-JP" sz="1600" dirty="0" err="1">
                  <a:latin typeface="+mj-lt"/>
                </a:rPr>
                <a:t>kết</a:t>
              </a:r>
              <a:r>
                <a:rPr lang="en-US" altLang="ja-JP" sz="1600" dirty="0">
                  <a:latin typeface="+mj-lt"/>
                </a:rPr>
                <a:t> </a:t>
              </a:r>
              <a:r>
                <a:rPr lang="en-US" altLang="ja-JP" sz="1600" dirty="0" err="1">
                  <a:latin typeface="+mj-lt"/>
                </a:rPr>
                <a:t>quả</a:t>
              </a:r>
              <a:r>
                <a:rPr lang="en-US" altLang="ja-JP" sz="1600" dirty="0">
                  <a:latin typeface="+mj-lt"/>
                </a:rPr>
                <a:t> </a:t>
              </a:r>
              <a:r>
                <a:rPr lang="en-US" altLang="ja-JP" sz="1600" dirty="0" err="1">
                  <a:latin typeface="+mj-lt"/>
                </a:rPr>
                <a:t>của</a:t>
              </a:r>
              <a:r>
                <a:rPr lang="en-US" altLang="ja-JP" sz="1600" dirty="0">
                  <a:latin typeface="+mj-lt"/>
                </a:rPr>
                <a:t> </a:t>
              </a:r>
              <a:r>
                <a:rPr lang="en-US" altLang="ja-JP" sz="1600" dirty="0" err="1">
                  <a:latin typeface="+mj-lt"/>
                </a:rPr>
                <a:t>phép</a:t>
              </a:r>
              <a:r>
                <a:rPr lang="en-US" altLang="ja-JP" sz="1600" dirty="0">
                  <a:latin typeface="+mj-lt"/>
                </a:rPr>
                <a:t> </a:t>
              </a:r>
              <a:r>
                <a:rPr lang="en-US" altLang="ja-JP" sz="1600" dirty="0" err="1">
                  <a:latin typeface="+mj-lt"/>
                </a:rPr>
                <a:t>toán</a:t>
              </a:r>
              <a:r>
                <a:rPr lang="en-US" altLang="ja-JP" sz="1600" dirty="0">
                  <a:latin typeface="+mj-lt"/>
                </a:rPr>
                <a:t> logic AND </a:t>
              </a:r>
              <a:r>
                <a:rPr lang="en-US" altLang="ja-JP" sz="1600" dirty="0" err="1">
                  <a:latin typeface="+mj-lt"/>
                </a:rPr>
                <a:t>sẽ</a:t>
              </a:r>
              <a:r>
                <a:rPr lang="en-US" altLang="ja-JP" sz="1600" dirty="0">
                  <a:latin typeface="+mj-lt"/>
                </a:rPr>
                <a:t> </a:t>
              </a:r>
              <a:r>
                <a:rPr lang="en-US" altLang="ja-JP" sz="1600" dirty="0" err="1">
                  <a:latin typeface="+mj-lt"/>
                </a:rPr>
                <a:t>là</a:t>
              </a:r>
              <a:r>
                <a:rPr lang="en-US" altLang="ja-JP" sz="1600" dirty="0">
                  <a:latin typeface="+mj-lt"/>
                </a:rPr>
                <a:t> </a:t>
              </a:r>
              <a:r>
                <a:rPr lang="en-US" altLang="ja-JP" sz="1600" dirty="0">
                  <a:latin typeface="+mj-lt"/>
                  <a:ea typeface="ＭＳ ゴシック" panose="020B0609070205080204" pitchFamily="49" charset="-128"/>
                </a:rPr>
                <a:t>true.</a:t>
              </a:r>
            </a:p>
          </p:txBody>
        </p:sp>
        <p:sp>
          <p:nvSpPr>
            <p:cNvPr id="709705" name="Rectangle 73">
              <a:extLst>
                <a:ext uri="{FF2B5EF4-FFF2-40B4-BE49-F238E27FC236}">
                  <a16:creationId xmlns:a16="http://schemas.microsoft.com/office/drawing/2014/main" id="{7046AD30-2F1C-7ADB-F550-3CD6300A1B5F}"/>
                </a:ext>
              </a:extLst>
            </p:cNvPr>
            <p:cNvSpPr>
              <a:spLocks noChangeArrowheads="1"/>
            </p:cNvSpPr>
            <p:nvPr/>
          </p:nvSpPr>
          <p:spPr bwMode="auto">
            <a:xfrm>
              <a:off x="1759" y="3222"/>
              <a:ext cx="515" cy="194"/>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09706" name="Rectangle 74">
              <a:extLst>
                <a:ext uri="{FF2B5EF4-FFF2-40B4-BE49-F238E27FC236}">
                  <a16:creationId xmlns:a16="http://schemas.microsoft.com/office/drawing/2014/main" id="{313DBE60-7DD2-5548-C1F4-5E6204318272}"/>
                </a:ext>
              </a:extLst>
            </p:cNvPr>
            <p:cNvSpPr>
              <a:spLocks noChangeArrowheads="1"/>
            </p:cNvSpPr>
            <p:nvPr/>
          </p:nvSpPr>
          <p:spPr bwMode="auto">
            <a:xfrm>
              <a:off x="2551" y="3222"/>
              <a:ext cx="547" cy="194"/>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09707" name="AutoShape 75">
              <a:extLst>
                <a:ext uri="{FF2B5EF4-FFF2-40B4-BE49-F238E27FC236}">
                  <a16:creationId xmlns:a16="http://schemas.microsoft.com/office/drawing/2014/main" id="{2D507036-8557-227F-74C7-885E6D5A069E}"/>
                </a:ext>
              </a:extLst>
            </p:cNvPr>
            <p:cNvSpPr>
              <a:spLocks noChangeArrowheads="1"/>
            </p:cNvSpPr>
            <p:nvPr/>
          </p:nvSpPr>
          <p:spPr bwMode="auto">
            <a:xfrm>
              <a:off x="1381" y="3502"/>
              <a:ext cx="636" cy="270"/>
            </a:xfrm>
            <a:prstGeom prst="wedgeRoundRectCallout">
              <a:avLst>
                <a:gd name="adj1" fmla="val 46069"/>
                <a:gd name="adj2" fmla="val -82593"/>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true</a:t>
              </a:r>
            </a:p>
          </p:txBody>
        </p:sp>
        <p:sp>
          <p:nvSpPr>
            <p:cNvPr id="709708" name="AutoShape 76">
              <a:extLst>
                <a:ext uri="{FF2B5EF4-FFF2-40B4-BE49-F238E27FC236}">
                  <a16:creationId xmlns:a16="http://schemas.microsoft.com/office/drawing/2014/main" id="{F73C3B90-5E63-11B3-5F19-C92A9657D9E8}"/>
                </a:ext>
              </a:extLst>
            </p:cNvPr>
            <p:cNvSpPr>
              <a:spLocks noChangeArrowheads="1"/>
            </p:cNvSpPr>
            <p:nvPr/>
          </p:nvSpPr>
          <p:spPr bwMode="auto">
            <a:xfrm>
              <a:off x="2197" y="3502"/>
              <a:ext cx="636" cy="270"/>
            </a:xfrm>
            <a:prstGeom prst="wedgeRoundRectCallout">
              <a:avLst>
                <a:gd name="adj1" fmla="val 46069"/>
                <a:gd name="adj2" fmla="val -82593"/>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a:latin typeface="ＭＳ ゴシック" panose="020B0609070205080204" pitchFamily="49" charset="-128"/>
                  <a:ea typeface="ＭＳ ゴシック" panose="020B0609070205080204" pitchFamily="49" charset="-128"/>
                </a:rPr>
                <a:t>true</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8E6FACB-75AE-D4CD-BCFF-9E033E28B364}"/>
              </a:ext>
            </a:extLst>
          </p:cNvPr>
          <p:cNvSpPr>
            <a:spLocks noGrp="1"/>
          </p:cNvSpPr>
          <p:nvPr>
            <p:ph type="sldNum" sz="quarter" idx="10"/>
          </p:nvPr>
        </p:nvSpPr>
        <p:spPr/>
        <p:txBody>
          <a:bodyPr/>
          <a:lstStyle/>
          <a:p>
            <a:fld id="{AA3A12FB-DCA5-48D3-AF8E-0DB46C7212A7}" type="slidenum">
              <a:rPr lang="en-US" altLang="ja-JP"/>
              <a:pPr/>
              <a:t>49</a:t>
            </a:fld>
            <a:endParaRPr lang="en-US" altLang="ja-JP"/>
          </a:p>
        </p:txBody>
      </p:sp>
      <p:sp>
        <p:nvSpPr>
          <p:cNvPr id="713730" name="Rectangle 2">
            <a:extLst>
              <a:ext uri="{FF2B5EF4-FFF2-40B4-BE49-F238E27FC236}">
                <a16:creationId xmlns:a16="http://schemas.microsoft.com/office/drawing/2014/main" id="{BD2CA97E-6963-B9E2-42C8-8EDC70645078}"/>
              </a:ext>
            </a:extLst>
          </p:cNvPr>
          <p:cNvSpPr>
            <a:spLocks noGrp="1" noChangeArrowheads="1"/>
          </p:cNvSpPr>
          <p:nvPr>
            <p:ph type="title"/>
          </p:nvPr>
        </p:nvSpPr>
        <p:spPr>
          <a:xfrm>
            <a:off x="311952" y="320675"/>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a:t>
            </a:r>
            <a:r>
              <a:rPr lang="en-US" altLang="ja-JP" dirty="0" err="1">
                <a:latin typeface="Arial" panose="020B0604020202020204" pitchFamily="34" charset="0"/>
                <a:ea typeface="MS UI Gothic" panose="020B0600070205080204" pitchFamily="50" charset="-128"/>
              </a:rPr>
              <a:t>Bổ</a:t>
            </a:r>
            <a:r>
              <a:rPr lang="en-US" altLang="ja-JP" dirty="0">
                <a:latin typeface="Arial" panose="020B0604020202020204" pitchFamily="34" charset="0"/>
                <a:ea typeface="MS UI Gothic" panose="020B0600070205080204" pitchFamily="50" charset="-128"/>
              </a:rPr>
              <a:t> sung】 Các </a:t>
            </a:r>
            <a:r>
              <a:rPr lang="en-US" altLang="ja-JP" dirty="0" err="1">
                <a:latin typeface="Arial" panose="020B0604020202020204" pitchFamily="34" charset="0"/>
                <a:ea typeface="MS UI Gothic" panose="020B0600070205080204" pitchFamily="50" charset="-128"/>
              </a:rPr>
              <a:t>toán</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tử</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khác</a:t>
            </a:r>
            <a:endParaRPr lang="en-US" altLang="ja-JP" dirty="0">
              <a:latin typeface="Arial" panose="020B0604020202020204" pitchFamily="34" charset="0"/>
              <a:ea typeface="MS UI Gothic" panose="020B0600070205080204" pitchFamily="50" charset="-128"/>
            </a:endParaRPr>
          </a:p>
        </p:txBody>
      </p:sp>
      <p:sp>
        <p:nvSpPr>
          <p:cNvPr id="713731" name="Rectangle 3">
            <a:extLst>
              <a:ext uri="{FF2B5EF4-FFF2-40B4-BE49-F238E27FC236}">
                <a16:creationId xmlns:a16="http://schemas.microsoft.com/office/drawing/2014/main" id="{1714D098-7E83-C9D2-D00E-5B587DC14059}"/>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713732" name="Rectangle 4">
            <a:extLst>
              <a:ext uri="{FF2B5EF4-FFF2-40B4-BE49-F238E27FC236}">
                <a16:creationId xmlns:a16="http://schemas.microsoft.com/office/drawing/2014/main" id="{CCAD4D76-401A-0B70-6DB1-B58576C28FC2}"/>
              </a:ext>
            </a:extLst>
          </p:cNvPr>
          <p:cNvSpPr>
            <a:spLocks noChangeArrowheads="1"/>
          </p:cNvSpPr>
          <p:nvPr/>
        </p:nvSpPr>
        <p:spPr bwMode="auto">
          <a:xfrm>
            <a:off x="344488" y="1003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AU" altLang="ja-JP" sz="2400" b="0"/>
              <a:t>Phép toán bit</a:t>
            </a:r>
            <a:endParaRPr lang="en-US" altLang="ja-JP" sz="2400" b="0"/>
          </a:p>
          <a:p>
            <a:endParaRPr lang="en-US" altLang="ja-JP" sz="2400" b="0"/>
          </a:p>
          <a:p>
            <a:endParaRPr lang="en-US" altLang="ja-JP" sz="2400" b="0"/>
          </a:p>
          <a:p>
            <a:endParaRPr lang="en-US" altLang="ja-JP" sz="2400" b="0"/>
          </a:p>
          <a:p>
            <a:r>
              <a:rPr lang="en-US" altLang="ja-JP" sz="2400" b="0"/>
              <a:t>Phép toán shift</a:t>
            </a:r>
          </a:p>
          <a:p>
            <a:endParaRPr lang="en-US" altLang="ja-JP" sz="2400" b="0"/>
          </a:p>
          <a:p>
            <a:endParaRPr lang="en-US" altLang="ja-JP" sz="2400" b="0"/>
          </a:p>
          <a:p>
            <a:r>
              <a:rPr lang="en-US" altLang="ja-JP" sz="2400" b="0"/>
              <a:t>Các toán tử khác</a:t>
            </a:r>
          </a:p>
        </p:txBody>
      </p:sp>
      <p:sp>
        <p:nvSpPr>
          <p:cNvPr id="713769" name="Rectangle 41">
            <a:extLst>
              <a:ext uri="{FF2B5EF4-FFF2-40B4-BE49-F238E27FC236}">
                <a16:creationId xmlns:a16="http://schemas.microsoft.com/office/drawing/2014/main" id="{36A5E4CD-55D4-CC1C-7121-4C053CA4B951}"/>
              </a:ext>
            </a:extLst>
          </p:cNvPr>
          <p:cNvSpPr>
            <a:spLocks noChangeArrowheads="1"/>
          </p:cNvSpPr>
          <p:nvPr/>
        </p:nvSpPr>
        <p:spPr bwMode="auto">
          <a:xfrm>
            <a:off x="344488" y="16637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a:latin typeface="Arial" panose="020B0604020202020204" pitchFamily="34" charset="0"/>
              </a:rPr>
              <a:t>Xử lý operand với tư cách là hệ số nhị phân, thực hiện đánh giá đối với các bit.</a:t>
            </a:r>
          </a:p>
        </p:txBody>
      </p:sp>
      <p:sp>
        <p:nvSpPr>
          <p:cNvPr id="713770" name="Rectangle 42">
            <a:extLst>
              <a:ext uri="{FF2B5EF4-FFF2-40B4-BE49-F238E27FC236}">
                <a16:creationId xmlns:a16="http://schemas.microsoft.com/office/drawing/2014/main" id="{93E021FC-F943-3DC2-3208-AE652ED4EC54}"/>
              </a:ext>
            </a:extLst>
          </p:cNvPr>
          <p:cNvSpPr>
            <a:spLocks noChangeArrowheads="1"/>
          </p:cNvSpPr>
          <p:nvPr/>
        </p:nvSpPr>
        <p:spPr bwMode="auto">
          <a:xfrm>
            <a:off x="344488" y="3111500"/>
            <a:ext cx="9120187" cy="6096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a:latin typeface="Arial" panose="020B0604020202020204" pitchFamily="34" charset="0"/>
              </a:rPr>
              <a:t>Xử lý operand với tư cách là hệ số nhị phân, shift bit với số đã được chỉ định, phương hướng(direction) đã chỉ định.</a:t>
            </a:r>
          </a:p>
        </p:txBody>
      </p:sp>
      <p:sp>
        <p:nvSpPr>
          <p:cNvPr id="713771" name="Rectangle 43">
            <a:extLst>
              <a:ext uri="{FF2B5EF4-FFF2-40B4-BE49-F238E27FC236}">
                <a16:creationId xmlns:a16="http://schemas.microsoft.com/office/drawing/2014/main" id="{12480218-1915-9441-E589-6F5401C670D1}"/>
              </a:ext>
            </a:extLst>
          </p:cNvPr>
          <p:cNvSpPr>
            <a:spLocks noChangeArrowheads="1"/>
          </p:cNvSpPr>
          <p:nvPr/>
        </p:nvSpPr>
        <p:spPr bwMode="auto">
          <a:xfrm>
            <a:off x="344488" y="4445000"/>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ＭＳ ゴシック" panose="020B0609070205080204" pitchFamily="49" charset="-128"/>
                <a:ea typeface="ＭＳ ゴシック" panose="020B0609070205080204" pitchFamily="49" charset="-128"/>
              </a:rPr>
              <a:t>.  [ ]  ()  (</a:t>
            </a:r>
            <a:r>
              <a:rPr lang="en-US" altLang="ja-JP" sz="2000"/>
              <a:t>kiểu</a:t>
            </a:r>
            <a:r>
              <a:rPr lang="en-US" altLang="ja-JP" sz="2000">
                <a:latin typeface="ＭＳ ゴシック" panose="020B0609070205080204" pitchFamily="49" charset="-128"/>
                <a:ea typeface="ＭＳ ゴシック" panose="020B0609070205080204" pitchFamily="49" charset="-128"/>
              </a:rPr>
              <a:t>)  ?:  new  instanceof</a:t>
            </a:r>
          </a:p>
        </p:txBody>
      </p:sp>
      <p:sp>
        <p:nvSpPr>
          <p:cNvPr id="713772" name="AutoShape 44">
            <a:extLst>
              <a:ext uri="{FF2B5EF4-FFF2-40B4-BE49-F238E27FC236}">
                <a16:creationId xmlns:a16="http://schemas.microsoft.com/office/drawing/2014/main" id="{ACEEC49D-2C38-975F-68FC-A82BA4984C28}"/>
              </a:ext>
            </a:extLst>
          </p:cNvPr>
          <p:cNvSpPr>
            <a:spLocks noChangeArrowheads="1"/>
          </p:cNvSpPr>
          <p:nvPr/>
        </p:nvSpPr>
        <p:spPr bwMode="auto">
          <a:xfrm>
            <a:off x="3000375" y="2387600"/>
            <a:ext cx="6435725" cy="604838"/>
          </a:xfrm>
          <a:prstGeom prst="wedgeRoundRectCallout">
            <a:avLst>
              <a:gd name="adj1" fmla="val -63491"/>
              <a:gd name="adj2" fmla="val 1482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Có</a:t>
            </a:r>
            <a:r>
              <a:rPr lang="en-US" altLang="ja-JP" sz="1800" dirty="0">
                <a:latin typeface="+mj-lt"/>
              </a:rPr>
              <a:t> </a:t>
            </a:r>
            <a:r>
              <a:rPr lang="en-US" altLang="ja-JP" sz="1800" dirty="0" err="1">
                <a:latin typeface="+mj-lt"/>
              </a:rPr>
              <a:t>thể</a:t>
            </a:r>
            <a:r>
              <a:rPr lang="en-US" altLang="ja-JP" sz="1800" dirty="0">
                <a:latin typeface="+mj-lt"/>
              </a:rPr>
              <a:t> </a:t>
            </a:r>
            <a:r>
              <a:rPr lang="en-US" altLang="ja-JP" sz="1800" dirty="0" err="1">
                <a:latin typeface="+mj-lt"/>
              </a:rPr>
              <a:t>tính</a:t>
            </a:r>
            <a:r>
              <a:rPr lang="en-US" altLang="ja-JP" sz="1800" dirty="0">
                <a:latin typeface="+mj-lt"/>
              </a:rPr>
              <a:t> </a:t>
            </a:r>
            <a:r>
              <a:rPr lang="en-US" altLang="ja-JP" sz="1800" dirty="0" err="1">
                <a:latin typeface="+mj-lt"/>
              </a:rPr>
              <a:t>toán</a:t>
            </a:r>
            <a:r>
              <a:rPr lang="en-US" altLang="ja-JP" sz="1800" dirty="0">
                <a:latin typeface="+mj-lt"/>
              </a:rPr>
              <a:t> </a:t>
            </a:r>
            <a:r>
              <a:rPr lang="en-US" altLang="ja-JP" sz="1800" dirty="0" err="1">
                <a:latin typeface="+mj-lt"/>
              </a:rPr>
              <a:t>nhân</a:t>
            </a:r>
            <a:r>
              <a:rPr lang="en-US" altLang="ja-JP" sz="1800" dirty="0">
                <a:latin typeface="+mj-lt"/>
              </a:rPr>
              <a:t> chia ở </a:t>
            </a:r>
            <a:r>
              <a:rPr lang="en-US" altLang="ja-JP" sz="1800" dirty="0" err="1">
                <a:latin typeface="+mj-lt"/>
              </a:rPr>
              <a:t>tốc</a:t>
            </a:r>
            <a:r>
              <a:rPr lang="en-US" altLang="ja-JP" sz="1800" dirty="0">
                <a:latin typeface="+mj-lt"/>
              </a:rPr>
              <a:t> </a:t>
            </a:r>
            <a:r>
              <a:rPr lang="en-US" altLang="ja-JP" sz="1800" dirty="0" err="1">
                <a:latin typeface="+mj-lt"/>
              </a:rPr>
              <a:t>độ</a:t>
            </a:r>
            <a:r>
              <a:rPr lang="en-US" altLang="ja-JP" sz="1800" dirty="0">
                <a:latin typeface="+mj-lt"/>
              </a:rPr>
              <a:t> </a:t>
            </a:r>
            <a:r>
              <a:rPr lang="en-US" altLang="ja-JP" sz="1800" dirty="0" err="1">
                <a:latin typeface="+mj-lt"/>
              </a:rPr>
              <a:t>cao</a:t>
            </a:r>
            <a:r>
              <a:rPr lang="en-US" altLang="ja-JP" sz="1800" dirty="0">
                <a:latin typeface="+mj-lt"/>
              </a:rPr>
              <a:t>.  </a:t>
            </a:r>
            <a:r>
              <a:rPr lang="en-US" altLang="ja-JP" sz="1800" dirty="0" err="1">
                <a:latin typeface="+mj-lt"/>
              </a:rPr>
              <a:t>Được</a:t>
            </a:r>
            <a:r>
              <a:rPr lang="en-US" altLang="ja-JP" sz="1800" dirty="0">
                <a:latin typeface="+mj-lt"/>
              </a:rPr>
              <a:t> </a:t>
            </a:r>
            <a:r>
              <a:rPr lang="en-US" altLang="ja-JP" sz="1800" dirty="0" err="1">
                <a:latin typeface="+mj-lt"/>
              </a:rPr>
              <a:t>sử</a:t>
            </a:r>
            <a:r>
              <a:rPr lang="en-US" altLang="ja-JP" sz="1800" dirty="0">
                <a:latin typeface="+mj-lt"/>
              </a:rPr>
              <a:t> </a:t>
            </a:r>
            <a:r>
              <a:rPr lang="en-US" altLang="ja-JP" sz="1800" dirty="0" err="1">
                <a:latin typeface="+mj-lt"/>
              </a:rPr>
              <a:t>dụng</a:t>
            </a:r>
            <a:r>
              <a:rPr lang="en-US" altLang="ja-JP" sz="1800" dirty="0">
                <a:latin typeface="+mj-lt"/>
              </a:rPr>
              <a:t> </a:t>
            </a:r>
            <a:r>
              <a:rPr lang="en-US" altLang="ja-JP" sz="1800" dirty="0" err="1">
                <a:latin typeface="+mj-lt"/>
              </a:rPr>
              <a:t>nhiều</a:t>
            </a:r>
            <a:r>
              <a:rPr lang="en-US" altLang="ja-JP" sz="1800" dirty="0">
                <a:latin typeface="+mj-lt"/>
              </a:rPr>
              <a:t> ở OS </a:t>
            </a:r>
            <a:r>
              <a:rPr lang="en-US" altLang="ja-JP" sz="1800" dirty="0" err="1">
                <a:latin typeface="+mj-lt"/>
              </a:rPr>
              <a:t>và</a:t>
            </a:r>
            <a:r>
              <a:rPr lang="en-US" altLang="ja-JP" sz="1800" dirty="0">
                <a:latin typeface="+mj-lt"/>
              </a:rPr>
              <a:t> </a:t>
            </a:r>
            <a:r>
              <a:rPr lang="en-US" altLang="ja-JP" sz="1800" dirty="0" err="1">
                <a:latin typeface="+mj-lt"/>
              </a:rPr>
              <a:t>hệ</a:t>
            </a:r>
            <a:r>
              <a:rPr lang="en-US" altLang="ja-JP" sz="1800" dirty="0">
                <a:latin typeface="+mj-lt"/>
              </a:rPr>
              <a:t> </a:t>
            </a:r>
            <a:r>
              <a:rPr lang="en-US" altLang="ja-JP" sz="1800" dirty="0" err="1">
                <a:latin typeface="+mj-lt"/>
              </a:rPr>
              <a:t>nhúng</a:t>
            </a:r>
            <a:r>
              <a:rPr lang="en-US" altLang="ja-JP" sz="1800" dirty="0">
                <a:latin typeface="+mj-lt"/>
              </a:rPr>
              <a:t>.</a:t>
            </a:r>
          </a:p>
        </p:txBody>
      </p:sp>
      <p:sp>
        <p:nvSpPr>
          <p:cNvPr id="713773" name="AutoShape 45">
            <a:extLst>
              <a:ext uri="{FF2B5EF4-FFF2-40B4-BE49-F238E27FC236}">
                <a16:creationId xmlns:a16="http://schemas.microsoft.com/office/drawing/2014/main" id="{F84FC46E-A2EB-36E5-5813-D2775E22983C}"/>
              </a:ext>
            </a:extLst>
          </p:cNvPr>
          <p:cNvSpPr>
            <a:spLocks noChangeArrowheads="1"/>
          </p:cNvSpPr>
          <p:nvPr/>
        </p:nvSpPr>
        <p:spPr bwMode="auto">
          <a:xfrm>
            <a:off x="3216275" y="812800"/>
            <a:ext cx="6435725" cy="642938"/>
          </a:xfrm>
          <a:prstGeom prst="wedgeRoundRectCallout">
            <a:avLst>
              <a:gd name="adj1" fmla="val -65468"/>
              <a:gd name="adj2" fmla="val 3864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Sử</a:t>
            </a:r>
            <a:r>
              <a:rPr lang="en-US" altLang="ja-JP" sz="1800" dirty="0">
                <a:latin typeface="+mj-lt"/>
              </a:rPr>
              <a:t> </a:t>
            </a:r>
            <a:r>
              <a:rPr lang="en-US" altLang="ja-JP" sz="1800" dirty="0" err="1">
                <a:latin typeface="+mj-lt"/>
              </a:rPr>
              <a:t>dụng</a:t>
            </a:r>
            <a:r>
              <a:rPr lang="en-US" altLang="ja-JP" sz="1800" dirty="0">
                <a:latin typeface="+mj-lt"/>
              </a:rPr>
              <a:t> </a:t>
            </a:r>
            <a:r>
              <a:rPr lang="en-US" altLang="ja-JP" sz="1800" dirty="0" err="1">
                <a:latin typeface="+mj-lt"/>
              </a:rPr>
              <a:t>để</a:t>
            </a:r>
            <a:r>
              <a:rPr lang="en-US" altLang="ja-JP" sz="1800" dirty="0">
                <a:latin typeface="+mj-lt"/>
              </a:rPr>
              <a:t> </a:t>
            </a:r>
            <a:r>
              <a:rPr lang="en-US" altLang="ja-JP" sz="1800" dirty="0" err="1">
                <a:latin typeface="+mj-lt"/>
              </a:rPr>
              <a:t>nén</a:t>
            </a:r>
            <a:r>
              <a:rPr lang="en-US" altLang="ja-JP" sz="1800" dirty="0">
                <a:latin typeface="+mj-lt"/>
              </a:rPr>
              <a:t>, </a:t>
            </a:r>
            <a:r>
              <a:rPr lang="en-US" altLang="ja-JP" sz="1800" dirty="0" err="1">
                <a:latin typeface="+mj-lt"/>
              </a:rPr>
              <a:t>phát</a:t>
            </a:r>
            <a:r>
              <a:rPr lang="en-US" altLang="ja-JP" sz="1800" dirty="0">
                <a:latin typeface="+mj-lt"/>
              </a:rPr>
              <a:t> </a:t>
            </a:r>
            <a:r>
              <a:rPr lang="en-US" altLang="ja-JP" sz="1800" dirty="0" err="1">
                <a:latin typeface="+mj-lt"/>
              </a:rPr>
              <a:t>hiện</a:t>
            </a:r>
            <a:r>
              <a:rPr lang="en-US" altLang="ja-JP" sz="1800" dirty="0">
                <a:latin typeface="+mj-lt"/>
              </a:rPr>
              <a:t> </a:t>
            </a:r>
            <a:r>
              <a:rPr lang="en-US" altLang="ja-JP" sz="1800" dirty="0" err="1">
                <a:latin typeface="+mj-lt"/>
              </a:rPr>
              <a:t>lỗi</a:t>
            </a:r>
            <a:r>
              <a:rPr lang="en-US" altLang="ja-JP" sz="1800" dirty="0">
                <a:latin typeface="+mj-lt"/>
              </a:rPr>
              <a:t>. </a:t>
            </a:r>
            <a:r>
              <a:rPr lang="en-US" altLang="ja-JP" sz="1800" dirty="0" err="1">
                <a:latin typeface="+mj-lt"/>
              </a:rPr>
              <a:t>Được</a:t>
            </a:r>
            <a:r>
              <a:rPr lang="en-US" altLang="ja-JP" sz="1800" dirty="0">
                <a:latin typeface="+mj-lt"/>
              </a:rPr>
              <a:t> </a:t>
            </a:r>
            <a:r>
              <a:rPr lang="en-US" altLang="ja-JP" sz="1800" dirty="0" err="1">
                <a:latin typeface="+mj-lt"/>
              </a:rPr>
              <a:t>sử</a:t>
            </a:r>
            <a:r>
              <a:rPr lang="en-US" altLang="ja-JP" sz="1800" dirty="0">
                <a:latin typeface="+mj-lt"/>
              </a:rPr>
              <a:t> </a:t>
            </a:r>
            <a:r>
              <a:rPr lang="en-US" altLang="ja-JP" sz="1800" dirty="0" err="1">
                <a:latin typeface="+mj-lt"/>
              </a:rPr>
              <a:t>dụng</a:t>
            </a:r>
            <a:r>
              <a:rPr lang="en-US" altLang="ja-JP" sz="1800" dirty="0">
                <a:latin typeface="+mj-lt"/>
              </a:rPr>
              <a:t> </a:t>
            </a:r>
            <a:r>
              <a:rPr lang="en-US" altLang="ja-JP" sz="1800" dirty="0" err="1">
                <a:latin typeface="+mj-lt"/>
              </a:rPr>
              <a:t>nhiều</a:t>
            </a:r>
            <a:r>
              <a:rPr lang="en-US" altLang="ja-JP" sz="1800" dirty="0">
                <a:latin typeface="+mj-lt"/>
              </a:rPr>
              <a:t> ở OS </a:t>
            </a:r>
            <a:r>
              <a:rPr lang="en-US" altLang="ja-JP" sz="1800" dirty="0" err="1">
                <a:latin typeface="+mj-lt"/>
              </a:rPr>
              <a:t>và</a:t>
            </a:r>
            <a:r>
              <a:rPr lang="en-US" altLang="ja-JP" sz="1800" dirty="0">
                <a:latin typeface="+mj-lt"/>
              </a:rPr>
              <a:t> </a:t>
            </a:r>
            <a:r>
              <a:rPr lang="en-US" altLang="ja-JP" sz="1800" dirty="0" err="1">
                <a:latin typeface="+mj-lt"/>
              </a:rPr>
              <a:t>hệ</a:t>
            </a:r>
            <a:r>
              <a:rPr lang="en-US" altLang="ja-JP" sz="1800" dirty="0">
                <a:latin typeface="+mj-lt"/>
              </a:rPr>
              <a:t> </a:t>
            </a:r>
            <a:r>
              <a:rPr lang="en-US" altLang="ja-JP" sz="1800" dirty="0" err="1">
                <a:latin typeface="+mj-lt"/>
              </a:rPr>
              <a:t>nhúng</a:t>
            </a:r>
            <a:r>
              <a:rPr lang="en-US" altLang="ja-JP" sz="1800" dirty="0">
                <a:latin typeface="+mj-lt"/>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D467BF5C-FECF-B47B-89FD-FAEEC40B39A4}"/>
              </a:ext>
            </a:extLst>
          </p:cNvPr>
          <p:cNvSpPr>
            <a:spLocks noGrp="1"/>
          </p:cNvSpPr>
          <p:nvPr>
            <p:ph type="sldNum" sz="quarter" idx="10"/>
          </p:nvPr>
        </p:nvSpPr>
        <p:spPr/>
        <p:txBody>
          <a:bodyPr/>
          <a:lstStyle/>
          <a:p>
            <a:fld id="{C7F275F8-FD05-4E23-8160-69F18E3AD370}" type="slidenum">
              <a:rPr lang="en-US" altLang="ja-JP"/>
              <a:pPr/>
              <a:t>50</a:t>
            </a:fld>
            <a:endParaRPr lang="en-US" altLang="ja-JP"/>
          </a:p>
        </p:txBody>
      </p:sp>
      <p:sp>
        <p:nvSpPr>
          <p:cNvPr id="728066" name="Rectangle 2">
            <a:extLst>
              <a:ext uri="{FF2B5EF4-FFF2-40B4-BE49-F238E27FC236}">
                <a16:creationId xmlns:a16="http://schemas.microsoft.com/office/drawing/2014/main" id="{ADCB5E2B-DD5B-B9BD-19A1-46AA4CCADBCD}"/>
              </a:ext>
            </a:extLst>
          </p:cNvPr>
          <p:cNvSpPr>
            <a:spLocks noGrp="1" noChangeArrowheads="1"/>
          </p:cNvSpPr>
          <p:nvPr>
            <p:ph type="title"/>
          </p:nvPr>
        </p:nvSpPr>
        <p:spPr>
          <a:xfrm>
            <a:off x="344488" y="342106"/>
            <a:ext cx="9217025" cy="490537"/>
          </a:xfrm>
        </p:spPr>
        <p:txBody>
          <a:bodyPr>
            <a:normAutofit fontScale="90000"/>
          </a:bodyPr>
          <a:lstStyle/>
          <a:p>
            <a:r>
              <a:rPr lang="en-US" altLang="ja-JP" dirty="0" err="1">
                <a:latin typeface="Arial" panose="020B0604020202020204" pitchFamily="34" charset="0"/>
              </a:rPr>
              <a:t>Trật</a:t>
            </a:r>
            <a:r>
              <a:rPr lang="en-US" altLang="ja-JP" dirty="0">
                <a:latin typeface="Arial" panose="020B0604020202020204" pitchFamily="34" charset="0"/>
              </a:rPr>
              <a:t> </a:t>
            </a:r>
            <a:r>
              <a:rPr lang="en-US" altLang="ja-JP" dirty="0" err="1">
                <a:latin typeface="Arial" panose="020B0604020202020204" pitchFamily="34" charset="0"/>
              </a:rPr>
              <a:t>tự</a:t>
            </a:r>
            <a:r>
              <a:rPr lang="en-US" altLang="ja-JP" dirty="0">
                <a:latin typeface="Arial" panose="020B0604020202020204" pitchFamily="34" charset="0"/>
              </a:rPr>
              <a:t> </a:t>
            </a:r>
            <a:r>
              <a:rPr lang="en-US" altLang="ja-JP" dirty="0" err="1">
                <a:latin typeface="Arial" panose="020B0604020202020204" pitchFamily="34" charset="0"/>
              </a:rPr>
              <a:t>ưu</a:t>
            </a:r>
            <a:r>
              <a:rPr lang="en-US" altLang="ja-JP" dirty="0">
                <a:latin typeface="Arial" panose="020B0604020202020204" pitchFamily="34" charset="0"/>
              </a:rPr>
              <a:t> </a:t>
            </a:r>
            <a:r>
              <a:rPr lang="en-US" altLang="ja-JP" dirty="0" err="1">
                <a:latin typeface="Arial" panose="020B0604020202020204" pitchFamily="34" charset="0"/>
              </a:rPr>
              <a:t>tiên</a:t>
            </a:r>
            <a:r>
              <a:rPr lang="en-US" altLang="ja-JP" dirty="0">
                <a:latin typeface="Arial" panose="020B0604020202020204" pitchFamily="34" charset="0"/>
              </a:rPr>
              <a:t> </a:t>
            </a:r>
            <a:r>
              <a:rPr lang="en-US" altLang="ja-JP" dirty="0" err="1">
                <a:latin typeface="Arial" panose="020B0604020202020204" pitchFamily="34" charset="0"/>
              </a:rPr>
              <a:t>của</a:t>
            </a:r>
            <a:r>
              <a:rPr lang="en-US" altLang="ja-JP" dirty="0">
                <a:latin typeface="Arial" panose="020B0604020202020204" pitchFamily="34" charset="0"/>
              </a:rPr>
              <a:t> </a:t>
            </a:r>
            <a:r>
              <a:rPr lang="en-US" altLang="ja-JP" dirty="0" err="1">
                <a:latin typeface="Arial" panose="020B0604020202020204" pitchFamily="34" charset="0"/>
              </a:rPr>
              <a:t>toán</a:t>
            </a:r>
            <a:r>
              <a:rPr lang="en-US" altLang="ja-JP" dirty="0">
                <a:latin typeface="Arial" panose="020B0604020202020204" pitchFamily="34" charset="0"/>
              </a:rPr>
              <a:t> </a:t>
            </a:r>
            <a:r>
              <a:rPr lang="en-US" altLang="ja-JP" dirty="0" err="1">
                <a:latin typeface="Arial" panose="020B0604020202020204" pitchFamily="34" charset="0"/>
              </a:rPr>
              <a:t>tử</a:t>
            </a:r>
            <a:endParaRPr lang="en-US" altLang="ja-JP" dirty="0">
              <a:latin typeface="Arial" panose="020B0604020202020204" pitchFamily="34" charset="0"/>
              <a:ea typeface="MS UI Gothic" panose="020B0600070205080204" pitchFamily="50" charset="-128"/>
            </a:endParaRPr>
          </a:p>
        </p:txBody>
      </p:sp>
      <p:sp>
        <p:nvSpPr>
          <p:cNvPr id="728068" name="Rectangle 4">
            <a:extLst>
              <a:ext uri="{FF2B5EF4-FFF2-40B4-BE49-F238E27FC236}">
                <a16:creationId xmlns:a16="http://schemas.microsoft.com/office/drawing/2014/main" id="{C7A5F1A7-8DDE-D241-105C-49FC13E53EC6}"/>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Trật tự ưu tiên của toán tử.</a:t>
            </a:r>
          </a:p>
          <a:p>
            <a:endParaRPr lang="en-US" altLang="ja-JP" sz="2400" b="0"/>
          </a:p>
          <a:p>
            <a:endParaRPr lang="en-US" altLang="ja-JP" sz="2400" b="0"/>
          </a:p>
          <a:p>
            <a:pPr>
              <a:buFont typeface="Wingdings" panose="05000000000000000000" pitchFamily="2" charset="2"/>
              <a:buNone/>
            </a:pPr>
            <a:endParaRPr lang="en-US" altLang="ja-JP" sz="2000" b="0"/>
          </a:p>
          <a:p>
            <a:pPr>
              <a:buFont typeface="Wingdings" panose="05000000000000000000" pitchFamily="2" charset="2"/>
              <a:buNone/>
            </a:pPr>
            <a:r>
              <a:rPr lang="en-US" altLang="ja-JP" sz="2000" b="0"/>
              <a:t>●</a:t>
            </a:r>
            <a:r>
              <a:rPr lang="en-US" altLang="ja-JP" sz="2000" b="0">
                <a:latin typeface="Arial" panose="020B0604020202020204" pitchFamily="34" charset="0"/>
              </a:rPr>
              <a:t>Ví dụ</a:t>
            </a:r>
          </a:p>
        </p:txBody>
      </p:sp>
      <p:sp>
        <p:nvSpPr>
          <p:cNvPr id="728103" name="Rectangle 39">
            <a:extLst>
              <a:ext uri="{FF2B5EF4-FFF2-40B4-BE49-F238E27FC236}">
                <a16:creationId xmlns:a16="http://schemas.microsoft.com/office/drawing/2014/main" id="{31C9376A-70A0-93D8-E3DA-2A7972A578EE}"/>
              </a:ext>
            </a:extLst>
          </p:cNvPr>
          <p:cNvSpPr>
            <a:spLocks noChangeArrowheads="1"/>
          </p:cNvSpPr>
          <p:nvPr/>
        </p:nvSpPr>
        <p:spPr bwMode="auto">
          <a:xfrm>
            <a:off x="0" y="1193800"/>
            <a:ext cx="9906000" cy="622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a:latin typeface="Arial" panose="020B0604020202020204" pitchFamily="34" charset="0"/>
              </a:rPr>
              <a:t>Sử dụng </a:t>
            </a:r>
            <a:r>
              <a:rPr lang="en-US" altLang="ja-JP" sz="1800">
                <a:latin typeface="Arial" panose="020B0604020202020204" pitchFamily="34" charset="0"/>
                <a:ea typeface="ＭＳ ゴシック" panose="020B0609070205080204" pitchFamily="49" charset="-128"/>
              </a:rPr>
              <a:t>( ) trong trường hợp muốn thay đổi và trường hợp muốn chỉ rõ trật tự phép toán.</a:t>
            </a:r>
          </a:p>
        </p:txBody>
      </p:sp>
      <p:sp>
        <p:nvSpPr>
          <p:cNvPr id="728096" name="Rectangle 32">
            <a:extLst>
              <a:ext uri="{FF2B5EF4-FFF2-40B4-BE49-F238E27FC236}">
                <a16:creationId xmlns:a16="http://schemas.microsoft.com/office/drawing/2014/main" id="{112F9B44-C137-E726-1D12-B15EA80EAAE9}"/>
              </a:ext>
            </a:extLst>
          </p:cNvPr>
          <p:cNvSpPr>
            <a:spLocks noChangeArrowheads="1"/>
          </p:cNvSpPr>
          <p:nvPr/>
        </p:nvSpPr>
        <p:spPr bwMode="auto">
          <a:xfrm>
            <a:off x="344488" y="2909888"/>
            <a:ext cx="9120187" cy="2043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endParaRPr lang="en-US" altLang="ja-JP" sz="2000" b="0">
              <a:latin typeface="ＭＳ ゴシック" panose="020B0609070205080204" pitchFamily="49" charset="-128"/>
              <a:ea typeface="ＭＳ ゴシック" panose="020B0609070205080204" pitchFamily="49" charset="-128"/>
            </a:endParaRPr>
          </a:p>
          <a:p>
            <a:pPr lvl="1"/>
            <a:r>
              <a:rPr lang="en-US" altLang="ja-JP" sz="2000" b="0">
                <a:latin typeface="ＭＳ ゴシック" panose="020B0609070205080204" pitchFamily="49" charset="-128"/>
                <a:ea typeface="ＭＳ ゴシック" panose="020B0609070205080204" pitchFamily="49" charset="-128"/>
              </a:rPr>
              <a:t>System.out.println( 3 * 2 + 4 );	// </a:t>
            </a:r>
            <a:r>
              <a:rPr lang="en-US" altLang="ja-JP" sz="2000" b="0">
                <a:latin typeface="Arial" panose="020B0604020202020204" pitchFamily="34" charset="0"/>
                <a:ea typeface="ＭＳ ゴシック" panose="020B0609070205080204" pitchFamily="49" charset="-128"/>
              </a:rPr>
              <a:t>hiển thị là</a:t>
            </a:r>
            <a:r>
              <a:rPr lang="ja-JP" altLang="en-US" sz="2000" b="0">
                <a:latin typeface="Arial" panose="020B0604020202020204" pitchFamily="34" charset="0"/>
                <a:ea typeface="ＭＳ ゴシック" panose="020B0609070205080204" pitchFamily="49" charset="-128"/>
              </a:rPr>
              <a:t>「</a:t>
            </a:r>
            <a:r>
              <a:rPr lang="en-US" altLang="ja-JP" sz="2000" b="0">
                <a:latin typeface="Arial" panose="020B0604020202020204" pitchFamily="34" charset="0"/>
                <a:ea typeface="ＭＳ ゴシック" panose="020B0609070205080204" pitchFamily="49" charset="-128"/>
              </a:rPr>
              <a:t>10</a:t>
            </a:r>
            <a:r>
              <a:rPr lang="ja-JP" altLang="en-US" sz="2000" b="0">
                <a:latin typeface="Arial" panose="020B0604020202020204" pitchFamily="34" charset="0"/>
                <a:ea typeface="ＭＳ ゴシック" panose="020B0609070205080204" pitchFamily="49" charset="-128"/>
              </a:rPr>
              <a:t>」</a:t>
            </a:r>
          </a:p>
          <a:p>
            <a:pPr lvl="1"/>
            <a:endParaRPr lang="ja-JP" altLang="en-US" sz="2000" b="0">
              <a:latin typeface="ＭＳ ゴシック" panose="020B0609070205080204" pitchFamily="49" charset="-128"/>
              <a:ea typeface="ＭＳ ゴシック" panose="020B0609070205080204" pitchFamily="49" charset="-128"/>
            </a:endParaRPr>
          </a:p>
          <a:p>
            <a:pPr lvl="1"/>
            <a:r>
              <a:rPr lang="en-US" altLang="ja-JP" sz="2000" b="0">
                <a:latin typeface="ＭＳ ゴシック" panose="020B0609070205080204" pitchFamily="49" charset="-128"/>
                <a:ea typeface="ＭＳ ゴシック" panose="020B0609070205080204" pitchFamily="49" charset="-128"/>
              </a:rPr>
              <a:t>System.out.println( 3 * (2 + 4) );	// </a:t>
            </a:r>
            <a:r>
              <a:rPr lang="en-US" altLang="ja-JP" sz="2000" b="0">
                <a:latin typeface="Arial" panose="020B0604020202020204" pitchFamily="34" charset="0"/>
                <a:ea typeface="ＭＳ ゴシック" panose="020B0609070205080204" pitchFamily="49" charset="-128"/>
              </a:rPr>
              <a:t>hiển thị là</a:t>
            </a:r>
            <a:r>
              <a:rPr lang="ja-JP" altLang="en-US" sz="2000" b="0">
                <a:latin typeface="Arial" panose="020B0604020202020204" pitchFamily="34" charset="0"/>
                <a:ea typeface="ＭＳ ゴシック" panose="020B0609070205080204" pitchFamily="49" charset="-128"/>
              </a:rPr>
              <a:t>「</a:t>
            </a:r>
            <a:r>
              <a:rPr lang="en-US" altLang="ja-JP" sz="2000" b="0">
                <a:latin typeface="Arial" panose="020B0604020202020204" pitchFamily="34" charset="0"/>
                <a:ea typeface="ＭＳ ゴシック" panose="020B0609070205080204" pitchFamily="49" charset="-128"/>
              </a:rPr>
              <a:t>18</a:t>
            </a:r>
            <a:r>
              <a:rPr lang="ja-JP" altLang="en-US" sz="2000" b="0">
                <a:latin typeface="Arial" panose="020B0604020202020204" pitchFamily="34" charset="0"/>
                <a:ea typeface="ＭＳ ゴシック" panose="020B0609070205080204" pitchFamily="49" charset="-128"/>
              </a:rPr>
              <a:t>」</a:t>
            </a:r>
          </a:p>
        </p:txBody>
      </p:sp>
      <p:sp>
        <p:nvSpPr>
          <p:cNvPr id="728098" name="Rectangle 34">
            <a:extLst>
              <a:ext uri="{FF2B5EF4-FFF2-40B4-BE49-F238E27FC236}">
                <a16:creationId xmlns:a16="http://schemas.microsoft.com/office/drawing/2014/main" id="{52018D24-1867-0955-5B99-3F2B74FCE2D1}"/>
              </a:ext>
            </a:extLst>
          </p:cNvPr>
          <p:cNvSpPr>
            <a:spLocks noChangeArrowheads="1"/>
          </p:cNvSpPr>
          <p:nvPr/>
        </p:nvSpPr>
        <p:spPr bwMode="auto">
          <a:xfrm>
            <a:off x="3579813" y="3870325"/>
            <a:ext cx="1033462" cy="4603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28099" name="Rectangle 35">
            <a:extLst>
              <a:ext uri="{FF2B5EF4-FFF2-40B4-BE49-F238E27FC236}">
                <a16:creationId xmlns:a16="http://schemas.microsoft.com/office/drawing/2014/main" id="{920D619B-28BC-B2DC-AB2C-E43B46C2E8E5}"/>
              </a:ext>
            </a:extLst>
          </p:cNvPr>
          <p:cNvSpPr>
            <a:spLocks noChangeArrowheads="1"/>
          </p:cNvSpPr>
          <p:nvPr/>
        </p:nvSpPr>
        <p:spPr bwMode="auto">
          <a:xfrm>
            <a:off x="3059113" y="3298825"/>
            <a:ext cx="1338262" cy="4095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728100" name="AutoShape 36">
            <a:extLst>
              <a:ext uri="{FF2B5EF4-FFF2-40B4-BE49-F238E27FC236}">
                <a16:creationId xmlns:a16="http://schemas.microsoft.com/office/drawing/2014/main" id="{CA4C2BA4-5B64-AE69-35FA-0F8454621ABE}"/>
              </a:ext>
            </a:extLst>
          </p:cNvPr>
          <p:cNvSpPr>
            <a:spLocks noChangeArrowheads="1"/>
          </p:cNvSpPr>
          <p:nvPr/>
        </p:nvSpPr>
        <p:spPr bwMode="auto">
          <a:xfrm>
            <a:off x="1352550" y="4721225"/>
            <a:ext cx="7105650" cy="606425"/>
          </a:xfrm>
          <a:prstGeom prst="wedgeRoundRectCallout">
            <a:avLst>
              <a:gd name="adj1" fmla="val -4606"/>
              <a:gd name="adj2" fmla="val -110731"/>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Có</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thể</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tính</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toán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trước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biểu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thức</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trong</a:t>
            </a:r>
            <a:r>
              <a:rPr lang="en-US" altLang="ja-JP" sz="1800" dirty="0">
                <a:latin typeface="+mj-lt"/>
                <a:ea typeface="ＭＳ ゴシック" panose="020B0609070205080204" pitchFamily="49" charset="-128"/>
              </a:rPr>
              <a:t> () </a:t>
            </a:r>
            <a:r>
              <a:rPr lang="en-US" altLang="ja-JP" sz="1800" dirty="0" err="1">
                <a:latin typeface="+mj-lt"/>
                <a:ea typeface="ＭＳ ゴシック" panose="020B0609070205080204" pitchFamily="49" charset="-128"/>
              </a:rPr>
              <a:t>bằng</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cách</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dùng</a:t>
            </a:r>
            <a:r>
              <a:rPr lang="en-US" altLang="ja-JP" sz="1800" dirty="0">
                <a:latin typeface="+mj-lt"/>
                <a:ea typeface="ＭＳ ゴシック" panose="020B0609070205080204" pitchFamily="49" charset="-128"/>
              </a:rPr>
              <a:t> ()</a:t>
            </a:r>
            <a:r>
              <a:rPr lang="en-US" altLang="ja-JP" sz="1800" dirty="0">
                <a:latin typeface="+mj-lt"/>
              </a:rPr>
              <a:t>.</a:t>
            </a:r>
          </a:p>
        </p:txBody>
      </p:sp>
      <p:sp>
        <p:nvSpPr>
          <p:cNvPr id="728097" name="AutoShape 33">
            <a:extLst>
              <a:ext uri="{FF2B5EF4-FFF2-40B4-BE49-F238E27FC236}">
                <a16:creationId xmlns:a16="http://schemas.microsoft.com/office/drawing/2014/main" id="{3F8731F1-115A-95E9-B6E3-286D51857E4E}"/>
              </a:ext>
            </a:extLst>
          </p:cNvPr>
          <p:cNvSpPr>
            <a:spLocks noChangeArrowheads="1"/>
          </p:cNvSpPr>
          <p:nvPr/>
        </p:nvSpPr>
        <p:spPr bwMode="auto">
          <a:xfrm>
            <a:off x="1365250" y="2349500"/>
            <a:ext cx="8540750" cy="452438"/>
          </a:xfrm>
          <a:prstGeom prst="wedgeRoundRectCallout">
            <a:avLst>
              <a:gd name="adj1" fmla="val -22546"/>
              <a:gd name="adj2" fmla="val 143333"/>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ea typeface="ＭＳ ゴシック" panose="020B0609070205080204" pitchFamily="49" charset="-128"/>
              </a:rPr>
              <a:t>Độ</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ưu</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tiên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của</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toán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tử</a:t>
            </a:r>
            <a:r>
              <a:rPr lang="en-US" altLang="ja-JP" sz="1800" dirty="0">
                <a:latin typeface="+mj-lt"/>
                <a:ea typeface="ＭＳ ゴシック" panose="020B0609070205080204" pitchFamily="49" charset="-128"/>
              </a:rPr>
              <a:t> * </a:t>
            </a:r>
            <a:r>
              <a:rPr lang="en-US" altLang="ja-JP" sz="1800" dirty="0" err="1">
                <a:latin typeface="+mj-lt"/>
                <a:ea typeface="ＭＳ ゴシック" panose="020B0609070205080204" pitchFamily="49" charset="-128"/>
              </a:rPr>
              <a:t>cao</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hơn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toán</a:t>
            </a:r>
            <a:r>
              <a:rPr lang="en-US" altLang="ja-JP" sz="1800" dirty="0">
                <a:latin typeface="+mj-lt"/>
                <a:ea typeface="ＭＳ ゴシック" panose="020B0609070205080204" pitchFamily="49" charset="-128"/>
              </a:rPr>
              <a:t> </a:t>
            </a:r>
            <a:r>
              <a:rPr lang="en-US" altLang="ja-JP" sz="1800" dirty="0" err="1">
                <a:latin typeface="+mj-lt"/>
                <a:ea typeface="ＭＳ ゴシック" panose="020B0609070205080204" pitchFamily="49" charset="-128"/>
              </a:rPr>
              <a:t>tử</a:t>
            </a:r>
            <a:r>
              <a:rPr lang="en-US" altLang="ja-JP" sz="1800" dirty="0">
                <a:latin typeface="+mj-lt"/>
                <a:ea typeface="ＭＳ ゴシック" panose="020B0609070205080204" pitchFamily="49" charset="-128"/>
              </a:rPr>
              <a:t> +</a:t>
            </a:r>
            <a:r>
              <a:rPr lang="en-US" altLang="ja-JP" sz="1800" dirty="0">
                <a:latin typeface="+mj-lt"/>
              </a:rPr>
              <a:t> </a:t>
            </a:r>
            <a:r>
              <a:rPr lang="ja-JP" altLang="en-US" sz="1800" dirty="0">
                <a:latin typeface="+mj-lt"/>
              </a:rPr>
              <a:t>（</a:t>
            </a:r>
            <a:r>
              <a:rPr lang="en-US" altLang="ja-JP" sz="1800" dirty="0" err="1">
                <a:latin typeface="+mj-lt"/>
              </a:rPr>
              <a:t>sẽ</a:t>
            </a:r>
            <a:r>
              <a:rPr lang="en-US" altLang="ja-JP" sz="1800" dirty="0">
                <a:latin typeface="+mj-lt"/>
              </a:rPr>
              <a:t> </a:t>
            </a:r>
            <a:r>
              <a:rPr lang="en-US" altLang="ja-JP" sz="1800" dirty="0" err="1">
                <a:latin typeface="+mj-lt"/>
              </a:rPr>
              <a:t>được</a:t>
            </a:r>
            <a:r>
              <a:rPr lang="en-US" altLang="ja-JP" sz="1800" dirty="0">
                <a:latin typeface="+mj-lt"/>
              </a:rPr>
              <a:t> </a:t>
            </a:r>
            <a:r>
              <a:rPr lang="en-US" altLang="ja-JP" sz="1800" dirty="0" err="1">
                <a:latin typeface="+mj-lt"/>
              </a:rPr>
              <a:t>tính</a:t>
            </a:r>
            <a:r>
              <a:rPr lang="en-US" altLang="ja-JP" sz="1800" dirty="0">
                <a:latin typeface="+mj-lt"/>
              </a:rPr>
              <a:t> </a:t>
            </a:r>
            <a:r>
              <a:rPr lang="en-US" altLang="ja-JP" sz="1800" dirty="0" err="1">
                <a:latin typeface="+mj-lt"/>
              </a:rPr>
              <a:t>toán</a:t>
            </a:r>
            <a:r>
              <a:rPr lang="en-US" altLang="ja-JP" sz="1800" dirty="0">
                <a:latin typeface="+mj-lt"/>
              </a:rPr>
              <a:t> </a:t>
            </a:r>
            <a:r>
              <a:rPr lang="en-US" altLang="ja-JP" sz="1800" dirty="0" err="1">
                <a:latin typeface="+mj-lt"/>
              </a:rPr>
              <a:t>trước</a:t>
            </a:r>
            <a:r>
              <a:rPr lang="ja-JP" altLang="en-US" sz="1800" dirty="0">
                <a:latin typeface="+mj-lt"/>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00E87-3E09-82C3-75F0-C3AA55243A1A}"/>
              </a:ext>
            </a:extLst>
          </p:cNvPr>
          <p:cNvSpPr>
            <a:spLocks noGrp="1"/>
          </p:cNvSpPr>
          <p:nvPr>
            <p:ph type="title"/>
          </p:nvPr>
        </p:nvSpPr>
        <p:spPr/>
        <p:txBody>
          <a:bodyPr>
            <a:normAutofit fontScale="90000"/>
          </a:bodyPr>
          <a:lstStyle/>
          <a:p>
            <a:r>
              <a:rPr lang="en-US" dirty="0"/>
              <a:t>Review</a:t>
            </a:r>
          </a:p>
        </p:txBody>
      </p:sp>
      <p:sp>
        <p:nvSpPr>
          <p:cNvPr id="3" name="Content Placeholder 2">
            <a:extLst>
              <a:ext uri="{FF2B5EF4-FFF2-40B4-BE49-F238E27FC236}">
                <a16:creationId xmlns:a16="http://schemas.microsoft.com/office/drawing/2014/main" id="{DEF4C1FC-30CF-69E8-CF45-2999ED3B793E}"/>
              </a:ext>
            </a:extLst>
          </p:cNvPr>
          <p:cNvSpPr>
            <a:spLocks noGrp="1"/>
          </p:cNvSpPr>
          <p:nvPr>
            <p:ph idx="1"/>
          </p:nvPr>
        </p:nvSpPr>
        <p:spPr/>
        <p:txBody>
          <a:bodyPr/>
          <a:lstStyle/>
          <a:p>
            <a:r>
              <a:rPr lang="vi-VN" dirty="0"/>
              <a:t>Phép so sánh: </a:t>
            </a:r>
            <a:endParaRPr lang="en-US" dirty="0"/>
          </a:p>
          <a:p>
            <a:pPr lvl="1"/>
            <a:r>
              <a:rPr lang="vi-VN" dirty="0"/>
              <a:t> 6 phép cơ bản: bằng (==), khác (!=), nhỏ hơn (), nhỏ hơn hoặc bằng (&lt;=), lớn hơn hoặc bằng (&gt;=)</a:t>
            </a:r>
            <a:endParaRPr lang="en-US" dirty="0"/>
          </a:p>
          <a:p>
            <a:pPr lvl="1"/>
            <a:r>
              <a:rPr lang="vi-VN" dirty="0"/>
              <a:t> Kiểu </a:t>
            </a:r>
            <a:r>
              <a:rPr lang="vi-VN" dirty="0" err="1"/>
              <a:t>logic</a:t>
            </a:r>
            <a:r>
              <a:rPr lang="vi-VN" dirty="0"/>
              <a:t> có thể làm việc với phép bằng và khác</a:t>
            </a:r>
            <a:endParaRPr lang="en-US" dirty="0"/>
          </a:p>
          <a:p>
            <a:pPr lvl="1"/>
            <a:r>
              <a:rPr lang="vi-VN" dirty="0"/>
              <a:t>Các kiểu số có thể sử dụng lẫn lộn </a:t>
            </a:r>
            <a:endParaRPr lang="en-US" dirty="0"/>
          </a:p>
          <a:p>
            <a:r>
              <a:rPr lang="vi-VN" dirty="0"/>
              <a:t> Phép </a:t>
            </a:r>
            <a:r>
              <a:rPr lang="vi-VN" dirty="0" err="1"/>
              <a:t>logic</a:t>
            </a:r>
            <a:r>
              <a:rPr lang="vi-VN" dirty="0"/>
              <a:t>: </a:t>
            </a:r>
            <a:endParaRPr lang="en-US" dirty="0"/>
          </a:p>
          <a:p>
            <a:pPr lvl="1"/>
            <a:r>
              <a:rPr lang="vi-VN" dirty="0"/>
              <a:t> Phép Đảo (!) </a:t>
            </a:r>
            <a:endParaRPr lang="en-US" dirty="0"/>
          </a:p>
          <a:p>
            <a:pPr lvl="1"/>
            <a:r>
              <a:rPr lang="vi-VN" dirty="0"/>
              <a:t>Phép Hoặc-Nghịch-Đảo (^) </a:t>
            </a:r>
            <a:endParaRPr lang="en-US" dirty="0"/>
          </a:p>
          <a:p>
            <a:pPr lvl="1"/>
            <a:r>
              <a:rPr lang="vi-VN" dirty="0"/>
              <a:t>Phép hai ngôi đoản-mạch: Và (&amp;&amp;), Hoặc (||) </a:t>
            </a:r>
            <a:endParaRPr lang="en-US" dirty="0"/>
          </a:p>
          <a:p>
            <a:pPr lvl="1"/>
            <a:r>
              <a:rPr lang="vi-VN" dirty="0"/>
              <a:t>Phép hai ngôi toàn-mạch: Và (&amp;), Hoặc (|) </a:t>
            </a:r>
            <a:endParaRPr lang="en-US" dirty="0"/>
          </a:p>
        </p:txBody>
      </p:sp>
      <p:sp>
        <p:nvSpPr>
          <p:cNvPr id="4" name="Slide Number Placeholder 3">
            <a:extLst>
              <a:ext uri="{FF2B5EF4-FFF2-40B4-BE49-F238E27FC236}">
                <a16:creationId xmlns:a16="http://schemas.microsoft.com/office/drawing/2014/main" id="{39600143-A621-F89F-4392-5A33CE5E9C7F}"/>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51</a:t>
            </a:fld>
            <a:endParaRPr lang="en-US" altLang="ja-JP"/>
          </a:p>
        </p:txBody>
      </p:sp>
    </p:spTree>
    <p:extLst>
      <p:ext uri="{BB962C8B-B14F-4D97-AF65-F5344CB8AC3E}">
        <p14:creationId xmlns:p14="http://schemas.microsoft.com/office/powerpoint/2010/main" val="3806387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F1486-ED34-403C-CA7F-9065055E9E8B}"/>
              </a:ext>
            </a:extLst>
          </p:cNvPr>
          <p:cNvSpPr>
            <a:spLocks noGrp="1"/>
          </p:cNvSpPr>
          <p:nvPr>
            <p:ph type="title"/>
          </p:nvPr>
        </p:nvSpPr>
        <p:spPr/>
        <p:txBody>
          <a:bodyPr>
            <a:normAutofit fontScale="90000"/>
          </a:bodyPr>
          <a:lstStyle/>
          <a:p>
            <a:r>
              <a:rPr lang="en-US" dirty="0" err="1"/>
              <a:t>Phép</a:t>
            </a:r>
            <a:r>
              <a:rPr lang="en-US" dirty="0"/>
              <a:t> </a:t>
            </a:r>
            <a:r>
              <a:rPr lang="en-US" dirty="0" err="1"/>
              <a:t>toán</a:t>
            </a:r>
            <a:endParaRPr lang="en-US" dirty="0"/>
          </a:p>
        </p:txBody>
      </p:sp>
      <p:sp>
        <p:nvSpPr>
          <p:cNvPr id="3" name="Content Placeholder 2">
            <a:extLst>
              <a:ext uri="{FF2B5EF4-FFF2-40B4-BE49-F238E27FC236}">
                <a16:creationId xmlns:a16="http://schemas.microsoft.com/office/drawing/2014/main" id="{CF365C67-A4F7-32C4-A643-15F86AB7D8C3}"/>
              </a:ext>
            </a:extLst>
          </p:cNvPr>
          <p:cNvSpPr>
            <a:spLocks noGrp="1"/>
          </p:cNvSpPr>
          <p:nvPr>
            <p:ph idx="1"/>
          </p:nvPr>
        </p:nvSpPr>
        <p:spPr/>
        <p:txBody>
          <a:bodyPr/>
          <a:lstStyle/>
          <a:p>
            <a:r>
              <a:rPr lang="vi-VN" dirty="0"/>
              <a:t>Phép kiểm tra kiểu: x </a:t>
            </a:r>
            <a:r>
              <a:rPr lang="vi-VN" dirty="0" err="1"/>
              <a:t>instanceof</a:t>
            </a:r>
            <a:r>
              <a:rPr lang="vi-VN" dirty="0"/>
              <a:t> y- trả về đúng (</a:t>
            </a:r>
            <a:r>
              <a:rPr lang="vi-VN" dirty="0" err="1"/>
              <a:t>true</a:t>
            </a:r>
            <a:r>
              <a:rPr lang="vi-VN" dirty="0"/>
              <a:t>) nếu biến x có kiểu y </a:t>
            </a:r>
            <a:endParaRPr lang="en-US" dirty="0"/>
          </a:p>
          <a:p>
            <a:r>
              <a:rPr lang="vi-VN" dirty="0"/>
              <a:t>Phép toán </a:t>
            </a:r>
            <a:r>
              <a:rPr lang="vi-VN" dirty="0" err="1"/>
              <a:t>bit</a:t>
            </a:r>
            <a:r>
              <a:rPr lang="vi-VN" dirty="0"/>
              <a:t>: coi các số như là dãy </a:t>
            </a:r>
            <a:r>
              <a:rPr lang="vi-VN" dirty="0" err="1"/>
              <a:t>bit</a:t>
            </a:r>
            <a:r>
              <a:rPr lang="vi-VN" dirty="0"/>
              <a:t> và thao tác theo từng </a:t>
            </a:r>
            <a:r>
              <a:rPr lang="vi-VN" dirty="0" err="1"/>
              <a:t>bit</a:t>
            </a:r>
            <a:r>
              <a:rPr lang="vi-VN" dirty="0"/>
              <a:t> </a:t>
            </a:r>
            <a:endParaRPr lang="en-US" dirty="0"/>
          </a:p>
          <a:p>
            <a:r>
              <a:rPr lang="vi-VN" dirty="0"/>
              <a:t>Phép </a:t>
            </a:r>
            <a:r>
              <a:rPr lang="vi-VN" dirty="0" err="1"/>
              <a:t>môt</a:t>
            </a:r>
            <a:r>
              <a:rPr lang="vi-VN" dirty="0"/>
              <a:t> ngôi: phép Đảo (~) - đảo giá trị của các </a:t>
            </a:r>
            <a:r>
              <a:rPr lang="vi-VN" dirty="0" err="1"/>
              <a:t>bit</a:t>
            </a:r>
            <a:r>
              <a:rPr lang="vi-VN" dirty="0"/>
              <a:t> </a:t>
            </a:r>
            <a:endParaRPr lang="en-US" dirty="0"/>
          </a:p>
          <a:p>
            <a:r>
              <a:rPr lang="vi-VN" dirty="0"/>
              <a:t>Phép hai ngôi: phép Và (&amp;), phép </a:t>
            </a:r>
            <a:r>
              <a:rPr lang="vi-VN" dirty="0" err="1"/>
              <a:t>Hoăc</a:t>
            </a:r>
            <a:r>
              <a:rPr lang="vi-VN" dirty="0"/>
              <a:t> (|), phép hoặc nghịch đảo (^)</a:t>
            </a:r>
            <a:endParaRPr lang="en-US" dirty="0"/>
          </a:p>
        </p:txBody>
      </p:sp>
      <p:sp>
        <p:nvSpPr>
          <p:cNvPr id="4" name="Slide Number Placeholder 3">
            <a:extLst>
              <a:ext uri="{FF2B5EF4-FFF2-40B4-BE49-F238E27FC236}">
                <a16:creationId xmlns:a16="http://schemas.microsoft.com/office/drawing/2014/main" id="{9A339F1A-1E14-C428-C018-4F0D0D7EABAF}"/>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52</a:t>
            </a:fld>
            <a:endParaRPr lang="en-US" altLang="ja-JP"/>
          </a:p>
        </p:txBody>
      </p:sp>
    </p:spTree>
    <p:extLst>
      <p:ext uri="{BB962C8B-B14F-4D97-AF65-F5344CB8AC3E}">
        <p14:creationId xmlns:p14="http://schemas.microsoft.com/office/powerpoint/2010/main" val="910090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16096-1F77-424B-261F-3E12DDED3B19}"/>
              </a:ext>
            </a:extLst>
          </p:cNvPr>
          <p:cNvSpPr>
            <a:spLocks noGrp="1"/>
          </p:cNvSpPr>
          <p:nvPr>
            <p:ph type="title"/>
          </p:nvPr>
        </p:nvSpPr>
        <p:spPr/>
        <p:txBody>
          <a:bodyPr>
            <a:normAutofit fontScale="90000"/>
          </a:bodyPr>
          <a:lstStyle/>
          <a:p>
            <a:r>
              <a:rPr lang="en-US" dirty="0" err="1"/>
              <a:t>Phép</a:t>
            </a:r>
            <a:r>
              <a:rPr lang="en-US" dirty="0"/>
              <a:t> </a:t>
            </a:r>
            <a:r>
              <a:rPr lang="en-US" dirty="0" err="1"/>
              <a:t>toán</a:t>
            </a:r>
            <a:endParaRPr lang="en-US" dirty="0"/>
          </a:p>
        </p:txBody>
      </p:sp>
      <p:sp>
        <p:nvSpPr>
          <p:cNvPr id="3" name="Content Placeholder 2">
            <a:extLst>
              <a:ext uri="{FF2B5EF4-FFF2-40B4-BE49-F238E27FC236}">
                <a16:creationId xmlns:a16="http://schemas.microsoft.com/office/drawing/2014/main" id="{A1CDDA9C-204F-BCEB-7545-D38DE8FBBA0E}"/>
              </a:ext>
            </a:extLst>
          </p:cNvPr>
          <p:cNvSpPr>
            <a:spLocks noGrp="1"/>
          </p:cNvSpPr>
          <p:nvPr>
            <p:ph idx="1"/>
          </p:nvPr>
        </p:nvSpPr>
        <p:spPr/>
        <p:txBody>
          <a:bodyPr/>
          <a:lstStyle/>
          <a:p>
            <a:r>
              <a:rPr lang="vi-VN" dirty="0"/>
              <a:t>Dịch </a:t>
            </a:r>
            <a:r>
              <a:rPr lang="vi-VN" dirty="0" err="1"/>
              <a:t>bit</a:t>
            </a:r>
            <a:r>
              <a:rPr lang="vi-VN" dirty="0"/>
              <a:t>: dịch trái (&lt;&gt;), dịch phải dương (&gt;&gt;&gt;)</a:t>
            </a:r>
            <a:endParaRPr lang="en-US" dirty="0"/>
          </a:p>
          <a:p>
            <a:pPr lvl="1"/>
            <a:r>
              <a:rPr lang="vi-VN" dirty="0"/>
              <a:t>Chú ý: các phép dịch </a:t>
            </a:r>
            <a:r>
              <a:rPr lang="vi-VN" dirty="0" err="1"/>
              <a:t>bit</a:t>
            </a:r>
            <a:r>
              <a:rPr lang="vi-VN" dirty="0"/>
              <a:t> của </a:t>
            </a:r>
            <a:r>
              <a:rPr lang="vi-VN" dirty="0" err="1"/>
              <a:t>java</a:t>
            </a:r>
            <a:r>
              <a:rPr lang="vi-VN" dirty="0"/>
              <a:t> thực ra tương đương với thao tác nhân/chia cho 2n </a:t>
            </a:r>
            <a:endParaRPr lang="en-US" dirty="0"/>
          </a:p>
          <a:p>
            <a:r>
              <a:rPr lang="vi-VN" dirty="0"/>
              <a:t>Phép điều kiện: (điều kiện) ? giá trị A : giá trị B </a:t>
            </a:r>
            <a:endParaRPr lang="en-US" dirty="0"/>
          </a:p>
          <a:p>
            <a:r>
              <a:rPr lang="vi-VN" dirty="0"/>
              <a:t>Rút gọn phép toán: a = a + b</a:t>
            </a:r>
            <a:r>
              <a:rPr lang="en-US"/>
              <a:t> </a:t>
            </a:r>
            <a:r>
              <a:rPr lang="en-US">
                <a:sym typeface="Wingdings" panose="05000000000000000000" pitchFamily="2" charset="2"/>
              </a:rPr>
              <a:t></a:t>
            </a:r>
            <a:r>
              <a:rPr lang="vi-VN"/>
              <a:t> </a:t>
            </a:r>
            <a:r>
              <a:rPr lang="vi-VN" dirty="0"/>
              <a:t>a += b;</a:t>
            </a:r>
            <a:endParaRPr lang="en-US" dirty="0"/>
          </a:p>
        </p:txBody>
      </p:sp>
      <p:sp>
        <p:nvSpPr>
          <p:cNvPr id="4" name="Slide Number Placeholder 3">
            <a:extLst>
              <a:ext uri="{FF2B5EF4-FFF2-40B4-BE49-F238E27FC236}">
                <a16:creationId xmlns:a16="http://schemas.microsoft.com/office/drawing/2014/main" id="{7D8D37AB-F5B6-4C90-E1E7-1770001ABF0D}"/>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53</a:t>
            </a:fld>
            <a:endParaRPr lang="en-US" altLang="ja-JP"/>
          </a:p>
        </p:txBody>
      </p:sp>
    </p:spTree>
    <p:extLst>
      <p:ext uri="{BB962C8B-B14F-4D97-AF65-F5344CB8AC3E}">
        <p14:creationId xmlns:p14="http://schemas.microsoft.com/office/powerpoint/2010/main" val="1893473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1B7C-0927-8769-FF8C-55197D8D071E}"/>
              </a:ext>
            </a:extLst>
          </p:cNvPr>
          <p:cNvSpPr>
            <a:spLocks noGrp="1"/>
          </p:cNvSpPr>
          <p:nvPr>
            <p:ph type="title"/>
          </p:nvPr>
        </p:nvSpPr>
        <p:spPr/>
        <p:txBody>
          <a:bodyPr>
            <a:normAutofit fontScale="90000"/>
          </a:bodyPr>
          <a:lstStyle/>
          <a:p>
            <a:r>
              <a:rPr lang="en-US" dirty="0" err="1"/>
              <a:t>Nhập</a:t>
            </a:r>
            <a:r>
              <a:rPr lang="en-US" dirty="0"/>
              <a:t> </a:t>
            </a:r>
            <a:r>
              <a:rPr lang="en-US" dirty="0" err="1"/>
              <a:t>và</a:t>
            </a:r>
            <a:r>
              <a:rPr lang="en-US" dirty="0"/>
              <a:t> </a:t>
            </a:r>
            <a:r>
              <a:rPr lang="en-US" dirty="0" err="1"/>
              <a:t>xuất</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500FE602-5EBC-D952-8211-9AB95AEB7A5C}"/>
              </a:ext>
            </a:extLst>
          </p:cNvPr>
          <p:cNvSpPr>
            <a:spLocks noGrp="1"/>
          </p:cNvSpPr>
          <p:nvPr>
            <p:ph idx="1"/>
          </p:nvPr>
        </p:nvSpPr>
        <p:spPr/>
        <p:txBody>
          <a:bodyPr>
            <a:normAutofit lnSpcReduction="10000"/>
          </a:bodyPr>
          <a:lstStyle/>
          <a:p>
            <a:r>
              <a:rPr lang="en-US" dirty="0" err="1"/>
              <a:t>Nhập</a:t>
            </a:r>
            <a:r>
              <a:rPr lang="en-US" dirty="0"/>
              <a:t> a, b </a:t>
            </a:r>
            <a:r>
              <a:rPr lang="en-US" dirty="0" err="1"/>
              <a:t>từ</a:t>
            </a:r>
            <a:r>
              <a:rPr lang="en-US" dirty="0"/>
              <a:t> </a:t>
            </a:r>
            <a:r>
              <a:rPr lang="en-US" dirty="0" err="1"/>
              <a:t>bàn</a:t>
            </a:r>
            <a:r>
              <a:rPr lang="en-US" dirty="0"/>
              <a:t> </a:t>
            </a:r>
            <a:r>
              <a:rPr lang="en-US" dirty="0" err="1"/>
              <a:t>phím</a:t>
            </a:r>
            <a:r>
              <a:rPr lang="en-US" dirty="0"/>
              <a:t> </a:t>
            </a:r>
            <a:r>
              <a:rPr lang="en-US" dirty="0" err="1"/>
              <a:t>và</a:t>
            </a:r>
            <a:r>
              <a:rPr lang="en-US" dirty="0"/>
              <a:t> </a:t>
            </a:r>
            <a:r>
              <a:rPr lang="en-US" dirty="0" err="1"/>
              <a:t>tính</a:t>
            </a:r>
            <a:r>
              <a:rPr lang="en-US" dirty="0"/>
              <a:t> </a:t>
            </a:r>
            <a:r>
              <a:rPr lang="en-US" dirty="0" err="1"/>
              <a:t>a^b</a:t>
            </a:r>
            <a:endParaRPr lang="en-US" dirty="0"/>
          </a:p>
          <a:p>
            <a:pPr marL="457200" lvl="1" indent="0">
              <a:buNone/>
            </a:pPr>
            <a:r>
              <a:rPr lang="en-US" dirty="0"/>
              <a:t>import java.io.*; </a:t>
            </a:r>
          </a:p>
          <a:p>
            <a:pPr marL="457200" lvl="1" indent="0">
              <a:buNone/>
            </a:pPr>
            <a:r>
              <a:rPr lang="en-US" dirty="0"/>
              <a:t>public class </a:t>
            </a:r>
            <a:r>
              <a:rPr lang="en-US" dirty="0" err="1"/>
              <a:t>vidu</a:t>
            </a:r>
            <a:r>
              <a:rPr lang="en-US" dirty="0"/>
              <a:t> { </a:t>
            </a:r>
          </a:p>
          <a:p>
            <a:pPr marL="914400" lvl="2" indent="0">
              <a:buNone/>
            </a:pPr>
            <a:r>
              <a:rPr lang="en-US" dirty="0"/>
              <a:t>public static void main(String[] </a:t>
            </a:r>
            <a:r>
              <a:rPr lang="en-US" dirty="0" err="1"/>
              <a:t>args</a:t>
            </a:r>
            <a:r>
              <a:rPr lang="en-US" dirty="0"/>
              <a:t>) { </a:t>
            </a:r>
          </a:p>
          <a:p>
            <a:pPr marL="1371600" lvl="3" indent="0">
              <a:buNone/>
            </a:pPr>
            <a:r>
              <a:rPr lang="en-US" dirty="0"/>
              <a:t>Console </a:t>
            </a:r>
            <a:r>
              <a:rPr lang="en-US" dirty="0" err="1"/>
              <a:t>console</a:t>
            </a:r>
            <a:r>
              <a:rPr lang="en-US" dirty="0"/>
              <a:t> = </a:t>
            </a:r>
            <a:r>
              <a:rPr lang="en-US" dirty="0" err="1"/>
              <a:t>System.console</a:t>
            </a:r>
            <a:r>
              <a:rPr lang="en-US" dirty="0"/>
              <a:t>(); </a:t>
            </a:r>
          </a:p>
          <a:p>
            <a:pPr marL="1371600" lvl="3" indent="0">
              <a:buNone/>
            </a:pPr>
            <a:r>
              <a:rPr lang="en-US" dirty="0"/>
              <a:t>if (console == null) </a:t>
            </a:r>
            <a:r>
              <a:rPr lang="en-US" dirty="0" err="1"/>
              <a:t>System.exit</a:t>
            </a:r>
            <a:r>
              <a:rPr lang="en-US" dirty="0"/>
              <a:t>(0); </a:t>
            </a:r>
          </a:p>
          <a:p>
            <a:pPr marL="1371600" lvl="3" indent="0">
              <a:buNone/>
            </a:pPr>
            <a:r>
              <a:rPr lang="en-US" dirty="0" err="1"/>
              <a:t>System.out.print</a:t>
            </a:r>
            <a:r>
              <a:rPr lang="en-US" dirty="0"/>
              <a:t>("</a:t>
            </a:r>
            <a:r>
              <a:rPr lang="en-US" dirty="0" err="1"/>
              <a:t>Nhap</a:t>
            </a:r>
            <a:r>
              <a:rPr lang="en-US" dirty="0"/>
              <a:t> so A: "); </a:t>
            </a:r>
          </a:p>
          <a:p>
            <a:pPr marL="1371600" lvl="3" indent="0">
              <a:buNone/>
            </a:pPr>
            <a:r>
              <a:rPr lang="en-US" dirty="0"/>
              <a:t>int a = </a:t>
            </a:r>
            <a:r>
              <a:rPr lang="en-US" dirty="0" err="1"/>
              <a:t>Integer.parseInt</a:t>
            </a:r>
            <a:r>
              <a:rPr lang="en-US" dirty="0"/>
              <a:t>(</a:t>
            </a:r>
            <a:r>
              <a:rPr lang="en-US" dirty="0" err="1"/>
              <a:t>console.readLine</a:t>
            </a:r>
            <a:r>
              <a:rPr lang="en-US" dirty="0"/>
              <a:t>()); </a:t>
            </a:r>
          </a:p>
          <a:p>
            <a:pPr marL="1371600" lvl="3" indent="0">
              <a:buNone/>
            </a:pPr>
            <a:r>
              <a:rPr lang="en-US" dirty="0" err="1"/>
              <a:t>System.out.print</a:t>
            </a:r>
            <a:r>
              <a:rPr lang="en-US" dirty="0"/>
              <a:t>("</a:t>
            </a:r>
            <a:r>
              <a:rPr lang="en-US" dirty="0" err="1"/>
              <a:t>Nhap</a:t>
            </a:r>
            <a:r>
              <a:rPr lang="en-US" dirty="0"/>
              <a:t> so B: "); </a:t>
            </a:r>
          </a:p>
          <a:p>
            <a:pPr marL="1371600" lvl="3" indent="0">
              <a:buNone/>
            </a:pPr>
            <a:r>
              <a:rPr lang="en-US" dirty="0"/>
              <a:t>int b = </a:t>
            </a:r>
            <a:r>
              <a:rPr lang="en-US" dirty="0" err="1"/>
              <a:t>Integer.parseInt</a:t>
            </a:r>
            <a:r>
              <a:rPr lang="en-US" dirty="0"/>
              <a:t>(</a:t>
            </a:r>
            <a:r>
              <a:rPr lang="en-US" dirty="0" err="1"/>
              <a:t>console.readLine</a:t>
            </a:r>
            <a:r>
              <a:rPr lang="en-US" dirty="0"/>
              <a:t>()); </a:t>
            </a:r>
          </a:p>
          <a:p>
            <a:pPr marL="1371600" lvl="3" indent="0">
              <a:buNone/>
            </a:pPr>
            <a:r>
              <a:rPr lang="en-US" dirty="0" err="1"/>
              <a:t>System.out.println</a:t>
            </a:r>
            <a:r>
              <a:rPr lang="en-US" dirty="0"/>
              <a:t>("</a:t>
            </a:r>
            <a:r>
              <a:rPr lang="en-US" dirty="0" err="1"/>
              <a:t>a^b</a:t>
            </a:r>
            <a:r>
              <a:rPr lang="en-US" dirty="0"/>
              <a:t> = " + </a:t>
            </a:r>
            <a:r>
              <a:rPr lang="en-US" dirty="0" err="1"/>
              <a:t>Math.pow</a:t>
            </a:r>
            <a:r>
              <a:rPr lang="en-US" dirty="0"/>
              <a:t>(a, b)); </a:t>
            </a:r>
          </a:p>
          <a:p>
            <a:pPr marL="914400" lvl="2" indent="0">
              <a:buNone/>
            </a:pPr>
            <a:r>
              <a:rPr lang="en-US" dirty="0"/>
              <a:t>}</a:t>
            </a:r>
          </a:p>
          <a:p>
            <a:pPr marL="457200" lvl="1" indent="0">
              <a:buNone/>
            </a:pPr>
            <a:r>
              <a:rPr lang="en-US" dirty="0"/>
              <a:t>}</a:t>
            </a:r>
          </a:p>
          <a:p>
            <a:endParaRPr lang="en-US" dirty="0"/>
          </a:p>
        </p:txBody>
      </p:sp>
      <p:sp>
        <p:nvSpPr>
          <p:cNvPr id="4" name="Slide Number Placeholder 3">
            <a:extLst>
              <a:ext uri="{FF2B5EF4-FFF2-40B4-BE49-F238E27FC236}">
                <a16:creationId xmlns:a16="http://schemas.microsoft.com/office/drawing/2014/main" id="{A95AAB4C-A13C-A12E-72EC-0DC76398BD0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54</a:t>
            </a:fld>
            <a:endParaRPr lang="en-US" altLang="ja-JP"/>
          </a:p>
        </p:txBody>
      </p:sp>
    </p:spTree>
    <p:extLst>
      <p:ext uri="{BB962C8B-B14F-4D97-AF65-F5344CB8AC3E}">
        <p14:creationId xmlns:p14="http://schemas.microsoft.com/office/powerpoint/2010/main" val="14233928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3DAE-0A88-DCD6-4460-141C47D67BFD}"/>
              </a:ext>
            </a:extLst>
          </p:cNvPr>
          <p:cNvSpPr>
            <a:spLocks noGrp="1"/>
          </p:cNvSpPr>
          <p:nvPr>
            <p:ph type="title"/>
          </p:nvPr>
        </p:nvSpPr>
        <p:spPr/>
        <p:txBody>
          <a:bodyPr>
            <a:normAutofit fontScale="90000"/>
          </a:bodyPr>
          <a:lstStyle/>
          <a:p>
            <a:r>
              <a:rPr lang="vi-VN" dirty="0"/>
              <a:t>Nhập dữ liệu từ bàn phím </a:t>
            </a:r>
            <a:endParaRPr lang="en-US" dirty="0"/>
          </a:p>
        </p:txBody>
      </p:sp>
      <p:sp>
        <p:nvSpPr>
          <p:cNvPr id="3" name="Content Placeholder 2">
            <a:extLst>
              <a:ext uri="{FF2B5EF4-FFF2-40B4-BE49-F238E27FC236}">
                <a16:creationId xmlns:a16="http://schemas.microsoft.com/office/drawing/2014/main" id="{B31C61B9-CBEB-F671-171D-886BD0255693}"/>
              </a:ext>
            </a:extLst>
          </p:cNvPr>
          <p:cNvSpPr>
            <a:spLocks noGrp="1"/>
          </p:cNvSpPr>
          <p:nvPr>
            <p:ph idx="1"/>
          </p:nvPr>
        </p:nvSpPr>
        <p:spPr/>
        <p:txBody>
          <a:bodyPr>
            <a:normAutofit/>
          </a:bodyPr>
          <a:lstStyle/>
          <a:p>
            <a:r>
              <a:rPr lang="vi-VN" dirty="0" err="1"/>
              <a:t>Java</a:t>
            </a:r>
            <a:r>
              <a:rPr lang="vi-VN" dirty="0"/>
              <a:t> 1.6: sử dụng </a:t>
            </a:r>
            <a:r>
              <a:rPr lang="vi-VN" dirty="0" err="1"/>
              <a:t>class</a:t>
            </a:r>
            <a:r>
              <a:rPr lang="vi-VN" dirty="0"/>
              <a:t> </a:t>
            </a:r>
            <a:r>
              <a:rPr lang="vi-VN" dirty="0" err="1"/>
              <a:t>Console</a:t>
            </a:r>
            <a:r>
              <a:rPr lang="vi-VN" dirty="0"/>
              <a:t> </a:t>
            </a:r>
            <a:endParaRPr lang="en-US" dirty="0"/>
          </a:p>
          <a:p>
            <a:endParaRPr lang="en-US" dirty="0"/>
          </a:p>
          <a:p>
            <a:r>
              <a:rPr lang="vi-VN" dirty="0" err="1"/>
              <a:t>Java</a:t>
            </a:r>
            <a:r>
              <a:rPr lang="vi-VN" dirty="0"/>
              <a:t> 1.5: sử dụng </a:t>
            </a:r>
            <a:r>
              <a:rPr lang="vi-VN" dirty="0" err="1"/>
              <a:t>class</a:t>
            </a:r>
            <a:r>
              <a:rPr lang="vi-VN" dirty="0"/>
              <a:t> </a:t>
            </a:r>
            <a:r>
              <a:rPr lang="vi-VN" dirty="0" err="1"/>
              <a:t>Scanner</a:t>
            </a:r>
            <a:r>
              <a:rPr lang="vi-VN" dirty="0"/>
              <a:t> </a:t>
            </a:r>
            <a:endParaRPr lang="en-US" dirty="0"/>
          </a:p>
          <a:p>
            <a:pPr marL="457200" lvl="1" indent="0">
              <a:buNone/>
            </a:pPr>
            <a:r>
              <a:rPr lang="vi-VN" sz="2400" dirty="0" err="1"/>
              <a:t>Scanner</a:t>
            </a:r>
            <a:r>
              <a:rPr lang="vi-VN" sz="2400" dirty="0"/>
              <a:t> </a:t>
            </a:r>
            <a:r>
              <a:rPr lang="vi-VN" sz="2400" dirty="0" err="1"/>
              <a:t>scanner</a:t>
            </a:r>
            <a:r>
              <a:rPr lang="vi-VN" sz="2400" dirty="0"/>
              <a:t> = </a:t>
            </a:r>
            <a:r>
              <a:rPr lang="vi-VN" sz="2400" dirty="0" err="1"/>
              <a:t>new</a:t>
            </a:r>
            <a:r>
              <a:rPr lang="vi-VN" sz="2400" dirty="0"/>
              <a:t> </a:t>
            </a:r>
            <a:r>
              <a:rPr lang="vi-VN" sz="2400" dirty="0" err="1"/>
              <a:t>Scanner</a:t>
            </a:r>
            <a:r>
              <a:rPr lang="vi-VN" sz="2400" dirty="0"/>
              <a:t>(System.in); </a:t>
            </a:r>
            <a:r>
              <a:rPr lang="vi-VN" sz="2400" dirty="0" err="1"/>
              <a:t>System.out.print</a:t>
            </a:r>
            <a:r>
              <a:rPr lang="vi-VN" sz="2400" dirty="0"/>
              <a:t>("</a:t>
            </a:r>
            <a:r>
              <a:rPr lang="vi-VN" sz="2400" dirty="0" err="1"/>
              <a:t>Enter</a:t>
            </a:r>
            <a:r>
              <a:rPr lang="vi-VN" sz="2400" dirty="0"/>
              <a:t> </a:t>
            </a:r>
            <a:r>
              <a:rPr lang="vi-VN" sz="2400" dirty="0" err="1"/>
              <a:t>your</a:t>
            </a:r>
            <a:r>
              <a:rPr lang="vi-VN" sz="2400" dirty="0"/>
              <a:t> </a:t>
            </a:r>
            <a:r>
              <a:rPr lang="vi-VN" sz="2400" dirty="0" err="1"/>
              <a:t>name</a:t>
            </a:r>
            <a:r>
              <a:rPr lang="vi-VN" sz="2400" dirty="0"/>
              <a:t>: "); </a:t>
            </a:r>
            <a:endParaRPr lang="en-US" sz="2400" dirty="0"/>
          </a:p>
          <a:p>
            <a:pPr marL="457200" lvl="1" indent="0">
              <a:buNone/>
            </a:pPr>
            <a:r>
              <a:rPr lang="vi-VN" sz="2400" dirty="0" err="1"/>
              <a:t>String</a:t>
            </a:r>
            <a:r>
              <a:rPr lang="vi-VN" sz="2400" dirty="0"/>
              <a:t> </a:t>
            </a:r>
            <a:r>
              <a:rPr lang="vi-VN" sz="2400" dirty="0" err="1"/>
              <a:t>name</a:t>
            </a:r>
            <a:r>
              <a:rPr lang="vi-VN" sz="2400" dirty="0"/>
              <a:t> = </a:t>
            </a:r>
            <a:r>
              <a:rPr lang="vi-VN" sz="2400" dirty="0" err="1"/>
              <a:t>scanner.nextLine</a:t>
            </a:r>
            <a:r>
              <a:rPr lang="vi-VN" sz="2400" dirty="0"/>
              <a:t>(); </a:t>
            </a:r>
            <a:endParaRPr lang="en-US" sz="2400" dirty="0"/>
          </a:p>
          <a:p>
            <a:r>
              <a:rPr lang="vi-VN" dirty="0" err="1"/>
              <a:t>Java</a:t>
            </a:r>
            <a:r>
              <a:rPr lang="vi-VN" dirty="0"/>
              <a:t> 1.4 trở về trước: dùng </a:t>
            </a:r>
            <a:r>
              <a:rPr lang="vi-VN" dirty="0" err="1"/>
              <a:t>class</a:t>
            </a:r>
            <a:r>
              <a:rPr lang="vi-VN" dirty="0"/>
              <a:t> </a:t>
            </a:r>
            <a:r>
              <a:rPr lang="vi-VN" dirty="0" err="1"/>
              <a:t>BufferedReader</a:t>
            </a:r>
            <a:r>
              <a:rPr lang="vi-VN" dirty="0"/>
              <a:t> </a:t>
            </a:r>
            <a:r>
              <a:rPr lang="en-US" dirty="0"/>
              <a:t>  </a:t>
            </a:r>
            <a:r>
              <a:rPr lang="vi-VN" sz="2400" dirty="0" err="1"/>
              <a:t>BufferedReader</a:t>
            </a:r>
            <a:r>
              <a:rPr lang="vi-VN" sz="2400" dirty="0"/>
              <a:t> </a:t>
            </a:r>
            <a:r>
              <a:rPr lang="vi-VN" sz="2400" dirty="0" err="1"/>
              <a:t>reader</a:t>
            </a:r>
            <a:r>
              <a:rPr lang="vi-VN" sz="2400" dirty="0"/>
              <a:t> = </a:t>
            </a:r>
            <a:r>
              <a:rPr lang="vi-VN" sz="2400" dirty="0" err="1"/>
              <a:t>new</a:t>
            </a:r>
            <a:r>
              <a:rPr lang="vi-VN" sz="2400" dirty="0"/>
              <a:t> </a:t>
            </a:r>
            <a:r>
              <a:rPr lang="vi-VN" sz="2400" dirty="0" err="1"/>
              <a:t>BufferedReader</a:t>
            </a:r>
            <a:r>
              <a:rPr lang="vi-VN" sz="2400" dirty="0"/>
              <a:t>( </a:t>
            </a:r>
            <a:r>
              <a:rPr lang="vi-VN" sz="2400" dirty="0" err="1"/>
              <a:t>new</a:t>
            </a:r>
            <a:r>
              <a:rPr lang="vi-VN" sz="2400" dirty="0"/>
              <a:t> </a:t>
            </a:r>
            <a:r>
              <a:rPr lang="vi-VN" sz="2400" dirty="0" err="1"/>
              <a:t>InputStreamReader</a:t>
            </a:r>
            <a:r>
              <a:rPr lang="vi-VN" sz="2400" dirty="0"/>
              <a:t>(System.in) ); </a:t>
            </a:r>
            <a:endParaRPr lang="en-US" sz="2400" dirty="0"/>
          </a:p>
          <a:p>
            <a:pPr marL="400050" lvl="1" indent="0">
              <a:buNone/>
            </a:pPr>
            <a:r>
              <a:rPr lang="vi-VN" sz="2400" dirty="0" err="1"/>
              <a:t>System.out.print</a:t>
            </a:r>
            <a:r>
              <a:rPr lang="vi-VN" sz="2400" dirty="0"/>
              <a:t>("</a:t>
            </a:r>
            <a:r>
              <a:rPr lang="vi-VN" sz="2400" dirty="0" err="1"/>
              <a:t>Enter</a:t>
            </a:r>
            <a:r>
              <a:rPr lang="vi-VN" sz="2400" dirty="0"/>
              <a:t> </a:t>
            </a:r>
            <a:r>
              <a:rPr lang="vi-VN" sz="2400" dirty="0" err="1"/>
              <a:t>your</a:t>
            </a:r>
            <a:r>
              <a:rPr lang="vi-VN" sz="2400" dirty="0"/>
              <a:t> </a:t>
            </a:r>
            <a:r>
              <a:rPr lang="vi-VN" sz="2400" dirty="0" err="1"/>
              <a:t>name</a:t>
            </a:r>
            <a:r>
              <a:rPr lang="vi-VN" sz="2400" dirty="0"/>
              <a:t>: "); </a:t>
            </a:r>
            <a:endParaRPr lang="en-US" sz="2400" dirty="0"/>
          </a:p>
          <a:p>
            <a:pPr marL="400050" lvl="1" indent="0">
              <a:buNone/>
            </a:pPr>
            <a:r>
              <a:rPr lang="vi-VN" sz="2400" dirty="0" err="1"/>
              <a:t>String</a:t>
            </a:r>
            <a:r>
              <a:rPr lang="vi-VN" sz="2400" dirty="0"/>
              <a:t> </a:t>
            </a:r>
            <a:r>
              <a:rPr lang="vi-VN" sz="2400" dirty="0" err="1"/>
              <a:t>name</a:t>
            </a:r>
            <a:r>
              <a:rPr lang="vi-VN" sz="2400" dirty="0"/>
              <a:t> = </a:t>
            </a:r>
            <a:r>
              <a:rPr lang="vi-VN" sz="2400" dirty="0" err="1"/>
              <a:t>reader.readLine</a:t>
            </a:r>
            <a:r>
              <a:rPr lang="vi-VN" sz="2400" dirty="0"/>
              <a:t>();</a:t>
            </a:r>
            <a:endParaRPr lang="en-US" sz="2400" dirty="0"/>
          </a:p>
          <a:p>
            <a:endParaRPr lang="en-US" dirty="0"/>
          </a:p>
        </p:txBody>
      </p:sp>
      <p:sp>
        <p:nvSpPr>
          <p:cNvPr id="4" name="Slide Number Placeholder 3">
            <a:extLst>
              <a:ext uri="{FF2B5EF4-FFF2-40B4-BE49-F238E27FC236}">
                <a16:creationId xmlns:a16="http://schemas.microsoft.com/office/drawing/2014/main" id="{71BA20C9-50A4-981E-B446-F9871EFD36C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55</a:t>
            </a:fld>
            <a:endParaRPr lang="en-US" altLang="ja-JP"/>
          </a:p>
        </p:txBody>
      </p:sp>
    </p:spTree>
    <p:extLst>
      <p:ext uri="{BB962C8B-B14F-4D97-AF65-F5344CB8AC3E}">
        <p14:creationId xmlns:p14="http://schemas.microsoft.com/office/powerpoint/2010/main" val="13300233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46D4A-71E8-FD9E-607C-E0E6FA51804B}"/>
              </a:ext>
            </a:extLst>
          </p:cNvPr>
          <p:cNvSpPr>
            <a:spLocks noGrp="1"/>
          </p:cNvSpPr>
          <p:nvPr>
            <p:ph type="title"/>
          </p:nvPr>
        </p:nvSpPr>
        <p:spPr/>
        <p:txBody>
          <a:bodyPr>
            <a:normAutofit fontScale="90000"/>
          </a:bodyPr>
          <a:lstStyle/>
          <a:p>
            <a:r>
              <a:rPr lang="vi-VN" dirty="0"/>
              <a:t>In dữ liệu ra màn hình</a:t>
            </a:r>
            <a:endParaRPr lang="en-US" dirty="0"/>
          </a:p>
        </p:txBody>
      </p:sp>
      <p:sp>
        <p:nvSpPr>
          <p:cNvPr id="3" name="Content Placeholder 2">
            <a:extLst>
              <a:ext uri="{FF2B5EF4-FFF2-40B4-BE49-F238E27FC236}">
                <a16:creationId xmlns:a16="http://schemas.microsoft.com/office/drawing/2014/main" id="{7BB6C0DD-8C27-4C4B-989F-570A7FD549BF}"/>
              </a:ext>
            </a:extLst>
          </p:cNvPr>
          <p:cNvSpPr>
            <a:spLocks noGrp="1"/>
          </p:cNvSpPr>
          <p:nvPr>
            <p:ph idx="1"/>
          </p:nvPr>
        </p:nvSpPr>
        <p:spPr/>
        <p:txBody>
          <a:bodyPr>
            <a:normAutofit fontScale="92500" lnSpcReduction="10000"/>
          </a:bodyPr>
          <a:lstStyle/>
          <a:p>
            <a:pPr algn="just"/>
            <a:r>
              <a:rPr lang="vi-VN" dirty="0"/>
              <a:t>Sử dụng câu lệnh </a:t>
            </a:r>
            <a:r>
              <a:rPr lang="vi-VN" dirty="0" err="1"/>
              <a:t>System.out.print</a:t>
            </a:r>
            <a:r>
              <a:rPr lang="vi-VN" dirty="0"/>
              <a:t>(…) hoặc </a:t>
            </a:r>
            <a:r>
              <a:rPr lang="vi-VN" dirty="0" err="1"/>
              <a:t>System.out.println</a:t>
            </a:r>
            <a:r>
              <a:rPr lang="vi-VN" dirty="0"/>
              <a:t>(…) </a:t>
            </a:r>
            <a:endParaRPr lang="en-US" dirty="0"/>
          </a:p>
          <a:p>
            <a:pPr algn="just"/>
            <a:r>
              <a:rPr lang="vi-VN" dirty="0"/>
              <a:t>Tất cả các tham số được tự động chuyển về kiểu </a:t>
            </a:r>
            <a:r>
              <a:rPr lang="vi-VN" dirty="0" err="1"/>
              <a:t>String</a:t>
            </a:r>
            <a:r>
              <a:rPr lang="vi-VN" dirty="0"/>
              <a:t> trước khi in ra </a:t>
            </a:r>
            <a:endParaRPr lang="en-US" dirty="0"/>
          </a:p>
          <a:p>
            <a:pPr algn="just"/>
            <a:r>
              <a:rPr lang="vi-VN" dirty="0"/>
              <a:t>Muốn in nhiều giá trị cùng một lúc: sử dụng phép + để ghép các </a:t>
            </a:r>
            <a:r>
              <a:rPr lang="vi-VN" dirty="0" err="1"/>
              <a:t>String</a:t>
            </a:r>
            <a:r>
              <a:rPr lang="vi-VN" dirty="0"/>
              <a:t> với nhau </a:t>
            </a:r>
            <a:endParaRPr lang="en-US" dirty="0"/>
          </a:p>
          <a:p>
            <a:pPr algn="just"/>
            <a:r>
              <a:rPr lang="vi-VN" dirty="0"/>
              <a:t>Sử dụng </a:t>
            </a:r>
            <a:r>
              <a:rPr lang="vi-VN" dirty="0" err="1"/>
              <a:t>System.out.format</a:t>
            </a:r>
            <a:r>
              <a:rPr lang="vi-VN" dirty="0"/>
              <a:t>(…) để in dữ liệu được định dạng </a:t>
            </a:r>
            <a:endParaRPr lang="en-US" dirty="0"/>
          </a:p>
          <a:p>
            <a:pPr algn="just"/>
            <a:r>
              <a:rPr lang="vi-VN" dirty="0"/>
              <a:t>Hỗ trợ nhiều định dạng phong phú </a:t>
            </a:r>
            <a:endParaRPr lang="en-US" dirty="0"/>
          </a:p>
          <a:p>
            <a:pPr algn="just"/>
            <a:r>
              <a:rPr lang="vi-VN" dirty="0"/>
              <a:t>Cấu trúc định dạng khá phức tạp </a:t>
            </a:r>
            <a:endParaRPr lang="en-US" dirty="0"/>
          </a:p>
          <a:p>
            <a:pPr algn="just"/>
            <a:r>
              <a:rPr lang="vi-VN" dirty="0"/>
              <a:t>Chậm</a:t>
            </a:r>
            <a:endParaRPr lang="en-US" dirty="0"/>
          </a:p>
        </p:txBody>
      </p:sp>
      <p:sp>
        <p:nvSpPr>
          <p:cNvPr id="4" name="Slide Number Placeholder 3">
            <a:extLst>
              <a:ext uri="{FF2B5EF4-FFF2-40B4-BE49-F238E27FC236}">
                <a16:creationId xmlns:a16="http://schemas.microsoft.com/office/drawing/2014/main" id="{4DFC663B-830D-FE1E-7EBE-2488E9AD8865}"/>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56</a:t>
            </a:fld>
            <a:endParaRPr lang="en-US" altLang="ja-JP"/>
          </a:p>
        </p:txBody>
      </p:sp>
    </p:spTree>
    <p:extLst>
      <p:ext uri="{BB962C8B-B14F-4D97-AF65-F5344CB8AC3E}">
        <p14:creationId xmlns:p14="http://schemas.microsoft.com/office/powerpoint/2010/main" val="22251362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63C92-6897-D5B3-EEB4-982900410251}"/>
              </a:ext>
            </a:extLst>
          </p:cNvPr>
          <p:cNvSpPr>
            <a:spLocks noGrp="1"/>
          </p:cNvSpPr>
          <p:nvPr>
            <p:ph type="title"/>
          </p:nvPr>
        </p:nvSpPr>
        <p:spPr/>
        <p:txBody>
          <a:bodyPr>
            <a:normAutofit fontScale="90000"/>
          </a:bodyPr>
          <a:lstStyle/>
          <a:p>
            <a:r>
              <a:rPr lang="vi-VN" dirty="0"/>
              <a:t>Một số quy tắc đặt tên: </a:t>
            </a:r>
            <a:endParaRPr lang="en-US" dirty="0"/>
          </a:p>
        </p:txBody>
      </p:sp>
      <p:sp>
        <p:nvSpPr>
          <p:cNvPr id="3" name="Content Placeholder 2">
            <a:extLst>
              <a:ext uri="{FF2B5EF4-FFF2-40B4-BE49-F238E27FC236}">
                <a16:creationId xmlns:a16="http://schemas.microsoft.com/office/drawing/2014/main" id="{87B7354A-6B9D-AC2A-EB92-D84FFF0368B0}"/>
              </a:ext>
            </a:extLst>
          </p:cNvPr>
          <p:cNvSpPr>
            <a:spLocks noGrp="1"/>
          </p:cNvSpPr>
          <p:nvPr>
            <p:ph idx="1"/>
          </p:nvPr>
        </p:nvSpPr>
        <p:spPr/>
        <p:txBody>
          <a:bodyPr/>
          <a:lstStyle/>
          <a:p>
            <a:pPr algn="just"/>
            <a:r>
              <a:rPr lang="vi-VN" dirty="0"/>
              <a:t>Từ khóa của </a:t>
            </a:r>
            <a:r>
              <a:rPr lang="vi-VN" dirty="0" err="1"/>
              <a:t>java</a:t>
            </a:r>
            <a:r>
              <a:rPr lang="vi-VN" dirty="0"/>
              <a:t>, tên </a:t>
            </a:r>
            <a:r>
              <a:rPr lang="vi-VN" dirty="0" err="1"/>
              <a:t>package</a:t>
            </a:r>
            <a:r>
              <a:rPr lang="vi-VN" dirty="0"/>
              <a:t>: luôn viết chữ thường </a:t>
            </a:r>
            <a:endParaRPr lang="en-US" dirty="0"/>
          </a:p>
          <a:p>
            <a:pPr algn="just"/>
            <a:r>
              <a:rPr lang="vi-VN" dirty="0"/>
              <a:t>Tên biến và hàm: Viết hoa các chữ đầu của từ, trừ từ đầu tiên</a:t>
            </a:r>
            <a:endParaRPr lang="en-US" dirty="0"/>
          </a:p>
          <a:p>
            <a:pPr algn="just"/>
            <a:r>
              <a:rPr lang="vi-VN" dirty="0"/>
              <a:t>Tên </a:t>
            </a:r>
            <a:r>
              <a:rPr lang="vi-VN" dirty="0" err="1"/>
              <a:t>class</a:t>
            </a:r>
            <a:r>
              <a:rPr lang="vi-VN" dirty="0"/>
              <a:t> và </a:t>
            </a:r>
            <a:r>
              <a:rPr lang="vi-VN" dirty="0" err="1"/>
              <a:t>interface</a:t>
            </a:r>
            <a:r>
              <a:rPr lang="vi-VN" dirty="0"/>
              <a:t>: Viết hoa các chữ đầu của từ </a:t>
            </a:r>
            <a:endParaRPr lang="en-US" dirty="0"/>
          </a:p>
          <a:p>
            <a:pPr algn="just"/>
            <a:r>
              <a:rPr lang="vi-VN" dirty="0"/>
              <a:t>Tên hằng số: Viết hoa hoàn toàn</a:t>
            </a:r>
            <a:endParaRPr lang="en-US" dirty="0"/>
          </a:p>
        </p:txBody>
      </p:sp>
      <p:sp>
        <p:nvSpPr>
          <p:cNvPr id="4" name="Slide Number Placeholder 3">
            <a:extLst>
              <a:ext uri="{FF2B5EF4-FFF2-40B4-BE49-F238E27FC236}">
                <a16:creationId xmlns:a16="http://schemas.microsoft.com/office/drawing/2014/main" id="{B3407E66-14F1-21D3-55B8-8C2BCFB98D6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57</a:t>
            </a:fld>
            <a:endParaRPr lang="en-US" altLang="ja-JP"/>
          </a:p>
        </p:txBody>
      </p:sp>
    </p:spTree>
    <p:extLst>
      <p:ext uri="{BB962C8B-B14F-4D97-AF65-F5344CB8AC3E}">
        <p14:creationId xmlns:p14="http://schemas.microsoft.com/office/powerpoint/2010/main" val="42917460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9B45F-315A-331E-6D6C-BA2B90E25A61}"/>
              </a:ext>
            </a:extLst>
          </p:cNvPr>
          <p:cNvSpPr>
            <a:spLocks noGrp="1"/>
          </p:cNvSpPr>
          <p:nvPr>
            <p:ph type="title"/>
          </p:nvPr>
        </p:nvSpPr>
        <p:spPr/>
        <p:txBody>
          <a:bodyPr>
            <a:normAutofit fontScale="90000"/>
          </a:bodyPr>
          <a:lstStyle/>
          <a:p>
            <a:r>
              <a:rPr lang="en-US" altLang="ja-JP" dirty="0" err="1"/>
              <a:t>Gói</a:t>
            </a:r>
            <a:r>
              <a:rPr lang="en-US" altLang="ja-JP" dirty="0"/>
              <a:t> - packages </a:t>
            </a:r>
            <a:r>
              <a:rPr lang="en-US" altLang="ja-JP" dirty="0" err="1"/>
              <a:t>trong</a:t>
            </a:r>
            <a:r>
              <a:rPr lang="en-US" altLang="ja-JP" dirty="0"/>
              <a:t> Java </a:t>
            </a:r>
            <a:endParaRPr kumimoji="1" lang="ja-JP" altLang="en-US" dirty="0"/>
          </a:p>
        </p:txBody>
      </p:sp>
      <p:sp>
        <p:nvSpPr>
          <p:cNvPr id="3" name="Content Placeholder 2">
            <a:extLst>
              <a:ext uri="{FF2B5EF4-FFF2-40B4-BE49-F238E27FC236}">
                <a16:creationId xmlns:a16="http://schemas.microsoft.com/office/drawing/2014/main" id="{4A5952C4-195A-FDA3-6ADD-2CE1851C1F4B}"/>
              </a:ext>
            </a:extLst>
          </p:cNvPr>
          <p:cNvSpPr>
            <a:spLocks noGrp="1"/>
          </p:cNvSpPr>
          <p:nvPr>
            <p:ph idx="1"/>
          </p:nvPr>
        </p:nvSpPr>
        <p:spPr/>
        <p:txBody>
          <a:bodyPr>
            <a:normAutofit fontScale="62500" lnSpcReduction="20000"/>
          </a:bodyPr>
          <a:lstStyle/>
          <a:p>
            <a:pPr algn="just"/>
            <a:r>
              <a:rPr lang="vi-VN" altLang="ja-JP" dirty="0"/>
              <a:t>Trong Java, các gói (package) được sử dụng để tổ chức các lớp thành các không gian tên (namespace). Một gói là một tập hợp các lớp, giao diện, chú thích và kiểu liệt kê có liên quan được nhóm lại với nhau trong một đơn vị duy nhất. Ưu điểm của các gói được đề cập bên dưới:</a:t>
            </a:r>
            <a:endParaRPr lang="en-US" altLang="ja-JP" dirty="0"/>
          </a:p>
          <a:p>
            <a:pPr lvl="1" algn="just"/>
            <a:r>
              <a:rPr lang="en-US" altLang="ja-JP" dirty="0"/>
              <a:t>1. </a:t>
            </a:r>
            <a:r>
              <a:rPr lang="en-US" altLang="ja-JP" dirty="0" err="1"/>
              <a:t>Tổ</a:t>
            </a:r>
            <a:r>
              <a:rPr lang="en-US" altLang="ja-JP" dirty="0"/>
              <a:t> </a:t>
            </a:r>
            <a:r>
              <a:rPr lang="en-US" altLang="ja-JP" dirty="0" err="1"/>
              <a:t>chức</a:t>
            </a:r>
            <a:r>
              <a:rPr lang="en-US" altLang="ja-JP" dirty="0"/>
              <a:t> Code:  </a:t>
            </a:r>
            <a:r>
              <a:rPr lang="vi-VN" altLang="ja-JP" dirty="0"/>
              <a:t>Các gói giúp tổ chức các cơ sở mã lớn thành các đơn vị logic, giúp việc quản lý và bảo trì mã dễ dàng hơn.</a:t>
            </a:r>
            <a:endParaRPr lang="en-US" altLang="ja-JP" dirty="0"/>
          </a:p>
          <a:p>
            <a:pPr lvl="1" algn="just"/>
            <a:r>
              <a:rPr kumimoji="1" lang="en-US" altLang="ja-JP" dirty="0"/>
              <a:t>2. </a:t>
            </a:r>
            <a:r>
              <a:rPr lang="en-US" altLang="ja-JP" dirty="0"/>
              <a:t>Encapsulation – </a:t>
            </a:r>
            <a:r>
              <a:rPr lang="en-US" altLang="ja-JP" dirty="0" err="1"/>
              <a:t>Đóng</a:t>
            </a:r>
            <a:r>
              <a:rPr lang="en-US" altLang="ja-JP" dirty="0"/>
              <a:t> </a:t>
            </a:r>
            <a:r>
              <a:rPr lang="en-US" altLang="ja-JP" dirty="0" err="1"/>
              <a:t>gói</a:t>
            </a:r>
            <a:r>
              <a:rPr lang="en-US" altLang="ja-JP" dirty="0"/>
              <a:t>: Các </a:t>
            </a:r>
            <a:r>
              <a:rPr lang="en-US" altLang="ja-JP" dirty="0" err="1"/>
              <a:t>gói</a:t>
            </a:r>
            <a:r>
              <a:rPr lang="en-US" altLang="ja-JP" dirty="0"/>
              <a:t> (package) </a:t>
            </a:r>
            <a:r>
              <a:rPr lang="en-US" altLang="ja-JP" dirty="0" err="1"/>
              <a:t>cung</a:t>
            </a:r>
            <a:r>
              <a:rPr lang="en-US" altLang="ja-JP" dirty="0"/>
              <a:t> </a:t>
            </a:r>
            <a:r>
              <a:rPr lang="en-US" altLang="ja-JP" dirty="0" err="1"/>
              <a:t>cấp</a:t>
            </a:r>
            <a:r>
              <a:rPr lang="en-US" altLang="ja-JP" dirty="0"/>
              <a:t> </a:t>
            </a:r>
            <a:r>
              <a:rPr lang="en-US" altLang="ja-JP" dirty="0" err="1"/>
              <a:t>một</a:t>
            </a:r>
            <a:r>
              <a:rPr lang="en-US" altLang="ja-JP" dirty="0"/>
              <a:t> </a:t>
            </a:r>
            <a:r>
              <a:rPr lang="en-US" altLang="ja-JP" dirty="0" err="1"/>
              <a:t>cách</a:t>
            </a:r>
            <a:r>
              <a:rPr lang="en-US" altLang="ja-JP" dirty="0"/>
              <a:t> </a:t>
            </a:r>
            <a:r>
              <a:rPr lang="en-US" altLang="ja-JP" dirty="0" err="1"/>
              <a:t>để</a:t>
            </a:r>
            <a:r>
              <a:rPr lang="en-US" altLang="ja-JP" dirty="0"/>
              <a:t> </a:t>
            </a:r>
            <a:r>
              <a:rPr lang="en-US" altLang="ja-JP" dirty="0" err="1"/>
              <a:t>đóng</a:t>
            </a:r>
            <a:r>
              <a:rPr lang="en-US" altLang="ja-JP" dirty="0"/>
              <a:t> </a:t>
            </a:r>
            <a:r>
              <a:rPr lang="en-US" altLang="ja-JP" dirty="0" err="1"/>
              <a:t>gói</a:t>
            </a:r>
            <a:r>
              <a:rPr lang="en-US" altLang="ja-JP" dirty="0"/>
              <a:t> </a:t>
            </a:r>
            <a:r>
              <a:rPr lang="en-US" altLang="ja-JP" dirty="0" err="1"/>
              <a:t>các</a:t>
            </a:r>
            <a:r>
              <a:rPr lang="en-US" altLang="ja-JP" dirty="0"/>
              <a:t> </a:t>
            </a:r>
            <a:r>
              <a:rPr lang="en-US" altLang="ja-JP" dirty="0" err="1"/>
              <a:t>lớp</a:t>
            </a:r>
            <a:r>
              <a:rPr lang="en-US" altLang="ja-JP" dirty="0"/>
              <a:t> </a:t>
            </a:r>
            <a:r>
              <a:rPr lang="en-US" altLang="ja-JP" dirty="0" err="1"/>
              <a:t>và</a:t>
            </a:r>
            <a:r>
              <a:rPr lang="en-US" altLang="ja-JP" dirty="0"/>
              <a:t> </a:t>
            </a:r>
            <a:r>
              <a:rPr lang="en-US" altLang="ja-JP" dirty="0" err="1"/>
              <a:t>giao</a:t>
            </a:r>
            <a:r>
              <a:rPr lang="en-US" altLang="ja-JP" dirty="0"/>
              <a:t> </a:t>
            </a:r>
            <a:r>
              <a:rPr lang="en-US" altLang="ja-JP" dirty="0" err="1"/>
              <a:t>diện</a:t>
            </a:r>
            <a:r>
              <a:rPr lang="en-US" altLang="ja-JP" dirty="0"/>
              <a:t>, </a:t>
            </a:r>
            <a:r>
              <a:rPr lang="en-US" altLang="ja-JP" dirty="0" err="1"/>
              <a:t>che</a:t>
            </a:r>
            <a:r>
              <a:rPr lang="en-US" altLang="ja-JP" dirty="0"/>
              <a:t> </a:t>
            </a:r>
            <a:r>
              <a:rPr lang="en-US" altLang="ja-JP" dirty="0" err="1"/>
              <a:t>giấu</a:t>
            </a:r>
            <a:r>
              <a:rPr lang="en-US" altLang="ja-JP" dirty="0"/>
              <a:t> </a:t>
            </a:r>
            <a:r>
              <a:rPr lang="en-US" altLang="ja-JP" dirty="0" err="1"/>
              <a:t>các</a:t>
            </a:r>
            <a:r>
              <a:rPr lang="en-US" altLang="ja-JP" dirty="0"/>
              <a:t> chi </a:t>
            </a:r>
            <a:r>
              <a:rPr lang="en-US" altLang="ja-JP" dirty="0" err="1"/>
              <a:t>tiết</a:t>
            </a:r>
            <a:r>
              <a:rPr lang="en-US" altLang="ja-JP" dirty="0"/>
              <a:t> </a:t>
            </a:r>
            <a:r>
              <a:rPr lang="en-US" altLang="ja-JP" dirty="0" err="1"/>
              <a:t>triển</a:t>
            </a:r>
            <a:r>
              <a:rPr lang="en-US" altLang="ja-JP" dirty="0"/>
              <a:t> </a:t>
            </a:r>
            <a:r>
              <a:rPr lang="en-US" altLang="ja-JP" dirty="0" err="1"/>
              <a:t>khai</a:t>
            </a:r>
            <a:r>
              <a:rPr lang="en-US" altLang="ja-JP" dirty="0"/>
              <a:t> </a:t>
            </a:r>
            <a:r>
              <a:rPr lang="en-US" altLang="ja-JP" dirty="0" err="1"/>
              <a:t>khỏi</a:t>
            </a:r>
            <a:r>
              <a:rPr lang="en-US" altLang="ja-JP" dirty="0"/>
              <a:t> </a:t>
            </a:r>
            <a:r>
              <a:rPr lang="en-US" altLang="ja-JP" dirty="0" err="1"/>
              <a:t>các</a:t>
            </a:r>
            <a:r>
              <a:rPr lang="en-US" altLang="ja-JP" dirty="0"/>
              <a:t> </a:t>
            </a:r>
            <a:r>
              <a:rPr lang="en-US" altLang="ja-JP" dirty="0" err="1"/>
              <a:t>phần</a:t>
            </a:r>
            <a:r>
              <a:rPr lang="en-US" altLang="ja-JP" dirty="0"/>
              <a:t> </a:t>
            </a:r>
            <a:r>
              <a:rPr lang="en-US" altLang="ja-JP" dirty="0" err="1"/>
              <a:t>khác</a:t>
            </a:r>
            <a:r>
              <a:rPr lang="en-US" altLang="ja-JP" dirty="0"/>
              <a:t> </a:t>
            </a:r>
            <a:r>
              <a:rPr lang="en-US" altLang="ja-JP" dirty="0" err="1"/>
              <a:t>của</a:t>
            </a:r>
            <a:r>
              <a:rPr lang="en-US" altLang="ja-JP" dirty="0"/>
              <a:t> </a:t>
            </a:r>
            <a:r>
              <a:rPr lang="en-US" altLang="ja-JP" dirty="0" err="1"/>
              <a:t>mã</a:t>
            </a:r>
            <a:r>
              <a:rPr lang="en-US" altLang="ja-JP" dirty="0"/>
              <a:t>.</a:t>
            </a:r>
          </a:p>
          <a:p>
            <a:pPr lvl="1" algn="just"/>
            <a:r>
              <a:rPr lang="en-US" altLang="ja-JP" dirty="0"/>
              <a:t>3. </a:t>
            </a:r>
            <a:r>
              <a:rPr lang="en-US" altLang="ja-JP" dirty="0" err="1"/>
              <a:t>Kiểm</a:t>
            </a:r>
            <a:r>
              <a:rPr lang="en-US" altLang="ja-JP" dirty="0"/>
              <a:t> </a:t>
            </a:r>
            <a:r>
              <a:rPr lang="en-US" altLang="ja-JP" dirty="0" err="1"/>
              <a:t>soát</a:t>
            </a:r>
            <a:r>
              <a:rPr lang="en-US" altLang="ja-JP" dirty="0"/>
              <a:t> </a:t>
            </a:r>
            <a:r>
              <a:rPr lang="en-US" altLang="ja-JP" dirty="0" err="1"/>
              <a:t>truy</a:t>
            </a:r>
            <a:r>
              <a:rPr lang="en-US" altLang="ja-JP" dirty="0"/>
              <a:t> </a:t>
            </a:r>
            <a:r>
              <a:rPr lang="en-US" altLang="ja-JP" dirty="0" err="1"/>
              <a:t>cập</a:t>
            </a:r>
            <a:r>
              <a:rPr lang="en-US" altLang="ja-JP" dirty="0"/>
              <a:t>: </a:t>
            </a:r>
            <a:r>
              <a:rPr lang="vi-VN" altLang="ja-JP" dirty="0"/>
              <a:t>Các gói có thể được sử dụng để kiểm soát quyền truy cập vào các lớp và giao diện, bằng cách sử dụng các công cụ sửa đổi quyền truy cập như public, private, protected và default.</a:t>
            </a:r>
            <a:endParaRPr lang="en-US" altLang="ja-JP" dirty="0"/>
          </a:p>
          <a:p>
            <a:pPr lvl="1" algn="just"/>
            <a:r>
              <a:rPr lang="en-US" altLang="ja-JP" dirty="0"/>
              <a:t>4. </a:t>
            </a:r>
            <a:r>
              <a:rPr lang="en-US" altLang="ja-JP" dirty="0" err="1"/>
              <a:t>Namespacing</a:t>
            </a:r>
            <a:r>
              <a:rPr lang="en-US" altLang="ja-JP" dirty="0"/>
              <a:t> - </a:t>
            </a:r>
            <a:r>
              <a:rPr lang="en-US" altLang="ja-JP" dirty="0" err="1"/>
              <a:t>Không</a:t>
            </a:r>
            <a:r>
              <a:rPr lang="en-US" altLang="ja-JP" dirty="0"/>
              <a:t> </a:t>
            </a:r>
            <a:r>
              <a:rPr lang="en-US" altLang="ja-JP" dirty="0" err="1"/>
              <a:t>gian</a:t>
            </a:r>
            <a:r>
              <a:rPr lang="en-US" altLang="ja-JP" dirty="0"/>
              <a:t> </a:t>
            </a:r>
            <a:r>
              <a:rPr lang="en-US" altLang="ja-JP" dirty="0" err="1"/>
              <a:t>tên</a:t>
            </a:r>
            <a:r>
              <a:rPr lang="en-US" altLang="ja-JP" dirty="0"/>
              <a:t>: Các </a:t>
            </a:r>
            <a:r>
              <a:rPr lang="en-US" altLang="ja-JP" dirty="0" err="1"/>
              <a:t>gói</a:t>
            </a:r>
            <a:r>
              <a:rPr lang="en-US" altLang="ja-JP" dirty="0"/>
              <a:t> </a:t>
            </a:r>
            <a:r>
              <a:rPr lang="en-US" altLang="ja-JP" dirty="0" err="1"/>
              <a:t>cung</a:t>
            </a:r>
            <a:r>
              <a:rPr lang="en-US" altLang="ja-JP" dirty="0"/>
              <a:t> </a:t>
            </a:r>
            <a:r>
              <a:rPr lang="en-US" altLang="ja-JP" dirty="0" err="1"/>
              <a:t>cấp</a:t>
            </a:r>
            <a:r>
              <a:rPr lang="en-US" altLang="ja-JP" dirty="0"/>
              <a:t> </a:t>
            </a:r>
            <a:r>
              <a:rPr lang="en-US" altLang="ja-JP" dirty="0" err="1"/>
              <a:t>một</a:t>
            </a:r>
            <a:r>
              <a:rPr lang="en-US" altLang="ja-JP" dirty="0"/>
              <a:t> </a:t>
            </a:r>
            <a:r>
              <a:rPr lang="en-US" altLang="ja-JP" dirty="0" err="1"/>
              <a:t>cách</a:t>
            </a:r>
            <a:r>
              <a:rPr lang="en-US" altLang="ja-JP" dirty="0"/>
              <a:t> </a:t>
            </a:r>
            <a:r>
              <a:rPr lang="en-US" altLang="ja-JP" dirty="0" err="1"/>
              <a:t>để</a:t>
            </a:r>
            <a:r>
              <a:rPr lang="en-US" altLang="ja-JP" dirty="0"/>
              <a:t> </a:t>
            </a:r>
            <a:r>
              <a:rPr lang="en-US" altLang="ja-JP" dirty="0" err="1"/>
              <a:t>tránh</a:t>
            </a:r>
            <a:r>
              <a:rPr lang="en-US" altLang="ja-JP" dirty="0"/>
              <a:t> </a:t>
            </a:r>
            <a:r>
              <a:rPr lang="en-US" altLang="ja-JP" dirty="0" err="1"/>
              <a:t>xung</a:t>
            </a:r>
            <a:r>
              <a:rPr lang="en-US" altLang="ja-JP" dirty="0"/>
              <a:t> </a:t>
            </a:r>
            <a:r>
              <a:rPr lang="en-US" altLang="ja-JP" dirty="0" err="1"/>
              <a:t>đột</a:t>
            </a:r>
            <a:r>
              <a:rPr lang="en-US" altLang="ja-JP" dirty="0"/>
              <a:t> </a:t>
            </a:r>
            <a:r>
              <a:rPr lang="en-US" altLang="ja-JP" dirty="0" err="1"/>
              <a:t>tên</a:t>
            </a:r>
            <a:r>
              <a:rPr lang="en-US" altLang="ja-JP" dirty="0"/>
              <a:t> </a:t>
            </a:r>
            <a:r>
              <a:rPr lang="en-US" altLang="ja-JP" dirty="0" err="1"/>
              <a:t>giữa</a:t>
            </a:r>
            <a:r>
              <a:rPr lang="en-US" altLang="ja-JP" dirty="0"/>
              <a:t> </a:t>
            </a:r>
            <a:r>
              <a:rPr lang="en-US" altLang="ja-JP" dirty="0" err="1"/>
              <a:t>các</a:t>
            </a:r>
            <a:r>
              <a:rPr lang="en-US" altLang="ja-JP" dirty="0"/>
              <a:t> </a:t>
            </a:r>
            <a:r>
              <a:rPr lang="en-US" altLang="ja-JP" dirty="0" err="1"/>
              <a:t>lớp</a:t>
            </a:r>
            <a:r>
              <a:rPr lang="en-US" altLang="ja-JP" dirty="0"/>
              <a:t> </a:t>
            </a:r>
            <a:r>
              <a:rPr lang="en-US" altLang="ja-JP" dirty="0" err="1"/>
              <a:t>và</a:t>
            </a:r>
            <a:r>
              <a:rPr lang="en-US" altLang="ja-JP" dirty="0"/>
              <a:t> </a:t>
            </a:r>
            <a:r>
              <a:rPr lang="en-US" altLang="ja-JP" dirty="0" err="1"/>
              <a:t>giao</a:t>
            </a:r>
            <a:r>
              <a:rPr lang="en-US" altLang="ja-JP" dirty="0"/>
              <a:t> </a:t>
            </a:r>
            <a:r>
              <a:rPr lang="en-US" altLang="ja-JP" dirty="0" err="1"/>
              <a:t>diện</a:t>
            </a:r>
            <a:r>
              <a:rPr lang="en-US" altLang="ja-JP" dirty="0"/>
              <a:t>, </a:t>
            </a:r>
            <a:r>
              <a:rPr lang="en-US" altLang="ja-JP" dirty="0" err="1"/>
              <a:t>bằng</a:t>
            </a:r>
            <a:r>
              <a:rPr lang="en-US" altLang="ja-JP" dirty="0"/>
              <a:t> </a:t>
            </a:r>
            <a:r>
              <a:rPr lang="en-US" altLang="ja-JP" dirty="0" err="1"/>
              <a:t>cách</a:t>
            </a:r>
            <a:r>
              <a:rPr lang="en-US" altLang="ja-JP" dirty="0"/>
              <a:t> </a:t>
            </a:r>
            <a:r>
              <a:rPr lang="en-US" altLang="ja-JP" dirty="0" err="1"/>
              <a:t>gán</a:t>
            </a:r>
            <a:r>
              <a:rPr lang="en-US" altLang="ja-JP" dirty="0"/>
              <a:t> </a:t>
            </a:r>
            <a:r>
              <a:rPr lang="en-US" altLang="ja-JP" dirty="0" err="1"/>
              <a:t>cho</a:t>
            </a:r>
            <a:r>
              <a:rPr lang="en-US" altLang="ja-JP" dirty="0"/>
              <a:t> </a:t>
            </a:r>
            <a:r>
              <a:rPr lang="en-US" altLang="ja-JP" dirty="0" err="1"/>
              <a:t>chúng</a:t>
            </a:r>
            <a:r>
              <a:rPr lang="en-US" altLang="ja-JP" dirty="0"/>
              <a:t> </a:t>
            </a:r>
            <a:r>
              <a:rPr lang="en-US" altLang="ja-JP" dirty="0" err="1"/>
              <a:t>những</a:t>
            </a:r>
            <a:r>
              <a:rPr lang="en-US" altLang="ja-JP" dirty="0"/>
              <a:t> </a:t>
            </a:r>
            <a:r>
              <a:rPr lang="en-US" altLang="ja-JP" dirty="0" err="1"/>
              <a:t>tên</a:t>
            </a:r>
            <a:r>
              <a:rPr lang="en-US" altLang="ja-JP" dirty="0"/>
              <a:t> </a:t>
            </a:r>
            <a:r>
              <a:rPr lang="en-US" altLang="ja-JP" dirty="0" err="1"/>
              <a:t>duy</a:t>
            </a:r>
            <a:r>
              <a:rPr lang="en-US" altLang="ja-JP" dirty="0"/>
              <a:t> </a:t>
            </a:r>
            <a:r>
              <a:rPr lang="en-US" altLang="ja-JP" dirty="0" err="1"/>
              <a:t>nhất</a:t>
            </a:r>
            <a:r>
              <a:rPr lang="en-US" altLang="ja-JP" dirty="0"/>
              <a:t> </a:t>
            </a:r>
            <a:r>
              <a:rPr lang="en-US" altLang="ja-JP" dirty="0" err="1"/>
              <a:t>trong</a:t>
            </a:r>
            <a:r>
              <a:rPr lang="en-US" altLang="ja-JP" dirty="0"/>
              <a:t> </a:t>
            </a:r>
            <a:r>
              <a:rPr lang="en-US" altLang="ja-JP" dirty="0" err="1"/>
              <a:t>cùng</a:t>
            </a:r>
            <a:r>
              <a:rPr lang="en-US" altLang="ja-JP" dirty="0"/>
              <a:t> </a:t>
            </a:r>
            <a:r>
              <a:rPr lang="en-US" altLang="ja-JP" dirty="0" err="1"/>
              <a:t>một</a:t>
            </a:r>
            <a:r>
              <a:rPr lang="en-US" altLang="ja-JP" dirty="0"/>
              <a:t> </a:t>
            </a:r>
            <a:r>
              <a:rPr lang="en-US" altLang="ja-JP" dirty="0" err="1"/>
              <a:t>gói</a:t>
            </a:r>
            <a:r>
              <a:rPr lang="en-US" altLang="ja-JP" dirty="0"/>
              <a:t>.</a:t>
            </a:r>
          </a:p>
          <a:p>
            <a:pPr algn="just"/>
            <a:r>
              <a:rPr lang="vi-VN" altLang="ja-JP" dirty="0"/>
              <a:t>Nếu bạn không sử dụng câu lệnh package, kiểu dữ liệu của bạn sẽ nằm trong một package không tên hoặc package mặc định. Nói chung, package không tên hoặc package mặc định chỉ dành cho các ứng dụng nhỏ hoặc tạm thời, hoặc khi bạn mới bắt đầu quá trình phát triển. Ngược lại, các lớp, giao diện, chú thích và kiểu liệt kê (enum) thuộc về các package có tên.</a:t>
            </a:r>
            <a:endParaRPr kumimoji="1" lang="ja-JP" altLang="en-US" dirty="0"/>
          </a:p>
        </p:txBody>
      </p:sp>
      <p:sp>
        <p:nvSpPr>
          <p:cNvPr id="4" name="Slide Number Placeholder 3">
            <a:extLst>
              <a:ext uri="{FF2B5EF4-FFF2-40B4-BE49-F238E27FC236}">
                <a16:creationId xmlns:a16="http://schemas.microsoft.com/office/drawing/2014/main" id="{5DDD0028-C26E-9007-CB86-240BD15D018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58</a:t>
            </a:fld>
            <a:endParaRPr lang="en-US" altLang="ja-JP"/>
          </a:p>
        </p:txBody>
      </p:sp>
    </p:spTree>
    <p:extLst>
      <p:ext uri="{BB962C8B-B14F-4D97-AF65-F5344CB8AC3E}">
        <p14:creationId xmlns:p14="http://schemas.microsoft.com/office/powerpoint/2010/main" val="29847329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C041C-94D3-B7E9-06D4-7667505BCFB6}"/>
              </a:ext>
            </a:extLst>
          </p:cNvPr>
          <p:cNvSpPr>
            <a:spLocks noGrp="1"/>
          </p:cNvSpPr>
          <p:nvPr>
            <p:ph type="title"/>
          </p:nvPr>
        </p:nvSpPr>
        <p:spPr/>
        <p:txBody>
          <a:bodyPr>
            <a:normAutofit fontScale="90000"/>
          </a:bodyPr>
          <a:lstStyle/>
          <a:p>
            <a:r>
              <a:rPr lang="en-US" altLang="ja-JP" dirty="0" err="1"/>
              <a:t>Cấu</a:t>
            </a:r>
            <a:r>
              <a:rPr lang="en-US" altLang="ja-JP" dirty="0"/>
              <a:t> </a:t>
            </a:r>
            <a:r>
              <a:rPr lang="en-US" altLang="ja-JP" dirty="0" err="1"/>
              <a:t>trúc</a:t>
            </a:r>
            <a:r>
              <a:rPr lang="en-US" altLang="ja-JP" dirty="0"/>
              <a:t> </a:t>
            </a:r>
            <a:r>
              <a:rPr lang="en-US" altLang="ja-JP" dirty="0" err="1"/>
              <a:t>một</a:t>
            </a:r>
            <a:r>
              <a:rPr lang="en-US" altLang="ja-JP" dirty="0"/>
              <a:t> </a:t>
            </a:r>
            <a:r>
              <a:rPr lang="en-US" altLang="ja-JP" dirty="0" err="1"/>
              <a:t>dự</a:t>
            </a:r>
            <a:r>
              <a:rPr lang="en-US" altLang="ja-JP" dirty="0"/>
              <a:t> </a:t>
            </a:r>
            <a:r>
              <a:rPr lang="en-US" altLang="ja-JP" dirty="0" err="1"/>
              <a:t>án</a:t>
            </a:r>
            <a:r>
              <a:rPr lang="en-US" altLang="ja-JP" dirty="0"/>
              <a:t> Java</a:t>
            </a:r>
            <a:endParaRPr kumimoji="1" lang="ja-JP" altLang="en-US" dirty="0"/>
          </a:p>
        </p:txBody>
      </p:sp>
      <p:sp>
        <p:nvSpPr>
          <p:cNvPr id="3" name="Content Placeholder 2">
            <a:extLst>
              <a:ext uri="{FF2B5EF4-FFF2-40B4-BE49-F238E27FC236}">
                <a16:creationId xmlns:a16="http://schemas.microsoft.com/office/drawing/2014/main" id="{E28AD458-CF86-516B-953E-1073E91FE657}"/>
              </a:ext>
            </a:extLst>
          </p:cNvPr>
          <p:cNvSpPr>
            <a:spLocks noGrp="1"/>
          </p:cNvSpPr>
          <p:nvPr>
            <p:ph idx="1"/>
          </p:nvPr>
        </p:nvSpPr>
        <p:spPr/>
        <p:txBody>
          <a:bodyPr>
            <a:normAutofit fontScale="55000" lnSpcReduction="20000"/>
          </a:bodyPr>
          <a:lstStyle/>
          <a:p>
            <a:r>
              <a:rPr lang="vi-VN" altLang="ja-JP" dirty="0"/>
              <a:t>Module được giới thiệu cùng với JDK 9. Trước JDK 9, các gói (package) và kiểu (type) đã tồn tại, nhưng module không phải là một phần của cấu trúc. Module đóng vai trò là phương tiện tùy chọn để tổ chức mã, bổ sung cho các gói hiện có.</a:t>
            </a:r>
          </a:p>
          <a:p>
            <a:endParaRPr lang="vi-VN" altLang="ja-JP" dirty="0"/>
          </a:p>
          <a:p>
            <a:r>
              <a:rPr lang="vi-VN" altLang="ja-JP" dirty="0"/>
              <a:t>Một dự án Java bao gồm một hoặc nhiều module, mỗi module chứa không hoặc nhiều gói. Trong một gói, tồn tại một hoặc nhiều kiểu, với "kiểu" là thuật ngữ chung bao gồm các kiểu dữ liệu do người dùng định nghĩa. Bốn kiểu dữ liệu do người dùng định nghĩa chính là lớp (class), giao diện (interface), kiểu liệt kê (enum) và chú thích (annotation). Thông tin chi tiết hơn về giao diện, kiểu liệt kê và chú thích sẽ được chia sẻ trong các phần tiếp theo.</a:t>
            </a:r>
          </a:p>
          <a:p>
            <a:endParaRPr lang="vi-VN" altLang="ja-JP" dirty="0"/>
          </a:p>
          <a:p>
            <a:r>
              <a:rPr lang="vi-VN" altLang="ja-JP" dirty="0"/>
              <a:t>Hiểu về gói trong Java là điều bắt buộc vì mọi dự án thực tế đều nhóm các lớp, giao diện, v.v. của chúng vào các gói khác nhau để phục vụ các mục đích khác nhau. Đó là lý do tại sao chúng ta sẽ tập trung vào gói trong một vài bài giảng tiếp theo.</a:t>
            </a:r>
          </a:p>
          <a:p>
            <a:endParaRPr lang="vi-VN" altLang="ja-JP" dirty="0"/>
          </a:p>
          <a:p>
            <a:r>
              <a:rPr lang="vi-VN" altLang="ja-JP" dirty="0"/>
              <a:t>Vì module là tùy chọn và được giới thiệu như một phần của JDK 9, cho đến nay nhiều dự án thực tế vẫn chưa sử dụng module. Chúng ta sẽ nói về module trong các phần tiếp theo của khóa học, sau khi thảo luận về tất cả các kiến ​​thức cơ bản của Java.</a:t>
            </a:r>
            <a:endParaRPr kumimoji="1" lang="ja-JP" altLang="en-US" dirty="0"/>
          </a:p>
        </p:txBody>
      </p:sp>
      <p:sp>
        <p:nvSpPr>
          <p:cNvPr id="4" name="Slide Number Placeholder 3">
            <a:extLst>
              <a:ext uri="{FF2B5EF4-FFF2-40B4-BE49-F238E27FC236}">
                <a16:creationId xmlns:a16="http://schemas.microsoft.com/office/drawing/2014/main" id="{2194DAA2-2C07-1A33-1B83-6CEF1A99553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59</a:t>
            </a:fld>
            <a:endParaRPr lang="en-US" altLang="ja-JP"/>
          </a:p>
        </p:txBody>
      </p:sp>
    </p:spTree>
    <p:extLst>
      <p:ext uri="{BB962C8B-B14F-4D97-AF65-F5344CB8AC3E}">
        <p14:creationId xmlns:p14="http://schemas.microsoft.com/office/powerpoint/2010/main" val="406165682"/>
      </p:ext>
    </p:extLst>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22197</TotalTime>
  <Words>8296</Words>
  <Application>Microsoft Office PowerPoint</Application>
  <PresentationFormat>A4 Paper (210x297 mm)</PresentationFormat>
  <Paragraphs>1156</Paragraphs>
  <Slides>59</Slides>
  <Notes>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59</vt:i4>
      </vt:variant>
    </vt:vector>
  </HeadingPairs>
  <TitlesOfParts>
    <vt:vector size="72" baseType="lpstr">
      <vt:lpstr>HG丸ｺﾞｼｯｸM-PRO</vt:lpstr>
      <vt:lpstr>Meiryo UI</vt:lpstr>
      <vt:lpstr>ＭＳ Ｐゴシック</vt:lpstr>
      <vt:lpstr>MS UI Gothic</vt:lpstr>
      <vt:lpstr>ＭＳ ゴシック</vt:lpstr>
      <vt:lpstr>ヒラギノ明朝 Pro W6</vt:lpstr>
      <vt:lpstr>ADLaM Display</vt:lpstr>
      <vt:lpstr>Arial</vt:lpstr>
      <vt:lpstr>Segoe Script</vt:lpstr>
      <vt:lpstr>Times New Roman</vt:lpstr>
      <vt:lpstr>Wingdings</vt:lpstr>
      <vt:lpstr>標準デザイン</vt:lpstr>
      <vt:lpstr>デザインの設定</vt:lpstr>
      <vt:lpstr>Java Programming  </vt:lpstr>
      <vt:lpstr>Chapter 1: Giới thiệu Java</vt:lpstr>
      <vt:lpstr>Java là gì ?</vt:lpstr>
      <vt:lpstr>Java là gì</vt:lpstr>
      <vt:lpstr>PowerPoint Presentation</vt:lpstr>
      <vt:lpstr>PowerPoint Presentation</vt:lpstr>
      <vt:lpstr>Đặc trưng của Java</vt:lpstr>
      <vt:lpstr>Đặc trưng của JAVA</vt:lpstr>
      <vt:lpstr>Ứng dụng của Java</vt:lpstr>
      <vt:lpstr>Việc làm</vt:lpstr>
      <vt:lpstr>Học Java có lỗi thời không?</vt:lpstr>
      <vt:lpstr>Question and Answer</vt:lpstr>
      <vt:lpstr>Chapter 2: Cấu tạo cơ bản của program　</vt:lpstr>
      <vt:lpstr>Tạo program đơn giản</vt:lpstr>
      <vt:lpstr>Tạo source program</vt:lpstr>
      <vt:lpstr>Tạo program đơn giản</vt:lpstr>
      <vt:lpstr>Compile</vt:lpstr>
      <vt:lpstr>Execute</vt:lpstr>
      <vt:lpstr>Execute</vt:lpstr>
      <vt:lpstr>Cấu tạo cơ bản của program</vt:lpstr>
      <vt:lpstr>Khai báo biến và sử dụng biến</vt:lpstr>
      <vt:lpstr>Kiểu giá trị và kiểu tham chiếu</vt:lpstr>
      <vt:lpstr>Kiểu giá trị và kiểu tham chiếu</vt:lpstr>
      <vt:lpstr>Cấu tạo cơ bản của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Hằng số</vt:lpstr>
      <vt:lpstr>Kiểu giá trị và kiểu tham chiếu</vt:lpstr>
      <vt:lpstr>Chuỗi ký tự</vt:lpstr>
      <vt:lpstr>Chuỗi ký tự</vt:lpstr>
      <vt:lpstr>Chuỗi ký tự</vt:lpstr>
      <vt:lpstr>Mảng</vt:lpstr>
      <vt:lpstr>Mảng</vt:lpstr>
      <vt:lpstr>Mảng</vt:lpstr>
      <vt:lpstr>Phép toán</vt:lpstr>
      <vt:lpstr>PowerPoint Presentation</vt:lpstr>
      <vt:lpstr>Loại toán tử</vt:lpstr>
      <vt:lpstr>Toán tử số học</vt:lpstr>
      <vt:lpstr>Toán tử gán</vt:lpstr>
      <vt:lpstr>Toán tử increment/decrement</vt:lpstr>
      <vt:lpstr>Toán tử quan hệ</vt:lpstr>
      <vt:lpstr>Toán tử logic</vt:lpstr>
      <vt:lpstr>【Bổ sung】 Các toán tử khác</vt:lpstr>
      <vt:lpstr>Trật tự ưu tiên của toán tử</vt:lpstr>
      <vt:lpstr>Review</vt:lpstr>
      <vt:lpstr>Phép toán</vt:lpstr>
      <vt:lpstr>Phép toán</vt:lpstr>
      <vt:lpstr>Nhập và xuất dữ liệu</vt:lpstr>
      <vt:lpstr>Nhập dữ liệu từ bàn phím </vt:lpstr>
      <vt:lpstr>In dữ liệu ra màn hình</vt:lpstr>
      <vt:lpstr>Một số quy tắc đặt tên: </vt:lpstr>
      <vt:lpstr>Gói - packages trong Java </vt:lpstr>
      <vt:lpstr>Cấu trúc một dự án Java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454</cp:revision>
  <cp:lastPrinted>2018-04-10T08:59:30Z</cp:lastPrinted>
  <dcterms:created xsi:type="dcterms:W3CDTF">2025-05-21T02:38:07Z</dcterms:created>
  <dcterms:modified xsi:type="dcterms:W3CDTF">2026-08-03T01:50:03Z</dcterms:modified>
</cp:coreProperties>
</file>