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33"/>
  </p:notesMasterIdLst>
  <p:handoutMasterIdLst>
    <p:handoutMasterId r:id="rId34"/>
  </p:handoutMasterIdLst>
  <p:sldIdLst>
    <p:sldId id="689" r:id="rId3"/>
    <p:sldId id="260" r:id="rId4"/>
    <p:sldId id="257" r:id="rId5"/>
    <p:sldId id="258" r:id="rId6"/>
    <p:sldId id="259" r:id="rId7"/>
    <p:sldId id="705" r:id="rId8"/>
    <p:sldId id="696" r:id="rId9"/>
    <p:sldId id="698" r:id="rId10"/>
    <p:sldId id="695" r:id="rId11"/>
    <p:sldId id="699" r:id="rId12"/>
    <p:sldId id="700" r:id="rId13"/>
    <p:sldId id="690" r:id="rId14"/>
    <p:sldId id="692" r:id="rId15"/>
    <p:sldId id="706" r:id="rId16"/>
    <p:sldId id="708" r:id="rId17"/>
    <p:sldId id="691" r:id="rId18"/>
    <p:sldId id="693" r:id="rId19"/>
    <p:sldId id="702" r:id="rId20"/>
    <p:sldId id="703" r:id="rId21"/>
    <p:sldId id="704" r:id="rId22"/>
    <p:sldId id="718" r:id="rId23"/>
    <p:sldId id="719" r:id="rId24"/>
    <p:sldId id="720" r:id="rId25"/>
    <p:sldId id="721" r:id="rId26"/>
    <p:sldId id="717" r:id="rId27"/>
    <p:sldId id="711" r:id="rId28"/>
    <p:sldId id="712" r:id="rId29"/>
    <p:sldId id="713" r:id="rId30"/>
    <p:sldId id="714" r:id="rId31"/>
    <p:sldId id="716" r:id="rId32"/>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p:cViewPr varScale="1">
        <p:scale>
          <a:sx n="64" d="100"/>
          <a:sy n="64" d="100"/>
        </p:scale>
        <p:origin x="1434" y="78"/>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40096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955833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7340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97709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172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2026/9/30</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4" r:id="rId7"/>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61E3-7210-D801-C73E-18DF39FE6C40}"/>
              </a:ext>
            </a:extLst>
          </p:cNvPr>
          <p:cNvSpPr>
            <a:spLocks noGrp="1"/>
          </p:cNvSpPr>
          <p:nvPr>
            <p:ph type="ctrTitle"/>
          </p:nvPr>
        </p:nvSpPr>
        <p:spPr>
          <a:xfrm>
            <a:off x="0" y="2130425"/>
            <a:ext cx="9906000" cy="3584575"/>
          </a:xfrm>
        </p:spPr>
        <p:txBody>
          <a:bodyPr>
            <a:noAutofit/>
          </a:bodyPr>
          <a:lstStyle/>
          <a:p>
            <a:pPr algn="ctr" eaLnBrk="0" hangingPunct="0"/>
            <a:r>
              <a:rPr kumimoji="1" lang="en-US" altLang="ja-JP" dirty="0">
                <a:latin typeface="+mj-lt"/>
                <a:cs typeface="Times New Roman" panose="02020603050405020304" pitchFamily="18" charset="0"/>
              </a:rPr>
              <a:t>Functional Programming using</a:t>
            </a:r>
            <a:br>
              <a:rPr kumimoji="1" lang="en-US" altLang="ja-JP" dirty="0">
                <a:latin typeface="+mj-lt"/>
                <a:cs typeface="Times New Roman" panose="02020603050405020304" pitchFamily="18" charset="0"/>
              </a:rPr>
            </a:br>
            <a:r>
              <a:rPr kumimoji="1" lang="en-US" altLang="ja-JP" dirty="0">
                <a:latin typeface="+mj-lt"/>
                <a:cs typeface="Times New Roman" panose="02020603050405020304" pitchFamily="18" charset="0"/>
              </a:rPr>
              <a:t>Lambda Expression</a:t>
            </a:r>
            <a:br>
              <a:rPr kumimoji="1" lang="en-US" altLang="ja-JP" dirty="0">
                <a:latin typeface="+mj-lt"/>
                <a:cs typeface="Times New Roman" panose="02020603050405020304" pitchFamily="18" charset="0"/>
              </a:rPr>
            </a:br>
            <a:r>
              <a:rPr kumimoji="1" lang="en-US" altLang="ja-JP" dirty="0" err="1">
                <a:latin typeface="+mj-lt"/>
                <a:cs typeface="Times New Roman" panose="02020603050405020304" pitchFamily="18" charset="0"/>
              </a:rPr>
              <a:t>Lập</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trình</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chức</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năng</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sử</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dụng</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biểu</a:t>
            </a:r>
            <a:r>
              <a:rPr kumimoji="1" lang="en-US" altLang="ja-JP" dirty="0">
                <a:latin typeface="+mj-lt"/>
                <a:cs typeface="Times New Roman" panose="02020603050405020304" pitchFamily="18" charset="0"/>
              </a:rPr>
              <a:t> </a:t>
            </a:r>
            <a:r>
              <a:rPr kumimoji="1" lang="en-US" altLang="ja-JP" dirty="0" err="1">
                <a:latin typeface="+mj-lt"/>
                <a:cs typeface="Times New Roman" panose="02020603050405020304" pitchFamily="18" charset="0"/>
              </a:rPr>
              <a:t>thức</a:t>
            </a:r>
            <a:r>
              <a:rPr kumimoji="1" lang="en-US" altLang="ja-JP" dirty="0">
                <a:latin typeface="+mj-lt"/>
                <a:cs typeface="Times New Roman" panose="02020603050405020304" pitchFamily="18" charset="0"/>
              </a:rPr>
              <a:t> Lambda</a:t>
            </a:r>
            <a:endParaRPr kumimoji="1" lang="ja-JP" altLang="en-US" dirty="0">
              <a:latin typeface="+mj-lt"/>
              <a:cs typeface="Times New Roman" panose="02020603050405020304" pitchFamily="18" charset="0"/>
            </a:endParaRPr>
          </a:p>
        </p:txBody>
      </p:sp>
    </p:spTree>
    <p:extLst>
      <p:ext uri="{BB962C8B-B14F-4D97-AF65-F5344CB8AC3E}">
        <p14:creationId xmlns:p14="http://schemas.microsoft.com/office/powerpoint/2010/main" val="423293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3923" y="404664"/>
            <a:ext cx="8915400" cy="627698"/>
          </a:xfrm>
          <a:prstGeom prst="rect">
            <a:avLst/>
          </a:prstGeom>
          <a:noFill/>
          <a:ln/>
        </p:spPr>
        <p:txBody>
          <a:bodyPr wrap="square" rtlCol="0" anchor="ctr"/>
          <a:lstStyle/>
          <a:p>
            <a:r>
              <a:rPr lang="en-US" sz="3200" dirty="0">
                <a:solidFill>
                  <a:srgbClr val="1F4E79"/>
                </a:solidFill>
                <a:latin typeface="+mj-lt"/>
              </a:rPr>
              <a:t>OOP </a:t>
            </a:r>
            <a:r>
              <a:rPr lang="en-US" sz="3200" dirty="0" err="1">
                <a:solidFill>
                  <a:srgbClr val="1F4E79"/>
                </a:solidFill>
                <a:latin typeface="+mj-lt"/>
              </a:rPr>
              <a:t>và</a:t>
            </a:r>
            <a:r>
              <a:rPr lang="en-US" sz="3200" dirty="0">
                <a:solidFill>
                  <a:srgbClr val="1F4E79"/>
                </a:solidFill>
                <a:latin typeface="+mj-lt"/>
              </a:rPr>
              <a:t> Function Programming</a:t>
            </a:r>
            <a:endParaRPr lang="en-US" sz="3200" dirty="0">
              <a:latin typeface="+mj-lt"/>
            </a:endParaRPr>
          </a:p>
        </p:txBody>
      </p:sp>
      <p:sp>
        <p:nvSpPr>
          <p:cNvPr id="3" name="Text 1"/>
          <p:cNvSpPr/>
          <p:nvPr/>
        </p:nvSpPr>
        <p:spPr>
          <a:xfrm>
            <a:off x="382037" y="1398006"/>
            <a:ext cx="8848725" cy="2057400"/>
          </a:xfrm>
          <a:prstGeom prst="rect">
            <a:avLst/>
          </a:prstGeom>
          <a:noFill/>
          <a:ln/>
        </p:spPr>
        <p:txBody>
          <a:bodyPr wrap="square" rtlCol="0" anchor="ctr"/>
          <a:lstStyle/>
          <a:p>
            <a:pPr marL="457200" indent="-457200" algn="just">
              <a:buFont typeface="Arial" panose="020B0604020202020204" pitchFamily="34" charset="0"/>
              <a:buChar char="•"/>
            </a:pPr>
            <a:r>
              <a:rPr lang="en-US" sz="2800" dirty="0">
                <a:latin typeface="+mj-lt"/>
              </a:rPr>
              <a:t>OOP quản lý trạng thái và mô hình </a:t>
            </a:r>
            <a:r>
              <a:rPr lang="en-US" sz="2800" dirty="0" err="1">
                <a:latin typeface="+mj-lt"/>
              </a:rPr>
              <a:t>nghiệp</a:t>
            </a:r>
            <a:r>
              <a:rPr lang="en-US" sz="2800" dirty="0">
                <a:latin typeface="+mj-lt"/>
              </a:rPr>
              <a:t> </a:t>
            </a:r>
            <a:r>
              <a:rPr lang="en-US" sz="2800" dirty="0" err="1">
                <a:latin typeface="+mj-lt"/>
              </a:rPr>
              <a:t>vụ</a:t>
            </a:r>
            <a:endParaRPr lang="en-US" sz="2800" dirty="0">
              <a:latin typeface="+mj-lt"/>
            </a:endParaRPr>
          </a:p>
          <a:p>
            <a:pPr marL="457200" indent="-457200" algn="just">
              <a:buFont typeface="Arial" panose="020B0604020202020204" pitchFamily="34" charset="0"/>
              <a:buChar char="•"/>
            </a:pPr>
            <a:endParaRPr lang="en-US" sz="2800" dirty="0">
              <a:latin typeface="+mj-lt"/>
            </a:endParaRPr>
          </a:p>
          <a:p>
            <a:pPr marL="457200" indent="-457200" algn="just">
              <a:buFont typeface="Arial" panose="020B0604020202020204" pitchFamily="34" charset="0"/>
              <a:buChar char="•"/>
            </a:pPr>
            <a:r>
              <a:rPr lang="en-US" sz="2800" dirty="0">
                <a:latin typeface="+mj-lt"/>
              </a:rPr>
              <a:t>FP tối ưu cách xử lý </a:t>
            </a:r>
            <a:r>
              <a:rPr lang="en-US" sz="2800" dirty="0" err="1">
                <a:latin typeface="+mj-lt"/>
              </a:rPr>
              <a:t>dữ</a:t>
            </a:r>
            <a:r>
              <a:rPr lang="en-US" sz="2800" dirty="0">
                <a:latin typeface="+mj-lt"/>
              </a:rPr>
              <a:t> </a:t>
            </a:r>
            <a:r>
              <a:rPr lang="en-US" sz="2800" dirty="0" err="1">
                <a:latin typeface="+mj-lt"/>
              </a:rPr>
              <a:t>liệu</a:t>
            </a:r>
            <a:endParaRPr lang="en-US" sz="2800" dirty="0">
              <a:latin typeface="+mj-lt"/>
            </a:endParaRPr>
          </a:p>
          <a:p>
            <a:pPr marL="457200" indent="-457200" algn="just">
              <a:buFont typeface="Arial" panose="020B0604020202020204" pitchFamily="34" charset="0"/>
              <a:buChar char="•"/>
            </a:pPr>
            <a:endParaRPr lang="en-US" sz="2800" dirty="0">
              <a:latin typeface="+mj-lt"/>
            </a:endParaRPr>
          </a:p>
          <a:p>
            <a:pPr marL="457200" indent="-457200" algn="just">
              <a:buFont typeface="Arial" panose="020B0604020202020204" pitchFamily="34" charset="0"/>
              <a:buChar char="•"/>
            </a:pPr>
            <a:r>
              <a:rPr lang="en-US" sz="2800" dirty="0">
                <a:latin typeface="+mj-lt"/>
              </a:rPr>
              <a:t>Java hiện đại = OOP + FP</a:t>
            </a:r>
          </a:p>
        </p:txBody>
      </p:sp>
    </p:spTree>
    <p:extLst>
      <p:ext uri="{BB962C8B-B14F-4D97-AF65-F5344CB8AC3E}">
        <p14:creationId xmlns:p14="http://schemas.microsoft.com/office/powerpoint/2010/main" val="223843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336" y="535036"/>
            <a:ext cx="8915400" cy="371475"/>
          </a:xfrm>
          <a:prstGeom prst="rect">
            <a:avLst/>
          </a:prstGeom>
          <a:noFill/>
          <a:ln/>
        </p:spPr>
        <p:txBody>
          <a:bodyPr wrap="square" rtlCol="0" anchor="ctr"/>
          <a:lstStyle/>
          <a:p>
            <a:r>
              <a:rPr lang="en-US" sz="4000" dirty="0" err="1">
                <a:solidFill>
                  <a:srgbClr val="1F4E79"/>
                </a:solidFill>
                <a:latin typeface="+mj-lt"/>
              </a:rPr>
              <a:t>Nêu</a:t>
            </a:r>
            <a:r>
              <a:rPr lang="en-US" sz="4000" dirty="0">
                <a:solidFill>
                  <a:srgbClr val="1F4E79"/>
                </a:solidFill>
                <a:latin typeface="+mj-lt"/>
              </a:rPr>
              <a:t> </a:t>
            </a:r>
            <a:r>
              <a:rPr lang="en-US" sz="4000" dirty="0" err="1">
                <a:solidFill>
                  <a:srgbClr val="1F4E79"/>
                </a:solidFill>
                <a:latin typeface="+mj-lt"/>
              </a:rPr>
              <a:t>vấn</a:t>
            </a:r>
            <a:r>
              <a:rPr lang="en-US" sz="4000" dirty="0">
                <a:solidFill>
                  <a:srgbClr val="1F4E79"/>
                </a:solidFill>
                <a:latin typeface="+mj-lt"/>
              </a:rPr>
              <a:t> </a:t>
            </a:r>
            <a:r>
              <a:rPr lang="en-US" sz="4000" dirty="0" err="1">
                <a:solidFill>
                  <a:srgbClr val="1F4E79"/>
                </a:solidFill>
                <a:latin typeface="+mj-lt"/>
              </a:rPr>
              <a:t>đề</a:t>
            </a:r>
            <a:endParaRPr lang="en-US" sz="4000" dirty="0">
              <a:latin typeface="+mj-lt"/>
            </a:endParaRPr>
          </a:p>
        </p:txBody>
      </p:sp>
      <p:sp>
        <p:nvSpPr>
          <p:cNvPr id="3" name="Text 1"/>
          <p:cNvSpPr/>
          <p:nvPr/>
        </p:nvSpPr>
        <p:spPr>
          <a:xfrm>
            <a:off x="371474" y="1385888"/>
            <a:ext cx="8239125" cy="4481512"/>
          </a:xfrm>
          <a:prstGeom prst="rect">
            <a:avLst/>
          </a:prstGeom>
          <a:noFill/>
          <a:ln/>
        </p:spPr>
        <p:txBody>
          <a:bodyPr wrap="square" rtlCol="0" anchor="ctr"/>
          <a:lstStyle/>
          <a:p>
            <a:pPr algn="just"/>
            <a:endParaRPr lang="en-US" sz="2800" dirty="0">
              <a:latin typeface="+mj-lt"/>
            </a:endParaRPr>
          </a:p>
        </p:txBody>
      </p:sp>
      <p:sp>
        <p:nvSpPr>
          <p:cNvPr id="4" name="Text 2"/>
          <p:cNvSpPr/>
          <p:nvPr/>
        </p:nvSpPr>
        <p:spPr>
          <a:xfrm>
            <a:off x="594360" y="2128838"/>
            <a:ext cx="3714750" cy="1485900"/>
          </a:xfrm>
          <a:prstGeom prst="rect">
            <a:avLst/>
          </a:prstGeom>
          <a:noFill/>
          <a:ln/>
        </p:spPr>
        <p:txBody>
          <a:bodyPr wrap="square" rtlCol="0" anchor="ctr"/>
          <a:lstStyle/>
          <a:p>
            <a:endParaRPr lang="en-US" sz="1300" dirty="0"/>
          </a:p>
        </p:txBody>
      </p:sp>
      <p:sp>
        <p:nvSpPr>
          <p:cNvPr id="6" name="Content Placeholder 5">
            <a:extLst>
              <a:ext uri="{FF2B5EF4-FFF2-40B4-BE49-F238E27FC236}">
                <a16:creationId xmlns:a16="http://schemas.microsoft.com/office/drawing/2014/main" id="{4925B110-462A-4703-6ABD-77769467DF38}"/>
              </a:ext>
            </a:extLst>
          </p:cNvPr>
          <p:cNvSpPr>
            <a:spLocks noGrp="1"/>
          </p:cNvSpPr>
          <p:nvPr>
            <p:ph idx="1"/>
          </p:nvPr>
        </p:nvSpPr>
        <p:spPr>
          <a:xfrm>
            <a:off x="128464" y="1143000"/>
            <a:ext cx="9649072" cy="5328592"/>
          </a:xfrm>
        </p:spPr>
        <p:txBody>
          <a:bodyPr/>
          <a:lstStyle/>
          <a:p>
            <a:pPr algn="just">
              <a:buFont typeface="Arial" panose="020B0604020202020204" pitchFamily="34" charset="0"/>
              <a:buChar char="•"/>
            </a:pPr>
            <a:r>
              <a:rPr lang="en-US" altLang="ja-JP" dirty="0" err="1"/>
              <a:t>Ví</a:t>
            </a:r>
            <a:r>
              <a:rPr lang="en-US" altLang="ja-JP" dirty="0"/>
              <a:t> </a:t>
            </a:r>
            <a:r>
              <a:rPr lang="en-US" altLang="ja-JP" dirty="0" err="1"/>
              <a:t>dụ</a:t>
            </a:r>
            <a:r>
              <a:rPr lang="en-US" altLang="ja-JP" dirty="0"/>
              <a:t>: Danh </a:t>
            </a:r>
            <a:r>
              <a:rPr lang="en-US" altLang="ja-JP" dirty="0" err="1"/>
              <a:t>sách</a:t>
            </a:r>
            <a:r>
              <a:rPr lang="en-US" altLang="ja-JP" dirty="0"/>
              <a:t> </a:t>
            </a:r>
            <a:r>
              <a:rPr lang="en-US" altLang="ja-JP" dirty="0" err="1"/>
              <a:t>nhân</a:t>
            </a:r>
            <a:r>
              <a:rPr lang="en-US" altLang="ja-JP" dirty="0"/>
              <a:t> </a:t>
            </a:r>
            <a:r>
              <a:rPr lang="en-US" altLang="ja-JP" dirty="0" err="1"/>
              <a:t>viên</a:t>
            </a:r>
            <a:r>
              <a:rPr lang="en-US" altLang="ja-JP" dirty="0"/>
              <a:t> </a:t>
            </a:r>
            <a:r>
              <a:rPr lang="en-US" altLang="ja-JP" dirty="0">
                <a:sym typeface="Wingdings" panose="05000000000000000000" pitchFamily="2" charset="2"/>
              </a:rPr>
              <a:t></a:t>
            </a:r>
            <a:r>
              <a:rPr lang="en-US" altLang="ja-JP" dirty="0"/>
              <a:t> </a:t>
            </a:r>
            <a:r>
              <a:rPr lang="en-US" altLang="ja-JP" dirty="0" err="1"/>
              <a:t>Lọc</a:t>
            </a:r>
            <a:r>
              <a:rPr lang="en-US" altLang="ja-JP" dirty="0"/>
              <a:t> </a:t>
            </a:r>
            <a:r>
              <a:rPr lang="en-US" altLang="ja-JP" dirty="0" err="1"/>
              <a:t>nhân</a:t>
            </a:r>
            <a:r>
              <a:rPr lang="en-US" altLang="ja-JP" dirty="0"/>
              <a:t> </a:t>
            </a:r>
            <a:r>
              <a:rPr lang="en-US" altLang="ja-JP" dirty="0" err="1"/>
              <a:t>viên</a:t>
            </a:r>
            <a:r>
              <a:rPr lang="en-US" altLang="ja-JP" dirty="0"/>
              <a:t> </a:t>
            </a:r>
            <a:r>
              <a:rPr lang="en-US" altLang="ja-JP" dirty="0" err="1"/>
              <a:t>trên</a:t>
            </a:r>
            <a:r>
              <a:rPr lang="en-US" altLang="ja-JP" dirty="0"/>
              <a:t> 18 </a:t>
            </a:r>
            <a:r>
              <a:rPr lang="en-US" altLang="ja-JP" dirty="0" err="1"/>
              <a:t>tuổi</a:t>
            </a:r>
            <a:r>
              <a:rPr lang="en-US" altLang="ja-JP" dirty="0"/>
              <a:t> </a:t>
            </a:r>
            <a:r>
              <a:rPr lang="en-US" altLang="ja-JP" dirty="0">
                <a:sym typeface="Wingdings" panose="05000000000000000000" pitchFamily="2" charset="2"/>
              </a:rPr>
              <a:t></a:t>
            </a:r>
            <a:r>
              <a:rPr lang="en-US" altLang="ja-JP" dirty="0"/>
              <a:t> In </a:t>
            </a:r>
            <a:r>
              <a:rPr lang="en-US" altLang="ja-JP" dirty="0" err="1"/>
              <a:t>tên</a:t>
            </a:r>
            <a:endParaRPr lang="en-US" altLang="ja-JP" dirty="0"/>
          </a:p>
          <a:p>
            <a:pPr algn="just">
              <a:buFont typeface="Arial" panose="020B0604020202020204" pitchFamily="34" charset="0"/>
              <a:buChar char="•"/>
            </a:pPr>
            <a:endParaRPr lang="en-US" altLang="ja-JP" dirty="0"/>
          </a:p>
          <a:p>
            <a:pPr fontAlgn="t"/>
            <a:r>
              <a:rPr lang="ja-JP" altLang="ja-JP" b="1" dirty="0"/>
              <a:t>OOP trả lời: "Khách hàng là ai?"</a:t>
            </a:r>
            <a:endParaRPr lang="ja-JP" altLang="ja-JP" dirty="0"/>
          </a:p>
          <a:p>
            <a:pPr fontAlgn="t"/>
            <a:r>
              <a:rPr lang="ja-JP" altLang="ja-JP" b="1" dirty="0"/>
              <a:t>Functional Programming trả lời: "Xử lý khách hàng như thế nào?"</a:t>
            </a:r>
            <a:endParaRPr lang="ja-JP" altLang="ja-JP" dirty="0"/>
          </a:p>
          <a:p>
            <a:pPr algn="just"/>
            <a:endParaRPr lang="en-US" altLang="ja-JP" dirty="0"/>
          </a:p>
          <a:p>
            <a:endParaRPr lang="ja-JP" altLang="en-US" dirty="0"/>
          </a:p>
        </p:txBody>
      </p:sp>
    </p:spTree>
    <p:extLst>
      <p:ext uri="{BB962C8B-B14F-4D97-AF65-F5344CB8AC3E}">
        <p14:creationId xmlns:p14="http://schemas.microsoft.com/office/powerpoint/2010/main" val="113548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8464" y="529829"/>
            <a:ext cx="8915400" cy="371475"/>
          </a:xfrm>
          <a:prstGeom prst="rect">
            <a:avLst/>
          </a:prstGeom>
          <a:noFill/>
          <a:ln/>
        </p:spPr>
        <p:txBody>
          <a:bodyPr wrap="square" rtlCol="0" anchor="ctr"/>
          <a:lstStyle/>
          <a:p>
            <a:r>
              <a:rPr lang="en-US" sz="4000" dirty="0" err="1">
                <a:solidFill>
                  <a:srgbClr val="1F4E79"/>
                </a:solidFill>
                <a:latin typeface="+mj-lt"/>
              </a:rPr>
              <a:t>Tư</a:t>
            </a:r>
            <a:r>
              <a:rPr lang="en-US" sz="4000" dirty="0">
                <a:solidFill>
                  <a:srgbClr val="1F4E79"/>
                </a:solidFill>
                <a:latin typeface="+mj-lt"/>
              </a:rPr>
              <a:t> duy OOP</a:t>
            </a:r>
            <a:endParaRPr lang="en-US" sz="4000" dirty="0">
              <a:latin typeface="+mj-lt"/>
            </a:endParaRPr>
          </a:p>
        </p:txBody>
      </p:sp>
      <p:sp>
        <p:nvSpPr>
          <p:cNvPr id="3" name="Text 1"/>
          <p:cNvSpPr/>
          <p:nvPr/>
        </p:nvSpPr>
        <p:spPr>
          <a:xfrm>
            <a:off x="371475" y="1943100"/>
            <a:ext cx="9229725" cy="2971800"/>
          </a:xfrm>
          <a:prstGeom prst="rect">
            <a:avLst/>
          </a:prstGeom>
          <a:noFill/>
          <a:ln/>
        </p:spPr>
        <p:txBody>
          <a:bodyPr wrap="square" rtlCol="0" anchor="ctr"/>
          <a:lstStyle/>
          <a:p>
            <a:r>
              <a:rPr lang="en-US" sz="2800" dirty="0">
                <a:solidFill>
                  <a:srgbClr val="000000"/>
                </a:solidFill>
                <a:latin typeface="+mj-lt"/>
              </a:rPr>
              <a:t>• Class, Object</a:t>
            </a:r>
          </a:p>
          <a:p>
            <a:endParaRPr lang="en-US" sz="2800" dirty="0">
              <a:latin typeface="+mj-lt"/>
            </a:endParaRPr>
          </a:p>
          <a:p>
            <a:r>
              <a:rPr lang="en-US" sz="2800" dirty="0">
                <a:solidFill>
                  <a:srgbClr val="000000"/>
                </a:solidFill>
                <a:latin typeface="+mj-lt"/>
              </a:rPr>
              <a:t>• Encapsulation</a:t>
            </a:r>
          </a:p>
          <a:p>
            <a:endParaRPr lang="en-US" sz="2800" dirty="0">
              <a:latin typeface="+mj-lt"/>
            </a:endParaRPr>
          </a:p>
          <a:p>
            <a:r>
              <a:rPr lang="en-US" sz="2800" dirty="0">
                <a:solidFill>
                  <a:srgbClr val="000000"/>
                </a:solidFill>
                <a:latin typeface="+mj-lt"/>
              </a:rPr>
              <a:t>• Inheritance</a:t>
            </a:r>
          </a:p>
          <a:p>
            <a:endParaRPr lang="en-US" sz="2800" dirty="0">
              <a:latin typeface="+mj-lt"/>
            </a:endParaRPr>
          </a:p>
          <a:p>
            <a:r>
              <a:rPr lang="en-US" sz="2800" dirty="0">
                <a:solidFill>
                  <a:srgbClr val="000000"/>
                </a:solidFill>
                <a:latin typeface="+mj-lt"/>
              </a:rPr>
              <a:t>• Polymorphism</a:t>
            </a:r>
            <a:endParaRPr lang="en-US" sz="2800" dirty="0">
              <a:latin typeface="+mj-lt"/>
            </a:endParaRPr>
          </a:p>
          <a:p>
            <a:endParaRPr lang="en-US" sz="2800" dirty="0">
              <a:latin typeface="+mj-lt"/>
            </a:endParaRPr>
          </a:p>
          <a:p>
            <a:r>
              <a:rPr lang="en-US" sz="2800" dirty="0">
                <a:solidFill>
                  <a:srgbClr val="000000"/>
                </a:solidFill>
                <a:latin typeface="+mj-lt"/>
              </a:rPr>
              <a:t>Thế giới được mô hình hóa bằng đối tượng.</a:t>
            </a:r>
            <a:endParaRPr lang="en-US" sz="2800" dirty="0">
              <a:latin typeface="+mj-lt"/>
            </a:endParaRPr>
          </a:p>
        </p:txBody>
      </p:sp>
    </p:spTree>
    <p:extLst>
      <p:ext uri="{BB962C8B-B14F-4D97-AF65-F5344CB8AC3E}">
        <p14:creationId xmlns:p14="http://schemas.microsoft.com/office/powerpoint/2010/main" val="2154449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8464" y="553252"/>
            <a:ext cx="8915400" cy="371475"/>
          </a:xfrm>
          <a:prstGeom prst="rect">
            <a:avLst/>
          </a:prstGeom>
          <a:noFill/>
          <a:ln/>
        </p:spPr>
        <p:txBody>
          <a:bodyPr wrap="square" rtlCol="0" anchor="ctr"/>
          <a:lstStyle/>
          <a:p>
            <a:r>
              <a:rPr lang="en-US" sz="3200" dirty="0" err="1">
                <a:solidFill>
                  <a:srgbClr val="1F4E79"/>
                </a:solidFill>
                <a:latin typeface="+mj-lt"/>
              </a:rPr>
              <a:t>Tư</a:t>
            </a:r>
            <a:r>
              <a:rPr lang="en-US" sz="3200" dirty="0">
                <a:solidFill>
                  <a:srgbClr val="1F4E79"/>
                </a:solidFill>
                <a:latin typeface="+mj-lt"/>
              </a:rPr>
              <a:t> duy Functional Programming</a:t>
            </a:r>
            <a:endParaRPr lang="en-US" sz="3200" dirty="0">
              <a:latin typeface="+mj-lt"/>
            </a:endParaRPr>
          </a:p>
        </p:txBody>
      </p:sp>
      <p:sp>
        <p:nvSpPr>
          <p:cNvPr id="3" name="Text 1"/>
          <p:cNvSpPr/>
          <p:nvPr/>
        </p:nvSpPr>
        <p:spPr>
          <a:xfrm>
            <a:off x="371474" y="1385887"/>
            <a:ext cx="9001125" cy="4606289"/>
          </a:xfrm>
          <a:prstGeom prst="rect">
            <a:avLst/>
          </a:prstGeom>
          <a:noFill/>
          <a:ln/>
        </p:spPr>
        <p:txBody>
          <a:bodyPr wrap="square" rtlCol="0" anchor="ctr"/>
          <a:lstStyle/>
          <a:p>
            <a:r>
              <a:rPr lang="en-US" sz="2800" dirty="0">
                <a:solidFill>
                  <a:srgbClr val="000000"/>
                </a:solidFill>
                <a:latin typeface="+mj-lt"/>
              </a:rPr>
              <a:t>Input → Function → Output</a:t>
            </a:r>
            <a:endParaRPr lang="en-US" sz="2800" dirty="0">
              <a:latin typeface="+mj-lt"/>
            </a:endParaRPr>
          </a:p>
          <a:p>
            <a:endParaRPr lang="en-US" sz="2800" dirty="0">
              <a:latin typeface="+mj-lt"/>
            </a:endParaRPr>
          </a:p>
          <a:p>
            <a:r>
              <a:rPr lang="en-US" sz="2800" dirty="0">
                <a:solidFill>
                  <a:srgbClr val="000000"/>
                </a:solidFill>
                <a:latin typeface="+mj-lt"/>
              </a:rPr>
              <a:t>Đặc trưng:</a:t>
            </a:r>
            <a:endParaRPr lang="en-US" sz="2800" dirty="0">
              <a:latin typeface="+mj-lt"/>
            </a:endParaRPr>
          </a:p>
          <a:p>
            <a:r>
              <a:rPr lang="en-US" sz="2800" dirty="0">
                <a:solidFill>
                  <a:srgbClr val="000000"/>
                </a:solidFill>
                <a:latin typeface="+mj-lt"/>
              </a:rPr>
              <a:t>• Pure Function (</a:t>
            </a:r>
            <a:r>
              <a:rPr lang="en-US" sz="2800" dirty="0" err="1">
                <a:solidFill>
                  <a:srgbClr val="000000"/>
                </a:solidFill>
                <a:latin typeface="+mj-lt"/>
              </a:rPr>
              <a:t>Cùng</a:t>
            </a:r>
            <a:r>
              <a:rPr lang="en-US" sz="2800" dirty="0">
                <a:solidFill>
                  <a:srgbClr val="000000"/>
                </a:solidFill>
                <a:latin typeface="+mj-lt"/>
              </a:rPr>
              <a:t> Input </a:t>
            </a:r>
            <a:r>
              <a:rPr lang="en-US" sz="2800" dirty="0">
                <a:solidFill>
                  <a:srgbClr val="000000"/>
                </a:solidFill>
                <a:latin typeface="+mj-lt"/>
                <a:sym typeface="Wingdings" panose="05000000000000000000" pitchFamily="2" charset="2"/>
              </a:rPr>
              <a:t> </a:t>
            </a:r>
            <a:r>
              <a:rPr lang="en-US" sz="2800" dirty="0" err="1">
                <a:solidFill>
                  <a:srgbClr val="000000"/>
                </a:solidFill>
                <a:latin typeface="+mj-lt"/>
                <a:sym typeface="Wingdings" panose="05000000000000000000" pitchFamily="2" charset="2"/>
              </a:rPr>
              <a:t>Cùng</a:t>
            </a:r>
            <a:r>
              <a:rPr lang="en-US" sz="2800" dirty="0">
                <a:solidFill>
                  <a:srgbClr val="000000"/>
                </a:solidFill>
                <a:latin typeface="+mj-lt"/>
                <a:sym typeface="Wingdings" panose="05000000000000000000" pitchFamily="2" charset="2"/>
              </a:rPr>
              <a:t> Output)</a:t>
            </a:r>
          </a:p>
          <a:p>
            <a:endParaRPr lang="en-US" sz="2800" dirty="0">
              <a:latin typeface="+mj-lt"/>
            </a:endParaRPr>
          </a:p>
          <a:p>
            <a:r>
              <a:rPr lang="en-US" sz="2800" dirty="0">
                <a:solidFill>
                  <a:srgbClr val="000000"/>
                </a:solidFill>
                <a:latin typeface="+mj-lt"/>
              </a:rPr>
              <a:t>• Immutable Data (</a:t>
            </a:r>
            <a:r>
              <a:rPr lang="en-US" sz="2800" dirty="0" err="1">
                <a:solidFill>
                  <a:srgbClr val="000000"/>
                </a:solidFill>
                <a:latin typeface="+mj-lt"/>
              </a:rPr>
              <a:t>Dữ</a:t>
            </a:r>
            <a:r>
              <a:rPr lang="en-US" sz="2800" dirty="0">
                <a:solidFill>
                  <a:srgbClr val="000000"/>
                </a:solidFill>
                <a:latin typeface="+mj-lt"/>
              </a:rPr>
              <a:t> </a:t>
            </a:r>
            <a:r>
              <a:rPr lang="en-US" sz="2800" dirty="0" err="1">
                <a:solidFill>
                  <a:srgbClr val="000000"/>
                </a:solidFill>
                <a:latin typeface="+mj-lt"/>
              </a:rPr>
              <a:t>liệu</a:t>
            </a:r>
            <a:r>
              <a:rPr lang="en-US" sz="2800" dirty="0">
                <a:solidFill>
                  <a:srgbClr val="000000"/>
                </a:solidFill>
                <a:latin typeface="+mj-lt"/>
              </a:rPr>
              <a:t> </a:t>
            </a:r>
            <a:r>
              <a:rPr lang="en-US" sz="2800" dirty="0" err="1">
                <a:solidFill>
                  <a:srgbClr val="000000"/>
                </a:solidFill>
                <a:latin typeface="+mj-lt"/>
              </a:rPr>
              <a:t>bất</a:t>
            </a:r>
            <a:r>
              <a:rPr lang="en-US" sz="2800" dirty="0">
                <a:solidFill>
                  <a:srgbClr val="000000"/>
                </a:solidFill>
                <a:latin typeface="+mj-lt"/>
              </a:rPr>
              <a:t> </a:t>
            </a:r>
            <a:r>
              <a:rPr lang="en-US" sz="2800" dirty="0" err="1">
                <a:solidFill>
                  <a:srgbClr val="000000"/>
                </a:solidFill>
                <a:latin typeface="+mj-lt"/>
              </a:rPr>
              <a:t>biến</a:t>
            </a:r>
            <a:r>
              <a:rPr lang="en-US" sz="2800" dirty="0">
                <a:solidFill>
                  <a:srgbClr val="000000"/>
                </a:solidFill>
                <a:latin typeface="+mj-lt"/>
              </a:rPr>
              <a:t>)</a:t>
            </a:r>
          </a:p>
          <a:p>
            <a:endParaRPr lang="en-US" sz="2800" dirty="0">
              <a:latin typeface="+mj-lt"/>
            </a:endParaRPr>
          </a:p>
          <a:p>
            <a:r>
              <a:rPr lang="en-US" sz="2800" dirty="0">
                <a:solidFill>
                  <a:srgbClr val="000000"/>
                </a:solidFill>
                <a:latin typeface="+mj-lt"/>
              </a:rPr>
              <a:t>• Higher-order Function (</a:t>
            </a:r>
            <a:r>
              <a:rPr lang="en-US" sz="2800" dirty="0" err="1">
                <a:solidFill>
                  <a:srgbClr val="000000"/>
                </a:solidFill>
                <a:latin typeface="+mj-lt"/>
              </a:rPr>
              <a:t>Nhận</a:t>
            </a:r>
            <a:r>
              <a:rPr lang="en-US" sz="2800" dirty="0">
                <a:solidFill>
                  <a:srgbClr val="000000"/>
                </a:solidFill>
                <a:latin typeface="+mj-lt"/>
              </a:rPr>
              <a:t> </a:t>
            </a:r>
            <a:r>
              <a:rPr lang="en-US" sz="2800" dirty="0" err="1">
                <a:solidFill>
                  <a:srgbClr val="000000"/>
                </a:solidFill>
                <a:latin typeface="+mj-lt"/>
              </a:rPr>
              <a:t>hàm</a:t>
            </a:r>
            <a:r>
              <a:rPr lang="en-US" sz="2800" dirty="0">
                <a:solidFill>
                  <a:srgbClr val="000000"/>
                </a:solidFill>
                <a:latin typeface="+mj-lt"/>
              </a:rPr>
              <a:t> </a:t>
            </a:r>
            <a:r>
              <a:rPr lang="en-US" sz="2800" dirty="0" err="1">
                <a:solidFill>
                  <a:srgbClr val="000000"/>
                </a:solidFill>
                <a:latin typeface="+mj-lt"/>
              </a:rPr>
              <a:t>khác</a:t>
            </a:r>
            <a:r>
              <a:rPr lang="en-US" sz="2800" dirty="0">
                <a:solidFill>
                  <a:srgbClr val="000000"/>
                </a:solidFill>
                <a:latin typeface="+mj-lt"/>
              </a:rPr>
              <a:t> </a:t>
            </a:r>
            <a:r>
              <a:rPr lang="en-US" sz="2800" dirty="0" err="1">
                <a:solidFill>
                  <a:srgbClr val="000000"/>
                </a:solidFill>
                <a:latin typeface="+mj-lt"/>
              </a:rPr>
              <a:t>làm</a:t>
            </a:r>
            <a:r>
              <a:rPr lang="en-US" sz="2800" dirty="0">
                <a:solidFill>
                  <a:srgbClr val="000000"/>
                </a:solidFill>
                <a:latin typeface="+mj-lt"/>
              </a:rPr>
              <a:t> </a:t>
            </a:r>
            <a:r>
              <a:rPr lang="en-US" sz="2800" dirty="0" err="1">
                <a:solidFill>
                  <a:srgbClr val="000000"/>
                </a:solidFill>
                <a:latin typeface="+mj-lt"/>
              </a:rPr>
              <a:t>đối</a:t>
            </a:r>
            <a:r>
              <a:rPr lang="en-US" sz="2800" dirty="0">
                <a:solidFill>
                  <a:srgbClr val="000000"/>
                </a:solidFill>
                <a:latin typeface="+mj-lt"/>
              </a:rPr>
              <a:t> </a:t>
            </a:r>
            <a:r>
              <a:rPr lang="en-US" sz="2800" dirty="0" err="1">
                <a:solidFill>
                  <a:srgbClr val="000000"/>
                </a:solidFill>
                <a:latin typeface="+mj-lt"/>
              </a:rPr>
              <a:t>số</a:t>
            </a:r>
            <a:r>
              <a:rPr lang="en-US" sz="2800" dirty="0">
                <a:solidFill>
                  <a:srgbClr val="000000"/>
                </a:solidFill>
                <a:latin typeface="+mj-lt"/>
              </a:rPr>
              <a:t>)</a:t>
            </a:r>
          </a:p>
          <a:p>
            <a:endParaRPr lang="en-US" sz="2800" dirty="0">
              <a:latin typeface="+mj-lt"/>
            </a:endParaRPr>
          </a:p>
          <a:p>
            <a:r>
              <a:rPr lang="en-US" sz="2800" dirty="0">
                <a:solidFill>
                  <a:srgbClr val="000000"/>
                </a:solidFill>
                <a:latin typeface="+mj-lt"/>
              </a:rPr>
              <a:t>• Lambda Expression (</a:t>
            </a:r>
            <a:r>
              <a:rPr lang="en-US" sz="2800" dirty="0" err="1">
                <a:solidFill>
                  <a:srgbClr val="000000"/>
                </a:solidFill>
                <a:latin typeface="+mj-lt"/>
              </a:rPr>
              <a:t>Cách</a:t>
            </a:r>
            <a:r>
              <a:rPr lang="en-US" sz="2800" dirty="0">
                <a:solidFill>
                  <a:srgbClr val="000000"/>
                </a:solidFill>
                <a:latin typeface="+mj-lt"/>
              </a:rPr>
              <a:t> </a:t>
            </a:r>
            <a:r>
              <a:rPr lang="en-US" sz="2800" dirty="0" err="1">
                <a:solidFill>
                  <a:srgbClr val="000000"/>
                </a:solidFill>
                <a:latin typeface="+mj-lt"/>
              </a:rPr>
              <a:t>viết</a:t>
            </a:r>
            <a:r>
              <a:rPr lang="en-US" sz="2800" dirty="0">
                <a:solidFill>
                  <a:srgbClr val="000000"/>
                </a:solidFill>
                <a:latin typeface="+mj-lt"/>
              </a:rPr>
              <a:t> </a:t>
            </a:r>
            <a:r>
              <a:rPr lang="en-US" sz="2800" dirty="0" err="1">
                <a:solidFill>
                  <a:srgbClr val="000000"/>
                </a:solidFill>
                <a:latin typeface="+mj-lt"/>
              </a:rPr>
              <a:t>ngắn</a:t>
            </a:r>
            <a:r>
              <a:rPr lang="en-US" sz="2800" dirty="0">
                <a:solidFill>
                  <a:srgbClr val="000000"/>
                </a:solidFill>
                <a:latin typeface="+mj-lt"/>
              </a:rPr>
              <a:t> </a:t>
            </a:r>
            <a:r>
              <a:rPr lang="en-US" sz="2800" dirty="0" err="1">
                <a:solidFill>
                  <a:srgbClr val="000000"/>
                </a:solidFill>
                <a:latin typeface="+mj-lt"/>
              </a:rPr>
              <a:t>gọn</a:t>
            </a:r>
            <a:r>
              <a:rPr lang="en-US" sz="2800" dirty="0">
                <a:solidFill>
                  <a:srgbClr val="000000"/>
                </a:solidFill>
                <a:latin typeface="+mj-lt"/>
              </a:rPr>
              <a:t> </a:t>
            </a:r>
            <a:r>
              <a:rPr lang="en-US" sz="2800" dirty="0" err="1">
                <a:solidFill>
                  <a:srgbClr val="000000"/>
                </a:solidFill>
                <a:latin typeface="+mj-lt"/>
              </a:rPr>
              <a:t>một</a:t>
            </a:r>
            <a:r>
              <a:rPr lang="en-US" sz="2800" dirty="0">
                <a:solidFill>
                  <a:srgbClr val="000000"/>
                </a:solidFill>
                <a:latin typeface="+mj-lt"/>
              </a:rPr>
              <a:t> </a:t>
            </a:r>
            <a:r>
              <a:rPr lang="en-US" sz="2800" dirty="0" err="1">
                <a:solidFill>
                  <a:srgbClr val="000000"/>
                </a:solidFill>
                <a:latin typeface="+mj-lt"/>
              </a:rPr>
              <a:t>hàm</a:t>
            </a:r>
            <a:r>
              <a:rPr lang="en-US" sz="2800" dirty="0">
                <a:solidFill>
                  <a:srgbClr val="000000"/>
                </a:solidFill>
                <a:latin typeface="+mj-lt"/>
              </a:rPr>
              <a:t>)</a:t>
            </a:r>
            <a:endParaRPr lang="en-US" sz="2800" dirty="0">
              <a:latin typeface="+mj-lt"/>
            </a:endParaRPr>
          </a:p>
        </p:txBody>
      </p:sp>
    </p:spTree>
    <p:extLst>
      <p:ext uri="{BB962C8B-B14F-4D97-AF65-F5344CB8AC3E}">
        <p14:creationId xmlns:p14="http://schemas.microsoft.com/office/powerpoint/2010/main" val="2703959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234C5-78B9-B565-9D4A-711575D9C0EA}"/>
              </a:ext>
            </a:extLst>
          </p:cNvPr>
          <p:cNvSpPr>
            <a:spLocks noGrp="1"/>
          </p:cNvSpPr>
          <p:nvPr>
            <p:ph type="title"/>
          </p:nvPr>
        </p:nvSpPr>
        <p:spPr/>
        <p:txBody>
          <a:bodyPr>
            <a:normAutofit fontScale="90000"/>
          </a:bodyPr>
          <a:lstStyle/>
          <a:p>
            <a:r>
              <a:rPr lang="en-US" altLang="ja-JP" dirty="0">
                <a:cs typeface="Times New Roman" panose="02020603050405020304" pitchFamily="18" charset="0"/>
              </a:rPr>
              <a:t>Functional Programming</a:t>
            </a:r>
            <a:endParaRPr kumimoji="1" lang="ja-JP" altLang="en-US" dirty="0"/>
          </a:p>
        </p:txBody>
      </p:sp>
      <p:sp>
        <p:nvSpPr>
          <p:cNvPr id="3" name="Content Placeholder 2">
            <a:extLst>
              <a:ext uri="{FF2B5EF4-FFF2-40B4-BE49-F238E27FC236}">
                <a16:creationId xmlns:a16="http://schemas.microsoft.com/office/drawing/2014/main" id="{46658083-7D95-D5C0-DD34-9F58633D50F8}"/>
              </a:ext>
            </a:extLst>
          </p:cNvPr>
          <p:cNvSpPr>
            <a:spLocks noGrp="1"/>
          </p:cNvSpPr>
          <p:nvPr>
            <p:ph idx="1"/>
          </p:nvPr>
        </p:nvSpPr>
        <p:spPr/>
        <p:txBody>
          <a:bodyPr>
            <a:normAutofit/>
          </a:bodyPr>
          <a:lstStyle/>
          <a:p>
            <a:r>
              <a:rPr lang="en-US" altLang="ja-JP" dirty="0" err="1"/>
              <a:t>Từ</a:t>
            </a:r>
            <a:r>
              <a:rPr lang="en-US" altLang="ja-JP" dirty="0"/>
              <a:t> Java 8 h</a:t>
            </a:r>
            <a:r>
              <a:rPr lang="ja-JP" altLang="ja-JP" dirty="0"/>
              <a:t>ỗ trợ lập trình chức năng thông qua các biểu thức lambda. </a:t>
            </a:r>
            <a:endParaRPr lang="en-US" altLang="ja-JP" dirty="0"/>
          </a:p>
          <a:p>
            <a:endParaRPr lang="en-US" altLang="ja-JP" dirty="0"/>
          </a:p>
          <a:p>
            <a:r>
              <a:rPr lang="ja-JP" altLang="ja-JP" dirty="0"/>
              <a:t>Trước Java 8, viết mã theo phong cách bắt buộc</a:t>
            </a:r>
            <a:r>
              <a:rPr lang="en-US" altLang="ja-JP" dirty="0"/>
              <a:t> (</a:t>
            </a:r>
            <a:r>
              <a:rPr lang="ja-JP" altLang="ja-JP" dirty="0"/>
              <a:t>Imperative Programming</a:t>
            </a:r>
            <a:r>
              <a:rPr lang="en-US" altLang="ja-JP" dirty="0"/>
              <a:t>)</a:t>
            </a:r>
            <a:r>
              <a:rPr lang="ja-JP" altLang="ja-JP" dirty="0"/>
              <a:t>. </a:t>
            </a:r>
            <a:endParaRPr lang="en-US" altLang="ja-JP" dirty="0"/>
          </a:p>
          <a:p>
            <a:endParaRPr lang="en-US" altLang="ja-JP" dirty="0"/>
          </a:p>
          <a:p>
            <a:r>
              <a:rPr lang="ja-JP" altLang="ja-JP" dirty="0"/>
              <a:t>Nhưng sau Java 8, </a:t>
            </a:r>
            <a:r>
              <a:rPr lang="en-US" altLang="ja-JP" dirty="0" err="1"/>
              <a:t>phong</a:t>
            </a:r>
            <a:r>
              <a:rPr lang="en-US" altLang="ja-JP" dirty="0"/>
              <a:t> </a:t>
            </a:r>
            <a:r>
              <a:rPr lang="en-US" altLang="ja-JP" dirty="0" err="1"/>
              <a:t>cách</a:t>
            </a:r>
            <a:r>
              <a:rPr lang="en-US" altLang="ja-JP" dirty="0"/>
              <a:t> </a:t>
            </a:r>
            <a:r>
              <a:rPr lang="ja-JP" altLang="ja-JP" dirty="0"/>
              <a:t>thay đổi hướng tới lập trình chức năng</a:t>
            </a:r>
            <a:endParaRPr lang="en-US" altLang="ja-JP" dirty="0"/>
          </a:p>
        </p:txBody>
      </p:sp>
      <p:sp>
        <p:nvSpPr>
          <p:cNvPr id="4" name="Slide Number Placeholder 3">
            <a:extLst>
              <a:ext uri="{FF2B5EF4-FFF2-40B4-BE49-F238E27FC236}">
                <a16:creationId xmlns:a16="http://schemas.microsoft.com/office/drawing/2014/main" id="{FF59DDF5-315B-1C02-05E9-1A69D8A23DB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6</a:t>
            </a:fld>
            <a:endParaRPr lang="en-US" altLang="ja-JP"/>
          </a:p>
        </p:txBody>
      </p:sp>
    </p:spTree>
    <p:extLst>
      <p:ext uri="{BB962C8B-B14F-4D97-AF65-F5344CB8AC3E}">
        <p14:creationId xmlns:p14="http://schemas.microsoft.com/office/powerpoint/2010/main" val="3424131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6DBB-B1EC-D6DD-5B14-46FF636EC219}"/>
              </a:ext>
            </a:extLst>
          </p:cNvPr>
          <p:cNvSpPr>
            <a:spLocks noGrp="1"/>
          </p:cNvSpPr>
          <p:nvPr>
            <p:ph type="title"/>
          </p:nvPr>
        </p:nvSpPr>
        <p:spPr/>
        <p:txBody>
          <a:bodyPr>
            <a:normAutofit fontScale="90000"/>
          </a:bodyPr>
          <a:lstStyle/>
          <a:p>
            <a:r>
              <a:rPr kumimoji="1" lang="en-US" altLang="ja-JP" dirty="0"/>
              <a:t>Phong </a:t>
            </a:r>
            <a:r>
              <a:rPr kumimoji="1" lang="en-US" altLang="ja-JP" dirty="0" err="1"/>
              <a:t>cách</a:t>
            </a:r>
            <a:r>
              <a:rPr kumimoji="1" lang="en-US" altLang="ja-JP" dirty="0"/>
              <a:t> </a:t>
            </a:r>
            <a:r>
              <a:rPr kumimoji="1" lang="en-US" altLang="ja-JP" dirty="0" err="1"/>
              <a:t>lập</a:t>
            </a:r>
            <a:r>
              <a:rPr kumimoji="1" lang="en-US" altLang="ja-JP" dirty="0"/>
              <a:t> </a:t>
            </a:r>
            <a:r>
              <a:rPr kumimoji="1" lang="en-US" altLang="ja-JP" dirty="0" err="1"/>
              <a:t>trình</a:t>
            </a:r>
            <a:endParaRPr kumimoji="1" lang="ja-JP" altLang="en-US" dirty="0"/>
          </a:p>
        </p:txBody>
      </p:sp>
      <p:sp>
        <p:nvSpPr>
          <p:cNvPr id="3" name="Content Placeholder 2">
            <a:extLst>
              <a:ext uri="{FF2B5EF4-FFF2-40B4-BE49-F238E27FC236}">
                <a16:creationId xmlns:a16="http://schemas.microsoft.com/office/drawing/2014/main" id="{C7F255E4-67E0-329D-54BB-8DEDC0E2F202}"/>
              </a:ext>
            </a:extLst>
          </p:cNvPr>
          <p:cNvSpPr>
            <a:spLocks noGrp="1"/>
          </p:cNvSpPr>
          <p:nvPr>
            <p:ph idx="1"/>
          </p:nvPr>
        </p:nvSpPr>
        <p:spPr/>
        <p:txBody>
          <a:bodyPr/>
          <a:lstStyle/>
          <a:p>
            <a:r>
              <a:rPr lang="ja-JP" altLang="ja-JP" dirty="0"/>
              <a:t>Imperative Programming (Lập trình mệnh lệnh)</a:t>
            </a:r>
            <a:endParaRPr lang="en-US" altLang="ja-JP" dirty="0"/>
          </a:p>
          <a:p>
            <a:pPr lvl="1"/>
            <a:r>
              <a:rPr lang="en-US" altLang="ja-JP" dirty="0"/>
              <a:t>C</a:t>
            </a:r>
            <a:r>
              <a:rPr lang="ja-JP" altLang="ja-JP" dirty="0"/>
              <a:t>hỉ rõ từng bước để máy tính thực hiện.</a:t>
            </a:r>
            <a:endParaRPr lang="en-US" altLang="ja-JP" dirty="0"/>
          </a:p>
          <a:p>
            <a:r>
              <a:rPr lang="ja-JP" altLang="ja-JP" dirty="0"/>
              <a:t>Declarative Programming (Lập trình khai báo)</a:t>
            </a:r>
            <a:endParaRPr lang="en-US" altLang="ja-JP" dirty="0"/>
          </a:p>
          <a:p>
            <a:pPr lvl="1"/>
            <a:r>
              <a:rPr lang="en-US" altLang="ja-JP" dirty="0"/>
              <a:t>M</a:t>
            </a:r>
            <a:r>
              <a:rPr lang="ja-JP" altLang="ja-JP" dirty="0"/>
              <a:t>ô tả kết quả mong muốn, còn hệ thống tự quyết định cách thực hiện.</a:t>
            </a:r>
          </a:p>
          <a:p>
            <a:pPr lvl="1"/>
            <a:endParaRPr lang="ja-JP" altLang="ja-JP" dirty="0"/>
          </a:p>
          <a:p>
            <a:endParaRPr lang="en-US" altLang="ja-JP" dirty="0"/>
          </a:p>
          <a:p>
            <a:pPr lvl="1"/>
            <a:endParaRPr lang="ja-JP" altLang="ja-JP" dirty="0"/>
          </a:p>
          <a:p>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F7424955-880C-E701-6F12-5781F764B1D6}"/>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7</a:t>
            </a:fld>
            <a:endParaRPr lang="en-US" altLang="ja-JP"/>
          </a:p>
        </p:txBody>
      </p:sp>
    </p:spTree>
    <p:extLst>
      <p:ext uri="{BB962C8B-B14F-4D97-AF65-F5344CB8AC3E}">
        <p14:creationId xmlns:p14="http://schemas.microsoft.com/office/powerpoint/2010/main" val="218560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A2C7-1A7C-CF0F-458E-A06525858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B3FFF-B230-D9F2-51E3-EED7B40E62A4}"/>
              </a:ext>
            </a:extLst>
          </p:cNvPr>
          <p:cNvSpPr>
            <a:spLocks noGrp="1"/>
          </p:cNvSpPr>
          <p:nvPr>
            <p:ph type="title"/>
          </p:nvPr>
        </p:nvSpPr>
        <p:spPr/>
        <p:txBody>
          <a:bodyPr>
            <a:normAutofit fontScale="90000"/>
          </a:bodyPr>
          <a:lstStyle/>
          <a:p>
            <a:pPr fontAlgn="t">
              <a:lnSpc>
                <a:spcPct val="100000"/>
              </a:lnSpc>
              <a:buNone/>
            </a:pPr>
            <a:r>
              <a:rPr lang="ja-JP" altLang="ja-JP" dirty="0"/>
              <a:t>Imperative Programming</a:t>
            </a:r>
          </a:p>
        </p:txBody>
      </p:sp>
      <p:graphicFrame>
        <p:nvGraphicFramePr>
          <p:cNvPr id="5" name="Content Placeholder 4">
            <a:extLst>
              <a:ext uri="{FF2B5EF4-FFF2-40B4-BE49-F238E27FC236}">
                <a16:creationId xmlns:a16="http://schemas.microsoft.com/office/drawing/2014/main" id="{445320C4-BD0E-5811-54EF-5FA4CD1D0852}"/>
              </a:ext>
            </a:extLst>
          </p:cNvPr>
          <p:cNvGraphicFramePr>
            <a:graphicFrameLocks noGrp="1"/>
          </p:cNvGraphicFramePr>
          <p:nvPr>
            <p:ph idx="1"/>
            <p:extLst>
              <p:ext uri="{D42A27DB-BD31-4B8C-83A1-F6EECF244321}">
                <p14:modId xmlns:p14="http://schemas.microsoft.com/office/powerpoint/2010/main" val="2276655535"/>
              </p:ext>
            </p:extLst>
          </p:nvPr>
        </p:nvGraphicFramePr>
        <p:xfrm>
          <a:off x="128588" y="1125538"/>
          <a:ext cx="9648824" cy="4734560"/>
        </p:xfrm>
        <a:graphic>
          <a:graphicData uri="http://schemas.openxmlformats.org/drawingml/2006/table">
            <a:tbl>
              <a:tblPr firstRow="1" bandRow="1">
                <a:tableStyleId>{5C22544A-7EE6-4342-B048-85BDC9FD1C3A}</a:tableStyleId>
              </a:tblPr>
              <a:tblGrid>
                <a:gridCol w="4824412">
                  <a:extLst>
                    <a:ext uri="{9D8B030D-6E8A-4147-A177-3AD203B41FA5}">
                      <a16:colId xmlns:a16="http://schemas.microsoft.com/office/drawing/2014/main" val="1487287934"/>
                    </a:ext>
                  </a:extLst>
                </a:gridCol>
                <a:gridCol w="4824412">
                  <a:extLst>
                    <a:ext uri="{9D8B030D-6E8A-4147-A177-3AD203B41FA5}">
                      <a16:colId xmlns:a16="http://schemas.microsoft.com/office/drawing/2014/main" val="2090728950"/>
                    </a:ext>
                  </a:extLst>
                </a:gridCol>
              </a:tblGrid>
              <a:tr h="370840">
                <a:tc>
                  <a:txBody>
                    <a:bodyPr/>
                    <a:lstStyle/>
                    <a:p>
                      <a:r>
                        <a:rPr lang="ja-JP" altLang="ja-JP" sz="1600" dirty="0">
                          <a:latin typeface="Times New Roman" panose="02020603050405020304" pitchFamily="18" charset="0"/>
                          <a:cs typeface="Times New Roman" panose="02020603050405020304" pitchFamily="18" charset="0"/>
                        </a:rPr>
                        <a:t>List&lt;Integer&gt; numbers = Arrays.asList(1, 2, 3);</a:t>
                      </a:r>
                      <a:br>
                        <a:rPr lang="ja-JP" altLang="ja-JP" sz="1600" dirty="0">
                          <a:latin typeface="Times New Roman" panose="02020603050405020304" pitchFamily="18" charset="0"/>
                          <a:cs typeface="Times New Roman" panose="02020603050405020304" pitchFamily="18" charset="0"/>
                        </a:rPr>
                      </a:br>
                      <a:endParaRPr lang="ja-JP" altLang="ja-JP" sz="1600" dirty="0">
                        <a:latin typeface="Times New Roman" panose="02020603050405020304" pitchFamily="18" charset="0"/>
                        <a:cs typeface="Times New Roman" panose="02020603050405020304" pitchFamily="18" charset="0"/>
                      </a:endParaRPr>
                    </a:p>
                    <a:p>
                      <a:r>
                        <a:rPr lang="ja-JP" altLang="ja-JP" sz="1600" dirty="0">
                          <a:latin typeface="Times New Roman" panose="02020603050405020304" pitchFamily="18" charset="0"/>
                          <a:cs typeface="Times New Roman" panose="02020603050405020304" pitchFamily="18" charset="0"/>
                        </a:rPr>
                        <a:t>List&lt;Integer&gt; result = new ArrayList&lt;&gt;();</a:t>
                      </a:r>
                      <a:br>
                        <a:rPr lang="ja-JP" altLang="ja-JP" sz="1600" dirty="0">
                          <a:latin typeface="Times New Roman" panose="02020603050405020304" pitchFamily="18" charset="0"/>
                          <a:cs typeface="Times New Roman" panose="02020603050405020304" pitchFamily="18" charset="0"/>
                        </a:rPr>
                      </a:br>
                      <a:endParaRPr lang="ja-JP" altLang="ja-JP" sz="1600" dirty="0">
                        <a:latin typeface="Times New Roman" panose="02020603050405020304" pitchFamily="18" charset="0"/>
                        <a:cs typeface="Times New Roman" panose="02020603050405020304" pitchFamily="18" charset="0"/>
                      </a:endParaRPr>
                    </a:p>
                    <a:p>
                      <a:r>
                        <a:rPr lang="ja-JP" altLang="ja-JP" sz="1600" dirty="0">
                          <a:latin typeface="Times New Roman" panose="02020603050405020304" pitchFamily="18" charset="0"/>
                          <a:cs typeface="Times New Roman" panose="02020603050405020304" pitchFamily="18" charset="0"/>
                        </a:rPr>
                        <a:t>for (Integer n : numbers) {</a:t>
                      </a:r>
                    </a:p>
                    <a:p>
                      <a:r>
                        <a:rPr lang="en-US" altLang="ja-JP" sz="1600" dirty="0">
                          <a:latin typeface="Times New Roman" panose="02020603050405020304" pitchFamily="18" charset="0"/>
                          <a:cs typeface="Times New Roman" panose="02020603050405020304" pitchFamily="18" charset="0"/>
                        </a:rPr>
                        <a:t>                   </a:t>
                      </a:r>
                      <a:r>
                        <a:rPr lang="ja-JP" altLang="ja-JP" sz="1600" dirty="0">
                          <a:latin typeface="Times New Roman" panose="02020603050405020304" pitchFamily="18" charset="0"/>
                          <a:cs typeface="Times New Roman" panose="02020603050405020304" pitchFamily="18" charset="0"/>
                        </a:rPr>
                        <a:t>if (n % 2 == 0) {</a:t>
                      </a:r>
                    </a:p>
                    <a:p>
                      <a:r>
                        <a:rPr lang="en-US" altLang="ja-JP" sz="1600" dirty="0">
                          <a:latin typeface="Times New Roman" panose="02020603050405020304" pitchFamily="18" charset="0"/>
                          <a:cs typeface="Times New Roman" panose="02020603050405020304" pitchFamily="18" charset="0"/>
                        </a:rPr>
                        <a:t>                         </a:t>
                      </a:r>
                      <a:r>
                        <a:rPr lang="ja-JP" altLang="ja-JP" sz="1600" dirty="0">
                          <a:latin typeface="Times New Roman" panose="02020603050405020304" pitchFamily="18" charset="0"/>
                          <a:cs typeface="Times New Roman" panose="02020603050405020304" pitchFamily="18" charset="0"/>
                        </a:rPr>
                        <a:t>result.add(n * 2);</a:t>
                      </a:r>
                      <a:endParaRPr lang="en-US" altLang="ja-JP" sz="1600" dirty="0">
                        <a:latin typeface="Times New Roman" panose="02020603050405020304" pitchFamily="18" charset="0"/>
                        <a:cs typeface="Times New Roman" panose="02020603050405020304" pitchFamily="18" charset="0"/>
                      </a:endParaRPr>
                    </a:p>
                    <a:p>
                      <a:r>
                        <a:rPr lang="en-US" altLang="ja-JP" sz="1600" dirty="0">
                          <a:latin typeface="Times New Roman" panose="02020603050405020304" pitchFamily="18" charset="0"/>
                          <a:cs typeface="Times New Roman" panose="02020603050405020304" pitchFamily="18" charset="0"/>
                        </a:rPr>
                        <a:t>                   </a:t>
                      </a:r>
                      <a:r>
                        <a:rPr lang="ja-JP" altLang="ja-JP" sz="1600" dirty="0">
                          <a:latin typeface="Times New Roman" panose="02020603050405020304" pitchFamily="18" charset="0"/>
                          <a:cs typeface="Times New Roman" panose="02020603050405020304" pitchFamily="18" charset="0"/>
                        </a:rPr>
                        <a:t>}</a:t>
                      </a:r>
                      <a:br>
                        <a:rPr lang="ja-JP" altLang="ja-JP" sz="1600" dirty="0">
                          <a:latin typeface="Times New Roman" panose="02020603050405020304" pitchFamily="18" charset="0"/>
                          <a:cs typeface="Times New Roman" panose="02020603050405020304" pitchFamily="18" charset="0"/>
                        </a:rPr>
                      </a:br>
                      <a:r>
                        <a:rPr lang="ja-JP" altLang="ja-JP" sz="1600" dirty="0">
                          <a:latin typeface="Times New Roman" panose="02020603050405020304" pitchFamily="18" charset="0"/>
                          <a:cs typeface="Times New Roman" panose="02020603050405020304" pitchFamily="18" charset="0"/>
                        </a:rPr>
                        <a:t>}</a:t>
                      </a:r>
                      <a:br>
                        <a:rPr lang="ja-JP" altLang="ja-JP" sz="1600" dirty="0">
                          <a:latin typeface="Times New Roman" panose="02020603050405020304" pitchFamily="18" charset="0"/>
                          <a:cs typeface="Times New Roman" panose="02020603050405020304" pitchFamily="18" charset="0"/>
                        </a:rPr>
                      </a:br>
                      <a:endParaRPr lang="ja-JP" altLang="ja-JP" sz="1600" dirty="0">
                        <a:latin typeface="Times New Roman" panose="02020603050405020304" pitchFamily="18" charset="0"/>
                        <a:cs typeface="Times New Roman" panose="02020603050405020304" pitchFamily="18" charset="0"/>
                      </a:endParaRPr>
                    </a:p>
                    <a:p>
                      <a:r>
                        <a:rPr lang="ja-JP" altLang="ja-JP" sz="1600" dirty="0">
                          <a:latin typeface="Times New Roman" panose="02020603050405020304" pitchFamily="18" charset="0"/>
                          <a:cs typeface="Times New Roman" panose="02020603050405020304" pitchFamily="18" charset="0"/>
                        </a:rPr>
                        <a:t>System.out.println(result);</a:t>
                      </a:r>
                    </a:p>
                    <a:p>
                      <a:endParaRPr kumimoji="1" lang="ja-JP" altLang="en-US" sz="1600" dirty="0">
                        <a:latin typeface="Times New Roman" panose="02020603050405020304" pitchFamily="18" charset="0"/>
                        <a:cs typeface="Times New Roman" panose="02020603050405020304" pitchFamily="18" charset="0"/>
                      </a:endParaRPr>
                    </a:p>
                  </a:txBody>
                  <a:tcPr/>
                </a:tc>
                <a:tc>
                  <a:txBody>
                    <a:bodyPr/>
                    <a:lstStyle/>
                    <a:p>
                      <a:pPr marL="342900" lvl="0" indent="-342900" fontAlgn="t">
                        <a:lnSpc>
                          <a:spcPct val="119048"/>
                        </a:lnSpc>
                        <a:buFont typeface="+mj-lt"/>
                        <a:buAutoNum type="arabicPeriod"/>
                      </a:pPr>
                      <a:endParaRPr lang="en-US" altLang="ja-JP" sz="1600" b="0" i="0" dirty="0">
                        <a:effectLst/>
                        <a:latin typeface="Times New Roman" panose="02020603050405020304" pitchFamily="18" charset="0"/>
                        <a:cs typeface="Times New Roman" panose="02020603050405020304" pitchFamily="18" charset="0"/>
                      </a:endParaRPr>
                    </a:p>
                    <a:p>
                      <a:pPr marL="342900" lvl="0" indent="-342900" fontAlgn="t">
                        <a:lnSpc>
                          <a:spcPct val="119048"/>
                        </a:lnSpc>
                        <a:buFont typeface="+mj-lt"/>
                        <a:buAutoNum type="arabicPeriod"/>
                      </a:pPr>
                      <a:endParaRPr lang="en-US" altLang="ja-JP" sz="1600" b="0" i="0" dirty="0">
                        <a:effectLst/>
                        <a:latin typeface="Times New Roman" panose="02020603050405020304" pitchFamily="18" charset="0"/>
                        <a:cs typeface="Times New Roman" panose="02020603050405020304" pitchFamily="18" charset="0"/>
                      </a:endParaRP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Tạo danh sách kết quả</a:t>
                      </a: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Duyệt từng phần tử</a:t>
                      </a: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Kiểm tra điều kiện</a:t>
                      </a: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Nhân đôi giá trị</a:t>
                      </a:r>
                    </a:p>
                    <a:p>
                      <a:pPr marL="342900" lvl="0" indent="-342900" fontAlgn="t">
                        <a:lnSpc>
                          <a:spcPct val="119048"/>
                        </a:lnSpc>
                        <a:buFont typeface="+mj-lt"/>
                        <a:buAutoNum type="arabicPeriod"/>
                      </a:pPr>
                      <a:r>
                        <a:rPr lang="ja-JP" sz="1600" b="0" i="0" dirty="0">
                          <a:effectLst/>
                          <a:latin typeface="Times New Roman" panose="02020603050405020304" pitchFamily="18" charset="0"/>
                          <a:cs typeface="Times New Roman" panose="02020603050405020304" pitchFamily="18" charset="0"/>
                        </a:rPr>
                        <a:t>Thêm vào danh sách</a:t>
                      </a:r>
                    </a:p>
                    <a:p>
                      <a:pPr fontAlgn="t">
                        <a:lnSpc>
                          <a:spcPct val="119048"/>
                        </a:lnSpc>
                        <a:buNone/>
                      </a:pPr>
                      <a:r>
                        <a:rPr lang="ja-JP" sz="1600" b="0" i="0" dirty="0">
                          <a:effectLst/>
                          <a:latin typeface="Times New Roman" panose="02020603050405020304" pitchFamily="18" charset="0"/>
                          <a:cs typeface="Times New Roman" panose="02020603050405020304" pitchFamily="18" charset="0"/>
                        </a:rPr>
                        <a:t>=&gt; Tập trung vào </a:t>
                      </a:r>
                      <a:r>
                        <a:rPr lang="ja-JP" sz="1600" b="1" i="0" dirty="0">
                          <a:effectLst/>
                          <a:latin typeface="Times New Roman" panose="02020603050405020304" pitchFamily="18" charset="0"/>
                          <a:cs typeface="Times New Roman" panose="02020603050405020304" pitchFamily="18" charset="0"/>
                        </a:rPr>
                        <a:t>quy trình thực hiện</a:t>
                      </a:r>
                      <a:r>
                        <a:rPr lang="ja-JP" sz="1600" b="0" i="0" dirty="0">
                          <a:effectLst/>
                          <a:latin typeface="Times New Roman" panose="02020603050405020304" pitchFamily="18" charset="0"/>
                          <a:cs typeface="Times New Roman" panose="02020603050405020304" pitchFamily="18" charset="0"/>
                        </a:rPr>
                        <a:t>.</a:t>
                      </a:r>
                    </a:p>
                    <a:p>
                      <a:pPr fontAlgn="t">
                        <a:lnSpc>
                          <a:spcPct val="119048"/>
                        </a:lnSpc>
                        <a:buNone/>
                      </a:pPr>
                      <a:r>
                        <a:rPr lang="ja-JP" sz="1600" b="1" i="0" dirty="0">
                          <a:effectLst/>
                          <a:latin typeface="Times New Roman" panose="02020603050405020304" pitchFamily="18" charset="0"/>
                          <a:cs typeface="Times New Roman" panose="02020603050405020304" pitchFamily="18" charset="0"/>
                        </a:rPr>
                        <a:t>Ưu điểm</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Dễ hiểu với người mới.</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Kiểm soát chi tiết cách chương trình chạy.</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Dễ tối ưu ở mức thấp.</a:t>
                      </a:r>
                    </a:p>
                    <a:p>
                      <a:pPr fontAlgn="t">
                        <a:lnSpc>
                          <a:spcPct val="119048"/>
                        </a:lnSpc>
                        <a:buNone/>
                      </a:pPr>
                      <a:r>
                        <a:rPr lang="ja-JP" sz="1600" b="1" i="0" dirty="0">
                          <a:effectLst/>
                          <a:latin typeface="Times New Roman" panose="02020603050405020304" pitchFamily="18" charset="0"/>
                          <a:cs typeface="Times New Roman" panose="02020603050405020304" pitchFamily="18" charset="0"/>
                        </a:rPr>
                        <a:t>Nhược điểm</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Mã dài.</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Dễ phát sinh lỗi do quản lý trạng thái.</a:t>
                      </a:r>
                    </a:p>
                    <a:p>
                      <a:pPr marL="342900" lvl="0" indent="-342900" fontAlgn="t">
                        <a:lnSpc>
                          <a:spcPct val="119048"/>
                        </a:lnSpc>
                        <a:buFont typeface="Arial" panose="020B0604020202020204" pitchFamily="34" charset="0"/>
                        <a:buChar char="•"/>
                      </a:pPr>
                      <a:r>
                        <a:rPr lang="ja-JP" sz="1600" b="0" i="0" dirty="0">
                          <a:effectLst/>
                          <a:latin typeface="Times New Roman" panose="02020603050405020304" pitchFamily="18" charset="0"/>
                          <a:cs typeface="Times New Roman" panose="02020603050405020304" pitchFamily="18" charset="0"/>
                        </a:rPr>
                        <a:t>Khó bảo trì khi logic phức tạp.</a:t>
                      </a:r>
                    </a:p>
                  </a:txBody>
                  <a:tcPr/>
                </a:tc>
                <a:extLst>
                  <a:ext uri="{0D108BD9-81ED-4DB2-BD59-A6C34878D82A}">
                    <a16:rowId xmlns:a16="http://schemas.microsoft.com/office/drawing/2014/main" val="1674982837"/>
                  </a:ext>
                </a:extLst>
              </a:tr>
            </a:tbl>
          </a:graphicData>
        </a:graphic>
      </p:graphicFrame>
      <p:sp>
        <p:nvSpPr>
          <p:cNvPr id="4" name="Slide Number Placeholder 3">
            <a:extLst>
              <a:ext uri="{FF2B5EF4-FFF2-40B4-BE49-F238E27FC236}">
                <a16:creationId xmlns:a16="http://schemas.microsoft.com/office/drawing/2014/main" id="{0F7C541D-4260-680D-463B-EA0AAACB0FB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8</a:t>
            </a:fld>
            <a:endParaRPr lang="en-US" altLang="ja-JP"/>
          </a:p>
        </p:txBody>
      </p:sp>
    </p:spTree>
    <p:extLst>
      <p:ext uri="{BB962C8B-B14F-4D97-AF65-F5344CB8AC3E}">
        <p14:creationId xmlns:p14="http://schemas.microsoft.com/office/powerpoint/2010/main" val="102592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29BF-323C-68FE-AA08-F19F08C4EE20}"/>
              </a:ext>
            </a:extLst>
          </p:cNvPr>
          <p:cNvSpPr>
            <a:spLocks noGrp="1"/>
          </p:cNvSpPr>
          <p:nvPr>
            <p:ph type="title"/>
          </p:nvPr>
        </p:nvSpPr>
        <p:spPr/>
        <p:txBody>
          <a:bodyPr>
            <a:normAutofit fontScale="90000"/>
          </a:bodyPr>
          <a:lstStyle/>
          <a:p>
            <a:pPr fontAlgn="t">
              <a:lnSpc>
                <a:spcPct val="100000"/>
              </a:lnSpc>
              <a:buNone/>
            </a:pPr>
            <a:r>
              <a:rPr lang="ja-JP" altLang="ja-JP" dirty="0"/>
              <a:t>Declarative Programming</a:t>
            </a:r>
          </a:p>
        </p:txBody>
      </p:sp>
      <p:graphicFrame>
        <p:nvGraphicFramePr>
          <p:cNvPr id="5" name="Content Placeholder 4">
            <a:extLst>
              <a:ext uri="{FF2B5EF4-FFF2-40B4-BE49-F238E27FC236}">
                <a16:creationId xmlns:a16="http://schemas.microsoft.com/office/drawing/2014/main" id="{0EAE9B0D-C2AF-3E36-CE89-C1FF0F2822BE}"/>
              </a:ext>
            </a:extLst>
          </p:cNvPr>
          <p:cNvGraphicFramePr>
            <a:graphicFrameLocks noGrp="1"/>
          </p:cNvGraphicFramePr>
          <p:nvPr>
            <p:ph idx="1"/>
            <p:extLst>
              <p:ext uri="{D42A27DB-BD31-4B8C-83A1-F6EECF244321}">
                <p14:modId xmlns:p14="http://schemas.microsoft.com/office/powerpoint/2010/main" val="2159369692"/>
              </p:ext>
            </p:extLst>
          </p:nvPr>
        </p:nvGraphicFramePr>
        <p:xfrm>
          <a:off x="128588" y="1125538"/>
          <a:ext cx="9648824" cy="4661789"/>
        </p:xfrm>
        <a:graphic>
          <a:graphicData uri="http://schemas.openxmlformats.org/drawingml/2006/table">
            <a:tbl>
              <a:tblPr firstRow="1" bandRow="1">
                <a:tableStyleId>{5C22544A-7EE6-4342-B048-85BDC9FD1C3A}</a:tableStyleId>
              </a:tblPr>
              <a:tblGrid>
                <a:gridCol w="4824412">
                  <a:extLst>
                    <a:ext uri="{9D8B030D-6E8A-4147-A177-3AD203B41FA5}">
                      <a16:colId xmlns:a16="http://schemas.microsoft.com/office/drawing/2014/main" val="1487287934"/>
                    </a:ext>
                  </a:extLst>
                </a:gridCol>
                <a:gridCol w="4824412">
                  <a:extLst>
                    <a:ext uri="{9D8B030D-6E8A-4147-A177-3AD203B41FA5}">
                      <a16:colId xmlns:a16="http://schemas.microsoft.com/office/drawing/2014/main" val="2090728950"/>
                    </a:ext>
                  </a:extLst>
                </a:gridCol>
              </a:tblGrid>
              <a:tr h="370840">
                <a:tc>
                  <a:txBody>
                    <a:bodyPr/>
                    <a:lstStyle/>
                    <a:p>
                      <a:r>
                        <a:rPr lang="ja-JP" altLang="ja-JP" sz="1800" dirty="0">
                          <a:latin typeface="Times New Roman" panose="02020603050405020304" pitchFamily="18" charset="0"/>
                          <a:cs typeface="Times New Roman" panose="02020603050405020304" pitchFamily="18" charset="0"/>
                        </a:rPr>
                        <a:t>List&lt;Integer&gt; result = numbers.stream()</a:t>
                      </a:r>
                      <a:br>
                        <a:rPr lang="ja-JP" altLang="ja-JP" sz="1800" dirty="0">
                          <a:latin typeface="Times New Roman" panose="02020603050405020304" pitchFamily="18" charset="0"/>
                          <a:cs typeface="Times New Roman" panose="02020603050405020304" pitchFamily="18" charset="0"/>
                        </a:rPr>
                      </a:br>
                      <a:endParaRPr lang="ja-JP" altLang="ja-JP" sz="1800" dirty="0">
                        <a:latin typeface="Times New Roman" panose="02020603050405020304" pitchFamily="18" charset="0"/>
                        <a:cs typeface="Times New Roman" panose="02020603050405020304" pitchFamily="18" charset="0"/>
                      </a:endParaRPr>
                    </a:p>
                    <a:p>
                      <a:r>
                        <a:rPr lang="en-US" altLang="ja-JP" sz="1800" dirty="0">
                          <a:latin typeface="Times New Roman" panose="02020603050405020304" pitchFamily="18" charset="0"/>
                          <a:cs typeface="Times New Roman" panose="02020603050405020304" pitchFamily="18" charset="0"/>
                        </a:rPr>
                        <a:t>          </a:t>
                      </a:r>
                      <a:r>
                        <a:rPr lang="ja-JP" altLang="ja-JP" sz="1800" dirty="0">
                          <a:latin typeface="Times New Roman" panose="02020603050405020304" pitchFamily="18" charset="0"/>
                          <a:cs typeface="Times New Roman" panose="02020603050405020304" pitchFamily="18" charset="0"/>
                        </a:rPr>
                        <a:t>.filter(n -&gt; n % 2 == 0)</a:t>
                      </a:r>
                      <a:endParaRPr lang="en-US" altLang="ja-JP" sz="1800" dirty="0">
                        <a:latin typeface="Times New Roman" panose="02020603050405020304" pitchFamily="18" charset="0"/>
                        <a:cs typeface="Times New Roman" panose="02020603050405020304" pitchFamily="18" charset="0"/>
                      </a:endParaRPr>
                    </a:p>
                    <a:p>
                      <a:r>
                        <a:rPr lang="en-US" altLang="ja-JP" sz="1800" dirty="0">
                          <a:latin typeface="Times New Roman" panose="02020603050405020304" pitchFamily="18" charset="0"/>
                          <a:cs typeface="Times New Roman" panose="02020603050405020304" pitchFamily="18" charset="0"/>
                        </a:rPr>
                        <a:t>          </a:t>
                      </a:r>
                      <a:r>
                        <a:rPr lang="ja-JP" altLang="ja-JP" sz="1800" dirty="0">
                          <a:latin typeface="Times New Roman" panose="02020603050405020304" pitchFamily="18" charset="0"/>
                          <a:cs typeface="Times New Roman" panose="02020603050405020304" pitchFamily="18" charset="0"/>
                        </a:rPr>
                        <a:t>.map(n -&gt; n * 2)</a:t>
                      </a:r>
                      <a:endParaRPr lang="en-US" altLang="ja-JP" sz="1800" dirty="0">
                        <a:latin typeface="Times New Roman" panose="02020603050405020304" pitchFamily="18" charset="0"/>
                        <a:cs typeface="Times New Roman" panose="02020603050405020304" pitchFamily="18" charset="0"/>
                      </a:endParaRPr>
                    </a:p>
                    <a:p>
                      <a:r>
                        <a:rPr lang="en-US" altLang="ja-JP" sz="1800" dirty="0">
                          <a:latin typeface="Times New Roman" panose="02020603050405020304" pitchFamily="18" charset="0"/>
                          <a:cs typeface="Times New Roman" panose="02020603050405020304" pitchFamily="18" charset="0"/>
                        </a:rPr>
                        <a:t>          </a:t>
                      </a:r>
                      <a:r>
                        <a:rPr lang="ja-JP" altLang="ja-JP" sz="1800" dirty="0">
                          <a:latin typeface="Times New Roman" panose="02020603050405020304" pitchFamily="18" charset="0"/>
                          <a:cs typeface="Times New Roman" panose="02020603050405020304" pitchFamily="18" charset="0"/>
                        </a:rPr>
                        <a:t>.toList();</a:t>
                      </a:r>
                    </a:p>
                    <a:p>
                      <a:endParaRPr kumimoji="1" lang="ja-JP" altLang="en-US" sz="1800" dirty="0">
                        <a:latin typeface="Times New Roman" panose="02020603050405020304" pitchFamily="18" charset="0"/>
                        <a:cs typeface="Times New Roman" panose="02020603050405020304" pitchFamily="18" charset="0"/>
                      </a:endParaRPr>
                    </a:p>
                  </a:txBody>
                  <a:tcPr/>
                </a:tc>
                <a:tc>
                  <a:txBody>
                    <a:bodyPr/>
                    <a:lstStyle/>
                    <a:p>
                      <a:pPr fontAlgn="t">
                        <a:lnSpc>
                          <a:spcPct val="119048"/>
                        </a:lnSpc>
                        <a:buNone/>
                      </a:pPr>
                      <a:r>
                        <a:rPr lang="ja-JP" sz="1800" b="0" i="0" dirty="0">
                          <a:effectLst/>
                          <a:latin typeface="Times New Roman" panose="02020603050405020304" pitchFamily="18" charset="0"/>
                          <a:cs typeface="Times New Roman" panose="02020603050405020304" pitchFamily="18" charset="0"/>
                        </a:rPr>
                        <a:t>Đọc như tiếng Anh:</a:t>
                      </a:r>
                    </a:p>
                    <a:p>
                      <a:pPr fontAlgn="t">
                        <a:lnSpc>
                          <a:spcPct val="119048"/>
                        </a:lnSpc>
                        <a:buNone/>
                      </a:pPr>
                      <a:r>
                        <a:rPr lang="ja-JP" sz="1800" b="0" i="0" dirty="0">
                          <a:effectLst/>
                          <a:latin typeface="Times New Roman" panose="02020603050405020304" pitchFamily="18" charset="0"/>
                          <a:cs typeface="Times New Roman" panose="02020603050405020304" pitchFamily="18" charset="0"/>
                        </a:rPr>
                        <a:t>Lấy danh sách số → lọc số chẵn → nhân đôi → chuyển thành danh sách.</a:t>
                      </a:r>
                    </a:p>
                    <a:p>
                      <a:pPr fontAlgn="t">
                        <a:lnSpc>
                          <a:spcPct val="119048"/>
                        </a:lnSpc>
                        <a:buNone/>
                      </a:pPr>
                      <a:r>
                        <a:rPr lang="en-US" altLang="ja-JP" sz="1800" b="0" i="0" dirty="0">
                          <a:effectLst/>
                          <a:latin typeface="Times New Roman" panose="02020603050405020304" pitchFamily="18" charset="0"/>
                          <a:cs typeface="Times New Roman" panose="02020603050405020304" pitchFamily="18" charset="0"/>
                        </a:rPr>
                        <a:t>K</a:t>
                      </a:r>
                      <a:r>
                        <a:rPr lang="ja-JP" sz="1800" b="0" i="0" dirty="0">
                          <a:effectLst/>
                          <a:latin typeface="Times New Roman" panose="02020603050405020304" pitchFamily="18" charset="0"/>
                          <a:cs typeface="Times New Roman" panose="02020603050405020304" pitchFamily="18" charset="0"/>
                        </a:rPr>
                        <a:t>hông quan tâm vòng lặp chạy thế nào.</a:t>
                      </a:r>
                    </a:p>
                    <a:p>
                      <a:pPr fontAlgn="t">
                        <a:lnSpc>
                          <a:spcPct val="119048"/>
                        </a:lnSpc>
                        <a:buNone/>
                      </a:pPr>
                      <a:r>
                        <a:rPr lang="ja-JP" sz="1800" b="0" i="0" dirty="0">
                          <a:effectLst/>
                          <a:latin typeface="Times New Roman" panose="02020603050405020304" pitchFamily="18" charset="0"/>
                          <a:cs typeface="Times New Roman" panose="02020603050405020304" pitchFamily="18" charset="0"/>
                        </a:rPr>
                        <a:t>=&gt; Tập trung vào </a:t>
                      </a:r>
                      <a:r>
                        <a:rPr lang="ja-JP" sz="1800" b="1" i="0" dirty="0">
                          <a:effectLst/>
                          <a:latin typeface="Times New Roman" panose="02020603050405020304" pitchFamily="18" charset="0"/>
                          <a:cs typeface="Times New Roman" panose="02020603050405020304" pitchFamily="18" charset="0"/>
                        </a:rPr>
                        <a:t>kết quả mong muốn</a:t>
                      </a:r>
                      <a:r>
                        <a:rPr lang="ja-JP" sz="1800" b="0" i="0" dirty="0">
                          <a:effectLst/>
                          <a:latin typeface="Times New Roman" panose="02020603050405020304" pitchFamily="18" charset="0"/>
                          <a:cs typeface="Times New Roman" panose="02020603050405020304" pitchFamily="18" charset="0"/>
                        </a:rPr>
                        <a:t>.</a:t>
                      </a:r>
                    </a:p>
                    <a:p>
                      <a:pPr fontAlgn="t">
                        <a:lnSpc>
                          <a:spcPct val="119048"/>
                        </a:lnSpc>
                        <a:buNone/>
                      </a:pPr>
                      <a:r>
                        <a:rPr lang="ja-JP" sz="1800" b="1" i="0" dirty="0">
                          <a:effectLst/>
                          <a:latin typeface="Times New Roman" panose="02020603050405020304" pitchFamily="18" charset="0"/>
                          <a:cs typeface="Times New Roman" panose="02020603050405020304" pitchFamily="18" charset="0"/>
                        </a:rPr>
                        <a:t>Ưu điểm</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Code ngắn gọn.</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Dễ đọc.</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Ít lỗi liên quan đến trạng thái.</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Dễ song song hóa (parallel processing).</a:t>
                      </a:r>
                    </a:p>
                    <a:p>
                      <a:pPr fontAlgn="t">
                        <a:lnSpc>
                          <a:spcPct val="119048"/>
                        </a:lnSpc>
                        <a:buNone/>
                      </a:pPr>
                      <a:r>
                        <a:rPr lang="ja-JP" sz="1800" b="1" i="0" dirty="0">
                          <a:effectLst/>
                          <a:latin typeface="Times New Roman" panose="02020603050405020304" pitchFamily="18" charset="0"/>
                          <a:cs typeface="Times New Roman" panose="02020603050405020304" pitchFamily="18" charset="0"/>
                        </a:rPr>
                        <a:t>Nhược điểm</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Khó hiểu hơn lúc mới học.</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Debug đôi khi khó hơn.</a:t>
                      </a:r>
                    </a:p>
                    <a:p>
                      <a:pPr marL="342900" lvl="0" indent="-342900" fontAlgn="t">
                        <a:lnSpc>
                          <a:spcPct val="119048"/>
                        </a:lnSpc>
                        <a:buFont typeface="Arial" panose="020B0604020202020204" pitchFamily="34" charset="0"/>
                        <a:buChar char="•"/>
                      </a:pPr>
                      <a:r>
                        <a:rPr lang="ja-JP" sz="1800" b="0" i="0" dirty="0">
                          <a:effectLst/>
                          <a:latin typeface="Times New Roman" panose="02020603050405020304" pitchFamily="18" charset="0"/>
                          <a:cs typeface="Times New Roman" panose="02020603050405020304" pitchFamily="18" charset="0"/>
                        </a:rPr>
                        <a:t>Có thể có overhead trong một số trường hợp.</a:t>
                      </a:r>
                    </a:p>
                  </a:txBody>
                  <a:tcPr/>
                </a:tc>
                <a:extLst>
                  <a:ext uri="{0D108BD9-81ED-4DB2-BD59-A6C34878D82A}">
                    <a16:rowId xmlns:a16="http://schemas.microsoft.com/office/drawing/2014/main" val="1674982837"/>
                  </a:ext>
                </a:extLst>
              </a:tr>
            </a:tbl>
          </a:graphicData>
        </a:graphic>
      </p:graphicFrame>
      <p:sp>
        <p:nvSpPr>
          <p:cNvPr id="4" name="Slide Number Placeholder 3">
            <a:extLst>
              <a:ext uri="{FF2B5EF4-FFF2-40B4-BE49-F238E27FC236}">
                <a16:creationId xmlns:a16="http://schemas.microsoft.com/office/drawing/2014/main" id="{628FC807-F5CF-93C5-2A78-DD4BCBB318A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9</a:t>
            </a:fld>
            <a:endParaRPr lang="en-US" altLang="ja-JP"/>
          </a:p>
        </p:txBody>
      </p:sp>
    </p:spTree>
    <p:extLst>
      <p:ext uri="{BB962C8B-B14F-4D97-AF65-F5344CB8AC3E}">
        <p14:creationId xmlns:p14="http://schemas.microsoft.com/office/powerpoint/2010/main" val="4262306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51F3-AF55-B341-D706-F3866DA32372}"/>
              </a:ext>
            </a:extLst>
          </p:cNvPr>
          <p:cNvSpPr>
            <a:spLocks noGrp="1"/>
          </p:cNvSpPr>
          <p:nvPr>
            <p:ph type="title"/>
          </p:nvPr>
        </p:nvSpPr>
        <p:spPr/>
        <p:txBody>
          <a:bodyPr>
            <a:noAutofit/>
          </a:bodyPr>
          <a:lstStyle/>
          <a:p>
            <a:r>
              <a:rPr kumimoji="1" lang="en-US" altLang="ja-JP" sz="4000" dirty="0"/>
              <a:t>So </a:t>
            </a:r>
            <a:r>
              <a:rPr kumimoji="1" lang="en-US" altLang="ja-JP" sz="4000" dirty="0" err="1"/>
              <a:t>sánh</a:t>
            </a:r>
            <a:r>
              <a:rPr kumimoji="1" lang="en-US" altLang="ja-JP" sz="4000" dirty="0"/>
              <a:t> </a:t>
            </a:r>
            <a:r>
              <a:rPr kumimoji="1" lang="en-US" altLang="ja-JP" sz="4000" dirty="0" err="1"/>
              <a:t>phong</a:t>
            </a:r>
            <a:r>
              <a:rPr kumimoji="1" lang="en-US" altLang="ja-JP" sz="4000" dirty="0"/>
              <a:t> </a:t>
            </a:r>
            <a:r>
              <a:rPr kumimoji="1" lang="en-US" altLang="ja-JP" sz="4000" dirty="0" err="1"/>
              <a:t>cách</a:t>
            </a:r>
            <a:r>
              <a:rPr kumimoji="1" lang="en-US" altLang="ja-JP" sz="4000" dirty="0"/>
              <a:t> </a:t>
            </a:r>
            <a:r>
              <a:rPr kumimoji="1" lang="en-US" altLang="ja-JP" sz="4000" dirty="0" err="1"/>
              <a:t>lập</a:t>
            </a:r>
            <a:r>
              <a:rPr kumimoji="1" lang="en-US" altLang="ja-JP" sz="4000" dirty="0"/>
              <a:t> </a:t>
            </a:r>
            <a:r>
              <a:rPr kumimoji="1" lang="en-US" altLang="ja-JP" sz="4000" dirty="0" err="1"/>
              <a:t>trình</a:t>
            </a:r>
            <a:endParaRPr kumimoji="1" lang="ja-JP" altLang="en-US" sz="4000" dirty="0"/>
          </a:p>
        </p:txBody>
      </p:sp>
      <p:graphicFrame>
        <p:nvGraphicFramePr>
          <p:cNvPr id="5" name="Content Placeholder 4">
            <a:extLst>
              <a:ext uri="{FF2B5EF4-FFF2-40B4-BE49-F238E27FC236}">
                <a16:creationId xmlns:a16="http://schemas.microsoft.com/office/drawing/2014/main" id="{73F46A97-CCDC-DAD5-29D5-81885FFEC3D1}"/>
              </a:ext>
            </a:extLst>
          </p:cNvPr>
          <p:cNvGraphicFramePr>
            <a:graphicFrameLocks noGrp="1"/>
          </p:cNvGraphicFramePr>
          <p:nvPr>
            <p:ph idx="1"/>
            <p:extLst>
              <p:ext uri="{D42A27DB-BD31-4B8C-83A1-F6EECF244321}">
                <p14:modId xmlns:p14="http://schemas.microsoft.com/office/powerpoint/2010/main" val="13757083"/>
              </p:ext>
            </p:extLst>
          </p:nvPr>
        </p:nvGraphicFramePr>
        <p:xfrm>
          <a:off x="128588" y="1447800"/>
          <a:ext cx="9648824" cy="4649650"/>
        </p:xfrm>
        <a:graphic>
          <a:graphicData uri="http://schemas.openxmlformats.org/drawingml/2006/table">
            <a:tbl>
              <a:tblPr>
                <a:tableStyleId>{5C22544A-7EE6-4342-B048-85BDC9FD1C3A}</a:tableStyleId>
              </a:tblPr>
              <a:tblGrid>
                <a:gridCol w="4824412">
                  <a:extLst>
                    <a:ext uri="{9D8B030D-6E8A-4147-A177-3AD203B41FA5}">
                      <a16:colId xmlns:a16="http://schemas.microsoft.com/office/drawing/2014/main" val="1500319441"/>
                    </a:ext>
                  </a:extLst>
                </a:gridCol>
                <a:gridCol w="4824412">
                  <a:extLst>
                    <a:ext uri="{9D8B030D-6E8A-4147-A177-3AD203B41FA5}">
                      <a16:colId xmlns:a16="http://schemas.microsoft.com/office/drawing/2014/main" val="4046171375"/>
                    </a:ext>
                  </a:extLst>
                </a:gridCol>
              </a:tblGrid>
              <a:tr h="665959">
                <a:tc>
                  <a:txBody>
                    <a:bodyPr/>
                    <a:lstStyle/>
                    <a:p>
                      <a:pPr>
                        <a:buNone/>
                      </a:pPr>
                      <a:r>
                        <a:rPr lang="ja-JP" sz="2800">
                          <a:effectLst/>
                        </a:rPr>
                        <a:t>Imperative</a:t>
                      </a:r>
                    </a:p>
                  </a:txBody>
                  <a:tcPr marL="90458" marR="90458" marT="45229" marB="45229" anchor="ctr"/>
                </a:tc>
                <a:tc>
                  <a:txBody>
                    <a:bodyPr/>
                    <a:lstStyle/>
                    <a:p>
                      <a:pPr>
                        <a:buNone/>
                      </a:pPr>
                      <a:r>
                        <a:rPr lang="ja-JP" sz="2800" dirty="0">
                          <a:effectLst/>
                        </a:rPr>
                        <a:t>Declarative</a:t>
                      </a:r>
                    </a:p>
                  </a:txBody>
                  <a:tcPr marL="90458" marR="90458" marT="45229" marB="45229" anchor="ctr"/>
                </a:tc>
                <a:extLst>
                  <a:ext uri="{0D108BD9-81ED-4DB2-BD59-A6C34878D82A}">
                    <a16:rowId xmlns:a16="http://schemas.microsoft.com/office/drawing/2014/main" val="3236088624"/>
                  </a:ext>
                </a:extLst>
              </a:tr>
              <a:tr h="665959">
                <a:tc>
                  <a:txBody>
                    <a:bodyPr/>
                    <a:lstStyle/>
                    <a:p>
                      <a:pPr>
                        <a:buNone/>
                      </a:pPr>
                      <a:r>
                        <a:rPr lang="ja-JP" sz="2800" dirty="0">
                          <a:effectLst/>
                        </a:rPr>
                        <a:t>Mô tả cách làm</a:t>
                      </a:r>
                    </a:p>
                  </a:txBody>
                  <a:tcPr marL="90458" marR="90458" marT="45229" marB="45229" anchor="ctr"/>
                </a:tc>
                <a:tc>
                  <a:txBody>
                    <a:bodyPr/>
                    <a:lstStyle/>
                    <a:p>
                      <a:pPr>
                        <a:buNone/>
                      </a:pPr>
                      <a:r>
                        <a:rPr lang="ja-JP" sz="2800">
                          <a:effectLst/>
                        </a:rPr>
                        <a:t>Mô tả kết quả</a:t>
                      </a:r>
                    </a:p>
                  </a:txBody>
                  <a:tcPr marL="90458" marR="90458" marT="45229" marB="45229" anchor="ctr"/>
                </a:tc>
                <a:extLst>
                  <a:ext uri="{0D108BD9-81ED-4DB2-BD59-A6C34878D82A}">
                    <a16:rowId xmlns:a16="http://schemas.microsoft.com/office/drawing/2014/main" val="87048020"/>
                  </a:ext>
                </a:extLst>
              </a:tr>
              <a:tr h="665959">
                <a:tc>
                  <a:txBody>
                    <a:bodyPr/>
                    <a:lstStyle/>
                    <a:p>
                      <a:pPr>
                        <a:buNone/>
                      </a:pPr>
                      <a:r>
                        <a:rPr lang="ja-JP" sz="2800" dirty="0">
                          <a:effectLst/>
                        </a:rPr>
                        <a:t>Tập trung vào "How"</a:t>
                      </a:r>
                    </a:p>
                  </a:txBody>
                  <a:tcPr marL="90458" marR="90458" marT="45229" marB="45229" anchor="ctr"/>
                </a:tc>
                <a:tc>
                  <a:txBody>
                    <a:bodyPr/>
                    <a:lstStyle/>
                    <a:p>
                      <a:pPr>
                        <a:buNone/>
                      </a:pPr>
                      <a:r>
                        <a:rPr lang="ja-JP" sz="2800">
                          <a:effectLst/>
                        </a:rPr>
                        <a:t>Tập trung vào "What"</a:t>
                      </a:r>
                    </a:p>
                  </a:txBody>
                  <a:tcPr marL="90458" marR="90458" marT="45229" marB="45229" anchor="ctr"/>
                </a:tc>
                <a:extLst>
                  <a:ext uri="{0D108BD9-81ED-4DB2-BD59-A6C34878D82A}">
                    <a16:rowId xmlns:a16="http://schemas.microsoft.com/office/drawing/2014/main" val="2165300534"/>
                  </a:ext>
                </a:extLst>
              </a:tr>
              <a:tr h="1215437">
                <a:tc>
                  <a:txBody>
                    <a:bodyPr/>
                    <a:lstStyle/>
                    <a:p>
                      <a:pPr>
                        <a:buNone/>
                      </a:pPr>
                      <a:r>
                        <a:rPr lang="ja-JP" sz="2800">
                          <a:effectLst/>
                        </a:rPr>
                        <a:t>Dùng vòng lặp, biến trạng thái</a:t>
                      </a:r>
                    </a:p>
                  </a:txBody>
                  <a:tcPr marL="90458" marR="90458" marT="45229" marB="45229" anchor="ctr"/>
                </a:tc>
                <a:tc>
                  <a:txBody>
                    <a:bodyPr/>
                    <a:lstStyle/>
                    <a:p>
                      <a:pPr>
                        <a:buNone/>
                      </a:pPr>
                      <a:r>
                        <a:rPr lang="ja-JP" sz="2800" dirty="0">
                          <a:effectLst/>
                        </a:rPr>
                        <a:t>Dùng biểu thức, pipeline</a:t>
                      </a:r>
                    </a:p>
                  </a:txBody>
                  <a:tcPr marL="90458" marR="90458" marT="45229" marB="45229" anchor="ctr"/>
                </a:tc>
                <a:extLst>
                  <a:ext uri="{0D108BD9-81ED-4DB2-BD59-A6C34878D82A}">
                    <a16:rowId xmlns:a16="http://schemas.microsoft.com/office/drawing/2014/main" val="2378857263"/>
                  </a:ext>
                </a:extLst>
              </a:tr>
              <a:tr h="665959">
                <a:tc>
                  <a:txBody>
                    <a:bodyPr/>
                    <a:lstStyle/>
                    <a:p>
                      <a:pPr>
                        <a:buNone/>
                      </a:pPr>
                      <a:r>
                        <a:rPr lang="ja-JP" sz="2800">
                          <a:effectLst/>
                        </a:rPr>
                        <a:t>Kiểm soát chi tiết</a:t>
                      </a:r>
                    </a:p>
                  </a:txBody>
                  <a:tcPr marL="90458" marR="90458" marT="45229" marB="45229" anchor="ctr"/>
                </a:tc>
                <a:tc>
                  <a:txBody>
                    <a:bodyPr/>
                    <a:lstStyle/>
                    <a:p>
                      <a:pPr>
                        <a:buNone/>
                      </a:pPr>
                      <a:r>
                        <a:rPr lang="ja-JP" sz="2800">
                          <a:effectLst/>
                        </a:rPr>
                        <a:t>Trừu tượng cao</a:t>
                      </a:r>
                    </a:p>
                  </a:txBody>
                  <a:tcPr marL="90458" marR="90458" marT="45229" marB="45229" anchor="ctr"/>
                </a:tc>
                <a:extLst>
                  <a:ext uri="{0D108BD9-81ED-4DB2-BD59-A6C34878D82A}">
                    <a16:rowId xmlns:a16="http://schemas.microsoft.com/office/drawing/2014/main" val="2971337053"/>
                  </a:ext>
                </a:extLst>
              </a:tr>
              <a:tr h="770377">
                <a:tc>
                  <a:txBody>
                    <a:bodyPr/>
                    <a:lstStyle/>
                    <a:p>
                      <a:pPr>
                        <a:buNone/>
                      </a:pPr>
                      <a:r>
                        <a:rPr lang="ja-JP" sz="2800">
                          <a:effectLst/>
                        </a:rPr>
                        <a:t>Code thường dài hơn</a:t>
                      </a:r>
                    </a:p>
                  </a:txBody>
                  <a:tcPr marL="90458" marR="90458" marT="45229" marB="45229" anchor="ctr"/>
                </a:tc>
                <a:tc>
                  <a:txBody>
                    <a:bodyPr/>
                    <a:lstStyle/>
                    <a:p>
                      <a:pPr fontAlgn="t">
                        <a:lnSpc>
                          <a:spcPct val="119048"/>
                        </a:lnSpc>
                        <a:buNone/>
                      </a:pPr>
                      <a:r>
                        <a:rPr lang="ja-JP" sz="2800" dirty="0">
                          <a:effectLst/>
                        </a:rPr>
                        <a:t>Code thường ngắn gọn hơn</a:t>
                      </a:r>
                      <a:endParaRPr lang="ja-JP" sz="1200" b="0" i="0" dirty="0">
                        <a:effectLst/>
                        <a:latin typeface="Segoe UI" panose="020B0502040204020203" pitchFamily="34" charset="0"/>
                      </a:endParaRPr>
                    </a:p>
                  </a:txBody>
                  <a:tcPr marL="90458" marR="90458" marT="45229" marB="45229" anchor="ctr"/>
                </a:tc>
                <a:extLst>
                  <a:ext uri="{0D108BD9-81ED-4DB2-BD59-A6C34878D82A}">
                    <a16:rowId xmlns:a16="http://schemas.microsoft.com/office/drawing/2014/main" val="3972626888"/>
                  </a:ext>
                </a:extLst>
              </a:tr>
            </a:tbl>
          </a:graphicData>
        </a:graphic>
      </p:graphicFrame>
      <p:sp>
        <p:nvSpPr>
          <p:cNvPr id="4" name="Slide Number Placeholder 3">
            <a:extLst>
              <a:ext uri="{FF2B5EF4-FFF2-40B4-BE49-F238E27FC236}">
                <a16:creationId xmlns:a16="http://schemas.microsoft.com/office/drawing/2014/main" id="{890183B7-5A29-B9FA-9867-553F77D6752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10</a:t>
            </a:fld>
            <a:endParaRPr lang="en-US" altLang="ja-JP"/>
          </a:p>
        </p:txBody>
      </p:sp>
    </p:spTree>
    <p:extLst>
      <p:ext uri="{BB962C8B-B14F-4D97-AF65-F5344CB8AC3E}">
        <p14:creationId xmlns:p14="http://schemas.microsoft.com/office/powerpoint/2010/main" val="3445657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90DC-076A-E9E6-69E1-7EA02A5E4161}"/>
              </a:ext>
            </a:extLst>
          </p:cNvPr>
          <p:cNvSpPr>
            <a:spLocks noGrp="1"/>
          </p:cNvSpPr>
          <p:nvPr>
            <p:ph type="title"/>
          </p:nvPr>
        </p:nvSpPr>
        <p:spPr/>
        <p:txBody>
          <a:bodyPr>
            <a:normAutofit fontScale="90000"/>
          </a:bodyPr>
          <a:lstStyle/>
          <a:p>
            <a:r>
              <a:rPr lang="ja-JP" altLang="ja-JP" b="1" dirty="0"/>
              <a:t>Trong thực tế Java</a:t>
            </a:r>
            <a:endParaRPr kumimoji="1" lang="ja-JP" altLang="en-US" dirty="0"/>
          </a:p>
        </p:txBody>
      </p:sp>
      <p:sp>
        <p:nvSpPr>
          <p:cNvPr id="3" name="Content Placeholder 2">
            <a:extLst>
              <a:ext uri="{FF2B5EF4-FFF2-40B4-BE49-F238E27FC236}">
                <a16:creationId xmlns:a16="http://schemas.microsoft.com/office/drawing/2014/main" id="{8ECD80A5-39B0-0CAE-4EA8-7C30EE8C5FDC}"/>
              </a:ext>
            </a:extLst>
          </p:cNvPr>
          <p:cNvSpPr>
            <a:spLocks noGrp="1"/>
          </p:cNvSpPr>
          <p:nvPr>
            <p:ph idx="1"/>
          </p:nvPr>
        </p:nvSpPr>
        <p:spPr/>
        <p:txBody>
          <a:bodyPr>
            <a:normAutofit/>
          </a:bodyPr>
          <a:lstStyle/>
          <a:p>
            <a:pPr algn="just" fontAlgn="t">
              <a:lnSpc>
                <a:spcPct val="100000"/>
              </a:lnSpc>
              <a:buNone/>
            </a:pPr>
            <a:r>
              <a:rPr lang="ja-JP" altLang="ja-JP" dirty="0"/>
              <a:t>Lập trình Java thường là </a:t>
            </a:r>
            <a:r>
              <a:rPr lang="ja-JP" altLang="ja-JP" b="1" dirty="0"/>
              <a:t>kết hợp cả hai</a:t>
            </a:r>
            <a:r>
              <a:rPr lang="ja-JP" altLang="ja-JP" dirty="0"/>
              <a:t>:</a:t>
            </a:r>
          </a:p>
          <a:p>
            <a:pPr lvl="0" algn="just" fontAlgn="t">
              <a:buFont typeface="Arial" panose="020B0604020202020204" pitchFamily="34" charset="0"/>
              <a:buChar char="•"/>
            </a:pPr>
            <a:r>
              <a:rPr lang="ja-JP" altLang="ja-JP" dirty="0"/>
              <a:t>Xử lý nghiệp vụ đơn giản</a:t>
            </a:r>
            <a:r>
              <a:rPr lang="en-US" altLang="ja-JP" dirty="0"/>
              <a:t> </a:t>
            </a:r>
            <a:r>
              <a:rPr lang="ja-JP" altLang="ja-JP" dirty="0"/>
              <a:t>→ </a:t>
            </a:r>
            <a:r>
              <a:rPr lang="ja-JP" altLang="ja-JP" b="1" dirty="0"/>
              <a:t>Declarative</a:t>
            </a:r>
            <a:endParaRPr lang="ja-JP" altLang="ja-JP" dirty="0"/>
          </a:p>
          <a:p>
            <a:pPr lvl="0" algn="just" fontAlgn="t">
              <a:buFont typeface="Arial" panose="020B0604020202020204" pitchFamily="34" charset="0"/>
              <a:buChar char="•"/>
            </a:pPr>
            <a:r>
              <a:rPr lang="ja-JP" altLang="ja-JP" dirty="0"/>
              <a:t>Thuật toán phức tạp, cấu trúc dữ liệu, tối ưu hiệu năng → </a:t>
            </a:r>
            <a:r>
              <a:rPr lang="ja-JP" altLang="ja-JP" b="1" dirty="0"/>
              <a:t>Imperative</a:t>
            </a:r>
            <a:endParaRPr lang="ja-JP" altLang="ja-JP" dirty="0"/>
          </a:p>
          <a:p>
            <a:pPr algn="just"/>
            <a:endParaRPr kumimoji="1" lang="ja-JP" altLang="en-US" dirty="0"/>
          </a:p>
        </p:txBody>
      </p:sp>
      <p:sp>
        <p:nvSpPr>
          <p:cNvPr id="4" name="Slide Number Placeholder 3">
            <a:extLst>
              <a:ext uri="{FF2B5EF4-FFF2-40B4-BE49-F238E27FC236}">
                <a16:creationId xmlns:a16="http://schemas.microsoft.com/office/drawing/2014/main" id="{7E7ACA87-BAB9-9107-6C03-B64427197081}"/>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11</a:t>
            </a:fld>
            <a:endParaRPr lang="en-US" altLang="ja-JP"/>
          </a:p>
        </p:txBody>
      </p:sp>
    </p:spTree>
    <p:extLst>
      <p:ext uri="{BB962C8B-B14F-4D97-AF65-F5344CB8AC3E}">
        <p14:creationId xmlns:p14="http://schemas.microsoft.com/office/powerpoint/2010/main" val="3048535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31171-3C82-C10D-1DBF-6AC8797546A3}"/>
              </a:ext>
            </a:extLst>
          </p:cNvPr>
          <p:cNvSpPr>
            <a:spLocks noGrp="1"/>
          </p:cNvSpPr>
          <p:nvPr>
            <p:ph type="title"/>
          </p:nvPr>
        </p:nvSpPr>
        <p:spPr/>
        <p:txBody>
          <a:bodyPr>
            <a:normAutofit fontScale="90000"/>
          </a:bodyPr>
          <a:lstStyle/>
          <a:p>
            <a:r>
              <a:rPr lang="ja-JP" altLang="ja-JP" b="1" dirty="0"/>
              <a:t>Biểu Thức Lambda</a:t>
            </a:r>
            <a:endParaRPr kumimoji="1" lang="ja-JP" altLang="en-US" dirty="0"/>
          </a:p>
        </p:txBody>
      </p:sp>
      <p:sp>
        <p:nvSpPr>
          <p:cNvPr id="3" name="Content Placeholder 2">
            <a:extLst>
              <a:ext uri="{FF2B5EF4-FFF2-40B4-BE49-F238E27FC236}">
                <a16:creationId xmlns:a16="http://schemas.microsoft.com/office/drawing/2014/main" id="{C5901082-898B-062E-EF7E-20E35A93A344}"/>
              </a:ext>
            </a:extLst>
          </p:cNvPr>
          <p:cNvSpPr>
            <a:spLocks noGrp="1"/>
          </p:cNvSpPr>
          <p:nvPr>
            <p:ph idx="1"/>
          </p:nvPr>
        </p:nvSpPr>
        <p:spPr/>
        <p:txBody>
          <a:bodyPr>
            <a:normAutofit fontScale="92500" lnSpcReduction="20000"/>
          </a:bodyPr>
          <a:lstStyle/>
          <a:p>
            <a:pPr algn="just"/>
            <a:r>
              <a:rPr lang="ja-JP" altLang="ja-JP" dirty="0"/>
              <a:t>Biểu thức Lambda là một cách để biểu diễn các hàm ẩn danh (anonymous functions) trong Java</a:t>
            </a:r>
            <a:endParaRPr lang="en-US" altLang="ja-JP" dirty="0"/>
          </a:p>
          <a:p>
            <a:pPr algn="just"/>
            <a:r>
              <a:rPr lang="en-US" altLang="ja-JP" dirty="0"/>
              <a:t>C</a:t>
            </a:r>
            <a:r>
              <a:rPr lang="ja-JP" altLang="ja-JP" dirty="0"/>
              <a:t>ho phép </a:t>
            </a:r>
            <a:r>
              <a:rPr lang="en-US" altLang="ja-JP" dirty="0"/>
              <a:t>t</a:t>
            </a:r>
            <a:r>
              <a:rPr lang="ja-JP" altLang="ja-JP" dirty="0"/>
              <a:t>ruyền một hàm dưới dạng tham số hoặc lưu trữ một hàm như một biến mà không cần khai báo một lớp cụ thể</a:t>
            </a:r>
            <a:endParaRPr lang="en-US" altLang="ja-JP" dirty="0"/>
          </a:p>
          <a:p>
            <a:r>
              <a:rPr lang="ja-JP" altLang="ja-JP" dirty="0"/>
              <a:t>Cú pháp cơ bản của biểu thức Lambda trong Java như sau:</a:t>
            </a:r>
          </a:p>
          <a:p>
            <a:pPr marL="0" indent="0">
              <a:buNone/>
            </a:pPr>
            <a:r>
              <a:rPr lang="en-US" altLang="ja-JP" dirty="0"/>
              <a:t>	</a:t>
            </a:r>
            <a:r>
              <a:rPr lang="ja-JP" altLang="ja-JP" dirty="0"/>
              <a:t>(parameter) -&gt; expression</a:t>
            </a:r>
          </a:p>
          <a:p>
            <a:pPr lvl="1">
              <a:buFont typeface="Wingdings" panose="05000000000000000000" pitchFamily="2" charset="2"/>
              <a:buChar char="n"/>
            </a:pPr>
            <a:r>
              <a:rPr lang="ja-JP" altLang="ja-JP" dirty="0"/>
              <a:t>Parameter: Danh sách các tham số của hàm.</a:t>
            </a:r>
          </a:p>
          <a:p>
            <a:pPr lvl="1">
              <a:buFont typeface="Wingdings" panose="05000000000000000000" pitchFamily="2" charset="2"/>
              <a:buChar char="n"/>
            </a:pPr>
            <a:r>
              <a:rPr lang="ja-JP" altLang="ja-JP" dirty="0"/>
              <a:t>-&gt;: Toán tử Lambda, phân tách tham số và thân hàm.</a:t>
            </a:r>
          </a:p>
          <a:p>
            <a:pPr lvl="1">
              <a:buFont typeface="Wingdings" panose="05000000000000000000" pitchFamily="2" charset="2"/>
              <a:buChar char="n"/>
            </a:pPr>
            <a:r>
              <a:rPr lang="ja-JP" altLang="ja-JP" dirty="0"/>
              <a:t>Expression: Thân hàm, chứa logic xử lý.</a:t>
            </a:r>
          </a:p>
          <a:p>
            <a:r>
              <a:rPr lang="ja-JP" altLang="ja-JP" dirty="0"/>
              <a:t>Ví dụ đơn giản: (x, y) -&gt; x + y</a:t>
            </a:r>
          </a:p>
          <a:p>
            <a:pPr algn="just"/>
            <a:endParaRPr kumimoji="1" lang="ja-JP" altLang="en-US" dirty="0"/>
          </a:p>
        </p:txBody>
      </p:sp>
      <p:sp>
        <p:nvSpPr>
          <p:cNvPr id="4" name="Slide Number Placeholder 3">
            <a:extLst>
              <a:ext uri="{FF2B5EF4-FFF2-40B4-BE49-F238E27FC236}">
                <a16:creationId xmlns:a16="http://schemas.microsoft.com/office/drawing/2014/main" id="{37B4A265-7203-3A63-36EE-CAD2F00B48A6}"/>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12</a:t>
            </a:fld>
            <a:endParaRPr lang="en-US" altLang="ja-JP"/>
          </a:p>
        </p:txBody>
      </p:sp>
    </p:spTree>
    <p:extLst>
      <p:ext uri="{BB962C8B-B14F-4D97-AF65-F5344CB8AC3E}">
        <p14:creationId xmlns:p14="http://schemas.microsoft.com/office/powerpoint/2010/main" val="148728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C2C27-F3D7-2646-B2D2-2F915EC1E592}"/>
              </a:ext>
            </a:extLst>
          </p:cNvPr>
          <p:cNvSpPr>
            <a:spLocks noGrp="1"/>
          </p:cNvSpPr>
          <p:nvPr>
            <p:ph type="title"/>
          </p:nvPr>
        </p:nvSpPr>
        <p:spPr/>
        <p:txBody>
          <a:bodyPr>
            <a:normAutofit fontScale="90000"/>
          </a:bodyPr>
          <a:lstStyle/>
          <a:p>
            <a:r>
              <a:rPr lang="ja-JP" altLang="ja-JP" b="1" dirty="0"/>
              <a:t>Cú pháp chi tiết của Biểu thức Lambda</a:t>
            </a:r>
          </a:p>
        </p:txBody>
      </p:sp>
      <p:sp>
        <p:nvSpPr>
          <p:cNvPr id="4" name="Slide Number Placeholder 3">
            <a:extLst>
              <a:ext uri="{FF2B5EF4-FFF2-40B4-BE49-F238E27FC236}">
                <a16:creationId xmlns:a16="http://schemas.microsoft.com/office/drawing/2014/main" id="{AACBCF4A-0F6D-092A-1EE3-BB152F103D9D}"/>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13</a:t>
            </a:fld>
            <a:endParaRPr lang="en-US" altLang="ja-JP"/>
          </a:p>
        </p:txBody>
      </p:sp>
      <p:sp>
        <p:nvSpPr>
          <p:cNvPr id="7" name="Content Placeholder 6">
            <a:extLst>
              <a:ext uri="{FF2B5EF4-FFF2-40B4-BE49-F238E27FC236}">
                <a16:creationId xmlns:a16="http://schemas.microsoft.com/office/drawing/2014/main" id="{157DB7F8-1999-4949-F7AB-63B758806562}"/>
              </a:ext>
            </a:extLst>
          </p:cNvPr>
          <p:cNvSpPr>
            <a:spLocks noGrp="1"/>
          </p:cNvSpPr>
          <p:nvPr>
            <p:ph idx="1"/>
          </p:nvPr>
        </p:nvSpPr>
        <p:spPr/>
        <p:txBody>
          <a:bodyPr>
            <a:normAutofit fontScale="92500" lnSpcReduction="10000"/>
          </a:bodyPr>
          <a:lstStyle/>
          <a:p>
            <a:pPr marL="0" indent="0">
              <a:buNone/>
            </a:pPr>
            <a:r>
              <a:rPr lang="ja-JP" altLang="ja-JP" dirty="0"/>
              <a:t>Biểu thức Lambda có thể được viết theo nhiều cách tùy thuộc vào tình huống:</a:t>
            </a:r>
          </a:p>
          <a:p>
            <a:r>
              <a:rPr lang="ja-JP" altLang="ja-JP" dirty="0"/>
              <a:t>Không tham số: </a:t>
            </a:r>
            <a:endParaRPr lang="en-US" altLang="ja-JP" dirty="0"/>
          </a:p>
          <a:p>
            <a:pPr marL="457200" lvl="1" indent="0">
              <a:buNone/>
            </a:pPr>
            <a:r>
              <a:rPr lang="ja-JP" altLang="ja-JP" dirty="0"/>
              <a:t>() -&gt; System.out.println("Hello, Lambda!");</a:t>
            </a:r>
          </a:p>
          <a:p>
            <a:r>
              <a:rPr lang="ja-JP" altLang="ja-JP" dirty="0"/>
              <a:t>Một tham số (có thể bỏ qua dấu ngoặc): x -&gt; x * x</a:t>
            </a:r>
          </a:p>
          <a:p>
            <a:r>
              <a:rPr lang="ja-JP" altLang="ja-JP" dirty="0"/>
              <a:t>Nhiều tham số: (x, y) -&gt; x + y</a:t>
            </a:r>
          </a:p>
          <a:p>
            <a:r>
              <a:rPr lang="ja-JP" altLang="ja-JP" dirty="0"/>
              <a:t>Thân hàm phức tạp (dùng dấu ngoặc nhọn và từ khóa return):</a:t>
            </a:r>
          </a:p>
          <a:p>
            <a:pPr marL="800100" lvl="2" indent="0">
              <a:buNone/>
            </a:pPr>
            <a:r>
              <a:rPr lang="ja-JP" altLang="ja-JP" dirty="0"/>
              <a:t>(x, y) -&gt; {</a:t>
            </a:r>
          </a:p>
          <a:p>
            <a:pPr marL="800100" lvl="2" indent="0">
              <a:buNone/>
            </a:pPr>
            <a:r>
              <a:rPr lang="ja-JP" altLang="ja-JP" dirty="0"/>
              <a:t>    int sum = x + y;</a:t>
            </a:r>
          </a:p>
          <a:p>
            <a:pPr marL="800100" lvl="2" indent="0">
              <a:buNone/>
            </a:pPr>
            <a:r>
              <a:rPr lang="ja-JP" altLang="ja-JP" dirty="0"/>
              <a:t>    return sum;</a:t>
            </a:r>
          </a:p>
          <a:p>
            <a:pPr marL="800100" lvl="2" indent="0">
              <a:buNone/>
            </a:pPr>
            <a:r>
              <a:rPr lang="ja-JP" altLang="ja-JP" dirty="0"/>
              <a:t>}</a:t>
            </a:r>
          </a:p>
          <a:p>
            <a:endParaRPr lang="ja-JP" altLang="en-US" dirty="0"/>
          </a:p>
        </p:txBody>
      </p:sp>
    </p:spTree>
    <p:extLst>
      <p:ext uri="{BB962C8B-B14F-4D97-AF65-F5344CB8AC3E}">
        <p14:creationId xmlns:p14="http://schemas.microsoft.com/office/powerpoint/2010/main" val="2893151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15788-571C-D802-D22C-561A209FF55B}"/>
              </a:ext>
            </a:extLst>
          </p:cNvPr>
          <p:cNvSpPr>
            <a:spLocks noGrp="1"/>
          </p:cNvSpPr>
          <p:nvPr>
            <p:ph type="title"/>
          </p:nvPr>
        </p:nvSpPr>
        <p:spPr/>
        <p:txBody>
          <a:bodyPr>
            <a:normAutofit fontScale="90000"/>
          </a:bodyPr>
          <a:lstStyle/>
          <a:p>
            <a:r>
              <a:rPr kumimoji="1" lang="en-US" altLang="ja-JP" dirty="0" err="1"/>
              <a:t>Ví</a:t>
            </a:r>
            <a:r>
              <a:rPr kumimoji="1" lang="en-US" altLang="ja-JP" dirty="0"/>
              <a:t> </a:t>
            </a:r>
            <a:r>
              <a:rPr kumimoji="1" lang="en-US" altLang="ja-JP" dirty="0" err="1"/>
              <a:t>dụ</a:t>
            </a:r>
            <a:r>
              <a:rPr kumimoji="1" lang="en-US" altLang="ja-JP" dirty="0"/>
              <a:t> </a:t>
            </a:r>
            <a:endParaRPr kumimoji="1" lang="ja-JP" altLang="en-US" dirty="0"/>
          </a:p>
        </p:txBody>
      </p:sp>
      <p:pic>
        <p:nvPicPr>
          <p:cNvPr id="6" name="Content Placeholder 5">
            <a:extLst>
              <a:ext uri="{FF2B5EF4-FFF2-40B4-BE49-F238E27FC236}">
                <a16:creationId xmlns:a16="http://schemas.microsoft.com/office/drawing/2014/main" id="{51DF28D2-C4C0-3D00-ED04-CF239FD66D9B}"/>
              </a:ext>
            </a:extLst>
          </p:cNvPr>
          <p:cNvPicPr>
            <a:picLocks noGrp="1" noChangeAspect="1"/>
          </p:cNvPicPr>
          <p:nvPr>
            <p:ph idx="1"/>
          </p:nvPr>
        </p:nvPicPr>
        <p:blipFill>
          <a:blip r:embed="rId2"/>
          <a:stretch>
            <a:fillRect/>
          </a:stretch>
        </p:blipFill>
        <p:spPr bwMode="auto">
          <a:xfrm>
            <a:off x="128463" y="1884344"/>
            <a:ext cx="9648825" cy="171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pic>
      <p:sp>
        <p:nvSpPr>
          <p:cNvPr id="4" name="Slide Number Placeholder 3">
            <a:extLst>
              <a:ext uri="{FF2B5EF4-FFF2-40B4-BE49-F238E27FC236}">
                <a16:creationId xmlns:a16="http://schemas.microsoft.com/office/drawing/2014/main" id="{53938AE3-0075-5CAD-95EB-DFEC6E4AF0AB}"/>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14</a:t>
            </a:fld>
            <a:endParaRPr lang="en-US" altLang="ja-JP"/>
          </a:p>
        </p:txBody>
      </p:sp>
      <p:graphicFrame>
        <p:nvGraphicFramePr>
          <p:cNvPr id="10" name="Table 9">
            <a:extLst>
              <a:ext uri="{FF2B5EF4-FFF2-40B4-BE49-F238E27FC236}">
                <a16:creationId xmlns:a16="http://schemas.microsoft.com/office/drawing/2014/main" id="{2BAA9CAB-E699-3C88-559B-E2835B51CA63}"/>
              </a:ext>
            </a:extLst>
          </p:cNvPr>
          <p:cNvGraphicFramePr>
            <a:graphicFrameLocks noGrp="1"/>
          </p:cNvGraphicFramePr>
          <p:nvPr>
            <p:extLst>
              <p:ext uri="{D42A27DB-BD31-4B8C-83A1-F6EECF244321}">
                <p14:modId xmlns:p14="http://schemas.microsoft.com/office/powerpoint/2010/main" val="1684954594"/>
              </p:ext>
            </p:extLst>
          </p:nvPr>
        </p:nvGraphicFramePr>
        <p:xfrm>
          <a:off x="128464" y="1227666"/>
          <a:ext cx="9648824" cy="640080"/>
        </p:xfrm>
        <a:graphic>
          <a:graphicData uri="http://schemas.openxmlformats.org/drawingml/2006/table">
            <a:tbl>
              <a:tblPr firstRow="1" bandRow="1">
                <a:tableStyleId>{22838BEF-8BB2-4498-84A7-C5851F593DF1}</a:tableStyleId>
              </a:tblPr>
              <a:tblGrid>
                <a:gridCol w="4824412">
                  <a:extLst>
                    <a:ext uri="{9D8B030D-6E8A-4147-A177-3AD203B41FA5}">
                      <a16:colId xmlns:a16="http://schemas.microsoft.com/office/drawing/2014/main" val="898902895"/>
                    </a:ext>
                  </a:extLst>
                </a:gridCol>
                <a:gridCol w="4824412">
                  <a:extLst>
                    <a:ext uri="{9D8B030D-6E8A-4147-A177-3AD203B41FA5}">
                      <a16:colId xmlns:a16="http://schemas.microsoft.com/office/drawing/2014/main" val="105403038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b="0" kern="0" dirty="0"/>
                        <a:t>Imperative		</a:t>
                      </a:r>
                      <a:endParaRPr lang="ja-JP" altLang="en-US" b="0" kern="0" dirty="0"/>
                    </a:p>
                    <a:p>
                      <a:pPr algn="ctr"/>
                      <a:endParaRPr kumimoji="1" lang="ja-JP" altLang="en-US" dirty="0"/>
                    </a:p>
                  </a:txBody>
                  <a:tcPr/>
                </a:tc>
                <a:tc>
                  <a:txBody>
                    <a:bodyPr/>
                    <a:lstStyle/>
                    <a:p>
                      <a:pPr algn="ctr"/>
                      <a:r>
                        <a:rPr kumimoji="1" lang="en-US" altLang="ja-JP" dirty="0"/>
                        <a:t>Lambda Expression</a:t>
                      </a:r>
                      <a:endParaRPr kumimoji="1" lang="ja-JP" altLang="en-US" dirty="0"/>
                    </a:p>
                  </a:txBody>
                  <a:tcPr/>
                </a:tc>
                <a:extLst>
                  <a:ext uri="{0D108BD9-81ED-4DB2-BD59-A6C34878D82A}">
                    <a16:rowId xmlns:a16="http://schemas.microsoft.com/office/drawing/2014/main" val="3886558097"/>
                  </a:ext>
                </a:extLst>
              </a:tr>
            </a:tbl>
          </a:graphicData>
        </a:graphic>
      </p:graphicFrame>
      <p:pic>
        <p:nvPicPr>
          <p:cNvPr id="12" name="Picture 11">
            <a:extLst>
              <a:ext uri="{FF2B5EF4-FFF2-40B4-BE49-F238E27FC236}">
                <a16:creationId xmlns:a16="http://schemas.microsoft.com/office/drawing/2014/main" id="{B12E0AD9-37CD-4702-0491-676F4C65F438}"/>
              </a:ext>
            </a:extLst>
          </p:cNvPr>
          <p:cNvPicPr>
            <a:picLocks noChangeAspect="1"/>
          </p:cNvPicPr>
          <p:nvPr/>
        </p:nvPicPr>
        <p:blipFill>
          <a:blip r:embed="rId3"/>
          <a:stretch>
            <a:fillRect/>
          </a:stretch>
        </p:blipFill>
        <p:spPr>
          <a:xfrm>
            <a:off x="128216" y="4274965"/>
            <a:ext cx="9649072" cy="1680882"/>
          </a:xfrm>
          <a:prstGeom prst="rect">
            <a:avLst/>
          </a:prstGeom>
        </p:spPr>
      </p:pic>
      <p:sp>
        <p:nvSpPr>
          <p:cNvPr id="13" name="Content Placeholder 2">
            <a:extLst>
              <a:ext uri="{FF2B5EF4-FFF2-40B4-BE49-F238E27FC236}">
                <a16:creationId xmlns:a16="http://schemas.microsoft.com/office/drawing/2014/main" id="{A6B97261-B3E8-4174-4708-28A4116354A6}"/>
              </a:ext>
            </a:extLst>
          </p:cNvPr>
          <p:cNvSpPr txBox="1">
            <a:spLocks/>
          </p:cNvSpPr>
          <p:nvPr/>
        </p:nvSpPr>
        <p:spPr bwMode="auto">
          <a:xfrm>
            <a:off x="128216" y="3652005"/>
            <a:ext cx="9648824" cy="64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fontScale="85000" lnSpcReduction="10000"/>
          </a:bodyPr>
          <a:lstStyle>
            <a:lvl1pPr marL="342900" indent="-342900" algn="l" rtl="0" eaLnBrk="1" fontAlgn="base" hangingPunct="1">
              <a:spcBef>
                <a:spcPct val="20000"/>
              </a:spcBef>
              <a:spcAft>
                <a:spcPct val="0"/>
              </a:spcAft>
              <a:buChar char="•"/>
              <a:defRPr kumimoji="1" sz="3200">
                <a:solidFill>
                  <a:schemeClr val="tx1"/>
                </a:solidFill>
                <a:latin typeface="+mj-lt"/>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j-lt"/>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j-lt"/>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j-lt"/>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j-lt"/>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gn="just"/>
            <a:r>
              <a:rPr lang="ja-JP" altLang="ja-JP" sz="2000" dirty="0"/>
              <a:t>Khi </a:t>
            </a:r>
            <a:r>
              <a:rPr lang="en-US" altLang="ja-JP" sz="2000" dirty="0" err="1"/>
              <a:t>chỉ</a:t>
            </a:r>
            <a:r>
              <a:rPr lang="en-US" altLang="ja-JP" sz="2000" dirty="0"/>
              <a:t> </a:t>
            </a:r>
            <a:r>
              <a:rPr lang="ja-JP" altLang="ja-JP" sz="2000" dirty="0"/>
              <a:t>có một dòng biểu thức duy nhất bên trong hàm lambda, chúng ta có thể sử dụng cú pháp lambda biểu thức thay vì cú pháp câu lệnh lambda để đơn giản hơn.</a:t>
            </a:r>
            <a:endParaRPr lang="ja-JP" altLang="en-US" sz="2000" b="0" kern="0" dirty="0"/>
          </a:p>
        </p:txBody>
      </p:sp>
    </p:spTree>
    <p:extLst>
      <p:ext uri="{BB962C8B-B14F-4D97-AF65-F5344CB8AC3E}">
        <p14:creationId xmlns:p14="http://schemas.microsoft.com/office/powerpoint/2010/main" val="3935553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39F74-ABA3-4A0F-D50B-146AD67E7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C1DCD-17B6-CF8D-9105-EAEBAB44D489}"/>
              </a:ext>
            </a:extLst>
          </p:cNvPr>
          <p:cNvSpPr>
            <a:spLocks noGrp="1"/>
          </p:cNvSpPr>
          <p:nvPr>
            <p:ph type="title"/>
          </p:nvPr>
        </p:nvSpPr>
        <p:spPr/>
        <p:txBody>
          <a:bodyPr>
            <a:normAutofit fontScale="90000"/>
          </a:bodyPr>
          <a:lstStyle/>
          <a:p>
            <a:r>
              <a:rPr kumimoji="1" lang="en-US" altLang="ja-JP" dirty="0" err="1"/>
              <a:t>Ví</a:t>
            </a:r>
            <a:r>
              <a:rPr kumimoji="1" lang="en-US" altLang="ja-JP" dirty="0"/>
              <a:t> </a:t>
            </a:r>
            <a:r>
              <a:rPr kumimoji="1" lang="en-US" altLang="ja-JP" dirty="0" err="1"/>
              <a:t>dụ</a:t>
            </a:r>
            <a:r>
              <a:rPr kumimoji="1" lang="en-US" altLang="ja-JP" dirty="0"/>
              <a:t> 2 </a:t>
            </a:r>
            <a:endParaRPr kumimoji="1" lang="ja-JP" altLang="en-US" dirty="0"/>
          </a:p>
        </p:txBody>
      </p:sp>
      <p:sp>
        <p:nvSpPr>
          <p:cNvPr id="4" name="Slide Number Placeholder 3">
            <a:extLst>
              <a:ext uri="{FF2B5EF4-FFF2-40B4-BE49-F238E27FC236}">
                <a16:creationId xmlns:a16="http://schemas.microsoft.com/office/drawing/2014/main" id="{13DED7EF-F131-055B-66BB-C75DCE547CB9}"/>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15</a:t>
            </a:fld>
            <a:endParaRPr lang="en-US" altLang="ja-JP"/>
          </a:p>
        </p:txBody>
      </p:sp>
      <p:graphicFrame>
        <p:nvGraphicFramePr>
          <p:cNvPr id="10" name="Table 9">
            <a:extLst>
              <a:ext uri="{FF2B5EF4-FFF2-40B4-BE49-F238E27FC236}">
                <a16:creationId xmlns:a16="http://schemas.microsoft.com/office/drawing/2014/main" id="{C8DC3D25-4817-BDFC-C2A5-11D040C8B876}"/>
              </a:ext>
            </a:extLst>
          </p:cNvPr>
          <p:cNvGraphicFramePr>
            <a:graphicFrameLocks noGrp="1"/>
          </p:cNvGraphicFramePr>
          <p:nvPr/>
        </p:nvGraphicFramePr>
        <p:xfrm>
          <a:off x="128464" y="1227666"/>
          <a:ext cx="9648824" cy="640080"/>
        </p:xfrm>
        <a:graphic>
          <a:graphicData uri="http://schemas.openxmlformats.org/drawingml/2006/table">
            <a:tbl>
              <a:tblPr firstRow="1" bandRow="1">
                <a:tableStyleId>{22838BEF-8BB2-4498-84A7-C5851F593DF1}</a:tableStyleId>
              </a:tblPr>
              <a:tblGrid>
                <a:gridCol w="4824412">
                  <a:extLst>
                    <a:ext uri="{9D8B030D-6E8A-4147-A177-3AD203B41FA5}">
                      <a16:colId xmlns:a16="http://schemas.microsoft.com/office/drawing/2014/main" val="898902895"/>
                    </a:ext>
                  </a:extLst>
                </a:gridCol>
                <a:gridCol w="4824412">
                  <a:extLst>
                    <a:ext uri="{9D8B030D-6E8A-4147-A177-3AD203B41FA5}">
                      <a16:colId xmlns:a16="http://schemas.microsoft.com/office/drawing/2014/main" val="105403038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b="0" kern="0" dirty="0"/>
                        <a:t>Imperative		</a:t>
                      </a:r>
                      <a:endParaRPr lang="ja-JP" altLang="en-US" b="0" kern="0" dirty="0"/>
                    </a:p>
                    <a:p>
                      <a:pPr algn="ctr"/>
                      <a:endParaRPr kumimoji="1" lang="ja-JP" altLang="en-US" dirty="0"/>
                    </a:p>
                  </a:txBody>
                  <a:tcPr/>
                </a:tc>
                <a:tc>
                  <a:txBody>
                    <a:bodyPr/>
                    <a:lstStyle/>
                    <a:p>
                      <a:pPr algn="ctr"/>
                      <a:r>
                        <a:rPr kumimoji="1" lang="en-US" altLang="ja-JP" dirty="0"/>
                        <a:t>Lambda Expression</a:t>
                      </a:r>
                      <a:endParaRPr kumimoji="1" lang="ja-JP" altLang="en-US" dirty="0"/>
                    </a:p>
                  </a:txBody>
                  <a:tcPr/>
                </a:tc>
                <a:extLst>
                  <a:ext uri="{0D108BD9-81ED-4DB2-BD59-A6C34878D82A}">
                    <a16:rowId xmlns:a16="http://schemas.microsoft.com/office/drawing/2014/main" val="3886558097"/>
                  </a:ext>
                </a:extLst>
              </a:tr>
            </a:tbl>
          </a:graphicData>
        </a:graphic>
      </p:graphicFrame>
      <p:sp>
        <p:nvSpPr>
          <p:cNvPr id="13" name="Content Placeholder 2">
            <a:extLst>
              <a:ext uri="{FF2B5EF4-FFF2-40B4-BE49-F238E27FC236}">
                <a16:creationId xmlns:a16="http://schemas.microsoft.com/office/drawing/2014/main" id="{BFA71A75-7539-B7EB-16E7-6D7AA7A1F45F}"/>
              </a:ext>
            </a:extLst>
          </p:cNvPr>
          <p:cNvSpPr txBox="1">
            <a:spLocks/>
          </p:cNvSpPr>
          <p:nvPr/>
        </p:nvSpPr>
        <p:spPr bwMode="auto">
          <a:xfrm>
            <a:off x="128216" y="3652005"/>
            <a:ext cx="9648824" cy="64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fontScale="85000" lnSpcReduction="10000"/>
          </a:bodyPr>
          <a:lstStyle>
            <a:lvl1pPr marL="342900" indent="-342900" algn="l" rtl="0" eaLnBrk="1" fontAlgn="base" hangingPunct="1">
              <a:spcBef>
                <a:spcPct val="20000"/>
              </a:spcBef>
              <a:spcAft>
                <a:spcPct val="0"/>
              </a:spcAft>
              <a:buChar char="•"/>
              <a:defRPr kumimoji="1" sz="3200">
                <a:solidFill>
                  <a:schemeClr val="tx1"/>
                </a:solidFill>
                <a:latin typeface="+mj-lt"/>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j-lt"/>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j-lt"/>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j-lt"/>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j-lt"/>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gn="just"/>
            <a:r>
              <a:rPr lang="ja-JP" altLang="ja-JP" sz="2000" dirty="0"/>
              <a:t>Khi </a:t>
            </a:r>
            <a:r>
              <a:rPr lang="en-US" altLang="ja-JP" sz="2000" dirty="0" err="1"/>
              <a:t>chỉ</a:t>
            </a:r>
            <a:r>
              <a:rPr lang="en-US" altLang="ja-JP" sz="2000" dirty="0"/>
              <a:t> </a:t>
            </a:r>
            <a:r>
              <a:rPr lang="ja-JP" altLang="ja-JP" sz="2000" dirty="0"/>
              <a:t>có một dòng biểu thức duy nhất bên trong hàm lambda, chúng ta có thể sử dụng cú pháp lambda biểu thức thay vì cú pháp câu lệnh lambda để đơn giản hơn.</a:t>
            </a:r>
            <a:endParaRPr lang="ja-JP" altLang="en-US" sz="2000" b="0" kern="0" dirty="0"/>
          </a:p>
        </p:txBody>
      </p:sp>
      <p:pic>
        <p:nvPicPr>
          <p:cNvPr id="7" name="Picture 6">
            <a:extLst>
              <a:ext uri="{FF2B5EF4-FFF2-40B4-BE49-F238E27FC236}">
                <a16:creationId xmlns:a16="http://schemas.microsoft.com/office/drawing/2014/main" id="{6FCC738A-54AF-EE2C-214E-A008A9B43B5A}"/>
              </a:ext>
            </a:extLst>
          </p:cNvPr>
          <p:cNvPicPr>
            <a:picLocks noChangeAspect="1"/>
          </p:cNvPicPr>
          <p:nvPr/>
        </p:nvPicPr>
        <p:blipFill>
          <a:blip r:embed="rId2"/>
          <a:stretch>
            <a:fillRect/>
          </a:stretch>
        </p:blipFill>
        <p:spPr>
          <a:xfrm>
            <a:off x="144463" y="1948044"/>
            <a:ext cx="9632577" cy="1703961"/>
          </a:xfrm>
          <a:prstGeom prst="rect">
            <a:avLst/>
          </a:prstGeom>
        </p:spPr>
      </p:pic>
      <p:pic>
        <p:nvPicPr>
          <p:cNvPr id="9" name="Picture 8">
            <a:extLst>
              <a:ext uri="{FF2B5EF4-FFF2-40B4-BE49-F238E27FC236}">
                <a16:creationId xmlns:a16="http://schemas.microsoft.com/office/drawing/2014/main" id="{44301F33-84FF-1E1D-2333-E2F6BE019C1E}"/>
              </a:ext>
            </a:extLst>
          </p:cNvPr>
          <p:cNvPicPr>
            <a:picLocks noChangeAspect="1"/>
          </p:cNvPicPr>
          <p:nvPr/>
        </p:nvPicPr>
        <p:blipFill>
          <a:blip r:embed="rId3"/>
          <a:stretch>
            <a:fillRect/>
          </a:stretch>
        </p:blipFill>
        <p:spPr>
          <a:xfrm>
            <a:off x="144463" y="4353196"/>
            <a:ext cx="9632577" cy="1562877"/>
          </a:xfrm>
          <a:prstGeom prst="rect">
            <a:avLst/>
          </a:prstGeom>
        </p:spPr>
      </p:pic>
    </p:spTree>
    <p:extLst>
      <p:ext uri="{BB962C8B-B14F-4D97-AF65-F5344CB8AC3E}">
        <p14:creationId xmlns:p14="http://schemas.microsoft.com/office/powerpoint/2010/main" val="4073254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24E8-8A1A-8E41-5532-36ECA411663C}"/>
              </a:ext>
            </a:extLst>
          </p:cNvPr>
          <p:cNvSpPr>
            <a:spLocks noGrp="1"/>
          </p:cNvSpPr>
          <p:nvPr>
            <p:ph type="title"/>
          </p:nvPr>
        </p:nvSpPr>
        <p:spPr/>
        <p:txBody>
          <a:bodyPr>
            <a:normAutofit fontScale="90000"/>
          </a:bodyPr>
          <a:lstStyle/>
          <a:p>
            <a:r>
              <a:rPr lang="ja-JP" altLang="ja-JP" b="1" dirty="0"/>
              <a:t>Biểu thức Lambda</a:t>
            </a:r>
            <a:endParaRPr kumimoji="1" lang="ja-JP" altLang="en-US" dirty="0"/>
          </a:p>
        </p:txBody>
      </p:sp>
      <p:sp>
        <p:nvSpPr>
          <p:cNvPr id="3" name="Content Placeholder 2">
            <a:extLst>
              <a:ext uri="{FF2B5EF4-FFF2-40B4-BE49-F238E27FC236}">
                <a16:creationId xmlns:a16="http://schemas.microsoft.com/office/drawing/2014/main" id="{257F8063-EC2D-EA35-7FD8-2C2323FB10E3}"/>
              </a:ext>
            </a:extLst>
          </p:cNvPr>
          <p:cNvSpPr>
            <a:spLocks noGrp="1"/>
          </p:cNvSpPr>
          <p:nvPr>
            <p:ph idx="1"/>
          </p:nvPr>
        </p:nvSpPr>
        <p:spPr/>
        <p:txBody>
          <a:bodyPr>
            <a:normAutofit fontScale="85000" lnSpcReduction="10000"/>
          </a:bodyPr>
          <a:lstStyle/>
          <a:p>
            <a:pPr marL="0" indent="0">
              <a:buNone/>
            </a:pPr>
            <a:r>
              <a:rPr lang="vi-VN" altLang="ja-JP" dirty="0"/>
              <a:t>Lợi ích</a:t>
            </a:r>
          </a:p>
          <a:p>
            <a:r>
              <a:rPr lang="vi-VN" altLang="ja-JP" dirty="0"/>
              <a:t>Mã ngắn gọn: Giảm sự phức tạp khi viết mã.</a:t>
            </a:r>
          </a:p>
          <a:p>
            <a:r>
              <a:rPr lang="vi-VN" altLang="ja-JP" dirty="0"/>
              <a:t>Dễ bảo trì: Code dễ đọc và dễ hiểu hơn.</a:t>
            </a:r>
          </a:p>
          <a:p>
            <a:r>
              <a:rPr lang="vi-VN" altLang="ja-JP" dirty="0"/>
              <a:t>Tăng hiệu suất: Khi kết hợp với Stream API, biểu thức Lambda có thể tận dụng xử lý song song.</a:t>
            </a:r>
          </a:p>
          <a:p>
            <a:pPr marL="0" indent="0">
              <a:buNone/>
            </a:pPr>
            <a:r>
              <a:rPr lang="ja-JP" altLang="ja-JP" b="1" dirty="0"/>
              <a:t>Hạn chế</a:t>
            </a:r>
          </a:p>
          <a:p>
            <a:pPr lvl="0"/>
            <a:r>
              <a:rPr lang="ja-JP" altLang="ja-JP" dirty="0"/>
              <a:t>Khó debug: Với các biểu thức Lambda phức tạp, việc tìm lỗi có thể khó khăn.</a:t>
            </a:r>
          </a:p>
          <a:p>
            <a:pPr lvl="0"/>
            <a:r>
              <a:rPr lang="ja-JP" altLang="ja-JP" dirty="0"/>
              <a:t>Khó đọc với người mới: Những người mới học Java có thể thấy cú pháp Lambda lạ lẫm.</a:t>
            </a:r>
          </a:p>
          <a:p>
            <a:pPr lvl="0"/>
            <a:r>
              <a:rPr lang="ja-JP" altLang="ja-JP" dirty="0"/>
              <a:t>Hiệu suất: Trong một số trường hợp, sử dụng Lambda có thể làm tăng chi phí xử lý nếu không được tối ưu hóa.</a:t>
            </a:r>
          </a:p>
          <a:p>
            <a:endParaRPr kumimoji="1" lang="ja-JP" altLang="en-US" dirty="0"/>
          </a:p>
        </p:txBody>
      </p:sp>
      <p:sp>
        <p:nvSpPr>
          <p:cNvPr id="4" name="Slide Number Placeholder 3">
            <a:extLst>
              <a:ext uri="{FF2B5EF4-FFF2-40B4-BE49-F238E27FC236}">
                <a16:creationId xmlns:a16="http://schemas.microsoft.com/office/drawing/2014/main" id="{AAAB4B48-0B78-7FB6-C6AF-513BDBDFE28B}"/>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16</a:t>
            </a:fld>
            <a:endParaRPr lang="en-US" altLang="ja-JP"/>
          </a:p>
        </p:txBody>
      </p:sp>
    </p:spTree>
    <p:extLst>
      <p:ext uri="{BB962C8B-B14F-4D97-AF65-F5344CB8AC3E}">
        <p14:creationId xmlns:p14="http://schemas.microsoft.com/office/powerpoint/2010/main" val="2262026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08996-E99D-0996-7075-8DBB1C5A99DE}"/>
              </a:ext>
            </a:extLst>
          </p:cNvPr>
          <p:cNvSpPr>
            <a:spLocks noGrp="1"/>
          </p:cNvSpPr>
          <p:nvPr>
            <p:ph type="title"/>
          </p:nvPr>
        </p:nvSpPr>
        <p:spPr/>
        <p:txBody>
          <a:bodyPr>
            <a:normAutofit fontScale="90000"/>
          </a:bodyPr>
          <a:lstStyle/>
          <a:p>
            <a:r>
              <a:rPr lang="ja-JP" altLang="ja-JP" b="1" dirty="0"/>
              <a:t>Ứng dụng thực tế </a:t>
            </a:r>
            <a:endParaRPr kumimoji="1" lang="ja-JP" altLang="en-US" dirty="0"/>
          </a:p>
        </p:txBody>
      </p:sp>
      <p:sp>
        <p:nvSpPr>
          <p:cNvPr id="3" name="Content Placeholder 2">
            <a:extLst>
              <a:ext uri="{FF2B5EF4-FFF2-40B4-BE49-F238E27FC236}">
                <a16:creationId xmlns:a16="http://schemas.microsoft.com/office/drawing/2014/main" id="{B42F9FFE-BE69-1CD0-4609-BC4F22ACAD5F}"/>
              </a:ext>
            </a:extLst>
          </p:cNvPr>
          <p:cNvSpPr>
            <a:spLocks noGrp="1"/>
          </p:cNvSpPr>
          <p:nvPr>
            <p:ph idx="1"/>
          </p:nvPr>
        </p:nvSpPr>
        <p:spPr/>
        <p:txBody>
          <a:bodyPr>
            <a:normAutofit/>
          </a:bodyPr>
          <a:lstStyle/>
          <a:p>
            <a:pPr marL="0" indent="0">
              <a:buNone/>
            </a:pPr>
            <a:r>
              <a:rPr lang="ja-JP" altLang="ja-JP" b="1" dirty="0"/>
              <a:t>Làm việc với Stream API</a:t>
            </a:r>
          </a:p>
          <a:p>
            <a:r>
              <a:rPr lang="ja-JP" altLang="ja-JP" dirty="0"/>
              <a:t>Stream API trong Java 8 cho phép xử lý dữ liệu theo phong cách lập trình chức năng. Biểu thức Lambda thường được sử dụng để định nghĩa các thao tác như lọc, ánh xạ, hoặc sắp xếp.</a:t>
            </a:r>
          </a:p>
          <a:p>
            <a:r>
              <a:rPr lang="ja-JP" altLang="ja-JP" dirty="0"/>
              <a:t>Ví dụ: Lọc các số chẵn trong danh sách:</a:t>
            </a:r>
          </a:p>
          <a:p>
            <a:pPr marL="400050" lvl="1" indent="0">
              <a:buNone/>
            </a:pPr>
            <a:r>
              <a:rPr lang="ja-JP" altLang="ja-JP" dirty="0"/>
              <a:t>List&lt;Integer&gt; numbers = Arrays.asList(1, 2, 3, 4, 5, 6);</a:t>
            </a:r>
          </a:p>
          <a:p>
            <a:pPr marL="400050" lvl="1" indent="0">
              <a:buNone/>
            </a:pPr>
            <a:r>
              <a:rPr lang="ja-JP" altLang="ja-JP" dirty="0"/>
              <a:t>numbers.stream()</a:t>
            </a:r>
          </a:p>
          <a:p>
            <a:pPr marL="400050" lvl="1" indent="0">
              <a:buNone/>
            </a:pPr>
            <a:r>
              <a:rPr lang="ja-JP" altLang="ja-JP" dirty="0"/>
              <a:t>       .filter(n -&gt; n % 2 == 0)</a:t>
            </a:r>
          </a:p>
          <a:p>
            <a:pPr marL="400050" lvl="1" indent="0">
              <a:buNone/>
            </a:pPr>
            <a:r>
              <a:rPr lang="ja-JP" altLang="ja-JP" dirty="0"/>
              <a:t>       .forEach(System.out::println);</a:t>
            </a:r>
          </a:p>
          <a:p>
            <a:endParaRPr kumimoji="1" lang="ja-JP" altLang="en-US" dirty="0"/>
          </a:p>
        </p:txBody>
      </p:sp>
      <p:sp>
        <p:nvSpPr>
          <p:cNvPr id="4" name="Slide Number Placeholder 3">
            <a:extLst>
              <a:ext uri="{FF2B5EF4-FFF2-40B4-BE49-F238E27FC236}">
                <a16:creationId xmlns:a16="http://schemas.microsoft.com/office/drawing/2014/main" id="{8C784238-00D5-817B-D23C-B5FDB9EA05F9}"/>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17</a:t>
            </a:fld>
            <a:endParaRPr lang="en-US" altLang="ja-JP"/>
          </a:p>
        </p:txBody>
      </p:sp>
    </p:spTree>
    <p:extLst>
      <p:ext uri="{BB962C8B-B14F-4D97-AF65-F5344CB8AC3E}">
        <p14:creationId xmlns:p14="http://schemas.microsoft.com/office/powerpoint/2010/main" val="207108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C0F97-A267-70CB-6485-2DFBB12BE166}"/>
              </a:ext>
            </a:extLst>
          </p:cNvPr>
          <p:cNvSpPr>
            <a:spLocks noGrp="1"/>
          </p:cNvSpPr>
          <p:nvPr>
            <p:ph type="title"/>
          </p:nvPr>
        </p:nvSpPr>
        <p:spPr/>
        <p:txBody>
          <a:bodyPr>
            <a:normAutofit fontScale="90000"/>
          </a:bodyPr>
          <a:lstStyle/>
          <a:p>
            <a:r>
              <a:rPr lang="ja-JP" altLang="ja-JP" dirty="0"/>
              <a:t>Stream là gì?</a:t>
            </a:r>
            <a:endParaRPr kumimoji="1" lang="ja-JP" altLang="en-US" dirty="0"/>
          </a:p>
        </p:txBody>
      </p:sp>
      <p:sp>
        <p:nvSpPr>
          <p:cNvPr id="3" name="Content Placeholder 2">
            <a:extLst>
              <a:ext uri="{FF2B5EF4-FFF2-40B4-BE49-F238E27FC236}">
                <a16:creationId xmlns:a16="http://schemas.microsoft.com/office/drawing/2014/main" id="{9DFA4C79-75E2-1E11-76D7-4FFF32841FE9}"/>
              </a:ext>
            </a:extLst>
          </p:cNvPr>
          <p:cNvSpPr>
            <a:spLocks noGrp="1"/>
          </p:cNvSpPr>
          <p:nvPr>
            <p:ph idx="1"/>
          </p:nvPr>
        </p:nvSpPr>
        <p:spPr>
          <a:xfrm>
            <a:off x="128464" y="1124744"/>
            <a:ext cx="6272336" cy="5328592"/>
          </a:xfrm>
        </p:spPr>
        <p:txBody>
          <a:bodyPr>
            <a:normAutofit/>
          </a:bodyPr>
          <a:lstStyle/>
          <a:p>
            <a:pPr marL="0" indent="0">
              <a:buNone/>
            </a:pPr>
            <a:r>
              <a:rPr lang="ja-JP" altLang="ja-JP" sz="2400" dirty="0"/>
              <a:t>Hãy tưởng tượng Stream như một </a:t>
            </a:r>
            <a:r>
              <a:rPr lang="ja-JP" altLang="ja-JP" sz="2400" b="1" dirty="0"/>
              <a:t>dòng dữ liệu</a:t>
            </a:r>
            <a:r>
              <a:rPr lang="ja-JP" altLang="ja-JP" sz="2400" dirty="0"/>
              <a:t> chảy qua nhiều bước xử lý.</a:t>
            </a:r>
            <a:endParaRPr lang="en-US" altLang="ja-JP" sz="2400" dirty="0"/>
          </a:p>
          <a:p>
            <a:endParaRPr lang="en-US" altLang="ja-JP" sz="2400" dirty="0"/>
          </a:p>
          <a:p>
            <a:pPr marL="0" indent="0">
              <a:buNone/>
            </a:pPr>
            <a:r>
              <a:rPr lang="ja-JP" altLang="ja-JP" sz="2400" dirty="0"/>
              <a:t>List&lt;Integer&gt; numbers = List.of(</a:t>
            </a:r>
            <a:r>
              <a:rPr lang="en-US" altLang="ja-JP" sz="2400" dirty="0"/>
              <a:t>5</a:t>
            </a:r>
            <a:r>
              <a:rPr lang="ja-JP" altLang="ja-JP" sz="2400" dirty="0"/>
              <a:t>, </a:t>
            </a:r>
            <a:r>
              <a:rPr lang="en-US" altLang="ja-JP" sz="2400" dirty="0"/>
              <a:t>4</a:t>
            </a:r>
            <a:r>
              <a:rPr lang="ja-JP" altLang="ja-JP" sz="2400" dirty="0"/>
              <a:t>, </a:t>
            </a:r>
            <a:r>
              <a:rPr lang="en-US" altLang="ja-JP" sz="2400" dirty="0"/>
              <a:t>2</a:t>
            </a:r>
            <a:r>
              <a:rPr lang="ja-JP" altLang="ja-JP" sz="2400" dirty="0"/>
              <a:t>, </a:t>
            </a:r>
            <a:r>
              <a:rPr lang="en-US" altLang="ja-JP" sz="2400" dirty="0"/>
              <a:t>1</a:t>
            </a:r>
            <a:r>
              <a:rPr lang="ja-JP" altLang="ja-JP" sz="2400" dirty="0"/>
              <a:t>, </a:t>
            </a:r>
            <a:r>
              <a:rPr lang="en-US" altLang="ja-JP" sz="2400" dirty="0"/>
              <a:t>3</a:t>
            </a:r>
            <a:r>
              <a:rPr lang="ja-JP" altLang="ja-JP" sz="2400" dirty="0"/>
              <a:t>);</a:t>
            </a:r>
            <a:br>
              <a:rPr lang="ja-JP" altLang="ja-JP" sz="2400" dirty="0"/>
            </a:br>
            <a:endParaRPr lang="ja-JP" altLang="ja-JP" sz="2400" dirty="0"/>
          </a:p>
          <a:p>
            <a:pPr marL="0" indent="0">
              <a:buNone/>
            </a:pPr>
            <a:r>
              <a:rPr lang="ja-JP" altLang="ja-JP" sz="2400" dirty="0"/>
              <a:t>List&lt;Integer&gt; result = numbers.stream()</a:t>
            </a:r>
            <a:br>
              <a:rPr lang="ja-JP" altLang="ja-JP" sz="2400" dirty="0"/>
            </a:br>
            <a:r>
              <a:rPr lang="en-US" altLang="ja-JP" sz="2400" dirty="0"/>
              <a:t>            </a:t>
            </a:r>
            <a:r>
              <a:rPr lang="ja-JP" altLang="ja-JP" sz="2400" dirty="0"/>
              <a:t>.filter(n -&gt; n % 2 == 0)</a:t>
            </a:r>
          </a:p>
          <a:p>
            <a:pPr marL="0" indent="0">
              <a:buNone/>
            </a:pPr>
            <a:r>
              <a:rPr lang="en-US" altLang="ja-JP" sz="2400" dirty="0"/>
              <a:t>           </a:t>
            </a:r>
            <a:r>
              <a:rPr lang="ja-JP" altLang="ja-JP" sz="2400" dirty="0"/>
              <a:t>.map(n -&gt; n * 2)</a:t>
            </a:r>
            <a:endParaRPr lang="en-US" altLang="ja-JP" sz="2400" dirty="0"/>
          </a:p>
          <a:p>
            <a:pPr marL="0" indent="0">
              <a:buNone/>
            </a:pPr>
            <a:r>
              <a:rPr lang="en-US" altLang="ja-JP" sz="2400" dirty="0"/>
              <a:t>	.sorted()</a:t>
            </a:r>
            <a:endParaRPr lang="ja-JP" altLang="ja-JP" sz="2400" dirty="0"/>
          </a:p>
          <a:p>
            <a:pPr marL="0" indent="0">
              <a:buNone/>
            </a:pPr>
            <a:r>
              <a:rPr lang="en-US" altLang="ja-JP" sz="2400" dirty="0"/>
              <a:t>           </a:t>
            </a:r>
            <a:r>
              <a:rPr lang="ja-JP" altLang="ja-JP" sz="2400" dirty="0"/>
              <a:t>.toList();</a:t>
            </a:r>
          </a:p>
          <a:p>
            <a:pPr marL="0" indent="0" algn="ctr">
              <a:buNone/>
            </a:pPr>
            <a:endParaRPr lang="ja-JP" altLang="ja-JP" sz="2400" dirty="0"/>
          </a:p>
          <a:p>
            <a:endParaRPr kumimoji="1" lang="ja-JP" altLang="en-US" sz="2400" dirty="0"/>
          </a:p>
        </p:txBody>
      </p:sp>
      <p:sp>
        <p:nvSpPr>
          <p:cNvPr id="4" name="Slide Number Placeholder 3">
            <a:extLst>
              <a:ext uri="{FF2B5EF4-FFF2-40B4-BE49-F238E27FC236}">
                <a16:creationId xmlns:a16="http://schemas.microsoft.com/office/drawing/2014/main" id="{0BB177E9-427A-F159-7402-F32EB3CC31AE}"/>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18</a:t>
            </a:fld>
            <a:endParaRPr lang="en-US" altLang="ja-JP"/>
          </a:p>
        </p:txBody>
      </p:sp>
      <p:sp>
        <p:nvSpPr>
          <p:cNvPr id="6" name="TextBox 5">
            <a:extLst>
              <a:ext uri="{FF2B5EF4-FFF2-40B4-BE49-F238E27FC236}">
                <a16:creationId xmlns:a16="http://schemas.microsoft.com/office/drawing/2014/main" id="{EB7F696D-A055-51E2-FB08-B8E6C17499E4}"/>
              </a:ext>
            </a:extLst>
          </p:cNvPr>
          <p:cNvSpPr txBox="1"/>
          <p:nvPr/>
        </p:nvSpPr>
        <p:spPr>
          <a:xfrm>
            <a:off x="6781800" y="2362200"/>
            <a:ext cx="2743200" cy="3416320"/>
          </a:xfrm>
          <a:prstGeom prst="rect">
            <a:avLst/>
          </a:prstGeom>
          <a:noFill/>
        </p:spPr>
        <p:txBody>
          <a:bodyPr wrap="square">
            <a:spAutoFit/>
          </a:bodyPr>
          <a:lstStyle/>
          <a:p>
            <a:pPr marL="0" indent="0" algn="ctr">
              <a:buNone/>
            </a:pPr>
            <a:r>
              <a:rPr lang="ja-JP" altLang="ja-JP" sz="2400" dirty="0">
                <a:latin typeface="Times New Roman" panose="02020603050405020304" pitchFamily="18" charset="0"/>
                <a:cs typeface="Times New Roman" panose="02020603050405020304" pitchFamily="18" charset="0"/>
              </a:rPr>
              <a:t>Danh sách</a:t>
            </a:r>
          </a:p>
          <a:p>
            <a:pPr marL="0" indent="0" algn="ctr">
              <a:buNone/>
            </a:pPr>
            <a:r>
              <a:rPr lang="ja-JP" altLang="ja-JP" sz="2400" dirty="0">
                <a:latin typeface="Times New Roman" panose="02020603050405020304" pitchFamily="18" charset="0"/>
                <a:cs typeface="Times New Roman" panose="02020603050405020304" pitchFamily="18" charset="0"/>
              </a:rPr>
              <a:t>↓</a:t>
            </a:r>
          </a:p>
          <a:p>
            <a:pPr marL="0" indent="0" algn="ctr">
              <a:buNone/>
            </a:pPr>
            <a:r>
              <a:rPr lang="ja-JP" altLang="ja-JP" sz="2400" dirty="0">
                <a:latin typeface="Times New Roman" panose="02020603050405020304" pitchFamily="18" charset="0"/>
                <a:cs typeface="Times New Roman" panose="02020603050405020304" pitchFamily="18" charset="0"/>
              </a:rPr>
              <a:t>filter()</a:t>
            </a:r>
          </a:p>
          <a:p>
            <a:pPr marL="0" indent="0" algn="ctr">
              <a:buNone/>
            </a:pPr>
            <a:r>
              <a:rPr lang="ja-JP" altLang="ja-JP" sz="2400" dirty="0">
                <a:latin typeface="Times New Roman" panose="02020603050405020304" pitchFamily="18" charset="0"/>
                <a:cs typeface="Times New Roman" panose="02020603050405020304" pitchFamily="18" charset="0"/>
              </a:rPr>
              <a:t>↓</a:t>
            </a:r>
          </a:p>
          <a:p>
            <a:pPr marL="0" indent="0" algn="ctr">
              <a:buNone/>
            </a:pPr>
            <a:r>
              <a:rPr lang="ja-JP" altLang="ja-JP" sz="2400" dirty="0">
                <a:latin typeface="Times New Roman" panose="02020603050405020304" pitchFamily="18" charset="0"/>
                <a:cs typeface="Times New Roman" panose="02020603050405020304" pitchFamily="18" charset="0"/>
              </a:rPr>
              <a:t>map()</a:t>
            </a:r>
          </a:p>
          <a:p>
            <a:pPr marL="0" indent="0" algn="ctr">
              <a:buNone/>
            </a:pPr>
            <a:r>
              <a:rPr lang="ja-JP" altLang="ja-JP" sz="2400" dirty="0">
                <a:latin typeface="Times New Roman" panose="02020603050405020304" pitchFamily="18" charset="0"/>
                <a:cs typeface="Times New Roman" panose="02020603050405020304" pitchFamily="18" charset="0"/>
              </a:rPr>
              <a:t>↓</a:t>
            </a:r>
          </a:p>
          <a:p>
            <a:pPr marL="0" indent="0" algn="ctr">
              <a:buNone/>
            </a:pPr>
            <a:r>
              <a:rPr lang="ja-JP" altLang="ja-JP" sz="2400" dirty="0">
                <a:latin typeface="Times New Roman" panose="02020603050405020304" pitchFamily="18" charset="0"/>
                <a:cs typeface="Times New Roman" panose="02020603050405020304" pitchFamily="18" charset="0"/>
              </a:rPr>
              <a:t>sorted()</a:t>
            </a:r>
          </a:p>
          <a:p>
            <a:pPr marL="0" indent="0" algn="ctr">
              <a:buNone/>
            </a:pPr>
            <a:r>
              <a:rPr lang="ja-JP" altLang="ja-JP" sz="2400" dirty="0">
                <a:latin typeface="Times New Roman" panose="02020603050405020304" pitchFamily="18" charset="0"/>
                <a:cs typeface="Times New Roman" panose="02020603050405020304" pitchFamily="18" charset="0"/>
              </a:rPr>
              <a:t>↓</a:t>
            </a:r>
          </a:p>
          <a:p>
            <a:pPr marL="0" indent="0" algn="ctr">
              <a:buNone/>
            </a:pPr>
            <a:r>
              <a:rPr lang="ja-JP" altLang="ja-JP" sz="2400" dirty="0">
                <a:latin typeface="Times New Roman" panose="02020603050405020304" pitchFamily="18" charset="0"/>
                <a:cs typeface="Times New Roman" panose="02020603050405020304" pitchFamily="18" charset="0"/>
              </a:rPr>
              <a:t>collect()/toList()</a:t>
            </a:r>
          </a:p>
        </p:txBody>
      </p:sp>
    </p:spTree>
    <p:extLst>
      <p:ext uri="{BB962C8B-B14F-4D97-AF65-F5344CB8AC3E}">
        <p14:creationId xmlns:p14="http://schemas.microsoft.com/office/powerpoint/2010/main" val="3089755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D38D3-0241-3FC0-4812-67B1D68D9F8D}"/>
              </a:ext>
            </a:extLst>
          </p:cNvPr>
          <p:cNvSpPr>
            <a:spLocks noGrp="1"/>
          </p:cNvSpPr>
          <p:nvPr>
            <p:ph type="title"/>
          </p:nvPr>
        </p:nvSpPr>
        <p:spPr>
          <a:xfrm>
            <a:off x="128464" y="447189"/>
            <a:ext cx="9649072" cy="504056"/>
          </a:xfrm>
        </p:spPr>
        <p:txBody>
          <a:bodyPr>
            <a:normAutofit fontScale="90000"/>
          </a:bodyPr>
          <a:lstStyle/>
          <a:p>
            <a:r>
              <a:rPr lang="ja-JP" altLang="ja-JP" dirty="0"/>
              <a:t>Các thao tác phổ biến</a:t>
            </a:r>
            <a:endParaRPr kumimoji="1" lang="ja-JP" altLang="en-US" dirty="0"/>
          </a:p>
        </p:txBody>
      </p:sp>
      <p:sp>
        <p:nvSpPr>
          <p:cNvPr id="3" name="Content Placeholder 2">
            <a:extLst>
              <a:ext uri="{FF2B5EF4-FFF2-40B4-BE49-F238E27FC236}">
                <a16:creationId xmlns:a16="http://schemas.microsoft.com/office/drawing/2014/main" id="{3CE172B5-541A-F907-8D33-A800148FF1BD}"/>
              </a:ext>
            </a:extLst>
          </p:cNvPr>
          <p:cNvSpPr>
            <a:spLocks noGrp="1"/>
          </p:cNvSpPr>
          <p:nvPr>
            <p:ph idx="1"/>
          </p:nvPr>
        </p:nvSpPr>
        <p:spPr>
          <a:xfrm>
            <a:off x="5257800" y="1137933"/>
            <a:ext cx="4506156" cy="5328592"/>
          </a:xfrm>
        </p:spPr>
        <p:txBody>
          <a:bodyPr>
            <a:normAutofit fontScale="85000" lnSpcReduction="20000"/>
          </a:bodyPr>
          <a:lstStyle/>
          <a:p>
            <a:pPr fontAlgn="t"/>
            <a:r>
              <a:rPr lang="ja-JP" altLang="ja-JP" dirty="0"/>
              <a:t>filter()</a:t>
            </a:r>
          </a:p>
          <a:p>
            <a:pPr fontAlgn="t"/>
            <a:r>
              <a:rPr lang="ja-JP" altLang="ja-JP" dirty="0"/>
              <a:t>map() </a:t>
            </a:r>
            <a:endParaRPr lang="en-US" altLang="ja-JP" dirty="0"/>
          </a:p>
          <a:p>
            <a:pPr fontAlgn="t"/>
            <a:r>
              <a:rPr lang="ja-JP" altLang="ja-JP" dirty="0"/>
              <a:t>sorted() </a:t>
            </a:r>
            <a:endParaRPr lang="en-US" altLang="ja-JP" dirty="0"/>
          </a:p>
          <a:p>
            <a:pPr fontAlgn="t"/>
            <a:r>
              <a:rPr lang="ja-JP" altLang="ja-JP" dirty="0"/>
              <a:t>distinct()</a:t>
            </a:r>
          </a:p>
          <a:p>
            <a:pPr fontAlgn="t"/>
            <a:r>
              <a:rPr lang="ja-JP" altLang="ja-JP" dirty="0"/>
              <a:t>limit() </a:t>
            </a:r>
            <a:endParaRPr lang="en-US" altLang="ja-JP" dirty="0"/>
          </a:p>
          <a:p>
            <a:pPr fontAlgn="t"/>
            <a:r>
              <a:rPr lang="ja-JP" altLang="ja-JP" dirty="0"/>
              <a:t>skip()</a:t>
            </a:r>
            <a:endParaRPr lang="en-US" altLang="ja-JP" dirty="0"/>
          </a:p>
          <a:p>
            <a:pPr fontAlgn="t"/>
            <a:r>
              <a:rPr lang="ja-JP" altLang="ja-JP" dirty="0"/>
              <a:t>toList()</a:t>
            </a:r>
            <a:endParaRPr lang="en-US" altLang="ja-JP" dirty="0"/>
          </a:p>
          <a:p>
            <a:pPr fontAlgn="t"/>
            <a:r>
              <a:rPr lang="ja-JP" altLang="ja-JP" dirty="0"/>
              <a:t>collect()</a:t>
            </a:r>
            <a:endParaRPr lang="en-US" altLang="ja-JP" dirty="0"/>
          </a:p>
          <a:p>
            <a:pPr fontAlgn="t"/>
            <a:r>
              <a:rPr lang="ja-JP" altLang="ja-JP" dirty="0"/>
              <a:t>count()</a:t>
            </a:r>
            <a:endParaRPr lang="en-US" altLang="ja-JP" dirty="0"/>
          </a:p>
          <a:p>
            <a:pPr fontAlgn="t"/>
            <a:r>
              <a:rPr lang="ja-JP" altLang="ja-JP" dirty="0"/>
              <a:t>forEach()</a:t>
            </a:r>
            <a:endParaRPr lang="en-US" altLang="ja-JP" dirty="0"/>
          </a:p>
          <a:p>
            <a:pPr fontAlgn="t"/>
            <a:r>
              <a:rPr lang="ja-JP" altLang="ja-JP" dirty="0"/>
              <a:t>findFirst()</a:t>
            </a:r>
            <a:endParaRPr lang="en-US" altLang="ja-JP" dirty="0"/>
          </a:p>
          <a:p>
            <a:pPr fontAlgn="t"/>
            <a:r>
              <a:rPr lang="ja-JP" altLang="ja-JP" dirty="0"/>
              <a:t>reduce()</a:t>
            </a:r>
            <a:br>
              <a:rPr lang="ja-JP" altLang="ja-JP" dirty="0"/>
            </a:br>
            <a:endParaRPr lang="ja-JP" altLang="ja-JP" dirty="0"/>
          </a:p>
          <a:p>
            <a:pPr fontAlgn="t"/>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9BC092C8-0A9B-9F24-9D7D-587A7FF2D121}"/>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19</a:t>
            </a:fld>
            <a:endParaRPr lang="en-US" altLang="ja-JP"/>
          </a:p>
        </p:txBody>
      </p:sp>
      <p:sp>
        <p:nvSpPr>
          <p:cNvPr id="6" name="TextBox 5">
            <a:extLst>
              <a:ext uri="{FF2B5EF4-FFF2-40B4-BE49-F238E27FC236}">
                <a16:creationId xmlns:a16="http://schemas.microsoft.com/office/drawing/2014/main" id="{6A13DF01-EDA3-3B24-1BE6-BA4E4BD145FD}"/>
              </a:ext>
            </a:extLst>
          </p:cNvPr>
          <p:cNvSpPr txBox="1"/>
          <p:nvPr/>
        </p:nvSpPr>
        <p:spPr>
          <a:xfrm>
            <a:off x="381000" y="1168866"/>
            <a:ext cx="1981200" cy="4524315"/>
          </a:xfrm>
          <a:prstGeom prst="rect">
            <a:avLst/>
          </a:prstGeom>
          <a:noFill/>
        </p:spPr>
        <p:txBody>
          <a:bodyPr wrap="square">
            <a:spAutoFit/>
          </a:bodyPr>
          <a:lstStyle/>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5</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4</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2</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1</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3</a:t>
            </a:r>
            <a:r>
              <a:rPr lang="ja-JP" altLang="ja-JP" sz="3200" b="0" i="0" dirty="0">
                <a:effectLst/>
                <a:latin typeface="Times New Roman" panose="02020603050405020304" pitchFamily="18" charset="0"/>
                <a:cs typeface="Times New Roman" panose="02020603050405020304" pitchFamily="18" charset="0"/>
              </a:rPr>
              <a:t>]</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 filter</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4</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2</a:t>
            </a:r>
            <a:r>
              <a:rPr lang="ja-JP" altLang="ja-JP" sz="3200" b="0" i="0" dirty="0">
                <a:effectLst/>
                <a:latin typeface="Times New Roman" panose="02020603050405020304" pitchFamily="18" charset="0"/>
                <a:cs typeface="Times New Roman" panose="02020603050405020304" pitchFamily="18" charset="0"/>
              </a:rPr>
              <a:t>]</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 map</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8</a:t>
            </a:r>
            <a:r>
              <a:rPr lang="ja-JP" altLang="ja-JP" sz="3200" b="0" i="0" dirty="0">
                <a:effectLst/>
                <a:latin typeface="Times New Roman" panose="02020603050405020304" pitchFamily="18" charset="0"/>
                <a:cs typeface="Times New Roman" panose="02020603050405020304" pitchFamily="18" charset="0"/>
              </a:rPr>
              <a:t>,</a:t>
            </a:r>
            <a:r>
              <a:rPr lang="en-US" altLang="ja-JP" sz="3200" b="0" i="0" dirty="0">
                <a:effectLst/>
                <a:latin typeface="Times New Roman" panose="02020603050405020304" pitchFamily="18" charset="0"/>
                <a:cs typeface="Times New Roman" panose="02020603050405020304" pitchFamily="18" charset="0"/>
              </a:rPr>
              <a:t>4</a:t>
            </a:r>
            <a:r>
              <a:rPr lang="ja-JP" altLang="ja-JP" sz="3200" b="0" i="0" dirty="0">
                <a:effectLst/>
                <a:latin typeface="Times New Roman" panose="02020603050405020304" pitchFamily="18" charset="0"/>
                <a:cs typeface="Times New Roman" panose="02020603050405020304" pitchFamily="18" charset="0"/>
              </a:rPr>
              <a:t>]</a:t>
            </a:r>
            <a:endParaRPr lang="en-US" altLang="ja-JP" sz="3200" b="0" i="0" dirty="0">
              <a:effectLst/>
              <a:latin typeface="Times New Roman" panose="02020603050405020304" pitchFamily="18" charset="0"/>
              <a:cs typeface="Times New Roman" panose="02020603050405020304" pitchFamily="18" charset="0"/>
            </a:endParaRPr>
          </a:p>
          <a:p>
            <a:pPr fontAlgn="t"/>
            <a:r>
              <a:rPr lang="ja-JP" altLang="ja-JP" sz="3200" b="0" dirty="0">
                <a:latin typeface="Times New Roman" panose="02020603050405020304" pitchFamily="18" charset="0"/>
                <a:cs typeface="Times New Roman" panose="02020603050405020304" pitchFamily="18" charset="0"/>
              </a:rPr>
              <a:t>↓ </a:t>
            </a:r>
            <a:r>
              <a:rPr lang="en-US" altLang="ja-JP" sz="3200" b="0" dirty="0">
                <a:latin typeface="Times New Roman" panose="02020603050405020304" pitchFamily="18" charset="0"/>
                <a:cs typeface="Times New Roman" panose="02020603050405020304" pitchFamily="18" charset="0"/>
              </a:rPr>
              <a:t>sorted</a:t>
            </a:r>
            <a:endParaRPr lang="ja-JP" altLang="ja-JP" sz="3200" b="0" dirty="0">
              <a:latin typeface="Times New Roman" panose="02020603050405020304" pitchFamily="18" charset="0"/>
              <a:cs typeface="Times New Roman" panose="02020603050405020304" pitchFamily="18" charset="0"/>
            </a:endParaRPr>
          </a:p>
          <a:p>
            <a:pPr fontAlgn="t"/>
            <a:r>
              <a:rPr lang="ja-JP" altLang="ja-JP" sz="3200" b="0" dirty="0">
                <a:latin typeface="Times New Roman" panose="02020603050405020304" pitchFamily="18" charset="0"/>
                <a:cs typeface="Times New Roman" panose="02020603050405020304" pitchFamily="18" charset="0"/>
              </a:rPr>
              <a:t>[</a:t>
            </a:r>
            <a:r>
              <a:rPr lang="en-US" altLang="ja-JP" sz="3200" b="0" dirty="0">
                <a:latin typeface="Times New Roman" panose="02020603050405020304" pitchFamily="18" charset="0"/>
                <a:cs typeface="Times New Roman" panose="02020603050405020304" pitchFamily="18" charset="0"/>
              </a:rPr>
              <a:t>4</a:t>
            </a:r>
            <a:r>
              <a:rPr lang="ja-JP" altLang="ja-JP" sz="3200" b="0" dirty="0">
                <a:latin typeface="Times New Roman" panose="02020603050405020304" pitchFamily="18" charset="0"/>
                <a:cs typeface="Times New Roman" panose="02020603050405020304" pitchFamily="18" charset="0"/>
              </a:rPr>
              <a:t>,</a:t>
            </a:r>
            <a:r>
              <a:rPr lang="en-US" altLang="ja-JP" sz="3200" b="0" dirty="0">
                <a:latin typeface="Times New Roman" panose="02020603050405020304" pitchFamily="18" charset="0"/>
                <a:cs typeface="Times New Roman" panose="02020603050405020304" pitchFamily="18" charset="0"/>
              </a:rPr>
              <a:t>8</a:t>
            </a:r>
            <a:r>
              <a:rPr lang="ja-JP" altLang="ja-JP" sz="3200" b="0" dirty="0">
                <a:latin typeface="Times New Roman" panose="02020603050405020304" pitchFamily="18" charset="0"/>
                <a:cs typeface="Times New Roman" panose="02020603050405020304" pitchFamily="18" charset="0"/>
              </a:rPr>
              <a:t>]</a:t>
            </a:r>
            <a:endParaRPr lang="en-US" altLang="ja-JP" sz="3200" b="0" dirty="0">
              <a:latin typeface="Times New Roman" panose="02020603050405020304" pitchFamily="18" charset="0"/>
              <a:cs typeface="Times New Roman" panose="02020603050405020304" pitchFamily="18" charset="0"/>
            </a:endParaRP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 toList</a:t>
            </a:r>
          </a:p>
          <a:p>
            <a:pPr fontAlgn="t">
              <a:lnSpc>
                <a:spcPct val="100000"/>
              </a:lnSpc>
              <a:buNone/>
            </a:pPr>
            <a:r>
              <a:rPr lang="ja-JP" altLang="ja-JP" sz="3200" b="0" i="0" dirty="0">
                <a:effectLst/>
                <a:latin typeface="Times New Roman" panose="02020603050405020304" pitchFamily="18" charset="0"/>
                <a:cs typeface="Times New Roman" panose="02020603050405020304" pitchFamily="18" charset="0"/>
              </a:rPr>
              <a:t>[4,8]</a:t>
            </a:r>
          </a:p>
        </p:txBody>
      </p:sp>
    </p:spTree>
    <p:extLst>
      <p:ext uri="{BB962C8B-B14F-4D97-AF65-F5344CB8AC3E}">
        <p14:creationId xmlns:p14="http://schemas.microsoft.com/office/powerpoint/2010/main" val="3047412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0650-B194-7A79-E4DB-7BC31168584E}"/>
              </a:ext>
            </a:extLst>
          </p:cNvPr>
          <p:cNvSpPr>
            <a:spLocks noGrp="1"/>
          </p:cNvSpPr>
          <p:nvPr>
            <p:ph type="title"/>
          </p:nvPr>
        </p:nvSpPr>
        <p:spPr/>
        <p:txBody>
          <a:bodyPr>
            <a:normAutofit fontScale="90000"/>
          </a:bodyPr>
          <a:lstStyle/>
          <a:p>
            <a:r>
              <a:rPr lang="en-US" altLang="ja-JP" b="1" dirty="0" err="1"/>
              <a:t>Sử</a:t>
            </a:r>
            <a:r>
              <a:rPr lang="en-US" altLang="ja-JP" b="1" dirty="0"/>
              <a:t> </a:t>
            </a:r>
            <a:r>
              <a:rPr lang="en-US" altLang="ja-JP" b="1" dirty="0" err="1"/>
              <a:t>dụng</a:t>
            </a:r>
            <a:r>
              <a:rPr lang="en-US" altLang="ja-JP" b="1" dirty="0"/>
              <a:t> Stream</a:t>
            </a:r>
            <a:endParaRPr kumimoji="1" lang="ja-JP" altLang="en-US" dirty="0"/>
          </a:p>
        </p:txBody>
      </p:sp>
      <p:sp>
        <p:nvSpPr>
          <p:cNvPr id="3" name="Content Placeholder 2">
            <a:extLst>
              <a:ext uri="{FF2B5EF4-FFF2-40B4-BE49-F238E27FC236}">
                <a16:creationId xmlns:a16="http://schemas.microsoft.com/office/drawing/2014/main" id="{6AFACE23-ABF8-F009-F10F-1456E7652E0F}"/>
              </a:ext>
            </a:extLst>
          </p:cNvPr>
          <p:cNvSpPr>
            <a:spLocks noGrp="1"/>
          </p:cNvSpPr>
          <p:nvPr>
            <p:ph idx="1"/>
          </p:nvPr>
        </p:nvSpPr>
        <p:spPr/>
        <p:txBody>
          <a:bodyPr>
            <a:normAutofit/>
          </a:bodyPr>
          <a:lstStyle/>
          <a:p>
            <a:pPr algn="just" fontAlgn="t">
              <a:lnSpc>
                <a:spcPct val="100000"/>
              </a:lnSpc>
              <a:buNone/>
            </a:pPr>
            <a:r>
              <a:rPr lang="ja-JP" altLang="ja-JP" dirty="0"/>
              <a:t>Xử lý Collection</a:t>
            </a:r>
            <a:endParaRPr lang="en-US" altLang="ja-JP" dirty="0"/>
          </a:p>
          <a:p>
            <a:pPr algn="just" fontAlgn="t"/>
            <a:r>
              <a:rPr lang="ja-JP" altLang="ja-JP" dirty="0"/>
              <a:t>Lọc dữ liệu</a:t>
            </a:r>
            <a:endParaRPr lang="en-US" altLang="ja-JP" dirty="0"/>
          </a:p>
          <a:p>
            <a:pPr algn="just" fontAlgn="t"/>
            <a:r>
              <a:rPr lang="ja-JP" altLang="ja-JP" dirty="0"/>
              <a:t>Chuyển đổi dữ liệu</a:t>
            </a:r>
            <a:endParaRPr lang="en-US" altLang="ja-JP" dirty="0"/>
          </a:p>
          <a:p>
            <a:pPr algn="just" fontAlgn="t"/>
            <a:r>
              <a:rPr lang="ja-JP" altLang="ja-JP" dirty="0"/>
              <a:t>Thống kê, tổng hợp dữ liệu</a:t>
            </a:r>
            <a:endParaRPr lang="en-US" altLang="ja-JP" dirty="0"/>
          </a:p>
          <a:p>
            <a:pPr algn="just" fontAlgn="t"/>
            <a:r>
              <a:rPr lang="ja-JP" altLang="ja-JP" dirty="0"/>
              <a:t>Tìm kiếm trong danh sách</a:t>
            </a:r>
          </a:p>
          <a:p>
            <a:pPr algn="just" fontAlgn="t">
              <a:lnSpc>
                <a:spcPct val="100000"/>
              </a:lnSpc>
              <a:buNone/>
            </a:pPr>
            <a:r>
              <a:rPr lang="ja-JP" altLang="ja-JP" b="1" dirty="0"/>
              <a:t>Khi nào không nên lạm dụng?</a:t>
            </a:r>
          </a:p>
          <a:p>
            <a:pPr algn="just" fontAlgn="t"/>
            <a:r>
              <a:rPr lang="ja-JP" altLang="ja-JP" dirty="0"/>
              <a:t>Thuật toán phức tạp</a:t>
            </a:r>
            <a:endParaRPr lang="en-US" altLang="ja-JP" dirty="0"/>
          </a:p>
          <a:p>
            <a:pPr algn="just" fontAlgn="t"/>
            <a:r>
              <a:rPr lang="ja-JP" altLang="ja-JP" dirty="0"/>
              <a:t>Logic có nhiều trạng thái thay đổi</a:t>
            </a:r>
            <a:endParaRPr lang="en-US" altLang="ja-JP" dirty="0"/>
          </a:p>
          <a:p>
            <a:pPr algn="just" fontAlgn="t"/>
            <a:r>
              <a:rPr lang="ja-JP" altLang="ja-JP" dirty="0"/>
              <a:t>Cần tối ưu hiệu năng ở mức rất thấp</a:t>
            </a:r>
          </a:p>
          <a:p>
            <a:pPr algn="just"/>
            <a:endParaRPr kumimoji="1" lang="ja-JP" altLang="en-US" dirty="0"/>
          </a:p>
        </p:txBody>
      </p:sp>
      <p:sp>
        <p:nvSpPr>
          <p:cNvPr id="4" name="Slide Number Placeholder 3">
            <a:extLst>
              <a:ext uri="{FF2B5EF4-FFF2-40B4-BE49-F238E27FC236}">
                <a16:creationId xmlns:a16="http://schemas.microsoft.com/office/drawing/2014/main" id="{D78E1454-CEDA-D399-D65E-D2877C14C542}"/>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20</a:t>
            </a:fld>
            <a:endParaRPr lang="en-US" altLang="ja-JP"/>
          </a:p>
        </p:txBody>
      </p:sp>
    </p:spTree>
    <p:extLst>
      <p:ext uri="{BB962C8B-B14F-4D97-AF65-F5344CB8AC3E}">
        <p14:creationId xmlns:p14="http://schemas.microsoft.com/office/powerpoint/2010/main" val="388957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4C082-9ED2-2144-ACBD-DE645A35AE86}"/>
              </a:ext>
            </a:extLst>
          </p:cNvPr>
          <p:cNvSpPr>
            <a:spLocks noGrp="1"/>
          </p:cNvSpPr>
          <p:nvPr>
            <p:ph type="title"/>
          </p:nvPr>
        </p:nvSpPr>
        <p:spPr/>
        <p:txBody>
          <a:bodyPr>
            <a:normAutofit fontScale="90000"/>
          </a:bodyPr>
          <a:lstStyle/>
          <a:p>
            <a:r>
              <a:rPr lang="ja-JP" altLang="ja-JP" dirty="0"/>
              <a:t>Stream API</a:t>
            </a:r>
            <a:endParaRPr kumimoji="1" lang="ja-JP" altLang="en-US" dirty="0"/>
          </a:p>
        </p:txBody>
      </p:sp>
      <p:sp>
        <p:nvSpPr>
          <p:cNvPr id="3" name="Content Placeholder 2">
            <a:extLst>
              <a:ext uri="{FF2B5EF4-FFF2-40B4-BE49-F238E27FC236}">
                <a16:creationId xmlns:a16="http://schemas.microsoft.com/office/drawing/2014/main" id="{ACC44DC1-FEF1-370B-971E-83837E85187B}"/>
              </a:ext>
            </a:extLst>
          </p:cNvPr>
          <p:cNvSpPr>
            <a:spLocks noGrp="1"/>
          </p:cNvSpPr>
          <p:nvPr>
            <p:ph idx="1"/>
          </p:nvPr>
        </p:nvSpPr>
        <p:spPr/>
        <p:txBody>
          <a:bodyPr/>
          <a:lstStyle/>
          <a:p>
            <a:pPr fontAlgn="t"/>
            <a:r>
              <a:rPr lang="ja-JP" altLang="ja-JP" dirty="0"/>
              <a:t>Nguồn dữ liệu (Source)</a:t>
            </a:r>
          </a:p>
          <a:p>
            <a:pPr marL="0" indent="0" fontAlgn="t">
              <a:buNone/>
            </a:pPr>
            <a:r>
              <a:rPr lang="en-US" altLang="ja-JP" dirty="0"/>
              <a:t>	</a:t>
            </a:r>
            <a:r>
              <a:rPr lang="ja-JP" altLang="ja-JP" dirty="0"/>
              <a:t>↓</a:t>
            </a:r>
          </a:p>
          <a:p>
            <a:pPr fontAlgn="t"/>
            <a:r>
              <a:rPr lang="ja-JP" altLang="ja-JP" dirty="0"/>
              <a:t>Xử lý trung gian (Intermediate Operations)</a:t>
            </a:r>
          </a:p>
          <a:p>
            <a:pPr marL="0" indent="0" fontAlgn="t">
              <a:buNone/>
            </a:pPr>
            <a:r>
              <a:rPr lang="en-US" altLang="ja-JP" dirty="0"/>
              <a:t>	</a:t>
            </a:r>
            <a:r>
              <a:rPr lang="ja-JP" altLang="ja-JP" dirty="0"/>
              <a:t>↓</a:t>
            </a:r>
          </a:p>
          <a:p>
            <a:pPr fontAlgn="t"/>
            <a:r>
              <a:rPr lang="ja-JP" altLang="ja-JP" dirty="0"/>
              <a:t>Kết thúc (Terminal Operations)</a:t>
            </a:r>
          </a:p>
          <a:p>
            <a:endParaRPr kumimoji="1" lang="ja-JP" altLang="en-US" dirty="0"/>
          </a:p>
        </p:txBody>
      </p:sp>
      <p:sp>
        <p:nvSpPr>
          <p:cNvPr id="4" name="Slide Number Placeholder 3">
            <a:extLst>
              <a:ext uri="{FF2B5EF4-FFF2-40B4-BE49-F238E27FC236}">
                <a16:creationId xmlns:a16="http://schemas.microsoft.com/office/drawing/2014/main" id="{B4DAAAAA-E5FD-95CD-647D-AB6FF51BB2DF}"/>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21</a:t>
            </a:fld>
            <a:endParaRPr lang="en-US" altLang="ja-JP"/>
          </a:p>
        </p:txBody>
      </p:sp>
    </p:spTree>
    <p:extLst>
      <p:ext uri="{BB962C8B-B14F-4D97-AF65-F5344CB8AC3E}">
        <p14:creationId xmlns:p14="http://schemas.microsoft.com/office/powerpoint/2010/main" val="1801423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E1D86-31B8-3771-F624-ACA02482D698}"/>
              </a:ext>
            </a:extLst>
          </p:cNvPr>
          <p:cNvSpPr>
            <a:spLocks noGrp="1"/>
          </p:cNvSpPr>
          <p:nvPr>
            <p:ph type="title"/>
          </p:nvPr>
        </p:nvSpPr>
        <p:spPr/>
        <p:txBody>
          <a:bodyPr>
            <a:normAutofit fontScale="90000"/>
          </a:bodyPr>
          <a:lstStyle/>
          <a:p>
            <a:r>
              <a:rPr kumimoji="1" lang="en-US" altLang="ja-JP" dirty="0" err="1"/>
              <a:t>Nguồn</a:t>
            </a:r>
            <a:r>
              <a:rPr kumimoji="1" lang="en-US" altLang="ja-JP" dirty="0"/>
              <a:t> </a:t>
            </a:r>
            <a:r>
              <a:rPr kumimoji="1" lang="en-US" altLang="ja-JP" dirty="0" err="1"/>
              <a:t>dữ</a:t>
            </a:r>
            <a:r>
              <a:rPr kumimoji="1" lang="en-US" altLang="ja-JP" dirty="0"/>
              <a:t> </a:t>
            </a:r>
            <a:r>
              <a:rPr kumimoji="1" lang="en-US" altLang="ja-JP" dirty="0" err="1"/>
              <a:t>liệu</a:t>
            </a:r>
            <a:endParaRPr kumimoji="1" lang="ja-JP" altLang="en-US" dirty="0"/>
          </a:p>
        </p:txBody>
      </p:sp>
      <p:sp>
        <p:nvSpPr>
          <p:cNvPr id="3" name="Content Placeholder 2">
            <a:extLst>
              <a:ext uri="{FF2B5EF4-FFF2-40B4-BE49-F238E27FC236}">
                <a16:creationId xmlns:a16="http://schemas.microsoft.com/office/drawing/2014/main" id="{71466DBA-1DBB-6D89-EC9B-A8E154AAEE3D}"/>
              </a:ext>
            </a:extLst>
          </p:cNvPr>
          <p:cNvSpPr>
            <a:spLocks noGrp="1"/>
          </p:cNvSpPr>
          <p:nvPr>
            <p:ph idx="1"/>
          </p:nvPr>
        </p:nvSpPr>
        <p:spPr/>
        <p:txBody>
          <a:bodyPr>
            <a:normAutofit/>
          </a:bodyPr>
          <a:lstStyle/>
          <a:p>
            <a:pPr fontAlgn="t"/>
            <a:r>
              <a:rPr lang="ja-JP" altLang="ja-JP" dirty="0"/>
              <a:t>Tạo Stream</a:t>
            </a:r>
            <a:endParaRPr lang="en-US" altLang="ja-JP" dirty="0"/>
          </a:p>
          <a:p>
            <a:pPr lvl="1" fontAlgn="t"/>
            <a:r>
              <a:rPr lang="ja-JP" altLang="ja-JP" dirty="0"/>
              <a:t>Tạo Stream từ Collection</a:t>
            </a:r>
          </a:p>
          <a:p>
            <a:pPr fontAlgn="t">
              <a:lnSpc>
                <a:spcPct val="100000"/>
              </a:lnSpc>
              <a:buNone/>
            </a:pPr>
            <a:r>
              <a:rPr lang="en-US" altLang="ja-JP" dirty="0"/>
              <a:t>		</a:t>
            </a:r>
            <a:r>
              <a:rPr lang="ja-JP" altLang="ja-JP" dirty="0"/>
              <a:t>list.stream();</a:t>
            </a:r>
          </a:p>
          <a:p>
            <a:pPr lvl="1" fontAlgn="t">
              <a:buNone/>
            </a:pPr>
            <a:r>
              <a:rPr lang="ja-JP" altLang="ja-JP" dirty="0"/>
              <a:t>Ví dụ:</a:t>
            </a:r>
          </a:p>
          <a:p>
            <a:pPr lvl="1" fontAlgn="t">
              <a:buNone/>
            </a:pPr>
            <a:r>
              <a:rPr lang="ja-JP" altLang="ja-JP" i="1" dirty="0"/>
              <a:t>List&lt;String&gt; names = List.of("An", "Bình", "Cường");</a:t>
            </a:r>
          </a:p>
          <a:p>
            <a:pPr lvl="1" fontAlgn="t">
              <a:buNone/>
            </a:pPr>
            <a:r>
              <a:rPr lang="ja-JP" altLang="ja-JP" i="1" dirty="0"/>
              <a:t>names.stream();</a:t>
            </a:r>
          </a:p>
          <a:p>
            <a:pPr lvl="1" fontAlgn="t"/>
            <a:r>
              <a:rPr lang="en-US" altLang="ja-JP" dirty="0"/>
              <a:t>	</a:t>
            </a:r>
            <a:r>
              <a:rPr lang="ja-JP" altLang="ja-JP" dirty="0"/>
              <a:t>Tạo Stream trực tiếp</a:t>
            </a:r>
            <a:r>
              <a:rPr lang="en-US" altLang="ja-JP" dirty="0"/>
              <a:t> : </a:t>
            </a:r>
            <a:r>
              <a:rPr lang="ja-JP" altLang="ja-JP" b="1" dirty="0"/>
              <a:t>Stream.of()</a:t>
            </a:r>
            <a:endParaRPr lang="en-US" altLang="ja-JP" dirty="0"/>
          </a:p>
          <a:p>
            <a:pPr fontAlgn="t">
              <a:buNone/>
            </a:pPr>
            <a:r>
              <a:rPr lang="en-US" altLang="ja-JP" dirty="0"/>
              <a:t>	</a:t>
            </a:r>
            <a:r>
              <a:rPr lang="en-US" altLang="ja-JP" sz="2800" i="1" dirty="0" err="1"/>
              <a:t>Ví</a:t>
            </a:r>
            <a:r>
              <a:rPr lang="en-US" altLang="ja-JP" sz="2800" i="1" dirty="0"/>
              <a:t> </a:t>
            </a:r>
            <a:r>
              <a:rPr lang="en-US" altLang="ja-JP" sz="2800" i="1" dirty="0" err="1"/>
              <a:t>dụ</a:t>
            </a:r>
            <a:r>
              <a:rPr lang="en-US" altLang="ja-JP" sz="2800" i="1" dirty="0"/>
              <a:t>: </a:t>
            </a:r>
            <a:r>
              <a:rPr lang="ja-JP" altLang="ja-JP" sz="2800" i="1" dirty="0"/>
              <a:t>Stream.of("A", "B", "C");</a:t>
            </a:r>
          </a:p>
          <a:p>
            <a:pPr fontAlgn="t">
              <a:lnSpc>
                <a:spcPct val="100000"/>
              </a:lnSpc>
              <a:buNone/>
            </a:pPr>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C69E40CB-BC58-C50E-805E-35F3BFC17F66}"/>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22</a:t>
            </a:fld>
            <a:endParaRPr lang="en-US" altLang="ja-JP"/>
          </a:p>
        </p:txBody>
      </p:sp>
    </p:spTree>
    <p:extLst>
      <p:ext uri="{BB962C8B-B14F-4D97-AF65-F5344CB8AC3E}">
        <p14:creationId xmlns:p14="http://schemas.microsoft.com/office/powerpoint/2010/main" val="1749262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B8BFC-76DD-7163-58CB-3DD8ED7B552C}"/>
              </a:ext>
            </a:extLst>
          </p:cNvPr>
          <p:cNvSpPr>
            <a:spLocks noGrp="1"/>
          </p:cNvSpPr>
          <p:nvPr>
            <p:ph type="title"/>
          </p:nvPr>
        </p:nvSpPr>
        <p:spPr/>
        <p:txBody>
          <a:bodyPr>
            <a:normAutofit fontScale="90000"/>
          </a:bodyPr>
          <a:lstStyle/>
          <a:p>
            <a:r>
              <a:rPr lang="en-US" altLang="ja-JP" dirty="0"/>
              <a:t>I</a:t>
            </a:r>
            <a:r>
              <a:rPr lang="ja-JP" altLang="ja-JP" dirty="0"/>
              <a:t>ntermediate Operations</a:t>
            </a:r>
            <a:r>
              <a:rPr lang="en-US" altLang="ja-JP" dirty="0"/>
              <a:t> - </a:t>
            </a:r>
            <a:r>
              <a:rPr kumimoji="1" lang="en-US" altLang="ja-JP" dirty="0"/>
              <a:t>Các </a:t>
            </a:r>
            <a:r>
              <a:rPr kumimoji="1" lang="en-US" altLang="ja-JP" dirty="0" err="1"/>
              <a:t>hàm</a:t>
            </a:r>
            <a:r>
              <a:rPr kumimoji="1" lang="en-US" altLang="ja-JP" dirty="0"/>
              <a:t> </a:t>
            </a:r>
            <a:r>
              <a:rPr kumimoji="1" lang="en-US" altLang="ja-JP" dirty="0" err="1"/>
              <a:t>biến</a:t>
            </a:r>
            <a:r>
              <a:rPr kumimoji="1" lang="en-US" altLang="ja-JP" dirty="0"/>
              <a:t> </a:t>
            </a:r>
            <a:r>
              <a:rPr kumimoji="1" lang="en-US" altLang="ja-JP" dirty="0" err="1"/>
              <a:t>đổi</a:t>
            </a:r>
            <a:r>
              <a:rPr kumimoji="1" lang="en-US" altLang="ja-JP" dirty="0"/>
              <a:t> </a:t>
            </a:r>
            <a:r>
              <a:rPr kumimoji="1" lang="en-US" altLang="ja-JP" dirty="0" err="1"/>
              <a:t>dữ</a:t>
            </a:r>
            <a:r>
              <a:rPr kumimoji="1" lang="en-US" altLang="ja-JP" dirty="0"/>
              <a:t> </a:t>
            </a:r>
            <a:r>
              <a:rPr kumimoji="1" lang="en-US" altLang="ja-JP" dirty="0" err="1"/>
              <a:t>liệu</a:t>
            </a:r>
            <a:endParaRPr kumimoji="1" lang="ja-JP" altLang="en-US" dirty="0"/>
          </a:p>
        </p:txBody>
      </p:sp>
      <p:sp>
        <p:nvSpPr>
          <p:cNvPr id="3" name="Content Placeholder 2">
            <a:extLst>
              <a:ext uri="{FF2B5EF4-FFF2-40B4-BE49-F238E27FC236}">
                <a16:creationId xmlns:a16="http://schemas.microsoft.com/office/drawing/2014/main" id="{076C31A5-EF7A-1668-3090-2D9245AE9B09}"/>
              </a:ext>
            </a:extLst>
          </p:cNvPr>
          <p:cNvSpPr>
            <a:spLocks noGrp="1"/>
          </p:cNvSpPr>
          <p:nvPr>
            <p:ph idx="1"/>
          </p:nvPr>
        </p:nvSpPr>
        <p:spPr/>
        <p:txBody>
          <a:bodyPr/>
          <a:lstStyle/>
          <a:p>
            <a:pPr fontAlgn="t">
              <a:lnSpc>
                <a:spcPct val="100000"/>
              </a:lnSpc>
              <a:buNone/>
            </a:pPr>
            <a:r>
              <a:rPr lang="ja-JP" altLang="ja-JP" dirty="0"/>
              <a:t>Đặc điểm:</a:t>
            </a:r>
          </a:p>
          <a:p>
            <a:pPr lvl="0" fontAlgn="t">
              <a:buFont typeface="Arial" panose="020B0604020202020204" pitchFamily="34" charset="0"/>
              <a:buChar char="•"/>
            </a:pPr>
            <a:r>
              <a:rPr lang="ja-JP" altLang="ja-JP" dirty="0"/>
              <a:t>Trả về Stream mới</a:t>
            </a:r>
          </a:p>
          <a:p>
            <a:pPr lvl="0" fontAlgn="t">
              <a:buFont typeface="Arial" panose="020B0604020202020204" pitchFamily="34" charset="0"/>
              <a:buChar char="•"/>
            </a:pPr>
            <a:r>
              <a:rPr lang="ja-JP" altLang="ja-JP" dirty="0"/>
              <a:t>Chưa chạy ngay</a:t>
            </a:r>
          </a:p>
          <a:p>
            <a:pPr lvl="0" fontAlgn="t">
              <a:buFont typeface="Arial" panose="020B0604020202020204" pitchFamily="34" charset="0"/>
              <a:buChar char="•"/>
            </a:pPr>
            <a:r>
              <a:rPr lang="ja-JP" altLang="ja-JP" dirty="0"/>
              <a:t>Chỉ chạy khi có Terminal Operation</a:t>
            </a:r>
          </a:p>
          <a:p>
            <a:r>
              <a:rPr lang="ja-JP" altLang="ja-JP" dirty="0"/>
              <a:t>filter()</a:t>
            </a:r>
            <a:r>
              <a:rPr lang="en-US" altLang="ja-JP" dirty="0"/>
              <a:t>, </a:t>
            </a:r>
            <a:r>
              <a:rPr lang="ja-JP" altLang="ja-JP" dirty="0"/>
              <a:t>map() </a:t>
            </a:r>
            <a:r>
              <a:rPr lang="en-US" altLang="ja-JP" dirty="0"/>
              <a:t>,</a:t>
            </a:r>
            <a:r>
              <a:rPr lang="ja-JP" altLang="ja-JP" dirty="0"/>
              <a:t>flatMap() </a:t>
            </a:r>
            <a:r>
              <a:rPr lang="en-US" altLang="ja-JP" dirty="0"/>
              <a:t>,</a:t>
            </a:r>
            <a:r>
              <a:rPr lang="ja-JP" altLang="ja-JP" dirty="0"/>
              <a:t>distinct()</a:t>
            </a:r>
            <a:r>
              <a:rPr lang="en-US" altLang="ja-JP" dirty="0"/>
              <a:t>, </a:t>
            </a:r>
            <a:r>
              <a:rPr lang="ja-JP" altLang="ja-JP" dirty="0"/>
              <a:t>sorted()</a:t>
            </a:r>
            <a:r>
              <a:rPr lang="en-US" altLang="ja-JP" dirty="0"/>
              <a:t>,…</a:t>
            </a:r>
            <a:endParaRPr lang="ja-JP" altLang="ja-JP" dirty="0"/>
          </a:p>
          <a:p>
            <a:endParaRPr lang="ja-JP" altLang="ja-JP" dirty="0"/>
          </a:p>
          <a:p>
            <a:endParaRPr lang="ja-JP" altLang="ja-JP" dirty="0"/>
          </a:p>
          <a:p>
            <a:endParaRPr lang="ja-JP" altLang="ja-JP" dirty="0"/>
          </a:p>
          <a:p>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8B6C69A1-285D-1E17-14B1-7AA185F52849}"/>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23</a:t>
            </a:fld>
            <a:endParaRPr lang="en-US" altLang="ja-JP"/>
          </a:p>
        </p:txBody>
      </p:sp>
    </p:spTree>
    <p:extLst>
      <p:ext uri="{BB962C8B-B14F-4D97-AF65-F5344CB8AC3E}">
        <p14:creationId xmlns:p14="http://schemas.microsoft.com/office/powerpoint/2010/main" val="769532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BAE4A-84EA-D621-9299-2029F246A5B2}"/>
              </a:ext>
            </a:extLst>
          </p:cNvPr>
          <p:cNvSpPr>
            <a:spLocks noGrp="1"/>
          </p:cNvSpPr>
          <p:nvPr>
            <p:ph type="title"/>
          </p:nvPr>
        </p:nvSpPr>
        <p:spPr/>
        <p:txBody>
          <a:bodyPr>
            <a:normAutofit fontScale="90000"/>
          </a:bodyPr>
          <a:lstStyle/>
          <a:p>
            <a:r>
              <a:rPr lang="ja-JP" altLang="ja-JP" dirty="0"/>
              <a:t>Terminal Operations</a:t>
            </a:r>
            <a:r>
              <a:rPr lang="en-US" altLang="ja-JP" dirty="0"/>
              <a:t> - </a:t>
            </a:r>
            <a:r>
              <a:rPr lang="ja-JP" altLang="ja-JP" dirty="0"/>
              <a:t>Kích hoạt Stream chạy thật</a:t>
            </a:r>
            <a:endParaRPr kumimoji="1" lang="ja-JP" altLang="en-US" dirty="0"/>
          </a:p>
        </p:txBody>
      </p:sp>
      <p:sp>
        <p:nvSpPr>
          <p:cNvPr id="3" name="Content Placeholder 2">
            <a:extLst>
              <a:ext uri="{FF2B5EF4-FFF2-40B4-BE49-F238E27FC236}">
                <a16:creationId xmlns:a16="http://schemas.microsoft.com/office/drawing/2014/main" id="{5BA81E2C-3A89-4934-7995-0D92AC78A2F7}"/>
              </a:ext>
            </a:extLst>
          </p:cNvPr>
          <p:cNvSpPr>
            <a:spLocks noGrp="1"/>
          </p:cNvSpPr>
          <p:nvPr>
            <p:ph idx="1"/>
          </p:nvPr>
        </p:nvSpPr>
        <p:spPr>
          <a:xfrm>
            <a:off x="128464" y="1219200"/>
            <a:ext cx="9649072" cy="5328592"/>
          </a:xfrm>
        </p:spPr>
        <p:txBody>
          <a:bodyPr/>
          <a:lstStyle/>
          <a:p>
            <a:r>
              <a:rPr lang="ja-JP" altLang="ja-JP" dirty="0"/>
              <a:t>forEach()</a:t>
            </a:r>
            <a:r>
              <a:rPr lang="en-US" altLang="ja-JP" dirty="0"/>
              <a:t>: </a:t>
            </a:r>
            <a:r>
              <a:rPr lang="ja-JP" altLang="ja-JP" dirty="0"/>
              <a:t>Duyệt từng phần tử</a:t>
            </a:r>
            <a:endParaRPr lang="en-US" altLang="ja-JP" dirty="0"/>
          </a:p>
          <a:p>
            <a:r>
              <a:rPr lang="ja-JP" altLang="ja-JP" dirty="0"/>
              <a:t>collect()</a:t>
            </a:r>
            <a:r>
              <a:rPr lang="en-US" altLang="ja-JP" dirty="0"/>
              <a:t>: </a:t>
            </a:r>
            <a:r>
              <a:rPr lang="ja-JP" altLang="ja-JP" dirty="0"/>
              <a:t>Thu kết quả về Collection</a:t>
            </a:r>
            <a:endParaRPr lang="en-US" altLang="ja-JP" dirty="0"/>
          </a:p>
          <a:p>
            <a:r>
              <a:rPr lang="en-US" altLang="ja-JP" dirty="0" err="1"/>
              <a:t>toSet</a:t>
            </a:r>
            <a:r>
              <a:rPr lang="en-US" altLang="ja-JP" dirty="0"/>
              <a:t>(), </a:t>
            </a:r>
            <a:r>
              <a:rPr lang="en-US" altLang="ja-JP" dirty="0" err="1"/>
              <a:t>toMap</a:t>
            </a:r>
            <a:r>
              <a:rPr lang="en-US" altLang="ja-JP" dirty="0"/>
              <a:t>()</a:t>
            </a:r>
          </a:p>
          <a:p>
            <a:r>
              <a:rPr lang="en-US" altLang="ja-JP" dirty="0"/>
              <a:t>count():</a:t>
            </a:r>
            <a:r>
              <a:rPr lang="ja-JP" altLang="ja-JP" dirty="0"/>
              <a:t>Đếm số lượng</a:t>
            </a:r>
          </a:p>
          <a:p>
            <a:r>
              <a:rPr lang="ja-JP" altLang="ja-JP" dirty="0"/>
              <a:t>findFirst()</a:t>
            </a:r>
            <a:r>
              <a:rPr lang="en-US" altLang="ja-JP" dirty="0"/>
              <a:t>: </a:t>
            </a:r>
            <a:r>
              <a:rPr lang="ja-JP" altLang="ja-JP" dirty="0"/>
              <a:t>Lấy phần tử đầu tiên.</a:t>
            </a:r>
            <a:endParaRPr lang="en-US" altLang="ja-JP" dirty="0"/>
          </a:p>
          <a:p>
            <a:r>
              <a:rPr lang="en-US" altLang="ja-JP" dirty="0"/>
              <a:t>…</a:t>
            </a:r>
          </a:p>
          <a:p>
            <a:r>
              <a:rPr lang="en-US" altLang="ja-JP" dirty="0"/>
              <a:t>…</a:t>
            </a:r>
          </a:p>
          <a:p>
            <a:r>
              <a:rPr lang="ja-JP" altLang="ja-JP" dirty="0"/>
              <a:t>reduce()</a:t>
            </a:r>
            <a:r>
              <a:rPr lang="en-US" altLang="ja-JP" dirty="0"/>
              <a:t>: </a:t>
            </a:r>
            <a:r>
              <a:rPr lang="ja-JP" altLang="ja-JP" dirty="0"/>
              <a:t>Gộp nhiều phần tử thành một kết quả</a:t>
            </a:r>
          </a:p>
          <a:p>
            <a:endParaRPr lang="ja-JP" altLang="ja-JP" dirty="0"/>
          </a:p>
          <a:p>
            <a:endParaRPr lang="en-US" altLang="ja-JP" dirty="0"/>
          </a:p>
          <a:p>
            <a:endParaRPr lang="ja-JP" altLang="ja-JP" dirty="0"/>
          </a:p>
          <a:p>
            <a:endParaRPr lang="ja-JP" altLang="ja-JP" dirty="0"/>
          </a:p>
          <a:p>
            <a:endParaRPr lang="ja-JP" altLang="ja-JP" dirty="0"/>
          </a:p>
          <a:p>
            <a:endParaRPr lang="ja-JP" altLang="ja-JP" dirty="0"/>
          </a:p>
          <a:p>
            <a:endParaRPr lang="ja-JP" altLang="ja-JP" dirty="0"/>
          </a:p>
          <a:p>
            <a:endParaRPr kumimoji="1" lang="ja-JP" altLang="en-US" dirty="0"/>
          </a:p>
        </p:txBody>
      </p:sp>
      <p:sp>
        <p:nvSpPr>
          <p:cNvPr id="4" name="Slide Number Placeholder 3">
            <a:extLst>
              <a:ext uri="{FF2B5EF4-FFF2-40B4-BE49-F238E27FC236}">
                <a16:creationId xmlns:a16="http://schemas.microsoft.com/office/drawing/2014/main" id="{0C28B2ED-58CE-8B32-820D-B7F77100BEFD}"/>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24</a:t>
            </a:fld>
            <a:endParaRPr lang="en-US" altLang="ja-JP"/>
          </a:p>
        </p:txBody>
      </p:sp>
    </p:spTree>
    <p:extLst>
      <p:ext uri="{BB962C8B-B14F-4D97-AF65-F5344CB8AC3E}">
        <p14:creationId xmlns:p14="http://schemas.microsoft.com/office/powerpoint/2010/main" val="3481011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F75F-401B-C676-C27A-49995091CEDA}"/>
              </a:ext>
            </a:extLst>
          </p:cNvPr>
          <p:cNvSpPr>
            <a:spLocks noGrp="1"/>
          </p:cNvSpPr>
          <p:nvPr>
            <p:ph type="title"/>
          </p:nvPr>
        </p:nvSpPr>
        <p:spPr/>
        <p:txBody>
          <a:bodyPr>
            <a:normAutofit fontScale="90000"/>
          </a:bodyPr>
          <a:lstStyle/>
          <a:p>
            <a:r>
              <a:rPr kumimoji="1" lang="en-US" altLang="ja-JP" dirty="0"/>
              <a:t>Function Interface</a:t>
            </a:r>
            <a:endParaRPr kumimoji="1" lang="ja-JP" altLang="en-US" dirty="0"/>
          </a:p>
        </p:txBody>
      </p:sp>
      <p:sp>
        <p:nvSpPr>
          <p:cNvPr id="3" name="Content Placeholder 2">
            <a:extLst>
              <a:ext uri="{FF2B5EF4-FFF2-40B4-BE49-F238E27FC236}">
                <a16:creationId xmlns:a16="http://schemas.microsoft.com/office/drawing/2014/main" id="{F92E4A60-22DA-91D4-F018-44FD29457381}"/>
              </a:ext>
            </a:extLst>
          </p:cNvPr>
          <p:cNvSpPr>
            <a:spLocks noGrp="1"/>
          </p:cNvSpPr>
          <p:nvPr>
            <p:ph idx="1"/>
          </p:nvPr>
        </p:nvSpPr>
        <p:spPr/>
        <p:txBody>
          <a:bodyPr>
            <a:normAutofit/>
          </a:bodyPr>
          <a:lstStyle/>
          <a:p>
            <a:pPr marL="0" indent="0" algn="just">
              <a:buNone/>
            </a:pPr>
            <a:r>
              <a:rPr lang="en-US" altLang="ja-JP" sz="2800" dirty="0">
                <a:sym typeface="Wingdings" panose="05000000000000000000" pitchFamily="2" charset="2"/>
              </a:rPr>
              <a:t> </a:t>
            </a:r>
            <a:r>
              <a:rPr lang="ja-JP" altLang="ja-JP" sz="2800" dirty="0"/>
              <a:t>Trình biên dịch Java hoạt động mà không cần biết tên phương thức, kiểu dữ liệu tham số và kiểu trả về</a:t>
            </a:r>
            <a:endParaRPr lang="en-US" altLang="ja-JP" sz="2800" dirty="0"/>
          </a:p>
          <a:p>
            <a:pPr algn="just"/>
            <a:r>
              <a:rPr lang="ja-JP" altLang="ja-JP" sz="2800" dirty="0"/>
              <a:t>Một </a:t>
            </a:r>
            <a:r>
              <a:rPr lang="en-US" altLang="ja-JP" sz="2800" dirty="0"/>
              <a:t>Function Interface </a:t>
            </a:r>
            <a:r>
              <a:rPr lang="ja-JP" altLang="ja-JP" sz="2800" dirty="0"/>
              <a:t>là một giao diện chỉ định chính xác một phương thức trừu tượng duy nhất (S</a:t>
            </a:r>
            <a:r>
              <a:rPr lang="en-US" altLang="ja-JP" sz="2800" dirty="0"/>
              <a:t>ingle </a:t>
            </a:r>
            <a:r>
              <a:rPr lang="ja-JP" altLang="ja-JP" sz="2800" dirty="0"/>
              <a:t>A</a:t>
            </a:r>
            <a:r>
              <a:rPr lang="en-US" altLang="ja-JP" sz="2800" dirty="0" err="1"/>
              <a:t>bstract</a:t>
            </a:r>
            <a:r>
              <a:rPr lang="en-US" altLang="ja-JP" sz="2800" dirty="0"/>
              <a:t> </a:t>
            </a:r>
            <a:r>
              <a:rPr lang="ja-JP" altLang="ja-JP" sz="2800" dirty="0"/>
              <a:t>M</a:t>
            </a:r>
            <a:r>
              <a:rPr lang="en-US" altLang="ja-JP" sz="2800" dirty="0" err="1"/>
              <a:t>ethod</a:t>
            </a:r>
            <a:r>
              <a:rPr lang="en-US" altLang="ja-JP" sz="2800" dirty="0"/>
              <a:t> - SAM</a:t>
            </a:r>
            <a:r>
              <a:rPr lang="ja-JP" altLang="ja-JP" sz="2800" dirty="0"/>
              <a:t>). </a:t>
            </a:r>
            <a:endParaRPr lang="en-US" altLang="ja-JP" sz="2800" dirty="0"/>
          </a:p>
          <a:p>
            <a:pPr algn="just"/>
            <a:r>
              <a:rPr lang="ja-JP" altLang="ja-JP" sz="2800" dirty="0"/>
              <a:t>@ FunctionalInterface </a:t>
            </a:r>
            <a:r>
              <a:rPr lang="en-US" altLang="ja-JP" sz="2800" dirty="0"/>
              <a:t>: Khai </a:t>
            </a:r>
            <a:r>
              <a:rPr lang="en-US" altLang="ja-JP" sz="2800" dirty="0" err="1"/>
              <a:t>báo</a:t>
            </a:r>
            <a:r>
              <a:rPr lang="en-US" altLang="ja-JP" sz="2800" dirty="0"/>
              <a:t> </a:t>
            </a:r>
            <a:r>
              <a:rPr lang="ja-JP" altLang="ja-JP" sz="2800" dirty="0"/>
              <a:t>trên đầu </a:t>
            </a:r>
            <a:r>
              <a:rPr lang="en-US" altLang="ja-JP" sz="2800" dirty="0"/>
              <a:t>Interface</a:t>
            </a:r>
            <a:r>
              <a:rPr lang="ja-JP" altLang="ja-JP" sz="2800" dirty="0"/>
              <a:t> để đảm bảo rằng không thể thêm phương thức trừu tượng thứ hai. </a:t>
            </a:r>
            <a:endParaRPr lang="en-US" altLang="ja-JP" sz="2800" dirty="0"/>
          </a:p>
          <a:p>
            <a:pPr algn="just"/>
            <a:r>
              <a:rPr lang="ja-JP" altLang="ja-JP" sz="2800" dirty="0"/>
              <a:t>Chỉ cho phép 1 phương thức trừu tượng</a:t>
            </a:r>
            <a:endParaRPr kumimoji="1" lang="ja-JP" altLang="en-US" sz="2400" dirty="0"/>
          </a:p>
        </p:txBody>
      </p:sp>
      <p:sp>
        <p:nvSpPr>
          <p:cNvPr id="4" name="Slide Number Placeholder 3">
            <a:extLst>
              <a:ext uri="{FF2B5EF4-FFF2-40B4-BE49-F238E27FC236}">
                <a16:creationId xmlns:a16="http://schemas.microsoft.com/office/drawing/2014/main" id="{65B2FAAA-377B-5951-9A4F-2AB5DAB2516C}"/>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25</a:t>
            </a:fld>
            <a:endParaRPr lang="en-US" altLang="ja-JP"/>
          </a:p>
        </p:txBody>
      </p:sp>
    </p:spTree>
    <p:extLst>
      <p:ext uri="{BB962C8B-B14F-4D97-AF65-F5344CB8AC3E}">
        <p14:creationId xmlns:p14="http://schemas.microsoft.com/office/powerpoint/2010/main" val="1792861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2C022-704B-BBF9-2BAA-FB4E95D1BD3A}"/>
              </a:ext>
            </a:extLst>
          </p:cNvPr>
          <p:cNvSpPr>
            <a:spLocks noGrp="1"/>
          </p:cNvSpPr>
          <p:nvPr>
            <p:ph type="title"/>
          </p:nvPr>
        </p:nvSpPr>
        <p:spPr/>
        <p:txBody>
          <a:bodyPr>
            <a:normAutofit fontScale="90000"/>
          </a:bodyPr>
          <a:lstStyle/>
          <a:p>
            <a:r>
              <a:rPr kumimoji="1" lang="en-US" altLang="ja-JP"/>
              <a:t>Function Interface</a:t>
            </a:r>
            <a:endParaRPr kumimoji="1" lang="ja-JP" altLang="en-US"/>
          </a:p>
        </p:txBody>
      </p:sp>
      <p:sp>
        <p:nvSpPr>
          <p:cNvPr id="3" name="Content Placeholder 2">
            <a:extLst>
              <a:ext uri="{FF2B5EF4-FFF2-40B4-BE49-F238E27FC236}">
                <a16:creationId xmlns:a16="http://schemas.microsoft.com/office/drawing/2014/main" id="{B666DB94-C51D-FE84-8E6C-613D4CBD3ED8}"/>
              </a:ext>
            </a:extLst>
          </p:cNvPr>
          <p:cNvSpPr>
            <a:spLocks noGrp="1"/>
          </p:cNvSpPr>
          <p:nvPr>
            <p:ph idx="1"/>
          </p:nvPr>
        </p:nvSpPr>
        <p:spPr/>
        <p:txBody>
          <a:bodyPr/>
          <a:lstStyle/>
          <a:p>
            <a:r>
              <a:rPr lang="en-US" altLang="ja-JP" dirty="0">
                <a:solidFill>
                  <a:srgbClr val="000000"/>
                </a:solidFill>
              </a:rPr>
              <a:t>Function&lt;T,R&gt; : </a:t>
            </a:r>
            <a:r>
              <a:rPr lang="en-US" altLang="ja-JP" dirty="0" err="1">
                <a:solidFill>
                  <a:srgbClr val="000000"/>
                </a:solidFill>
              </a:rPr>
              <a:t>Biến</a:t>
            </a:r>
            <a:r>
              <a:rPr lang="en-US" altLang="ja-JP" dirty="0">
                <a:solidFill>
                  <a:srgbClr val="000000"/>
                </a:solidFill>
              </a:rPr>
              <a:t> </a:t>
            </a:r>
            <a:r>
              <a:rPr lang="en-US" altLang="ja-JP" dirty="0" err="1">
                <a:solidFill>
                  <a:srgbClr val="000000"/>
                </a:solidFill>
              </a:rPr>
              <a:t>đổi</a:t>
            </a:r>
            <a:r>
              <a:rPr lang="en-US" altLang="ja-JP" dirty="0">
                <a:solidFill>
                  <a:srgbClr val="000000"/>
                </a:solidFill>
              </a:rPr>
              <a:t> </a:t>
            </a:r>
            <a:r>
              <a:rPr lang="en-US" altLang="ja-JP" dirty="0" err="1">
                <a:solidFill>
                  <a:srgbClr val="000000"/>
                </a:solidFill>
              </a:rPr>
              <a:t>dữ</a:t>
            </a:r>
            <a:r>
              <a:rPr lang="en-US" altLang="ja-JP" dirty="0">
                <a:solidFill>
                  <a:srgbClr val="000000"/>
                </a:solidFill>
              </a:rPr>
              <a:t> </a:t>
            </a:r>
            <a:r>
              <a:rPr lang="en-US" altLang="ja-JP" dirty="0" err="1">
                <a:solidFill>
                  <a:srgbClr val="000000"/>
                </a:solidFill>
              </a:rPr>
              <a:t>liệu</a:t>
            </a:r>
            <a:endParaRPr lang="en-US" altLang="ja-JP" dirty="0"/>
          </a:p>
          <a:p>
            <a:r>
              <a:rPr lang="en-US" altLang="ja-JP" dirty="0">
                <a:solidFill>
                  <a:srgbClr val="000000"/>
                </a:solidFill>
              </a:rPr>
              <a:t>Predicate&lt;T&gt; : </a:t>
            </a:r>
            <a:r>
              <a:rPr lang="en-US" altLang="ja-JP" dirty="0" err="1">
                <a:solidFill>
                  <a:srgbClr val="000000"/>
                </a:solidFill>
              </a:rPr>
              <a:t>Kiểm</a:t>
            </a:r>
            <a:r>
              <a:rPr lang="en-US" altLang="ja-JP" dirty="0">
                <a:solidFill>
                  <a:srgbClr val="000000"/>
                </a:solidFill>
              </a:rPr>
              <a:t> </a:t>
            </a:r>
            <a:r>
              <a:rPr lang="en-US" altLang="ja-JP" dirty="0" err="1">
                <a:solidFill>
                  <a:srgbClr val="000000"/>
                </a:solidFill>
              </a:rPr>
              <a:t>tra</a:t>
            </a:r>
            <a:r>
              <a:rPr lang="en-US" altLang="ja-JP" dirty="0">
                <a:solidFill>
                  <a:srgbClr val="000000"/>
                </a:solidFill>
              </a:rPr>
              <a:t> </a:t>
            </a:r>
            <a:r>
              <a:rPr lang="en-US" altLang="ja-JP" dirty="0" err="1">
                <a:solidFill>
                  <a:srgbClr val="000000"/>
                </a:solidFill>
              </a:rPr>
              <a:t>điều</a:t>
            </a:r>
            <a:r>
              <a:rPr lang="en-US" altLang="ja-JP" dirty="0">
                <a:solidFill>
                  <a:srgbClr val="000000"/>
                </a:solidFill>
              </a:rPr>
              <a:t> </a:t>
            </a:r>
            <a:r>
              <a:rPr lang="en-US" altLang="ja-JP" dirty="0" err="1">
                <a:solidFill>
                  <a:srgbClr val="000000"/>
                </a:solidFill>
              </a:rPr>
              <a:t>kiện</a:t>
            </a:r>
            <a:endParaRPr lang="en-US" altLang="ja-JP" dirty="0"/>
          </a:p>
          <a:p>
            <a:r>
              <a:rPr lang="en-US" altLang="ja-JP" dirty="0">
                <a:solidFill>
                  <a:srgbClr val="000000"/>
                </a:solidFill>
              </a:rPr>
              <a:t>Consumer&lt;T&gt; : </a:t>
            </a:r>
            <a:r>
              <a:rPr lang="en-US" altLang="ja-JP" dirty="0" err="1">
                <a:solidFill>
                  <a:srgbClr val="000000"/>
                </a:solidFill>
              </a:rPr>
              <a:t>Thực</a:t>
            </a:r>
            <a:r>
              <a:rPr lang="en-US" altLang="ja-JP" dirty="0">
                <a:solidFill>
                  <a:srgbClr val="000000"/>
                </a:solidFill>
              </a:rPr>
              <a:t> </a:t>
            </a:r>
            <a:r>
              <a:rPr lang="en-US" altLang="ja-JP" dirty="0" err="1">
                <a:solidFill>
                  <a:srgbClr val="000000"/>
                </a:solidFill>
              </a:rPr>
              <a:t>hiện</a:t>
            </a:r>
            <a:r>
              <a:rPr lang="en-US" altLang="ja-JP" dirty="0">
                <a:solidFill>
                  <a:srgbClr val="000000"/>
                </a:solidFill>
              </a:rPr>
              <a:t> </a:t>
            </a:r>
            <a:r>
              <a:rPr lang="en-US" altLang="ja-JP" dirty="0" err="1">
                <a:solidFill>
                  <a:srgbClr val="000000"/>
                </a:solidFill>
              </a:rPr>
              <a:t>hành</a:t>
            </a:r>
            <a:r>
              <a:rPr lang="en-US" altLang="ja-JP" dirty="0">
                <a:solidFill>
                  <a:srgbClr val="000000"/>
                </a:solidFill>
              </a:rPr>
              <a:t> </a:t>
            </a:r>
            <a:r>
              <a:rPr lang="en-US" altLang="ja-JP" dirty="0" err="1">
                <a:solidFill>
                  <a:srgbClr val="000000"/>
                </a:solidFill>
              </a:rPr>
              <a:t>động</a:t>
            </a:r>
            <a:endParaRPr lang="en-US" altLang="ja-JP" dirty="0"/>
          </a:p>
          <a:p>
            <a:r>
              <a:rPr lang="en-US" altLang="ja-JP" dirty="0">
                <a:solidFill>
                  <a:srgbClr val="000000"/>
                </a:solidFill>
              </a:rPr>
              <a:t>Supplier&lt;T&gt; : Sinh </a:t>
            </a:r>
            <a:r>
              <a:rPr lang="en-US" altLang="ja-JP" dirty="0" err="1">
                <a:solidFill>
                  <a:srgbClr val="000000"/>
                </a:solidFill>
              </a:rPr>
              <a:t>dữ</a:t>
            </a:r>
            <a:r>
              <a:rPr lang="en-US" altLang="ja-JP" dirty="0">
                <a:solidFill>
                  <a:srgbClr val="000000"/>
                </a:solidFill>
              </a:rPr>
              <a:t> </a:t>
            </a:r>
            <a:r>
              <a:rPr lang="en-US" altLang="ja-JP" dirty="0" err="1">
                <a:solidFill>
                  <a:srgbClr val="000000"/>
                </a:solidFill>
              </a:rPr>
              <a:t>liệu</a:t>
            </a:r>
            <a:endParaRPr lang="en-US" altLang="ja-JP" dirty="0"/>
          </a:p>
          <a:p>
            <a:endParaRPr kumimoji="1" lang="ja-JP" altLang="en-US" dirty="0"/>
          </a:p>
        </p:txBody>
      </p:sp>
      <p:sp>
        <p:nvSpPr>
          <p:cNvPr id="4" name="Slide Number Placeholder 3">
            <a:extLst>
              <a:ext uri="{FF2B5EF4-FFF2-40B4-BE49-F238E27FC236}">
                <a16:creationId xmlns:a16="http://schemas.microsoft.com/office/drawing/2014/main" id="{E2D9BB52-10FB-25E0-830A-E8F45A52053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26</a:t>
            </a:fld>
            <a:endParaRPr lang="en-US" altLang="ja-JP"/>
          </a:p>
        </p:txBody>
      </p:sp>
    </p:spTree>
    <p:extLst>
      <p:ext uri="{BB962C8B-B14F-4D97-AF65-F5344CB8AC3E}">
        <p14:creationId xmlns:p14="http://schemas.microsoft.com/office/powerpoint/2010/main" val="1874484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7FD2C-249B-323F-263E-384382DDE855}"/>
              </a:ext>
            </a:extLst>
          </p:cNvPr>
          <p:cNvSpPr>
            <a:spLocks noGrp="1"/>
          </p:cNvSpPr>
          <p:nvPr>
            <p:ph type="title"/>
          </p:nvPr>
        </p:nvSpPr>
        <p:spPr/>
        <p:txBody>
          <a:bodyPr>
            <a:normAutofit fontScale="90000"/>
          </a:bodyPr>
          <a:lstStyle/>
          <a:p>
            <a:r>
              <a:rPr lang="en-US" altLang="ja-JP" dirty="0">
                <a:solidFill>
                  <a:srgbClr val="000000"/>
                </a:solidFill>
              </a:rPr>
              <a:t>Function&lt;T,R&gt; : </a:t>
            </a:r>
            <a:r>
              <a:rPr lang="en-US" altLang="ja-JP" dirty="0" err="1">
                <a:solidFill>
                  <a:srgbClr val="000000"/>
                </a:solidFill>
              </a:rPr>
              <a:t>Biến</a:t>
            </a:r>
            <a:r>
              <a:rPr lang="en-US" altLang="ja-JP" dirty="0">
                <a:solidFill>
                  <a:srgbClr val="000000"/>
                </a:solidFill>
              </a:rPr>
              <a:t> </a:t>
            </a:r>
            <a:r>
              <a:rPr lang="en-US" altLang="ja-JP" dirty="0" err="1">
                <a:solidFill>
                  <a:srgbClr val="000000"/>
                </a:solidFill>
              </a:rPr>
              <a:t>đổi</a:t>
            </a:r>
            <a:r>
              <a:rPr lang="en-US" altLang="ja-JP" dirty="0">
                <a:solidFill>
                  <a:srgbClr val="000000"/>
                </a:solidFill>
              </a:rPr>
              <a:t> </a:t>
            </a:r>
            <a:r>
              <a:rPr lang="en-US" altLang="ja-JP" dirty="0" err="1">
                <a:solidFill>
                  <a:srgbClr val="000000"/>
                </a:solidFill>
              </a:rPr>
              <a:t>dữ</a:t>
            </a:r>
            <a:r>
              <a:rPr lang="en-US" altLang="ja-JP" dirty="0">
                <a:solidFill>
                  <a:srgbClr val="000000"/>
                </a:solidFill>
              </a:rPr>
              <a:t> </a:t>
            </a:r>
            <a:r>
              <a:rPr lang="en-US" altLang="ja-JP" dirty="0" err="1">
                <a:solidFill>
                  <a:srgbClr val="000000"/>
                </a:solidFill>
              </a:rPr>
              <a:t>liệu</a:t>
            </a:r>
            <a:endParaRPr kumimoji="1" lang="ja-JP" altLang="en-US" dirty="0"/>
          </a:p>
        </p:txBody>
      </p:sp>
      <p:sp>
        <p:nvSpPr>
          <p:cNvPr id="3" name="Content Placeholder 2">
            <a:extLst>
              <a:ext uri="{FF2B5EF4-FFF2-40B4-BE49-F238E27FC236}">
                <a16:creationId xmlns:a16="http://schemas.microsoft.com/office/drawing/2014/main" id="{0C76022A-DE68-23B7-0B46-C4E6C5FC8A9F}"/>
              </a:ext>
            </a:extLst>
          </p:cNvPr>
          <p:cNvSpPr>
            <a:spLocks noGrp="1"/>
          </p:cNvSpPr>
          <p:nvPr>
            <p:ph idx="1"/>
          </p:nvPr>
        </p:nvSpPr>
        <p:spPr/>
        <p:txBody>
          <a:bodyPr>
            <a:normAutofit/>
          </a:bodyPr>
          <a:lstStyle/>
          <a:p>
            <a:r>
              <a:rPr lang="ja-JP" altLang="ja-JP" sz="2800" dirty="0"/>
              <a:t>Function&lt;String, Integer&gt; length =  s -&gt; s.length();</a:t>
            </a:r>
            <a:endParaRPr lang="en-US" altLang="ja-JP" sz="2800" dirty="0"/>
          </a:p>
          <a:p>
            <a:r>
              <a:rPr lang="ja-JP" altLang="ja-JP" sz="2800" dirty="0"/>
              <a:t>System.out.println(length.apply("Java"));</a:t>
            </a:r>
          </a:p>
          <a:p>
            <a:endParaRPr lang="en-US" altLang="ja-JP" sz="2800" dirty="0"/>
          </a:p>
          <a:p>
            <a:r>
              <a:rPr lang="en-US" altLang="ja-JP" sz="2800" dirty="0" err="1"/>
              <a:t>Kết</a:t>
            </a:r>
            <a:r>
              <a:rPr lang="en-US" altLang="ja-JP" sz="2800" dirty="0"/>
              <a:t> </a:t>
            </a:r>
            <a:r>
              <a:rPr lang="en-US" altLang="ja-JP" sz="2800" dirty="0" err="1"/>
              <a:t>quả</a:t>
            </a:r>
            <a:r>
              <a:rPr lang="en-US" altLang="ja-JP" sz="2800" dirty="0"/>
              <a:t>: 4</a:t>
            </a:r>
            <a:endParaRPr lang="ja-JP" altLang="ja-JP" sz="2800" dirty="0"/>
          </a:p>
          <a:p>
            <a:endParaRPr kumimoji="1" lang="ja-JP" altLang="en-US" sz="2800" dirty="0"/>
          </a:p>
        </p:txBody>
      </p:sp>
      <p:sp>
        <p:nvSpPr>
          <p:cNvPr id="4" name="Slide Number Placeholder 3">
            <a:extLst>
              <a:ext uri="{FF2B5EF4-FFF2-40B4-BE49-F238E27FC236}">
                <a16:creationId xmlns:a16="http://schemas.microsoft.com/office/drawing/2014/main" id="{FDF1FBA5-BB88-5195-6B46-AC71FAF0DF15}"/>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27</a:t>
            </a:fld>
            <a:endParaRPr lang="en-US" altLang="ja-JP"/>
          </a:p>
        </p:txBody>
      </p:sp>
    </p:spTree>
    <p:extLst>
      <p:ext uri="{BB962C8B-B14F-4D97-AF65-F5344CB8AC3E}">
        <p14:creationId xmlns:p14="http://schemas.microsoft.com/office/powerpoint/2010/main" val="4110830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7E13B-B200-C527-EAB9-69749738C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E5B1C-695B-569C-FC68-4214E42EC67D}"/>
              </a:ext>
            </a:extLst>
          </p:cNvPr>
          <p:cNvSpPr>
            <a:spLocks noGrp="1"/>
          </p:cNvSpPr>
          <p:nvPr>
            <p:ph type="title"/>
          </p:nvPr>
        </p:nvSpPr>
        <p:spPr/>
        <p:txBody>
          <a:bodyPr>
            <a:normAutofit fontScale="90000"/>
          </a:bodyPr>
          <a:lstStyle/>
          <a:p>
            <a:r>
              <a:rPr lang="en-US" altLang="ja-JP" dirty="0">
                <a:solidFill>
                  <a:srgbClr val="000000"/>
                </a:solidFill>
              </a:rPr>
              <a:t>Predicate&lt;T&gt; : </a:t>
            </a:r>
            <a:r>
              <a:rPr lang="en-US" altLang="ja-JP" dirty="0" err="1">
                <a:solidFill>
                  <a:srgbClr val="000000"/>
                </a:solidFill>
              </a:rPr>
              <a:t>Kiểm</a:t>
            </a:r>
            <a:r>
              <a:rPr lang="en-US" altLang="ja-JP" dirty="0">
                <a:solidFill>
                  <a:srgbClr val="000000"/>
                </a:solidFill>
              </a:rPr>
              <a:t> </a:t>
            </a:r>
            <a:r>
              <a:rPr lang="en-US" altLang="ja-JP" dirty="0" err="1">
                <a:solidFill>
                  <a:srgbClr val="000000"/>
                </a:solidFill>
              </a:rPr>
              <a:t>tra</a:t>
            </a:r>
            <a:r>
              <a:rPr lang="en-US" altLang="ja-JP" dirty="0">
                <a:solidFill>
                  <a:srgbClr val="000000"/>
                </a:solidFill>
              </a:rPr>
              <a:t> </a:t>
            </a:r>
            <a:r>
              <a:rPr lang="en-US" altLang="ja-JP" dirty="0" err="1">
                <a:solidFill>
                  <a:srgbClr val="000000"/>
                </a:solidFill>
              </a:rPr>
              <a:t>điều</a:t>
            </a:r>
            <a:r>
              <a:rPr lang="en-US" altLang="ja-JP" dirty="0">
                <a:solidFill>
                  <a:srgbClr val="000000"/>
                </a:solidFill>
              </a:rPr>
              <a:t> </a:t>
            </a:r>
            <a:r>
              <a:rPr lang="en-US" altLang="ja-JP" dirty="0" err="1">
                <a:solidFill>
                  <a:srgbClr val="000000"/>
                </a:solidFill>
              </a:rPr>
              <a:t>kiện</a:t>
            </a:r>
            <a:endParaRPr lang="en-US" altLang="ja-JP" dirty="0"/>
          </a:p>
        </p:txBody>
      </p:sp>
      <p:sp>
        <p:nvSpPr>
          <p:cNvPr id="3" name="Content Placeholder 2">
            <a:extLst>
              <a:ext uri="{FF2B5EF4-FFF2-40B4-BE49-F238E27FC236}">
                <a16:creationId xmlns:a16="http://schemas.microsoft.com/office/drawing/2014/main" id="{457F6EEC-7C56-B18F-8A7A-A1D9F7957BB8}"/>
              </a:ext>
            </a:extLst>
          </p:cNvPr>
          <p:cNvSpPr>
            <a:spLocks noGrp="1"/>
          </p:cNvSpPr>
          <p:nvPr>
            <p:ph idx="1"/>
          </p:nvPr>
        </p:nvSpPr>
        <p:spPr/>
        <p:txBody>
          <a:bodyPr>
            <a:normAutofit/>
          </a:bodyPr>
          <a:lstStyle/>
          <a:p>
            <a:r>
              <a:rPr lang="ja-JP" altLang="ja-JP" sz="2800" dirty="0"/>
              <a:t>Predicate&lt;Integer&gt; isAdult =</a:t>
            </a:r>
            <a:r>
              <a:rPr lang="en-US" altLang="ja-JP" sz="2800" dirty="0"/>
              <a:t> </a:t>
            </a:r>
            <a:r>
              <a:rPr lang="ja-JP" altLang="ja-JP" sz="2800" dirty="0"/>
              <a:t>age -&gt; age &gt;= 18;</a:t>
            </a:r>
          </a:p>
          <a:p>
            <a:r>
              <a:rPr lang="ja-JP" altLang="ja-JP" sz="2800" dirty="0"/>
              <a:t>System.out.println(isAdult.test(20));</a:t>
            </a:r>
          </a:p>
          <a:p>
            <a:endParaRPr lang="en-US" altLang="ja-JP" sz="2800" dirty="0"/>
          </a:p>
          <a:p>
            <a:r>
              <a:rPr lang="en-US" altLang="ja-JP" sz="2800" dirty="0" err="1"/>
              <a:t>Kết</a:t>
            </a:r>
            <a:r>
              <a:rPr lang="en-US" altLang="ja-JP" sz="2800" dirty="0"/>
              <a:t> </a:t>
            </a:r>
            <a:r>
              <a:rPr lang="en-US" altLang="ja-JP" sz="2800" dirty="0" err="1"/>
              <a:t>quả</a:t>
            </a:r>
            <a:r>
              <a:rPr lang="en-US" altLang="ja-JP" sz="2800" dirty="0"/>
              <a:t>: True</a:t>
            </a:r>
            <a:endParaRPr lang="ja-JP" altLang="ja-JP" sz="2800" dirty="0"/>
          </a:p>
          <a:p>
            <a:endParaRPr kumimoji="1" lang="ja-JP" altLang="en-US" sz="2800" dirty="0"/>
          </a:p>
        </p:txBody>
      </p:sp>
      <p:sp>
        <p:nvSpPr>
          <p:cNvPr id="4" name="Slide Number Placeholder 3">
            <a:extLst>
              <a:ext uri="{FF2B5EF4-FFF2-40B4-BE49-F238E27FC236}">
                <a16:creationId xmlns:a16="http://schemas.microsoft.com/office/drawing/2014/main" id="{0EC0EB6F-8295-03F3-C673-E91923650F2B}"/>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28</a:t>
            </a:fld>
            <a:endParaRPr lang="en-US" altLang="ja-JP"/>
          </a:p>
        </p:txBody>
      </p:sp>
    </p:spTree>
    <p:extLst>
      <p:ext uri="{BB962C8B-B14F-4D97-AF65-F5344CB8AC3E}">
        <p14:creationId xmlns:p14="http://schemas.microsoft.com/office/powerpoint/2010/main" val="3549906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48B7D-FE98-6F8A-1ED9-8E7450CD0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37D74-0B67-8C36-D678-F19B0E1299D4}"/>
              </a:ext>
            </a:extLst>
          </p:cNvPr>
          <p:cNvSpPr>
            <a:spLocks noGrp="1"/>
          </p:cNvSpPr>
          <p:nvPr>
            <p:ph type="title"/>
          </p:nvPr>
        </p:nvSpPr>
        <p:spPr/>
        <p:txBody>
          <a:bodyPr>
            <a:normAutofit fontScale="90000"/>
          </a:bodyPr>
          <a:lstStyle/>
          <a:p>
            <a:r>
              <a:rPr lang="en-US" altLang="ja-JP" dirty="0">
                <a:solidFill>
                  <a:srgbClr val="000000"/>
                </a:solidFill>
              </a:rPr>
              <a:t>Consumer&lt;T&gt; : </a:t>
            </a:r>
            <a:r>
              <a:rPr lang="en-US" altLang="ja-JP" dirty="0" err="1">
                <a:solidFill>
                  <a:srgbClr val="000000"/>
                </a:solidFill>
              </a:rPr>
              <a:t>Thực</a:t>
            </a:r>
            <a:r>
              <a:rPr lang="en-US" altLang="ja-JP" dirty="0">
                <a:solidFill>
                  <a:srgbClr val="000000"/>
                </a:solidFill>
              </a:rPr>
              <a:t> </a:t>
            </a:r>
            <a:r>
              <a:rPr lang="en-US" altLang="ja-JP" dirty="0" err="1">
                <a:solidFill>
                  <a:srgbClr val="000000"/>
                </a:solidFill>
              </a:rPr>
              <a:t>hiện</a:t>
            </a:r>
            <a:r>
              <a:rPr lang="en-US" altLang="ja-JP" dirty="0">
                <a:solidFill>
                  <a:srgbClr val="000000"/>
                </a:solidFill>
              </a:rPr>
              <a:t> </a:t>
            </a:r>
            <a:r>
              <a:rPr lang="en-US" altLang="ja-JP" dirty="0" err="1">
                <a:solidFill>
                  <a:srgbClr val="000000"/>
                </a:solidFill>
              </a:rPr>
              <a:t>hành</a:t>
            </a:r>
            <a:r>
              <a:rPr lang="en-US" altLang="ja-JP" dirty="0">
                <a:solidFill>
                  <a:srgbClr val="000000"/>
                </a:solidFill>
              </a:rPr>
              <a:t> </a:t>
            </a:r>
            <a:r>
              <a:rPr lang="en-US" altLang="ja-JP" dirty="0" err="1">
                <a:solidFill>
                  <a:srgbClr val="000000"/>
                </a:solidFill>
              </a:rPr>
              <a:t>động</a:t>
            </a:r>
            <a:endParaRPr lang="en-US" altLang="ja-JP" dirty="0"/>
          </a:p>
        </p:txBody>
      </p:sp>
      <p:sp>
        <p:nvSpPr>
          <p:cNvPr id="3" name="Content Placeholder 2">
            <a:extLst>
              <a:ext uri="{FF2B5EF4-FFF2-40B4-BE49-F238E27FC236}">
                <a16:creationId xmlns:a16="http://schemas.microsoft.com/office/drawing/2014/main" id="{FFD8461E-3AFA-59E6-668E-F206D88297E0}"/>
              </a:ext>
            </a:extLst>
          </p:cNvPr>
          <p:cNvSpPr>
            <a:spLocks noGrp="1"/>
          </p:cNvSpPr>
          <p:nvPr>
            <p:ph idx="1"/>
          </p:nvPr>
        </p:nvSpPr>
        <p:spPr/>
        <p:txBody>
          <a:bodyPr>
            <a:normAutofit/>
          </a:bodyPr>
          <a:lstStyle/>
          <a:p>
            <a:r>
              <a:rPr lang="ja-JP" altLang="ja-JP" sz="2400" dirty="0"/>
              <a:t>Consumer&lt;String&gt; printer =</a:t>
            </a:r>
            <a:r>
              <a:rPr lang="en-US" altLang="ja-JP" sz="2400" dirty="0"/>
              <a:t> </a:t>
            </a:r>
            <a:r>
              <a:rPr lang="ja-JP" altLang="ja-JP" sz="2400" dirty="0"/>
              <a:t>name -&gt; System.out.println(name);</a:t>
            </a:r>
          </a:p>
          <a:p>
            <a:r>
              <a:rPr lang="en-US" altLang="ja-JP" sz="2400" dirty="0" err="1"/>
              <a:t>printer.accept</a:t>
            </a:r>
            <a:r>
              <a:rPr lang="en-US" altLang="ja-JP" sz="2400" dirty="0"/>
              <a:t>("Khuong");</a:t>
            </a:r>
          </a:p>
          <a:p>
            <a:endParaRPr lang="en-US" altLang="ja-JP" sz="2400" dirty="0"/>
          </a:p>
          <a:p>
            <a:r>
              <a:rPr lang="en-US" altLang="ja-JP" sz="2400" dirty="0" err="1"/>
              <a:t>Kết</a:t>
            </a:r>
            <a:r>
              <a:rPr lang="en-US" altLang="ja-JP" sz="2400" dirty="0"/>
              <a:t> </a:t>
            </a:r>
            <a:r>
              <a:rPr lang="en-US" altLang="ja-JP" sz="2400" dirty="0" err="1"/>
              <a:t>quả</a:t>
            </a:r>
            <a:r>
              <a:rPr lang="en-US" altLang="ja-JP" sz="2400" dirty="0"/>
              <a:t>: print Khuong</a:t>
            </a:r>
            <a:endParaRPr lang="ja-JP" altLang="ja-JP" sz="2400" dirty="0"/>
          </a:p>
          <a:p>
            <a:endParaRPr kumimoji="1" lang="ja-JP" altLang="en-US" sz="2800" dirty="0"/>
          </a:p>
        </p:txBody>
      </p:sp>
      <p:sp>
        <p:nvSpPr>
          <p:cNvPr id="4" name="Slide Number Placeholder 3">
            <a:extLst>
              <a:ext uri="{FF2B5EF4-FFF2-40B4-BE49-F238E27FC236}">
                <a16:creationId xmlns:a16="http://schemas.microsoft.com/office/drawing/2014/main" id="{558C26C8-7E1F-611E-456D-75794BDFDBA3}"/>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29</a:t>
            </a:fld>
            <a:endParaRPr lang="en-US" altLang="ja-JP"/>
          </a:p>
        </p:txBody>
      </p:sp>
    </p:spTree>
    <p:extLst>
      <p:ext uri="{BB962C8B-B14F-4D97-AF65-F5344CB8AC3E}">
        <p14:creationId xmlns:p14="http://schemas.microsoft.com/office/powerpoint/2010/main" val="484706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8E57C-3CB7-4D88-5072-23EE340D6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6415A-3E40-5492-057F-70063AEE1AA6}"/>
              </a:ext>
            </a:extLst>
          </p:cNvPr>
          <p:cNvSpPr>
            <a:spLocks noGrp="1"/>
          </p:cNvSpPr>
          <p:nvPr>
            <p:ph type="title"/>
          </p:nvPr>
        </p:nvSpPr>
        <p:spPr/>
        <p:txBody>
          <a:bodyPr>
            <a:normAutofit fontScale="90000"/>
          </a:bodyPr>
          <a:lstStyle/>
          <a:p>
            <a:r>
              <a:rPr lang="en-US" altLang="ja-JP" dirty="0">
                <a:solidFill>
                  <a:srgbClr val="000000"/>
                </a:solidFill>
              </a:rPr>
              <a:t>Supplier&lt;T&gt; : Sinh </a:t>
            </a:r>
            <a:r>
              <a:rPr lang="en-US" altLang="ja-JP" dirty="0" err="1">
                <a:solidFill>
                  <a:srgbClr val="000000"/>
                </a:solidFill>
              </a:rPr>
              <a:t>dữ</a:t>
            </a:r>
            <a:r>
              <a:rPr lang="en-US" altLang="ja-JP" dirty="0">
                <a:solidFill>
                  <a:srgbClr val="000000"/>
                </a:solidFill>
              </a:rPr>
              <a:t> </a:t>
            </a:r>
            <a:r>
              <a:rPr lang="en-US" altLang="ja-JP" dirty="0" err="1">
                <a:solidFill>
                  <a:srgbClr val="000000"/>
                </a:solidFill>
              </a:rPr>
              <a:t>liệu</a:t>
            </a:r>
            <a:endParaRPr lang="en-US" altLang="ja-JP" dirty="0"/>
          </a:p>
        </p:txBody>
      </p:sp>
      <p:sp>
        <p:nvSpPr>
          <p:cNvPr id="3" name="Content Placeholder 2">
            <a:extLst>
              <a:ext uri="{FF2B5EF4-FFF2-40B4-BE49-F238E27FC236}">
                <a16:creationId xmlns:a16="http://schemas.microsoft.com/office/drawing/2014/main" id="{E77AF79E-6F45-4B08-D3DE-28A8122FF1EB}"/>
              </a:ext>
            </a:extLst>
          </p:cNvPr>
          <p:cNvSpPr>
            <a:spLocks noGrp="1"/>
          </p:cNvSpPr>
          <p:nvPr>
            <p:ph idx="1"/>
          </p:nvPr>
        </p:nvSpPr>
        <p:spPr/>
        <p:txBody>
          <a:bodyPr>
            <a:normAutofit/>
          </a:bodyPr>
          <a:lstStyle/>
          <a:p>
            <a:r>
              <a:rPr lang="ja-JP" altLang="ja-JP" sz="2400" dirty="0"/>
              <a:t>Supplier&lt;String&gt; code =  () -&gt; "EMP001";</a:t>
            </a:r>
          </a:p>
          <a:p>
            <a:r>
              <a:rPr lang="ja-JP" altLang="ja-JP" sz="2400" dirty="0"/>
              <a:t>System.out.println(code.get());</a:t>
            </a:r>
          </a:p>
          <a:p>
            <a:endParaRPr lang="en-US" altLang="ja-JP" sz="2400" dirty="0"/>
          </a:p>
          <a:p>
            <a:r>
              <a:rPr lang="en-US" altLang="ja-JP" sz="2400" dirty="0" err="1"/>
              <a:t>Kết</a:t>
            </a:r>
            <a:r>
              <a:rPr lang="en-US" altLang="ja-JP" sz="2400" dirty="0"/>
              <a:t> </a:t>
            </a:r>
            <a:r>
              <a:rPr lang="en-US" altLang="ja-JP" sz="2400" dirty="0" err="1"/>
              <a:t>quả</a:t>
            </a:r>
            <a:r>
              <a:rPr lang="en-US" altLang="ja-JP" sz="2400" dirty="0"/>
              <a:t>: </a:t>
            </a:r>
            <a:r>
              <a:rPr lang="en-US" altLang="ja-JP" sz="2400" dirty="0" err="1"/>
              <a:t>sinh</a:t>
            </a:r>
            <a:r>
              <a:rPr lang="en-US" altLang="ja-JP" sz="2400" dirty="0"/>
              <a:t> code “EMP001”</a:t>
            </a:r>
            <a:endParaRPr lang="ja-JP" altLang="ja-JP" sz="2400" dirty="0"/>
          </a:p>
          <a:p>
            <a:endParaRPr kumimoji="1" lang="ja-JP" altLang="en-US" sz="2800" dirty="0"/>
          </a:p>
        </p:txBody>
      </p:sp>
      <p:sp>
        <p:nvSpPr>
          <p:cNvPr id="4" name="Slide Number Placeholder 3">
            <a:extLst>
              <a:ext uri="{FF2B5EF4-FFF2-40B4-BE49-F238E27FC236}">
                <a16:creationId xmlns:a16="http://schemas.microsoft.com/office/drawing/2014/main" id="{BF070305-021F-384F-57E9-E1671F98DF3B}"/>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30</a:t>
            </a:fld>
            <a:endParaRPr lang="en-US" altLang="ja-JP"/>
          </a:p>
        </p:txBody>
      </p:sp>
    </p:spTree>
    <p:extLst>
      <p:ext uri="{BB962C8B-B14F-4D97-AF65-F5344CB8AC3E}">
        <p14:creationId xmlns:p14="http://schemas.microsoft.com/office/powerpoint/2010/main" val="1953671184"/>
      </p:ext>
    </p:extLst>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24226</TotalTime>
  <Words>2383</Words>
  <Application>Microsoft Office PowerPoint</Application>
  <PresentationFormat>A4 Paper (210x297 mm)</PresentationFormat>
  <Paragraphs>298</Paragraphs>
  <Slides>30</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30</vt:i4>
      </vt:variant>
    </vt:vector>
  </HeadingPairs>
  <TitlesOfParts>
    <vt:vector size="41" baseType="lpstr">
      <vt:lpstr>HG丸ｺﾞｼｯｸM-PRO</vt:lpstr>
      <vt:lpstr>Meiryo UI</vt:lpstr>
      <vt:lpstr>ＭＳ Ｐゴシック</vt:lpstr>
      <vt:lpstr>ADLaM Display</vt:lpstr>
      <vt:lpstr>Arial</vt:lpstr>
      <vt:lpstr>Segoe Script</vt:lpstr>
      <vt:lpstr>Segoe UI</vt:lpstr>
      <vt:lpstr>Times New Roman</vt:lpstr>
      <vt:lpstr>Wingdings</vt:lpstr>
      <vt:lpstr>標準デザイン</vt:lpstr>
      <vt:lpstr>デザインの設定</vt:lpstr>
      <vt:lpstr>Functional Programming using Lambda Expression Lập trình chức năng sử dụng biểu thức Lambda</vt:lpstr>
      <vt:lpstr>PowerPoint Presentation</vt:lpstr>
      <vt:lpstr>PowerPoint Presentation</vt:lpstr>
      <vt:lpstr>PowerPoint Presentation</vt:lpstr>
      <vt:lpstr>PowerPoint Presentation</vt:lpstr>
      <vt:lpstr>Functional Programming</vt:lpstr>
      <vt:lpstr>Phong cách lập trình</vt:lpstr>
      <vt:lpstr>Imperative Programming</vt:lpstr>
      <vt:lpstr>Declarative Programming</vt:lpstr>
      <vt:lpstr>So sánh phong cách lập trình</vt:lpstr>
      <vt:lpstr>Trong thực tế Java</vt:lpstr>
      <vt:lpstr>Biểu Thức Lambda</vt:lpstr>
      <vt:lpstr>Cú pháp chi tiết của Biểu thức Lambda</vt:lpstr>
      <vt:lpstr>Ví dụ </vt:lpstr>
      <vt:lpstr>Ví dụ 2 </vt:lpstr>
      <vt:lpstr>Biểu thức Lambda</vt:lpstr>
      <vt:lpstr>Ứng dụng thực tế </vt:lpstr>
      <vt:lpstr>Stream là gì?</vt:lpstr>
      <vt:lpstr>Các thao tác phổ biến</vt:lpstr>
      <vt:lpstr>Sử dụng Stream</vt:lpstr>
      <vt:lpstr>Stream API</vt:lpstr>
      <vt:lpstr>Nguồn dữ liệu</vt:lpstr>
      <vt:lpstr>Intermediate Operations - Các hàm biến đổi dữ liệu</vt:lpstr>
      <vt:lpstr>Terminal Operations - Kích hoạt Stream chạy thật</vt:lpstr>
      <vt:lpstr>Function Interface</vt:lpstr>
      <vt:lpstr>Function Interface</vt:lpstr>
      <vt:lpstr>Function&lt;T,R&gt; : Biến đổi dữ liệu</vt:lpstr>
      <vt:lpstr>Predicate&lt;T&gt; : Kiểm tra điều kiện</vt:lpstr>
      <vt:lpstr>Consumer&lt;T&gt; : Thực hiện hành động</vt:lpstr>
      <vt:lpstr>Supplier&lt;T&gt; : Sinh dữ liệu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519</cp:revision>
  <cp:lastPrinted>2018-04-10T08:59:30Z</cp:lastPrinted>
  <dcterms:created xsi:type="dcterms:W3CDTF">2025-05-21T02:38:07Z</dcterms:created>
  <dcterms:modified xsi:type="dcterms:W3CDTF">2026-10-01T02:28:09Z</dcterms:modified>
</cp:coreProperties>
</file>