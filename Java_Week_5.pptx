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23"/>
  </p:notesMasterIdLst>
  <p:handoutMasterIdLst>
    <p:handoutMasterId r:id="rId24"/>
  </p:handoutMasterIdLst>
  <p:sldIdLst>
    <p:sldId id="334" r:id="rId3"/>
    <p:sldId id="465" r:id="rId4"/>
    <p:sldId id="366" r:id="rId5"/>
    <p:sldId id="466" r:id="rId6"/>
    <p:sldId id="385" r:id="rId7"/>
    <p:sldId id="468" r:id="rId8"/>
    <p:sldId id="469" r:id="rId9"/>
    <p:sldId id="467" r:id="rId10"/>
    <p:sldId id="445" r:id="rId11"/>
    <p:sldId id="470" r:id="rId12"/>
    <p:sldId id="451" r:id="rId13"/>
    <p:sldId id="471" r:id="rId14"/>
    <p:sldId id="454" r:id="rId15"/>
    <p:sldId id="472" r:id="rId16"/>
    <p:sldId id="463" r:id="rId17"/>
    <p:sldId id="457" r:id="rId18"/>
    <p:sldId id="460" r:id="rId19"/>
    <p:sldId id="404" r:id="rId20"/>
    <p:sldId id="462" r:id="rId21"/>
    <p:sldId id="412" r:id="rId22"/>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47" autoAdjust="0"/>
  </p:normalViewPr>
  <p:slideViewPr>
    <p:cSldViewPr>
      <p:cViewPr varScale="1">
        <p:scale>
          <a:sx n="106" d="100"/>
          <a:sy n="106" d="100"/>
        </p:scale>
        <p:origin x="1548" y="120"/>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A7F5AA58-23B3-6B43-2100-3CF2A39C79BD}"/>
              </a:ext>
            </a:extLst>
          </p:cNvPr>
          <p:cNvSpPr>
            <a:spLocks noGrp="1" noRot="1" noChangeAspect="1" noChangeArrowheads="1" noTextEdit="1"/>
          </p:cNvSpPr>
          <p:nvPr>
            <p:ph type="sldImg"/>
          </p:nvPr>
        </p:nvSpPr>
        <p:spPr>
          <a:xfrm>
            <a:off x="784225" y="766763"/>
            <a:ext cx="5541963" cy="3836987"/>
          </a:xfrm>
          <a:ln/>
        </p:spPr>
      </p:sp>
      <p:sp>
        <p:nvSpPr>
          <p:cNvPr id="257029" name="Rectangle 5">
            <a:extLst>
              <a:ext uri="{FF2B5EF4-FFF2-40B4-BE49-F238E27FC236}">
                <a16:creationId xmlns:a16="http://schemas.microsoft.com/office/drawing/2014/main" id="{310E2275-0C70-1DD3-3F25-F006F1A9A897}"/>
              </a:ext>
            </a:extLst>
          </p:cNvPr>
          <p:cNvSpPr>
            <a:spLocks noGrp="1" noChangeArrowheads="1"/>
          </p:cNvSpPr>
          <p:nvPr>
            <p:ph type="body" idx="1"/>
          </p:nvPr>
        </p:nvSpPr>
        <p:spPr/>
        <p:txBody>
          <a:bodyPr/>
          <a:lstStyle/>
          <a:p>
            <a:r>
              <a:rPr lang="en-US" altLang="ja-JP">
                <a:latin typeface="Arial" panose="020B0604020202020204" pitchFamily="34" charset="0"/>
              </a:rPr>
              <a:t>Ở chương 2 sử dụng các nội dung sau đây:</a:t>
            </a:r>
          </a:p>
          <a:p>
            <a:endParaRPr lang="en-US" altLang="ja-JP">
              <a:latin typeface="Arial" panose="020B0604020202020204" pitchFamily="34" charset="0"/>
            </a:endParaRPr>
          </a:p>
          <a:p>
            <a:r>
              <a:rPr lang="en-US" altLang="ja-JP">
                <a:latin typeface="Arial" panose="020B0604020202020204" pitchFamily="34" charset="0"/>
              </a:rPr>
              <a:t>2.1</a:t>
            </a:r>
            <a:r>
              <a:rPr lang="ja-JP" altLang="en-US">
                <a:latin typeface="Arial" panose="020B0604020202020204" pitchFamily="34" charset="0"/>
              </a:rPr>
              <a:t>　</a:t>
            </a:r>
            <a:r>
              <a:rPr lang="en-US" altLang="ja-JP">
                <a:latin typeface="Arial" panose="020B0604020202020204" pitchFamily="34" charset="0"/>
              </a:rPr>
              <a:t>Định nghĩa class</a:t>
            </a:r>
            <a:r>
              <a:rPr lang="ja-JP" altLang="en-US">
                <a:latin typeface="Arial" panose="020B0604020202020204" pitchFamily="34" charset="0"/>
              </a:rPr>
              <a:t>　</a:t>
            </a:r>
          </a:p>
          <a:p>
            <a:r>
              <a:rPr lang="en-US" altLang="ja-JP">
                <a:latin typeface="Arial" panose="020B0604020202020204" pitchFamily="34" charset="0"/>
              </a:rPr>
              <a:t>2.2</a:t>
            </a:r>
            <a:r>
              <a:rPr lang="ja-JP" altLang="en-US">
                <a:latin typeface="Arial" panose="020B0604020202020204" pitchFamily="34" charset="0"/>
              </a:rPr>
              <a:t>　</a:t>
            </a:r>
            <a:r>
              <a:rPr lang="en-US" altLang="ja-JP">
                <a:latin typeface="Arial" panose="020B0604020202020204" pitchFamily="34" charset="0"/>
              </a:rPr>
              <a:t>Định nghĩa thuộc tính</a:t>
            </a:r>
          </a:p>
          <a:p>
            <a:r>
              <a:rPr lang="en-US" altLang="ja-JP">
                <a:latin typeface="Arial" panose="020B0604020202020204" pitchFamily="34" charset="0"/>
              </a:rPr>
              <a:t>2.3</a:t>
            </a:r>
            <a:r>
              <a:rPr lang="ja-JP" altLang="en-US">
                <a:latin typeface="Arial" panose="020B0604020202020204" pitchFamily="34" charset="0"/>
              </a:rPr>
              <a:t>　</a:t>
            </a:r>
            <a:r>
              <a:rPr lang="en-US" altLang="ja-JP">
                <a:latin typeface="Arial" panose="020B0604020202020204" pitchFamily="34" charset="0"/>
              </a:rPr>
              <a:t>Định nghĩa method</a:t>
            </a:r>
          </a:p>
          <a:p>
            <a:r>
              <a:rPr lang="en-US" altLang="ja-JP">
                <a:latin typeface="Arial" panose="020B0604020202020204" pitchFamily="34" charset="0"/>
              </a:rPr>
              <a:t>2.4</a:t>
            </a:r>
            <a:r>
              <a:rPr lang="ja-JP" altLang="en-US">
                <a:latin typeface="Arial" panose="020B0604020202020204" pitchFamily="34" charset="0"/>
              </a:rPr>
              <a:t>　</a:t>
            </a:r>
            <a:r>
              <a:rPr lang="en-US" altLang="ja-JP">
                <a:latin typeface="Arial" panose="020B0604020202020204" pitchFamily="34" charset="0"/>
              </a:rPr>
              <a:t>Constructor</a:t>
            </a:r>
          </a:p>
          <a:p>
            <a:r>
              <a:rPr lang="en-US" altLang="ja-JP">
                <a:latin typeface="Arial" panose="020B0604020202020204" pitchFamily="34" charset="0"/>
              </a:rPr>
              <a:t>2.5</a:t>
            </a:r>
            <a:r>
              <a:rPr lang="ja-JP" altLang="en-US">
                <a:latin typeface="Arial" panose="020B0604020202020204" pitchFamily="34" charset="0"/>
              </a:rPr>
              <a:t>　</a:t>
            </a:r>
            <a:r>
              <a:rPr lang="en-US" altLang="ja-JP">
                <a:latin typeface="Arial" panose="020B0604020202020204" pitchFamily="34" charset="0"/>
              </a:rPr>
              <a:t>Sinh/giải phóng object</a:t>
            </a:r>
          </a:p>
          <a:p>
            <a:r>
              <a:rPr lang="en-US" altLang="ja-JP">
                <a:latin typeface="Arial" panose="020B0604020202020204" pitchFamily="34" charset="0"/>
              </a:rPr>
              <a:t>2.6</a:t>
            </a:r>
            <a:r>
              <a:rPr lang="ja-JP" altLang="en-US">
                <a:latin typeface="Arial" panose="020B0604020202020204" pitchFamily="34" charset="0"/>
              </a:rPr>
              <a:t>　</a:t>
            </a:r>
            <a:r>
              <a:rPr lang="en-US" altLang="ja-JP">
                <a:latin typeface="Arial" panose="020B0604020202020204" pitchFamily="34" charset="0"/>
              </a:rPr>
              <a:t>Gọi method</a:t>
            </a:r>
          </a:p>
          <a:p>
            <a:r>
              <a:rPr lang="en-US" altLang="ja-JP">
                <a:latin typeface="Arial" panose="020B0604020202020204" pitchFamily="34" charset="0"/>
              </a:rPr>
              <a:t>2.7</a:t>
            </a:r>
            <a:r>
              <a:rPr lang="ja-JP" altLang="en-US">
                <a:latin typeface="Arial" panose="020B0604020202020204" pitchFamily="34" charset="0"/>
              </a:rPr>
              <a:t>　</a:t>
            </a:r>
            <a:r>
              <a:rPr lang="en-US" altLang="ja-JP">
                <a:latin typeface="Arial" panose="020B0604020202020204" pitchFamily="34" charset="0"/>
              </a:rPr>
              <a:t>Overload</a:t>
            </a:r>
          </a:p>
          <a:p>
            <a:r>
              <a:rPr lang="en-US" altLang="ja-JP">
                <a:latin typeface="Arial" panose="020B0604020202020204" pitchFamily="34" charset="0"/>
              </a:rPr>
              <a:t>2.8</a:t>
            </a:r>
            <a:r>
              <a:rPr lang="ja-JP" altLang="en-US">
                <a:latin typeface="Arial" panose="020B0604020202020204" pitchFamily="34" charset="0"/>
              </a:rPr>
              <a:t>　</a:t>
            </a:r>
            <a:r>
              <a:rPr lang="en-US" altLang="ja-JP">
                <a:latin typeface="Arial" panose="020B0604020202020204" pitchFamily="34" charset="0"/>
              </a:rPr>
              <a:t>Biến static, static method</a:t>
            </a:r>
          </a:p>
          <a:p>
            <a:r>
              <a:rPr lang="en-US" altLang="ja-JP">
                <a:latin typeface="Arial" panose="020B0604020202020204" pitchFamily="34" charset="0"/>
              </a:rPr>
              <a:t>2.9</a:t>
            </a:r>
            <a:r>
              <a:rPr lang="ja-JP" altLang="en-US">
                <a:latin typeface="Arial" panose="020B0604020202020204" pitchFamily="34" charset="0"/>
              </a:rPr>
              <a:t>　</a:t>
            </a:r>
            <a:r>
              <a:rPr lang="en-US" altLang="ja-JP">
                <a:latin typeface="Arial" panose="020B0604020202020204" pitchFamily="34" charset="0"/>
              </a:rPr>
              <a:t>main method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E126876A-6234-BC41-5F14-5F2D4FA8E566}"/>
              </a:ext>
            </a:extLst>
          </p:cNvPr>
          <p:cNvSpPr>
            <a:spLocks noGrp="1" noRot="1" noChangeAspect="1" noChangeArrowheads="1" noTextEdit="1"/>
          </p:cNvSpPr>
          <p:nvPr>
            <p:ph type="sldImg"/>
          </p:nvPr>
        </p:nvSpPr>
        <p:spPr>
          <a:ln/>
        </p:spPr>
      </p:sp>
      <p:sp>
        <p:nvSpPr>
          <p:cNvPr id="369667" name="Rectangle 3">
            <a:extLst>
              <a:ext uri="{FF2B5EF4-FFF2-40B4-BE49-F238E27FC236}">
                <a16:creationId xmlns:a16="http://schemas.microsoft.com/office/drawing/2014/main" id="{D0C0028E-91DA-4FAA-5695-EB18240D07A8}"/>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Định nghĩa class</a:t>
            </a:r>
          </a:p>
          <a:p>
            <a:pPr marL="0" indent="0"/>
            <a:r>
              <a:rPr lang="ja-JP" altLang="en-US">
                <a:latin typeface="Arial" panose="020B0604020202020204" pitchFamily="34" charset="0"/>
              </a:rPr>
              <a:t>　</a:t>
            </a:r>
            <a:r>
              <a:rPr lang="en-US" altLang="ja-JP">
                <a:latin typeface="Arial" panose="020B0604020202020204" pitchFamily="34" charset="0"/>
              </a:rPr>
              <a:t>Ở Java, sẽ miêu tả program theo đơn vị class.</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Trong class, sẽ định nghĩa thuộc tính và thao tác.</a:t>
            </a:r>
          </a:p>
          <a:p>
            <a:pPr marL="0" indent="0"/>
            <a:r>
              <a:rPr lang="ja-JP" altLang="en-US">
                <a:latin typeface="Arial" panose="020B0604020202020204" pitchFamily="34" charset="0"/>
              </a:rPr>
              <a:t>　</a:t>
            </a:r>
            <a:r>
              <a:rPr lang="en-US" altLang="ja-JP">
                <a:latin typeface="Arial" panose="020B0604020202020204" pitchFamily="34" charset="0"/>
              </a:rPr>
              <a:t>field và method định nghĩa trong class được gọi chung là </a:t>
            </a:r>
            <a:r>
              <a:rPr lang="ja-JP" altLang="en-US">
                <a:latin typeface="Arial" panose="020B0604020202020204" pitchFamily="34" charset="0"/>
              </a:rPr>
              <a:t>「</a:t>
            </a:r>
            <a:r>
              <a:rPr lang="en-US" altLang="ja-JP">
                <a:latin typeface="Arial" panose="020B0604020202020204" pitchFamily="34" charset="0"/>
              </a:rPr>
              <a:t>member</a:t>
            </a:r>
            <a:r>
              <a:rPr lang="ja-JP" altLang="en-US">
                <a:latin typeface="Arial" panose="020B0604020202020204" pitchFamily="34" charset="0"/>
              </a:rPr>
              <a:t>」 </a:t>
            </a:r>
            <a:r>
              <a:rPr lang="en-US" altLang="ja-JP">
                <a:latin typeface="Arial" panose="020B0604020202020204" pitchFamily="34" charset="0"/>
              </a:rPr>
              <a:t>của class.</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thuộc tính</a:t>
            </a:r>
            <a:r>
              <a:rPr lang="ja-JP" altLang="en-US">
                <a:latin typeface="Arial" panose="020B0604020202020204" pitchFamily="34" charset="0"/>
              </a:rPr>
              <a:t>」</a:t>
            </a:r>
            <a:r>
              <a:rPr lang="en-US" altLang="ja-JP">
                <a:latin typeface="Arial" panose="020B0604020202020204" pitchFamily="34" charset="0"/>
              </a:rPr>
              <a:t>được miêu tả như là </a:t>
            </a:r>
            <a:r>
              <a:rPr lang="ja-JP" altLang="en-US">
                <a:latin typeface="Arial" panose="020B0604020202020204" pitchFamily="34" charset="0"/>
              </a:rPr>
              <a:t>「</a:t>
            </a:r>
            <a:r>
              <a:rPr lang="en-US" altLang="ja-JP">
                <a:latin typeface="Arial" panose="020B0604020202020204" pitchFamily="34" charset="0"/>
              </a:rPr>
              <a:t>biến số</a:t>
            </a:r>
            <a:r>
              <a:rPr lang="ja-JP" altLang="en-US">
                <a:latin typeface="Arial" panose="020B0604020202020204" pitchFamily="34" charset="0"/>
              </a:rPr>
              <a:t>」</a:t>
            </a:r>
            <a:r>
              <a:rPr lang="en-US" altLang="ja-JP">
                <a:latin typeface="Arial" panose="020B0604020202020204" pitchFamily="34" charset="0"/>
              </a:rPr>
              <a:t>. Biến số thể hiện thuộc tính người ta còn gọi là field.</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thao tác</a:t>
            </a:r>
            <a:r>
              <a:rPr lang="ja-JP" altLang="en-US">
                <a:latin typeface="Arial" panose="020B0604020202020204" pitchFamily="34" charset="0"/>
              </a:rPr>
              <a:t>」</a:t>
            </a:r>
            <a:r>
              <a:rPr lang="en-US" altLang="ja-JP">
                <a:latin typeface="Arial" panose="020B0604020202020204" pitchFamily="34" charset="0"/>
              </a:rPr>
              <a:t>được miêu tả như là </a:t>
            </a:r>
            <a:r>
              <a:rPr lang="ja-JP" altLang="en-US">
                <a:latin typeface="Arial" panose="020B0604020202020204" pitchFamily="34" charset="0"/>
              </a:rPr>
              <a:t>「</a:t>
            </a:r>
            <a:r>
              <a:rPr lang="en-US" altLang="ja-JP">
                <a:latin typeface="Arial" panose="020B0604020202020204" pitchFamily="34" charset="0"/>
              </a:rPr>
              <a:t>method</a:t>
            </a:r>
            <a:r>
              <a:rPr lang="ja-JP" altLang="en-US">
                <a:latin typeface="Arial" panose="020B0604020202020204" pitchFamily="34" charset="0"/>
              </a:rPr>
              <a:t>」</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【Tham khảo】</a:t>
            </a:r>
          </a:p>
          <a:p>
            <a:pPr marL="0" indent="0"/>
            <a:r>
              <a:rPr lang="ja-JP" altLang="en-US">
                <a:latin typeface="Arial" panose="020B0604020202020204" pitchFamily="34" charset="0"/>
              </a:rPr>
              <a:t>　</a:t>
            </a:r>
            <a:r>
              <a:rPr lang="en-US" altLang="ja-JP">
                <a:latin typeface="Arial" panose="020B0604020202020204" pitchFamily="34" charset="0"/>
              </a:rPr>
              <a:t>Trong biến số và method định nghĩa trong class thì có loại sử dụng theo đơn vị từng instance và có loại sử dụng bằng đơn vị class(loại static). Về loại static sẽ giải thích sau.</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Access modifier</a:t>
            </a:r>
          </a:p>
          <a:p>
            <a:pPr marL="0" indent="0"/>
            <a:r>
              <a:rPr lang="ja-JP" altLang="en-US">
                <a:latin typeface="Arial" panose="020B0604020202020204" pitchFamily="34" charset="0"/>
              </a:rPr>
              <a:t>　</a:t>
            </a:r>
            <a:r>
              <a:rPr lang="en-US" altLang="ja-JP">
                <a:latin typeface="Arial" panose="020B0604020202020204" pitchFamily="34" charset="0"/>
              </a:rPr>
              <a:t>modifier biểu thị phạm vi có hiệu lực thì gọi là access modifier.</a:t>
            </a:r>
          </a:p>
          <a:p>
            <a:pPr marL="0" indent="0"/>
            <a:r>
              <a:rPr lang="ja-JP" altLang="en-US">
                <a:latin typeface="Arial" panose="020B0604020202020204" pitchFamily="34" charset="0"/>
              </a:rPr>
              <a:t>　</a:t>
            </a:r>
            <a:r>
              <a:rPr lang="en-US" altLang="ja-JP">
                <a:latin typeface="Arial" panose="020B0604020202020204" pitchFamily="34" charset="0"/>
              </a:rPr>
              <a:t>Nó được chỉ định lúc định nghĩa class và member của nó (thuộc tính và thao tác).</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Định nghĩa class và access modifier.</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Package sẽ học ở chương 5.</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Chi tiết về access modifier sẽ học ở chương 5.</a:t>
            </a:r>
          </a:p>
          <a:p>
            <a:pPr marL="0" indent="0"/>
            <a:endParaRPr lang="en-US" altLang="ja-JP">
              <a:latin typeface="Arial" panose="020B0604020202020204" pitchFamily="34" charset="0"/>
            </a:endParaRPr>
          </a:p>
        </p:txBody>
      </p:sp>
      <p:graphicFrame>
        <p:nvGraphicFramePr>
          <p:cNvPr id="369754" name="Group 90">
            <a:extLst>
              <a:ext uri="{FF2B5EF4-FFF2-40B4-BE49-F238E27FC236}">
                <a16:creationId xmlns:a16="http://schemas.microsoft.com/office/drawing/2014/main" id="{41FDD833-2F3E-7BD0-E819-1C7AA717A76F}"/>
              </a:ext>
            </a:extLst>
          </p:cNvPr>
          <p:cNvGraphicFramePr>
            <a:graphicFrameLocks noGrp="1"/>
          </p:cNvGraphicFramePr>
          <p:nvPr/>
        </p:nvGraphicFramePr>
        <p:xfrm>
          <a:off x="769938" y="8397875"/>
          <a:ext cx="5651500" cy="781050"/>
        </p:xfrm>
        <a:graphic>
          <a:graphicData uri="http://schemas.openxmlformats.org/drawingml/2006/table">
            <a:tbl>
              <a:tblPr/>
              <a:tblGrid>
                <a:gridCol w="1135062">
                  <a:extLst>
                    <a:ext uri="{9D8B030D-6E8A-4147-A177-3AD203B41FA5}">
                      <a16:colId xmlns:a16="http://schemas.microsoft.com/office/drawing/2014/main" val="2267589821"/>
                    </a:ext>
                  </a:extLst>
                </a:gridCol>
                <a:gridCol w="4516438">
                  <a:extLst>
                    <a:ext uri="{9D8B030D-6E8A-4147-A177-3AD203B41FA5}">
                      <a16:colId xmlns:a16="http://schemas.microsoft.com/office/drawing/2014/main" val="3586536446"/>
                    </a:ext>
                  </a:extLst>
                </a:gridCol>
              </a:tblGrid>
              <a:tr h="24765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modifier</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Nội dung trong nó</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129877235"/>
                  </a:ext>
                </a:extLst>
              </a:tr>
              <a:tr h="268288">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public</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 thể access từ bất kỳ đâu</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92806006"/>
                  </a:ext>
                </a:extLst>
              </a:tr>
              <a:tr h="26511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không chỉ định</a:t>
                      </a:r>
                      <a:r>
                        <a:rPr kumimoji="1" lang="ja-JP" altLang="en-US"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Chỉ có thể access từ class trong cùng package</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74835259"/>
                  </a:ext>
                </a:extLst>
              </a:tr>
            </a:tbl>
          </a:graphicData>
        </a:graphic>
      </p:graphicFrame>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a:extLst>
              <a:ext uri="{FF2B5EF4-FFF2-40B4-BE49-F238E27FC236}">
                <a16:creationId xmlns:a16="http://schemas.microsoft.com/office/drawing/2014/main" id="{C7E037DB-5967-D17A-50E1-19797E361B19}"/>
              </a:ext>
            </a:extLst>
          </p:cNvPr>
          <p:cNvSpPr>
            <a:spLocks noGrp="1" noRot="1" noChangeAspect="1" noChangeArrowheads="1" noTextEdit="1"/>
          </p:cNvSpPr>
          <p:nvPr>
            <p:ph type="sldImg"/>
          </p:nvPr>
        </p:nvSpPr>
        <p:spPr>
          <a:xfrm>
            <a:off x="531813" y="835025"/>
            <a:ext cx="6024562" cy="4170363"/>
          </a:xfrm>
          <a:ln/>
        </p:spPr>
      </p:sp>
      <p:sp>
        <p:nvSpPr>
          <p:cNvPr id="408579" name="Rectangle 3">
            <a:extLst>
              <a:ext uri="{FF2B5EF4-FFF2-40B4-BE49-F238E27FC236}">
                <a16:creationId xmlns:a16="http://schemas.microsoft.com/office/drawing/2014/main" id="{204C0139-3DCD-1D34-B6C9-D74FF4AF5B99}"/>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Định nghĩa thuộc tính</a:t>
            </a:r>
            <a:r>
              <a:rPr lang="ja-JP" altLang="en-US">
                <a:latin typeface="Arial" panose="020B0604020202020204" pitchFamily="34" charset="0"/>
              </a:rPr>
              <a:t>（</a:t>
            </a:r>
            <a:r>
              <a:rPr lang="en-US" altLang="ja-JP">
                <a:latin typeface="Arial" panose="020B0604020202020204" pitchFamily="34" charset="0"/>
              </a:rPr>
              <a:t>biến instance</a:t>
            </a:r>
            <a:r>
              <a:rPr lang="ja-JP" altLang="en-US">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Biến thể hiện thuộc tính mà các object đang có gọi là biến instance.</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Biến instance được định nghĩa bên trong định nghĩa class và bên ngoài định nghĩa method.</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Vị trí định nghĩa</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 </a:t>
            </a:r>
            <a:r>
              <a:rPr lang="ja-JP" altLang="en-US">
                <a:latin typeface="Arial" panose="020B0604020202020204" pitchFamily="34" charset="0"/>
              </a:rPr>
              <a:t>「</a:t>
            </a:r>
            <a:r>
              <a:rPr lang="en-US" altLang="ja-JP">
                <a:latin typeface="Arial" panose="020B0604020202020204" pitchFamily="34" charset="0"/>
              </a:rPr>
              <a:t>modifier</a:t>
            </a:r>
            <a:r>
              <a:rPr lang="ja-JP" altLang="en-US">
                <a:latin typeface="Arial" panose="020B0604020202020204" pitchFamily="34" charset="0"/>
              </a:rPr>
              <a:t>」 </a:t>
            </a:r>
            <a:r>
              <a:rPr lang="en-US" altLang="ja-JP">
                <a:latin typeface="Arial" panose="020B0604020202020204" pitchFamily="34" charset="0"/>
              </a:rPr>
              <a:t>của cú pháp có thể lược đi được.</a:t>
            </a:r>
          </a:p>
          <a:p>
            <a:pPr marL="0" indent="0"/>
            <a:endParaRPr lang="en-US" altLang="ja-JP">
              <a:latin typeface="Arial" panose="020B0604020202020204" pitchFamily="34" charset="0"/>
            </a:endParaRPr>
          </a:p>
          <a:p>
            <a:pPr marL="0" indent="0"/>
            <a:r>
              <a:rPr lang="en-US" altLang="ja-JP">
                <a:latin typeface="Arial" panose="020B0604020202020204" pitchFamily="34" charset="0"/>
              </a:rPr>
              <a:t>Ví dụ</a:t>
            </a:r>
            <a:r>
              <a:rPr lang="ja-JP" altLang="en-US">
                <a:latin typeface="Arial" panose="020B0604020202020204" pitchFamily="34" charset="0"/>
              </a:rPr>
              <a:t>）</a:t>
            </a:r>
          </a:p>
          <a:p>
            <a:pPr marL="0" indent="0"/>
            <a:r>
              <a:rPr lang="ja-JP" altLang="en-US" i="1">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private String firstName = ""; </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private int age;</a:t>
            </a:r>
          </a:p>
          <a:p>
            <a:pPr marL="0" indent="0"/>
            <a:endParaRPr lang="en-US" altLang="ja-JP">
              <a:latin typeface="Arial" panose="020B0604020202020204" pitchFamily="34" charset="0"/>
              <a:ea typeface="ＭＳ ゴシック" panose="020B0609070205080204" pitchFamily="49" charset="-128"/>
            </a:endParaRPr>
          </a:p>
          <a:p>
            <a:pPr marL="0" indent="0"/>
            <a:endParaRPr lang="en-US" altLang="ja-JP">
              <a:latin typeface="Arial" panose="020B0604020202020204" pitchFamily="34" charset="0"/>
            </a:endParaRPr>
          </a:p>
        </p:txBody>
      </p:sp>
      <p:sp>
        <p:nvSpPr>
          <p:cNvPr id="408580" name="Text Box 4">
            <a:extLst>
              <a:ext uri="{FF2B5EF4-FFF2-40B4-BE49-F238E27FC236}">
                <a16:creationId xmlns:a16="http://schemas.microsoft.com/office/drawing/2014/main" id="{929D4F1F-F974-30CB-9382-7A056E1A33D4}"/>
              </a:ext>
            </a:extLst>
          </p:cNvPr>
          <p:cNvSpPr txBox="1">
            <a:spLocks noChangeArrowheads="1"/>
          </p:cNvSpPr>
          <p:nvPr/>
        </p:nvSpPr>
        <p:spPr bwMode="auto">
          <a:xfrm>
            <a:off x="719138" y="6330950"/>
            <a:ext cx="5702300" cy="103346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modifier</a:t>
            </a:r>
            <a:r>
              <a:rPr lang="en-US" altLang="ja-JP" b="0">
                <a:latin typeface="ＭＳ ゴシック" panose="020B0609070205080204" pitchFamily="49" charset="-128"/>
                <a:ea typeface="ＭＳ ゴシック" panose="020B0609070205080204" pitchFamily="49" charset="-128"/>
              </a:rPr>
              <a:t> class </a:t>
            </a:r>
            <a:r>
              <a:rPr lang="en-US" altLang="ja-JP" b="0">
                <a:ea typeface="ＭＳ ゴシック" panose="020B0609070205080204" pitchFamily="49" charset="-128"/>
              </a:rPr>
              <a:t>class name</a:t>
            </a:r>
            <a:r>
              <a:rPr lang="en-US" altLang="ja-JP" b="0">
                <a:latin typeface="ＭＳ ゴシック" panose="020B0609070205080204" pitchFamily="49" charset="-128"/>
                <a:ea typeface="ＭＳ ゴシック" panose="020B0609070205080204" pitchFamily="49" charset="-128"/>
              </a:rPr>
              <a:t> {</a:t>
            </a:r>
          </a:p>
          <a:p>
            <a:pPr lvl="1" algn="just"/>
            <a:endParaRPr lang="en-US" altLang="ja-JP" b="0">
              <a:latin typeface="MS UI Gothic" panose="020B0600070205080204" pitchFamily="50" charset="-128"/>
              <a:ea typeface="MS UI Gothic" panose="020B0600070205080204" pitchFamily="50" charset="-128"/>
            </a:endParaRPr>
          </a:p>
          <a:p>
            <a:pPr lvl="1" algn="just"/>
            <a:r>
              <a:rPr lang="en-US" altLang="ja-JP" b="0">
                <a:latin typeface="ＭＳ ゴシック" panose="020B0609070205080204" pitchFamily="49" charset="-128"/>
                <a:ea typeface="ＭＳ ゴシック" panose="020B0609070205080204" pitchFamily="49" charset="-128"/>
              </a:rPr>
              <a:t>    // </a:t>
            </a:r>
            <a:r>
              <a:rPr lang="en-US" altLang="ja-JP" b="0">
                <a:ea typeface="ＭＳ ゴシック" panose="020B0609070205080204" pitchFamily="49" charset="-128"/>
              </a:rPr>
              <a:t>Định nghĩa biến instance</a:t>
            </a:r>
            <a:endParaRPr lang="en-US" altLang="ja-JP" b="0">
              <a:ea typeface="MS UI Gothic" panose="020B0600070205080204" pitchFamily="50" charset="-128"/>
            </a:endParaRPr>
          </a:p>
          <a:p>
            <a:pPr lvl="1" algn="just"/>
            <a:endParaRPr lang="en-US" altLang="ja-JP" b="0">
              <a:ea typeface="MS UI Gothic" panose="020B0600070205080204" pitchFamily="50" charset="-128"/>
            </a:endParaRPr>
          </a:p>
          <a:p>
            <a:pPr lvl="1" algn="just"/>
            <a:r>
              <a:rPr lang="en-US" altLang="ja-JP" b="0">
                <a:latin typeface="ＭＳ ゴシック" panose="020B0609070205080204" pitchFamily="49" charset="-128"/>
                <a:ea typeface="ＭＳ ゴシック" panose="020B0609070205080204" pitchFamily="49" charset="-128"/>
              </a:rPr>
              <a:t>    // </a:t>
            </a:r>
            <a:r>
              <a:rPr lang="en-US" altLang="ja-JP" b="0">
                <a:ea typeface="ＭＳ ゴシック" panose="020B0609070205080204" pitchFamily="49" charset="-128"/>
              </a:rPr>
              <a:t>Định nghĩa method</a:t>
            </a:r>
            <a:endParaRPr lang="en-US" altLang="ja-JP" b="0">
              <a:ea typeface="MS UI Gothic" panose="020B0600070205080204" pitchFamily="50" charset="-128"/>
            </a:endParaRPr>
          </a:p>
          <a:p>
            <a:pPr lvl="1" algn="just"/>
            <a:r>
              <a:rPr lang="en-US" altLang="ja-JP" b="0">
                <a:latin typeface="ＭＳ ゴシック" panose="020B0609070205080204" pitchFamily="49" charset="-128"/>
                <a:ea typeface="ＭＳ ゴシック" panose="020B0609070205080204" pitchFamily="49" charset="-128"/>
              </a:rPr>
              <a:t>}</a:t>
            </a:r>
          </a:p>
        </p:txBody>
      </p:sp>
      <p:grpSp>
        <p:nvGrpSpPr>
          <p:cNvPr id="408590" name="Group 14">
            <a:extLst>
              <a:ext uri="{FF2B5EF4-FFF2-40B4-BE49-F238E27FC236}">
                <a16:creationId xmlns:a16="http://schemas.microsoft.com/office/drawing/2014/main" id="{9C15B56F-63AF-C77B-92AC-C8093EB78477}"/>
              </a:ext>
            </a:extLst>
          </p:cNvPr>
          <p:cNvGrpSpPr>
            <a:grpSpLocks/>
          </p:cNvGrpSpPr>
          <p:nvPr/>
        </p:nvGrpSpPr>
        <p:grpSpPr bwMode="auto">
          <a:xfrm>
            <a:off x="1127125" y="6527800"/>
            <a:ext cx="4645025" cy="415925"/>
            <a:chOff x="710" y="4112"/>
            <a:chExt cx="2414" cy="262"/>
          </a:xfrm>
        </p:grpSpPr>
        <p:sp>
          <p:nvSpPr>
            <p:cNvPr id="408581" name="Rectangle 5">
              <a:extLst>
                <a:ext uri="{FF2B5EF4-FFF2-40B4-BE49-F238E27FC236}">
                  <a16:creationId xmlns:a16="http://schemas.microsoft.com/office/drawing/2014/main" id="{2EE04A71-0004-CABF-8D7C-FBAE70CFF462}"/>
                </a:ext>
              </a:extLst>
            </p:cNvPr>
            <p:cNvSpPr>
              <a:spLocks noChangeArrowheads="1"/>
            </p:cNvSpPr>
            <p:nvPr/>
          </p:nvSpPr>
          <p:spPr bwMode="auto">
            <a:xfrm>
              <a:off x="710" y="4155"/>
              <a:ext cx="1042" cy="176"/>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1" tIns="45700" rIns="91401" bIns="45700"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408582" name="Rectangle 6">
              <a:extLst>
                <a:ext uri="{FF2B5EF4-FFF2-40B4-BE49-F238E27FC236}">
                  <a16:creationId xmlns:a16="http://schemas.microsoft.com/office/drawing/2014/main" id="{7D5655C5-F9F6-6EB6-2512-5B0B250D3363}"/>
                </a:ext>
              </a:extLst>
            </p:cNvPr>
            <p:cNvSpPr>
              <a:spLocks noChangeArrowheads="1"/>
            </p:cNvSpPr>
            <p:nvPr/>
          </p:nvSpPr>
          <p:spPr bwMode="auto">
            <a:xfrm>
              <a:off x="2286" y="4112"/>
              <a:ext cx="838" cy="262"/>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1" tIns="45700" rIns="91401" bIns="45700"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ea typeface="MS UI Gothic" panose="020B0600070205080204" pitchFamily="50" charset="-128"/>
                </a:rPr>
                <a:t>Chú ý vị trí định nghĩa</a:t>
              </a:r>
              <a:r>
                <a:rPr lang="ja-JP" altLang="en-US">
                  <a:ea typeface="MS UI Gothic" panose="020B0600070205080204" pitchFamily="50" charset="-128"/>
                </a:rPr>
                <a:t>！</a:t>
              </a:r>
            </a:p>
          </p:txBody>
        </p:sp>
        <p:cxnSp>
          <p:nvCxnSpPr>
            <p:cNvPr id="408583" name="AutoShape 7">
              <a:extLst>
                <a:ext uri="{FF2B5EF4-FFF2-40B4-BE49-F238E27FC236}">
                  <a16:creationId xmlns:a16="http://schemas.microsoft.com/office/drawing/2014/main" id="{79E53263-195A-CBF0-6030-E0E5DEF7DCA3}"/>
                </a:ext>
              </a:extLst>
            </p:cNvPr>
            <p:cNvCxnSpPr>
              <a:cxnSpLocks noChangeShapeType="1"/>
              <a:stCxn id="408581" idx="3"/>
              <a:endCxn id="408582" idx="1"/>
            </p:cNvCxnSpPr>
            <p:nvPr/>
          </p:nvCxnSpPr>
          <p:spPr bwMode="auto">
            <a:xfrm>
              <a:off x="1758" y="4243"/>
              <a:ext cx="522" cy="0"/>
            </a:xfrm>
            <a:prstGeom prst="straightConnector1">
              <a:avLst/>
            </a:prstGeom>
            <a:noFill/>
            <a:ln w="1905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08587" name="Text Box 11">
            <a:extLst>
              <a:ext uri="{FF2B5EF4-FFF2-40B4-BE49-F238E27FC236}">
                <a16:creationId xmlns:a16="http://schemas.microsoft.com/office/drawing/2014/main" id="{D6C186C9-B011-51E2-AFF6-0268F745C656}"/>
              </a:ext>
            </a:extLst>
          </p:cNvPr>
          <p:cNvSpPr txBox="1">
            <a:spLocks noChangeArrowheads="1"/>
          </p:cNvSpPr>
          <p:nvPr/>
        </p:nvSpPr>
        <p:spPr bwMode="auto">
          <a:xfrm>
            <a:off x="776288" y="7789863"/>
            <a:ext cx="5643562" cy="24606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en-US" b="0">
                <a:ea typeface="MS UI Gothic" panose="020B0600070205080204" pitchFamily="50" charset="-128"/>
              </a:rPr>
              <a:t>　</a:t>
            </a:r>
            <a:r>
              <a:rPr lang="en-US" altLang="ja-JP" b="0">
                <a:ea typeface="MS UI Gothic" panose="020B0600070205080204" pitchFamily="50" charset="-128"/>
              </a:rPr>
              <a:t>modifier</a:t>
            </a:r>
            <a:r>
              <a:rPr lang="ja-JP" altLang="en-US" b="0">
                <a:ea typeface="MS UI Gothic" panose="020B0600070205080204" pitchFamily="50" charset="-128"/>
              </a:rPr>
              <a:t>　　</a:t>
            </a:r>
            <a:r>
              <a:rPr lang="en-US" altLang="ja-JP" b="0">
                <a:ea typeface="MS UI Gothic" panose="020B0600070205080204" pitchFamily="50" charset="-128"/>
              </a:rPr>
              <a:t>kiểu data</a:t>
            </a:r>
            <a:r>
              <a:rPr lang="ja-JP" altLang="en-US" b="0">
                <a:ea typeface="MS UI Gothic" panose="020B0600070205080204" pitchFamily="50" charset="-128"/>
              </a:rPr>
              <a:t>　　</a:t>
            </a:r>
            <a:r>
              <a:rPr lang="en-US" altLang="ja-JP" b="0">
                <a:ea typeface="MS UI Gothic" panose="020B0600070205080204" pitchFamily="50" charset="-128"/>
              </a:rPr>
              <a:t>tên biến</a:t>
            </a:r>
            <a:r>
              <a:rPr lang="en-US" altLang="ja-JP" b="0">
                <a:ea typeface="ＭＳ ゴシック" panose="020B0609070205080204" pitchFamily="49" charset="-128"/>
              </a:rPr>
              <a:t>;</a:t>
            </a:r>
            <a:endParaRPr lang="en-US" altLang="en-US" b="0">
              <a:ea typeface="ＭＳ ゴシック" panose="020B0609070205080204" pitchFamily="49" charset="-128"/>
            </a:endParaRPr>
          </a:p>
        </p:txBody>
      </p:sp>
      <p:sp>
        <p:nvSpPr>
          <p:cNvPr id="408588" name="Text Box 12">
            <a:extLst>
              <a:ext uri="{FF2B5EF4-FFF2-40B4-BE49-F238E27FC236}">
                <a16:creationId xmlns:a16="http://schemas.microsoft.com/office/drawing/2014/main" id="{277E2C0B-9C5F-C88D-DF2F-B6279C525B2F}"/>
              </a:ext>
            </a:extLst>
          </p:cNvPr>
          <p:cNvSpPr txBox="1">
            <a:spLocks noChangeArrowheads="1"/>
          </p:cNvSpPr>
          <p:nvPr/>
        </p:nvSpPr>
        <p:spPr bwMode="auto">
          <a:xfrm>
            <a:off x="776288" y="8158163"/>
            <a:ext cx="5643562" cy="2794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en-US" b="0">
                <a:ea typeface="MS UI Gothic" panose="020B0600070205080204" pitchFamily="50" charset="-128"/>
              </a:rPr>
              <a:t>　</a:t>
            </a:r>
            <a:r>
              <a:rPr lang="en-US" altLang="ja-JP" b="0">
                <a:ea typeface="MS UI Gothic" panose="020B0600070205080204" pitchFamily="50" charset="-128"/>
              </a:rPr>
              <a:t>modifier</a:t>
            </a:r>
            <a:r>
              <a:rPr lang="ja-JP" altLang="en-US" b="0">
                <a:ea typeface="MS UI Gothic" panose="020B0600070205080204" pitchFamily="50" charset="-128"/>
              </a:rPr>
              <a:t>　　</a:t>
            </a:r>
            <a:r>
              <a:rPr lang="en-US" altLang="ja-JP" b="0">
                <a:ea typeface="MS UI Gothic" panose="020B0600070205080204" pitchFamily="50" charset="-128"/>
              </a:rPr>
              <a:t>kiểu data</a:t>
            </a:r>
            <a:r>
              <a:rPr lang="ja-JP" altLang="en-US" b="0">
                <a:ea typeface="MS UI Gothic" panose="020B0600070205080204" pitchFamily="50" charset="-128"/>
              </a:rPr>
              <a:t>　　</a:t>
            </a:r>
            <a:r>
              <a:rPr lang="en-US" altLang="ja-JP" b="0">
                <a:ea typeface="MS UI Gothic" panose="020B0600070205080204" pitchFamily="50" charset="-128"/>
              </a:rPr>
              <a:t>tên biến</a:t>
            </a:r>
            <a:r>
              <a:rPr lang="en-US" altLang="ja-JP" b="0">
                <a:ea typeface="ＭＳ ゴシック" panose="020B0609070205080204" pitchFamily="49" charset="-128"/>
              </a:rPr>
              <a:t> = giá trị khởi tạo;</a:t>
            </a:r>
            <a:endParaRPr lang="en-US" altLang="en-US" b="0">
              <a:ea typeface="ＭＳ ゴシック" panose="020B0609070205080204" pitchFamily="49" charset="-128"/>
            </a:endParaRPr>
          </a:p>
        </p:txBody>
      </p:sp>
      <p:sp>
        <p:nvSpPr>
          <p:cNvPr id="408589" name="AutoShape 13">
            <a:extLst>
              <a:ext uri="{FF2B5EF4-FFF2-40B4-BE49-F238E27FC236}">
                <a16:creationId xmlns:a16="http://schemas.microsoft.com/office/drawing/2014/main" id="{E6E3A70B-2CDD-4538-62EE-1E38B4D9942C}"/>
              </a:ext>
            </a:extLst>
          </p:cNvPr>
          <p:cNvSpPr>
            <a:spLocks noChangeArrowheads="1"/>
          </p:cNvSpPr>
          <p:nvPr/>
        </p:nvSpPr>
        <p:spPr bwMode="auto">
          <a:xfrm>
            <a:off x="3405188" y="7491413"/>
            <a:ext cx="2717800" cy="493712"/>
          </a:xfrm>
          <a:prstGeom prst="wedgeRoundRectCallout">
            <a:avLst>
              <a:gd name="adj1" fmla="val -62991"/>
              <a:gd name="adj2" fmla="val 37667"/>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Nếu lược phần chỉ định giá trị khởi tạo thì giá trị của biến sẽ thành giá trị default của các kiểu data.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5" name="Rectangle 3">
            <a:extLst>
              <a:ext uri="{FF2B5EF4-FFF2-40B4-BE49-F238E27FC236}">
                <a16:creationId xmlns:a16="http://schemas.microsoft.com/office/drawing/2014/main" id="{4219C0AC-A9A4-DE7D-2E92-427A582EEA40}"/>
              </a:ext>
            </a:extLst>
          </p:cNvPr>
          <p:cNvSpPr>
            <a:spLocks noGrp="1" noChangeArrowheads="1"/>
          </p:cNvSpPr>
          <p:nvPr>
            <p:ph type="body" idx="1"/>
          </p:nvPr>
        </p:nvSpPr>
        <p:spPr/>
        <p:txBody>
          <a:bodyPr/>
          <a:lstStyle/>
          <a:p>
            <a:pPr marL="0" indent="0">
              <a:lnSpc>
                <a:spcPct val="90000"/>
              </a:lnSpc>
            </a:pPr>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Method</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Cái đặt tên cho xử lý của một cụm code được gọi là method.</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Method được định nghĩa bên trong định nghĩa class.</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Trình tự định nghĩa field và method là tùy ý nhưng thông thường sẽ miêu tả method tiếp theo sau field.</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Method sẽ được chỉ định tên và được gọi ra.</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Trường hợp định nghĩa nhiều method thì trình tự định nghĩa giữa các method sẽ là trình tự không bắt buộc.</a:t>
            </a:r>
          </a:p>
          <a:p>
            <a:pPr marL="0" indent="0">
              <a:lnSpc>
                <a:spcPct val="90000"/>
              </a:lnSpc>
            </a:pPr>
            <a:endParaRPr lang="en-US" altLang="ja-JP">
              <a:latin typeface="Arial" panose="020B0604020202020204" pitchFamily="34" charset="0"/>
            </a:endParaRPr>
          </a:p>
          <a:p>
            <a:pPr marL="0" indent="0">
              <a:lnSpc>
                <a:spcPct val="90000"/>
              </a:lnSpc>
            </a:pPr>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Vị trí định nghĩa.</a:t>
            </a:r>
          </a:p>
          <a:p>
            <a:pPr marL="0" indent="0">
              <a:lnSpc>
                <a:spcPct val="90000"/>
              </a:lnSpc>
            </a:pPr>
            <a:endParaRPr lang="en-US" altLang="ja-JP">
              <a:latin typeface="Arial" panose="020B0604020202020204" pitchFamily="34" charset="0"/>
            </a:endParaRPr>
          </a:p>
          <a:p>
            <a:pPr marL="0" indent="0">
              <a:lnSpc>
                <a:spcPct val="90000"/>
              </a:lnSpc>
            </a:pPr>
            <a:endParaRPr lang="en-US" altLang="ja-JP">
              <a:latin typeface="Arial" panose="020B0604020202020204" pitchFamily="34" charset="0"/>
            </a:endParaRPr>
          </a:p>
          <a:p>
            <a:pPr marL="0" indent="0">
              <a:lnSpc>
                <a:spcPct val="90000"/>
              </a:lnSpc>
            </a:pPr>
            <a:endParaRPr lang="en-US" altLang="ja-JP">
              <a:latin typeface="Arial" panose="020B0604020202020204" pitchFamily="34" charset="0"/>
            </a:endParaRPr>
          </a:p>
          <a:p>
            <a:pPr marL="0" indent="0">
              <a:lnSpc>
                <a:spcPct val="90000"/>
              </a:lnSpc>
            </a:pPr>
            <a:endParaRPr lang="en-US" altLang="ja-JP">
              <a:latin typeface="Arial" panose="020B0604020202020204" pitchFamily="34" charset="0"/>
            </a:endParaRPr>
          </a:p>
          <a:p>
            <a:pPr marL="0" indent="0">
              <a:lnSpc>
                <a:spcPct val="90000"/>
              </a:lnSpc>
            </a:pPr>
            <a:endParaRPr lang="en-US" altLang="ja-JP">
              <a:latin typeface="Arial" panose="020B0604020202020204" pitchFamily="34" charset="0"/>
            </a:endParaRPr>
          </a:p>
          <a:p>
            <a:pPr marL="0" indent="0">
              <a:lnSpc>
                <a:spcPct val="90000"/>
              </a:lnSpc>
            </a:pPr>
            <a:endParaRPr lang="en-US" altLang="ja-JP">
              <a:latin typeface="Arial" panose="020B0604020202020204" pitchFamily="34" charset="0"/>
            </a:endParaRPr>
          </a:p>
          <a:p>
            <a:pPr marL="0" indent="0">
              <a:lnSpc>
                <a:spcPct val="90000"/>
              </a:lnSpc>
            </a:pPr>
            <a:endParaRPr lang="en-US" altLang="ja-JP">
              <a:latin typeface="Arial" panose="020B0604020202020204" pitchFamily="34" charset="0"/>
            </a:endParaRPr>
          </a:p>
          <a:p>
            <a:pPr marL="0" indent="0">
              <a:lnSpc>
                <a:spcPct val="90000"/>
              </a:lnSpc>
            </a:pPr>
            <a:endParaRPr lang="en-US" altLang="ja-JP">
              <a:latin typeface="Arial" panose="020B0604020202020204" pitchFamily="34" charset="0"/>
            </a:endParaRPr>
          </a:p>
          <a:p>
            <a:pPr marL="0" indent="0">
              <a:lnSpc>
                <a:spcPct val="90000"/>
              </a:lnSpc>
            </a:pPr>
            <a:endParaRPr lang="en-US" altLang="ja-JP">
              <a:latin typeface="Arial" panose="020B0604020202020204" pitchFamily="34" charset="0"/>
            </a:endParaRPr>
          </a:p>
          <a:p>
            <a:pPr marL="0" indent="0">
              <a:lnSpc>
                <a:spcPct val="90000"/>
              </a:lnSpc>
            </a:pPr>
            <a:r>
              <a:rPr lang="en-US" altLang="ja-JP">
                <a:latin typeface="Arial" panose="020B0604020202020204" pitchFamily="34" charset="0"/>
              </a:rPr>
              <a:t>●</a:t>
            </a:r>
            <a:r>
              <a:rPr lang="ja-JP" altLang="en-US">
                <a:latin typeface="Arial" panose="020B0604020202020204" pitchFamily="34" charset="0"/>
              </a:rPr>
              <a:t>　実行の流れの例（①→②→③）</a:t>
            </a: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endParaRPr lang="ja-JP" altLang="en-US">
              <a:latin typeface="Arial" panose="020B0604020202020204" pitchFamily="34" charset="0"/>
            </a:endParaRPr>
          </a:p>
          <a:p>
            <a:pPr marL="0" indent="0">
              <a:lnSpc>
                <a:spcPct val="90000"/>
              </a:lnSpc>
            </a:pPr>
            <a:r>
              <a:rPr lang="en-US" altLang="en-US">
                <a:latin typeface="Arial" panose="020B0604020202020204" pitchFamily="34" charset="0"/>
              </a:rPr>
              <a:t>※　methodA</a:t>
            </a:r>
            <a:r>
              <a:rPr lang="en-US" altLang="ja-JP">
                <a:latin typeface="Arial" panose="020B0604020202020204" pitchFamily="34" charset="0"/>
              </a:rPr>
              <a:t> là method có trong object sẽ đề nghị xử lý với </a:t>
            </a:r>
            <a:r>
              <a:rPr lang="en-US" altLang="en-US">
                <a:latin typeface="Arial" panose="020B0604020202020204" pitchFamily="34" charset="0"/>
              </a:rPr>
              <a:t>Person</a:t>
            </a:r>
            <a:r>
              <a:rPr lang="en-US" altLang="ja-JP">
                <a:latin typeface="Arial" panose="020B0604020202020204" pitchFamily="34" charset="0"/>
              </a:rPr>
              <a:t> object. </a:t>
            </a:r>
            <a:endParaRPr lang="en-US" altLang="en-US">
              <a:latin typeface="Arial" panose="020B0604020202020204" pitchFamily="34" charset="0"/>
            </a:endParaRPr>
          </a:p>
          <a:p>
            <a:pPr marL="0" indent="0">
              <a:lnSpc>
                <a:spcPct val="90000"/>
              </a:lnSpc>
            </a:pPr>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Về việc gọi ra method thì sẽ học sau.</a:t>
            </a:r>
          </a:p>
        </p:txBody>
      </p:sp>
      <p:sp>
        <p:nvSpPr>
          <p:cNvPr id="535554" name="Rectangle 2">
            <a:extLst>
              <a:ext uri="{FF2B5EF4-FFF2-40B4-BE49-F238E27FC236}">
                <a16:creationId xmlns:a16="http://schemas.microsoft.com/office/drawing/2014/main" id="{E83ACC80-F9AC-C35B-1F53-B288E52145EF}"/>
              </a:ext>
            </a:extLst>
          </p:cNvPr>
          <p:cNvSpPr>
            <a:spLocks noGrp="1" noRot="1" noChangeAspect="1" noChangeArrowheads="1" noTextEdit="1"/>
          </p:cNvSpPr>
          <p:nvPr>
            <p:ph type="sldImg"/>
          </p:nvPr>
        </p:nvSpPr>
        <p:spPr>
          <a:xfrm>
            <a:off x="531813" y="835025"/>
            <a:ext cx="6024562" cy="4170363"/>
          </a:xfrm>
          <a:ln/>
        </p:spPr>
      </p:sp>
      <p:sp>
        <p:nvSpPr>
          <p:cNvPr id="535556" name="Text Box 4">
            <a:extLst>
              <a:ext uri="{FF2B5EF4-FFF2-40B4-BE49-F238E27FC236}">
                <a16:creationId xmlns:a16="http://schemas.microsoft.com/office/drawing/2014/main" id="{62B59E2A-52DA-300A-2636-797570D142AB}"/>
              </a:ext>
            </a:extLst>
          </p:cNvPr>
          <p:cNvSpPr txBox="1">
            <a:spLocks noChangeArrowheads="1"/>
          </p:cNvSpPr>
          <p:nvPr/>
        </p:nvSpPr>
        <p:spPr bwMode="auto">
          <a:xfrm>
            <a:off x="777875" y="6710363"/>
            <a:ext cx="5643563" cy="103346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modifier</a:t>
            </a:r>
            <a:r>
              <a:rPr lang="en-US" altLang="ja-JP" b="0">
                <a:latin typeface="ＭＳ ゴシック" panose="020B0609070205080204" pitchFamily="49" charset="-128"/>
                <a:ea typeface="ＭＳ ゴシック" panose="020B0609070205080204" pitchFamily="49" charset="-128"/>
              </a:rPr>
              <a:t> class </a:t>
            </a:r>
            <a:r>
              <a:rPr lang="en-US" altLang="ja-JP" b="0">
                <a:ea typeface="ＭＳ ゴシック" panose="020B0609070205080204" pitchFamily="49" charset="-128"/>
              </a:rPr>
              <a:t>class name</a:t>
            </a:r>
            <a:r>
              <a:rPr lang="en-US" altLang="ja-JP" b="0">
                <a:latin typeface="ＭＳ ゴシック" panose="020B0609070205080204" pitchFamily="49" charset="-128"/>
                <a:ea typeface="ＭＳ ゴシック" panose="020B0609070205080204" pitchFamily="49" charset="-128"/>
              </a:rPr>
              <a:t> {</a:t>
            </a:r>
          </a:p>
          <a:p>
            <a:pPr lvl="1" algn="just"/>
            <a:endParaRPr lang="en-US" altLang="ja-JP" b="0">
              <a:latin typeface="ＭＳ ゴシック" panose="020B0609070205080204" pitchFamily="49" charset="-128"/>
              <a:ea typeface="ＭＳ ゴシック" panose="020B0609070205080204" pitchFamily="49" charset="-128"/>
            </a:endParaRPr>
          </a:p>
          <a:p>
            <a:pPr lvl="1" algn="just"/>
            <a:r>
              <a:rPr lang="en-US" altLang="ja-JP" b="0">
                <a:latin typeface="ＭＳ ゴシック" panose="020B0609070205080204" pitchFamily="49" charset="-128"/>
                <a:ea typeface="ＭＳ ゴシック" panose="020B0609070205080204" pitchFamily="49" charset="-128"/>
              </a:rPr>
              <a:t>    // </a:t>
            </a:r>
            <a:r>
              <a:rPr lang="en-US" altLang="ja-JP" b="0">
                <a:ea typeface="ＭＳ ゴシック" panose="020B0609070205080204" pitchFamily="49" charset="-128"/>
              </a:rPr>
              <a:t>Định nghĩa field</a:t>
            </a:r>
            <a:r>
              <a:rPr lang="ja-JP" altLang="en-US" b="0">
                <a:ea typeface="MS UI Gothic" panose="020B0600070205080204" pitchFamily="50" charset="-128"/>
              </a:rPr>
              <a:t>（</a:t>
            </a:r>
            <a:r>
              <a:rPr lang="en-US" altLang="ja-JP" b="0">
                <a:ea typeface="MS UI Gothic" panose="020B0600070205080204" pitchFamily="50" charset="-128"/>
              </a:rPr>
              <a:t>thuộc tính</a:t>
            </a:r>
            <a:r>
              <a:rPr lang="ja-JP" altLang="en-US" b="0">
                <a:ea typeface="MS UI Gothic" panose="020B0600070205080204" pitchFamily="50" charset="-128"/>
              </a:rPr>
              <a:t>）</a:t>
            </a:r>
          </a:p>
          <a:p>
            <a:pPr lvl="1" algn="just"/>
            <a:endParaRPr lang="ja-JP" altLang="en-US" b="0">
              <a:latin typeface="ＭＳ ゴシック" panose="020B0609070205080204" pitchFamily="49" charset="-128"/>
              <a:ea typeface="ＭＳ ゴシック" panose="020B0609070205080204" pitchFamily="49" charset="-128"/>
            </a:endParaRPr>
          </a:p>
          <a:p>
            <a:pPr lvl="1" algn="just"/>
            <a:r>
              <a:rPr lang="ja-JP" altLang="en-US" b="0">
                <a:latin typeface="ＭＳ ゴシック" panose="020B0609070205080204" pitchFamily="49" charset="-128"/>
                <a:ea typeface="ＭＳ ゴシック" panose="020B0609070205080204" pitchFamily="49" charset="-128"/>
              </a:rPr>
              <a:t>    </a:t>
            </a:r>
            <a:r>
              <a:rPr lang="en-US" altLang="ja-JP" b="0">
                <a:latin typeface="ＭＳ ゴシック" panose="020B0609070205080204" pitchFamily="49" charset="-128"/>
                <a:ea typeface="ＭＳ ゴシック" panose="020B0609070205080204" pitchFamily="49" charset="-128"/>
              </a:rPr>
              <a:t>// </a:t>
            </a:r>
            <a:r>
              <a:rPr lang="en-US" altLang="ja-JP" b="0">
                <a:ea typeface="ＭＳ ゴシック" panose="020B0609070205080204" pitchFamily="49" charset="-128"/>
              </a:rPr>
              <a:t>Định nghĩa instance method</a:t>
            </a:r>
            <a:endParaRPr lang="en-US" altLang="ja-JP" b="0">
              <a:ea typeface="MS UI Gothic" panose="020B0600070205080204" pitchFamily="50" charset="-128"/>
            </a:endParaRPr>
          </a:p>
          <a:p>
            <a:pPr lvl="1" algn="just"/>
            <a:r>
              <a:rPr lang="en-US" altLang="ja-JP" b="0">
                <a:latin typeface="ＭＳ ゴシック" panose="020B0609070205080204" pitchFamily="49" charset="-128"/>
                <a:ea typeface="ＭＳ ゴシック" panose="020B0609070205080204" pitchFamily="49" charset="-128"/>
              </a:rPr>
              <a:t>}</a:t>
            </a:r>
          </a:p>
        </p:txBody>
      </p:sp>
      <p:grpSp>
        <p:nvGrpSpPr>
          <p:cNvPr id="535589" name="Group 37">
            <a:extLst>
              <a:ext uri="{FF2B5EF4-FFF2-40B4-BE49-F238E27FC236}">
                <a16:creationId xmlns:a16="http://schemas.microsoft.com/office/drawing/2014/main" id="{5D31834D-9659-5395-033D-82D9BEE44826}"/>
              </a:ext>
            </a:extLst>
          </p:cNvPr>
          <p:cNvGrpSpPr>
            <a:grpSpLocks/>
          </p:cNvGrpSpPr>
          <p:nvPr/>
        </p:nvGrpSpPr>
        <p:grpSpPr bwMode="auto">
          <a:xfrm>
            <a:off x="1176338" y="6918325"/>
            <a:ext cx="3498850" cy="568325"/>
            <a:chOff x="741" y="4389"/>
            <a:chExt cx="2204" cy="328"/>
          </a:xfrm>
        </p:grpSpPr>
        <p:sp>
          <p:nvSpPr>
            <p:cNvPr id="535557" name="Rectangle 5">
              <a:extLst>
                <a:ext uri="{FF2B5EF4-FFF2-40B4-BE49-F238E27FC236}">
                  <a16:creationId xmlns:a16="http://schemas.microsoft.com/office/drawing/2014/main" id="{34919B4D-31E4-EA1A-2A6C-3953180576DB}"/>
                </a:ext>
              </a:extLst>
            </p:cNvPr>
            <p:cNvSpPr>
              <a:spLocks noChangeArrowheads="1"/>
            </p:cNvSpPr>
            <p:nvPr/>
          </p:nvSpPr>
          <p:spPr bwMode="auto">
            <a:xfrm>
              <a:off x="741" y="4472"/>
              <a:ext cx="1336" cy="162"/>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1" tIns="45700" rIns="91401" bIns="45700"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535558" name="Rectangle 6">
              <a:extLst>
                <a:ext uri="{FF2B5EF4-FFF2-40B4-BE49-F238E27FC236}">
                  <a16:creationId xmlns:a16="http://schemas.microsoft.com/office/drawing/2014/main" id="{B663DC51-7D00-EB38-1037-A229DA784146}"/>
                </a:ext>
              </a:extLst>
            </p:cNvPr>
            <p:cNvSpPr>
              <a:spLocks noChangeArrowheads="1"/>
            </p:cNvSpPr>
            <p:nvPr/>
          </p:nvSpPr>
          <p:spPr bwMode="auto">
            <a:xfrm>
              <a:off x="2455" y="4389"/>
              <a:ext cx="490" cy="328"/>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1" tIns="45700" rIns="91401" bIns="45700"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ea typeface="MS UI Gothic" panose="020B0600070205080204" pitchFamily="50" charset="-128"/>
                </a:rPr>
                <a:t>Vị trí định nghĩa</a:t>
              </a:r>
            </a:p>
          </p:txBody>
        </p:sp>
        <p:cxnSp>
          <p:nvCxnSpPr>
            <p:cNvPr id="535559" name="AutoShape 7">
              <a:extLst>
                <a:ext uri="{FF2B5EF4-FFF2-40B4-BE49-F238E27FC236}">
                  <a16:creationId xmlns:a16="http://schemas.microsoft.com/office/drawing/2014/main" id="{40C239DD-25B5-179F-C0CA-58164A947E06}"/>
                </a:ext>
              </a:extLst>
            </p:cNvPr>
            <p:cNvCxnSpPr>
              <a:cxnSpLocks noChangeShapeType="1"/>
              <a:stCxn id="535557" idx="3"/>
              <a:endCxn id="535558" idx="1"/>
            </p:cNvCxnSpPr>
            <p:nvPr/>
          </p:nvCxnSpPr>
          <p:spPr bwMode="auto">
            <a:xfrm>
              <a:off x="2085" y="4553"/>
              <a:ext cx="362" cy="0"/>
            </a:xfrm>
            <a:prstGeom prst="straightConnector1">
              <a:avLst/>
            </a:prstGeom>
            <a:noFill/>
            <a:ln w="1905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35588" name="Group 36">
            <a:extLst>
              <a:ext uri="{FF2B5EF4-FFF2-40B4-BE49-F238E27FC236}">
                <a16:creationId xmlns:a16="http://schemas.microsoft.com/office/drawing/2014/main" id="{27F35799-62B2-2A1B-0874-5D01DA75884A}"/>
              </a:ext>
            </a:extLst>
          </p:cNvPr>
          <p:cNvGrpSpPr>
            <a:grpSpLocks/>
          </p:cNvGrpSpPr>
          <p:nvPr/>
        </p:nvGrpSpPr>
        <p:grpSpPr bwMode="auto">
          <a:xfrm>
            <a:off x="787400" y="7839075"/>
            <a:ext cx="5634038" cy="1473200"/>
            <a:chOff x="496" y="4938"/>
            <a:chExt cx="3549" cy="928"/>
          </a:xfrm>
        </p:grpSpPr>
        <p:sp>
          <p:nvSpPr>
            <p:cNvPr id="535579" name="Text Box 27">
              <a:extLst>
                <a:ext uri="{FF2B5EF4-FFF2-40B4-BE49-F238E27FC236}">
                  <a16:creationId xmlns:a16="http://schemas.microsoft.com/office/drawing/2014/main" id="{AAB3C06B-B1F7-E7CD-4A5A-577993434171}"/>
                </a:ext>
              </a:extLst>
            </p:cNvPr>
            <p:cNvSpPr txBox="1">
              <a:spLocks noChangeArrowheads="1"/>
            </p:cNvSpPr>
            <p:nvPr/>
          </p:nvSpPr>
          <p:spPr bwMode="auto">
            <a:xfrm>
              <a:off x="496" y="4938"/>
              <a:ext cx="3549" cy="92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endParaRPr lang="ja-JP" altLang="ja-JP" b="0">
                <a:latin typeface="MS UI Gothic" panose="020B0600070205080204" pitchFamily="50" charset="-128"/>
                <a:ea typeface="MS UI Gothic" panose="020B0600070205080204" pitchFamily="50" charset="-128"/>
              </a:endParaRPr>
            </a:p>
          </p:txBody>
        </p:sp>
        <p:sp>
          <p:nvSpPr>
            <p:cNvPr id="535560" name="Text Box 8">
              <a:extLst>
                <a:ext uri="{FF2B5EF4-FFF2-40B4-BE49-F238E27FC236}">
                  <a16:creationId xmlns:a16="http://schemas.microsoft.com/office/drawing/2014/main" id="{1BC8F91B-5AF2-609F-285A-51CBF01DB44B}"/>
                </a:ext>
              </a:extLst>
            </p:cNvPr>
            <p:cNvSpPr txBox="1">
              <a:spLocks noChangeArrowheads="1"/>
            </p:cNvSpPr>
            <p:nvPr/>
          </p:nvSpPr>
          <p:spPr bwMode="auto">
            <a:xfrm>
              <a:off x="621" y="5007"/>
              <a:ext cx="1302" cy="7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tabLst>
                  <a:tab pos="0" algn="l"/>
                </a:tabLst>
                <a:defRPr kumimoji="1">
                  <a:solidFill>
                    <a:schemeClr val="tx1"/>
                  </a:solidFill>
                  <a:latin typeface="Arial" panose="020B0604020202020204" pitchFamily="34" charset="0"/>
                  <a:ea typeface="ＭＳ Ｐゴシック" panose="020B0600070205080204" pitchFamily="50" charset="-128"/>
                </a:defRPr>
              </a:lvl1pPr>
              <a:lvl2pPr marL="187325" defTabSz="954088">
                <a:tabLst>
                  <a:tab pos="0" algn="l"/>
                </a:tabLst>
                <a:defRPr kumimoji="1">
                  <a:solidFill>
                    <a:schemeClr val="tx1"/>
                  </a:solidFill>
                  <a:latin typeface="Arial" panose="020B0604020202020204" pitchFamily="34" charset="0"/>
                  <a:ea typeface="ＭＳ Ｐゴシック" panose="020B0600070205080204" pitchFamily="50" charset="-128"/>
                </a:defRPr>
              </a:lvl2pPr>
              <a:lvl3pPr marL="954088" defTabSz="954088">
                <a:tabLst>
                  <a:tab pos="0" algn="l"/>
                </a:tabLst>
                <a:defRPr kumimoji="1">
                  <a:solidFill>
                    <a:schemeClr val="tx1"/>
                  </a:solidFill>
                  <a:latin typeface="Arial" panose="020B0604020202020204" pitchFamily="34" charset="0"/>
                  <a:ea typeface="ＭＳ Ｐゴシック" panose="020B0600070205080204" pitchFamily="50" charset="-128"/>
                </a:defRPr>
              </a:lvl3pPr>
              <a:lvl4pPr marL="1431925" defTabSz="954088">
                <a:tabLst>
                  <a:tab pos="0" algn="l"/>
                </a:tabLst>
                <a:defRPr kumimoji="1">
                  <a:solidFill>
                    <a:schemeClr val="tx1"/>
                  </a:solidFill>
                  <a:latin typeface="Arial" panose="020B0604020202020204" pitchFamily="34" charset="0"/>
                  <a:ea typeface="ＭＳ Ｐゴシック" panose="020B0600070205080204" pitchFamily="50" charset="-128"/>
                </a:defRPr>
              </a:lvl4pPr>
              <a:lvl5pPr marL="1909763" defTabSz="954088">
                <a:tabLst>
                  <a:tab pos="0" algn="l"/>
                </a:tabLst>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tabLst>
                  <a:tab pos="0" algn="l"/>
                </a:tabLs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tabLst>
                  <a:tab pos="0" algn="l"/>
                </a:tabLs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tabLst>
                  <a:tab pos="0" algn="l"/>
                </a:tabLs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tabLst>
                  <a:tab pos="0" algn="l"/>
                </a:tabLs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latin typeface="ＭＳ ゴシック" panose="020B0609070205080204" pitchFamily="49" charset="-128"/>
                  <a:ea typeface="ＭＳ ゴシック" panose="020B0609070205080204" pitchFamily="49" charset="-128"/>
                </a:rPr>
                <a:t>public void methodA() {</a:t>
              </a:r>
            </a:p>
            <a:p>
              <a:pPr lvl="1" algn="just"/>
              <a:r>
                <a:rPr lang="en-US" altLang="ja-JP" b="0">
                  <a:latin typeface="ＭＳ ゴシック" panose="020B0609070205080204" pitchFamily="49" charset="-128"/>
                  <a:ea typeface="ＭＳ ゴシック" panose="020B0609070205080204" pitchFamily="49" charset="-128"/>
                </a:rPr>
                <a:t>     </a:t>
              </a:r>
              <a:r>
                <a:rPr lang="ja-JP" altLang="en-US" b="0">
                  <a:latin typeface="ＭＳ ゴシック" panose="020B0609070205080204" pitchFamily="49" charset="-128"/>
                  <a:ea typeface="ＭＳ ゴシック" panose="020B0609070205080204" pitchFamily="49" charset="-128"/>
                </a:rPr>
                <a:t>　：</a:t>
              </a:r>
            </a:p>
            <a:p>
              <a:pPr lvl="1" algn="just"/>
              <a:endParaRPr lang="ja-JP" altLang="en-US" b="0">
                <a:latin typeface="ＭＳ ゴシック" panose="020B0609070205080204" pitchFamily="49" charset="-128"/>
                <a:ea typeface="ＭＳ ゴシック" panose="020B0609070205080204" pitchFamily="49" charset="-128"/>
              </a:endParaRPr>
            </a:p>
            <a:p>
              <a:pPr lvl="1" algn="just">
                <a:spcBef>
                  <a:spcPct val="20000"/>
                </a:spcBef>
              </a:pPr>
              <a:r>
                <a:rPr lang="ja-JP" altLang="en-US" b="0">
                  <a:latin typeface="ＭＳ ゴシック" panose="020B0609070205080204" pitchFamily="49" charset="-128"/>
                  <a:ea typeface="ＭＳ ゴシック" panose="020B0609070205080204" pitchFamily="49" charset="-128"/>
                </a:rPr>
                <a:t>    </a:t>
              </a:r>
              <a:r>
                <a:rPr lang="en-US" altLang="ja-JP" b="0">
                  <a:ea typeface="ＭＳ ゴシック" panose="020B0609070205080204" pitchFamily="49" charset="-128"/>
                </a:rPr>
                <a:t>Gọi ra</a:t>
              </a:r>
              <a:r>
                <a:rPr lang="en-US" altLang="ja-JP" b="0">
                  <a:latin typeface="ＭＳ ゴシック" panose="020B0609070205080204" pitchFamily="49" charset="-128"/>
                  <a:ea typeface="ＭＳ ゴシック" panose="020B0609070205080204" pitchFamily="49" charset="-128"/>
                </a:rPr>
                <a:t> setLastName</a:t>
              </a:r>
            </a:p>
            <a:p>
              <a:pPr lvl="1" algn="just"/>
              <a:endParaRPr lang="en-US" altLang="ja-JP" b="0">
                <a:latin typeface="ＭＳ ゴシック" panose="020B0609070205080204" pitchFamily="49" charset="-128"/>
                <a:ea typeface="ＭＳ ゴシック" panose="020B0609070205080204" pitchFamily="49" charset="-128"/>
              </a:endParaRPr>
            </a:p>
            <a:p>
              <a:pPr lvl="1" algn="just"/>
              <a:r>
                <a:rPr lang="en-US" altLang="ja-JP" b="0">
                  <a:latin typeface="ＭＳ ゴシック" panose="020B0609070205080204" pitchFamily="49" charset="-128"/>
                  <a:ea typeface="ＭＳ ゴシック" panose="020B0609070205080204" pitchFamily="49" charset="-128"/>
                </a:rPr>
                <a:t>     </a:t>
              </a:r>
              <a:r>
                <a:rPr lang="ja-JP" altLang="en-US" b="0">
                  <a:latin typeface="ＭＳ ゴシック" panose="020B0609070205080204" pitchFamily="49" charset="-128"/>
                  <a:ea typeface="ＭＳ ゴシック" panose="020B0609070205080204" pitchFamily="49" charset="-128"/>
                </a:rPr>
                <a:t>　：</a:t>
              </a:r>
            </a:p>
            <a:p>
              <a:pPr lvl="1" algn="just"/>
              <a:r>
                <a:rPr lang="en-US" altLang="ja-JP" b="0">
                  <a:latin typeface="ＭＳ ゴシック" panose="020B0609070205080204" pitchFamily="49" charset="-128"/>
                  <a:ea typeface="ＭＳ ゴシック" panose="020B0609070205080204" pitchFamily="49" charset="-128"/>
                </a:rPr>
                <a:t>}</a:t>
              </a:r>
            </a:p>
            <a:p>
              <a:pPr lvl="1" algn="just"/>
              <a:endParaRPr lang="en-US" altLang="ja-JP" b="0">
                <a:latin typeface="ＭＳ ゴシック" panose="020B0609070205080204" pitchFamily="49" charset="-128"/>
                <a:ea typeface="ＭＳ ゴシック" panose="020B0609070205080204" pitchFamily="49" charset="-128"/>
              </a:endParaRPr>
            </a:p>
          </p:txBody>
        </p:sp>
        <p:sp>
          <p:nvSpPr>
            <p:cNvPr id="535567" name="Rectangle 15">
              <a:extLst>
                <a:ext uri="{FF2B5EF4-FFF2-40B4-BE49-F238E27FC236}">
                  <a16:creationId xmlns:a16="http://schemas.microsoft.com/office/drawing/2014/main" id="{447D5349-5310-8485-145D-8B619A3AC5D5}"/>
                </a:ext>
              </a:extLst>
            </p:cNvPr>
            <p:cNvSpPr>
              <a:spLocks noChangeArrowheads="1"/>
            </p:cNvSpPr>
            <p:nvPr/>
          </p:nvSpPr>
          <p:spPr bwMode="auto">
            <a:xfrm>
              <a:off x="839" y="5320"/>
              <a:ext cx="925" cy="126"/>
            </a:xfrm>
            <a:prstGeom prst="rect">
              <a:avLst/>
            </a:prstGeom>
            <a:noFill/>
            <a:ln w="19050">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0" tIns="45704" rIns="91410" bIns="45704"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535569" name="Rectangle 17">
              <a:extLst>
                <a:ext uri="{FF2B5EF4-FFF2-40B4-BE49-F238E27FC236}">
                  <a16:creationId xmlns:a16="http://schemas.microsoft.com/office/drawing/2014/main" id="{ED80A0FC-DB26-C91F-6557-73CCBB3B7C6C}"/>
                </a:ext>
              </a:extLst>
            </p:cNvPr>
            <p:cNvSpPr>
              <a:spLocks noChangeArrowheads="1"/>
            </p:cNvSpPr>
            <p:nvPr/>
          </p:nvSpPr>
          <p:spPr bwMode="auto">
            <a:xfrm>
              <a:off x="1545" y="5191"/>
              <a:ext cx="208" cy="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3FB007"/>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01" tIns="45700" rIns="91401" bIns="45700"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latin typeface="MS UI Gothic" panose="020B0600070205080204" pitchFamily="50" charset="-128"/>
                  <a:ea typeface="MS UI Gothic" panose="020B0600070205080204" pitchFamily="50" charset="-128"/>
                </a:rPr>
                <a:t>①</a:t>
              </a:r>
            </a:p>
          </p:txBody>
        </p:sp>
        <p:sp>
          <p:nvSpPr>
            <p:cNvPr id="535570" name="Rectangle 18">
              <a:extLst>
                <a:ext uri="{FF2B5EF4-FFF2-40B4-BE49-F238E27FC236}">
                  <a16:creationId xmlns:a16="http://schemas.microsoft.com/office/drawing/2014/main" id="{B09CAC4F-F51F-57FB-2A28-49B2B1303B59}"/>
                </a:ext>
              </a:extLst>
            </p:cNvPr>
            <p:cNvSpPr>
              <a:spLocks noChangeArrowheads="1"/>
            </p:cNvSpPr>
            <p:nvPr/>
          </p:nvSpPr>
          <p:spPr bwMode="auto">
            <a:xfrm>
              <a:off x="2092" y="5307"/>
              <a:ext cx="301" cy="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3FB007"/>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01" tIns="45700" rIns="91401" bIns="45700"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latin typeface="MS UI Gothic" panose="020B0600070205080204" pitchFamily="50" charset="-128"/>
                  <a:ea typeface="MS UI Gothic" panose="020B0600070205080204" pitchFamily="50" charset="-128"/>
                </a:rPr>
                <a:t>②</a:t>
              </a:r>
            </a:p>
          </p:txBody>
        </p:sp>
        <p:sp>
          <p:nvSpPr>
            <p:cNvPr id="535571" name="Rectangle 19">
              <a:extLst>
                <a:ext uri="{FF2B5EF4-FFF2-40B4-BE49-F238E27FC236}">
                  <a16:creationId xmlns:a16="http://schemas.microsoft.com/office/drawing/2014/main" id="{947831B5-D95C-0779-D52F-30757DAC7A02}"/>
                </a:ext>
              </a:extLst>
            </p:cNvPr>
            <p:cNvSpPr>
              <a:spLocks noChangeArrowheads="1"/>
            </p:cNvSpPr>
            <p:nvPr/>
          </p:nvSpPr>
          <p:spPr bwMode="auto">
            <a:xfrm>
              <a:off x="1560" y="5515"/>
              <a:ext cx="208" cy="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3FB007"/>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01" tIns="45700" rIns="91401" bIns="45700"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latin typeface="MS UI Gothic" panose="020B0600070205080204" pitchFamily="50" charset="-128"/>
                  <a:ea typeface="MS UI Gothic" panose="020B0600070205080204" pitchFamily="50" charset="-128"/>
                </a:rPr>
                <a:t>③</a:t>
              </a:r>
            </a:p>
          </p:txBody>
        </p:sp>
        <p:sp>
          <p:nvSpPr>
            <p:cNvPr id="535572" name="Line 20">
              <a:extLst>
                <a:ext uri="{FF2B5EF4-FFF2-40B4-BE49-F238E27FC236}">
                  <a16:creationId xmlns:a16="http://schemas.microsoft.com/office/drawing/2014/main" id="{F8D745CB-6C82-7F4A-74D7-6011ED63E011}"/>
                </a:ext>
              </a:extLst>
            </p:cNvPr>
            <p:cNvSpPr>
              <a:spLocks noChangeShapeType="1"/>
            </p:cNvSpPr>
            <p:nvPr/>
          </p:nvSpPr>
          <p:spPr bwMode="auto">
            <a:xfrm flipH="1">
              <a:off x="1757" y="5475"/>
              <a:ext cx="0" cy="178"/>
            </a:xfrm>
            <a:prstGeom prst="line">
              <a:avLst/>
            </a:prstGeom>
            <a:noFill/>
            <a:ln w="1905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p>
              <a:endParaRPr lang="ja-JP" altLang="en-US"/>
            </a:p>
          </p:txBody>
        </p:sp>
        <p:sp>
          <p:nvSpPr>
            <p:cNvPr id="535576" name="Line 24">
              <a:extLst>
                <a:ext uri="{FF2B5EF4-FFF2-40B4-BE49-F238E27FC236}">
                  <a16:creationId xmlns:a16="http://schemas.microsoft.com/office/drawing/2014/main" id="{E868A5C8-6AE1-CD55-8832-68DFC434600C}"/>
                </a:ext>
              </a:extLst>
            </p:cNvPr>
            <p:cNvSpPr>
              <a:spLocks noChangeShapeType="1"/>
            </p:cNvSpPr>
            <p:nvPr/>
          </p:nvSpPr>
          <p:spPr bwMode="auto">
            <a:xfrm>
              <a:off x="2265" y="5189"/>
              <a:ext cx="0" cy="328"/>
            </a:xfrm>
            <a:prstGeom prst="line">
              <a:avLst/>
            </a:prstGeom>
            <a:noFill/>
            <a:ln w="1905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p>
              <a:endParaRPr lang="ja-JP" altLang="en-US"/>
            </a:p>
          </p:txBody>
        </p:sp>
        <p:sp>
          <p:nvSpPr>
            <p:cNvPr id="535577" name="Line 25">
              <a:extLst>
                <a:ext uri="{FF2B5EF4-FFF2-40B4-BE49-F238E27FC236}">
                  <a16:creationId xmlns:a16="http://schemas.microsoft.com/office/drawing/2014/main" id="{374EA1E1-58B8-8363-47D1-2D61E835D1FA}"/>
                </a:ext>
              </a:extLst>
            </p:cNvPr>
            <p:cNvSpPr>
              <a:spLocks noChangeShapeType="1"/>
            </p:cNvSpPr>
            <p:nvPr/>
          </p:nvSpPr>
          <p:spPr bwMode="auto">
            <a:xfrm flipV="1">
              <a:off x="1801" y="5209"/>
              <a:ext cx="430" cy="113"/>
            </a:xfrm>
            <a:prstGeom prst="line">
              <a:avLst/>
            </a:prstGeom>
            <a:noFill/>
            <a:ln w="19050">
              <a:solidFill>
                <a:srgbClr val="FF8519"/>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p>
              <a:endParaRPr lang="ja-JP" altLang="en-US"/>
            </a:p>
          </p:txBody>
        </p:sp>
        <p:sp>
          <p:nvSpPr>
            <p:cNvPr id="535578" name="Line 26">
              <a:extLst>
                <a:ext uri="{FF2B5EF4-FFF2-40B4-BE49-F238E27FC236}">
                  <a16:creationId xmlns:a16="http://schemas.microsoft.com/office/drawing/2014/main" id="{10096DCF-28BF-1BA7-68D5-6DBCEA8EBFD8}"/>
                </a:ext>
              </a:extLst>
            </p:cNvPr>
            <p:cNvSpPr>
              <a:spLocks noChangeShapeType="1"/>
            </p:cNvSpPr>
            <p:nvPr/>
          </p:nvSpPr>
          <p:spPr bwMode="auto">
            <a:xfrm>
              <a:off x="1797" y="5459"/>
              <a:ext cx="434" cy="41"/>
            </a:xfrm>
            <a:prstGeom prst="line">
              <a:avLst/>
            </a:prstGeom>
            <a:noFill/>
            <a:ln w="19050">
              <a:solidFill>
                <a:srgbClr val="FF8519"/>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p>
              <a:endParaRPr lang="ja-JP" altLang="en-US"/>
            </a:p>
          </p:txBody>
        </p:sp>
        <p:sp>
          <p:nvSpPr>
            <p:cNvPr id="535561" name="Line 9">
              <a:extLst>
                <a:ext uri="{FF2B5EF4-FFF2-40B4-BE49-F238E27FC236}">
                  <a16:creationId xmlns:a16="http://schemas.microsoft.com/office/drawing/2014/main" id="{CCC2ECCC-3434-980B-EE48-F1C1374162E4}"/>
                </a:ext>
              </a:extLst>
            </p:cNvPr>
            <p:cNvSpPr>
              <a:spLocks noChangeShapeType="1"/>
            </p:cNvSpPr>
            <p:nvPr/>
          </p:nvSpPr>
          <p:spPr bwMode="auto">
            <a:xfrm>
              <a:off x="1761" y="5114"/>
              <a:ext cx="0" cy="212"/>
            </a:xfrm>
            <a:prstGeom prst="line">
              <a:avLst/>
            </a:prstGeom>
            <a:noFill/>
            <a:ln w="1905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p>
              <a:endParaRPr lang="ja-JP" altLang="en-US"/>
            </a:p>
          </p:txBody>
        </p:sp>
        <p:sp>
          <p:nvSpPr>
            <p:cNvPr id="535585" name="Rectangle 33">
              <a:extLst>
                <a:ext uri="{FF2B5EF4-FFF2-40B4-BE49-F238E27FC236}">
                  <a16:creationId xmlns:a16="http://schemas.microsoft.com/office/drawing/2014/main" id="{14A2D1BA-50DE-C3D0-AB82-D161A37D6797}"/>
                </a:ext>
              </a:extLst>
            </p:cNvPr>
            <p:cNvSpPr>
              <a:spLocks noChangeArrowheads="1"/>
            </p:cNvSpPr>
            <p:nvPr/>
          </p:nvSpPr>
          <p:spPr bwMode="auto">
            <a:xfrm>
              <a:off x="2307" y="5170"/>
              <a:ext cx="1654" cy="349"/>
            </a:xfrm>
            <a:prstGeom prst="rect">
              <a:avLst/>
            </a:prstGeom>
            <a:solidFill>
              <a:srgbClr val="FF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73" tIns="47736" rIns="95473" bIns="47736"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10000"/>
                </a:spcBef>
              </a:pPr>
              <a:r>
                <a:rPr lang="en-US" altLang="ja-JP" b="0">
                  <a:latin typeface="ＭＳ ゴシック" panose="020B0609070205080204" pitchFamily="49" charset="-128"/>
                  <a:ea typeface="ＭＳ ゴシック" panose="020B0609070205080204" pitchFamily="49" charset="-128"/>
                </a:rPr>
                <a:t>public void setLastName(String lname) {</a:t>
              </a:r>
            </a:p>
            <a:p>
              <a:r>
                <a:rPr lang="en-US" altLang="ja-JP" b="0">
                  <a:latin typeface="ＭＳ ゴシック" panose="020B0609070205080204" pitchFamily="49" charset="-128"/>
                  <a:ea typeface="ＭＳ ゴシック" panose="020B0609070205080204" pitchFamily="49" charset="-128"/>
                </a:rPr>
                <a:t>    lastName = lname;</a:t>
              </a:r>
            </a:p>
            <a:p>
              <a:r>
                <a:rPr lang="en-US" altLang="ja-JP" b="0">
                  <a:latin typeface="ＭＳ ゴシック" panose="020B0609070205080204" pitchFamily="49" charset="-128"/>
                  <a:ea typeface="ＭＳ ゴシック" panose="020B0609070205080204" pitchFamily="49" charset="-128"/>
                </a:rPr>
                <a:t>}</a:t>
              </a:r>
            </a:p>
          </p:txBody>
        </p:sp>
      </p:gr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a:extLst>
              <a:ext uri="{FF2B5EF4-FFF2-40B4-BE49-F238E27FC236}">
                <a16:creationId xmlns:a16="http://schemas.microsoft.com/office/drawing/2014/main" id="{D8B2F402-66FD-5901-2A3E-E8384EFDE72E}"/>
              </a:ext>
            </a:extLst>
          </p:cNvPr>
          <p:cNvSpPr>
            <a:spLocks noGrp="1" noRot="1" noChangeAspect="1" noChangeArrowheads="1" noTextEdit="1"/>
          </p:cNvSpPr>
          <p:nvPr>
            <p:ph type="sldImg"/>
          </p:nvPr>
        </p:nvSpPr>
        <p:spPr>
          <a:xfrm>
            <a:off x="531813" y="835025"/>
            <a:ext cx="6024562" cy="4170363"/>
          </a:xfrm>
          <a:ln/>
        </p:spPr>
      </p:sp>
      <p:sp>
        <p:nvSpPr>
          <p:cNvPr id="547843" name="Rectangle 3">
            <a:extLst>
              <a:ext uri="{FF2B5EF4-FFF2-40B4-BE49-F238E27FC236}">
                <a16:creationId xmlns:a16="http://schemas.microsoft.com/office/drawing/2014/main" id="{00046B31-93B5-819E-AB87-0C1215C243D2}"/>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Constructor</a:t>
            </a:r>
          </a:p>
          <a:p>
            <a:pPr marL="0" indent="0"/>
            <a:r>
              <a:rPr lang="ja-JP" altLang="en-US">
                <a:latin typeface="Arial" panose="020B0604020202020204" pitchFamily="34" charset="0"/>
              </a:rPr>
              <a:t>　</a:t>
            </a:r>
            <a:r>
              <a:rPr lang="en-US" altLang="ja-JP">
                <a:latin typeface="Arial" panose="020B0604020202020204" pitchFamily="34" charset="0"/>
              </a:rPr>
              <a:t>Khi định nghĩa constructor sẽ có thể mô tả xử lý tiến hành khi sinh object.</a:t>
            </a:r>
          </a:p>
          <a:p>
            <a:pPr marL="0" indent="0"/>
            <a:r>
              <a:rPr lang="ja-JP" altLang="en-US">
                <a:latin typeface="Arial" panose="020B0604020202020204" pitchFamily="34" charset="0"/>
              </a:rPr>
              <a:t>　</a:t>
            </a:r>
            <a:r>
              <a:rPr lang="en-US" altLang="ja-JP">
                <a:latin typeface="Arial" panose="020B0604020202020204" pitchFamily="34" charset="0"/>
              </a:rPr>
              <a:t>Vì có thể chỉ định đối số như method nên có thể nhận giá trị sẽ set cho thuộc tính.</a:t>
            </a:r>
          </a:p>
          <a:p>
            <a:pPr marL="0" indent="0"/>
            <a:r>
              <a:rPr lang="ja-JP" altLang="en-US">
                <a:latin typeface="Arial" panose="020B0604020202020204" pitchFamily="34" charset="0"/>
              </a:rPr>
              <a:t>　</a:t>
            </a:r>
            <a:r>
              <a:rPr lang="en-US" altLang="ja-JP">
                <a:latin typeface="Arial" panose="020B0604020202020204" pitchFamily="34" charset="0"/>
              </a:rPr>
              <a:t>Có thể định nghĩa nhiều constructor có số lượng và kiểu data của đối số khác nhau.</a:t>
            </a:r>
          </a:p>
          <a:p>
            <a:pPr marL="0" indent="0"/>
            <a:r>
              <a:rPr lang="ja-JP" altLang="en-US">
                <a:latin typeface="Arial" panose="020B0604020202020204" pitchFamily="34" charset="0"/>
              </a:rPr>
              <a:t>　（</a:t>
            </a:r>
            <a:r>
              <a:rPr lang="en-US" altLang="ja-JP">
                <a:latin typeface="Arial" panose="020B0604020202020204" pitchFamily="34" charset="0"/>
              </a:rPr>
              <a:t>Về việc sinh object sẽ học sau.</a:t>
            </a:r>
            <a:r>
              <a:rPr lang="ja-JP" altLang="en-US">
                <a:latin typeface="Arial" panose="020B0604020202020204" pitchFamily="34" charset="0"/>
              </a:rPr>
              <a:t>）</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Default constructor</a:t>
            </a:r>
          </a:p>
          <a:p>
            <a:pPr marL="0" indent="0"/>
            <a:r>
              <a:rPr lang="ja-JP" altLang="en-US">
                <a:latin typeface="Arial" panose="020B0604020202020204" pitchFamily="34" charset="0"/>
              </a:rPr>
              <a:t>　</a:t>
            </a:r>
            <a:r>
              <a:rPr lang="en-US" altLang="ja-JP">
                <a:latin typeface="Arial" panose="020B0604020202020204" pitchFamily="34" charset="0"/>
              </a:rPr>
              <a:t>Trường hợp trong class không định nghĩa 1 constructor nào(trường hợp 0 cái) thì default contract (không có đối số, phần body rỗng) sẽ được tự động add thêm vào lúc compile.</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Định nghĩa constructor</a:t>
            </a:r>
          </a:p>
          <a:p>
            <a:pPr marL="0" indent="0"/>
            <a:r>
              <a:rPr lang="ja-JP" altLang="en-US">
                <a:latin typeface="Arial" panose="020B0604020202020204" pitchFamily="34" charset="0"/>
              </a:rPr>
              <a:t>　</a:t>
            </a:r>
            <a:r>
              <a:rPr lang="en-US" altLang="ja-JP">
                <a:latin typeface="Arial" panose="020B0604020202020204" pitchFamily="34" charset="0"/>
              </a:rPr>
              <a:t>Constructor được định nghĩa bên trong định nghĩa class.</a:t>
            </a:r>
          </a:p>
          <a:p>
            <a:pPr marL="0" indent="0"/>
            <a:r>
              <a:rPr lang="ja-JP" altLang="en-US">
                <a:latin typeface="Arial" panose="020B0604020202020204" pitchFamily="34" charset="0"/>
              </a:rPr>
              <a:t>　</a:t>
            </a:r>
            <a:r>
              <a:rPr lang="en-US" altLang="ja-JP">
                <a:latin typeface="Arial" panose="020B0604020202020204" pitchFamily="34" charset="0"/>
              </a:rPr>
              <a:t>Trình tư định nghĩa là tùy ý nhưng thông thường thì sẽ miêu tả tiếp theo sau field</a:t>
            </a:r>
            <a:r>
              <a:rPr lang="ja-JP" altLang="en-US">
                <a:latin typeface="Arial" panose="020B0604020202020204" pitchFamily="34" charset="0"/>
              </a:rPr>
              <a:t>（</a:t>
            </a:r>
            <a:r>
              <a:rPr lang="en-US" altLang="ja-JP">
                <a:latin typeface="Arial" panose="020B0604020202020204" pitchFamily="34" charset="0"/>
              </a:rPr>
              <a:t>biến số thể hiện thuộc tính</a:t>
            </a:r>
            <a:r>
              <a:rPr lang="ja-JP" altLang="en-US">
                <a:latin typeface="Arial" panose="020B0604020202020204" pitchFamily="34" charset="0"/>
              </a:rPr>
              <a:t>）</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Vị trí định nghĩa</a:t>
            </a:r>
          </a:p>
        </p:txBody>
      </p:sp>
      <p:sp>
        <p:nvSpPr>
          <p:cNvPr id="547849" name="Text Box 9">
            <a:extLst>
              <a:ext uri="{FF2B5EF4-FFF2-40B4-BE49-F238E27FC236}">
                <a16:creationId xmlns:a16="http://schemas.microsoft.com/office/drawing/2014/main" id="{3819A1DF-EE4E-1474-ED92-685C5C911298}"/>
              </a:ext>
            </a:extLst>
          </p:cNvPr>
          <p:cNvSpPr txBox="1">
            <a:spLocks noChangeArrowheads="1"/>
          </p:cNvSpPr>
          <p:nvPr/>
        </p:nvSpPr>
        <p:spPr bwMode="auto">
          <a:xfrm>
            <a:off x="752475" y="6762750"/>
            <a:ext cx="5654675" cy="4413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modifier</a:t>
            </a:r>
            <a:r>
              <a:rPr lang="ja-JP" altLang="en-US" b="0">
                <a:ea typeface="ＭＳ ゴシック" panose="020B0609070205080204" pitchFamily="49" charset="-128"/>
              </a:rPr>
              <a:t>　</a:t>
            </a:r>
            <a:r>
              <a:rPr lang="en-US" altLang="ja-JP" b="0">
                <a:ea typeface="ＭＳ ゴシック" panose="020B0609070205080204" pitchFamily="49" charset="-128"/>
              </a:rPr>
              <a:t>Class name() {</a:t>
            </a:r>
          </a:p>
          <a:p>
            <a:pPr lvl="1" algn="just"/>
            <a:r>
              <a:rPr lang="en-US" altLang="ja-JP" b="0">
                <a:ea typeface="ＭＳ ゴシック" panose="020B0609070205080204" pitchFamily="49" charset="-128"/>
              </a:rPr>
              <a:t>}</a:t>
            </a:r>
          </a:p>
        </p:txBody>
      </p:sp>
      <p:sp>
        <p:nvSpPr>
          <p:cNvPr id="547851" name="Text Box 11">
            <a:extLst>
              <a:ext uri="{FF2B5EF4-FFF2-40B4-BE49-F238E27FC236}">
                <a16:creationId xmlns:a16="http://schemas.microsoft.com/office/drawing/2014/main" id="{58AD2E91-CE64-FDF4-0E4F-AC505B3A508E}"/>
              </a:ext>
            </a:extLst>
          </p:cNvPr>
          <p:cNvSpPr txBox="1">
            <a:spLocks noChangeArrowheads="1"/>
          </p:cNvSpPr>
          <p:nvPr/>
        </p:nvSpPr>
        <p:spPr bwMode="auto">
          <a:xfrm>
            <a:off x="777875" y="8359775"/>
            <a:ext cx="5643563" cy="137318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modifier</a:t>
            </a:r>
            <a:r>
              <a:rPr lang="ja-JP" altLang="en-US" b="0">
                <a:ea typeface="ＭＳ ゴシック" panose="020B0609070205080204" pitchFamily="49" charset="-128"/>
              </a:rPr>
              <a:t>　</a:t>
            </a:r>
            <a:r>
              <a:rPr lang="en-US" altLang="ja-JP" b="0">
                <a:ea typeface="ＭＳ ゴシック" panose="020B0609070205080204" pitchFamily="49" charset="-128"/>
              </a:rPr>
              <a:t>class</a:t>
            </a:r>
            <a:r>
              <a:rPr lang="en-US" altLang="ja-JP" b="0">
                <a:ea typeface="MS UI Gothic" panose="020B0600070205080204" pitchFamily="50" charset="-128"/>
              </a:rPr>
              <a:t>  class name </a:t>
            </a:r>
            <a:r>
              <a:rPr lang="en-US" altLang="ja-JP" b="0">
                <a:ea typeface="ＭＳ ゴシック" panose="020B0609070205080204" pitchFamily="49" charset="-128"/>
              </a:rPr>
              <a:t>{</a:t>
            </a:r>
          </a:p>
          <a:p>
            <a:pPr lvl="1" algn="just"/>
            <a:endParaRPr lang="en-US" altLang="ja-JP" b="0">
              <a:ea typeface="MS UI Gothic" panose="020B0600070205080204" pitchFamily="50" charset="-128"/>
            </a:endParaRPr>
          </a:p>
          <a:p>
            <a:pPr lvl="1" algn="just"/>
            <a:r>
              <a:rPr lang="ja-JP" altLang="en-US" b="0">
                <a:ea typeface="MS UI Gothic" panose="020B0600070205080204" pitchFamily="50" charset="-128"/>
              </a:rPr>
              <a:t>　　　　</a:t>
            </a:r>
            <a:r>
              <a:rPr lang="en-US" altLang="ja-JP" b="0">
                <a:ea typeface="ＭＳ ゴシック" panose="020B0609070205080204" pitchFamily="49" charset="-128"/>
              </a:rPr>
              <a:t>//</a:t>
            </a:r>
            <a:r>
              <a:rPr lang="ja-JP" altLang="en-US" b="0">
                <a:ea typeface="MS UI Gothic" panose="020B0600070205080204" pitchFamily="50" charset="-128"/>
              </a:rPr>
              <a:t>　</a:t>
            </a:r>
            <a:r>
              <a:rPr lang="en-US" altLang="ja-JP" b="0">
                <a:ea typeface="MS UI Gothic" panose="020B0600070205080204" pitchFamily="50" charset="-128"/>
              </a:rPr>
              <a:t>Định nghĩa field</a:t>
            </a:r>
            <a:r>
              <a:rPr lang="ja-JP" altLang="en-US" b="0">
                <a:ea typeface="MS UI Gothic" panose="020B0600070205080204" pitchFamily="50" charset="-128"/>
              </a:rPr>
              <a:t>（</a:t>
            </a:r>
            <a:r>
              <a:rPr lang="en-US" altLang="ja-JP" b="0">
                <a:ea typeface="MS UI Gothic" panose="020B0600070205080204" pitchFamily="50" charset="-128"/>
              </a:rPr>
              <a:t>thuộc tính</a:t>
            </a:r>
            <a:r>
              <a:rPr lang="ja-JP" altLang="en-US" b="0">
                <a:ea typeface="MS UI Gothic" panose="020B0600070205080204" pitchFamily="50" charset="-128"/>
              </a:rPr>
              <a:t>）</a:t>
            </a:r>
          </a:p>
          <a:p>
            <a:pPr lvl="1" algn="just"/>
            <a:endParaRPr lang="ja-JP" altLang="en-US" b="0">
              <a:ea typeface="MS UI Gothic" panose="020B0600070205080204" pitchFamily="50" charset="-128"/>
            </a:endParaRPr>
          </a:p>
          <a:p>
            <a:pPr lvl="1" algn="just"/>
            <a:r>
              <a:rPr lang="ja-JP" altLang="en-US" b="0">
                <a:ea typeface="MS UI Gothic" panose="020B0600070205080204" pitchFamily="50" charset="-128"/>
              </a:rPr>
              <a:t>　　　　</a:t>
            </a:r>
            <a:r>
              <a:rPr lang="en-US" altLang="ja-JP" b="0">
                <a:ea typeface="ＭＳ ゴシック" panose="020B0609070205080204" pitchFamily="49" charset="-128"/>
              </a:rPr>
              <a:t>//</a:t>
            </a:r>
            <a:r>
              <a:rPr lang="ja-JP" altLang="en-US" b="0">
                <a:ea typeface="MS UI Gothic" panose="020B0600070205080204" pitchFamily="50" charset="-128"/>
              </a:rPr>
              <a:t>　</a:t>
            </a:r>
            <a:r>
              <a:rPr lang="en-US" altLang="ja-JP" b="0">
                <a:ea typeface="MS UI Gothic" panose="020B0600070205080204" pitchFamily="50" charset="-128"/>
              </a:rPr>
              <a:t>Định nghĩa constructor</a:t>
            </a:r>
          </a:p>
          <a:p>
            <a:pPr lvl="1" algn="just"/>
            <a:endParaRPr lang="en-US" altLang="ja-JP" b="0">
              <a:ea typeface="MS UI Gothic" panose="020B0600070205080204" pitchFamily="50" charset="-128"/>
            </a:endParaRPr>
          </a:p>
          <a:p>
            <a:pPr lvl="1" algn="just"/>
            <a:r>
              <a:rPr lang="ja-JP" altLang="en-US" b="0">
                <a:ea typeface="MS UI Gothic" panose="020B0600070205080204" pitchFamily="50" charset="-128"/>
              </a:rPr>
              <a:t>　　　　</a:t>
            </a:r>
            <a:r>
              <a:rPr lang="en-US" altLang="ja-JP" b="0">
                <a:ea typeface="ＭＳ ゴシック" panose="020B0609070205080204" pitchFamily="49" charset="-128"/>
              </a:rPr>
              <a:t>//</a:t>
            </a:r>
            <a:r>
              <a:rPr lang="ja-JP" altLang="en-US" b="0">
                <a:ea typeface="MS UI Gothic" panose="020B0600070205080204" pitchFamily="50" charset="-128"/>
              </a:rPr>
              <a:t>　</a:t>
            </a:r>
            <a:r>
              <a:rPr lang="en-US" altLang="ja-JP" b="0">
                <a:ea typeface="MS UI Gothic" panose="020B0600070205080204" pitchFamily="50" charset="-128"/>
              </a:rPr>
              <a:t>Định nghĩa method</a:t>
            </a:r>
          </a:p>
          <a:p>
            <a:pPr lvl="1" algn="just"/>
            <a:r>
              <a:rPr lang="en-US" altLang="ja-JP" b="0">
                <a:ea typeface="ＭＳ ゴシック" panose="020B0609070205080204" pitchFamily="49" charset="-128"/>
              </a:rPr>
              <a:t>}</a:t>
            </a:r>
          </a:p>
        </p:txBody>
      </p:sp>
      <p:grpSp>
        <p:nvGrpSpPr>
          <p:cNvPr id="547855" name="Group 15">
            <a:extLst>
              <a:ext uri="{FF2B5EF4-FFF2-40B4-BE49-F238E27FC236}">
                <a16:creationId xmlns:a16="http://schemas.microsoft.com/office/drawing/2014/main" id="{D5B2445A-B074-CF36-5FAD-7146B4273788}"/>
              </a:ext>
            </a:extLst>
          </p:cNvPr>
          <p:cNvGrpSpPr>
            <a:grpSpLocks/>
          </p:cNvGrpSpPr>
          <p:nvPr/>
        </p:nvGrpSpPr>
        <p:grpSpPr bwMode="auto">
          <a:xfrm>
            <a:off x="1233488" y="8732838"/>
            <a:ext cx="3602037" cy="568325"/>
            <a:chOff x="777" y="5555"/>
            <a:chExt cx="2269" cy="358"/>
          </a:xfrm>
        </p:grpSpPr>
        <p:sp>
          <p:nvSpPr>
            <p:cNvPr id="547852" name="Rectangle 12">
              <a:extLst>
                <a:ext uri="{FF2B5EF4-FFF2-40B4-BE49-F238E27FC236}">
                  <a16:creationId xmlns:a16="http://schemas.microsoft.com/office/drawing/2014/main" id="{B4CCB895-B327-480B-9535-32F3E865816A}"/>
                </a:ext>
              </a:extLst>
            </p:cNvPr>
            <p:cNvSpPr>
              <a:spLocks noChangeArrowheads="1"/>
            </p:cNvSpPr>
            <p:nvPr/>
          </p:nvSpPr>
          <p:spPr bwMode="auto">
            <a:xfrm>
              <a:off x="777" y="5646"/>
              <a:ext cx="1153" cy="176"/>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1" tIns="45700" rIns="91401" bIns="45700"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547853" name="Rectangle 13">
              <a:extLst>
                <a:ext uri="{FF2B5EF4-FFF2-40B4-BE49-F238E27FC236}">
                  <a16:creationId xmlns:a16="http://schemas.microsoft.com/office/drawing/2014/main" id="{CA09FD46-EAEE-4A19-0967-4C3F066A2E22}"/>
                </a:ext>
              </a:extLst>
            </p:cNvPr>
            <p:cNvSpPr>
              <a:spLocks noChangeArrowheads="1"/>
            </p:cNvSpPr>
            <p:nvPr/>
          </p:nvSpPr>
          <p:spPr bwMode="auto">
            <a:xfrm>
              <a:off x="2556" y="5555"/>
              <a:ext cx="490" cy="358"/>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1" tIns="45700" rIns="91401" bIns="45700"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ea typeface="MS UI Gothic" panose="020B0600070205080204" pitchFamily="50" charset="-128"/>
                </a:rPr>
                <a:t>Vị trí định nghĩa</a:t>
              </a:r>
            </a:p>
          </p:txBody>
        </p:sp>
        <p:cxnSp>
          <p:nvCxnSpPr>
            <p:cNvPr id="547854" name="AutoShape 14">
              <a:extLst>
                <a:ext uri="{FF2B5EF4-FFF2-40B4-BE49-F238E27FC236}">
                  <a16:creationId xmlns:a16="http://schemas.microsoft.com/office/drawing/2014/main" id="{2958CF2F-5D82-7DC5-3B86-BE4A54E586C8}"/>
                </a:ext>
              </a:extLst>
            </p:cNvPr>
            <p:cNvCxnSpPr>
              <a:cxnSpLocks noChangeShapeType="1"/>
              <a:stCxn id="547852" idx="3"/>
              <a:endCxn id="547853" idx="1"/>
            </p:cNvCxnSpPr>
            <p:nvPr/>
          </p:nvCxnSpPr>
          <p:spPr bwMode="auto">
            <a:xfrm>
              <a:off x="1938" y="5734"/>
              <a:ext cx="610" cy="0"/>
            </a:xfrm>
            <a:prstGeom prst="straightConnector1">
              <a:avLst/>
            </a:prstGeom>
            <a:noFill/>
            <a:ln w="1905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a:extLst>
              <a:ext uri="{FF2B5EF4-FFF2-40B4-BE49-F238E27FC236}">
                <a16:creationId xmlns:a16="http://schemas.microsoft.com/office/drawing/2014/main" id="{E41E5FB8-B518-254A-0E48-1693A985EB51}"/>
              </a:ext>
            </a:extLst>
          </p:cNvPr>
          <p:cNvSpPr>
            <a:spLocks noGrp="1" noRot="1" noChangeAspect="1" noChangeArrowheads="1" noTextEdit="1"/>
          </p:cNvSpPr>
          <p:nvPr>
            <p:ph type="sldImg"/>
          </p:nvPr>
        </p:nvSpPr>
        <p:spPr>
          <a:xfrm>
            <a:off x="531813" y="835025"/>
            <a:ext cx="6024562" cy="4170363"/>
          </a:xfrm>
          <a:ln/>
        </p:spPr>
      </p:sp>
      <p:sp>
        <p:nvSpPr>
          <p:cNvPr id="553987" name="Rectangle 3">
            <a:extLst>
              <a:ext uri="{FF2B5EF4-FFF2-40B4-BE49-F238E27FC236}">
                <a16:creationId xmlns:a16="http://schemas.microsoft.com/office/drawing/2014/main" id="{52B7AEE6-3235-AED6-80A5-25D23D54436F}"/>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Giá trị null</a:t>
            </a:r>
          </a:p>
          <a:p>
            <a:pPr marL="0" indent="0"/>
            <a:r>
              <a:rPr lang="ja-JP" altLang="en-US">
                <a:latin typeface="Arial" panose="020B0604020202020204" pitchFamily="34" charset="0"/>
              </a:rPr>
              <a:t>　</a:t>
            </a:r>
            <a:r>
              <a:rPr lang="en-US" altLang="ja-JP">
                <a:latin typeface="Arial" panose="020B0604020202020204" pitchFamily="34" charset="0"/>
              </a:rPr>
              <a:t>Giá trị default của biến mà coi class là kiểu data là null.</a:t>
            </a:r>
          </a:p>
          <a:p>
            <a:pPr marL="0" indent="0"/>
            <a:r>
              <a:rPr lang="ja-JP" altLang="en-US">
                <a:latin typeface="Arial" panose="020B0604020202020204" pitchFamily="34" charset="0"/>
              </a:rPr>
              <a:t>　</a:t>
            </a:r>
            <a:r>
              <a:rPr lang="en-US" altLang="ja-JP">
                <a:latin typeface="Arial" panose="020B0604020202020204" pitchFamily="34" charset="0"/>
              </a:rPr>
              <a:t>null là giá trị thể hiện rằng không có bất kỳ một thao chiếu của object nào cả.</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Giải phóng object.</a:t>
            </a:r>
          </a:p>
          <a:p>
            <a:pPr marL="0" indent="0"/>
            <a:r>
              <a:rPr lang="ja-JP" altLang="en-US">
                <a:latin typeface="Arial" panose="020B0604020202020204" pitchFamily="34" charset="0"/>
              </a:rPr>
              <a:t>　</a:t>
            </a:r>
            <a:r>
              <a:rPr lang="en-US" altLang="ja-JP">
                <a:latin typeface="Arial" panose="020B0604020202020204" pitchFamily="34" charset="0"/>
              </a:rPr>
              <a:t>Nếu như object trở nên không cần thiết nữa thì gán giá trị null vào biến dùng để thao tác object. </a:t>
            </a:r>
            <a:r>
              <a:rPr lang="ja-JP" altLang="en-US">
                <a:latin typeface="Arial" panose="020B0604020202020204" pitchFamily="34" charset="0"/>
              </a:rPr>
              <a:t>　</a:t>
            </a:r>
            <a:r>
              <a:rPr lang="en-US" altLang="ja-JP">
                <a:latin typeface="Arial" panose="020B0604020202020204" pitchFamily="34" charset="0"/>
              </a:rPr>
              <a:t>nếu gán giá trị null thì không có nghĩa là vùng nhớ mà object đó đang sử dụng sẽ được giải phóng ngay lập tức nhưng chức năng garbage collector sẽ giúp tiến hành giải phóng vùng nhớ nào đó mà object không được tham chiếu từ bất kỳ đâu đang sử dụng.</a:t>
            </a:r>
          </a:p>
          <a:p>
            <a:pPr marL="0" indent="0"/>
            <a:r>
              <a:rPr lang="ja-JP" altLang="en-US">
                <a:latin typeface="Arial" panose="020B0604020202020204" pitchFamily="34" charset="0"/>
              </a:rPr>
              <a:t>　</a:t>
            </a:r>
            <a:r>
              <a:rPr lang="en-US" altLang="ja-JP">
                <a:latin typeface="Arial" panose="020B0604020202020204" pitchFamily="34" charset="0"/>
              </a:rPr>
              <a:t>Ví dụ</a:t>
            </a:r>
            <a:r>
              <a:rPr lang="ja-JP" altLang="en-US">
                <a:latin typeface="Arial" panose="020B0604020202020204" pitchFamily="34" charset="0"/>
              </a:rPr>
              <a:t>）</a:t>
            </a: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en-US" altLang="ja-JP">
              <a:latin typeface="Arial" panose="020B0604020202020204" pitchFamily="34" charset="0"/>
            </a:endParaRPr>
          </a:p>
        </p:txBody>
      </p:sp>
      <p:sp>
        <p:nvSpPr>
          <p:cNvPr id="553988" name="Text Box 4">
            <a:extLst>
              <a:ext uri="{FF2B5EF4-FFF2-40B4-BE49-F238E27FC236}">
                <a16:creationId xmlns:a16="http://schemas.microsoft.com/office/drawing/2014/main" id="{E7A58D19-5C5B-8CFF-25D3-4024748ECB61}"/>
              </a:ext>
            </a:extLst>
          </p:cNvPr>
          <p:cNvSpPr txBox="1">
            <a:spLocks noChangeArrowheads="1"/>
          </p:cNvSpPr>
          <p:nvPr/>
        </p:nvSpPr>
        <p:spPr bwMode="auto">
          <a:xfrm>
            <a:off x="719138" y="6900863"/>
            <a:ext cx="5643562" cy="5524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latin typeface="ＭＳ ゴシック" panose="020B0609070205080204" pitchFamily="49" charset="-128"/>
                <a:ea typeface="ＭＳ ゴシック" panose="020B0609070205080204" pitchFamily="49" charset="-128"/>
              </a:rPr>
              <a:t>Person personA = new Person();</a:t>
            </a:r>
          </a:p>
          <a:p>
            <a:pPr lvl="1" algn="just"/>
            <a:r>
              <a:rPr lang="ja-JP" altLang="ja-JP" b="0">
                <a:latin typeface="ＭＳ ゴシック" panose="020B0609070205080204" pitchFamily="49" charset="-128"/>
                <a:ea typeface="ＭＳ ゴシック" panose="020B0609070205080204" pitchFamily="49" charset="-128"/>
              </a:rPr>
              <a:t>// </a:t>
            </a:r>
            <a:r>
              <a:rPr lang="en-US" altLang="ja-JP" b="0">
                <a:ea typeface="ＭＳ ゴシック" panose="020B0609070205080204" pitchFamily="49" charset="-128"/>
              </a:rPr>
              <a:t>Gọi ra method đối với</a:t>
            </a:r>
            <a:r>
              <a:rPr lang="en-US" altLang="ja-JP" b="0">
                <a:latin typeface="ＭＳ ゴシック" panose="020B0609070205080204" pitchFamily="49" charset="-128"/>
                <a:ea typeface="ＭＳ ゴシック" panose="020B0609070205080204" pitchFamily="49" charset="-128"/>
              </a:rPr>
              <a:t> </a:t>
            </a:r>
            <a:r>
              <a:rPr lang="ja-JP" altLang="ja-JP" b="0">
                <a:latin typeface="ＭＳ ゴシック" panose="020B0609070205080204" pitchFamily="49" charset="-128"/>
                <a:ea typeface="ＭＳ ゴシック" panose="020B0609070205080204" pitchFamily="49" charset="-128"/>
              </a:rPr>
              <a:t>personA</a:t>
            </a:r>
            <a:r>
              <a:rPr lang="en-US" altLang="ja-JP" b="0">
                <a:latin typeface="ＭＳ ゴシック" panose="020B0609070205080204" pitchFamily="49" charset="-128"/>
                <a:ea typeface="ＭＳ ゴシック" panose="020B0609070205080204" pitchFamily="49" charset="-128"/>
              </a:rPr>
              <a:t>.v.v...</a:t>
            </a:r>
            <a:endParaRPr lang="ja-JP" altLang="ja-JP" b="0">
              <a:latin typeface="ＭＳ ゴシック" panose="020B0609070205080204" pitchFamily="49" charset="-128"/>
              <a:ea typeface="ＭＳ ゴシック" panose="020B0609070205080204" pitchFamily="49" charset="-128"/>
            </a:endParaRPr>
          </a:p>
          <a:p>
            <a:pPr lvl="1" algn="just"/>
            <a:r>
              <a:rPr lang="ja-JP" altLang="ja-JP" b="0">
                <a:latin typeface="ＭＳ ゴシック" panose="020B0609070205080204" pitchFamily="49" charset="-128"/>
                <a:ea typeface="ＭＳ ゴシック" panose="020B0609070205080204" pitchFamily="49" charset="-128"/>
              </a:rPr>
              <a:t>personA = null;</a:t>
            </a:r>
          </a:p>
          <a:p>
            <a:pPr lvl="1" algn="just"/>
            <a:endParaRPr lang="ja-JP" altLang="ja-JP" b="0">
              <a:latin typeface="ＭＳ ゴシック" panose="020B0609070205080204" pitchFamily="49" charset="-128"/>
              <a:ea typeface="ＭＳ ゴシック" panose="020B0609070205080204" pitchFamily="49" charset="-128"/>
            </a:endParaRPr>
          </a:p>
          <a:p>
            <a:pPr lvl="1" algn="just"/>
            <a:endParaRPr lang="ja-JP" altLang="ja-JP" b="0">
              <a:latin typeface="ＭＳ ゴシック" panose="020B0609070205080204" pitchFamily="49" charset="-128"/>
              <a:ea typeface="ＭＳ ゴシック" panose="020B0609070205080204" pitchFamily="49" charset="-128"/>
            </a:endParaRPr>
          </a:p>
        </p:txBody>
      </p:sp>
      <p:grpSp>
        <p:nvGrpSpPr>
          <p:cNvPr id="554023" name="Group 39">
            <a:extLst>
              <a:ext uri="{FF2B5EF4-FFF2-40B4-BE49-F238E27FC236}">
                <a16:creationId xmlns:a16="http://schemas.microsoft.com/office/drawing/2014/main" id="{7931B6E2-2A99-E83B-BCCE-593BFC775D74}"/>
              </a:ext>
            </a:extLst>
          </p:cNvPr>
          <p:cNvGrpSpPr>
            <a:grpSpLocks/>
          </p:cNvGrpSpPr>
          <p:nvPr/>
        </p:nvGrpSpPr>
        <p:grpSpPr bwMode="auto">
          <a:xfrm>
            <a:off x="855663" y="8116888"/>
            <a:ext cx="2498725" cy="1736725"/>
            <a:chOff x="539" y="5113"/>
            <a:chExt cx="1574" cy="1094"/>
          </a:xfrm>
        </p:grpSpPr>
        <p:sp>
          <p:nvSpPr>
            <p:cNvPr id="553991" name="Cloud">
              <a:extLst>
                <a:ext uri="{FF2B5EF4-FFF2-40B4-BE49-F238E27FC236}">
                  <a16:creationId xmlns:a16="http://schemas.microsoft.com/office/drawing/2014/main" id="{3003145B-14FD-658D-3AE3-FD262AE48D34}"/>
                </a:ext>
              </a:extLst>
            </p:cNvPr>
            <p:cNvSpPr>
              <a:spLocks noChangeAspect="1" noEditPoints="1" noChangeArrowheads="1"/>
            </p:cNvSpPr>
            <p:nvPr/>
          </p:nvSpPr>
          <p:spPr bwMode="auto">
            <a:xfrm>
              <a:off x="539" y="5113"/>
              <a:ext cx="1574" cy="109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lIns="91410" tIns="9716" rIns="91410" bIns="971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ja-JP" altLang="ja-JP">
                <a:ea typeface="MS UI Gothic" panose="020B0600070205080204" pitchFamily="50" charset="-128"/>
              </a:endParaRPr>
            </a:p>
          </p:txBody>
        </p:sp>
        <p:grpSp>
          <p:nvGrpSpPr>
            <p:cNvPr id="554022" name="Group 38">
              <a:extLst>
                <a:ext uri="{FF2B5EF4-FFF2-40B4-BE49-F238E27FC236}">
                  <a16:creationId xmlns:a16="http://schemas.microsoft.com/office/drawing/2014/main" id="{CA030B4C-4921-F2C2-0E90-C146BE0002B8}"/>
                </a:ext>
              </a:extLst>
            </p:cNvPr>
            <p:cNvGrpSpPr>
              <a:grpSpLocks/>
            </p:cNvGrpSpPr>
            <p:nvPr/>
          </p:nvGrpSpPr>
          <p:grpSpPr bwMode="auto">
            <a:xfrm>
              <a:off x="796" y="5275"/>
              <a:ext cx="982" cy="757"/>
              <a:chOff x="796" y="5275"/>
              <a:chExt cx="982" cy="757"/>
            </a:xfrm>
          </p:grpSpPr>
          <p:sp>
            <p:nvSpPr>
              <p:cNvPr id="553993" name="Text Box 9">
                <a:extLst>
                  <a:ext uri="{FF2B5EF4-FFF2-40B4-BE49-F238E27FC236}">
                    <a16:creationId xmlns:a16="http://schemas.microsoft.com/office/drawing/2014/main" id="{65EBDFF3-3701-D420-D565-D08FD59AA6A6}"/>
                  </a:ext>
                </a:extLst>
              </p:cNvPr>
              <p:cNvSpPr txBox="1">
                <a:spLocks noChangeArrowheads="1"/>
              </p:cNvSpPr>
              <p:nvPr/>
            </p:nvSpPr>
            <p:spPr bwMode="auto">
              <a:xfrm>
                <a:off x="796" y="5275"/>
                <a:ext cx="982" cy="757"/>
              </a:xfrm>
              <a:prstGeom prst="rect">
                <a:avLst/>
              </a:prstGeom>
              <a:noFill/>
              <a:ln w="12700">
                <a:solidFill>
                  <a:srgbClr val="80808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ja-JP" altLang="ja-JP" sz="800" b="0">
                    <a:latin typeface="ＭＳ ゴシック" panose="020B0609070205080204" pitchFamily="49" charset="-128"/>
                    <a:ea typeface="ＭＳ ゴシック" panose="020B0609070205080204" pitchFamily="49" charset="-128"/>
                  </a:rPr>
                  <a:t>　lastName</a:t>
                </a:r>
              </a:p>
              <a:p>
                <a:pPr algn="just">
                  <a:spcBef>
                    <a:spcPct val="50000"/>
                  </a:spcBef>
                </a:pPr>
                <a:r>
                  <a:rPr lang="ja-JP" altLang="ja-JP" sz="800" b="0">
                    <a:latin typeface="ＭＳ ゴシック" panose="020B0609070205080204" pitchFamily="49" charset="-128"/>
                    <a:ea typeface="ＭＳ ゴシック" panose="020B0609070205080204" pitchFamily="49" charset="-128"/>
                  </a:rPr>
                  <a:t>　firstName </a:t>
                </a:r>
                <a:endParaRPr lang="en-US" altLang="ja-JP" sz="800" b="0">
                  <a:latin typeface="ＭＳ ゴシック" panose="020B0609070205080204" pitchFamily="49" charset="-128"/>
                  <a:ea typeface="ＭＳ ゴシック" panose="020B0609070205080204" pitchFamily="49" charset="-128"/>
                </a:endParaRPr>
              </a:p>
              <a:p>
                <a:pPr algn="just">
                  <a:spcBef>
                    <a:spcPct val="20000"/>
                  </a:spcBef>
                </a:pPr>
                <a:r>
                  <a:rPr lang="ja-JP" altLang="ja-JP" sz="800" b="0">
                    <a:latin typeface="ＭＳ ゴシック" panose="020B0609070205080204" pitchFamily="49" charset="-128"/>
                    <a:ea typeface="ＭＳ ゴシック" panose="020B0609070205080204" pitchFamily="49" charset="-128"/>
                  </a:rPr>
                  <a:t>　age</a:t>
                </a:r>
                <a:endParaRPr lang="en-US" altLang="ja-JP" sz="800" b="0">
                  <a:latin typeface="ＭＳ ゴシック" panose="020B0609070205080204" pitchFamily="49" charset="-128"/>
                  <a:ea typeface="ＭＳ ゴシック" panose="020B0609070205080204" pitchFamily="49" charset="-128"/>
                </a:endParaRPr>
              </a:p>
              <a:p>
                <a:pPr algn="just">
                  <a:lnSpc>
                    <a:spcPct val="50000"/>
                  </a:lnSpc>
                </a:pPr>
                <a:r>
                  <a:rPr lang="ja-JP" altLang="ja-JP" sz="800" b="0">
                    <a:latin typeface="ＭＳ ゴシック" panose="020B0609070205080204" pitchFamily="49" charset="-128"/>
                    <a:ea typeface="ＭＳ ゴシック" panose="020B0609070205080204" pitchFamily="49" charset="-128"/>
                  </a:rPr>
                  <a:t>　</a:t>
                </a:r>
                <a:endParaRPr lang="ja-JP" altLang="en-US" sz="800" b="0">
                  <a:latin typeface="ＭＳ ゴシック" panose="020B0609070205080204" pitchFamily="49" charset="-128"/>
                  <a:ea typeface="ＭＳ ゴシック" panose="020B0609070205080204" pitchFamily="49" charset="-128"/>
                </a:endParaRPr>
              </a:p>
              <a:p>
                <a:pPr algn="just"/>
                <a:r>
                  <a:rPr lang="ja-JP" altLang="en-US" sz="800" b="0">
                    <a:latin typeface="ＭＳ ゴシック" panose="020B0609070205080204" pitchFamily="49" charset="-128"/>
                    <a:ea typeface="ＭＳ ゴシック" panose="020B0609070205080204" pitchFamily="49" charset="-128"/>
                  </a:rPr>
                  <a:t>  </a:t>
                </a:r>
                <a:r>
                  <a:rPr lang="ja-JP" altLang="ja-JP" sz="800" b="0">
                    <a:latin typeface="ＭＳ ゴシック" panose="020B0609070205080204" pitchFamily="49" charset="-128"/>
                    <a:ea typeface="ＭＳ ゴシック" panose="020B0609070205080204" pitchFamily="49" charset="-128"/>
                  </a:rPr>
                  <a:t>Person()</a:t>
                </a:r>
              </a:p>
              <a:p>
                <a:pPr algn="just"/>
                <a:r>
                  <a:rPr lang="ja-JP" altLang="ja-JP" sz="800" b="0">
                    <a:latin typeface="ＭＳ ゴシック" panose="020B0609070205080204" pitchFamily="49" charset="-128"/>
                    <a:ea typeface="ＭＳ ゴシック" panose="020B0609070205080204" pitchFamily="49" charset="-128"/>
                  </a:rPr>
                  <a:t>　Person(…)</a:t>
                </a:r>
              </a:p>
              <a:p>
                <a:pPr algn="just"/>
                <a:r>
                  <a:rPr lang="ja-JP" altLang="ja-JP" sz="800" b="0">
                    <a:latin typeface="ＭＳ ゴシック" panose="020B0609070205080204" pitchFamily="49" charset="-128"/>
                    <a:ea typeface="ＭＳ ゴシック" panose="020B0609070205080204" pitchFamily="49" charset="-128"/>
                  </a:rPr>
                  <a:t>　setLastName(l:String):void</a:t>
                </a:r>
              </a:p>
              <a:p>
                <a:pPr algn="just"/>
                <a:r>
                  <a:rPr lang="ja-JP" altLang="ja-JP" sz="800" b="0">
                    <a:latin typeface="ＭＳ ゴシック" panose="020B0609070205080204" pitchFamily="49" charset="-128"/>
                    <a:ea typeface="ＭＳ ゴシック" panose="020B0609070205080204" pitchFamily="49" charset="-128"/>
                  </a:rPr>
                  <a:t>　getFullName():String</a:t>
                </a:r>
              </a:p>
              <a:p>
                <a:pPr algn="just"/>
                <a:r>
                  <a:rPr lang="ja-JP" altLang="ja-JP" sz="800" b="0">
                    <a:latin typeface="ＭＳ ゴシック" panose="020B0609070205080204" pitchFamily="49" charset="-128"/>
                    <a:ea typeface="ＭＳ ゴシック" panose="020B0609070205080204" pitchFamily="49" charset="-128"/>
                  </a:rPr>
                  <a:t>　printInfo():void</a:t>
                </a:r>
              </a:p>
            </p:txBody>
          </p:sp>
          <p:sp>
            <p:nvSpPr>
              <p:cNvPr id="553994" name="Line 10">
                <a:extLst>
                  <a:ext uri="{FF2B5EF4-FFF2-40B4-BE49-F238E27FC236}">
                    <a16:creationId xmlns:a16="http://schemas.microsoft.com/office/drawing/2014/main" id="{9FD85429-14DF-ECE0-01F7-2821680627AB}"/>
                  </a:ext>
                </a:extLst>
              </p:cNvPr>
              <p:cNvSpPr>
                <a:spLocks noChangeShapeType="1"/>
              </p:cNvSpPr>
              <p:nvPr/>
            </p:nvSpPr>
            <p:spPr bwMode="auto">
              <a:xfrm>
                <a:off x="800" y="5619"/>
                <a:ext cx="978" cy="1"/>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553995" name="Rectangle 11">
                <a:extLst>
                  <a:ext uri="{FF2B5EF4-FFF2-40B4-BE49-F238E27FC236}">
                    <a16:creationId xmlns:a16="http://schemas.microsoft.com/office/drawing/2014/main" id="{134D9A4D-6504-8EEE-1C17-E6D478C214D9}"/>
                  </a:ext>
                </a:extLst>
              </p:cNvPr>
              <p:cNvSpPr>
                <a:spLocks noChangeArrowheads="1"/>
              </p:cNvSpPr>
              <p:nvPr/>
            </p:nvSpPr>
            <p:spPr bwMode="auto">
              <a:xfrm>
                <a:off x="1275" y="5529"/>
                <a:ext cx="329" cy="83"/>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800" b="0">
                    <a:latin typeface="MS UI Gothic" panose="020B0600070205080204" pitchFamily="50" charset="-128"/>
                    <a:ea typeface="MS UI Gothic" panose="020B0600070205080204" pitchFamily="50" charset="-128"/>
                  </a:rPr>
                  <a:t>20</a:t>
                </a:r>
                <a:endParaRPr lang="en-US" altLang="ja-JP" sz="800">
                  <a:latin typeface="MS UI Gothic" panose="020B0600070205080204" pitchFamily="50" charset="-128"/>
                  <a:ea typeface="MS UI Gothic" panose="020B0600070205080204" pitchFamily="50" charset="-128"/>
                </a:endParaRPr>
              </a:p>
            </p:txBody>
          </p:sp>
          <p:sp>
            <p:nvSpPr>
              <p:cNvPr id="553996" name="Rectangle 12">
                <a:extLst>
                  <a:ext uri="{FF2B5EF4-FFF2-40B4-BE49-F238E27FC236}">
                    <a16:creationId xmlns:a16="http://schemas.microsoft.com/office/drawing/2014/main" id="{750FE27C-5CC4-1101-5131-186D33C85E77}"/>
                  </a:ext>
                </a:extLst>
              </p:cNvPr>
              <p:cNvSpPr>
                <a:spLocks noChangeArrowheads="1"/>
              </p:cNvSpPr>
              <p:nvPr/>
            </p:nvSpPr>
            <p:spPr bwMode="auto">
              <a:xfrm>
                <a:off x="1275" y="5423"/>
                <a:ext cx="331" cy="89"/>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80000"/>
                  </a:lnSpc>
                </a:pPr>
                <a:r>
                  <a:rPr lang="en-US" altLang="ja-JP" sz="800" b="0">
                    <a:ea typeface="MS UI Gothic" panose="020B0600070205080204" pitchFamily="50" charset="-128"/>
                  </a:rPr>
                  <a:t>Ko có tên</a:t>
                </a:r>
              </a:p>
            </p:txBody>
          </p:sp>
          <p:sp>
            <p:nvSpPr>
              <p:cNvPr id="553997" name="Rectangle 13">
                <a:extLst>
                  <a:ext uri="{FF2B5EF4-FFF2-40B4-BE49-F238E27FC236}">
                    <a16:creationId xmlns:a16="http://schemas.microsoft.com/office/drawing/2014/main" id="{73EB714C-7CF5-BC48-1BEC-12054237B615}"/>
                  </a:ext>
                </a:extLst>
              </p:cNvPr>
              <p:cNvSpPr>
                <a:spLocks noChangeArrowheads="1"/>
              </p:cNvSpPr>
              <p:nvPr/>
            </p:nvSpPr>
            <p:spPr bwMode="auto">
              <a:xfrm>
                <a:off x="1275" y="5310"/>
                <a:ext cx="335" cy="90"/>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800" b="0">
                    <a:ea typeface="MS UI Gothic" panose="020B0600070205080204" pitchFamily="50" charset="-128"/>
                  </a:rPr>
                  <a:t>Ko có họ</a:t>
                </a:r>
                <a:endParaRPr lang="en-US" altLang="ja-JP" sz="800">
                  <a:ea typeface="MS UI Gothic" panose="020B0600070205080204" pitchFamily="50" charset="-128"/>
                </a:endParaRPr>
              </a:p>
            </p:txBody>
          </p:sp>
        </p:grpSp>
      </p:grpSp>
      <p:sp>
        <p:nvSpPr>
          <p:cNvPr id="553998" name="Text Box 14">
            <a:extLst>
              <a:ext uri="{FF2B5EF4-FFF2-40B4-BE49-F238E27FC236}">
                <a16:creationId xmlns:a16="http://schemas.microsoft.com/office/drawing/2014/main" id="{FFBDC7D3-E2C7-23BA-B187-AA4272ED609F}"/>
              </a:ext>
            </a:extLst>
          </p:cNvPr>
          <p:cNvSpPr txBox="1">
            <a:spLocks noChangeArrowheads="1"/>
          </p:cNvSpPr>
          <p:nvPr/>
        </p:nvSpPr>
        <p:spPr bwMode="auto">
          <a:xfrm>
            <a:off x="569913" y="7620000"/>
            <a:ext cx="82232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Biến</a:t>
            </a:r>
            <a:r>
              <a:rPr lang="ja-JP" altLang="en-US" b="0">
                <a:latin typeface="MS UI Gothic" panose="020B0600070205080204" pitchFamily="50" charset="-128"/>
                <a:ea typeface="MS UI Gothic" panose="020B0600070205080204" pitchFamily="50" charset="-128"/>
              </a:rPr>
              <a:t>　</a:t>
            </a:r>
            <a:r>
              <a:rPr lang="en-US" altLang="ja-JP" b="0">
                <a:latin typeface="MS UI Gothic" panose="020B0600070205080204" pitchFamily="50" charset="-128"/>
                <a:ea typeface="MS UI Gothic" panose="020B0600070205080204" pitchFamily="50" charset="-128"/>
              </a:rPr>
              <a:t>personA</a:t>
            </a:r>
            <a:endParaRPr lang="en-US" altLang="ja-JP">
              <a:latin typeface="MS UI Gothic" panose="020B0600070205080204" pitchFamily="50" charset="-128"/>
              <a:ea typeface="MS UI Gothic" panose="020B0600070205080204" pitchFamily="50" charset="-128"/>
            </a:endParaRPr>
          </a:p>
        </p:txBody>
      </p:sp>
      <p:sp>
        <p:nvSpPr>
          <p:cNvPr id="554000" name="Cloud">
            <a:extLst>
              <a:ext uri="{FF2B5EF4-FFF2-40B4-BE49-F238E27FC236}">
                <a16:creationId xmlns:a16="http://schemas.microsoft.com/office/drawing/2014/main" id="{856B0B2B-E063-4E80-3C4A-E451FA1423F6}"/>
              </a:ext>
            </a:extLst>
          </p:cNvPr>
          <p:cNvSpPr>
            <a:spLocks noChangeAspect="1" noEditPoints="1" noChangeArrowheads="1"/>
          </p:cNvSpPr>
          <p:nvPr/>
        </p:nvSpPr>
        <p:spPr bwMode="auto">
          <a:xfrm>
            <a:off x="4106863" y="8243888"/>
            <a:ext cx="2314575" cy="170973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lIns="91410" tIns="9716" rIns="91410" bIns="971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ja-JP" altLang="ja-JP">
              <a:ea typeface="MS UI Gothic" panose="020B0600070205080204" pitchFamily="50" charset="-128"/>
            </a:endParaRPr>
          </a:p>
        </p:txBody>
      </p:sp>
      <p:sp>
        <p:nvSpPr>
          <p:cNvPr id="554002" name="Text Box 18">
            <a:extLst>
              <a:ext uri="{FF2B5EF4-FFF2-40B4-BE49-F238E27FC236}">
                <a16:creationId xmlns:a16="http://schemas.microsoft.com/office/drawing/2014/main" id="{0F842002-9964-BF7E-7020-BAF1138E85B7}"/>
              </a:ext>
            </a:extLst>
          </p:cNvPr>
          <p:cNvSpPr txBox="1">
            <a:spLocks noChangeArrowheads="1"/>
          </p:cNvSpPr>
          <p:nvPr/>
        </p:nvSpPr>
        <p:spPr bwMode="auto">
          <a:xfrm>
            <a:off x="4514850" y="8496300"/>
            <a:ext cx="1558925" cy="1182688"/>
          </a:xfrm>
          <a:prstGeom prst="rect">
            <a:avLst/>
          </a:prstGeom>
          <a:noFill/>
          <a:ln w="12700">
            <a:solidFill>
              <a:srgbClr val="80808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ja-JP" altLang="ja-JP" sz="800" b="0">
                <a:latin typeface="ＭＳ ゴシック" panose="020B0609070205080204" pitchFamily="49" charset="-128"/>
                <a:ea typeface="ＭＳ ゴシック" panose="020B0609070205080204" pitchFamily="49" charset="-128"/>
              </a:rPr>
              <a:t>　lastName</a:t>
            </a:r>
          </a:p>
          <a:p>
            <a:pPr algn="just">
              <a:spcBef>
                <a:spcPct val="50000"/>
              </a:spcBef>
            </a:pPr>
            <a:r>
              <a:rPr lang="ja-JP" altLang="ja-JP" sz="800" b="0">
                <a:latin typeface="ＭＳ ゴシック" panose="020B0609070205080204" pitchFamily="49" charset="-128"/>
                <a:ea typeface="ＭＳ ゴシック" panose="020B0609070205080204" pitchFamily="49" charset="-128"/>
              </a:rPr>
              <a:t>　firstName </a:t>
            </a:r>
            <a:endParaRPr lang="en-US" altLang="ja-JP" sz="800" b="0">
              <a:latin typeface="ＭＳ ゴシック" panose="020B0609070205080204" pitchFamily="49" charset="-128"/>
              <a:ea typeface="ＭＳ ゴシック" panose="020B0609070205080204" pitchFamily="49" charset="-128"/>
            </a:endParaRPr>
          </a:p>
          <a:p>
            <a:pPr algn="just">
              <a:spcBef>
                <a:spcPct val="20000"/>
              </a:spcBef>
            </a:pPr>
            <a:r>
              <a:rPr lang="ja-JP" altLang="ja-JP" sz="800" b="0">
                <a:latin typeface="ＭＳ ゴシック" panose="020B0609070205080204" pitchFamily="49" charset="-128"/>
                <a:ea typeface="ＭＳ ゴシック" panose="020B0609070205080204" pitchFamily="49" charset="-128"/>
              </a:rPr>
              <a:t>　age</a:t>
            </a:r>
            <a:endParaRPr lang="en-US" altLang="ja-JP" sz="800" b="0">
              <a:latin typeface="ＭＳ ゴシック" panose="020B0609070205080204" pitchFamily="49" charset="-128"/>
              <a:ea typeface="ＭＳ ゴシック" panose="020B0609070205080204" pitchFamily="49" charset="-128"/>
            </a:endParaRPr>
          </a:p>
          <a:p>
            <a:pPr algn="just">
              <a:lnSpc>
                <a:spcPct val="50000"/>
              </a:lnSpc>
            </a:pPr>
            <a:endParaRPr lang="ja-JP" altLang="ja-JP" sz="800" b="0">
              <a:latin typeface="ＭＳ ゴシック" panose="020B0609070205080204" pitchFamily="49" charset="-128"/>
              <a:ea typeface="ＭＳ ゴシック" panose="020B0609070205080204" pitchFamily="49" charset="-128"/>
            </a:endParaRPr>
          </a:p>
          <a:p>
            <a:pPr algn="just"/>
            <a:r>
              <a:rPr lang="ja-JP" altLang="ja-JP" sz="800" b="0">
                <a:latin typeface="ＭＳ ゴシック" panose="020B0609070205080204" pitchFamily="49" charset="-128"/>
                <a:ea typeface="ＭＳ ゴシック" panose="020B0609070205080204" pitchFamily="49" charset="-128"/>
              </a:rPr>
              <a:t>　Person()</a:t>
            </a:r>
          </a:p>
          <a:p>
            <a:pPr algn="just"/>
            <a:r>
              <a:rPr lang="ja-JP" altLang="ja-JP" sz="800" b="0">
                <a:latin typeface="ＭＳ ゴシック" panose="020B0609070205080204" pitchFamily="49" charset="-128"/>
                <a:ea typeface="ＭＳ ゴシック" panose="020B0609070205080204" pitchFamily="49" charset="-128"/>
              </a:rPr>
              <a:t>　Person(…)</a:t>
            </a:r>
          </a:p>
          <a:p>
            <a:pPr algn="just"/>
            <a:r>
              <a:rPr lang="ja-JP" altLang="ja-JP" sz="800" b="0">
                <a:latin typeface="ＭＳ ゴシック" panose="020B0609070205080204" pitchFamily="49" charset="-128"/>
                <a:ea typeface="ＭＳ ゴシック" panose="020B0609070205080204" pitchFamily="49" charset="-128"/>
              </a:rPr>
              <a:t>　setLastName(l:String):void</a:t>
            </a:r>
          </a:p>
          <a:p>
            <a:pPr algn="just"/>
            <a:r>
              <a:rPr lang="ja-JP" altLang="ja-JP" sz="800" b="0">
                <a:latin typeface="ＭＳ ゴシック" panose="020B0609070205080204" pitchFamily="49" charset="-128"/>
                <a:ea typeface="ＭＳ ゴシック" panose="020B0609070205080204" pitchFamily="49" charset="-128"/>
              </a:rPr>
              <a:t>　getFullName():String</a:t>
            </a:r>
          </a:p>
          <a:p>
            <a:pPr algn="just"/>
            <a:r>
              <a:rPr lang="ja-JP" altLang="ja-JP" sz="800" b="0">
                <a:latin typeface="ＭＳ ゴシック" panose="020B0609070205080204" pitchFamily="49" charset="-128"/>
                <a:ea typeface="ＭＳ ゴシック" panose="020B0609070205080204" pitchFamily="49" charset="-128"/>
              </a:rPr>
              <a:t>　printInfo():void</a:t>
            </a:r>
          </a:p>
        </p:txBody>
      </p:sp>
      <p:sp>
        <p:nvSpPr>
          <p:cNvPr id="554003" name="Line 19">
            <a:extLst>
              <a:ext uri="{FF2B5EF4-FFF2-40B4-BE49-F238E27FC236}">
                <a16:creationId xmlns:a16="http://schemas.microsoft.com/office/drawing/2014/main" id="{EF9A508E-03F4-DDCC-554D-6B8AA69FDF99}"/>
              </a:ext>
            </a:extLst>
          </p:cNvPr>
          <p:cNvSpPr>
            <a:spLocks noChangeShapeType="1"/>
          </p:cNvSpPr>
          <p:nvPr/>
        </p:nvSpPr>
        <p:spPr bwMode="auto">
          <a:xfrm>
            <a:off x="4521200" y="9034463"/>
            <a:ext cx="1552575" cy="0"/>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554004" name="Rectangle 20">
            <a:extLst>
              <a:ext uri="{FF2B5EF4-FFF2-40B4-BE49-F238E27FC236}">
                <a16:creationId xmlns:a16="http://schemas.microsoft.com/office/drawing/2014/main" id="{057DCA2E-871C-7001-9BE4-4CC202C5726C}"/>
              </a:ext>
            </a:extLst>
          </p:cNvPr>
          <p:cNvSpPr>
            <a:spLocks noChangeArrowheads="1"/>
          </p:cNvSpPr>
          <p:nvPr/>
        </p:nvSpPr>
        <p:spPr bwMode="auto">
          <a:xfrm>
            <a:off x="5275263" y="8893175"/>
            <a:ext cx="458787" cy="130175"/>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800" b="0">
                <a:latin typeface="MS UI Gothic" panose="020B0600070205080204" pitchFamily="50" charset="-128"/>
                <a:ea typeface="MS UI Gothic" panose="020B0600070205080204" pitchFamily="50" charset="-128"/>
              </a:rPr>
              <a:t>20</a:t>
            </a:r>
            <a:endParaRPr lang="en-US" altLang="ja-JP" sz="800">
              <a:latin typeface="MS UI Gothic" panose="020B0600070205080204" pitchFamily="50" charset="-128"/>
              <a:ea typeface="MS UI Gothic" panose="020B0600070205080204" pitchFamily="50" charset="-128"/>
            </a:endParaRPr>
          </a:p>
        </p:txBody>
      </p:sp>
      <p:sp>
        <p:nvSpPr>
          <p:cNvPr id="554005" name="Rectangle 21">
            <a:extLst>
              <a:ext uri="{FF2B5EF4-FFF2-40B4-BE49-F238E27FC236}">
                <a16:creationId xmlns:a16="http://schemas.microsoft.com/office/drawing/2014/main" id="{A431E454-C0CB-1749-3D29-7BEBAF72CAA4}"/>
              </a:ext>
            </a:extLst>
          </p:cNvPr>
          <p:cNvSpPr>
            <a:spLocks noChangeArrowheads="1"/>
          </p:cNvSpPr>
          <p:nvPr/>
        </p:nvSpPr>
        <p:spPr bwMode="auto">
          <a:xfrm>
            <a:off x="5275263" y="8728075"/>
            <a:ext cx="538162" cy="139700"/>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80000"/>
              </a:lnSpc>
            </a:pPr>
            <a:r>
              <a:rPr lang="en-US" altLang="ja-JP" sz="800" b="0">
                <a:ea typeface="MS UI Gothic" panose="020B0600070205080204" pitchFamily="50" charset="-128"/>
              </a:rPr>
              <a:t>Ko có tên</a:t>
            </a:r>
          </a:p>
        </p:txBody>
      </p:sp>
      <p:sp>
        <p:nvSpPr>
          <p:cNvPr id="554006" name="Rectangle 22">
            <a:extLst>
              <a:ext uri="{FF2B5EF4-FFF2-40B4-BE49-F238E27FC236}">
                <a16:creationId xmlns:a16="http://schemas.microsoft.com/office/drawing/2014/main" id="{D13E11FA-3B4F-C4CE-3A20-A6EDD1EEB351}"/>
              </a:ext>
            </a:extLst>
          </p:cNvPr>
          <p:cNvSpPr>
            <a:spLocks noChangeArrowheads="1"/>
          </p:cNvSpPr>
          <p:nvPr/>
        </p:nvSpPr>
        <p:spPr bwMode="auto">
          <a:xfrm>
            <a:off x="5275263" y="8551863"/>
            <a:ext cx="531812" cy="139700"/>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800" b="0">
                <a:ea typeface="MS UI Gothic" panose="020B0600070205080204" pitchFamily="50" charset="-128"/>
              </a:rPr>
              <a:t>Ko có họ</a:t>
            </a:r>
            <a:endParaRPr lang="en-US" altLang="ja-JP" sz="800">
              <a:ea typeface="MS UI Gothic" panose="020B0600070205080204" pitchFamily="50" charset="-128"/>
            </a:endParaRPr>
          </a:p>
        </p:txBody>
      </p:sp>
      <p:sp>
        <p:nvSpPr>
          <p:cNvPr id="554007" name="Rectangle 23">
            <a:extLst>
              <a:ext uri="{FF2B5EF4-FFF2-40B4-BE49-F238E27FC236}">
                <a16:creationId xmlns:a16="http://schemas.microsoft.com/office/drawing/2014/main" id="{D32FF0F5-BB9D-8A7B-5B73-01AE8FF47444}"/>
              </a:ext>
            </a:extLst>
          </p:cNvPr>
          <p:cNvSpPr>
            <a:spLocks noChangeArrowheads="1"/>
          </p:cNvSpPr>
          <p:nvPr/>
        </p:nvSpPr>
        <p:spPr bwMode="auto">
          <a:xfrm>
            <a:off x="782638" y="8001000"/>
            <a:ext cx="358775" cy="200025"/>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4008" name="Line 24">
            <a:extLst>
              <a:ext uri="{FF2B5EF4-FFF2-40B4-BE49-F238E27FC236}">
                <a16:creationId xmlns:a16="http://schemas.microsoft.com/office/drawing/2014/main" id="{6B78C9A9-1B86-C30A-7382-98DAAA68D923}"/>
              </a:ext>
            </a:extLst>
          </p:cNvPr>
          <p:cNvSpPr>
            <a:spLocks noChangeShapeType="1"/>
          </p:cNvSpPr>
          <p:nvPr/>
        </p:nvSpPr>
        <p:spPr bwMode="auto">
          <a:xfrm>
            <a:off x="1014413" y="8080375"/>
            <a:ext cx="214312" cy="236538"/>
          </a:xfrm>
          <a:prstGeom prst="line">
            <a:avLst/>
          </a:prstGeom>
          <a:noFill/>
          <a:ln w="1270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54009" name="Rectangle 25">
            <a:extLst>
              <a:ext uri="{FF2B5EF4-FFF2-40B4-BE49-F238E27FC236}">
                <a16:creationId xmlns:a16="http://schemas.microsoft.com/office/drawing/2014/main" id="{A2C67BF8-A45C-7D7E-7C57-5CB8AA9F274D}"/>
              </a:ext>
            </a:extLst>
          </p:cNvPr>
          <p:cNvSpPr>
            <a:spLocks noChangeArrowheads="1"/>
          </p:cNvSpPr>
          <p:nvPr/>
        </p:nvSpPr>
        <p:spPr bwMode="auto">
          <a:xfrm>
            <a:off x="3600450" y="8008938"/>
            <a:ext cx="400050" cy="277812"/>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57" tIns="47728" rIns="95457" bIns="47728"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a:ea typeface="MS UI Gothic" panose="020B0600070205080204" pitchFamily="50" charset="-128"/>
              </a:rPr>
              <a:t>null</a:t>
            </a:r>
          </a:p>
        </p:txBody>
      </p:sp>
      <p:sp>
        <p:nvSpPr>
          <p:cNvPr id="554010" name="Text Box 26">
            <a:extLst>
              <a:ext uri="{FF2B5EF4-FFF2-40B4-BE49-F238E27FC236}">
                <a16:creationId xmlns:a16="http://schemas.microsoft.com/office/drawing/2014/main" id="{2919716E-E823-C4CE-D597-F5D99FE986B0}"/>
              </a:ext>
            </a:extLst>
          </p:cNvPr>
          <p:cNvSpPr txBox="1">
            <a:spLocks noChangeArrowheads="1"/>
          </p:cNvSpPr>
          <p:nvPr/>
        </p:nvSpPr>
        <p:spPr bwMode="auto">
          <a:xfrm>
            <a:off x="3363913" y="7610475"/>
            <a:ext cx="8239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Biến</a:t>
            </a:r>
            <a:r>
              <a:rPr lang="ja-JP" altLang="en-US" b="0">
                <a:latin typeface="MS UI Gothic" panose="020B0600070205080204" pitchFamily="50" charset="-128"/>
                <a:ea typeface="MS UI Gothic" panose="020B0600070205080204" pitchFamily="50" charset="-128"/>
              </a:rPr>
              <a:t>　</a:t>
            </a:r>
            <a:r>
              <a:rPr lang="en-US" altLang="ja-JP" b="0">
                <a:latin typeface="MS UI Gothic" panose="020B0600070205080204" pitchFamily="50" charset="-128"/>
                <a:ea typeface="MS UI Gothic" panose="020B0600070205080204" pitchFamily="50" charset="-128"/>
              </a:rPr>
              <a:t>personA</a:t>
            </a:r>
            <a:endParaRPr lang="en-US" altLang="ja-JP">
              <a:latin typeface="MS UI Gothic" panose="020B0600070205080204" pitchFamily="50" charset="-128"/>
              <a:ea typeface="MS UI Gothic" panose="020B0600070205080204" pitchFamily="50" charset="-128"/>
            </a:endParaRPr>
          </a:p>
        </p:txBody>
      </p:sp>
      <p:sp>
        <p:nvSpPr>
          <p:cNvPr id="554012" name="Text Box 28">
            <a:extLst>
              <a:ext uri="{FF2B5EF4-FFF2-40B4-BE49-F238E27FC236}">
                <a16:creationId xmlns:a16="http://schemas.microsoft.com/office/drawing/2014/main" id="{35CB9832-AA12-3B60-3E1B-66AB122D4517}"/>
              </a:ext>
            </a:extLst>
          </p:cNvPr>
          <p:cNvSpPr txBox="1">
            <a:spLocks noChangeArrowheads="1"/>
          </p:cNvSpPr>
          <p:nvPr/>
        </p:nvSpPr>
        <p:spPr bwMode="auto">
          <a:xfrm>
            <a:off x="4357688" y="8042275"/>
            <a:ext cx="1865312" cy="24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Object của Person class</a:t>
            </a:r>
            <a:endParaRPr lang="en-US" altLang="ja-JP">
              <a:ea typeface="MS UI Gothic" panose="020B0600070205080204" pitchFamily="50" charset="-128"/>
            </a:endParaRPr>
          </a:p>
        </p:txBody>
      </p:sp>
      <p:sp>
        <p:nvSpPr>
          <p:cNvPr id="554013" name="Text Box 29">
            <a:extLst>
              <a:ext uri="{FF2B5EF4-FFF2-40B4-BE49-F238E27FC236}">
                <a16:creationId xmlns:a16="http://schemas.microsoft.com/office/drawing/2014/main" id="{272A52BC-B2B2-9F62-0514-DD702CBD1524}"/>
              </a:ext>
            </a:extLst>
          </p:cNvPr>
          <p:cNvSpPr txBox="1">
            <a:spLocks noChangeArrowheads="1"/>
          </p:cNvSpPr>
          <p:nvPr/>
        </p:nvSpPr>
        <p:spPr bwMode="auto">
          <a:xfrm>
            <a:off x="1233488" y="7861300"/>
            <a:ext cx="18669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Object của Person class</a:t>
            </a:r>
            <a:endParaRPr lang="en-US" altLang="ja-JP">
              <a:ea typeface="MS UI Gothic" panose="020B0600070205080204" pitchFamily="50" charset="-128"/>
            </a:endParaRPr>
          </a:p>
        </p:txBody>
      </p:sp>
      <p:sp>
        <p:nvSpPr>
          <p:cNvPr id="554016" name="AutoShape 32">
            <a:extLst>
              <a:ext uri="{FF2B5EF4-FFF2-40B4-BE49-F238E27FC236}">
                <a16:creationId xmlns:a16="http://schemas.microsoft.com/office/drawing/2014/main" id="{62E476F4-A159-2B08-C95B-0EB77FCCE275}"/>
              </a:ext>
            </a:extLst>
          </p:cNvPr>
          <p:cNvSpPr>
            <a:spLocks noChangeArrowheads="1"/>
          </p:cNvSpPr>
          <p:nvPr/>
        </p:nvSpPr>
        <p:spPr bwMode="auto">
          <a:xfrm>
            <a:off x="4044950" y="7532688"/>
            <a:ext cx="2376488" cy="460375"/>
          </a:xfrm>
          <a:prstGeom prst="wedgeRoundRectCallout">
            <a:avLst>
              <a:gd name="adj1" fmla="val -46199"/>
              <a:gd name="adj2" fmla="val 89644"/>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Nếu gán null thì nơi tham chiếu của personA sẽ trở thành </a:t>
            </a:r>
            <a:r>
              <a:rPr lang="ja-JP" altLang="en-US" b="0">
                <a:ea typeface="MS UI Gothic" panose="020B0600070205080204" pitchFamily="50" charset="-128"/>
              </a:rPr>
              <a:t>「</a:t>
            </a:r>
            <a:r>
              <a:rPr lang="en-US" altLang="ja-JP" b="0">
                <a:ea typeface="MS UI Gothic" panose="020B0600070205080204" pitchFamily="50" charset="-128"/>
              </a:rPr>
              <a:t>không có</a:t>
            </a:r>
            <a:r>
              <a:rPr lang="ja-JP" altLang="en-US" b="0">
                <a:ea typeface="MS UI Gothic" panose="020B0600070205080204" pitchFamily="50" charset="-128"/>
              </a:rPr>
              <a:t>」</a:t>
            </a:r>
            <a:r>
              <a:rPr lang="en-US" altLang="ja-JP" b="0">
                <a:ea typeface="MS UI Gothic" panose="020B0600070205080204" pitchFamily="50" charset="-128"/>
              </a:rPr>
              <a:t>.</a:t>
            </a:r>
          </a:p>
        </p:txBody>
      </p:sp>
      <p:sp>
        <p:nvSpPr>
          <p:cNvPr id="554017" name="AutoShape 33">
            <a:extLst>
              <a:ext uri="{FF2B5EF4-FFF2-40B4-BE49-F238E27FC236}">
                <a16:creationId xmlns:a16="http://schemas.microsoft.com/office/drawing/2014/main" id="{0151AB59-BB24-5878-9FFD-F1738FF68074}"/>
              </a:ext>
            </a:extLst>
          </p:cNvPr>
          <p:cNvSpPr>
            <a:spLocks noChangeArrowheads="1"/>
          </p:cNvSpPr>
          <p:nvPr/>
        </p:nvSpPr>
        <p:spPr bwMode="auto">
          <a:xfrm>
            <a:off x="2994025" y="9302750"/>
            <a:ext cx="1482725" cy="511175"/>
          </a:xfrm>
          <a:prstGeom prst="wedgeRoundRectCallout">
            <a:avLst>
              <a:gd name="adj1" fmla="val 42398"/>
              <a:gd name="adj2" fmla="val -115218"/>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Trở thành đối tượng giải phóng nhờ garbage collector.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a:extLst>
              <a:ext uri="{FF2B5EF4-FFF2-40B4-BE49-F238E27FC236}">
                <a16:creationId xmlns:a16="http://schemas.microsoft.com/office/drawing/2014/main" id="{F9293D8D-CED8-EC0B-B1F4-853143E745FA}"/>
              </a:ext>
            </a:extLst>
          </p:cNvPr>
          <p:cNvSpPr>
            <a:spLocks noGrp="1" noRot="1" noChangeAspect="1" noChangeArrowheads="1" noTextEdit="1"/>
          </p:cNvSpPr>
          <p:nvPr>
            <p:ph type="sldImg"/>
          </p:nvPr>
        </p:nvSpPr>
        <p:spPr>
          <a:xfrm>
            <a:off x="531813" y="835025"/>
            <a:ext cx="6024562" cy="4170363"/>
          </a:xfrm>
          <a:ln/>
        </p:spPr>
      </p:sp>
      <p:sp>
        <p:nvSpPr>
          <p:cNvPr id="560131" name="Rectangle 3">
            <a:extLst>
              <a:ext uri="{FF2B5EF4-FFF2-40B4-BE49-F238E27FC236}">
                <a16:creationId xmlns:a16="http://schemas.microsoft.com/office/drawing/2014/main" id="{04A20E35-17DF-A0B3-5240-AAFB5A878AA5}"/>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Instance method</a:t>
            </a:r>
          </a:p>
          <a:p>
            <a:pPr marL="0" indent="0"/>
            <a:r>
              <a:rPr lang="ja-JP" altLang="en-US">
                <a:latin typeface="Arial" panose="020B0604020202020204" pitchFamily="34" charset="0"/>
              </a:rPr>
              <a:t>　</a:t>
            </a:r>
            <a:r>
              <a:rPr lang="en-US" altLang="ja-JP">
                <a:latin typeface="Arial" panose="020B0604020202020204" pitchFamily="34" charset="0"/>
              </a:rPr>
              <a:t>Method có 2 loại là instance method, static method.</a:t>
            </a:r>
          </a:p>
          <a:p>
            <a:pPr marL="0" indent="0"/>
            <a:r>
              <a:rPr lang="ja-JP" altLang="en-US">
                <a:latin typeface="Arial" panose="020B0604020202020204" pitchFamily="34" charset="0"/>
              </a:rPr>
              <a:t>　</a:t>
            </a:r>
            <a:r>
              <a:rPr lang="en-US" altLang="ja-JP">
                <a:latin typeface="Arial" panose="020B0604020202020204" pitchFamily="34" charset="0"/>
              </a:rPr>
              <a:t>Instance method là method thể hiện thao tác mà các object có, và được sử dụng trong trường hợp set hoặc get giá trị của thuộc tính. </a:t>
            </a:r>
          </a:p>
          <a:p>
            <a:pPr marL="0" indent="0"/>
            <a:r>
              <a:rPr lang="ja-JP" altLang="en-US">
                <a:latin typeface="Arial" panose="020B0604020202020204" pitchFamily="34" charset="0"/>
              </a:rPr>
              <a:t>　</a:t>
            </a:r>
            <a:r>
              <a:rPr lang="en-US" altLang="ja-JP">
                <a:latin typeface="Arial" panose="020B0604020202020204" pitchFamily="34" charset="0"/>
              </a:rPr>
              <a:t>static method là method được xác lập ở đơn vị class. Về static method sẽ giải thích sau.</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Gọi ra instance method</a:t>
            </a:r>
          </a:p>
          <a:p>
            <a:pPr marL="0" indent="0"/>
            <a:r>
              <a:rPr lang="ja-JP" altLang="en-US">
                <a:latin typeface="Arial" panose="020B0604020202020204" pitchFamily="34" charset="0"/>
              </a:rPr>
              <a:t>　</a:t>
            </a:r>
            <a:r>
              <a:rPr lang="en-US" altLang="ja-JP">
                <a:latin typeface="Arial" panose="020B0604020202020204" pitchFamily="34" charset="0"/>
              </a:rPr>
              <a:t>Instance method sẽ chỉ định object của class đó và gọi ra.</a:t>
            </a:r>
          </a:p>
          <a:p>
            <a:pPr marL="0" indent="0"/>
            <a:r>
              <a:rPr lang="ja-JP" altLang="en-US">
                <a:latin typeface="Arial" panose="020B0604020202020204" pitchFamily="34" charset="0"/>
              </a:rPr>
              <a:t>　</a:t>
            </a:r>
            <a:r>
              <a:rPr lang="en-US" altLang="ja-JP">
                <a:latin typeface="Arial" panose="020B0604020202020204" pitchFamily="34" charset="0"/>
              </a:rPr>
              <a:t>Method có thể được gọi ra ở giữa chừng của statement đơn đọc hoặc giữa chừng của biểu thức.</a:t>
            </a:r>
          </a:p>
          <a:p>
            <a:pPr marL="0" indent="0"/>
            <a:r>
              <a:rPr lang="ja-JP" altLang="en-US">
                <a:latin typeface="Arial" panose="020B0604020202020204" pitchFamily="34" charset="0"/>
              </a:rPr>
              <a:t>　</a:t>
            </a:r>
            <a:r>
              <a:rPr lang="en-US" altLang="ja-JP">
                <a:latin typeface="Arial" panose="020B0604020202020204" pitchFamily="34" charset="0"/>
              </a:rPr>
              <a:t>Method có giá trị trả về thông thường sẽ được gọi ra bằng hình thức nhận giá trị trả về.</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 Trường hợp tiến hành nhân truyền giá trị thì phải chỉ định list đối số.</a:t>
            </a:r>
          </a:p>
          <a:p>
            <a:pPr marL="0" indent="0"/>
            <a:r>
              <a:rPr lang="ja-JP" altLang="en-US">
                <a:latin typeface="Arial" panose="020B0604020202020204" pitchFamily="34" charset="0"/>
              </a:rPr>
              <a:t>　　</a:t>
            </a:r>
            <a:r>
              <a:rPr lang="en-US" altLang="ja-JP">
                <a:latin typeface="Arial" panose="020B0604020202020204" pitchFamily="34" charset="0"/>
              </a:rPr>
              <a:t>Trường hợp không có giá trị tiến hành nhận truyền thì chỉ chỉ định (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560132" name="Text Box 4">
            <a:extLst>
              <a:ext uri="{FF2B5EF4-FFF2-40B4-BE49-F238E27FC236}">
                <a16:creationId xmlns:a16="http://schemas.microsoft.com/office/drawing/2014/main" id="{F4A899F3-755C-5172-2C56-52E6B7DD4557}"/>
              </a:ext>
            </a:extLst>
          </p:cNvPr>
          <p:cNvSpPr txBox="1">
            <a:spLocks noChangeArrowheads="1"/>
          </p:cNvSpPr>
          <p:nvPr/>
        </p:nvSpPr>
        <p:spPr bwMode="auto">
          <a:xfrm>
            <a:off x="719138" y="7337425"/>
            <a:ext cx="5643562" cy="25717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MS UI Gothic" panose="020B0600070205080204" pitchFamily="50" charset="-128"/>
              </a:rPr>
              <a:t>　</a:t>
            </a:r>
            <a:r>
              <a:rPr lang="en-US" altLang="ja-JP" b="0">
                <a:ea typeface="MS UI Gothic" panose="020B0600070205080204" pitchFamily="50" charset="-128"/>
              </a:rPr>
              <a:t>Tên biến có tham chiếu của object</a:t>
            </a:r>
            <a:r>
              <a:rPr lang="ja-JP" altLang="ja-JP" b="0">
                <a:ea typeface="ＭＳ ゴシック" panose="020B0609070205080204" pitchFamily="49" charset="-128"/>
              </a:rPr>
              <a:t>.</a:t>
            </a:r>
            <a:r>
              <a:rPr lang="en-US" altLang="ja-JP" b="0">
                <a:ea typeface="ＭＳ ゴシック" panose="020B0609070205080204" pitchFamily="49" charset="-128"/>
              </a:rPr>
              <a:t>tên method</a:t>
            </a:r>
            <a:r>
              <a:rPr lang="ja-JP" altLang="ja-JP" b="0">
                <a:ea typeface="ＭＳ ゴシック" panose="020B0609070205080204" pitchFamily="49" charset="-128"/>
              </a:rPr>
              <a:t>(</a:t>
            </a:r>
            <a:r>
              <a:rPr lang="ja-JP" altLang="ja-JP" b="0">
                <a:ea typeface="MS UI Gothic" panose="020B0600070205080204" pitchFamily="50" charset="-128"/>
              </a:rPr>
              <a:t> </a:t>
            </a:r>
            <a:r>
              <a:rPr lang="en-US" altLang="ja-JP" b="0">
                <a:ea typeface="MS UI Gothic" panose="020B0600070205080204" pitchFamily="50" charset="-128"/>
              </a:rPr>
              <a:t>list đối số</a:t>
            </a:r>
            <a:r>
              <a:rPr lang="ja-JP" altLang="ja-JP" b="0">
                <a:ea typeface="MS UI Gothic" panose="020B0600070205080204" pitchFamily="50" charset="-128"/>
              </a:rPr>
              <a:t> </a:t>
            </a:r>
            <a:r>
              <a:rPr lang="ja-JP" altLang="ja-JP" b="0">
                <a:ea typeface="ＭＳ ゴシック" panose="020B0609070205080204" pitchFamily="49" charset="-128"/>
              </a:rPr>
              <a:t>)</a:t>
            </a:r>
            <a:r>
              <a:rPr lang="ja-JP" altLang="ja-JP" b="0">
                <a:ea typeface="MS UI Gothic" panose="020B0600070205080204" pitchFamily="50" charset="-128"/>
              </a:rPr>
              <a:t> </a:t>
            </a:r>
            <a:endParaRPr lang="en-US" altLang="ja-JP" b="0">
              <a:ea typeface="MS UI Gothic" panose="020B0600070205080204" pitchFamily="50"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a:extLst>
              <a:ext uri="{FF2B5EF4-FFF2-40B4-BE49-F238E27FC236}">
                <a16:creationId xmlns:a16="http://schemas.microsoft.com/office/drawing/2014/main" id="{42A561FB-D31A-DFE7-0236-F361C9D36918}"/>
              </a:ext>
            </a:extLst>
          </p:cNvPr>
          <p:cNvSpPr>
            <a:spLocks noGrp="1" noRot="1" noChangeAspect="1" noChangeArrowheads="1" noTextEdit="1"/>
          </p:cNvSpPr>
          <p:nvPr>
            <p:ph type="sldImg"/>
          </p:nvPr>
        </p:nvSpPr>
        <p:spPr>
          <a:xfrm>
            <a:off x="531813" y="835025"/>
            <a:ext cx="6024562" cy="4170363"/>
          </a:xfrm>
          <a:ln/>
        </p:spPr>
      </p:sp>
      <p:sp>
        <p:nvSpPr>
          <p:cNvPr id="566275" name="Rectangle 3">
            <a:extLst>
              <a:ext uri="{FF2B5EF4-FFF2-40B4-BE49-F238E27FC236}">
                <a16:creationId xmlns:a16="http://schemas.microsoft.com/office/drawing/2014/main" id="{18D11FDB-8D2A-7473-80BC-8534D9B8C77A}"/>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Overload</a:t>
            </a:r>
          </a:p>
          <a:p>
            <a:pPr marL="0" indent="0"/>
            <a:r>
              <a:rPr lang="ja-JP" altLang="en-US">
                <a:latin typeface="Arial" panose="020B0604020202020204" pitchFamily="34" charset="0"/>
              </a:rPr>
              <a:t>　</a:t>
            </a:r>
            <a:r>
              <a:rPr lang="en-US" altLang="ja-JP">
                <a:latin typeface="Arial" panose="020B0604020202020204" pitchFamily="34" charset="0"/>
              </a:rPr>
              <a:t>Với method và constructor định nghĩa trong class nếu như có số lượng của đối số, kiểu data, trình tự chỉ định khác nhau thì có thể định nghĩa nhiều method và constructor có tên trùng nhau. Việc này gọi là overload.</a:t>
            </a:r>
          </a:p>
          <a:p>
            <a:pPr marL="0" indent="0"/>
            <a:r>
              <a:rPr lang="ja-JP" altLang="en-US">
                <a:latin typeface="Arial" panose="020B0604020202020204" pitchFamily="34" charset="0"/>
              </a:rPr>
              <a:t>　</a:t>
            </a:r>
            <a:r>
              <a:rPr lang="en-US" altLang="ja-JP">
                <a:latin typeface="Arial" panose="020B0604020202020204" pitchFamily="34" charset="0"/>
              </a:rPr>
              <a:t>Những method và constructor sẽ được thực hiện đã được xác định bởi đối số đã chỉ định lúc gọi ra.</a:t>
            </a:r>
          </a:p>
          <a:p>
            <a:pPr marL="0" indent="0"/>
            <a:endParaRPr lang="en-US" altLang="ja-JP">
              <a:latin typeface="Arial" panose="020B0604020202020204" pitchFamily="34" charset="0"/>
            </a:endParaRPr>
          </a:p>
          <a:p>
            <a:pPr marL="0" indent="0"/>
            <a:r>
              <a:rPr lang="en-US" altLang="ja-JP">
                <a:latin typeface="Arial" panose="020B0604020202020204" pitchFamily="34" charset="0"/>
              </a:rPr>
              <a:t>【Chú ý】</a:t>
            </a:r>
          </a:p>
          <a:p>
            <a:pPr marL="0" indent="0"/>
            <a:r>
              <a:rPr lang="ja-JP" altLang="en-US">
                <a:latin typeface="Arial" panose="020B0604020202020204" pitchFamily="34" charset="0"/>
              </a:rPr>
              <a:t>　</a:t>
            </a:r>
            <a:r>
              <a:rPr lang="en-US" altLang="ja-JP">
                <a:latin typeface="Arial" panose="020B0604020202020204" pitchFamily="34" charset="0"/>
              </a:rPr>
              <a:t>Không thể định nghĩa nhiều method có đối số giống nhau, chỉ có giá trị trả về khác nhau.</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Overload sử dụng trong trường hợp muốn định nghĩa một chức năng nào đó nhưng có rất nhiều pattern của đối số.</a:t>
            </a:r>
          </a:p>
          <a:p>
            <a:pPr marL="0" indent="0"/>
            <a:r>
              <a:rPr lang="ja-JP" altLang="en-US">
                <a:latin typeface="Arial" panose="020B0604020202020204" pitchFamily="34" charset="0"/>
              </a:rPr>
              <a:t>　</a:t>
            </a:r>
            <a:r>
              <a:rPr lang="en-US" altLang="ja-JP">
                <a:latin typeface="Arial" panose="020B0604020202020204" pitchFamily="34" charset="0"/>
              </a:rPr>
              <a:t>Cả phía định nghĩa và phía sử dụng đều chỉ là 1 tên thế là xong nên rất tiện lợi.</a:t>
            </a:r>
          </a:p>
        </p:txBody>
      </p:sp>
      <p:sp>
        <p:nvSpPr>
          <p:cNvPr id="566276" name="Text Box 4">
            <a:extLst>
              <a:ext uri="{FF2B5EF4-FFF2-40B4-BE49-F238E27FC236}">
                <a16:creationId xmlns:a16="http://schemas.microsoft.com/office/drawing/2014/main" id="{40F4DDB5-70F7-7BE2-6A0E-E8120E4316E7}"/>
              </a:ext>
            </a:extLst>
          </p:cNvPr>
          <p:cNvSpPr txBox="1">
            <a:spLocks noChangeArrowheads="1"/>
          </p:cNvSpPr>
          <p:nvPr/>
        </p:nvSpPr>
        <p:spPr bwMode="auto">
          <a:xfrm>
            <a:off x="803275" y="7670800"/>
            <a:ext cx="5618163" cy="1079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8233" tIns="116482" rIns="368233" bIns="116482">
            <a:spAutoFit/>
          </a:bodyPr>
          <a:lstStyle>
            <a:lvl1pPr defTabSz="901700">
              <a:defRPr kumimoji="1">
                <a:solidFill>
                  <a:schemeClr val="tx1"/>
                </a:solidFill>
                <a:latin typeface="Arial" panose="020B0604020202020204" pitchFamily="34" charset="0"/>
                <a:ea typeface="ＭＳ Ｐゴシック" panose="020B0600070205080204" pitchFamily="50" charset="-128"/>
              </a:defRPr>
            </a:lvl1pPr>
            <a:lvl2pPr marL="477838" defTabSz="901700">
              <a:defRPr kumimoji="1">
                <a:solidFill>
                  <a:schemeClr val="tx1"/>
                </a:solidFill>
                <a:latin typeface="Arial" panose="020B0604020202020204" pitchFamily="34" charset="0"/>
                <a:ea typeface="ＭＳ Ｐゴシック" panose="020B0600070205080204" pitchFamily="50" charset="-128"/>
              </a:defRPr>
            </a:lvl2pPr>
            <a:lvl3pPr marL="954088" defTabSz="901700">
              <a:defRPr kumimoji="1">
                <a:solidFill>
                  <a:schemeClr val="tx1"/>
                </a:solidFill>
                <a:latin typeface="Arial" panose="020B0604020202020204" pitchFamily="34" charset="0"/>
                <a:ea typeface="ＭＳ Ｐゴシック" panose="020B0600070205080204" pitchFamily="50" charset="-128"/>
              </a:defRPr>
            </a:lvl3pPr>
            <a:lvl4pPr marL="1431925" defTabSz="901700">
              <a:defRPr kumimoji="1">
                <a:solidFill>
                  <a:schemeClr val="tx1"/>
                </a:solidFill>
                <a:latin typeface="Arial" panose="020B0604020202020204" pitchFamily="34" charset="0"/>
                <a:ea typeface="ＭＳ Ｐゴシック" panose="020B0600070205080204" pitchFamily="50" charset="-128"/>
              </a:defRPr>
            </a:lvl4pPr>
            <a:lvl5pPr marL="1909763" defTabSz="901700">
              <a:defRPr kumimoji="1">
                <a:solidFill>
                  <a:schemeClr val="tx1"/>
                </a:solidFill>
                <a:latin typeface="Arial" panose="020B0604020202020204" pitchFamily="34" charset="0"/>
                <a:ea typeface="ＭＳ Ｐゴシック" panose="020B0600070205080204" pitchFamily="50" charset="-128"/>
              </a:defRPr>
            </a:lvl5pPr>
            <a:lvl6pPr marL="23669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t>Check kiểu nghiêm ngặt</a:t>
            </a:r>
          </a:p>
          <a:p>
            <a:pPr>
              <a:lnSpc>
                <a:spcPct val="50000"/>
              </a:lnSpc>
            </a:pPr>
            <a:endParaRPr lang="en-US" altLang="ja-JP" b="0"/>
          </a:p>
          <a:p>
            <a:r>
              <a:rPr lang="ja-JP" altLang="en-US" b="0"/>
              <a:t>　</a:t>
            </a:r>
            <a:r>
              <a:rPr lang="en-US" altLang="ja-JP" b="0"/>
              <a:t>Ở Java, cho dù có overload hay không thì khi gọi ra một method, số lượng của đối số và kiểu sẽ được check.</a:t>
            </a:r>
          </a:p>
          <a:p>
            <a:r>
              <a:rPr lang="ja-JP" altLang="en-US" b="0"/>
              <a:t>　</a:t>
            </a:r>
            <a:r>
              <a:rPr lang="en-US" altLang="ja-JP" b="0"/>
              <a:t>Nếu không có một method  nào tương ứng thì sẽ bị compile error nên hãy chú ý điều này!</a:t>
            </a:r>
          </a:p>
        </p:txBody>
      </p:sp>
      <p:grpSp>
        <p:nvGrpSpPr>
          <p:cNvPr id="566277" name="Group 5">
            <a:extLst>
              <a:ext uri="{FF2B5EF4-FFF2-40B4-BE49-F238E27FC236}">
                <a16:creationId xmlns:a16="http://schemas.microsoft.com/office/drawing/2014/main" id="{ED0DD607-FC05-0CDD-890B-837F119CA4FE}"/>
              </a:ext>
            </a:extLst>
          </p:cNvPr>
          <p:cNvGrpSpPr>
            <a:grpSpLocks/>
          </p:cNvGrpSpPr>
          <p:nvPr/>
        </p:nvGrpSpPr>
        <p:grpSpPr bwMode="auto">
          <a:xfrm>
            <a:off x="800100" y="7413625"/>
            <a:ext cx="5622925" cy="301625"/>
            <a:chOff x="351" y="1572"/>
            <a:chExt cx="4968" cy="204"/>
          </a:xfrm>
        </p:grpSpPr>
        <p:pic>
          <p:nvPicPr>
            <p:cNvPr id="566278" name="Picture 6">
              <a:extLst>
                <a:ext uri="{FF2B5EF4-FFF2-40B4-BE49-F238E27FC236}">
                  <a16:creationId xmlns:a16="http://schemas.microsoft.com/office/drawing/2014/main" id="{85CB728C-0186-F957-C14D-C064D7B6E6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566279" name="Text Box 7">
              <a:extLst>
                <a:ext uri="{FF2B5EF4-FFF2-40B4-BE49-F238E27FC236}">
                  <a16:creationId xmlns:a16="http://schemas.microsoft.com/office/drawing/2014/main" id="{E0E7B765-273B-BB10-9F37-30EDC75D3FF5}"/>
                </a:ext>
              </a:extLst>
            </p:cNvPr>
            <p:cNvSpPr txBox="1">
              <a:spLocks noChangeArrowheads="1"/>
            </p:cNvSpPr>
            <p:nvPr/>
          </p:nvSpPr>
          <p:spPr bwMode="auto">
            <a:xfrm>
              <a:off x="517" y="1598"/>
              <a:ext cx="511"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41" tIns="47720" rIns="95441" bIns="47720">
              <a:spAutoFit/>
            </a:bodyPr>
            <a:lstStyle>
              <a:lvl1pPr defTabSz="901700">
                <a:defRPr kumimoji="1">
                  <a:solidFill>
                    <a:schemeClr val="tx1"/>
                  </a:solidFill>
                  <a:latin typeface="Arial" panose="020B0604020202020204" pitchFamily="34" charset="0"/>
                  <a:ea typeface="ＭＳ Ｐゴシック" panose="020B0600070205080204" pitchFamily="50" charset="-128"/>
                </a:defRPr>
              </a:lvl1pPr>
              <a:lvl2pPr marL="477838" defTabSz="901700">
                <a:defRPr kumimoji="1">
                  <a:solidFill>
                    <a:schemeClr val="tx1"/>
                  </a:solidFill>
                  <a:latin typeface="Arial" panose="020B0604020202020204" pitchFamily="34" charset="0"/>
                  <a:ea typeface="ＭＳ Ｐゴシック" panose="020B0600070205080204" pitchFamily="50" charset="-128"/>
                </a:defRPr>
              </a:lvl2pPr>
              <a:lvl3pPr marL="954088" defTabSz="901700">
                <a:defRPr kumimoji="1">
                  <a:solidFill>
                    <a:schemeClr val="tx1"/>
                  </a:solidFill>
                  <a:latin typeface="Arial" panose="020B0604020202020204" pitchFamily="34" charset="0"/>
                  <a:ea typeface="ＭＳ Ｐゴシック" panose="020B0600070205080204" pitchFamily="50" charset="-128"/>
                </a:defRPr>
              </a:lvl3pPr>
              <a:lvl4pPr marL="1431925" defTabSz="901700">
                <a:defRPr kumimoji="1">
                  <a:solidFill>
                    <a:schemeClr val="tx1"/>
                  </a:solidFill>
                  <a:latin typeface="Arial" panose="020B0604020202020204" pitchFamily="34" charset="0"/>
                  <a:ea typeface="ＭＳ Ｐゴシック" panose="020B0600070205080204" pitchFamily="50" charset="-128"/>
                </a:defRPr>
              </a:lvl4pPr>
              <a:lvl5pPr marL="1909763" defTabSz="901700">
                <a:defRPr kumimoji="1">
                  <a:solidFill>
                    <a:schemeClr val="tx1"/>
                  </a:solidFill>
                  <a:latin typeface="Arial" panose="020B0604020202020204" pitchFamily="34" charset="0"/>
                  <a:ea typeface="ＭＳ Ｐゴシック" panose="020B0600070205080204" pitchFamily="50" charset="-128"/>
                </a:defRPr>
              </a:lvl5pPr>
              <a:lvl6pPr marL="23669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Chú ý</a:t>
              </a:r>
            </a:p>
          </p:txBody>
        </p:sp>
      </p:gr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a:extLst>
              <a:ext uri="{FF2B5EF4-FFF2-40B4-BE49-F238E27FC236}">
                <a16:creationId xmlns:a16="http://schemas.microsoft.com/office/drawing/2014/main" id="{E80537CA-5DD6-584A-0B2E-2B0DB3A2DA90}"/>
              </a:ext>
            </a:extLst>
          </p:cNvPr>
          <p:cNvSpPr>
            <a:spLocks noGrp="1" noRot="1" noChangeAspect="1" noChangeArrowheads="1" noTextEdit="1"/>
          </p:cNvSpPr>
          <p:nvPr>
            <p:ph type="sldImg"/>
          </p:nvPr>
        </p:nvSpPr>
        <p:spPr>
          <a:xfrm>
            <a:off x="531813" y="835025"/>
            <a:ext cx="6024562" cy="4170363"/>
          </a:xfrm>
          <a:ln/>
        </p:spPr>
      </p:sp>
      <p:sp>
        <p:nvSpPr>
          <p:cNvPr id="447491" name="Rectangle 3">
            <a:extLst>
              <a:ext uri="{FF2B5EF4-FFF2-40B4-BE49-F238E27FC236}">
                <a16:creationId xmlns:a16="http://schemas.microsoft.com/office/drawing/2014/main" id="{2E8595F0-900B-488E-B8CA-656AA798C7C1}"/>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Biến static</a:t>
            </a:r>
          </a:p>
          <a:p>
            <a:pPr marL="0" indent="0"/>
            <a:r>
              <a:rPr lang="ja-JP" altLang="en-US">
                <a:latin typeface="Arial" panose="020B0604020202020204" pitchFamily="34" charset="0"/>
              </a:rPr>
              <a:t>　</a:t>
            </a:r>
            <a:r>
              <a:rPr lang="en-US" altLang="ja-JP">
                <a:latin typeface="Arial" panose="020B0604020202020204" pitchFamily="34" charset="0"/>
              </a:rPr>
              <a:t>Biến instance đã là biến thể hiện giá trị hiện thực của thuộc tính mà các object vốn có.</a:t>
            </a:r>
          </a:p>
          <a:p>
            <a:pPr marL="0" indent="0"/>
            <a:r>
              <a:rPr lang="ja-JP" altLang="en-US">
                <a:latin typeface="Arial" panose="020B0604020202020204" pitchFamily="34" charset="0"/>
              </a:rPr>
              <a:t>　</a:t>
            </a:r>
            <a:r>
              <a:rPr lang="en-US" altLang="ja-JP">
                <a:latin typeface="Arial" panose="020B0604020202020204" pitchFamily="34" charset="0"/>
              </a:rPr>
              <a:t>Ngược lại, biến static là biến mà được đảm bảo một vùng nhớ theo đơn vị class và có thể sử dụng được ngay cả khi không sinh object của class đó.</a:t>
            </a:r>
          </a:p>
          <a:p>
            <a:pPr marL="0" indent="0"/>
            <a:r>
              <a:rPr lang="ja-JP" altLang="en-US">
                <a:latin typeface="Arial" panose="020B0604020202020204" pitchFamily="34" charset="0"/>
              </a:rPr>
              <a:t>　</a:t>
            </a:r>
            <a:r>
              <a:rPr lang="en-US" altLang="ja-JP">
                <a:latin typeface="Arial" panose="020B0604020202020204" pitchFamily="34" charset="0"/>
              </a:rPr>
              <a:t>Sử dụng trong định nghĩa của các hằng số muốn sử dụng chung.</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Định nghĩa biến static</a:t>
            </a:r>
          </a:p>
          <a:p>
            <a:pPr marL="0" indent="0"/>
            <a:r>
              <a:rPr lang="ja-JP" altLang="en-US">
                <a:latin typeface="Arial" panose="020B0604020202020204" pitchFamily="34" charset="0"/>
              </a:rPr>
              <a:t>　</a:t>
            </a:r>
            <a:r>
              <a:rPr lang="en-US" altLang="ja-JP">
                <a:latin typeface="Arial" panose="020B0604020202020204" pitchFamily="34" charset="0"/>
              </a:rPr>
              <a:t>Vị trí định nghĩa biến static giống với biến instance.</a:t>
            </a:r>
          </a:p>
          <a:p>
            <a:pPr marL="0" indent="0"/>
            <a:r>
              <a:rPr lang="ja-JP" altLang="en-US">
                <a:latin typeface="Arial" panose="020B0604020202020204" pitchFamily="34" charset="0"/>
              </a:rPr>
              <a:t>　</a:t>
            </a:r>
            <a:r>
              <a:rPr lang="en-US" altLang="ja-JP">
                <a:latin typeface="Arial" panose="020B0604020202020204" pitchFamily="34" charset="0"/>
              </a:rPr>
              <a:t>Được định nghĩa bên trong định nghĩa class và bên ngoài định nghĩa method.</a:t>
            </a:r>
          </a:p>
          <a:p>
            <a:pPr marL="0" indent="0"/>
            <a:r>
              <a:rPr lang="ja-JP" altLang="en-US">
                <a:latin typeface="Arial" panose="020B0604020202020204" pitchFamily="34" charset="0"/>
              </a:rPr>
              <a:t>　</a:t>
            </a:r>
            <a:r>
              <a:rPr lang="en-US" altLang="ja-JP">
                <a:latin typeface="Arial" panose="020B0604020202020204" pitchFamily="34" charset="0"/>
              </a:rPr>
              <a:t>Cú pháp thì hầu như giống với cú pháp của biến instance nhưng chỗ chỉ định static modifier khác nhau.</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Vị trí định nghĩa</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447494" name="Text Box 6">
            <a:extLst>
              <a:ext uri="{FF2B5EF4-FFF2-40B4-BE49-F238E27FC236}">
                <a16:creationId xmlns:a16="http://schemas.microsoft.com/office/drawing/2014/main" id="{12E740A5-A36E-F886-EBFF-30BA42F7766F}"/>
              </a:ext>
            </a:extLst>
          </p:cNvPr>
          <p:cNvSpPr txBox="1">
            <a:spLocks noChangeArrowheads="1"/>
          </p:cNvSpPr>
          <p:nvPr/>
        </p:nvSpPr>
        <p:spPr bwMode="auto">
          <a:xfrm>
            <a:off x="719138" y="7312025"/>
            <a:ext cx="5643562" cy="103346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modifier</a:t>
            </a:r>
            <a:r>
              <a:rPr lang="ja-JP" altLang="en-US" b="0">
                <a:ea typeface="ＭＳ ゴシック" panose="020B0609070205080204" pitchFamily="49" charset="-128"/>
              </a:rPr>
              <a:t>　</a:t>
            </a:r>
            <a:r>
              <a:rPr lang="en-US" altLang="ja-JP" b="0">
                <a:ea typeface="ＭＳ ゴシック" panose="020B0609070205080204" pitchFamily="49" charset="-128"/>
              </a:rPr>
              <a:t>class</a:t>
            </a:r>
            <a:r>
              <a:rPr lang="en-US" altLang="ja-JP" b="0">
                <a:ea typeface="MS UI Gothic" panose="020B0600070205080204" pitchFamily="50" charset="-128"/>
              </a:rPr>
              <a:t>  class name  </a:t>
            </a:r>
            <a:r>
              <a:rPr lang="en-US" altLang="ja-JP" b="0">
                <a:ea typeface="ＭＳ ゴシック" panose="020B0609070205080204" pitchFamily="49" charset="-128"/>
              </a:rPr>
              <a:t>{</a:t>
            </a:r>
          </a:p>
          <a:p>
            <a:pPr lvl="1" algn="just"/>
            <a:endParaRPr lang="en-US" altLang="ja-JP" b="0">
              <a:ea typeface="MS UI Gothic" panose="020B0600070205080204" pitchFamily="50" charset="-128"/>
            </a:endParaRPr>
          </a:p>
          <a:p>
            <a:pPr lvl="1" algn="just"/>
            <a:r>
              <a:rPr lang="ja-JP" altLang="en-US" b="0">
                <a:ea typeface="MS UI Gothic" panose="020B0600070205080204" pitchFamily="50" charset="-128"/>
              </a:rPr>
              <a:t>　　　　</a:t>
            </a:r>
            <a:r>
              <a:rPr lang="en-US" altLang="ja-JP" b="0">
                <a:ea typeface="ＭＳ ゴシック" panose="020B0609070205080204" pitchFamily="49" charset="-128"/>
              </a:rPr>
              <a:t>//</a:t>
            </a:r>
            <a:r>
              <a:rPr lang="ja-JP" altLang="en-US" b="0">
                <a:ea typeface="MS UI Gothic" panose="020B0600070205080204" pitchFamily="50" charset="-128"/>
              </a:rPr>
              <a:t>　</a:t>
            </a:r>
            <a:r>
              <a:rPr lang="en-US" altLang="ja-JP" b="0">
                <a:ea typeface="MS UI Gothic" panose="020B0600070205080204" pitchFamily="50" charset="-128"/>
              </a:rPr>
              <a:t>Định nghĩa của biến instance hoặc biến static</a:t>
            </a:r>
          </a:p>
          <a:p>
            <a:pPr lvl="1" algn="just"/>
            <a:endParaRPr lang="en-US" altLang="ja-JP" b="0">
              <a:ea typeface="MS UI Gothic" panose="020B0600070205080204" pitchFamily="50" charset="-128"/>
            </a:endParaRPr>
          </a:p>
          <a:p>
            <a:pPr lvl="1" algn="just"/>
            <a:r>
              <a:rPr lang="ja-JP" altLang="en-US" b="0">
                <a:ea typeface="MS UI Gothic" panose="020B0600070205080204" pitchFamily="50" charset="-128"/>
              </a:rPr>
              <a:t>　　　　</a:t>
            </a:r>
            <a:r>
              <a:rPr lang="en-US" altLang="ja-JP" b="0">
                <a:ea typeface="ＭＳ ゴシック" panose="020B0609070205080204" pitchFamily="49" charset="-128"/>
              </a:rPr>
              <a:t>//</a:t>
            </a:r>
            <a:r>
              <a:rPr lang="ja-JP" altLang="en-US" b="0">
                <a:ea typeface="MS UI Gothic" panose="020B0600070205080204" pitchFamily="50" charset="-128"/>
              </a:rPr>
              <a:t>　</a:t>
            </a:r>
            <a:r>
              <a:rPr lang="en-US" altLang="ja-JP" b="0">
                <a:ea typeface="MS UI Gothic" panose="020B0600070205080204" pitchFamily="50" charset="-128"/>
              </a:rPr>
              <a:t>Định nghĩa method</a:t>
            </a:r>
          </a:p>
          <a:p>
            <a:pPr lvl="1" algn="just"/>
            <a:r>
              <a:rPr lang="en-US" altLang="ja-JP" b="0">
                <a:ea typeface="ＭＳ ゴシック" panose="020B0609070205080204" pitchFamily="49" charset="-128"/>
              </a:rPr>
              <a:t>}</a:t>
            </a:r>
          </a:p>
        </p:txBody>
      </p:sp>
      <p:grpSp>
        <p:nvGrpSpPr>
          <p:cNvPr id="447498" name="Group 10">
            <a:extLst>
              <a:ext uri="{FF2B5EF4-FFF2-40B4-BE49-F238E27FC236}">
                <a16:creationId xmlns:a16="http://schemas.microsoft.com/office/drawing/2014/main" id="{A7699333-E8C0-AB9C-2384-B8DB218D48AD}"/>
              </a:ext>
            </a:extLst>
          </p:cNvPr>
          <p:cNvGrpSpPr>
            <a:grpSpLocks/>
          </p:cNvGrpSpPr>
          <p:nvPr/>
        </p:nvGrpSpPr>
        <p:grpSpPr bwMode="auto">
          <a:xfrm>
            <a:off x="1333500" y="7519988"/>
            <a:ext cx="4632325" cy="415925"/>
            <a:chOff x="740" y="4681"/>
            <a:chExt cx="2918" cy="262"/>
          </a:xfrm>
        </p:grpSpPr>
        <p:sp>
          <p:nvSpPr>
            <p:cNvPr id="447495" name="Rectangle 7">
              <a:extLst>
                <a:ext uri="{FF2B5EF4-FFF2-40B4-BE49-F238E27FC236}">
                  <a16:creationId xmlns:a16="http://schemas.microsoft.com/office/drawing/2014/main" id="{F4894FB9-38D9-DE00-9F71-AB4845CA1C0F}"/>
                </a:ext>
              </a:extLst>
            </p:cNvPr>
            <p:cNvSpPr>
              <a:spLocks noChangeArrowheads="1"/>
            </p:cNvSpPr>
            <p:nvPr/>
          </p:nvSpPr>
          <p:spPr bwMode="auto">
            <a:xfrm>
              <a:off x="740" y="4729"/>
              <a:ext cx="1666" cy="176"/>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1" tIns="45700" rIns="91401" bIns="45700"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447496" name="Rectangle 8">
              <a:extLst>
                <a:ext uri="{FF2B5EF4-FFF2-40B4-BE49-F238E27FC236}">
                  <a16:creationId xmlns:a16="http://schemas.microsoft.com/office/drawing/2014/main" id="{3BD7E599-5319-3E78-CBCB-4F37CDF10214}"/>
                </a:ext>
              </a:extLst>
            </p:cNvPr>
            <p:cNvSpPr>
              <a:spLocks noChangeArrowheads="1"/>
            </p:cNvSpPr>
            <p:nvPr/>
          </p:nvSpPr>
          <p:spPr bwMode="auto">
            <a:xfrm>
              <a:off x="2820" y="4681"/>
              <a:ext cx="838" cy="262"/>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1" tIns="45700" rIns="91401" bIns="45700"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ea typeface="MS UI Gothic" panose="020B0600070205080204" pitchFamily="50" charset="-128"/>
                </a:rPr>
                <a:t>Chú ý vị trí định nghĩa</a:t>
              </a:r>
              <a:r>
                <a:rPr lang="ja-JP" altLang="en-US">
                  <a:ea typeface="MS UI Gothic" panose="020B0600070205080204" pitchFamily="50" charset="-128"/>
                </a:rPr>
                <a:t>！</a:t>
              </a:r>
            </a:p>
          </p:txBody>
        </p:sp>
        <p:cxnSp>
          <p:nvCxnSpPr>
            <p:cNvPr id="447497" name="AutoShape 9">
              <a:extLst>
                <a:ext uri="{FF2B5EF4-FFF2-40B4-BE49-F238E27FC236}">
                  <a16:creationId xmlns:a16="http://schemas.microsoft.com/office/drawing/2014/main" id="{8322F9FB-71FB-6EA7-51FD-CC03B7F921EF}"/>
                </a:ext>
              </a:extLst>
            </p:cNvPr>
            <p:cNvCxnSpPr>
              <a:cxnSpLocks noChangeShapeType="1"/>
              <a:stCxn id="447495" idx="3"/>
              <a:endCxn id="447496" idx="1"/>
            </p:cNvCxnSpPr>
            <p:nvPr/>
          </p:nvCxnSpPr>
          <p:spPr bwMode="auto">
            <a:xfrm flipV="1">
              <a:off x="2414" y="4812"/>
              <a:ext cx="398" cy="5"/>
            </a:xfrm>
            <a:prstGeom prst="straightConnector1">
              <a:avLst/>
            </a:prstGeom>
            <a:noFill/>
            <a:ln w="1905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BA384303-5083-D83C-F804-EC14397BB5EE}"/>
              </a:ext>
            </a:extLst>
          </p:cNvPr>
          <p:cNvSpPr>
            <a:spLocks noGrp="1" noRot="1" noChangeAspect="1" noChangeArrowheads="1" noTextEdit="1"/>
          </p:cNvSpPr>
          <p:nvPr>
            <p:ph type="sldImg"/>
          </p:nvPr>
        </p:nvSpPr>
        <p:spPr>
          <a:xfrm>
            <a:off x="531813" y="835025"/>
            <a:ext cx="6024562" cy="4170363"/>
          </a:xfrm>
          <a:ln/>
        </p:spPr>
      </p:sp>
      <p:sp>
        <p:nvSpPr>
          <p:cNvPr id="572419" name="Rectangle 3">
            <a:extLst>
              <a:ext uri="{FF2B5EF4-FFF2-40B4-BE49-F238E27FC236}">
                <a16:creationId xmlns:a16="http://schemas.microsoft.com/office/drawing/2014/main" id="{31F39D43-056A-2F99-346B-C3F8E13FBE9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static method</a:t>
            </a:r>
          </a:p>
          <a:p>
            <a:pPr marL="0" indent="0"/>
            <a:r>
              <a:rPr lang="ja-JP" altLang="en-US">
                <a:latin typeface="Arial" panose="020B0604020202020204" pitchFamily="34" charset="0"/>
              </a:rPr>
              <a:t>　</a:t>
            </a:r>
            <a:r>
              <a:rPr lang="en-US" altLang="ja-JP">
                <a:latin typeface="Arial" panose="020B0604020202020204" pitchFamily="34" charset="0"/>
              </a:rPr>
              <a:t>Instance method là cái tiến hành các thao tác của giá trị thuộc tính mà các object vốn có.</a:t>
            </a:r>
          </a:p>
          <a:p>
            <a:pPr marL="0" indent="0"/>
            <a:r>
              <a:rPr lang="ja-JP" altLang="en-US">
                <a:latin typeface="Arial" panose="020B0604020202020204" pitchFamily="34" charset="0"/>
              </a:rPr>
              <a:t>　</a:t>
            </a:r>
            <a:r>
              <a:rPr lang="en-US" altLang="ja-JP">
                <a:latin typeface="Arial" panose="020B0604020202020204" pitchFamily="34" charset="0"/>
              </a:rPr>
              <a:t>static method là method đã được đảm bảo một vùng nhớ theo đơn vị class và có thể sử dụng được cho dù không sinh object của class.</a:t>
            </a:r>
          </a:p>
          <a:p>
            <a:pPr marL="0" indent="0"/>
            <a:r>
              <a:rPr lang="ja-JP" altLang="en-US">
                <a:latin typeface="Arial" panose="020B0604020202020204" pitchFamily="34" charset="0"/>
              </a:rPr>
              <a:t>　</a:t>
            </a:r>
            <a:r>
              <a:rPr lang="en-US" altLang="ja-JP">
                <a:latin typeface="Arial" panose="020B0604020202020204" pitchFamily="34" charset="0"/>
              </a:rPr>
              <a:t>Sử dụng ở các định nghĩa của các xử lý đa năng sử dụng thường xuyên.</a:t>
            </a:r>
          </a:p>
          <a:p>
            <a:pPr marL="0" indent="0"/>
            <a:r>
              <a:rPr lang="ja-JP" altLang="en-US">
                <a:latin typeface="Arial" panose="020B0604020202020204" pitchFamily="34" charset="0"/>
              </a:rPr>
              <a:t>　</a:t>
            </a:r>
          </a:p>
          <a:p>
            <a:pPr marL="0" indent="0"/>
            <a:endParaRPr lang="ja-JP" altLang="en-US">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Định nghĩa static method</a:t>
            </a:r>
          </a:p>
          <a:p>
            <a:pPr marL="0" indent="0"/>
            <a:r>
              <a:rPr lang="ja-JP" altLang="en-US">
                <a:latin typeface="Arial" panose="020B0604020202020204" pitchFamily="34" charset="0"/>
              </a:rPr>
              <a:t>　</a:t>
            </a:r>
            <a:r>
              <a:rPr lang="en-US" altLang="ja-JP">
                <a:latin typeface="Arial" panose="020B0604020202020204" pitchFamily="34" charset="0"/>
              </a:rPr>
              <a:t>Vị trí định nghĩa static method giống với instance method, định nghĩa bên trong định nghĩa class.</a:t>
            </a:r>
          </a:p>
          <a:p>
            <a:pPr marL="0" indent="0"/>
            <a:r>
              <a:rPr lang="ja-JP" altLang="en-US">
                <a:latin typeface="Arial" panose="020B0604020202020204" pitchFamily="34" charset="0"/>
              </a:rPr>
              <a:t>　</a:t>
            </a:r>
            <a:r>
              <a:rPr lang="en-US" altLang="ja-JP">
                <a:latin typeface="Arial" panose="020B0604020202020204" pitchFamily="34" charset="0"/>
              </a:rPr>
              <a:t>Gần giống với cú pháp của instance method nhưng chỗ chỉ định modifier static thì khác.</a:t>
            </a:r>
          </a:p>
          <a:p>
            <a:pPr marL="0" indent="0"/>
            <a:r>
              <a:rPr lang="ja-JP" altLang="en-US">
                <a:latin typeface="Arial" panose="020B0604020202020204" pitchFamily="34" charset="0"/>
              </a:rPr>
              <a:t>　</a:t>
            </a:r>
            <a:r>
              <a:rPr lang="en-US" altLang="ja-JP">
                <a:latin typeface="Arial" panose="020B0604020202020204" pitchFamily="34" charset="0"/>
              </a:rPr>
              <a:t>Trình tự định nghĩa field và method là tùy ý nhưng thông thường method sẽ được miêu tả tiếp theo sau field.</a:t>
            </a:r>
          </a:p>
          <a:p>
            <a:pPr marL="0" indent="0"/>
            <a:r>
              <a:rPr lang="ja-JP" altLang="en-US">
                <a:latin typeface="Arial" panose="020B0604020202020204" pitchFamily="34" charset="0"/>
              </a:rPr>
              <a:t>　</a:t>
            </a:r>
            <a:r>
              <a:rPr lang="en-US" altLang="ja-JP">
                <a:latin typeface="Arial" panose="020B0604020202020204" pitchFamily="34" charset="0"/>
              </a:rPr>
              <a:t>Trình tự định nghĩa giữa các method cũng là tùy ý.</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Vị trí định nghĩa</a:t>
            </a:r>
          </a:p>
          <a:p>
            <a:pPr marL="0" indent="0"/>
            <a:endParaRPr lang="en-US" altLang="ja-JP">
              <a:latin typeface="Arial" panose="020B0604020202020204" pitchFamily="34" charset="0"/>
            </a:endParaRPr>
          </a:p>
        </p:txBody>
      </p:sp>
      <p:sp>
        <p:nvSpPr>
          <p:cNvPr id="572420" name="Text Box 4">
            <a:extLst>
              <a:ext uri="{FF2B5EF4-FFF2-40B4-BE49-F238E27FC236}">
                <a16:creationId xmlns:a16="http://schemas.microsoft.com/office/drawing/2014/main" id="{7BC03F82-93BF-500B-17D7-7F55CDE46BB0}"/>
              </a:ext>
            </a:extLst>
          </p:cNvPr>
          <p:cNvSpPr txBox="1">
            <a:spLocks noChangeArrowheads="1"/>
          </p:cNvSpPr>
          <p:nvPr/>
        </p:nvSpPr>
        <p:spPr bwMode="auto">
          <a:xfrm>
            <a:off x="719138" y="7588250"/>
            <a:ext cx="5643562" cy="103346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modifier</a:t>
            </a:r>
            <a:r>
              <a:rPr lang="ja-JP" altLang="en-US" b="0">
                <a:ea typeface="ＭＳ ゴシック" panose="020B0609070205080204" pitchFamily="49" charset="-128"/>
              </a:rPr>
              <a:t>　</a:t>
            </a:r>
            <a:r>
              <a:rPr lang="en-US" altLang="ja-JP" b="0">
                <a:ea typeface="ＭＳ ゴシック" panose="020B0609070205080204" pitchFamily="49" charset="-128"/>
              </a:rPr>
              <a:t>class</a:t>
            </a:r>
            <a:r>
              <a:rPr lang="ja-JP" altLang="en-US" b="0">
                <a:ea typeface="ＭＳ ゴシック" panose="020B0609070205080204" pitchFamily="49" charset="-128"/>
              </a:rPr>
              <a:t>　</a:t>
            </a:r>
            <a:r>
              <a:rPr lang="en-US" altLang="ja-JP" b="0">
                <a:ea typeface="ＭＳ ゴシック" panose="020B0609070205080204" pitchFamily="49" charset="-128"/>
              </a:rPr>
              <a:t>class name</a:t>
            </a:r>
            <a:r>
              <a:rPr lang="en-US" altLang="ja-JP" b="0">
                <a:ea typeface="MS UI Gothic" panose="020B0600070205080204" pitchFamily="50" charset="-128"/>
              </a:rPr>
              <a:t>  </a:t>
            </a:r>
            <a:r>
              <a:rPr lang="en-US" altLang="ja-JP" b="0">
                <a:ea typeface="ＭＳ ゴシック" panose="020B0609070205080204" pitchFamily="49" charset="-128"/>
              </a:rPr>
              <a:t>{</a:t>
            </a:r>
          </a:p>
          <a:p>
            <a:pPr lvl="1" algn="just"/>
            <a:endParaRPr lang="en-US" altLang="ja-JP" b="0">
              <a:ea typeface="MS UI Gothic" panose="020B0600070205080204" pitchFamily="50" charset="-128"/>
            </a:endParaRPr>
          </a:p>
          <a:p>
            <a:pPr lvl="1" algn="just"/>
            <a:r>
              <a:rPr lang="ja-JP" altLang="en-US" b="0">
                <a:ea typeface="MS UI Gothic" panose="020B0600070205080204" pitchFamily="50" charset="-128"/>
              </a:rPr>
              <a:t>　　　　</a:t>
            </a:r>
            <a:r>
              <a:rPr lang="en-US" altLang="ja-JP" b="0">
                <a:ea typeface="ＭＳ ゴシック" panose="020B0609070205080204" pitchFamily="49" charset="-128"/>
              </a:rPr>
              <a:t>//</a:t>
            </a:r>
            <a:r>
              <a:rPr lang="ja-JP" altLang="en-US" b="0">
                <a:ea typeface="MS UI Gothic" panose="020B0600070205080204" pitchFamily="50" charset="-128"/>
              </a:rPr>
              <a:t>　</a:t>
            </a:r>
            <a:r>
              <a:rPr lang="en-US" altLang="ja-JP" b="0">
                <a:ea typeface="MS UI Gothic" panose="020B0600070205080204" pitchFamily="50" charset="-128"/>
              </a:rPr>
              <a:t>Định nghĩa field</a:t>
            </a:r>
            <a:r>
              <a:rPr lang="ja-JP" altLang="en-US" b="0">
                <a:ea typeface="MS UI Gothic" panose="020B0600070205080204" pitchFamily="50" charset="-128"/>
              </a:rPr>
              <a:t>（</a:t>
            </a:r>
            <a:r>
              <a:rPr lang="en-US" altLang="ja-JP" b="0">
                <a:ea typeface="MS UI Gothic" panose="020B0600070205080204" pitchFamily="50" charset="-128"/>
              </a:rPr>
              <a:t>thuộc tính</a:t>
            </a:r>
            <a:r>
              <a:rPr lang="ja-JP" altLang="en-US" b="0">
                <a:ea typeface="MS UI Gothic" panose="020B0600070205080204" pitchFamily="50" charset="-128"/>
              </a:rPr>
              <a:t>）</a:t>
            </a:r>
          </a:p>
          <a:p>
            <a:pPr lvl="1" algn="just"/>
            <a:endParaRPr lang="ja-JP" altLang="en-US" b="0">
              <a:ea typeface="MS UI Gothic" panose="020B0600070205080204" pitchFamily="50" charset="-128"/>
            </a:endParaRPr>
          </a:p>
          <a:p>
            <a:pPr lvl="1" algn="just"/>
            <a:r>
              <a:rPr lang="ja-JP" altLang="en-US" b="0">
                <a:ea typeface="MS UI Gothic" panose="020B0600070205080204" pitchFamily="50" charset="-128"/>
              </a:rPr>
              <a:t>　　　　</a:t>
            </a:r>
            <a:r>
              <a:rPr lang="en-US" altLang="ja-JP" b="0">
                <a:ea typeface="ＭＳ ゴシック" panose="020B0609070205080204" pitchFamily="49" charset="-128"/>
              </a:rPr>
              <a:t>//</a:t>
            </a:r>
            <a:r>
              <a:rPr lang="ja-JP" altLang="en-US" b="0">
                <a:ea typeface="MS UI Gothic" panose="020B0600070205080204" pitchFamily="50" charset="-128"/>
              </a:rPr>
              <a:t>　</a:t>
            </a:r>
            <a:r>
              <a:rPr lang="en-US" altLang="ja-JP" b="0">
                <a:ea typeface="MS UI Gothic" panose="020B0600070205080204" pitchFamily="50" charset="-128"/>
              </a:rPr>
              <a:t>Định nghĩa instance method hoặc static method</a:t>
            </a:r>
          </a:p>
          <a:p>
            <a:pPr lvl="1" algn="just"/>
            <a:r>
              <a:rPr lang="en-US" altLang="ja-JP" b="0">
                <a:ea typeface="ＭＳ ゴシック" panose="020B0609070205080204" pitchFamily="49" charset="-128"/>
              </a:rPr>
              <a:t>}</a:t>
            </a:r>
          </a:p>
        </p:txBody>
      </p:sp>
      <p:grpSp>
        <p:nvGrpSpPr>
          <p:cNvPr id="572424" name="Group 8">
            <a:extLst>
              <a:ext uri="{FF2B5EF4-FFF2-40B4-BE49-F238E27FC236}">
                <a16:creationId xmlns:a16="http://schemas.microsoft.com/office/drawing/2014/main" id="{16352D70-479C-79FF-DE22-D1C3A7C352ED}"/>
              </a:ext>
            </a:extLst>
          </p:cNvPr>
          <p:cNvGrpSpPr>
            <a:grpSpLocks/>
          </p:cNvGrpSpPr>
          <p:nvPr/>
        </p:nvGrpSpPr>
        <p:grpSpPr bwMode="auto">
          <a:xfrm>
            <a:off x="1371600" y="8012113"/>
            <a:ext cx="4537075" cy="568325"/>
            <a:chOff x="740" y="5047"/>
            <a:chExt cx="2858" cy="358"/>
          </a:xfrm>
        </p:grpSpPr>
        <p:sp>
          <p:nvSpPr>
            <p:cNvPr id="572421" name="Rectangle 5">
              <a:extLst>
                <a:ext uri="{FF2B5EF4-FFF2-40B4-BE49-F238E27FC236}">
                  <a16:creationId xmlns:a16="http://schemas.microsoft.com/office/drawing/2014/main" id="{8D2091EB-32F0-A7B9-E396-B9413A02FC70}"/>
                </a:ext>
              </a:extLst>
            </p:cNvPr>
            <p:cNvSpPr>
              <a:spLocks noChangeArrowheads="1"/>
            </p:cNvSpPr>
            <p:nvPr/>
          </p:nvSpPr>
          <p:spPr bwMode="auto">
            <a:xfrm>
              <a:off x="740" y="5149"/>
              <a:ext cx="1727" cy="176"/>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1" tIns="45700" rIns="91401" bIns="45700"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572422" name="Rectangle 6">
              <a:extLst>
                <a:ext uri="{FF2B5EF4-FFF2-40B4-BE49-F238E27FC236}">
                  <a16:creationId xmlns:a16="http://schemas.microsoft.com/office/drawing/2014/main" id="{0B20683D-0C84-F90A-FD75-E1ADDF51DD06}"/>
                </a:ext>
              </a:extLst>
            </p:cNvPr>
            <p:cNvSpPr>
              <a:spLocks noChangeArrowheads="1"/>
            </p:cNvSpPr>
            <p:nvPr/>
          </p:nvSpPr>
          <p:spPr bwMode="auto">
            <a:xfrm>
              <a:off x="3114" y="5047"/>
              <a:ext cx="484" cy="358"/>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1" tIns="45700" rIns="91401" bIns="45700"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ea typeface="MS UI Gothic" panose="020B0600070205080204" pitchFamily="50" charset="-128"/>
                </a:rPr>
                <a:t>Vị trí định nghĩa</a:t>
              </a:r>
            </a:p>
          </p:txBody>
        </p:sp>
        <p:cxnSp>
          <p:nvCxnSpPr>
            <p:cNvPr id="572423" name="AutoShape 7">
              <a:extLst>
                <a:ext uri="{FF2B5EF4-FFF2-40B4-BE49-F238E27FC236}">
                  <a16:creationId xmlns:a16="http://schemas.microsoft.com/office/drawing/2014/main" id="{56ADD57C-8C5B-680D-5D13-E1500D805D81}"/>
                </a:ext>
              </a:extLst>
            </p:cNvPr>
            <p:cNvCxnSpPr>
              <a:cxnSpLocks noChangeShapeType="1"/>
              <a:stCxn id="572421" idx="3"/>
              <a:endCxn id="572422" idx="1"/>
            </p:cNvCxnSpPr>
            <p:nvPr/>
          </p:nvCxnSpPr>
          <p:spPr bwMode="auto">
            <a:xfrm flipV="1">
              <a:off x="2473" y="5226"/>
              <a:ext cx="635" cy="11"/>
            </a:xfrm>
            <a:prstGeom prst="straightConnector1">
              <a:avLst/>
            </a:prstGeom>
            <a:noFill/>
            <a:ln w="1905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a:extLst>
              <a:ext uri="{FF2B5EF4-FFF2-40B4-BE49-F238E27FC236}">
                <a16:creationId xmlns:a16="http://schemas.microsoft.com/office/drawing/2014/main" id="{211379C6-EF44-D883-8390-A77D05EF0596}"/>
              </a:ext>
            </a:extLst>
          </p:cNvPr>
          <p:cNvSpPr>
            <a:spLocks noGrp="1" noRot="1" noChangeAspect="1" noChangeArrowheads="1" noTextEdit="1"/>
          </p:cNvSpPr>
          <p:nvPr>
            <p:ph type="sldImg"/>
          </p:nvPr>
        </p:nvSpPr>
        <p:spPr>
          <a:xfrm>
            <a:off x="531813" y="835025"/>
            <a:ext cx="6024562" cy="4170363"/>
          </a:xfrm>
          <a:ln/>
        </p:spPr>
      </p:sp>
      <p:sp>
        <p:nvSpPr>
          <p:cNvPr id="465923" name="Rectangle 3">
            <a:extLst>
              <a:ext uri="{FF2B5EF4-FFF2-40B4-BE49-F238E27FC236}">
                <a16:creationId xmlns:a16="http://schemas.microsoft.com/office/drawing/2014/main" id="{0B5307C0-CAB9-EB97-5FE2-3C2D00A79957}"/>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main method</a:t>
            </a:r>
          </a:p>
          <a:p>
            <a:pPr marL="0" indent="0"/>
            <a:r>
              <a:rPr lang="ja-JP" altLang="en-US">
                <a:latin typeface="Arial" panose="020B0604020202020204" pitchFamily="34" charset="0"/>
              </a:rPr>
              <a:t>　</a:t>
            </a:r>
            <a:r>
              <a:rPr lang="en-US" altLang="ja-JP">
                <a:latin typeface="Arial" panose="020B0604020202020204" pitchFamily="34" charset="0"/>
              </a:rPr>
              <a:t>main method được gọi đầu tiên khi thực hiện application cũng là method static.</a:t>
            </a:r>
          </a:p>
          <a:p>
            <a:pPr marL="0" indent="0"/>
            <a:r>
              <a:rPr lang="ja-JP" altLang="en-US">
                <a:latin typeface="Arial" panose="020B0604020202020204" pitchFamily="34" charset="0"/>
              </a:rPr>
              <a:t>　</a:t>
            </a:r>
            <a:r>
              <a:rPr lang="en-US" altLang="ja-JP">
                <a:latin typeface="Arial" panose="020B0604020202020204" pitchFamily="34" charset="0"/>
              </a:rPr>
              <a:t>Chúng ta hãy cùng xác nhận lại một lần nữa cú pháp của main method.</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 Do đã được chỉ định là public nên có thể gọi ra từ bên ngoài.</a:t>
            </a:r>
          </a:p>
          <a:p>
            <a:pPr marL="0" indent="0"/>
            <a:r>
              <a:rPr lang="en-US" altLang="ja-JP">
                <a:latin typeface="Arial" panose="020B0604020202020204" pitchFamily="34" charset="0"/>
              </a:rPr>
              <a:t>※ Do đã được chỉ định là static nên có thể gọi ra cho dù không tồn tại object.</a:t>
            </a:r>
          </a:p>
          <a:p>
            <a:pPr marL="0" indent="0"/>
            <a:r>
              <a:rPr lang="en-US" altLang="ja-JP">
                <a:latin typeface="Arial" panose="020B0604020202020204" pitchFamily="34" charset="0"/>
              </a:rPr>
              <a:t>※ Do không có giá trị trả về nên chỉ định </a:t>
            </a:r>
            <a:r>
              <a:rPr lang="ja-JP" altLang="en-US">
                <a:latin typeface="Arial" panose="020B0604020202020204" pitchFamily="34" charset="0"/>
              </a:rPr>
              <a:t>「</a:t>
            </a:r>
            <a:r>
              <a:rPr lang="en-US" altLang="ja-JP">
                <a:latin typeface="Arial" panose="020B0604020202020204" pitchFamily="34" charset="0"/>
              </a:rPr>
              <a:t>void</a:t>
            </a:r>
            <a:r>
              <a:rPr lang="ja-JP" altLang="en-US">
                <a:latin typeface="Arial" panose="020B0604020202020204" pitchFamily="34" charset="0"/>
              </a:rPr>
              <a:t>」 </a:t>
            </a:r>
            <a:r>
              <a:rPr lang="en-US" altLang="ja-JP">
                <a:latin typeface="Arial" panose="020B0604020202020204" pitchFamily="34" charset="0"/>
              </a:rPr>
              <a:t>vào phần </a:t>
            </a:r>
            <a:r>
              <a:rPr lang="ja-JP" altLang="en-US">
                <a:latin typeface="Arial" panose="020B0604020202020204" pitchFamily="34" charset="0"/>
              </a:rPr>
              <a:t>「</a:t>
            </a:r>
            <a:r>
              <a:rPr lang="en-US" altLang="ja-JP">
                <a:latin typeface="Arial" panose="020B0604020202020204" pitchFamily="34" charset="0"/>
              </a:rPr>
              <a:t>kiểu giá trị trả về</a:t>
            </a:r>
            <a:r>
              <a:rPr lang="ja-JP" altLang="en-US">
                <a:latin typeface="Arial" panose="020B0604020202020204" pitchFamily="34" charset="0"/>
              </a:rPr>
              <a:t>」</a:t>
            </a:r>
            <a:r>
              <a:rPr lang="en-US" altLang="ja-JP">
                <a:latin typeface="Arial" panose="020B0604020202020204" pitchFamily="34" charset="0"/>
              </a:rPr>
              <a:t>.</a:t>
            </a:r>
          </a:p>
          <a:p>
            <a:pPr marL="0" indent="0"/>
            <a:r>
              <a:rPr lang="en-US" altLang="ja-JP">
                <a:latin typeface="Arial" panose="020B0604020202020204" pitchFamily="34" charset="0"/>
              </a:rPr>
              <a:t>※ tên method là </a:t>
            </a:r>
            <a:r>
              <a:rPr lang="ja-JP" altLang="en-US">
                <a:latin typeface="Arial" panose="020B0604020202020204" pitchFamily="34" charset="0"/>
              </a:rPr>
              <a:t>「</a:t>
            </a:r>
            <a:r>
              <a:rPr lang="en-US" altLang="ja-JP">
                <a:latin typeface="Arial" panose="020B0604020202020204" pitchFamily="34" charset="0"/>
              </a:rPr>
              <a:t>main</a:t>
            </a:r>
            <a:r>
              <a:rPr lang="ja-JP" altLang="en-US">
                <a:latin typeface="Arial" panose="020B0604020202020204" pitchFamily="34" charset="0"/>
              </a:rPr>
              <a:t>」</a:t>
            </a:r>
            <a:r>
              <a:rPr lang="en-US" altLang="ja-JP">
                <a:latin typeface="Arial" panose="020B0604020202020204" pitchFamily="34" charset="0"/>
              </a:rPr>
              <a:t>.</a:t>
            </a:r>
          </a:p>
          <a:p>
            <a:pPr marL="0" indent="0"/>
            <a:r>
              <a:rPr lang="en-US" altLang="ja-JP">
                <a:latin typeface="Arial" panose="020B0604020202020204" pitchFamily="34" charset="0"/>
              </a:rPr>
              <a:t>※ main method có thể nhận giá trị đã được chỉ định khi thực hiện như là một mảng String.</a:t>
            </a:r>
          </a:p>
          <a:p>
            <a:pPr marL="0" indent="0"/>
            <a:r>
              <a:rPr lang="ja-JP" altLang="en-US">
                <a:latin typeface="Arial" panose="020B0604020202020204" pitchFamily="34" charset="0"/>
              </a:rPr>
              <a:t>　　「</a:t>
            </a:r>
            <a:r>
              <a:rPr lang="en-US" altLang="ja-JP">
                <a:latin typeface="Arial" panose="020B0604020202020204" pitchFamily="34" charset="0"/>
              </a:rPr>
              <a:t>args</a:t>
            </a:r>
            <a:r>
              <a:rPr lang="ja-JP" altLang="en-US">
                <a:latin typeface="Arial" panose="020B0604020202020204" pitchFamily="34" charset="0"/>
              </a:rPr>
              <a:t>」</a:t>
            </a:r>
            <a:r>
              <a:rPr lang="en-US" altLang="ja-JP">
                <a:latin typeface="Arial" panose="020B0604020202020204" pitchFamily="34" charset="0"/>
              </a:rPr>
              <a:t>là tên biến nên có thể chỉ định tên tùy ý.</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465928" name="Text Box 8">
            <a:extLst>
              <a:ext uri="{FF2B5EF4-FFF2-40B4-BE49-F238E27FC236}">
                <a16:creationId xmlns:a16="http://schemas.microsoft.com/office/drawing/2014/main" id="{4BF5F1DF-6279-2625-D3AD-408286DF3D96}"/>
              </a:ext>
            </a:extLst>
          </p:cNvPr>
          <p:cNvSpPr txBox="1">
            <a:spLocks noChangeArrowheads="1"/>
          </p:cNvSpPr>
          <p:nvPr/>
        </p:nvSpPr>
        <p:spPr bwMode="auto">
          <a:xfrm>
            <a:off x="766763" y="6134100"/>
            <a:ext cx="5654675" cy="59213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latin typeface="ＭＳ ゴシック" panose="020B0609070205080204" pitchFamily="49" charset="-128"/>
                <a:ea typeface="ＭＳ ゴシック" panose="020B0609070205080204" pitchFamily="49" charset="-128"/>
              </a:rPr>
              <a:t>　public static void main(String[] args) {</a:t>
            </a:r>
          </a:p>
          <a:p>
            <a:pPr lvl="1" algn="just"/>
            <a:r>
              <a:rPr lang="ja-JP" altLang="ja-JP" b="0">
                <a:latin typeface="ＭＳ ゴシック" panose="020B0609070205080204" pitchFamily="49" charset="-128"/>
                <a:ea typeface="ＭＳ ゴシック" panose="020B0609070205080204" pitchFamily="49" charset="-128"/>
              </a:rPr>
              <a:t>　　　　　　//  </a:t>
            </a:r>
            <a:r>
              <a:rPr lang="en-US" altLang="ja-JP" b="0">
                <a:ea typeface="MS UI Gothic" panose="020B0600070205080204" pitchFamily="50" charset="-128"/>
              </a:rPr>
              <a:t>Xử lý</a:t>
            </a:r>
            <a:endParaRPr lang="ja-JP" altLang="ja-JP" b="0">
              <a:ea typeface="MS UI Gothic" panose="020B0600070205080204" pitchFamily="50" charset="-128"/>
            </a:endParaRPr>
          </a:p>
          <a:p>
            <a:pPr lvl="1" algn="just"/>
            <a:r>
              <a:rPr lang="ja-JP" altLang="ja-JP" b="0">
                <a:latin typeface="ＭＳ ゴシック" panose="020B0609070205080204" pitchFamily="49" charset="-128"/>
                <a:ea typeface="ＭＳ ゴシック" panose="020B0609070205080204" pitchFamily="49" charset="-128"/>
              </a:rPr>
              <a:t>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2F5A0-C116-12ED-3279-2C372D74E89B}"/>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ext Placeholder 2">
            <a:extLst>
              <a:ext uri="{FF2B5EF4-FFF2-40B4-BE49-F238E27FC236}">
                <a16:creationId xmlns:a16="http://schemas.microsoft.com/office/drawing/2014/main" id="{FAD19E75-810D-43D4-EB9A-2098DC605E15}"/>
              </a:ext>
            </a:extLst>
          </p:cNvPr>
          <p:cNvSpPr>
            <a:spLocks noGrp="1"/>
          </p:cNvSpPr>
          <p:nvPr>
            <p:ph type="body" sz="half" idx="1"/>
          </p:nvPr>
        </p:nvSpPr>
        <p:spPr>
          <a:xfrm>
            <a:off x="344488" y="796925"/>
            <a:ext cx="4532312"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Content Placeholder 3">
            <a:extLst>
              <a:ext uri="{FF2B5EF4-FFF2-40B4-BE49-F238E27FC236}">
                <a16:creationId xmlns:a16="http://schemas.microsoft.com/office/drawing/2014/main" id="{6FC38825-631D-9D08-DBFF-873F7EBD362A}"/>
              </a:ext>
            </a:extLst>
          </p:cNvPr>
          <p:cNvSpPr>
            <a:spLocks noGrp="1"/>
          </p:cNvSpPr>
          <p:nvPr>
            <p:ph sz="half" idx="2"/>
          </p:nvPr>
        </p:nvSpPr>
        <p:spPr>
          <a:xfrm>
            <a:off x="5029200" y="796925"/>
            <a:ext cx="4532313"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Slide Number Placeholder 4">
            <a:extLst>
              <a:ext uri="{FF2B5EF4-FFF2-40B4-BE49-F238E27FC236}">
                <a16:creationId xmlns:a16="http://schemas.microsoft.com/office/drawing/2014/main" id="{BDD2958A-8DC2-EF05-77E8-4C349E8DA705}"/>
              </a:ext>
            </a:extLst>
          </p:cNvPr>
          <p:cNvSpPr>
            <a:spLocks noGrp="1"/>
          </p:cNvSpPr>
          <p:nvPr>
            <p:ph type="sldNum" sz="quarter" idx="10"/>
          </p:nvPr>
        </p:nvSpPr>
        <p:spPr>
          <a:xfrm>
            <a:off x="7616825" y="6381750"/>
            <a:ext cx="2133600" cy="476250"/>
          </a:xfrm>
        </p:spPr>
        <p:txBody>
          <a:bodyPr/>
          <a:lstStyle>
            <a:lvl1pPr>
              <a:defRPr/>
            </a:lvl1pPr>
          </a:lstStyle>
          <a:p>
            <a:fld id="{4AC556BE-C330-47A4-A283-5CF881B2E858}" type="slidenum">
              <a:rPr lang="en-US" altLang="ja-JP"/>
              <a:pPr/>
              <a:t>‹#›</a:t>
            </a:fld>
            <a:endParaRPr lang="en-US" altLang="ja-JP"/>
          </a:p>
        </p:txBody>
      </p:sp>
    </p:spTree>
    <p:extLst>
      <p:ext uri="{BB962C8B-B14F-4D97-AF65-F5344CB8AC3E}">
        <p14:creationId xmlns:p14="http://schemas.microsoft.com/office/powerpoint/2010/main" val="743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2026/8/14</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 id="2147483804" r:id="rId7"/>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2026/8/14</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33404E-A9F1-3E64-FF69-6BDB0999FB96}"/>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B5CE9739-DACA-4344-B9BA-7CECFFDACFF5}" type="slidenum">
              <a:rPr lang="en-US" altLang="ja-JP" smtClean="0"/>
              <a:pPr/>
              <a:t>1</a:t>
            </a:fld>
            <a:endParaRPr lang="en-US" altLang="ja-JP"/>
          </a:p>
        </p:txBody>
      </p:sp>
      <p:sp>
        <p:nvSpPr>
          <p:cNvPr id="256003" name="Text Box 3">
            <a:extLst>
              <a:ext uri="{FF2B5EF4-FFF2-40B4-BE49-F238E27FC236}">
                <a16:creationId xmlns:a16="http://schemas.microsoft.com/office/drawing/2014/main" id="{EF0D6C3F-D28A-D39E-EB0A-5835E639340D}"/>
              </a:ext>
            </a:extLst>
          </p:cNvPr>
          <p:cNvSpPr txBox="1">
            <a:spLocks noChangeArrowheads="1"/>
          </p:cNvSpPr>
          <p:nvPr/>
        </p:nvSpPr>
        <p:spPr bwMode="auto">
          <a:xfrm>
            <a:off x="1330324" y="2336800"/>
            <a:ext cx="8194675" cy="837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4700" b="0" dirty="0" err="1">
                <a:ea typeface="ヒラギノ明朝 Pro W6" pitchFamily="18" charset="-128"/>
              </a:rPr>
              <a:t>Lập</a:t>
            </a:r>
            <a:r>
              <a:rPr lang="en-US" altLang="ja-JP" sz="4700" b="0" dirty="0">
                <a:ea typeface="ヒラギノ明朝 Pro W6" pitchFamily="18" charset="-128"/>
              </a:rPr>
              <a:t> </a:t>
            </a:r>
            <a:r>
              <a:rPr lang="en-US" altLang="ja-JP" sz="4700" b="0" dirty="0" err="1">
                <a:ea typeface="ヒラギノ明朝 Pro W6" pitchFamily="18" charset="-128"/>
              </a:rPr>
              <a:t>trình</a:t>
            </a:r>
            <a:r>
              <a:rPr lang="en-US" altLang="ja-JP" sz="4700" b="0" dirty="0">
                <a:ea typeface="ヒラギノ明朝 Pro W6" pitchFamily="18" charset="-128"/>
              </a:rPr>
              <a:t> </a:t>
            </a:r>
            <a:r>
              <a:rPr lang="en-US" altLang="ja-JP" sz="4700" b="0" dirty="0" err="1">
                <a:ea typeface="ヒラギノ明朝 Pro W6" pitchFamily="18" charset="-128"/>
              </a:rPr>
              <a:t>hướng</a:t>
            </a:r>
            <a:r>
              <a:rPr lang="en-US" altLang="ja-JP" sz="4700" b="0" dirty="0">
                <a:ea typeface="ヒラギノ明朝 Pro W6" pitchFamily="18" charset="-128"/>
              </a:rPr>
              <a:t> </a:t>
            </a:r>
            <a:r>
              <a:rPr lang="en-US" altLang="ja-JP" sz="4700" b="0" dirty="0" err="1">
                <a:ea typeface="ヒラギノ明朝 Pro W6" pitchFamily="18" charset="-128"/>
              </a:rPr>
              <a:t>đối</a:t>
            </a:r>
            <a:r>
              <a:rPr lang="en-US" altLang="ja-JP" sz="4700" b="0" dirty="0">
                <a:ea typeface="ヒラギノ明朝 Pro W6" pitchFamily="18" charset="-128"/>
              </a:rPr>
              <a:t> </a:t>
            </a:r>
            <a:r>
              <a:rPr lang="en-US" altLang="ja-JP" sz="4700" b="0" dirty="0" err="1">
                <a:ea typeface="ヒラギノ明朝 Pro W6" pitchFamily="18" charset="-128"/>
              </a:rPr>
              <a:t>tượng</a:t>
            </a:r>
            <a:endParaRPr lang="en-US" altLang="ja-JP" sz="4700" b="0" dirty="0">
              <a:ea typeface="ヒラギノ明朝 Pro W6" pitchFamily="18"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A31B1-5ECD-CEDA-50DF-1807D319D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6BBF0-8E4A-4211-78BC-EC6120193CF1}"/>
              </a:ext>
            </a:extLst>
          </p:cNvPr>
          <p:cNvSpPr>
            <a:spLocks noGrp="1"/>
          </p:cNvSpPr>
          <p:nvPr>
            <p:ph type="title"/>
          </p:nvPr>
        </p:nvSpPr>
        <p:spPr/>
        <p:txBody>
          <a:bodyPr>
            <a:noAutofit/>
          </a:bodyPr>
          <a:lstStyle/>
          <a:p>
            <a:r>
              <a:rPr lang="en-US" altLang="ja-JP" sz="3200" b="1" dirty="0" err="1">
                <a:ea typeface="MS UI Gothic" panose="020B0600070205080204" pitchFamily="50" charset="-128"/>
              </a:rPr>
              <a:t>Các</a:t>
            </a:r>
            <a:r>
              <a:rPr lang="en-US" altLang="ja-JP" sz="3200" b="1" dirty="0">
                <a:ea typeface="MS UI Gothic" panose="020B0600070205080204" pitchFamily="50" charset="-128"/>
              </a:rPr>
              <a:t> </a:t>
            </a:r>
            <a:r>
              <a:rPr lang="en-US" altLang="ja-JP" sz="3200" b="1" dirty="0" err="1">
                <a:ea typeface="MS UI Gothic" panose="020B0600070205080204" pitchFamily="50" charset="-128"/>
              </a:rPr>
              <a:t>phương</a:t>
            </a:r>
            <a:r>
              <a:rPr lang="en-US" altLang="ja-JP" sz="3200" b="1" dirty="0">
                <a:ea typeface="MS UI Gothic" panose="020B0600070205080204" pitchFamily="50" charset="-128"/>
              </a:rPr>
              <a:t> </a:t>
            </a:r>
            <a:r>
              <a:rPr lang="en-US" altLang="ja-JP" sz="3200" b="1" dirty="0" err="1">
                <a:ea typeface="MS UI Gothic" panose="020B0600070205080204" pitchFamily="50" charset="-128"/>
              </a:rPr>
              <a:t>pháp</a:t>
            </a:r>
            <a:r>
              <a:rPr lang="en-US" altLang="ja-JP" sz="3200" b="1" dirty="0">
                <a:ea typeface="MS UI Gothic" panose="020B0600070205080204" pitchFamily="50" charset="-128"/>
              </a:rPr>
              <a:t> implement </a:t>
            </a:r>
            <a:r>
              <a:rPr lang="en-US" altLang="ja-JP" sz="3200" b="1" dirty="0" err="1">
                <a:ea typeface="MS UI Gothic" panose="020B0600070205080204" pitchFamily="50" charset="-128"/>
              </a:rPr>
              <a:t>cơ</a:t>
            </a:r>
            <a:r>
              <a:rPr lang="en-US" altLang="ja-JP" sz="3200" b="1" dirty="0">
                <a:ea typeface="MS UI Gothic" panose="020B0600070205080204" pitchFamily="50" charset="-128"/>
              </a:rPr>
              <a:t> </a:t>
            </a:r>
            <a:r>
              <a:rPr lang="en-US" altLang="ja-JP" sz="3200" b="1" dirty="0" err="1">
                <a:ea typeface="MS UI Gothic" panose="020B0600070205080204" pitchFamily="50" charset="-128"/>
              </a:rPr>
              <a:t>bản</a:t>
            </a:r>
            <a:r>
              <a:rPr lang="en-US" altLang="ja-JP" sz="3200" b="1" dirty="0">
                <a:ea typeface="MS UI Gothic" panose="020B0600070205080204" pitchFamily="50" charset="-128"/>
              </a:rPr>
              <a:t> </a:t>
            </a:r>
            <a:r>
              <a:rPr lang="en-US" altLang="ja-JP" sz="3200" b="1" dirty="0" err="1">
                <a:ea typeface="MS UI Gothic" panose="020B0600070205080204" pitchFamily="50" charset="-128"/>
              </a:rPr>
              <a:t>của</a:t>
            </a:r>
            <a:r>
              <a:rPr lang="en-US" altLang="ja-JP" sz="3200" b="1" dirty="0">
                <a:ea typeface="MS UI Gothic" panose="020B0600070205080204" pitchFamily="50" charset="-128"/>
              </a:rPr>
              <a:t> OOP</a:t>
            </a:r>
            <a:endParaRPr lang="ja-JP" altLang="en-US" sz="3200" b="1" dirty="0"/>
          </a:p>
        </p:txBody>
      </p:sp>
      <p:sp>
        <p:nvSpPr>
          <p:cNvPr id="3" name="Content Placeholder 2">
            <a:extLst>
              <a:ext uri="{FF2B5EF4-FFF2-40B4-BE49-F238E27FC236}">
                <a16:creationId xmlns:a16="http://schemas.microsoft.com/office/drawing/2014/main" id="{46A88E67-4102-3DAE-EE47-0D3A5C07D759}"/>
              </a:ext>
            </a:extLst>
          </p:cNvPr>
          <p:cNvSpPr>
            <a:spLocks noGrp="1"/>
          </p:cNvSpPr>
          <p:nvPr>
            <p:ph idx="1"/>
          </p:nvPr>
        </p:nvSpPr>
        <p:spPr/>
        <p:txBody>
          <a:bodyPr>
            <a:normAutofit/>
          </a:bodyPr>
          <a:lstStyle/>
          <a:p>
            <a:r>
              <a:rPr lang="en-US" altLang="ja-JP" sz="2800" dirty="0" err="1">
                <a:ea typeface="MS UI Gothic" panose="020B0600070205080204" pitchFamily="50" charset="-128"/>
              </a:rPr>
              <a:t>Định</a:t>
            </a:r>
            <a:r>
              <a:rPr lang="en-US" altLang="ja-JP" sz="2800" dirty="0">
                <a:ea typeface="MS UI Gothic" panose="020B0600070205080204" pitchFamily="50" charset="-128"/>
              </a:rPr>
              <a:t> </a:t>
            </a:r>
            <a:r>
              <a:rPr lang="en-US" altLang="ja-JP" sz="2800" dirty="0" err="1">
                <a:ea typeface="MS UI Gothic" panose="020B0600070205080204" pitchFamily="50" charset="-128"/>
              </a:rPr>
              <a:t>nghĩa</a:t>
            </a:r>
            <a:r>
              <a:rPr lang="en-US" altLang="ja-JP" sz="2800" dirty="0">
                <a:ea typeface="MS UI Gothic" panose="020B0600070205080204" pitchFamily="50" charset="-128"/>
              </a:rPr>
              <a:t> class</a:t>
            </a:r>
          </a:p>
          <a:p>
            <a:r>
              <a:rPr lang="en-US" altLang="ja-JP" sz="2800" dirty="0">
                <a:ea typeface="MS UI Gothic" panose="020B0600070205080204" pitchFamily="50" charset="-128"/>
              </a:rPr>
              <a:t>Sinh object </a:t>
            </a:r>
          </a:p>
          <a:p>
            <a:r>
              <a:rPr lang="en-US" altLang="ja-JP" sz="2800" dirty="0" err="1">
                <a:ea typeface="MS UI Gothic" panose="020B0600070205080204" pitchFamily="50" charset="-128"/>
              </a:rPr>
              <a:t>Gọi</a:t>
            </a:r>
            <a:r>
              <a:rPr lang="en-US" altLang="ja-JP" sz="2800" dirty="0">
                <a:ea typeface="MS UI Gothic" panose="020B0600070205080204" pitchFamily="50" charset="-128"/>
              </a:rPr>
              <a:t> method</a:t>
            </a:r>
            <a:endParaRPr lang="ja-JP" altLang="en-US" sz="2800" dirty="0"/>
          </a:p>
        </p:txBody>
      </p:sp>
      <p:grpSp>
        <p:nvGrpSpPr>
          <p:cNvPr id="4" name="Group 32">
            <a:extLst>
              <a:ext uri="{FF2B5EF4-FFF2-40B4-BE49-F238E27FC236}">
                <a16:creationId xmlns:a16="http://schemas.microsoft.com/office/drawing/2014/main" id="{965D61A3-75EE-939E-476C-691941B45BA8}"/>
              </a:ext>
            </a:extLst>
          </p:cNvPr>
          <p:cNvGrpSpPr>
            <a:grpSpLocks/>
          </p:cNvGrpSpPr>
          <p:nvPr/>
        </p:nvGrpSpPr>
        <p:grpSpPr bwMode="auto">
          <a:xfrm>
            <a:off x="5981403" y="1145114"/>
            <a:ext cx="3795387" cy="4264145"/>
            <a:chOff x="2173" y="1227"/>
            <a:chExt cx="1836" cy="1464"/>
          </a:xfrm>
        </p:grpSpPr>
        <p:sp>
          <p:nvSpPr>
            <p:cNvPr id="5" name="Text Box 26">
              <a:extLst>
                <a:ext uri="{FF2B5EF4-FFF2-40B4-BE49-F238E27FC236}">
                  <a16:creationId xmlns:a16="http://schemas.microsoft.com/office/drawing/2014/main" id="{802215EA-9D4B-1CCC-EFA5-F56C7F0F2DCF}"/>
                </a:ext>
              </a:extLst>
            </p:cNvPr>
            <p:cNvSpPr txBox="1">
              <a:spLocks noChangeArrowheads="1"/>
            </p:cNvSpPr>
            <p:nvPr/>
          </p:nvSpPr>
          <p:spPr bwMode="auto">
            <a:xfrm>
              <a:off x="2173" y="1409"/>
              <a:ext cx="1836" cy="1282"/>
            </a:xfrm>
            <a:prstGeom prst="rect">
              <a:avLst/>
            </a:prstGeom>
            <a:solidFill>
              <a:srgbClr val="FFFF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b="0" dirty="0">
                  <a:ea typeface="ＭＳ ゴシック" panose="020B0609070205080204" pitchFamily="49" charset="-128"/>
                </a:rPr>
                <a:t>Person</a:t>
              </a:r>
            </a:p>
            <a:p>
              <a:pPr algn="just"/>
              <a:endParaRPr lang="en-US" altLang="ja-JP" b="0" dirty="0">
                <a:ea typeface="ＭＳ ゴシック" panose="020B0609070205080204" pitchFamily="49" charset="-128"/>
              </a:endParaRPr>
            </a:p>
            <a:p>
              <a:pPr algn="just"/>
              <a:endParaRPr lang="en-US" altLang="ja-JP" b="0" dirty="0">
                <a:ea typeface="ＭＳ ゴシック" panose="020B0609070205080204" pitchFamily="49" charset="-128"/>
              </a:endParaRPr>
            </a:p>
            <a:p>
              <a:pPr algn="just"/>
              <a:r>
                <a:rPr lang="en-US" altLang="ja-JP" b="0" dirty="0" err="1">
                  <a:ea typeface="ＭＳ ゴシック" panose="020B0609070205080204" pitchFamily="49" charset="-128"/>
                </a:rPr>
                <a:t>Thuộc</a:t>
              </a:r>
              <a:r>
                <a:rPr lang="en-US" altLang="ja-JP" b="0" dirty="0">
                  <a:ea typeface="ＭＳ ゴシック" panose="020B0609070205080204" pitchFamily="49" charset="-128"/>
                </a:rPr>
                <a:t> </a:t>
              </a:r>
              <a:r>
                <a:rPr lang="en-US" altLang="ja-JP" b="0" dirty="0" err="1">
                  <a:ea typeface="ＭＳ ゴシック" panose="020B0609070205080204" pitchFamily="49" charset="-128"/>
                </a:rPr>
                <a:t>tính</a:t>
              </a:r>
              <a:r>
                <a:rPr lang="ja-JP" altLang="en-US" b="0" dirty="0">
                  <a:ea typeface="ＭＳ ゴシック" panose="020B0609070205080204" pitchFamily="49" charset="-128"/>
                </a:rPr>
                <a:t>：</a:t>
              </a:r>
            </a:p>
            <a:p>
              <a:pPr algn="just"/>
              <a:r>
                <a:rPr lang="ja-JP" altLang="en-US" b="0" dirty="0">
                  <a:latin typeface="ＭＳ ゴシック" panose="020B0609070205080204" pitchFamily="49" charset="-128"/>
                  <a:ea typeface="ＭＳ ゴシック" panose="020B0609070205080204" pitchFamily="49" charset="-128"/>
                </a:rPr>
                <a:t>　</a:t>
              </a:r>
              <a:r>
                <a:rPr lang="en-US" altLang="ja-JP" b="0" dirty="0" err="1">
                  <a:latin typeface="ＭＳ ゴシック" panose="020B0609070205080204" pitchFamily="49" charset="-128"/>
                  <a:ea typeface="ＭＳ ゴシック" panose="020B0609070205080204" pitchFamily="49" charset="-128"/>
                </a:rPr>
                <a:t>lastName:String</a:t>
              </a:r>
              <a:endParaRPr lang="en-US" altLang="ja-JP" b="0" dirty="0">
                <a:latin typeface="ＭＳ ゴシック" panose="020B0609070205080204" pitchFamily="49" charset="-128"/>
                <a:ea typeface="ＭＳ ゴシック" panose="020B0609070205080204" pitchFamily="49" charset="-128"/>
              </a:endParaRPr>
            </a:p>
            <a:p>
              <a:pPr algn="just"/>
              <a:r>
                <a:rPr lang="ja-JP" altLang="en-US" b="0" dirty="0">
                  <a:latin typeface="ＭＳ ゴシック" panose="020B0609070205080204" pitchFamily="49" charset="-128"/>
                  <a:ea typeface="ＭＳ ゴシック" panose="020B0609070205080204" pitchFamily="49" charset="-128"/>
                </a:rPr>
                <a:t>　</a:t>
              </a:r>
              <a:r>
                <a:rPr lang="en-US" altLang="ja-JP" b="0" dirty="0" err="1">
                  <a:latin typeface="ＭＳ ゴシック" panose="020B0609070205080204" pitchFamily="49" charset="-128"/>
                  <a:ea typeface="ＭＳ ゴシック" panose="020B0609070205080204" pitchFamily="49" charset="-128"/>
                </a:rPr>
                <a:t>firstName:String</a:t>
              </a:r>
              <a:endParaRPr lang="en-US" altLang="ja-JP" b="0" dirty="0">
                <a:latin typeface="ＭＳ ゴシック" panose="020B0609070205080204" pitchFamily="49" charset="-128"/>
                <a:ea typeface="ＭＳ ゴシック" panose="020B0609070205080204" pitchFamily="49" charset="-128"/>
              </a:endParaRPr>
            </a:p>
            <a:p>
              <a:pPr algn="just"/>
              <a:r>
                <a:rPr lang="ja-JP" altLang="en-US" b="0" dirty="0">
                  <a:latin typeface="ＭＳ ゴシック" panose="020B0609070205080204" pitchFamily="49" charset="-128"/>
                  <a:ea typeface="ＭＳ ゴシック" panose="020B0609070205080204" pitchFamily="49" charset="-128"/>
                </a:rPr>
                <a:t>　</a:t>
              </a:r>
              <a:r>
                <a:rPr lang="en-US" altLang="ja-JP" b="0" dirty="0" err="1">
                  <a:latin typeface="ＭＳ ゴシック" panose="020B0609070205080204" pitchFamily="49" charset="-128"/>
                  <a:ea typeface="ＭＳ ゴシック" panose="020B0609070205080204" pitchFamily="49" charset="-128"/>
                </a:rPr>
                <a:t>age:int</a:t>
              </a:r>
              <a:endParaRPr lang="en-US" altLang="ja-JP" b="0" dirty="0">
                <a:latin typeface="ＭＳ ゴシック" panose="020B0609070205080204" pitchFamily="49" charset="-128"/>
                <a:ea typeface="ＭＳ ゴシック" panose="020B0609070205080204" pitchFamily="49" charset="-128"/>
              </a:endParaRPr>
            </a:p>
            <a:p>
              <a:pPr algn="just"/>
              <a:endParaRPr lang="en-US" altLang="ja-JP" b="0" dirty="0">
                <a:latin typeface="ＭＳ ゴシック" panose="020B0609070205080204" pitchFamily="49" charset="-128"/>
                <a:ea typeface="ＭＳ ゴシック" panose="020B0609070205080204" pitchFamily="49" charset="-128"/>
              </a:endParaRPr>
            </a:p>
            <a:p>
              <a:pPr algn="just"/>
              <a:r>
                <a:rPr lang="en-US" altLang="ja-JP" b="0" dirty="0">
                  <a:ea typeface="ＭＳ ゴシック" panose="020B0609070205080204" pitchFamily="49" charset="-128"/>
                </a:rPr>
                <a:t>Thao </a:t>
              </a:r>
              <a:r>
                <a:rPr lang="en-US" altLang="ja-JP" b="0" dirty="0" err="1">
                  <a:ea typeface="ＭＳ ゴシック" panose="020B0609070205080204" pitchFamily="49" charset="-128"/>
                </a:rPr>
                <a:t>tác</a:t>
              </a:r>
              <a:r>
                <a:rPr lang="ja-JP" altLang="en-US" b="0" dirty="0">
                  <a:ea typeface="ＭＳ ゴシック" panose="020B0609070205080204" pitchFamily="49" charset="-128"/>
                </a:rPr>
                <a:t>：</a:t>
              </a:r>
            </a:p>
            <a:p>
              <a:pPr algn="just"/>
              <a:r>
                <a:rPr lang="ja-JP" altLang="en-US" b="0" dirty="0">
                  <a:latin typeface="ＭＳ ゴシック" panose="020B0609070205080204" pitchFamily="49" charset="-128"/>
                  <a:ea typeface="ＭＳ ゴシック" panose="020B0609070205080204" pitchFamily="49" charset="-128"/>
                </a:rPr>
                <a:t>　</a:t>
              </a:r>
              <a:r>
                <a:rPr lang="en-US" altLang="ja-JP" b="0" dirty="0">
                  <a:latin typeface="ＭＳ ゴシック" panose="020B0609070205080204" pitchFamily="49" charset="-128"/>
                  <a:ea typeface="ＭＳ ゴシック" panose="020B0609070205080204" pitchFamily="49" charset="-128"/>
                </a:rPr>
                <a:t>Person(</a:t>
              </a:r>
              <a:r>
                <a:rPr lang="en-US" altLang="ja-JP" b="0" dirty="0" err="1">
                  <a:latin typeface="ＭＳ ゴシック" panose="020B0609070205080204" pitchFamily="49" charset="-128"/>
                  <a:ea typeface="ＭＳ ゴシック" panose="020B0609070205080204" pitchFamily="49" charset="-128"/>
                </a:rPr>
                <a:t>l:String</a:t>
              </a:r>
              <a:r>
                <a:rPr lang="en-US" altLang="ja-JP" b="0" dirty="0">
                  <a:latin typeface="ＭＳ ゴシック" panose="020B0609070205080204" pitchFamily="49" charset="-128"/>
                  <a:ea typeface="ＭＳ ゴシック" panose="020B0609070205080204" pitchFamily="49" charset="-128"/>
                </a:rPr>
                <a:t>, f:String, a:int)</a:t>
              </a:r>
            </a:p>
            <a:p>
              <a:pPr algn="just"/>
              <a:r>
                <a:rPr lang="ja-JP" altLang="en-US" b="0" dirty="0">
                  <a:latin typeface="ＭＳ ゴシック" panose="020B0609070205080204" pitchFamily="49" charset="-128"/>
                  <a:ea typeface="ＭＳ ゴシック" panose="020B0609070205080204" pitchFamily="49" charset="-128"/>
                </a:rPr>
                <a:t>　</a:t>
              </a:r>
              <a:r>
                <a:rPr lang="en-US" altLang="ja-JP" b="0" dirty="0" err="1">
                  <a:latin typeface="ＭＳ ゴシック" panose="020B0609070205080204" pitchFamily="49" charset="-128"/>
                  <a:ea typeface="ＭＳ ゴシック" panose="020B0609070205080204" pitchFamily="49" charset="-128"/>
                </a:rPr>
                <a:t>getFullName</a:t>
              </a:r>
              <a:r>
                <a:rPr lang="en-US" altLang="ja-JP" b="0" dirty="0">
                  <a:latin typeface="ＭＳ ゴシック" panose="020B0609070205080204" pitchFamily="49" charset="-128"/>
                  <a:ea typeface="ＭＳ ゴシック" panose="020B0609070205080204" pitchFamily="49" charset="-128"/>
                </a:rPr>
                <a:t>():String</a:t>
              </a:r>
            </a:p>
            <a:p>
              <a:pPr algn="just"/>
              <a:r>
                <a:rPr lang="ja-JP" altLang="en-US" b="0" dirty="0">
                  <a:latin typeface="ＭＳ ゴシック" panose="020B0609070205080204" pitchFamily="49" charset="-128"/>
                  <a:ea typeface="ＭＳ ゴシック" panose="020B0609070205080204" pitchFamily="49" charset="-128"/>
                </a:rPr>
                <a:t>　</a:t>
              </a:r>
              <a:r>
                <a:rPr lang="en-US" altLang="ja-JP" b="0" dirty="0" err="1">
                  <a:latin typeface="ＭＳ ゴシック" panose="020B0609070205080204" pitchFamily="49" charset="-128"/>
                  <a:ea typeface="ＭＳ ゴシック" panose="020B0609070205080204" pitchFamily="49" charset="-128"/>
                </a:rPr>
                <a:t>setLastName</a:t>
              </a:r>
              <a:r>
                <a:rPr lang="en-US" altLang="ja-JP" b="0" dirty="0">
                  <a:latin typeface="ＭＳ ゴシック" panose="020B0609070205080204" pitchFamily="49" charset="-128"/>
                  <a:ea typeface="ＭＳ ゴシック" panose="020B0609070205080204" pitchFamily="49" charset="-128"/>
                </a:rPr>
                <a:t>(</a:t>
              </a:r>
              <a:r>
                <a:rPr lang="en-US" altLang="ja-JP" b="0" dirty="0" err="1">
                  <a:latin typeface="ＭＳ ゴシック" panose="020B0609070205080204" pitchFamily="49" charset="-128"/>
                  <a:ea typeface="ＭＳ ゴシック" panose="020B0609070205080204" pitchFamily="49" charset="-128"/>
                </a:rPr>
                <a:t>l:String</a:t>
              </a:r>
              <a:r>
                <a:rPr lang="en-US" altLang="ja-JP" b="0" dirty="0">
                  <a:latin typeface="ＭＳ ゴシック" panose="020B0609070205080204" pitchFamily="49" charset="-128"/>
                  <a:ea typeface="ＭＳ ゴシック" panose="020B0609070205080204" pitchFamily="49" charset="-128"/>
                </a:rPr>
                <a:t>):void</a:t>
              </a:r>
            </a:p>
            <a:p>
              <a:pPr algn="just"/>
              <a:r>
                <a:rPr lang="ja-JP" altLang="en-US" b="0" dirty="0">
                  <a:latin typeface="ＭＳ ゴシック" panose="020B0609070205080204" pitchFamily="49" charset="-128"/>
                  <a:ea typeface="ＭＳ ゴシック" panose="020B0609070205080204" pitchFamily="49" charset="-128"/>
                </a:rPr>
                <a:t>　</a:t>
              </a:r>
              <a:r>
                <a:rPr lang="en-US" altLang="ja-JP" b="0" dirty="0" err="1">
                  <a:latin typeface="ＭＳ ゴシック" panose="020B0609070205080204" pitchFamily="49" charset="-128"/>
                  <a:ea typeface="ＭＳ ゴシック" panose="020B0609070205080204" pitchFamily="49" charset="-128"/>
                </a:rPr>
                <a:t>printInfo</a:t>
              </a:r>
              <a:r>
                <a:rPr lang="en-US" altLang="ja-JP" b="0" dirty="0">
                  <a:latin typeface="ＭＳ ゴシック" panose="020B0609070205080204" pitchFamily="49" charset="-128"/>
                  <a:ea typeface="ＭＳ ゴシック" panose="020B0609070205080204" pitchFamily="49" charset="-128"/>
                </a:rPr>
                <a:t>():void</a:t>
              </a:r>
            </a:p>
          </p:txBody>
        </p:sp>
        <p:sp>
          <p:nvSpPr>
            <p:cNvPr id="6" name="Text Box 27">
              <a:extLst>
                <a:ext uri="{FF2B5EF4-FFF2-40B4-BE49-F238E27FC236}">
                  <a16:creationId xmlns:a16="http://schemas.microsoft.com/office/drawing/2014/main" id="{52A5908E-F701-394D-EFB8-142485E1D25C}"/>
                </a:ext>
              </a:extLst>
            </p:cNvPr>
            <p:cNvSpPr txBox="1">
              <a:spLocks noChangeArrowheads="1"/>
            </p:cNvSpPr>
            <p:nvPr/>
          </p:nvSpPr>
          <p:spPr bwMode="auto">
            <a:xfrm>
              <a:off x="2173" y="1227"/>
              <a:ext cx="1172"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b="0">
                  <a:latin typeface="ＭＳ Ｐゴシック" panose="020B0600070205080204" pitchFamily="50" charset="-128"/>
                </a:rPr>
                <a:t>【Java】</a:t>
              </a:r>
              <a:endParaRPr lang="en-US" altLang="ja-JP">
                <a:ea typeface="MS UI Gothic" panose="020B0600070205080204" pitchFamily="50" charset="-128"/>
              </a:endParaRPr>
            </a:p>
          </p:txBody>
        </p:sp>
        <p:sp>
          <p:nvSpPr>
            <p:cNvPr id="7" name="Line 28">
              <a:extLst>
                <a:ext uri="{FF2B5EF4-FFF2-40B4-BE49-F238E27FC236}">
                  <a16:creationId xmlns:a16="http://schemas.microsoft.com/office/drawing/2014/main" id="{5D79B15E-9598-0829-1618-F49B3320C955}"/>
                </a:ext>
              </a:extLst>
            </p:cNvPr>
            <p:cNvSpPr>
              <a:spLocks noChangeShapeType="1"/>
            </p:cNvSpPr>
            <p:nvPr/>
          </p:nvSpPr>
          <p:spPr bwMode="auto">
            <a:xfrm flipV="1">
              <a:off x="2173" y="1619"/>
              <a:ext cx="1836" cy="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8" name="Line 29">
              <a:extLst>
                <a:ext uri="{FF2B5EF4-FFF2-40B4-BE49-F238E27FC236}">
                  <a16:creationId xmlns:a16="http://schemas.microsoft.com/office/drawing/2014/main" id="{D8A732BA-EB29-59F1-082C-B0DA8A7529DA}"/>
                </a:ext>
              </a:extLst>
            </p:cNvPr>
            <p:cNvSpPr>
              <a:spLocks noChangeShapeType="1"/>
            </p:cNvSpPr>
            <p:nvPr/>
          </p:nvSpPr>
          <p:spPr bwMode="auto">
            <a:xfrm flipV="1">
              <a:off x="2177" y="2082"/>
              <a:ext cx="1832" cy="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grpSp>
      <p:sp>
        <p:nvSpPr>
          <p:cNvPr id="9" name="AutoShape 62">
            <a:extLst>
              <a:ext uri="{FF2B5EF4-FFF2-40B4-BE49-F238E27FC236}">
                <a16:creationId xmlns:a16="http://schemas.microsoft.com/office/drawing/2014/main" id="{31A25C1C-5A34-7C55-A37D-C51435110F43}"/>
              </a:ext>
            </a:extLst>
          </p:cNvPr>
          <p:cNvSpPr>
            <a:spLocks noChangeArrowheads="1"/>
          </p:cNvSpPr>
          <p:nvPr/>
        </p:nvSpPr>
        <p:spPr bwMode="auto">
          <a:xfrm>
            <a:off x="1981200" y="3573990"/>
            <a:ext cx="3683077" cy="2359260"/>
          </a:xfrm>
          <a:prstGeom prst="wedgeRoundRectCallout">
            <a:avLst>
              <a:gd name="adj1" fmla="val 61950"/>
              <a:gd name="adj2" fmla="val -111666"/>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a:latin typeface="MS UI Gothic" panose="020B0600070205080204" pitchFamily="50" charset="-128"/>
              <a:ea typeface="MS UI Gothic" panose="020B0600070205080204" pitchFamily="50" charset="-128"/>
            </a:endParaRPr>
          </a:p>
        </p:txBody>
      </p:sp>
      <p:grpSp>
        <p:nvGrpSpPr>
          <p:cNvPr id="10" name="Group 63">
            <a:extLst>
              <a:ext uri="{FF2B5EF4-FFF2-40B4-BE49-F238E27FC236}">
                <a16:creationId xmlns:a16="http://schemas.microsoft.com/office/drawing/2014/main" id="{F299BB39-0745-A1A4-137B-AAB0534284E1}"/>
              </a:ext>
            </a:extLst>
          </p:cNvPr>
          <p:cNvGrpSpPr>
            <a:grpSpLocks/>
          </p:cNvGrpSpPr>
          <p:nvPr/>
        </p:nvGrpSpPr>
        <p:grpSpPr bwMode="auto">
          <a:xfrm>
            <a:off x="2209800" y="4038600"/>
            <a:ext cx="3200400" cy="1524000"/>
            <a:chOff x="1404" y="2823"/>
            <a:chExt cx="995" cy="592"/>
          </a:xfrm>
        </p:grpSpPr>
        <p:sp>
          <p:nvSpPr>
            <p:cNvPr id="11" name="Text Box 55">
              <a:extLst>
                <a:ext uri="{FF2B5EF4-FFF2-40B4-BE49-F238E27FC236}">
                  <a16:creationId xmlns:a16="http://schemas.microsoft.com/office/drawing/2014/main" id="{84D22A7A-701C-FB77-2085-03636B4E9A6B}"/>
                </a:ext>
              </a:extLst>
            </p:cNvPr>
            <p:cNvSpPr txBox="1">
              <a:spLocks noChangeArrowheads="1"/>
            </p:cNvSpPr>
            <p:nvPr/>
          </p:nvSpPr>
          <p:spPr bwMode="auto">
            <a:xfrm>
              <a:off x="1404" y="2823"/>
              <a:ext cx="992" cy="592"/>
            </a:xfrm>
            <a:prstGeom prst="rect">
              <a:avLst/>
            </a:prstGeom>
            <a:solidFill>
              <a:schemeClr val="bg1"/>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sz="2000" b="0" dirty="0">
                  <a:ea typeface="MS UI Gothic" panose="020B0600070205080204" pitchFamily="50" charset="-128"/>
                </a:rPr>
                <a:t>Class name</a:t>
              </a:r>
            </a:p>
            <a:p>
              <a:pPr algn="just"/>
              <a:endParaRPr lang="en-US" altLang="ja-JP" sz="2000" b="0" dirty="0">
                <a:ea typeface="MS UI Gothic" panose="020B0600070205080204" pitchFamily="50" charset="-128"/>
              </a:endParaRPr>
            </a:p>
            <a:p>
              <a:pPr algn="just"/>
              <a:r>
                <a:rPr lang="en-US" altLang="ja-JP" sz="1400" b="0" dirty="0" err="1">
                  <a:ea typeface="MS UI Gothic" panose="020B0600070205080204" pitchFamily="50" charset="-128"/>
                </a:rPr>
                <a:t>Tên</a:t>
              </a:r>
              <a:r>
                <a:rPr lang="en-US" altLang="ja-JP" sz="1400" b="0" dirty="0">
                  <a:ea typeface="MS UI Gothic" panose="020B0600070205080204" pitchFamily="50" charset="-128"/>
                </a:rPr>
                <a:t> </a:t>
              </a:r>
              <a:r>
                <a:rPr lang="en-US" altLang="ja-JP" sz="1400" b="0" dirty="0" err="1">
                  <a:ea typeface="MS UI Gothic" panose="020B0600070205080204" pitchFamily="50" charset="-128"/>
                </a:rPr>
                <a:t>thuộc</a:t>
              </a:r>
              <a:r>
                <a:rPr lang="en-US" altLang="ja-JP" sz="1400" b="0" dirty="0">
                  <a:ea typeface="MS UI Gothic" panose="020B0600070205080204" pitchFamily="50" charset="-128"/>
                </a:rPr>
                <a:t> </a:t>
              </a:r>
              <a:r>
                <a:rPr lang="en-US" altLang="ja-JP" sz="1400" b="0" dirty="0" err="1">
                  <a:ea typeface="MS UI Gothic" panose="020B0600070205080204" pitchFamily="50" charset="-128"/>
                </a:rPr>
                <a:t>tính</a:t>
              </a:r>
              <a:r>
                <a:rPr lang="en-US" altLang="ja-JP" sz="1400" b="0" dirty="0">
                  <a:ea typeface="MS UI Gothic" panose="020B0600070205080204" pitchFamily="50" charset="-128"/>
                </a:rPr>
                <a:t> : </a:t>
              </a:r>
              <a:r>
                <a:rPr lang="en-US" altLang="ja-JP" sz="1400" b="0" dirty="0" err="1">
                  <a:ea typeface="MS UI Gothic" panose="020B0600070205080204" pitchFamily="50" charset="-128"/>
                </a:rPr>
                <a:t>kiểu</a:t>
              </a:r>
              <a:r>
                <a:rPr lang="en-US" altLang="ja-JP" sz="1400" b="0" dirty="0">
                  <a:ea typeface="MS UI Gothic" panose="020B0600070205080204" pitchFamily="50" charset="-128"/>
                </a:rPr>
                <a:t> data</a:t>
              </a:r>
            </a:p>
            <a:p>
              <a:pPr algn="just"/>
              <a:endParaRPr lang="en-US" altLang="ja-JP" sz="1000" b="0" dirty="0">
                <a:ea typeface="MS UI Gothic" panose="020B0600070205080204" pitchFamily="50" charset="-128"/>
              </a:endParaRPr>
            </a:p>
            <a:p>
              <a:pPr algn="just"/>
              <a:r>
                <a:rPr lang="en-US" altLang="ja-JP" sz="1400" b="0" dirty="0" err="1">
                  <a:ea typeface="MS UI Gothic" panose="020B0600070205080204" pitchFamily="50" charset="-128"/>
                </a:rPr>
                <a:t>Tên</a:t>
              </a:r>
              <a:r>
                <a:rPr lang="en-US" altLang="ja-JP" sz="1400" b="0" dirty="0">
                  <a:ea typeface="MS UI Gothic" panose="020B0600070205080204" pitchFamily="50" charset="-128"/>
                </a:rPr>
                <a:t> </a:t>
              </a:r>
              <a:r>
                <a:rPr lang="en-US" altLang="ja-JP" sz="1400" b="0" dirty="0" err="1">
                  <a:ea typeface="MS UI Gothic" panose="020B0600070205080204" pitchFamily="50" charset="-128"/>
                </a:rPr>
                <a:t>thao</a:t>
              </a:r>
              <a:r>
                <a:rPr lang="en-US" altLang="ja-JP" sz="1400" b="0" dirty="0">
                  <a:ea typeface="MS UI Gothic" panose="020B0600070205080204" pitchFamily="50" charset="-128"/>
                </a:rPr>
                <a:t> </a:t>
              </a:r>
              <a:r>
                <a:rPr lang="en-US" altLang="ja-JP" sz="1400" b="0" dirty="0" err="1">
                  <a:ea typeface="MS UI Gothic" panose="020B0600070205080204" pitchFamily="50" charset="-128"/>
                </a:rPr>
                <a:t>tác</a:t>
              </a:r>
              <a:r>
                <a:rPr lang="en-US" altLang="ja-JP" sz="1400" b="0" dirty="0">
                  <a:ea typeface="MS UI Gothic" panose="020B0600070205080204" pitchFamily="50" charset="-128"/>
                </a:rPr>
                <a:t> (</a:t>
              </a:r>
              <a:r>
                <a:rPr lang="en-US" altLang="ja-JP" sz="1400" b="0" dirty="0" err="1">
                  <a:ea typeface="MS UI Gothic" panose="020B0600070205080204" pitchFamily="50" charset="-128"/>
                </a:rPr>
                <a:t>đối</a:t>
              </a:r>
              <a:r>
                <a:rPr lang="en-US" altLang="ja-JP" sz="1400" b="0" dirty="0">
                  <a:ea typeface="MS UI Gothic" panose="020B0600070205080204" pitchFamily="50" charset="-128"/>
                </a:rPr>
                <a:t> </a:t>
              </a:r>
              <a:r>
                <a:rPr lang="en-US" altLang="ja-JP" sz="1400" b="0" dirty="0" err="1">
                  <a:ea typeface="MS UI Gothic" panose="020B0600070205080204" pitchFamily="50" charset="-128"/>
                </a:rPr>
                <a:t>sô</a:t>
              </a:r>
              <a:r>
                <a:rPr lang="en-US" altLang="ja-JP" sz="1400" b="0" dirty="0">
                  <a:ea typeface="MS UI Gothic" panose="020B0600070205080204" pitchFamily="50" charset="-128"/>
                </a:rPr>
                <a:t>́ )</a:t>
              </a:r>
              <a:r>
                <a:rPr lang="ja-JP" altLang="en-US" sz="1400" b="0" dirty="0">
                  <a:ea typeface="MS UI Gothic" panose="020B0600070205080204" pitchFamily="50" charset="-128"/>
                </a:rPr>
                <a:t>：</a:t>
              </a:r>
              <a:r>
                <a:rPr lang="en-US" altLang="ja-JP" sz="1400" b="0" dirty="0">
                  <a:ea typeface="MS UI Gothic" panose="020B0600070205080204" pitchFamily="50" charset="-128"/>
                </a:rPr>
                <a:t>Giá trị </a:t>
              </a:r>
              <a:r>
                <a:rPr lang="en-US" altLang="ja-JP" sz="1400" b="0" dirty="0" err="1">
                  <a:ea typeface="MS UI Gothic" panose="020B0600070205080204" pitchFamily="50" charset="-128"/>
                </a:rPr>
                <a:t>tra</a:t>
              </a:r>
              <a:r>
                <a:rPr lang="en-US" altLang="ja-JP" sz="1400" b="0" dirty="0">
                  <a:ea typeface="MS UI Gothic" panose="020B0600070205080204" pitchFamily="50" charset="-128"/>
                </a:rPr>
                <a:t>̉ </a:t>
              </a:r>
              <a:r>
                <a:rPr lang="en-US" altLang="ja-JP" sz="1400" b="0" dirty="0" err="1">
                  <a:ea typeface="MS UI Gothic" panose="020B0600070205080204" pitchFamily="50" charset="-128"/>
                </a:rPr>
                <a:t>vê</a:t>
              </a:r>
              <a:r>
                <a:rPr lang="en-US" altLang="ja-JP" sz="1400" b="0" dirty="0">
                  <a:ea typeface="MS UI Gothic" panose="020B0600070205080204" pitchFamily="50" charset="-128"/>
                </a:rPr>
                <a:t>̀</a:t>
              </a:r>
              <a:r>
                <a:rPr lang="ja-JP" altLang="en-US" sz="3600" b="0" dirty="0">
                  <a:ea typeface="MS UI Gothic" panose="020B0600070205080204" pitchFamily="50" charset="-128"/>
                </a:rPr>
                <a:t>　</a:t>
              </a:r>
              <a:endParaRPr lang="ja-JP" altLang="en-US" sz="3600" dirty="0">
                <a:ea typeface="MS UI Gothic" panose="020B0600070205080204" pitchFamily="50" charset="-128"/>
              </a:endParaRPr>
            </a:p>
          </p:txBody>
        </p:sp>
        <p:sp>
          <p:nvSpPr>
            <p:cNvPr id="12" name="Line 57">
              <a:extLst>
                <a:ext uri="{FF2B5EF4-FFF2-40B4-BE49-F238E27FC236}">
                  <a16:creationId xmlns:a16="http://schemas.microsoft.com/office/drawing/2014/main" id="{ECC57F43-E900-8AB0-1929-3C8D6AC1B831}"/>
                </a:ext>
              </a:extLst>
            </p:cNvPr>
            <p:cNvSpPr>
              <a:spLocks noChangeShapeType="1"/>
            </p:cNvSpPr>
            <p:nvPr/>
          </p:nvSpPr>
          <p:spPr bwMode="auto">
            <a:xfrm>
              <a:off x="1404" y="2974"/>
              <a:ext cx="99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13" name="Line 58">
              <a:extLst>
                <a:ext uri="{FF2B5EF4-FFF2-40B4-BE49-F238E27FC236}">
                  <a16:creationId xmlns:a16="http://schemas.microsoft.com/office/drawing/2014/main" id="{BD78881B-56A0-7197-5398-00461C73DB87}"/>
                </a:ext>
              </a:extLst>
            </p:cNvPr>
            <p:cNvSpPr>
              <a:spLocks noChangeShapeType="1"/>
            </p:cNvSpPr>
            <p:nvPr/>
          </p:nvSpPr>
          <p:spPr bwMode="auto">
            <a:xfrm>
              <a:off x="1407" y="3179"/>
              <a:ext cx="99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grpSp>
    </p:spTree>
    <p:extLst>
      <p:ext uri="{BB962C8B-B14F-4D97-AF65-F5344CB8AC3E}">
        <p14:creationId xmlns:p14="http://schemas.microsoft.com/office/powerpoint/2010/main" val="300895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033001EA-C40B-7CCB-3A60-F53F54220CD5}"/>
              </a:ext>
            </a:extLst>
          </p:cNvPr>
          <p:cNvSpPr>
            <a:spLocks noGrp="1"/>
          </p:cNvSpPr>
          <p:nvPr>
            <p:ph type="sldNum" sz="quarter" idx="10"/>
          </p:nvPr>
        </p:nvSpPr>
        <p:spPr/>
        <p:txBody>
          <a:bodyPr/>
          <a:lstStyle/>
          <a:p>
            <a:fld id="{1D944B97-B97A-4631-9601-164B63D90FA8}" type="slidenum">
              <a:rPr lang="en-US" altLang="ja-JP"/>
              <a:pPr/>
              <a:t>3</a:t>
            </a:fld>
            <a:endParaRPr lang="en-US" altLang="ja-JP"/>
          </a:p>
        </p:txBody>
      </p:sp>
      <p:sp>
        <p:nvSpPr>
          <p:cNvPr id="368642" name="Rectangle 2">
            <a:extLst>
              <a:ext uri="{FF2B5EF4-FFF2-40B4-BE49-F238E27FC236}">
                <a16:creationId xmlns:a16="http://schemas.microsoft.com/office/drawing/2014/main" id="{BC7C632D-5D84-A391-0956-4F9EE2B58F68}"/>
              </a:ext>
            </a:extLst>
          </p:cNvPr>
          <p:cNvSpPr>
            <a:spLocks noGrp="1" noChangeArrowheads="1"/>
          </p:cNvSpPr>
          <p:nvPr>
            <p:ph type="title"/>
          </p:nvPr>
        </p:nvSpPr>
        <p:spPr>
          <a:xfrm>
            <a:off x="344488" y="367507"/>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Định</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nghĩa</a:t>
            </a:r>
            <a:r>
              <a:rPr lang="en-US" altLang="ja-JP" dirty="0">
                <a:latin typeface="Arial" panose="020B0604020202020204" pitchFamily="34" charset="0"/>
                <a:ea typeface="MS UI Gothic" panose="020B0600070205080204" pitchFamily="50" charset="-128"/>
              </a:rPr>
              <a:t> class</a:t>
            </a:r>
          </a:p>
        </p:txBody>
      </p:sp>
      <p:sp>
        <p:nvSpPr>
          <p:cNvPr id="368643" name="Rectangle 3">
            <a:extLst>
              <a:ext uri="{FF2B5EF4-FFF2-40B4-BE49-F238E27FC236}">
                <a16:creationId xmlns:a16="http://schemas.microsoft.com/office/drawing/2014/main" id="{B264BF80-2FC8-F619-8F51-9DAE3BEC11CF}"/>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368644" name="Rectangle 4">
            <a:extLst>
              <a:ext uri="{FF2B5EF4-FFF2-40B4-BE49-F238E27FC236}">
                <a16:creationId xmlns:a16="http://schemas.microsoft.com/office/drawing/2014/main" id="{020A8658-4599-C533-D857-FD6D2A75DA6D}"/>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Định nghĩa class</a:t>
            </a: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368660" name="Text Box 20">
            <a:extLst>
              <a:ext uri="{FF2B5EF4-FFF2-40B4-BE49-F238E27FC236}">
                <a16:creationId xmlns:a16="http://schemas.microsoft.com/office/drawing/2014/main" id="{5A1F6FBD-C0EC-7B7D-1348-46BAEB84A2ED}"/>
              </a:ext>
            </a:extLst>
          </p:cNvPr>
          <p:cNvSpPr txBox="1">
            <a:spLocks noChangeArrowheads="1"/>
          </p:cNvSpPr>
          <p:nvPr/>
        </p:nvSpPr>
        <p:spPr bwMode="auto">
          <a:xfrm>
            <a:off x="344488" y="1751013"/>
            <a:ext cx="9120187" cy="15303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dirty="0">
                <a:latin typeface="+mj-lt"/>
                <a:ea typeface="MS UI Gothic" panose="020B0600070205080204" pitchFamily="50" charset="-128"/>
              </a:rPr>
              <a:t>modifier  </a:t>
            </a:r>
            <a:r>
              <a:rPr lang="en-US" altLang="ja-JP" sz="2000" dirty="0">
                <a:latin typeface="+mj-lt"/>
                <a:ea typeface="ＭＳ ゴシック" panose="020B0609070205080204" pitchFamily="49" charset="-128"/>
              </a:rPr>
              <a:t>class</a:t>
            </a:r>
            <a:r>
              <a:rPr lang="en-US" altLang="ja-JP" sz="2000" dirty="0">
                <a:latin typeface="+mj-lt"/>
                <a:ea typeface="MS UI Gothic" panose="020B0600070205080204" pitchFamily="50" charset="-128"/>
              </a:rPr>
              <a:t>  </a:t>
            </a:r>
            <a:r>
              <a:rPr lang="en-US" altLang="ja-JP" sz="2000" dirty="0" err="1">
                <a:latin typeface="+mj-lt"/>
                <a:ea typeface="MS UI Gothic" panose="020B0600070205080204" pitchFamily="50" charset="-128"/>
              </a:rPr>
              <a:t>class</a:t>
            </a:r>
            <a:r>
              <a:rPr lang="en-US" altLang="ja-JP" sz="2000" dirty="0">
                <a:latin typeface="+mj-lt"/>
                <a:ea typeface="MS UI Gothic" panose="020B0600070205080204" pitchFamily="50" charset="-128"/>
              </a:rPr>
              <a:t> name</a:t>
            </a:r>
            <a:r>
              <a:rPr lang="en-US" altLang="ja-JP" sz="2000" dirty="0">
                <a:latin typeface="+mj-lt"/>
                <a:ea typeface="ＭＳ ゴシック" panose="020B0609070205080204" pitchFamily="49" charset="-128"/>
              </a:rPr>
              <a:t> {</a:t>
            </a:r>
          </a:p>
          <a:p>
            <a:pPr lvl="1" algn="just">
              <a:lnSpc>
                <a:spcPct val="112000"/>
              </a:lnSpc>
            </a:pPr>
            <a:r>
              <a:rPr lang="ja-JP" altLang="en-US" sz="2000" b="0" dirty="0">
                <a:latin typeface="+mj-lt"/>
                <a:ea typeface="MS UI Gothic" panose="020B0600070205080204" pitchFamily="50" charset="-128"/>
              </a:rPr>
              <a:t>　　　　</a:t>
            </a:r>
            <a:r>
              <a:rPr lang="en-US" altLang="ja-JP" sz="2000" b="0" dirty="0">
                <a:latin typeface="+mj-lt"/>
                <a:ea typeface="ＭＳ ゴシック" panose="020B0609070205080204" pitchFamily="49" charset="-128"/>
              </a:rPr>
              <a:t>// </a:t>
            </a:r>
            <a:r>
              <a:rPr lang="en-US" altLang="ja-JP" sz="2000" b="0" dirty="0" err="1">
                <a:latin typeface="+mj-lt"/>
                <a:ea typeface="ＭＳ ゴシック" panose="020B0609070205080204" pitchFamily="49" charset="-128"/>
              </a:rPr>
              <a:t>Định</a:t>
            </a:r>
            <a:r>
              <a:rPr lang="en-US" altLang="ja-JP" sz="2000" b="0" dirty="0">
                <a:latin typeface="+mj-lt"/>
                <a:ea typeface="ＭＳ ゴシック" panose="020B0609070205080204" pitchFamily="49" charset="-128"/>
              </a:rPr>
              <a:t> </a:t>
            </a:r>
            <a:r>
              <a:rPr lang="en-US" altLang="ja-JP" sz="2000" b="0" dirty="0" err="1">
                <a:latin typeface="+mj-lt"/>
                <a:ea typeface="ＭＳ ゴシック" panose="020B0609070205080204" pitchFamily="49" charset="-128"/>
              </a:rPr>
              <a:t>nghĩa</a:t>
            </a:r>
            <a:r>
              <a:rPr lang="en-US" altLang="ja-JP" sz="2000" b="0" dirty="0">
                <a:latin typeface="+mj-lt"/>
                <a:ea typeface="ＭＳ ゴシック" panose="020B0609070205080204" pitchFamily="49" charset="-128"/>
              </a:rPr>
              <a:t> </a:t>
            </a:r>
            <a:r>
              <a:rPr lang="en-US" altLang="ja-JP" sz="2000" b="0" dirty="0" err="1">
                <a:latin typeface="+mj-lt"/>
                <a:ea typeface="ＭＳ ゴシック" panose="020B0609070205080204" pitchFamily="49" charset="-128"/>
              </a:rPr>
              <a:t>thuộc</a:t>
            </a:r>
            <a:r>
              <a:rPr lang="en-US" altLang="ja-JP" sz="2000" b="0" dirty="0">
                <a:latin typeface="+mj-lt"/>
                <a:ea typeface="ＭＳ ゴシック" panose="020B0609070205080204" pitchFamily="49" charset="-128"/>
              </a:rPr>
              <a:t> </a:t>
            </a:r>
            <a:r>
              <a:rPr lang="en-US" altLang="ja-JP" sz="2000" b="0" dirty="0" err="1">
                <a:latin typeface="+mj-lt"/>
                <a:ea typeface="ＭＳ ゴシック" panose="020B0609070205080204" pitchFamily="49" charset="-128"/>
              </a:rPr>
              <a:t>tính</a:t>
            </a:r>
            <a:r>
              <a:rPr lang="ja-JP" altLang="en-US" sz="2000" b="0" dirty="0">
                <a:latin typeface="+mj-lt"/>
                <a:ea typeface="MS UI Gothic" panose="020B0600070205080204" pitchFamily="50" charset="-128"/>
              </a:rPr>
              <a:t>（</a:t>
            </a:r>
            <a:r>
              <a:rPr lang="en-US" altLang="ja-JP" sz="2000" b="0" dirty="0">
                <a:latin typeface="+mj-lt"/>
                <a:ea typeface="MS UI Gothic" panose="020B0600070205080204" pitchFamily="50" charset="-128"/>
              </a:rPr>
              <a:t>field</a:t>
            </a:r>
            <a:r>
              <a:rPr lang="ja-JP" altLang="en-US" sz="2000" b="0" dirty="0">
                <a:latin typeface="+mj-lt"/>
                <a:ea typeface="MS UI Gothic" panose="020B0600070205080204" pitchFamily="50" charset="-128"/>
              </a:rPr>
              <a:t>）</a:t>
            </a:r>
          </a:p>
          <a:p>
            <a:pPr lvl="1" algn="just">
              <a:lnSpc>
                <a:spcPct val="112000"/>
              </a:lnSpc>
            </a:pPr>
            <a:r>
              <a:rPr lang="ja-JP" altLang="en-US" sz="2000" b="0" dirty="0">
                <a:latin typeface="+mj-lt"/>
                <a:ea typeface="MS UI Gothic" panose="020B0600070205080204" pitchFamily="50" charset="-128"/>
              </a:rPr>
              <a:t>　　　　</a:t>
            </a:r>
            <a:r>
              <a:rPr lang="en-US" altLang="ja-JP" sz="2000" b="0" dirty="0">
                <a:latin typeface="+mj-lt"/>
                <a:ea typeface="ＭＳ ゴシック" panose="020B0609070205080204" pitchFamily="49" charset="-128"/>
              </a:rPr>
              <a:t>// </a:t>
            </a:r>
            <a:r>
              <a:rPr lang="en-US" altLang="ja-JP" sz="2000" b="0" dirty="0" err="1">
                <a:latin typeface="+mj-lt"/>
                <a:ea typeface="ＭＳ ゴシック" panose="020B0609070205080204" pitchFamily="49" charset="-128"/>
              </a:rPr>
              <a:t>Định</a:t>
            </a:r>
            <a:r>
              <a:rPr lang="en-US" altLang="ja-JP" sz="2000" b="0" dirty="0">
                <a:latin typeface="+mj-lt"/>
                <a:ea typeface="ＭＳ ゴシック" panose="020B0609070205080204" pitchFamily="49" charset="-128"/>
              </a:rPr>
              <a:t> </a:t>
            </a:r>
            <a:r>
              <a:rPr lang="en-US" altLang="ja-JP" sz="2000" b="0" dirty="0" err="1">
                <a:latin typeface="+mj-lt"/>
                <a:ea typeface="ＭＳ ゴシック" panose="020B0609070205080204" pitchFamily="49" charset="-128"/>
              </a:rPr>
              <a:t>nghĩa</a:t>
            </a:r>
            <a:r>
              <a:rPr lang="en-US" altLang="ja-JP" sz="2000" b="0" dirty="0">
                <a:latin typeface="+mj-lt"/>
                <a:ea typeface="ＭＳ ゴシック" panose="020B0609070205080204" pitchFamily="49" charset="-128"/>
              </a:rPr>
              <a:t> </a:t>
            </a:r>
            <a:r>
              <a:rPr lang="en-US" altLang="ja-JP" sz="2000" b="0" dirty="0" err="1">
                <a:latin typeface="+mj-lt"/>
                <a:ea typeface="ＭＳ ゴシック" panose="020B0609070205080204" pitchFamily="49" charset="-128"/>
              </a:rPr>
              <a:t>thao</a:t>
            </a:r>
            <a:r>
              <a:rPr lang="en-US" altLang="ja-JP" sz="2000" b="0" dirty="0">
                <a:latin typeface="+mj-lt"/>
                <a:ea typeface="ＭＳ ゴシック" panose="020B0609070205080204" pitchFamily="49" charset="-128"/>
              </a:rPr>
              <a:t> </a:t>
            </a:r>
            <a:r>
              <a:rPr lang="en-US" altLang="ja-JP" sz="2000" b="0" dirty="0" err="1">
                <a:latin typeface="+mj-lt"/>
                <a:ea typeface="ＭＳ ゴシック" panose="020B0609070205080204" pitchFamily="49" charset="-128"/>
              </a:rPr>
              <a:t>tác</a:t>
            </a:r>
            <a:r>
              <a:rPr lang="ja-JP" altLang="en-US" sz="2000" b="0" dirty="0">
                <a:latin typeface="+mj-lt"/>
                <a:ea typeface="MS UI Gothic" panose="020B0600070205080204" pitchFamily="50" charset="-128"/>
              </a:rPr>
              <a:t>（</a:t>
            </a:r>
            <a:r>
              <a:rPr lang="en-US" altLang="ja-JP" sz="2000" b="0" dirty="0">
                <a:latin typeface="+mj-lt"/>
                <a:ea typeface="MS UI Gothic" panose="020B0600070205080204" pitchFamily="50" charset="-128"/>
              </a:rPr>
              <a:t>method</a:t>
            </a:r>
            <a:r>
              <a:rPr lang="ja-JP" altLang="en-US" sz="2000" b="0" dirty="0">
                <a:latin typeface="+mj-lt"/>
                <a:ea typeface="MS UI Gothic" panose="020B0600070205080204" pitchFamily="50" charset="-128"/>
              </a:rPr>
              <a:t>）</a:t>
            </a:r>
          </a:p>
          <a:p>
            <a:pPr lvl="1" algn="just">
              <a:lnSpc>
                <a:spcPct val="112000"/>
              </a:lnSpc>
            </a:pPr>
            <a:r>
              <a:rPr lang="en-US" altLang="ja-JP" sz="2000" dirty="0">
                <a:latin typeface="+mj-lt"/>
                <a:ea typeface="ＭＳ ゴシック" panose="020B0609070205080204" pitchFamily="49" charset="-128"/>
              </a:rPr>
              <a:t>}</a:t>
            </a:r>
          </a:p>
        </p:txBody>
      </p:sp>
      <p:sp>
        <p:nvSpPr>
          <p:cNvPr id="368663" name="Rectangle 23">
            <a:extLst>
              <a:ext uri="{FF2B5EF4-FFF2-40B4-BE49-F238E27FC236}">
                <a16:creationId xmlns:a16="http://schemas.microsoft.com/office/drawing/2014/main" id="{EAE7A8DF-0264-F6CB-C5A3-324892A6DD0B}"/>
              </a:ext>
            </a:extLst>
          </p:cNvPr>
          <p:cNvSpPr>
            <a:spLocks noChangeArrowheads="1"/>
          </p:cNvSpPr>
          <p:nvPr/>
        </p:nvSpPr>
        <p:spPr bwMode="auto">
          <a:xfrm>
            <a:off x="344488" y="37560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368664" name="Rectangle 24">
            <a:extLst>
              <a:ext uri="{FF2B5EF4-FFF2-40B4-BE49-F238E27FC236}">
                <a16:creationId xmlns:a16="http://schemas.microsoft.com/office/drawing/2014/main" id="{877D1EDD-4EE7-11AD-9EF5-C92E500AB1DB}"/>
              </a:ext>
            </a:extLst>
          </p:cNvPr>
          <p:cNvSpPr>
            <a:spLocks noChangeArrowheads="1"/>
          </p:cNvSpPr>
          <p:nvPr/>
        </p:nvSpPr>
        <p:spPr bwMode="auto">
          <a:xfrm>
            <a:off x="344488" y="4165600"/>
            <a:ext cx="9120187" cy="10779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dirty="0">
                <a:latin typeface="+mj-lt"/>
                <a:ea typeface="ＭＳ ゴシック" panose="020B0609070205080204" pitchFamily="49" charset="-128"/>
              </a:rPr>
              <a:t>public class</a:t>
            </a:r>
            <a:r>
              <a:rPr lang="en-US" altLang="en-US" sz="1800" b="0" dirty="0">
                <a:latin typeface="+mj-lt"/>
                <a:ea typeface="ＭＳ ゴシック" panose="020B0609070205080204" pitchFamily="49" charset="-128"/>
              </a:rPr>
              <a:t> </a:t>
            </a:r>
            <a:r>
              <a:rPr lang="en-US" altLang="ja-JP" sz="1800" b="0" dirty="0">
                <a:latin typeface="+mj-lt"/>
                <a:ea typeface="ＭＳ ゴシック" panose="020B0609070205080204" pitchFamily="49" charset="-128"/>
              </a:rPr>
              <a:t>Person</a:t>
            </a:r>
            <a:r>
              <a:rPr lang="en-US" altLang="en-US" sz="1800" b="0" dirty="0">
                <a:latin typeface="+mj-lt"/>
                <a:ea typeface="ＭＳ ゴシック" panose="020B0609070205080204" pitchFamily="49" charset="-128"/>
              </a:rPr>
              <a:t> {</a:t>
            </a:r>
          </a:p>
          <a:p>
            <a:pPr lvl="1"/>
            <a:r>
              <a:rPr lang="en-US" altLang="ja-JP" sz="1800" b="0" dirty="0">
                <a:latin typeface="+mj-lt"/>
                <a:ea typeface="ＭＳ ゴシック" panose="020B0609070205080204" pitchFamily="49" charset="-128"/>
              </a:rPr>
              <a:t>    </a:t>
            </a:r>
            <a:r>
              <a:rPr lang="en-US" altLang="en-US"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Định</a:t>
            </a:r>
            <a:r>
              <a:rPr lang="en-US" altLang="ja-JP" sz="1800" b="0" dirty="0">
                <a:latin typeface="+mj-lt"/>
                <a:ea typeface="ＭＳ ゴシック" panose="020B0609070205080204" pitchFamily="49" charset="-128"/>
              </a:rPr>
              <a:t> </a:t>
            </a:r>
            <a:r>
              <a:rPr lang="en-US" altLang="ja-JP" sz="1800" b="0" dirty="0" err="1">
                <a:latin typeface="+mj-lt"/>
                <a:ea typeface="ＭＳ ゴシック" panose="020B0609070205080204" pitchFamily="49" charset="-128"/>
              </a:rPr>
              <a:t>nghĩa</a:t>
            </a:r>
            <a:r>
              <a:rPr lang="en-US" altLang="ja-JP" sz="1800" b="0" dirty="0">
                <a:latin typeface="+mj-lt"/>
                <a:ea typeface="ＭＳ ゴシック" panose="020B0609070205080204" pitchFamily="49" charset="-128"/>
              </a:rPr>
              <a:t> field </a:t>
            </a:r>
            <a:r>
              <a:rPr lang="en-US" altLang="ja-JP" sz="1800" b="0" dirty="0" err="1">
                <a:latin typeface="+mj-lt"/>
                <a:ea typeface="ＭＳ ゴシック" panose="020B0609070205080204" pitchFamily="49" charset="-128"/>
              </a:rPr>
              <a:t>va</a:t>
            </a:r>
            <a:r>
              <a:rPr lang="en-US" altLang="ja-JP" sz="1800" b="0" dirty="0">
                <a:latin typeface="+mj-lt"/>
                <a:ea typeface="ＭＳ ゴシック" panose="020B0609070205080204" pitchFamily="49" charset="-128"/>
              </a:rPr>
              <a:t>̀ method</a:t>
            </a:r>
            <a:endParaRPr lang="en-US" altLang="en-US" sz="1800" b="0" dirty="0">
              <a:latin typeface="+mj-lt"/>
              <a:ea typeface="ＭＳ ゴシック" panose="020B0609070205080204" pitchFamily="49" charset="-128"/>
            </a:endParaRPr>
          </a:p>
          <a:p>
            <a:pPr lvl="1"/>
            <a:r>
              <a:rPr lang="en-US" altLang="en-US" sz="1800" b="0" dirty="0">
                <a:latin typeface="+mj-lt"/>
                <a:ea typeface="ＭＳ ゴシック" panose="020B0609070205080204" pitchFamily="49" charset="-128"/>
              </a:rPr>
              <a:t>}</a:t>
            </a:r>
            <a:endParaRPr lang="en-US" altLang="ja-JP" sz="1800" b="0" dirty="0">
              <a:latin typeface="+mj-lt"/>
              <a:ea typeface="ＭＳ ゴシック" panose="020B0609070205080204" pitchFamily="49" charset="-128"/>
            </a:endParaRPr>
          </a:p>
        </p:txBody>
      </p:sp>
      <p:sp>
        <p:nvSpPr>
          <p:cNvPr id="368666" name="AutoShape 26">
            <a:extLst>
              <a:ext uri="{FF2B5EF4-FFF2-40B4-BE49-F238E27FC236}">
                <a16:creationId xmlns:a16="http://schemas.microsoft.com/office/drawing/2014/main" id="{6A543BDE-EAAD-2C40-F89D-B5FA7D37650D}"/>
              </a:ext>
            </a:extLst>
          </p:cNvPr>
          <p:cNvSpPr>
            <a:spLocks noChangeArrowheads="1"/>
          </p:cNvSpPr>
          <p:nvPr/>
        </p:nvSpPr>
        <p:spPr bwMode="auto">
          <a:xfrm>
            <a:off x="1493838" y="3348038"/>
            <a:ext cx="4391025" cy="606425"/>
          </a:xfrm>
          <a:prstGeom prst="wedgeRoundRectCallout">
            <a:avLst>
              <a:gd name="adj1" fmla="val -48444"/>
              <a:gd name="adj2" fmla="val 94764"/>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Class name </a:t>
            </a:r>
            <a:r>
              <a:rPr lang="en-US" altLang="ja-JP" sz="1800" dirty="0" err="1">
                <a:latin typeface="+mj-lt"/>
              </a:rPr>
              <a:t>thông</a:t>
            </a:r>
            <a:r>
              <a:rPr lang="en-US" altLang="ja-JP" sz="1800" dirty="0">
                <a:latin typeface="+mj-lt"/>
              </a:rPr>
              <a:t> </a:t>
            </a:r>
            <a:r>
              <a:rPr lang="en-US" altLang="ja-JP" sz="1800" dirty="0" err="1">
                <a:latin typeface="+mj-lt"/>
              </a:rPr>
              <a:t>thường</a:t>
            </a:r>
            <a:r>
              <a:rPr lang="en-US" altLang="ja-JP" sz="1800" dirty="0">
                <a:latin typeface="+mj-lt"/>
              </a:rPr>
              <a:t> sẽ </a:t>
            </a:r>
            <a:r>
              <a:rPr lang="en-US" altLang="ja-JP" sz="1800" dirty="0" err="1">
                <a:latin typeface="+mj-lt"/>
              </a:rPr>
              <a:t>sư</a:t>
            </a:r>
            <a:r>
              <a:rPr lang="en-US" altLang="ja-JP" sz="1800" dirty="0">
                <a:latin typeface="+mj-lt"/>
              </a:rPr>
              <a:t>̉ </a:t>
            </a:r>
            <a:r>
              <a:rPr lang="en-US" altLang="ja-JP" sz="1800" dirty="0" err="1">
                <a:latin typeface="+mj-lt"/>
              </a:rPr>
              <a:t>dụng</a:t>
            </a:r>
            <a:r>
              <a:rPr lang="en-US" altLang="ja-JP" sz="1800" dirty="0">
                <a:latin typeface="+mj-lt"/>
              </a:rPr>
              <a:t> </a:t>
            </a:r>
            <a:r>
              <a:rPr lang="en-US" altLang="ja-JP" sz="1800" dirty="0" err="1">
                <a:latin typeface="+mj-lt"/>
              </a:rPr>
              <a:t>chư</a:t>
            </a:r>
            <a:r>
              <a:rPr lang="en-US" altLang="ja-JP" sz="1800" dirty="0">
                <a:latin typeface="+mj-lt"/>
              </a:rPr>
              <a:t>̃ </a:t>
            </a:r>
            <a:r>
              <a:rPr lang="en-US" altLang="ja-JP" sz="1800" dirty="0" err="1">
                <a:latin typeface="+mj-lt"/>
              </a:rPr>
              <a:t>tiếng</a:t>
            </a:r>
            <a:r>
              <a:rPr lang="en-US" altLang="ja-JP" sz="1800" dirty="0">
                <a:latin typeface="+mj-lt"/>
              </a:rPr>
              <a:t> Anh in </a:t>
            </a:r>
            <a:r>
              <a:rPr lang="en-US" altLang="ja-JP" sz="1800" dirty="0" err="1">
                <a:latin typeface="+mj-lt"/>
              </a:rPr>
              <a:t>hoa</a:t>
            </a:r>
            <a:r>
              <a:rPr lang="en-US" altLang="ja-JP" sz="1800" dirty="0">
                <a:latin typeface="+mj-lt"/>
              </a:rPr>
              <a:t> ở </a:t>
            </a:r>
            <a:r>
              <a:rPr lang="en-US" altLang="ja-JP" sz="1800" dirty="0" err="1">
                <a:latin typeface="+mj-lt"/>
              </a:rPr>
              <a:t>đầu</a:t>
            </a:r>
            <a:endParaRPr lang="en-US" altLang="ja-JP" sz="1800" dirty="0">
              <a:latin typeface="+mj-lt"/>
            </a:endParaRPr>
          </a:p>
        </p:txBody>
      </p:sp>
      <p:sp>
        <p:nvSpPr>
          <p:cNvPr id="368667" name="AutoShape 27">
            <a:extLst>
              <a:ext uri="{FF2B5EF4-FFF2-40B4-BE49-F238E27FC236}">
                <a16:creationId xmlns:a16="http://schemas.microsoft.com/office/drawing/2014/main" id="{375EE0A9-92C2-86F1-A271-BDB6BEE37E0C}"/>
              </a:ext>
            </a:extLst>
          </p:cNvPr>
          <p:cNvSpPr>
            <a:spLocks/>
          </p:cNvSpPr>
          <p:nvPr/>
        </p:nvSpPr>
        <p:spPr bwMode="auto">
          <a:xfrm>
            <a:off x="4640263" y="2147888"/>
            <a:ext cx="88900" cy="685800"/>
          </a:xfrm>
          <a:prstGeom prst="rightBrace">
            <a:avLst>
              <a:gd name="adj1" fmla="val 64286"/>
              <a:gd name="adj2" fmla="val 50000"/>
            </a:avLst>
          </a:prstGeom>
          <a:noFill/>
          <a:ln w="38100">
            <a:solidFill>
              <a:srgbClr val="0033CC"/>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68668" name="Rectangle 28">
            <a:extLst>
              <a:ext uri="{FF2B5EF4-FFF2-40B4-BE49-F238E27FC236}">
                <a16:creationId xmlns:a16="http://schemas.microsoft.com/office/drawing/2014/main" id="{DF9941C9-5C9D-BB2E-69D6-102246F9B790}"/>
              </a:ext>
            </a:extLst>
          </p:cNvPr>
          <p:cNvSpPr>
            <a:spLocks noChangeArrowheads="1"/>
          </p:cNvSpPr>
          <p:nvPr/>
        </p:nvSpPr>
        <p:spPr bwMode="auto">
          <a:xfrm>
            <a:off x="4824413" y="2222500"/>
            <a:ext cx="4852987"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dirty="0" err="1">
                <a:solidFill>
                  <a:srgbClr val="0033CC"/>
                </a:solidFill>
                <a:latin typeface="Arial" panose="020B0604020202020204" pitchFamily="34" charset="0"/>
              </a:rPr>
              <a:t>Gọi</a:t>
            </a:r>
            <a:r>
              <a:rPr lang="en-US" altLang="ja-JP" sz="2000" dirty="0">
                <a:solidFill>
                  <a:srgbClr val="0033CC"/>
                </a:solidFill>
                <a:latin typeface="Arial" panose="020B0604020202020204" pitchFamily="34" charset="0"/>
              </a:rPr>
              <a:t> </a:t>
            </a:r>
            <a:r>
              <a:rPr lang="en-US" altLang="ja-JP" sz="2000" dirty="0" err="1">
                <a:solidFill>
                  <a:srgbClr val="0033CC"/>
                </a:solidFill>
                <a:latin typeface="Arial" panose="020B0604020202020204" pitchFamily="34" charset="0"/>
              </a:rPr>
              <a:t>chung</a:t>
            </a:r>
            <a:r>
              <a:rPr lang="en-US" altLang="ja-JP" sz="2000" dirty="0">
                <a:solidFill>
                  <a:srgbClr val="0033CC"/>
                </a:solidFill>
                <a:latin typeface="Arial" panose="020B0604020202020204" pitchFamily="34" charset="0"/>
              </a:rPr>
              <a:t> </a:t>
            </a:r>
            <a:r>
              <a:rPr lang="en-US" altLang="ja-JP" sz="2000" dirty="0" err="1">
                <a:solidFill>
                  <a:srgbClr val="0033CC"/>
                </a:solidFill>
                <a:latin typeface="Arial" panose="020B0604020202020204" pitchFamily="34" charset="0"/>
              </a:rPr>
              <a:t>gọi</a:t>
            </a:r>
            <a:r>
              <a:rPr lang="en-US" altLang="ja-JP" sz="2000" dirty="0">
                <a:solidFill>
                  <a:srgbClr val="0033CC"/>
                </a:solidFill>
                <a:latin typeface="Arial" panose="020B0604020202020204" pitchFamily="34" charset="0"/>
              </a:rPr>
              <a:t> là </a:t>
            </a:r>
            <a:r>
              <a:rPr lang="ja-JP" altLang="en-US" sz="2000" dirty="0">
                <a:solidFill>
                  <a:srgbClr val="0033CC"/>
                </a:solidFill>
                <a:latin typeface="Arial" panose="020B0604020202020204" pitchFamily="34" charset="0"/>
              </a:rPr>
              <a:t>「</a:t>
            </a:r>
            <a:r>
              <a:rPr lang="en-US" altLang="ja-JP" sz="2000" dirty="0">
                <a:solidFill>
                  <a:srgbClr val="0033CC"/>
                </a:solidFill>
                <a:latin typeface="Arial" panose="020B0604020202020204" pitchFamily="34" charset="0"/>
              </a:rPr>
              <a:t>member</a:t>
            </a:r>
            <a:r>
              <a:rPr lang="ja-JP" altLang="en-US" sz="2000" dirty="0">
                <a:solidFill>
                  <a:srgbClr val="0033CC"/>
                </a:solidFill>
                <a:latin typeface="Arial" panose="020B0604020202020204" pitchFamily="34" charset="0"/>
              </a:rPr>
              <a:t>」 </a:t>
            </a:r>
            <a:r>
              <a:rPr lang="en-US" altLang="ja-JP" sz="2000" dirty="0" err="1">
                <a:solidFill>
                  <a:srgbClr val="0033CC"/>
                </a:solidFill>
                <a:latin typeface="Arial" panose="020B0604020202020204" pitchFamily="34" charset="0"/>
              </a:rPr>
              <a:t>của</a:t>
            </a:r>
            <a:r>
              <a:rPr lang="en-US" altLang="ja-JP" sz="2000" dirty="0">
                <a:solidFill>
                  <a:srgbClr val="0033CC"/>
                </a:solidFill>
                <a:latin typeface="Arial" panose="020B0604020202020204" pitchFamily="34" charset="0"/>
              </a:rPr>
              <a:t> class</a:t>
            </a:r>
            <a:endParaRPr lang="en-US" altLang="ja-JP" sz="2400" dirty="0">
              <a:solidFill>
                <a:srgbClr val="0033CC"/>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5FF2FDB-C05C-D4F1-075C-5B00522A16CD}"/>
              </a:ext>
            </a:extLst>
          </p:cNvPr>
          <p:cNvSpPr>
            <a:spLocks noGrp="1"/>
          </p:cNvSpPr>
          <p:nvPr>
            <p:ph type="title"/>
          </p:nvPr>
        </p:nvSpPr>
        <p:spPr/>
        <p:txBody>
          <a:bodyPr>
            <a:normAutofit fontScale="90000"/>
          </a:bodyPr>
          <a:lstStyle/>
          <a:p>
            <a:r>
              <a:rPr lang="en-US" altLang="ja-JP" dirty="0" err="1">
                <a:latin typeface="Arial" panose="020B0604020202020204" pitchFamily="34" charset="0"/>
              </a:rPr>
              <a:t>Định</a:t>
            </a:r>
            <a:r>
              <a:rPr lang="en-US" altLang="ja-JP" dirty="0">
                <a:latin typeface="Arial" panose="020B0604020202020204" pitchFamily="34" charset="0"/>
              </a:rPr>
              <a:t> </a:t>
            </a:r>
            <a:r>
              <a:rPr lang="en-US" altLang="ja-JP" dirty="0" err="1">
                <a:latin typeface="Arial" panose="020B0604020202020204" pitchFamily="34" charset="0"/>
              </a:rPr>
              <a:t>nghĩa</a:t>
            </a:r>
            <a:r>
              <a:rPr lang="en-US" altLang="ja-JP" dirty="0">
                <a:latin typeface="Arial" panose="020B0604020202020204" pitchFamily="34" charset="0"/>
              </a:rPr>
              <a:t> class</a:t>
            </a:r>
            <a:endParaRPr lang="ja-JP" altLang="en-US" dirty="0"/>
          </a:p>
        </p:txBody>
      </p:sp>
      <p:sp>
        <p:nvSpPr>
          <p:cNvPr id="7" name="Content Placeholder 6">
            <a:extLst>
              <a:ext uri="{FF2B5EF4-FFF2-40B4-BE49-F238E27FC236}">
                <a16:creationId xmlns:a16="http://schemas.microsoft.com/office/drawing/2014/main" id="{A07D7264-9556-A7E8-17CF-25434CE4BCD2}"/>
              </a:ext>
            </a:extLst>
          </p:cNvPr>
          <p:cNvSpPr>
            <a:spLocks noGrp="1"/>
          </p:cNvSpPr>
          <p:nvPr>
            <p:ph idx="1"/>
          </p:nvPr>
        </p:nvSpPr>
        <p:spPr>
          <a:xfrm>
            <a:off x="304800" y="1124744"/>
            <a:ext cx="9144000" cy="2828987"/>
          </a:xfrm>
        </p:spPr>
        <p:txBody>
          <a:bodyPr>
            <a:normAutofit/>
          </a:bodyPr>
          <a:lstStyle/>
          <a:p>
            <a:pPr marL="0" indent="0"/>
            <a:r>
              <a:rPr lang="en-US" altLang="ja-JP" sz="2800" dirty="0">
                <a:latin typeface="Arial" panose="020B0604020202020204" pitchFamily="34" charset="0"/>
              </a:rPr>
              <a:t>Ở Java, sẽ </a:t>
            </a:r>
            <a:r>
              <a:rPr lang="en-US" altLang="ja-JP" sz="2800" dirty="0" err="1">
                <a:latin typeface="Arial" panose="020B0604020202020204" pitchFamily="34" charset="0"/>
              </a:rPr>
              <a:t>miêu</a:t>
            </a:r>
            <a:r>
              <a:rPr lang="en-US" altLang="ja-JP" sz="2800" dirty="0">
                <a:latin typeface="Arial" panose="020B0604020202020204" pitchFamily="34" charset="0"/>
              </a:rPr>
              <a:t> tả program </a:t>
            </a:r>
            <a:r>
              <a:rPr lang="en-US" altLang="ja-JP" sz="2800" dirty="0" err="1">
                <a:latin typeface="Arial" panose="020B0604020202020204" pitchFamily="34" charset="0"/>
              </a:rPr>
              <a:t>theo</a:t>
            </a:r>
            <a:r>
              <a:rPr lang="en-US" altLang="ja-JP" sz="2800" dirty="0">
                <a:latin typeface="Arial" panose="020B0604020202020204" pitchFamily="34" charset="0"/>
              </a:rPr>
              <a:t> </a:t>
            </a:r>
            <a:r>
              <a:rPr lang="en-US" altLang="ja-JP" sz="2800" dirty="0" err="1">
                <a:latin typeface="Arial" panose="020B0604020202020204" pitchFamily="34" charset="0"/>
              </a:rPr>
              <a:t>đơn</a:t>
            </a:r>
            <a:r>
              <a:rPr lang="en-US" altLang="ja-JP" sz="2800" dirty="0">
                <a:latin typeface="Arial" panose="020B0604020202020204" pitchFamily="34" charset="0"/>
              </a:rPr>
              <a:t> vị class.</a:t>
            </a:r>
          </a:p>
          <a:p>
            <a:pPr marL="400050" lvl="1" indent="0"/>
            <a:r>
              <a:rPr lang="ja-JP" altLang="en-US" sz="2000" dirty="0">
                <a:latin typeface="Arial" panose="020B0604020202020204" pitchFamily="34" charset="0"/>
              </a:rPr>
              <a:t>　</a:t>
            </a:r>
            <a:r>
              <a:rPr lang="en-US" altLang="ja-JP" sz="2000" dirty="0">
                <a:latin typeface="Arial" panose="020B0604020202020204" pitchFamily="34" charset="0"/>
              </a:rPr>
              <a:t>Trong class, sẽ </a:t>
            </a:r>
            <a:r>
              <a:rPr lang="en-US" altLang="ja-JP" sz="2000" dirty="0" err="1">
                <a:latin typeface="Arial" panose="020B0604020202020204" pitchFamily="34" charset="0"/>
              </a:rPr>
              <a:t>định</a:t>
            </a:r>
            <a:r>
              <a:rPr lang="en-US" altLang="ja-JP" sz="2000" dirty="0">
                <a:latin typeface="Arial" panose="020B0604020202020204" pitchFamily="34" charset="0"/>
              </a:rPr>
              <a:t> </a:t>
            </a:r>
            <a:r>
              <a:rPr lang="en-US" altLang="ja-JP" sz="2000" dirty="0" err="1">
                <a:latin typeface="Arial" panose="020B0604020202020204" pitchFamily="34" charset="0"/>
              </a:rPr>
              <a:t>nghĩa</a:t>
            </a:r>
            <a:r>
              <a:rPr lang="en-US" altLang="ja-JP" sz="2000" dirty="0">
                <a:latin typeface="Arial" panose="020B0604020202020204" pitchFamily="34" charset="0"/>
              </a:rPr>
              <a:t> </a:t>
            </a:r>
            <a:r>
              <a:rPr lang="en-US" altLang="ja-JP" sz="2000" dirty="0" err="1">
                <a:latin typeface="Arial" panose="020B0604020202020204" pitchFamily="34" charset="0"/>
              </a:rPr>
              <a:t>thuộc</a:t>
            </a:r>
            <a:r>
              <a:rPr lang="en-US" altLang="ja-JP" sz="2000" dirty="0">
                <a:latin typeface="Arial" panose="020B0604020202020204" pitchFamily="34" charset="0"/>
              </a:rPr>
              <a:t> </a:t>
            </a:r>
            <a:r>
              <a:rPr lang="en-US" altLang="ja-JP" sz="2000" dirty="0" err="1">
                <a:latin typeface="Arial" panose="020B0604020202020204" pitchFamily="34" charset="0"/>
              </a:rPr>
              <a:t>tính</a:t>
            </a:r>
            <a:r>
              <a:rPr lang="en-US" altLang="ja-JP" sz="2000" dirty="0">
                <a:latin typeface="Arial" panose="020B0604020202020204" pitchFamily="34" charset="0"/>
              </a:rPr>
              <a:t> </a:t>
            </a:r>
            <a:r>
              <a:rPr lang="en-US" altLang="ja-JP" sz="2000" dirty="0" err="1">
                <a:latin typeface="Arial" panose="020B0604020202020204" pitchFamily="34" charset="0"/>
              </a:rPr>
              <a:t>va</a:t>
            </a:r>
            <a:r>
              <a:rPr lang="en-US" altLang="ja-JP" sz="2000" dirty="0">
                <a:latin typeface="Arial" panose="020B0604020202020204" pitchFamily="34" charset="0"/>
              </a:rPr>
              <a:t>̀ </a:t>
            </a:r>
            <a:r>
              <a:rPr lang="en-US" altLang="ja-JP" sz="2000" dirty="0" err="1">
                <a:latin typeface="Arial" panose="020B0604020202020204" pitchFamily="34" charset="0"/>
              </a:rPr>
              <a:t>thao</a:t>
            </a:r>
            <a:r>
              <a:rPr lang="en-US" altLang="ja-JP" sz="2000" dirty="0">
                <a:latin typeface="Arial" panose="020B0604020202020204" pitchFamily="34" charset="0"/>
              </a:rPr>
              <a:t> </a:t>
            </a:r>
            <a:r>
              <a:rPr lang="en-US" altLang="ja-JP" sz="2000" dirty="0" err="1">
                <a:latin typeface="Arial" panose="020B0604020202020204" pitchFamily="34" charset="0"/>
              </a:rPr>
              <a:t>tác</a:t>
            </a:r>
            <a:r>
              <a:rPr lang="en-US" altLang="ja-JP" sz="2000" dirty="0">
                <a:latin typeface="Arial" panose="020B0604020202020204" pitchFamily="34" charset="0"/>
              </a:rPr>
              <a:t>.</a:t>
            </a:r>
          </a:p>
          <a:p>
            <a:pPr marL="400050" lvl="1" indent="0"/>
            <a:r>
              <a:rPr lang="ja-JP" altLang="en-US" sz="2000" dirty="0">
                <a:latin typeface="Arial" panose="020B0604020202020204" pitchFamily="34" charset="0"/>
              </a:rPr>
              <a:t>　</a:t>
            </a:r>
            <a:r>
              <a:rPr lang="en-US" altLang="ja-JP" sz="2000" dirty="0">
                <a:latin typeface="Arial" panose="020B0604020202020204" pitchFamily="34" charset="0"/>
              </a:rPr>
              <a:t>field </a:t>
            </a:r>
            <a:r>
              <a:rPr lang="en-US" altLang="ja-JP" sz="2000" dirty="0" err="1">
                <a:latin typeface="Arial" panose="020B0604020202020204" pitchFamily="34" charset="0"/>
              </a:rPr>
              <a:t>va</a:t>
            </a:r>
            <a:r>
              <a:rPr lang="en-US" altLang="ja-JP" sz="2000" dirty="0">
                <a:latin typeface="Arial" panose="020B0604020202020204" pitchFamily="34" charset="0"/>
              </a:rPr>
              <a:t>̀ method </a:t>
            </a:r>
            <a:r>
              <a:rPr lang="en-US" altLang="ja-JP" sz="2000" dirty="0" err="1">
                <a:latin typeface="Arial" panose="020B0604020202020204" pitchFamily="34" charset="0"/>
              </a:rPr>
              <a:t>định</a:t>
            </a:r>
            <a:r>
              <a:rPr lang="en-US" altLang="ja-JP" sz="2000" dirty="0">
                <a:latin typeface="Arial" panose="020B0604020202020204" pitchFamily="34" charset="0"/>
              </a:rPr>
              <a:t> </a:t>
            </a:r>
            <a:r>
              <a:rPr lang="en-US" altLang="ja-JP" sz="2000" dirty="0" err="1">
                <a:latin typeface="Arial" panose="020B0604020202020204" pitchFamily="34" charset="0"/>
              </a:rPr>
              <a:t>nghĩa</a:t>
            </a:r>
            <a:r>
              <a:rPr lang="en-US" altLang="ja-JP" sz="2000" dirty="0">
                <a:latin typeface="Arial" panose="020B0604020202020204" pitchFamily="34" charset="0"/>
              </a:rPr>
              <a:t> </a:t>
            </a:r>
            <a:r>
              <a:rPr lang="en-US" altLang="ja-JP" sz="2000" dirty="0" err="1">
                <a:latin typeface="Arial" panose="020B0604020202020204" pitchFamily="34" charset="0"/>
              </a:rPr>
              <a:t>trong</a:t>
            </a:r>
            <a:r>
              <a:rPr lang="en-US" altLang="ja-JP" sz="2000" dirty="0">
                <a:latin typeface="Arial" panose="020B0604020202020204" pitchFamily="34" charset="0"/>
              </a:rPr>
              <a:t> class </a:t>
            </a:r>
            <a:r>
              <a:rPr lang="en-US" altLang="ja-JP" sz="2000" dirty="0" err="1">
                <a:latin typeface="Arial" panose="020B0604020202020204" pitchFamily="34" charset="0"/>
              </a:rPr>
              <a:t>được</a:t>
            </a:r>
            <a:r>
              <a:rPr lang="en-US" altLang="ja-JP" sz="2000" dirty="0">
                <a:latin typeface="Arial" panose="020B0604020202020204" pitchFamily="34" charset="0"/>
              </a:rPr>
              <a:t> </a:t>
            </a:r>
            <a:r>
              <a:rPr lang="en-US" altLang="ja-JP" sz="2000" dirty="0" err="1">
                <a:latin typeface="Arial" panose="020B0604020202020204" pitchFamily="34" charset="0"/>
              </a:rPr>
              <a:t>gọi</a:t>
            </a:r>
            <a:r>
              <a:rPr lang="en-US" altLang="ja-JP" sz="2000" dirty="0">
                <a:latin typeface="Arial" panose="020B0604020202020204" pitchFamily="34" charset="0"/>
              </a:rPr>
              <a:t> </a:t>
            </a:r>
            <a:r>
              <a:rPr lang="en-US" altLang="ja-JP" sz="2000" dirty="0" err="1">
                <a:latin typeface="Arial" panose="020B0604020202020204" pitchFamily="34" charset="0"/>
              </a:rPr>
              <a:t>chung</a:t>
            </a:r>
            <a:r>
              <a:rPr lang="en-US" altLang="ja-JP" sz="2000" dirty="0">
                <a:latin typeface="Arial" panose="020B0604020202020204" pitchFamily="34" charset="0"/>
              </a:rPr>
              <a:t> là </a:t>
            </a:r>
            <a:r>
              <a:rPr lang="ja-JP" altLang="en-US" sz="2000" dirty="0">
                <a:latin typeface="Arial" panose="020B0604020202020204" pitchFamily="34" charset="0"/>
              </a:rPr>
              <a:t>「</a:t>
            </a:r>
            <a:r>
              <a:rPr lang="en-US" altLang="ja-JP" sz="2000" dirty="0">
                <a:latin typeface="Arial" panose="020B0604020202020204" pitchFamily="34" charset="0"/>
              </a:rPr>
              <a:t>member</a:t>
            </a:r>
            <a:r>
              <a:rPr lang="ja-JP" altLang="en-US" sz="2000" dirty="0">
                <a:latin typeface="Arial" panose="020B0604020202020204" pitchFamily="34" charset="0"/>
              </a:rPr>
              <a:t>」 </a:t>
            </a:r>
            <a:r>
              <a:rPr lang="en-US" altLang="ja-JP" sz="2000" dirty="0" err="1">
                <a:latin typeface="Arial" panose="020B0604020202020204" pitchFamily="34" charset="0"/>
              </a:rPr>
              <a:t>của</a:t>
            </a:r>
            <a:r>
              <a:rPr lang="en-US" altLang="ja-JP" sz="2000" dirty="0">
                <a:latin typeface="Arial" panose="020B0604020202020204" pitchFamily="34" charset="0"/>
              </a:rPr>
              <a:t> class.</a:t>
            </a:r>
          </a:p>
          <a:p>
            <a:pPr marL="400050" lvl="1" indent="0"/>
            <a:r>
              <a:rPr lang="ja-JP" altLang="en-US" sz="2000" dirty="0">
                <a:latin typeface="Arial" panose="020B0604020202020204" pitchFamily="34" charset="0"/>
              </a:rPr>
              <a:t>　「</a:t>
            </a:r>
            <a:r>
              <a:rPr lang="en-US" altLang="ja-JP" sz="2000" dirty="0" err="1">
                <a:latin typeface="Arial" panose="020B0604020202020204" pitchFamily="34" charset="0"/>
              </a:rPr>
              <a:t>thuộc</a:t>
            </a:r>
            <a:r>
              <a:rPr lang="en-US" altLang="ja-JP" sz="2000" dirty="0">
                <a:latin typeface="Arial" panose="020B0604020202020204" pitchFamily="34" charset="0"/>
              </a:rPr>
              <a:t> </a:t>
            </a:r>
            <a:r>
              <a:rPr lang="en-US" altLang="ja-JP" sz="2000" dirty="0" err="1">
                <a:latin typeface="Arial" panose="020B0604020202020204" pitchFamily="34" charset="0"/>
              </a:rPr>
              <a:t>tính</a:t>
            </a:r>
            <a:r>
              <a:rPr lang="ja-JP" altLang="en-US" sz="2000" dirty="0">
                <a:latin typeface="Arial" panose="020B0604020202020204" pitchFamily="34" charset="0"/>
              </a:rPr>
              <a:t>」</a:t>
            </a:r>
            <a:r>
              <a:rPr lang="en-US" altLang="ja-JP" sz="2000" dirty="0" err="1">
                <a:latin typeface="Arial" panose="020B0604020202020204" pitchFamily="34" charset="0"/>
              </a:rPr>
              <a:t>được</a:t>
            </a:r>
            <a:r>
              <a:rPr lang="en-US" altLang="ja-JP" sz="2000" dirty="0">
                <a:latin typeface="Arial" panose="020B0604020202020204" pitchFamily="34" charset="0"/>
              </a:rPr>
              <a:t> </a:t>
            </a:r>
            <a:r>
              <a:rPr lang="en-US" altLang="ja-JP" sz="2000" dirty="0" err="1">
                <a:latin typeface="Arial" panose="020B0604020202020204" pitchFamily="34" charset="0"/>
              </a:rPr>
              <a:t>miêu</a:t>
            </a:r>
            <a:r>
              <a:rPr lang="en-US" altLang="ja-JP" sz="2000" dirty="0">
                <a:latin typeface="Arial" panose="020B0604020202020204" pitchFamily="34" charset="0"/>
              </a:rPr>
              <a:t> tả </a:t>
            </a:r>
            <a:r>
              <a:rPr lang="en-US" altLang="ja-JP" sz="2000" dirty="0" err="1">
                <a:latin typeface="Arial" panose="020B0604020202020204" pitchFamily="34" charset="0"/>
              </a:rPr>
              <a:t>như</a:t>
            </a:r>
            <a:r>
              <a:rPr lang="en-US" altLang="ja-JP" sz="2000" dirty="0">
                <a:latin typeface="Arial" panose="020B0604020202020204" pitchFamily="34" charset="0"/>
              </a:rPr>
              <a:t> là </a:t>
            </a:r>
            <a:r>
              <a:rPr lang="ja-JP" altLang="en-US" sz="2000" dirty="0">
                <a:latin typeface="Arial" panose="020B0604020202020204" pitchFamily="34" charset="0"/>
              </a:rPr>
              <a:t>「</a:t>
            </a:r>
            <a:r>
              <a:rPr lang="en-US" altLang="ja-JP" sz="2000" dirty="0" err="1">
                <a:latin typeface="Arial" panose="020B0604020202020204" pitchFamily="34" charset="0"/>
              </a:rPr>
              <a:t>biến</a:t>
            </a:r>
            <a:r>
              <a:rPr lang="en-US" altLang="ja-JP" sz="2000" dirty="0">
                <a:latin typeface="Arial" panose="020B0604020202020204" pitchFamily="34" charset="0"/>
              </a:rPr>
              <a:t> </a:t>
            </a:r>
            <a:r>
              <a:rPr lang="en-US" altLang="ja-JP" sz="2000" dirty="0" err="1">
                <a:latin typeface="Arial" panose="020B0604020202020204" pitchFamily="34" charset="0"/>
              </a:rPr>
              <a:t>sô</a:t>
            </a:r>
            <a:r>
              <a:rPr lang="en-US" altLang="ja-JP" sz="2000" dirty="0">
                <a:latin typeface="Arial" panose="020B0604020202020204" pitchFamily="34" charset="0"/>
              </a:rPr>
              <a:t>́</a:t>
            </a:r>
            <a:r>
              <a:rPr lang="ja-JP" altLang="en-US" sz="2000" dirty="0">
                <a:latin typeface="Arial" panose="020B0604020202020204" pitchFamily="34" charset="0"/>
              </a:rPr>
              <a:t>」</a:t>
            </a:r>
            <a:r>
              <a:rPr lang="en-US" altLang="ja-JP" sz="2000" dirty="0">
                <a:latin typeface="Arial" panose="020B0604020202020204" pitchFamily="34" charset="0"/>
              </a:rPr>
              <a:t>. </a:t>
            </a:r>
            <a:r>
              <a:rPr lang="en-US" altLang="ja-JP" sz="2000" dirty="0" err="1">
                <a:latin typeface="Arial" panose="020B0604020202020204" pitchFamily="34" charset="0"/>
              </a:rPr>
              <a:t>Biến</a:t>
            </a:r>
            <a:r>
              <a:rPr lang="en-US" altLang="ja-JP" sz="2000" dirty="0">
                <a:latin typeface="Arial" panose="020B0604020202020204" pitchFamily="34" charset="0"/>
              </a:rPr>
              <a:t> </a:t>
            </a:r>
            <a:r>
              <a:rPr lang="en-US" altLang="ja-JP" sz="2000" dirty="0" err="1">
                <a:latin typeface="Arial" panose="020B0604020202020204" pitchFamily="34" charset="0"/>
              </a:rPr>
              <a:t>sô</a:t>
            </a:r>
            <a:r>
              <a:rPr lang="en-US" altLang="ja-JP" sz="2000" dirty="0">
                <a:latin typeface="Arial" panose="020B0604020202020204" pitchFamily="34" charset="0"/>
              </a:rPr>
              <a:t>́ </a:t>
            </a:r>
            <a:r>
              <a:rPr lang="en-US" altLang="ja-JP" sz="2000" dirty="0" err="1">
                <a:latin typeface="Arial" panose="020B0604020202020204" pitchFamily="34" charset="0"/>
              </a:rPr>
              <a:t>thê</a:t>
            </a:r>
            <a:r>
              <a:rPr lang="en-US" altLang="ja-JP" sz="2000" dirty="0">
                <a:latin typeface="Arial" panose="020B0604020202020204" pitchFamily="34" charset="0"/>
              </a:rPr>
              <a:t>̉ </a:t>
            </a:r>
            <a:r>
              <a:rPr lang="en-US" altLang="ja-JP" sz="2000" dirty="0" err="1">
                <a:latin typeface="Arial" panose="020B0604020202020204" pitchFamily="34" charset="0"/>
              </a:rPr>
              <a:t>hiện</a:t>
            </a:r>
            <a:r>
              <a:rPr lang="en-US" altLang="ja-JP" sz="2000" dirty="0">
                <a:latin typeface="Arial" panose="020B0604020202020204" pitchFamily="34" charset="0"/>
              </a:rPr>
              <a:t> </a:t>
            </a:r>
            <a:r>
              <a:rPr lang="en-US" altLang="ja-JP" sz="2000" dirty="0" err="1">
                <a:latin typeface="Arial" panose="020B0604020202020204" pitchFamily="34" charset="0"/>
              </a:rPr>
              <a:t>thuộc</a:t>
            </a:r>
            <a:r>
              <a:rPr lang="en-US" altLang="ja-JP" sz="2000" dirty="0">
                <a:latin typeface="Arial" panose="020B0604020202020204" pitchFamily="34" charset="0"/>
              </a:rPr>
              <a:t> </a:t>
            </a:r>
            <a:r>
              <a:rPr lang="en-US" altLang="ja-JP" sz="2000" dirty="0" err="1">
                <a:latin typeface="Arial" panose="020B0604020202020204" pitchFamily="34" charset="0"/>
              </a:rPr>
              <a:t>tính</a:t>
            </a:r>
            <a:r>
              <a:rPr lang="en-US" altLang="ja-JP" sz="2000" dirty="0">
                <a:latin typeface="Arial" panose="020B0604020202020204" pitchFamily="34" charset="0"/>
              </a:rPr>
              <a:t> </a:t>
            </a:r>
            <a:r>
              <a:rPr lang="en-US" altLang="ja-JP" sz="2000" dirty="0" err="1">
                <a:latin typeface="Arial" panose="020B0604020202020204" pitchFamily="34" charset="0"/>
              </a:rPr>
              <a:t>người</a:t>
            </a:r>
            <a:r>
              <a:rPr lang="en-US" altLang="ja-JP" sz="2000" dirty="0">
                <a:latin typeface="Arial" panose="020B0604020202020204" pitchFamily="34" charset="0"/>
              </a:rPr>
              <a:t> ta </a:t>
            </a:r>
            <a:r>
              <a:rPr lang="en-US" altLang="ja-JP" sz="2000" dirty="0" err="1">
                <a:latin typeface="Arial" panose="020B0604020202020204" pitchFamily="34" charset="0"/>
              </a:rPr>
              <a:t>còn</a:t>
            </a:r>
            <a:r>
              <a:rPr lang="en-US" altLang="ja-JP" sz="2000" dirty="0">
                <a:latin typeface="Arial" panose="020B0604020202020204" pitchFamily="34" charset="0"/>
              </a:rPr>
              <a:t> </a:t>
            </a:r>
            <a:r>
              <a:rPr lang="en-US" altLang="ja-JP" sz="2000" dirty="0" err="1">
                <a:latin typeface="Arial" panose="020B0604020202020204" pitchFamily="34" charset="0"/>
              </a:rPr>
              <a:t>gọi</a:t>
            </a:r>
            <a:r>
              <a:rPr lang="en-US" altLang="ja-JP" sz="2000" dirty="0">
                <a:latin typeface="Arial" panose="020B0604020202020204" pitchFamily="34" charset="0"/>
              </a:rPr>
              <a:t> là field.</a:t>
            </a:r>
          </a:p>
          <a:p>
            <a:pPr marL="400050" lvl="1" indent="0"/>
            <a:r>
              <a:rPr lang="ja-JP" altLang="en-US" sz="2000" dirty="0">
                <a:latin typeface="Arial" panose="020B0604020202020204" pitchFamily="34" charset="0"/>
              </a:rPr>
              <a:t>　「</a:t>
            </a:r>
            <a:r>
              <a:rPr lang="en-US" altLang="ja-JP" sz="2000" dirty="0" err="1">
                <a:latin typeface="Arial" panose="020B0604020202020204" pitchFamily="34" charset="0"/>
              </a:rPr>
              <a:t>thao</a:t>
            </a:r>
            <a:r>
              <a:rPr lang="en-US" altLang="ja-JP" sz="2000" dirty="0">
                <a:latin typeface="Arial" panose="020B0604020202020204" pitchFamily="34" charset="0"/>
              </a:rPr>
              <a:t> </a:t>
            </a:r>
            <a:r>
              <a:rPr lang="en-US" altLang="ja-JP" sz="2000" dirty="0" err="1">
                <a:latin typeface="Arial" panose="020B0604020202020204" pitchFamily="34" charset="0"/>
              </a:rPr>
              <a:t>tác</a:t>
            </a:r>
            <a:r>
              <a:rPr lang="ja-JP" altLang="en-US" sz="2000" dirty="0">
                <a:latin typeface="Arial" panose="020B0604020202020204" pitchFamily="34" charset="0"/>
              </a:rPr>
              <a:t>」</a:t>
            </a:r>
            <a:r>
              <a:rPr lang="en-US" altLang="ja-JP" sz="2000" dirty="0" err="1">
                <a:latin typeface="Arial" panose="020B0604020202020204" pitchFamily="34" charset="0"/>
              </a:rPr>
              <a:t>được</a:t>
            </a:r>
            <a:r>
              <a:rPr lang="en-US" altLang="ja-JP" sz="2000" dirty="0">
                <a:latin typeface="Arial" panose="020B0604020202020204" pitchFamily="34" charset="0"/>
              </a:rPr>
              <a:t> </a:t>
            </a:r>
            <a:r>
              <a:rPr lang="en-US" altLang="ja-JP" sz="2000" dirty="0" err="1">
                <a:latin typeface="Arial" panose="020B0604020202020204" pitchFamily="34" charset="0"/>
              </a:rPr>
              <a:t>miêu</a:t>
            </a:r>
            <a:r>
              <a:rPr lang="en-US" altLang="ja-JP" sz="2000" dirty="0">
                <a:latin typeface="Arial" panose="020B0604020202020204" pitchFamily="34" charset="0"/>
              </a:rPr>
              <a:t> tả </a:t>
            </a:r>
            <a:r>
              <a:rPr lang="en-US" altLang="ja-JP" sz="2000" dirty="0" err="1">
                <a:latin typeface="Arial" panose="020B0604020202020204" pitchFamily="34" charset="0"/>
              </a:rPr>
              <a:t>như</a:t>
            </a:r>
            <a:r>
              <a:rPr lang="en-US" altLang="ja-JP" sz="2000" dirty="0">
                <a:latin typeface="Arial" panose="020B0604020202020204" pitchFamily="34" charset="0"/>
              </a:rPr>
              <a:t> là </a:t>
            </a:r>
            <a:r>
              <a:rPr lang="ja-JP" altLang="en-US" sz="2000" dirty="0">
                <a:latin typeface="Arial" panose="020B0604020202020204" pitchFamily="34" charset="0"/>
              </a:rPr>
              <a:t>「</a:t>
            </a:r>
            <a:r>
              <a:rPr lang="en-US" altLang="ja-JP" sz="2000" dirty="0">
                <a:latin typeface="Arial" panose="020B0604020202020204" pitchFamily="34" charset="0"/>
              </a:rPr>
              <a:t>method</a:t>
            </a:r>
            <a:r>
              <a:rPr lang="ja-JP" altLang="en-US" sz="2000" dirty="0">
                <a:latin typeface="Arial" panose="020B0604020202020204" pitchFamily="34" charset="0"/>
              </a:rPr>
              <a:t>」</a:t>
            </a:r>
            <a:r>
              <a:rPr lang="en-US" altLang="ja-JP" sz="2000" dirty="0">
                <a:latin typeface="Arial" panose="020B0604020202020204" pitchFamily="34" charset="0"/>
              </a:rPr>
              <a:t>.</a:t>
            </a:r>
          </a:p>
          <a:p>
            <a:pPr marL="0" indent="0">
              <a:buNone/>
            </a:pPr>
            <a:endParaRPr lang="ja-JP" altLang="en-US" sz="2800" dirty="0"/>
          </a:p>
        </p:txBody>
      </p:sp>
      <p:sp>
        <p:nvSpPr>
          <p:cNvPr id="5" name="Slide Number Placeholder 4">
            <a:extLst>
              <a:ext uri="{FF2B5EF4-FFF2-40B4-BE49-F238E27FC236}">
                <a16:creationId xmlns:a16="http://schemas.microsoft.com/office/drawing/2014/main" id="{E55253F3-1DF0-C354-80F0-2B17E2BF4AB9}"/>
              </a:ext>
            </a:extLst>
          </p:cNvPr>
          <p:cNvSpPr>
            <a:spLocks noGrp="1"/>
          </p:cNvSpPr>
          <p:nvPr>
            <p:ph type="sldNum" sz="quarter" idx="11"/>
          </p:nvPr>
        </p:nvSpPr>
        <p:spPr/>
        <p:txBody>
          <a:bodyPr/>
          <a:lstStyle/>
          <a:p>
            <a:fld id="{4AC556BE-C330-47A4-A283-5CF881B2E858}" type="slidenum">
              <a:rPr lang="en-US" altLang="ja-JP" smtClean="0"/>
              <a:pPr/>
              <a:t>4</a:t>
            </a:fld>
            <a:endParaRPr lang="en-US" altLang="ja-JP"/>
          </a:p>
        </p:txBody>
      </p:sp>
      <p:graphicFrame>
        <p:nvGraphicFramePr>
          <p:cNvPr id="10" name="Group 90">
            <a:extLst>
              <a:ext uri="{FF2B5EF4-FFF2-40B4-BE49-F238E27FC236}">
                <a16:creationId xmlns:a16="http://schemas.microsoft.com/office/drawing/2014/main" id="{64CCFC5C-34A5-18A7-EC77-9C47EB52592B}"/>
              </a:ext>
            </a:extLst>
          </p:cNvPr>
          <p:cNvGraphicFramePr>
            <a:graphicFrameLocks noGrp="1"/>
          </p:cNvGraphicFramePr>
          <p:nvPr>
            <p:extLst>
              <p:ext uri="{D42A27DB-BD31-4B8C-83A1-F6EECF244321}">
                <p14:modId xmlns:p14="http://schemas.microsoft.com/office/powerpoint/2010/main" val="133133395"/>
              </p:ext>
            </p:extLst>
          </p:nvPr>
        </p:nvGraphicFramePr>
        <p:xfrm>
          <a:off x="304800" y="3955994"/>
          <a:ext cx="9067800" cy="1005744"/>
        </p:xfrm>
        <a:graphic>
          <a:graphicData uri="http://schemas.openxmlformats.org/drawingml/2006/table">
            <a:tbl>
              <a:tblPr/>
              <a:tblGrid>
                <a:gridCol w="2225733">
                  <a:extLst>
                    <a:ext uri="{9D8B030D-6E8A-4147-A177-3AD203B41FA5}">
                      <a16:colId xmlns:a16="http://schemas.microsoft.com/office/drawing/2014/main" val="1987870028"/>
                    </a:ext>
                  </a:extLst>
                </a:gridCol>
                <a:gridCol w="6842067">
                  <a:extLst>
                    <a:ext uri="{9D8B030D-6E8A-4147-A177-3AD203B41FA5}">
                      <a16:colId xmlns:a16="http://schemas.microsoft.com/office/drawing/2014/main" val="2007466767"/>
                    </a:ext>
                  </a:extLst>
                </a:gridCol>
              </a:tblGrid>
              <a:tr h="24765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modifier</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Nội</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dung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trong</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nó</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016857722"/>
                  </a:ext>
                </a:extLst>
              </a:tr>
              <a:tr h="268288">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public</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Có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thê</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access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tư</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bất</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ky</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đâu</a:t>
                      </a:r>
                      <a:endPar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endParaRP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29561672"/>
                  </a:ext>
                </a:extLst>
              </a:tr>
              <a:tr h="26511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không chỉ định</a:t>
                      </a:r>
                      <a:r>
                        <a:rPr kumimoji="1" lang="ja-JP" altLang="en-US"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4663">
                        <a:defRPr kumimoji="1">
                          <a:solidFill>
                            <a:schemeClr val="tx1"/>
                          </a:solidFill>
                          <a:latin typeface="Arial" panose="020B0604020202020204" pitchFamily="34" charset="0"/>
                          <a:ea typeface="ＭＳ Ｐゴシック" panose="020B0600070205080204" pitchFamily="50" charset="-128"/>
                        </a:defRPr>
                      </a:lvl5pPr>
                      <a:lvl6pPr marL="22018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590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62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346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Chỉ có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thê</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access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tư</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class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trong</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cùng</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package</a:t>
                      </a:r>
                    </a:p>
                  </a:txBody>
                  <a:tcPr marL="91410" marR="91410"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50322044"/>
                  </a:ext>
                </a:extLst>
              </a:tr>
            </a:tbl>
          </a:graphicData>
        </a:graphic>
      </p:graphicFrame>
    </p:spTree>
    <p:extLst>
      <p:ext uri="{BB962C8B-B14F-4D97-AF65-F5344CB8AC3E}">
        <p14:creationId xmlns:p14="http://schemas.microsoft.com/office/powerpoint/2010/main" val="2262274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2EFE3210-8CCF-6C13-E3C1-0CF04B25D65B}"/>
              </a:ext>
            </a:extLst>
          </p:cNvPr>
          <p:cNvSpPr>
            <a:spLocks noGrp="1"/>
          </p:cNvSpPr>
          <p:nvPr>
            <p:ph type="sldNum" sz="quarter" idx="10"/>
          </p:nvPr>
        </p:nvSpPr>
        <p:spPr/>
        <p:txBody>
          <a:bodyPr/>
          <a:lstStyle/>
          <a:p>
            <a:fld id="{19DDD613-ABEF-4F3C-8AC8-28F7B25803B0}" type="slidenum">
              <a:rPr lang="en-US" altLang="ja-JP"/>
              <a:pPr/>
              <a:t>5</a:t>
            </a:fld>
            <a:endParaRPr lang="en-US" altLang="ja-JP"/>
          </a:p>
        </p:txBody>
      </p:sp>
      <p:sp>
        <p:nvSpPr>
          <p:cNvPr id="407554" name="Rectangle 2">
            <a:extLst>
              <a:ext uri="{FF2B5EF4-FFF2-40B4-BE49-F238E27FC236}">
                <a16:creationId xmlns:a16="http://schemas.microsoft.com/office/drawing/2014/main" id="{86DCA497-5EF4-D483-4CC5-09910C58AA39}"/>
              </a:ext>
            </a:extLst>
          </p:cNvPr>
          <p:cNvSpPr>
            <a:spLocks noGrp="1" noChangeArrowheads="1"/>
          </p:cNvSpPr>
          <p:nvPr>
            <p:ph type="title"/>
          </p:nvPr>
        </p:nvSpPr>
        <p:spPr>
          <a:xfrm>
            <a:off x="344488" y="300833"/>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Định</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nghĩa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thuộc</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tính</a:t>
            </a:r>
            <a:endParaRPr lang="en-US" altLang="ja-JP" dirty="0">
              <a:latin typeface="Arial" panose="020B0604020202020204" pitchFamily="34" charset="0"/>
              <a:ea typeface="MS UI Gothic" panose="020B0600070205080204" pitchFamily="50" charset="-128"/>
            </a:endParaRPr>
          </a:p>
        </p:txBody>
      </p:sp>
      <p:sp>
        <p:nvSpPr>
          <p:cNvPr id="407555" name="Rectangle 3">
            <a:extLst>
              <a:ext uri="{FF2B5EF4-FFF2-40B4-BE49-F238E27FC236}">
                <a16:creationId xmlns:a16="http://schemas.microsoft.com/office/drawing/2014/main" id="{4992E180-72AD-639B-E346-A8DA91AE2FD9}"/>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407556" name="Rectangle 4">
            <a:extLst>
              <a:ext uri="{FF2B5EF4-FFF2-40B4-BE49-F238E27FC236}">
                <a16:creationId xmlns:a16="http://schemas.microsoft.com/office/drawing/2014/main" id="{48D72146-B29B-B31B-1A1C-51632981FA7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Định nghĩa thuộc tính</a:t>
            </a:r>
            <a:r>
              <a:rPr lang="ja-JP" altLang="en-US" sz="2400" b="0">
                <a:latin typeface="Arial" panose="020B0604020202020204" pitchFamily="34" charset="0"/>
              </a:rPr>
              <a:t>（</a:t>
            </a:r>
            <a:r>
              <a:rPr lang="en-US" altLang="ja-JP" sz="2400" b="0">
                <a:latin typeface="Arial" panose="020B0604020202020204" pitchFamily="34" charset="0"/>
              </a:rPr>
              <a:t>biến instance</a:t>
            </a:r>
            <a:r>
              <a:rPr lang="ja-JP" altLang="en-US" sz="2400" b="0">
                <a:latin typeface="Arial" panose="020B0604020202020204" pitchFamily="34" charset="0"/>
              </a:rPr>
              <a:t>）</a:t>
            </a:r>
          </a:p>
          <a:p>
            <a:pPr>
              <a:spcBef>
                <a:spcPct val="50000"/>
              </a:spcBef>
              <a:buFont typeface="Wingdings" panose="05000000000000000000" pitchFamily="2" charset="2"/>
              <a:buNone/>
            </a:pPr>
            <a:r>
              <a:rPr lang="ja-JP" altLang="en-US" sz="2000" b="0">
                <a:latin typeface="Arial" panose="020B0604020202020204" pitchFamily="34" charset="0"/>
              </a:rPr>
              <a:t>●</a:t>
            </a: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407557" name="Text Box 5">
            <a:extLst>
              <a:ext uri="{FF2B5EF4-FFF2-40B4-BE49-F238E27FC236}">
                <a16:creationId xmlns:a16="http://schemas.microsoft.com/office/drawing/2014/main" id="{512A7E65-42BB-5DCA-20B1-2AA5895546CB}"/>
              </a:ext>
            </a:extLst>
          </p:cNvPr>
          <p:cNvSpPr txBox="1">
            <a:spLocks noChangeArrowheads="1"/>
          </p:cNvSpPr>
          <p:nvPr/>
        </p:nvSpPr>
        <p:spPr bwMode="auto">
          <a:xfrm>
            <a:off x="344488" y="1751013"/>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en-US" sz="2000">
                <a:ea typeface="MS UI Gothic" panose="020B0600070205080204" pitchFamily="50" charset="-128"/>
              </a:rPr>
              <a:t>　</a:t>
            </a:r>
            <a:r>
              <a:rPr lang="en-US" altLang="ja-JP" sz="2000">
                <a:ea typeface="MS UI Gothic" panose="020B0600070205080204" pitchFamily="50" charset="-128"/>
              </a:rPr>
              <a:t>modifier</a:t>
            </a:r>
            <a:r>
              <a:rPr lang="ja-JP" altLang="en-US" sz="2000">
                <a:ea typeface="ＭＳ ゴシック" panose="020B0609070205080204" pitchFamily="49" charset="-128"/>
              </a:rPr>
              <a:t>　</a:t>
            </a:r>
            <a:r>
              <a:rPr lang="en-US" altLang="ja-JP" sz="2000">
                <a:ea typeface="ＭＳ ゴシック" panose="020B0609070205080204" pitchFamily="49" charset="-128"/>
              </a:rPr>
              <a:t>kiểu data</a:t>
            </a:r>
            <a:r>
              <a:rPr lang="ja-JP" altLang="en-US" sz="2000">
                <a:ea typeface="ＭＳ ゴシック" panose="020B0609070205080204" pitchFamily="49" charset="-128"/>
              </a:rPr>
              <a:t>　</a:t>
            </a:r>
            <a:r>
              <a:rPr lang="en-US" altLang="ja-JP" sz="2000">
                <a:ea typeface="ＭＳ ゴシック" panose="020B0609070205080204" pitchFamily="49" charset="-128"/>
              </a:rPr>
              <a:t>tên biến;</a:t>
            </a:r>
          </a:p>
        </p:txBody>
      </p:sp>
      <p:sp>
        <p:nvSpPr>
          <p:cNvPr id="407558" name="Rectangle 6">
            <a:extLst>
              <a:ext uri="{FF2B5EF4-FFF2-40B4-BE49-F238E27FC236}">
                <a16:creationId xmlns:a16="http://schemas.microsoft.com/office/drawing/2014/main" id="{85798EA1-405F-D669-9BD2-21E9CC45F82A}"/>
              </a:ext>
            </a:extLst>
          </p:cNvPr>
          <p:cNvSpPr>
            <a:spLocks noChangeArrowheads="1"/>
          </p:cNvSpPr>
          <p:nvPr/>
        </p:nvSpPr>
        <p:spPr bwMode="auto">
          <a:xfrm>
            <a:off x="344488" y="34544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407559" name="Rectangle 7">
            <a:extLst>
              <a:ext uri="{FF2B5EF4-FFF2-40B4-BE49-F238E27FC236}">
                <a16:creationId xmlns:a16="http://schemas.microsoft.com/office/drawing/2014/main" id="{CB4BE2C9-BC88-3E60-1D5E-89DB4755C600}"/>
              </a:ext>
            </a:extLst>
          </p:cNvPr>
          <p:cNvSpPr>
            <a:spLocks noChangeArrowheads="1"/>
          </p:cNvSpPr>
          <p:nvPr/>
        </p:nvSpPr>
        <p:spPr bwMode="auto">
          <a:xfrm>
            <a:off x="344488" y="3916363"/>
            <a:ext cx="9120187" cy="23812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dirty="0">
                <a:latin typeface="ＭＳ ゴシック" panose="020B0609070205080204" pitchFamily="49" charset="-128"/>
                <a:ea typeface="ＭＳ ゴシック" panose="020B0609070205080204" pitchFamily="49" charset="-128"/>
              </a:rPr>
              <a:t>public class Person {</a:t>
            </a:r>
          </a:p>
          <a:p>
            <a:pPr lvl="1"/>
            <a:r>
              <a:rPr lang="en-US" altLang="ja-JP" sz="1800" b="0" dirty="0">
                <a:latin typeface="ＭＳ ゴシック" panose="020B0609070205080204" pitchFamily="49" charset="-128"/>
                <a:ea typeface="ＭＳ ゴシック" panose="020B0609070205080204" pitchFamily="49" charset="-128"/>
              </a:rPr>
              <a:t>    // </a:t>
            </a:r>
            <a:r>
              <a:rPr lang="en-US" altLang="ja-JP" sz="1800" b="0" dirty="0" err="1">
                <a:latin typeface="Arial" panose="020B0604020202020204" pitchFamily="34" charset="0"/>
                <a:ea typeface="ＭＳ ゴシック" panose="020B0609070205080204" pitchFamily="49" charset="-128"/>
              </a:rPr>
              <a:t>Định</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nghĩa</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thuộc</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tính</a:t>
            </a:r>
            <a:endParaRPr lang="en-US" altLang="ja-JP" sz="1800" b="0" dirty="0">
              <a:latin typeface="Arial" panose="020B0604020202020204" pitchFamily="34" charset="0"/>
              <a:ea typeface="ＭＳ ゴシック" panose="020B0609070205080204" pitchFamily="49" charset="-128"/>
            </a:endParaRPr>
          </a:p>
          <a:p>
            <a:pPr lvl="1"/>
            <a:r>
              <a:rPr lang="nb-NO" altLang="ja-JP" sz="1800" dirty="0">
                <a:solidFill>
                  <a:srgbClr val="0033CC"/>
                </a:solidFill>
                <a:latin typeface="ＭＳ ゴシック" panose="020B0609070205080204" pitchFamily="49" charset="-128"/>
                <a:ea typeface="ＭＳ ゴシック" panose="020B0609070205080204" pitchFamily="49" charset="-128"/>
              </a:rPr>
              <a:t>    private String lastName;    // </a:t>
            </a:r>
            <a:r>
              <a:rPr lang="nb-NO" altLang="ja-JP" sz="1800" dirty="0">
                <a:solidFill>
                  <a:srgbClr val="0033CC"/>
                </a:solidFill>
                <a:latin typeface="Arial" panose="020B0604020202020204" pitchFamily="34" charset="0"/>
                <a:ea typeface="ＭＳ ゴシック" panose="020B0609070205080204" pitchFamily="49" charset="-128"/>
              </a:rPr>
              <a:t>Họ</a:t>
            </a:r>
            <a:endParaRPr lang="ja-JP" altLang="nb-NO" sz="1800" dirty="0">
              <a:solidFill>
                <a:srgbClr val="0033CC"/>
              </a:solidFill>
              <a:latin typeface="Arial" panose="020B0604020202020204" pitchFamily="34" charset="0"/>
              <a:ea typeface="ＭＳ ゴシック" panose="020B0609070205080204" pitchFamily="49" charset="-128"/>
            </a:endParaRPr>
          </a:p>
          <a:p>
            <a:pPr lvl="1"/>
            <a:r>
              <a:rPr lang="nb-NO" altLang="ja-JP" sz="1800" dirty="0">
                <a:solidFill>
                  <a:srgbClr val="0033CC"/>
                </a:solidFill>
                <a:latin typeface="ＭＳ ゴシック" panose="020B0609070205080204" pitchFamily="49" charset="-128"/>
                <a:ea typeface="ＭＳ ゴシック" panose="020B0609070205080204" pitchFamily="49" charset="-128"/>
              </a:rPr>
              <a:t>    private String firstName;   // </a:t>
            </a:r>
            <a:r>
              <a:rPr lang="nb-NO" altLang="ja-JP" sz="1800" dirty="0">
                <a:solidFill>
                  <a:srgbClr val="0033CC"/>
                </a:solidFill>
                <a:latin typeface="Arial" panose="020B0604020202020204" pitchFamily="34" charset="0"/>
                <a:ea typeface="ＭＳ ゴシック" panose="020B0609070205080204" pitchFamily="49" charset="-128"/>
              </a:rPr>
              <a:t>Tên</a:t>
            </a:r>
            <a:endParaRPr lang="ja-JP" altLang="nb-NO" sz="1800" dirty="0">
              <a:solidFill>
                <a:srgbClr val="0033CC"/>
              </a:solidFill>
              <a:latin typeface="Arial" panose="020B0604020202020204" pitchFamily="34" charset="0"/>
              <a:ea typeface="ＭＳ ゴシック" panose="020B0609070205080204" pitchFamily="49" charset="-128"/>
            </a:endParaRPr>
          </a:p>
          <a:p>
            <a:pPr lvl="1"/>
            <a:r>
              <a:rPr lang="nb-NO" altLang="ja-JP" sz="1800" dirty="0">
                <a:solidFill>
                  <a:srgbClr val="0033CC"/>
                </a:solidFill>
                <a:latin typeface="ＭＳ ゴシック" panose="020B0609070205080204" pitchFamily="49" charset="-128"/>
                <a:ea typeface="ＭＳ ゴシック" panose="020B0609070205080204" pitchFamily="49" charset="-128"/>
              </a:rPr>
              <a:t>    private int age;            // </a:t>
            </a:r>
            <a:r>
              <a:rPr lang="nb-NO" altLang="ja-JP" sz="1800" dirty="0">
                <a:solidFill>
                  <a:srgbClr val="0033CC"/>
                </a:solidFill>
                <a:latin typeface="Arial" panose="020B0604020202020204" pitchFamily="34" charset="0"/>
                <a:ea typeface="ＭＳ ゴシック" panose="020B0609070205080204" pitchFamily="49" charset="-128"/>
              </a:rPr>
              <a:t>Tuổi</a:t>
            </a:r>
            <a:endParaRPr lang="ja-JP" altLang="nb-NO" sz="1800" dirty="0">
              <a:solidFill>
                <a:srgbClr val="0033CC"/>
              </a:solidFill>
              <a:latin typeface="Arial" panose="020B0604020202020204" pitchFamily="34" charset="0"/>
              <a:ea typeface="ＭＳ ゴシック" panose="020B0609070205080204" pitchFamily="49" charset="-128"/>
            </a:endParaRPr>
          </a:p>
          <a:p>
            <a:pPr lvl="1"/>
            <a:r>
              <a:rPr lang="en-US" altLang="ja-JP" sz="1800" b="0" dirty="0">
                <a:latin typeface="ＭＳ ゴシック" panose="020B0609070205080204" pitchFamily="49" charset="-128"/>
                <a:ea typeface="ＭＳ ゴシック" panose="020B0609070205080204" pitchFamily="49" charset="-128"/>
              </a:rPr>
              <a:t>    // </a:t>
            </a:r>
            <a:r>
              <a:rPr lang="en-US" altLang="ja-JP" sz="1800" b="0" dirty="0" err="1">
                <a:latin typeface="Arial" panose="020B0604020202020204" pitchFamily="34" charset="0"/>
                <a:ea typeface="ＭＳ ゴシック" panose="020B0609070205080204" pitchFamily="49" charset="-128"/>
              </a:rPr>
              <a:t>Định</a:t>
            </a:r>
            <a:r>
              <a:rPr lang="en-US" altLang="ja-JP" sz="1800" b="0" dirty="0">
                <a:latin typeface="Arial" panose="020B0604020202020204" pitchFamily="34" charset="0"/>
                <a:ea typeface="ＭＳ ゴシック" panose="020B0609070205080204" pitchFamily="49" charset="-128"/>
              </a:rPr>
              <a:t> </a:t>
            </a:r>
            <a:r>
              <a:rPr lang="en-US" altLang="ja-JP" sz="1800" b="0" dirty="0" err="1">
                <a:latin typeface="Arial" panose="020B0604020202020204" pitchFamily="34" charset="0"/>
                <a:ea typeface="ＭＳ ゴシック" panose="020B0609070205080204" pitchFamily="49" charset="-128"/>
              </a:rPr>
              <a:t>nghĩa</a:t>
            </a:r>
            <a:r>
              <a:rPr lang="en-US" altLang="ja-JP" sz="1800" b="0" dirty="0">
                <a:latin typeface="Arial" panose="020B0604020202020204" pitchFamily="34" charset="0"/>
                <a:ea typeface="ＭＳ ゴシック" panose="020B0609070205080204" pitchFamily="49" charset="-128"/>
              </a:rPr>
              <a:t> method</a:t>
            </a:r>
          </a:p>
          <a:p>
            <a:pPr lvl="1"/>
            <a:r>
              <a:rPr lang="en-US" altLang="ja-JP" sz="1800" b="0" dirty="0">
                <a:latin typeface="ＭＳ ゴシック" panose="020B0609070205080204" pitchFamily="49" charset="-128"/>
                <a:ea typeface="ＭＳ ゴシック" panose="020B0609070205080204" pitchFamily="49" charset="-128"/>
              </a:rPr>
              <a:t>}</a:t>
            </a:r>
          </a:p>
        </p:txBody>
      </p:sp>
      <p:sp>
        <p:nvSpPr>
          <p:cNvPr id="407561" name="AutoShape 9">
            <a:extLst>
              <a:ext uri="{FF2B5EF4-FFF2-40B4-BE49-F238E27FC236}">
                <a16:creationId xmlns:a16="http://schemas.microsoft.com/office/drawing/2014/main" id="{42711C8E-E431-9302-D7DB-7F669EAB1EAF}"/>
              </a:ext>
            </a:extLst>
          </p:cNvPr>
          <p:cNvSpPr>
            <a:spLocks noChangeArrowheads="1"/>
          </p:cNvSpPr>
          <p:nvPr/>
        </p:nvSpPr>
        <p:spPr bwMode="auto">
          <a:xfrm>
            <a:off x="4230688" y="1090613"/>
            <a:ext cx="5233987" cy="617537"/>
          </a:xfrm>
          <a:prstGeom prst="wedgeRoundRectCallout">
            <a:avLst>
              <a:gd name="adj1" fmla="val -47421"/>
              <a:gd name="adj2" fmla="val 100130"/>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Nếu</a:t>
            </a:r>
            <a:r>
              <a:rPr lang="en-US" altLang="ja-JP" sz="1800" dirty="0">
                <a:latin typeface="+mj-lt"/>
              </a:rPr>
              <a:t> </a:t>
            </a:r>
            <a:r>
              <a:rPr lang="en-US" altLang="ja-JP" sz="1800" dirty="0" err="1">
                <a:latin typeface="+mj-lt"/>
              </a:rPr>
              <a:t>lược</a:t>
            </a:r>
            <a:r>
              <a:rPr lang="en-US" altLang="ja-JP" sz="1800" dirty="0">
                <a:latin typeface="+mj-lt"/>
              </a:rPr>
              <a:t> </a:t>
            </a:r>
            <a:r>
              <a:rPr lang="en-US" altLang="ja-JP" sz="1800" dirty="0" err="1">
                <a:latin typeface="+mj-lt"/>
              </a:rPr>
              <a:t>gia</a:t>
            </a:r>
            <a:r>
              <a:rPr lang="en-US" altLang="ja-JP" sz="1800" dirty="0">
                <a:latin typeface="+mj-lt"/>
              </a:rPr>
              <a:t>́ trị </a:t>
            </a:r>
            <a:r>
              <a:rPr lang="en-US" altLang="ja-JP" sz="1800" dirty="0" err="1">
                <a:latin typeface="+mj-lt"/>
              </a:rPr>
              <a:t>khởi</a:t>
            </a:r>
            <a:r>
              <a:rPr lang="en-US" altLang="ja-JP" sz="1800" dirty="0">
                <a:latin typeface="+mj-lt"/>
              </a:rPr>
              <a:t> </a:t>
            </a:r>
            <a:r>
              <a:rPr lang="en-US" altLang="ja-JP" sz="1800" dirty="0" err="1">
                <a:latin typeface="+mj-lt"/>
              </a:rPr>
              <a:t>tạo</a:t>
            </a:r>
            <a:r>
              <a:rPr lang="en-US" altLang="ja-JP" sz="1800" dirty="0">
                <a:latin typeface="+mj-lt"/>
              </a:rPr>
              <a:t> </a:t>
            </a:r>
            <a:r>
              <a:rPr lang="en-US" altLang="ja-JP" sz="1800" dirty="0" err="1">
                <a:latin typeface="+mj-lt"/>
              </a:rPr>
              <a:t>thi</a:t>
            </a:r>
            <a:r>
              <a:rPr lang="en-US" altLang="ja-JP" sz="1800" dirty="0">
                <a:latin typeface="+mj-lt"/>
              </a:rPr>
              <a:t>̀ sẽ </a:t>
            </a:r>
            <a:r>
              <a:rPr lang="en-US" altLang="ja-JP" sz="1800" dirty="0" err="1">
                <a:latin typeface="+mj-lt"/>
              </a:rPr>
              <a:t>trơ</a:t>
            </a:r>
            <a:r>
              <a:rPr lang="en-US" altLang="ja-JP" sz="1800" dirty="0">
                <a:latin typeface="+mj-lt"/>
              </a:rPr>
              <a:t>̉ </a:t>
            </a:r>
            <a:r>
              <a:rPr lang="en-US" altLang="ja-JP" sz="1800" dirty="0" err="1">
                <a:latin typeface="+mj-lt"/>
              </a:rPr>
              <a:t>thành</a:t>
            </a:r>
            <a:r>
              <a:rPr lang="en-US" altLang="ja-JP" sz="1800" dirty="0">
                <a:latin typeface="+mj-lt"/>
              </a:rPr>
              <a:t> </a:t>
            </a:r>
            <a:r>
              <a:rPr lang="en-US" altLang="ja-JP" sz="1800" dirty="0" err="1">
                <a:latin typeface="+mj-lt"/>
              </a:rPr>
              <a:t>gia</a:t>
            </a:r>
            <a:r>
              <a:rPr lang="en-US" altLang="ja-JP" sz="1800" dirty="0">
                <a:latin typeface="+mj-lt"/>
              </a:rPr>
              <a:t>́ trị default </a:t>
            </a:r>
            <a:r>
              <a:rPr lang="en-US" altLang="ja-JP" sz="1800" dirty="0" err="1">
                <a:latin typeface="+mj-lt"/>
              </a:rPr>
              <a:t>của</a:t>
            </a:r>
            <a:r>
              <a:rPr lang="en-US" altLang="ja-JP" sz="1800" dirty="0">
                <a:latin typeface="+mj-lt"/>
              </a:rPr>
              <a:t> </a:t>
            </a:r>
            <a:r>
              <a:rPr lang="en-US" altLang="ja-JP" sz="1800" dirty="0" err="1">
                <a:latin typeface="+mj-lt"/>
              </a:rPr>
              <a:t>kiểu</a:t>
            </a:r>
            <a:r>
              <a:rPr lang="en-US" altLang="ja-JP" sz="1800" dirty="0">
                <a:latin typeface="+mj-lt"/>
              </a:rPr>
              <a:t> data.</a:t>
            </a:r>
          </a:p>
        </p:txBody>
      </p:sp>
      <p:sp>
        <p:nvSpPr>
          <p:cNvPr id="407564" name="Text Box 12">
            <a:extLst>
              <a:ext uri="{FF2B5EF4-FFF2-40B4-BE49-F238E27FC236}">
                <a16:creationId xmlns:a16="http://schemas.microsoft.com/office/drawing/2014/main" id="{33EF7490-D77F-C0B2-53CC-AA506A2E9C9F}"/>
              </a:ext>
            </a:extLst>
          </p:cNvPr>
          <p:cNvSpPr txBox="1">
            <a:spLocks noChangeArrowheads="1"/>
          </p:cNvSpPr>
          <p:nvPr/>
        </p:nvSpPr>
        <p:spPr bwMode="auto">
          <a:xfrm>
            <a:off x="344488" y="2430463"/>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en-US" sz="2000">
                <a:ea typeface="MS UI Gothic" panose="020B0600070205080204" pitchFamily="50" charset="-128"/>
              </a:rPr>
              <a:t>　</a:t>
            </a:r>
            <a:r>
              <a:rPr lang="en-US" altLang="ja-JP" sz="2000">
                <a:ea typeface="MS UI Gothic" panose="020B0600070205080204" pitchFamily="50" charset="-128"/>
              </a:rPr>
              <a:t>modifier</a:t>
            </a:r>
            <a:r>
              <a:rPr lang="ja-JP" altLang="en-US" sz="2000">
                <a:ea typeface="ＭＳ ゴシック" panose="020B0609070205080204" pitchFamily="49" charset="-128"/>
              </a:rPr>
              <a:t>　</a:t>
            </a:r>
            <a:r>
              <a:rPr lang="en-US" altLang="ja-JP" sz="2000">
                <a:ea typeface="ＭＳ ゴシック" panose="020B0609070205080204" pitchFamily="49" charset="-128"/>
              </a:rPr>
              <a:t>kiểu data</a:t>
            </a:r>
            <a:r>
              <a:rPr lang="ja-JP" altLang="en-US" sz="2000">
                <a:ea typeface="ＭＳ ゴシック" panose="020B0609070205080204" pitchFamily="49" charset="-128"/>
              </a:rPr>
              <a:t>　</a:t>
            </a:r>
            <a:r>
              <a:rPr lang="en-US" altLang="ja-JP" sz="2000">
                <a:ea typeface="ＭＳ ゴシック" panose="020B0609070205080204" pitchFamily="49" charset="-128"/>
              </a:rPr>
              <a:t>tên biến = giá trị khởi tạo;</a:t>
            </a:r>
          </a:p>
        </p:txBody>
      </p:sp>
      <p:sp>
        <p:nvSpPr>
          <p:cNvPr id="407566" name="AutoShape 14">
            <a:extLst>
              <a:ext uri="{FF2B5EF4-FFF2-40B4-BE49-F238E27FC236}">
                <a16:creationId xmlns:a16="http://schemas.microsoft.com/office/drawing/2014/main" id="{4CF4C5ED-D1F7-C6E9-195D-6FC2895C6780}"/>
              </a:ext>
            </a:extLst>
          </p:cNvPr>
          <p:cNvSpPr>
            <a:spLocks noChangeArrowheads="1"/>
          </p:cNvSpPr>
          <p:nvPr/>
        </p:nvSpPr>
        <p:spPr bwMode="auto">
          <a:xfrm>
            <a:off x="1206500" y="3195638"/>
            <a:ext cx="6245225" cy="566737"/>
          </a:xfrm>
          <a:prstGeom prst="wedgeRoundRectCallout">
            <a:avLst>
              <a:gd name="adj1" fmla="val -48755"/>
              <a:gd name="adj2" fmla="val -10770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Thông </a:t>
            </a:r>
            <a:r>
              <a:rPr lang="en-US" altLang="ja-JP" sz="1800" dirty="0" err="1">
                <a:latin typeface="+mj-lt"/>
              </a:rPr>
              <a:t>thường</a:t>
            </a:r>
            <a:r>
              <a:rPr lang="en-US" altLang="ja-JP" sz="1800" dirty="0">
                <a:latin typeface="+mj-lt"/>
              </a:rPr>
              <a:t>, modifier </a:t>
            </a:r>
            <a:r>
              <a:rPr lang="en-US" altLang="ja-JP" sz="1800" dirty="0" err="1">
                <a:latin typeface="+mj-lt"/>
              </a:rPr>
              <a:t>của</a:t>
            </a:r>
            <a:r>
              <a:rPr lang="en-US" altLang="ja-JP" sz="1800" dirty="0">
                <a:latin typeface="+mj-lt"/>
              </a:rPr>
              <a:t> </a:t>
            </a:r>
            <a:r>
              <a:rPr lang="en-US" altLang="ja-JP" sz="1800" dirty="0" err="1">
                <a:latin typeface="+mj-lt"/>
              </a:rPr>
              <a:t>biến</a:t>
            </a:r>
            <a:r>
              <a:rPr lang="en-US" altLang="ja-JP" sz="1800" dirty="0">
                <a:latin typeface="+mj-lt"/>
              </a:rPr>
              <a:t> instance sẽ là private </a:t>
            </a:r>
            <a:r>
              <a:rPr lang="ja-JP" altLang="en-US" sz="1800" dirty="0">
                <a:latin typeface="+mj-lt"/>
              </a:rPr>
              <a:t>（</a:t>
            </a:r>
            <a:r>
              <a:rPr lang="en-US" altLang="ja-JP" sz="1800" dirty="0" err="1">
                <a:latin typeface="+mj-lt"/>
              </a:rPr>
              <a:t>không</a:t>
            </a:r>
            <a:r>
              <a:rPr lang="en-US" altLang="ja-JP" sz="1800" dirty="0">
                <a:latin typeface="+mj-lt"/>
              </a:rPr>
              <a:t> </a:t>
            </a:r>
            <a:r>
              <a:rPr lang="en-US" altLang="ja-JP" sz="1800" dirty="0" err="1">
                <a:latin typeface="+mj-lt"/>
              </a:rPr>
              <a:t>công</a:t>
            </a:r>
            <a:r>
              <a:rPr lang="en-US" altLang="ja-JP" sz="1800" dirty="0">
                <a:latin typeface="+mj-lt"/>
              </a:rPr>
              <a:t> </a:t>
            </a:r>
            <a:r>
              <a:rPr lang="en-US" altLang="ja-JP" sz="1800" dirty="0" err="1">
                <a:latin typeface="+mj-lt"/>
              </a:rPr>
              <a:t>khai</a:t>
            </a:r>
            <a:r>
              <a:rPr lang="en-US" altLang="ja-JP" sz="1800" dirty="0">
                <a:latin typeface="+mj-lt"/>
              </a:rPr>
              <a:t> </a:t>
            </a:r>
            <a:r>
              <a:rPr lang="en-US" altLang="ja-JP" sz="1800" dirty="0" err="1">
                <a:latin typeface="+mj-lt"/>
              </a:rPr>
              <a:t>ra</a:t>
            </a:r>
            <a:r>
              <a:rPr lang="en-US" altLang="ja-JP" sz="1800" dirty="0">
                <a:latin typeface="+mj-lt"/>
              </a:rPr>
              <a:t> </a:t>
            </a:r>
            <a:r>
              <a:rPr lang="en-US" altLang="ja-JP" sz="1800" dirty="0" err="1">
                <a:latin typeface="+mj-lt"/>
              </a:rPr>
              <a:t>bên</a:t>
            </a:r>
            <a:r>
              <a:rPr lang="en-US" altLang="ja-JP" sz="1800" dirty="0">
                <a:latin typeface="+mj-lt"/>
              </a:rPr>
              <a:t> </a:t>
            </a:r>
            <a:r>
              <a:rPr lang="en-US" altLang="ja-JP" sz="1800" dirty="0" err="1">
                <a:latin typeface="+mj-lt"/>
              </a:rPr>
              <a:t>ngoài</a:t>
            </a:r>
            <a:r>
              <a:rPr lang="ja-JP" altLang="en-US" sz="1800" dirty="0">
                <a:latin typeface="+mj-lt"/>
              </a:rPr>
              <a:t>）</a:t>
            </a:r>
          </a:p>
        </p:txBody>
      </p:sp>
      <p:sp>
        <p:nvSpPr>
          <p:cNvPr id="407567" name="Rectangle 15">
            <a:extLst>
              <a:ext uri="{FF2B5EF4-FFF2-40B4-BE49-F238E27FC236}">
                <a16:creationId xmlns:a16="http://schemas.microsoft.com/office/drawing/2014/main" id="{A7AB040C-3383-2E42-0EE0-4D68D1DCA31A}"/>
              </a:ext>
            </a:extLst>
          </p:cNvPr>
          <p:cNvSpPr>
            <a:spLocks noChangeArrowheads="1"/>
          </p:cNvSpPr>
          <p:nvPr/>
        </p:nvSpPr>
        <p:spPr bwMode="auto">
          <a:xfrm>
            <a:off x="817563" y="4578350"/>
            <a:ext cx="4516437" cy="90011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407568" name="Rectangle 16">
            <a:extLst>
              <a:ext uri="{FF2B5EF4-FFF2-40B4-BE49-F238E27FC236}">
                <a16:creationId xmlns:a16="http://schemas.microsoft.com/office/drawing/2014/main" id="{6BD937E5-49D8-25DF-5949-806DD8A574F6}"/>
              </a:ext>
            </a:extLst>
          </p:cNvPr>
          <p:cNvSpPr>
            <a:spLocks noChangeArrowheads="1"/>
          </p:cNvSpPr>
          <p:nvPr/>
        </p:nvSpPr>
        <p:spPr bwMode="auto">
          <a:xfrm>
            <a:off x="5807076" y="4569127"/>
            <a:ext cx="3565524" cy="92332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b="0" dirty="0" err="1">
                <a:latin typeface="+mj-lt"/>
                <a:ea typeface="MS UI Gothic" panose="020B0600070205080204" pitchFamily="50" charset="-128"/>
              </a:rPr>
              <a:t>Nếu</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lược</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gia</a:t>
            </a:r>
            <a:r>
              <a:rPr lang="en-US" altLang="ja-JP" sz="1800" b="0" dirty="0">
                <a:latin typeface="+mj-lt"/>
                <a:ea typeface="MS UI Gothic" panose="020B0600070205080204" pitchFamily="50" charset="-128"/>
              </a:rPr>
              <a:t>́ trị </a:t>
            </a:r>
            <a:r>
              <a:rPr lang="en-US" altLang="ja-JP" sz="1800" b="0" dirty="0" err="1">
                <a:latin typeface="+mj-lt"/>
                <a:ea typeface="MS UI Gothic" panose="020B0600070205080204" pitchFamily="50" charset="-128"/>
              </a:rPr>
              <a:t>khởi</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tạo</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đi</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thi</a:t>
            </a:r>
            <a:r>
              <a:rPr lang="en-US" altLang="ja-JP" sz="1800" b="0" dirty="0">
                <a:latin typeface="+mj-lt"/>
                <a:ea typeface="MS UI Gothic" panose="020B0600070205080204" pitchFamily="50" charset="-128"/>
              </a:rPr>
              <a:t>̀ </a:t>
            </a:r>
          </a:p>
          <a:p>
            <a:pPr marL="285750" indent="-285750">
              <a:buFont typeface="Arial" panose="020B0604020202020204" pitchFamily="34" charset="0"/>
              <a:buChar char="•"/>
            </a:pPr>
            <a:r>
              <a:rPr lang="en-US" altLang="ja-JP" sz="1800" b="0" dirty="0" err="1">
                <a:latin typeface="+mj-lt"/>
                <a:ea typeface="MS UI Gothic" panose="020B0600070205080204" pitchFamily="50" charset="-128"/>
              </a:rPr>
              <a:t>Trường</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hợp</a:t>
            </a:r>
            <a:r>
              <a:rPr lang="en-US" altLang="ja-JP" sz="1800" b="0" dirty="0">
                <a:latin typeface="+mj-lt"/>
                <a:ea typeface="MS UI Gothic" panose="020B0600070205080204" pitchFamily="50" charset="-128"/>
              </a:rPr>
              <a:t> là </a:t>
            </a:r>
            <a:r>
              <a:rPr lang="en-US" altLang="ja-JP" sz="1800" b="0" dirty="0" err="1">
                <a:latin typeface="+mj-lt"/>
                <a:ea typeface="MS UI Gothic" panose="020B0600070205080204" pitchFamily="50" charset="-128"/>
              </a:rPr>
              <a:t>kiểu</a:t>
            </a:r>
            <a:r>
              <a:rPr lang="en-US" altLang="ja-JP" sz="1800" b="0" dirty="0">
                <a:latin typeface="+mj-lt"/>
                <a:ea typeface="MS UI Gothic" panose="020B0600070205080204" pitchFamily="50" charset="-128"/>
              </a:rPr>
              <a:t> String</a:t>
            </a:r>
            <a:r>
              <a:rPr lang="ja-JP" altLang="en-US" sz="1800" b="0" dirty="0">
                <a:latin typeface="+mj-lt"/>
                <a:ea typeface="MS UI Gothic" panose="020B0600070205080204" pitchFamily="50" charset="-128"/>
              </a:rPr>
              <a:t>：</a:t>
            </a:r>
            <a:r>
              <a:rPr lang="en-US" altLang="ja-JP" sz="1800" b="0" dirty="0">
                <a:latin typeface="+mj-lt"/>
                <a:ea typeface="MS UI Gothic" panose="020B0600070205080204" pitchFamily="50" charset="-128"/>
              </a:rPr>
              <a:t>null</a:t>
            </a:r>
          </a:p>
          <a:p>
            <a:pPr marL="285750" indent="-285750">
              <a:buFont typeface="Arial" panose="020B0604020202020204" pitchFamily="34" charset="0"/>
              <a:buChar char="•"/>
            </a:pPr>
            <a:r>
              <a:rPr lang="en-US" altLang="ja-JP" sz="1800" b="0" dirty="0" err="1">
                <a:latin typeface="+mj-lt"/>
                <a:ea typeface="MS UI Gothic" panose="020B0600070205080204" pitchFamily="50" charset="-128"/>
              </a:rPr>
              <a:t>Trường</a:t>
            </a:r>
            <a:r>
              <a:rPr lang="en-US" altLang="ja-JP" sz="1800" b="0" dirty="0">
                <a:latin typeface="+mj-lt"/>
                <a:ea typeface="MS UI Gothic" panose="020B0600070205080204" pitchFamily="50" charset="-128"/>
              </a:rPr>
              <a:t> </a:t>
            </a:r>
            <a:r>
              <a:rPr lang="en-US" altLang="ja-JP" sz="1800" b="0" dirty="0" err="1">
                <a:latin typeface="+mj-lt"/>
                <a:ea typeface="MS UI Gothic" panose="020B0600070205080204" pitchFamily="50" charset="-128"/>
              </a:rPr>
              <a:t>hợp</a:t>
            </a:r>
            <a:r>
              <a:rPr lang="en-US" altLang="ja-JP" sz="1800" b="0" dirty="0">
                <a:latin typeface="+mj-lt"/>
                <a:ea typeface="MS UI Gothic" panose="020B0600070205080204" pitchFamily="50" charset="-128"/>
              </a:rPr>
              <a:t> là </a:t>
            </a:r>
            <a:r>
              <a:rPr lang="en-US" altLang="ja-JP" sz="1800" b="0" dirty="0" err="1">
                <a:latin typeface="+mj-lt"/>
                <a:ea typeface="MS UI Gothic" panose="020B0600070205080204" pitchFamily="50" charset="-128"/>
              </a:rPr>
              <a:t>kiểu</a:t>
            </a:r>
            <a:r>
              <a:rPr lang="en-US" altLang="ja-JP" sz="1800" b="0" dirty="0">
                <a:latin typeface="+mj-lt"/>
                <a:ea typeface="MS UI Gothic" panose="020B0600070205080204" pitchFamily="50" charset="-128"/>
              </a:rPr>
              <a:t> int</a:t>
            </a:r>
            <a:r>
              <a:rPr lang="ja-JP" altLang="en-US" sz="1800" b="0" dirty="0">
                <a:latin typeface="+mj-lt"/>
                <a:ea typeface="MS UI Gothic" panose="020B0600070205080204" pitchFamily="50" charset="-128"/>
              </a:rPr>
              <a:t>：</a:t>
            </a:r>
            <a:r>
              <a:rPr lang="en-US" altLang="ja-JP" sz="1800" b="0" dirty="0">
                <a:latin typeface="+mj-lt"/>
                <a:ea typeface="MS UI Gothic" panose="020B0600070205080204" pitchFamily="50" charset="-128"/>
              </a:rPr>
              <a:t>0</a:t>
            </a:r>
          </a:p>
        </p:txBody>
      </p:sp>
      <p:cxnSp>
        <p:nvCxnSpPr>
          <p:cNvPr id="407569" name="AutoShape 17">
            <a:extLst>
              <a:ext uri="{FF2B5EF4-FFF2-40B4-BE49-F238E27FC236}">
                <a16:creationId xmlns:a16="http://schemas.microsoft.com/office/drawing/2014/main" id="{F3A403C7-AB77-240F-D732-6234EB92019A}"/>
              </a:ext>
            </a:extLst>
          </p:cNvPr>
          <p:cNvCxnSpPr>
            <a:cxnSpLocks noChangeShapeType="1"/>
            <a:stCxn id="407567" idx="3"/>
          </p:cNvCxnSpPr>
          <p:nvPr/>
        </p:nvCxnSpPr>
        <p:spPr bwMode="auto">
          <a:xfrm>
            <a:off x="5334000" y="5028407"/>
            <a:ext cx="473075" cy="0"/>
          </a:xfrm>
          <a:prstGeom prst="straightConnector1">
            <a:avLst/>
          </a:prstGeom>
          <a:noFill/>
          <a:ln w="2540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DEB6B-87D0-1444-CF19-82C979BB6B6F}"/>
              </a:ext>
            </a:extLst>
          </p:cNvPr>
          <p:cNvSpPr>
            <a:spLocks noGrp="1"/>
          </p:cNvSpPr>
          <p:nvPr>
            <p:ph type="title"/>
          </p:nvPr>
        </p:nvSpPr>
        <p:spPr/>
        <p:txBody>
          <a:bodyPr>
            <a:normAutofit fontScale="90000"/>
          </a:bodyPr>
          <a:lstStyle/>
          <a:p>
            <a:r>
              <a:rPr lang="en-US" altLang="ja-JP" dirty="0" err="1">
                <a:latin typeface="+mj-lt"/>
                <a:ea typeface="MS UI Gothic" panose="020B0600070205080204" pitchFamily="50" charset="-128"/>
              </a:rPr>
              <a:t>Các</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loại</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biến</a:t>
            </a:r>
            <a:endParaRPr kumimoji="1" lang="ja-JP" altLang="en-US" dirty="0">
              <a:latin typeface="+mj-lt"/>
            </a:endParaRPr>
          </a:p>
        </p:txBody>
      </p:sp>
      <p:sp>
        <p:nvSpPr>
          <p:cNvPr id="6" name="Content Placeholder 5">
            <a:extLst>
              <a:ext uri="{FF2B5EF4-FFF2-40B4-BE49-F238E27FC236}">
                <a16:creationId xmlns:a16="http://schemas.microsoft.com/office/drawing/2014/main" id="{6F982B6B-AFCF-99C9-DB7C-1CB84315B835}"/>
              </a:ext>
            </a:extLst>
          </p:cNvPr>
          <p:cNvSpPr>
            <a:spLocks noGrp="1"/>
          </p:cNvSpPr>
          <p:nvPr>
            <p:ph idx="1"/>
          </p:nvPr>
        </p:nvSpPr>
        <p:spPr/>
        <p:txBody>
          <a:bodyPr>
            <a:normAutofit fontScale="92500" lnSpcReduction="20000"/>
          </a:bodyPr>
          <a:lstStyle/>
          <a:p>
            <a:pPr algn="just"/>
            <a:r>
              <a:rPr lang="en-US" altLang="ja-JP" dirty="0" err="1">
                <a:ea typeface="MS UI Gothic" panose="020B0600070205080204" pitchFamily="50" charset="-128"/>
              </a:rPr>
              <a:t>Biến</a:t>
            </a:r>
            <a:r>
              <a:rPr lang="en-US" altLang="ja-JP" dirty="0">
                <a:ea typeface="MS UI Gothic" panose="020B0600070205080204" pitchFamily="50" charset="-128"/>
              </a:rPr>
              <a:t> local</a:t>
            </a:r>
            <a:r>
              <a:rPr lang="ja-JP" altLang="en-US" dirty="0">
                <a:ea typeface="MS UI Gothic" panose="020B0600070205080204" pitchFamily="50" charset="-128"/>
              </a:rPr>
              <a:t>　</a:t>
            </a:r>
          </a:p>
          <a:p>
            <a:pPr lvl="1" algn="just"/>
            <a:r>
              <a:rPr lang="ja-JP" altLang="en-US"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local là </a:t>
            </a:r>
            <a:r>
              <a:rPr lang="en-US" altLang="ja-JP" dirty="0" err="1">
                <a:ea typeface="MS UI Gothic" panose="020B0600070205080204" pitchFamily="50" charset="-128"/>
              </a:rPr>
              <a:t>biến</a:t>
            </a:r>
            <a:r>
              <a:rPr lang="en-US" altLang="ja-JP" dirty="0">
                <a:ea typeface="MS UI Gothic" panose="020B0600070205080204" pitchFamily="50" charset="-128"/>
              </a:rPr>
              <a:t>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a:t>
            </a:r>
            <a:r>
              <a:rPr lang="en-US" altLang="ja-JP" dirty="0" err="1">
                <a:ea typeface="MS UI Gothic" panose="020B0600070205080204" pitchFamily="50" charset="-128"/>
              </a:rPr>
              <a:t>bên</a:t>
            </a:r>
            <a:r>
              <a:rPr lang="en-US" altLang="ja-JP" dirty="0">
                <a:ea typeface="MS UI Gothic" panose="020B0600070205080204" pitchFamily="50" charset="-128"/>
              </a:rPr>
              <a:t> </a:t>
            </a:r>
            <a:r>
              <a:rPr lang="en-US" altLang="ja-JP" dirty="0" err="1">
                <a:ea typeface="MS UI Gothic" panose="020B0600070205080204" pitchFamily="50" charset="-128"/>
              </a:rPr>
              <a:t>trong</a:t>
            </a:r>
            <a:r>
              <a:rPr lang="en-US" altLang="ja-JP" dirty="0">
                <a:ea typeface="MS UI Gothic" panose="020B0600070205080204" pitchFamily="50" charset="-128"/>
              </a:rPr>
              <a:t> method, </a:t>
            </a:r>
            <a:r>
              <a:rPr lang="en-US" altLang="ja-JP" dirty="0" err="1">
                <a:ea typeface="MS UI Gothic" panose="020B0600070205080204" pitchFamily="50" charset="-128"/>
              </a:rPr>
              <a:t>sau</a:t>
            </a:r>
            <a:r>
              <a:rPr lang="en-US" altLang="ja-JP" dirty="0">
                <a:ea typeface="MS UI Gothic" panose="020B0600070205080204" pitchFamily="50" charset="-128"/>
              </a:rPr>
              <a:t> </a:t>
            </a:r>
            <a:r>
              <a:rPr lang="en-US" altLang="ja-JP" dirty="0" err="1">
                <a:ea typeface="MS UI Gothic" panose="020B0600070205080204" pitchFamily="50" charset="-128"/>
              </a:rPr>
              <a:t>khi</a:t>
            </a:r>
            <a:r>
              <a:rPr lang="en-US" altLang="ja-JP" dirty="0">
                <a:ea typeface="MS UI Gothic" panose="020B0600070205080204" pitchFamily="50" charset="-128"/>
              </a:rPr>
              <a:t>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nó sẽ </a:t>
            </a:r>
            <a:r>
              <a:rPr lang="en-US" altLang="ja-JP" dirty="0" err="1">
                <a:ea typeface="MS UI Gothic" panose="020B0600070205080204" pitchFamily="50" charset="-128"/>
              </a:rPr>
              <a:t>trơ</a:t>
            </a:r>
            <a:r>
              <a:rPr lang="en-US" altLang="ja-JP" dirty="0">
                <a:ea typeface="MS UI Gothic" panose="020B0600070205080204" pitchFamily="50" charset="-128"/>
              </a:rPr>
              <a:t>̉ </a:t>
            </a:r>
            <a:r>
              <a:rPr lang="en-US" altLang="ja-JP" dirty="0" err="1">
                <a:ea typeface="MS UI Gothic" panose="020B0600070205080204" pitchFamily="50" charset="-128"/>
              </a:rPr>
              <a:t>thành</a:t>
            </a:r>
            <a:r>
              <a:rPr lang="en-US" altLang="ja-JP"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a:t>
            </a:r>
            <a:r>
              <a:rPr lang="en-US" altLang="ja-JP" dirty="0" err="1">
                <a:ea typeface="MS UI Gothic" panose="020B0600070205080204" pitchFamily="50" charset="-128"/>
              </a:rPr>
              <a:t>hợp</a:t>
            </a:r>
            <a:r>
              <a:rPr lang="en-US" altLang="ja-JP" dirty="0">
                <a:ea typeface="MS UI Gothic" panose="020B0600070205080204" pitchFamily="50" charset="-128"/>
              </a:rPr>
              <a:t> </a:t>
            </a:r>
            <a:r>
              <a:rPr lang="en-US" altLang="ja-JP" dirty="0" err="1">
                <a:ea typeface="MS UI Gothic" panose="020B0600070205080204" pitchFamily="50" charset="-128"/>
              </a:rPr>
              <a:t>lê</a:t>
            </a:r>
            <a:r>
              <a:rPr lang="en-US" altLang="ja-JP" dirty="0">
                <a:ea typeface="MS UI Gothic" panose="020B0600070205080204" pitchFamily="50" charset="-128"/>
              </a:rPr>
              <a:t>̣ </a:t>
            </a:r>
            <a:r>
              <a:rPr lang="en-US" altLang="ja-JP" dirty="0" err="1">
                <a:ea typeface="MS UI Gothic" panose="020B0600070205080204" pitchFamily="50" charset="-128"/>
              </a:rPr>
              <a:t>bên</a:t>
            </a:r>
            <a:r>
              <a:rPr lang="en-US" altLang="ja-JP" dirty="0">
                <a:ea typeface="MS UI Gothic" panose="020B0600070205080204" pitchFamily="50" charset="-128"/>
              </a:rPr>
              <a:t> </a:t>
            </a:r>
            <a:r>
              <a:rPr lang="en-US" altLang="ja-JP" dirty="0" err="1">
                <a:ea typeface="MS UI Gothic" panose="020B0600070205080204" pitchFamily="50" charset="-128"/>
              </a:rPr>
              <a:t>trong</a:t>
            </a:r>
            <a:r>
              <a:rPr lang="en-US" altLang="ja-JP" dirty="0">
                <a:ea typeface="MS UI Gothic" panose="020B0600070205080204" pitchFamily="50" charset="-128"/>
              </a:rPr>
              <a:t> block </a:t>
            </a:r>
            <a:r>
              <a:rPr lang="ja-JP" altLang="en-US" dirty="0">
                <a:ea typeface="MS UI Gothic" panose="020B0600070205080204" pitchFamily="50" charset="-128"/>
              </a:rPr>
              <a:t>（</a:t>
            </a:r>
            <a:r>
              <a:rPr lang="en-US" altLang="ja-JP" dirty="0">
                <a:ea typeface="MS UI Gothic" panose="020B0600070205080204" pitchFamily="50" charset="-128"/>
              </a:rPr>
              <a:t>{ }</a:t>
            </a:r>
            <a:r>
              <a:rPr lang="ja-JP" altLang="en-US" dirty="0">
                <a:ea typeface="MS UI Gothic" panose="020B0600070205080204" pitchFamily="50" charset="-128"/>
              </a:rPr>
              <a:t>） </a:t>
            </a:r>
            <a:r>
              <a:rPr lang="en-US" altLang="ja-JP" dirty="0" err="1">
                <a:ea typeface="MS UI Gothic" panose="020B0600070205080204" pitchFamily="50" charset="-128"/>
              </a:rPr>
              <a:t>đa</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a:t>
            </a:r>
          </a:p>
          <a:p>
            <a:pPr lvl="1" algn="just"/>
            <a:r>
              <a:rPr lang="ja-JP" altLang="en-US" dirty="0">
                <a:ea typeface="MS UI Gothic" panose="020B0600070205080204" pitchFamily="50" charset="-128"/>
              </a:rPr>
              <a:t>　</a:t>
            </a:r>
            <a:r>
              <a:rPr lang="en-US" altLang="ja-JP" dirty="0" err="1">
                <a:ea typeface="MS UI Gothic" panose="020B0600070205080204" pitchFamily="50" charset="-128"/>
              </a:rPr>
              <a:t>Mỗi</a:t>
            </a:r>
            <a:r>
              <a:rPr lang="en-US" altLang="ja-JP" dirty="0">
                <a:ea typeface="MS UI Gothic" panose="020B0600070205080204" pitchFamily="50" charset="-128"/>
              </a:rPr>
              <a:t> </a:t>
            </a:r>
            <a:r>
              <a:rPr lang="en-US" altLang="ja-JP" dirty="0" err="1">
                <a:ea typeface="MS UI Gothic" panose="020B0600070205080204" pitchFamily="50" charset="-128"/>
              </a:rPr>
              <a:t>khi</a:t>
            </a:r>
            <a:r>
              <a:rPr lang="en-US" altLang="ja-JP" dirty="0">
                <a:ea typeface="MS UI Gothic" panose="020B0600070205080204" pitchFamily="50" charset="-128"/>
              </a:rPr>
              <a:t> method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gọi</a:t>
            </a:r>
            <a:r>
              <a:rPr lang="en-US" altLang="ja-JP" dirty="0">
                <a:ea typeface="MS UI Gothic" panose="020B0600070205080204" pitchFamily="50" charset="-128"/>
              </a:rPr>
              <a:t> </a:t>
            </a:r>
            <a:r>
              <a:rPr lang="en-US" altLang="ja-JP" dirty="0" err="1">
                <a:ea typeface="MS UI Gothic" panose="020B0600070205080204" pitchFamily="50" charset="-128"/>
              </a:rPr>
              <a:t>ra</a:t>
            </a:r>
            <a:r>
              <a:rPr lang="en-US" altLang="ja-JP" dirty="0">
                <a:ea typeface="MS UI Gothic" panose="020B0600070205080204" pitchFamily="50" charset="-128"/>
              </a:rPr>
              <a:t> </a:t>
            </a:r>
            <a:r>
              <a:rPr lang="en-US" altLang="ja-JP" dirty="0" err="1">
                <a:ea typeface="MS UI Gothic" panose="020B0600070205080204" pitchFamily="50" charset="-128"/>
              </a:rPr>
              <a:t>thi</a:t>
            </a:r>
            <a:r>
              <a:rPr lang="en-US" altLang="ja-JP" dirty="0">
                <a:ea typeface="MS UI Gothic" panose="020B0600070205080204" pitchFamily="50" charset="-128"/>
              </a:rPr>
              <a:t>̀ </a:t>
            </a:r>
            <a:r>
              <a:rPr lang="en-US" altLang="ja-JP" dirty="0" err="1">
                <a:ea typeface="MS UI Gothic" panose="020B0600070205080204" pitchFamily="50" charset="-128"/>
              </a:rPr>
              <a:t>một</a:t>
            </a:r>
            <a:r>
              <a:rPr lang="en-US" altLang="ja-JP" dirty="0">
                <a:ea typeface="MS UI Gothic" panose="020B0600070205080204" pitchFamily="50" charset="-128"/>
              </a:rPr>
              <a:t> </a:t>
            </a:r>
            <a:r>
              <a:rPr lang="en-US" altLang="ja-JP" dirty="0" err="1">
                <a:ea typeface="MS UI Gothic" panose="020B0600070205080204" pitchFamily="50" charset="-128"/>
              </a:rPr>
              <a:t>khu</a:t>
            </a:r>
            <a:r>
              <a:rPr lang="en-US" altLang="ja-JP" dirty="0">
                <a:ea typeface="MS UI Gothic" panose="020B0600070205080204" pitchFamily="50" charset="-128"/>
              </a:rPr>
              <a:t> </a:t>
            </a:r>
            <a:r>
              <a:rPr lang="en-US" altLang="ja-JP" dirty="0" err="1">
                <a:ea typeface="MS UI Gothic" panose="020B0600070205080204" pitchFamily="50" charset="-128"/>
              </a:rPr>
              <a:t>vực</a:t>
            </a:r>
            <a:r>
              <a:rPr lang="en-US" altLang="ja-JP" dirty="0">
                <a:ea typeface="MS UI Gothic" panose="020B0600070205080204" pitchFamily="50" charset="-128"/>
              </a:rPr>
              <a:t> sẽ bị </a:t>
            </a:r>
            <a:r>
              <a:rPr lang="en-US" altLang="ja-JP" dirty="0" err="1">
                <a:ea typeface="MS UI Gothic" panose="020B0600070205080204" pitchFamily="50" charset="-128"/>
              </a:rPr>
              <a:t>chiếm</a:t>
            </a:r>
            <a:r>
              <a:rPr lang="en-US" altLang="ja-JP" dirty="0">
                <a:ea typeface="MS UI Gothic" panose="020B0600070205080204" pitchFamily="50" charset="-128"/>
              </a:rPr>
              <a:t> </a:t>
            </a:r>
            <a:r>
              <a:rPr lang="en-US" altLang="ja-JP" dirty="0" err="1">
                <a:ea typeface="MS UI Gothic" panose="020B0600070205080204" pitchFamily="50" charset="-128"/>
              </a:rPr>
              <a:t>chô</a:t>
            </a:r>
            <a:r>
              <a:rPr lang="en-US" altLang="ja-JP" dirty="0">
                <a:ea typeface="MS UI Gothic" panose="020B0600070205080204" pitchFamily="50" charset="-128"/>
              </a:rPr>
              <a:t>̃, </a:t>
            </a:r>
            <a:r>
              <a:rPr lang="en-US" altLang="ja-JP" dirty="0" err="1">
                <a:ea typeface="MS UI Gothic" panose="020B0600070205080204" pitchFamily="50" charset="-128"/>
              </a:rPr>
              <a:t>va</a:t>
            </a:r>
            <a:r>
              <a:rPr lang="en-US" altLang="ja-JP" dirty="0">
                <a:ea typeface="MS UI Gothic" panose="020B0600070205080204" pitchFamily="50" charset="-128"/>
              </a:rPr>
              <a:t>̀ </a:t>
            </a:r>
            <a:r>
              <a:rPr lang="en-US" altLang="ja-JP" dirty="0" err="1">
                <a:ea typeface="MS UI Gothic" panose="020B0600070205080204" pitchFamily="50" charset="-128"/>
              </a:rPr>
              <a:t>gia</a:t>
            </a:r>
            <a:r>
              <a:rPr lang="en-US" altLang="ja-JP" dirty="0">
                <a:ea typeface="MS UI Gothic" panose="020B0600070205080204" pitchFamily="50" charset="-128"/>
              </a:rPr>
              <a:t>́ trị </a:t>
            </a:r>
            <a:r>
              <a:rPr lang="en-US" altLang="ja-JP" dirty="0" err="1">
                <a:ea typeface="MS UI Gothic" panose="020B0600070205080204" pitchFamily="50" charset="-128"/>
              </a:rPr>
              <a:t>của</a:t>
            </a:r>
            <a:r>
              <a:rPr lang="en-US" altLang="ja-JP"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chỉ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duy</a:t>
            </a:r>
            <a:r>
              <a:rPr lang="en-US" altLang="ja-JP" dirty="0">
                <a:ea typeface="MS UI Gothic" panose="020B0600070205080204" pitchFamily="50" charset="-128"/>
              </a:rPr>
              <a:t> trì </a:t>
            </a:r>
            <a:r>
              <a:rPr lang="en-US" altLang="ja-JP" dirty="0" err="1">
                <a:ea typeface="MS UI Gothic" panose="020B0600070205080204" pitchFamily="50" charset="-128"/>
              </a:rPr>
              <a:t>trong</a:t>
            </a:r>
            <a:r>
              <a:rPr lang="en-US" altLang="ja-JP" dirty="0">
                <a:ea typeface="MS UI Gothic" panose="020B0600070205080204" pitchFamily="50" charset="-128"/>
              </a:rPr>
              <a:t> </a:t>
            </a:r>
            <a:r>
              <a:rPr lang="en-US" altLang="ja-JP" dirty="0" err="1">
                <a:ea typeface="MS UI Gothic" panose="020B0600070205080204" pitchFamily="50" charset="-128"/>
              </a:rPr>
              <a:t>khoảng</a:t>
            </a:r>
            <a:r>
              <a:rPr lang="en-US" altLang="ja-JP" dirty="0">
                <a:ea typeface="MS UI Gothic" panose="020B0600070205080204" pitchFamily="50" charset="-128"/>
              </a:rPr>
              <a:t> </a:t>
            </a:r>
            <a:r>
              <a:rPr lang="en-US" altLang="ja-JP" dirty="0" err="1">
                <a:ea typeface="MS UI Gothic" panose="020B0600070205080204" pitchFamily="50" charset="-128"/>
              </a:rPr>
              <a:t>thời</a:t>
            </a:r>
            <a:r>
              <a:rPr lang="en-US" altLang="ja-JP" dirty="0">
                <a:ea typeface="MS UI Gothic" panose="020B0600070205080204" pitchFamily="50" charset="-128"/>
              </a:rPr>
              <a:t> </a:t>
            </a:r>
            <a:r>
              <a:rPr lang="en-US" altLang="ja-JP" dirty="0" err="1">
                <a:ea typeface="MS UI Gothic" panose="020B0600070205080204" pitchFamily="50" charset="-128"/>
              </a:rPr>
              <a:t>gian</a:t>
            </a:r>
            <a:r>
              <a:rPr lang="en-US" altLang="ja-JP" dirty="0">
                <a:ea typeface="MS UI Gothic" panose="020B0600070205080204" pitchFamily="50" charset="-128"/>
              </a:rPr>
              <a:t> method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thực</a:t>
            </a:r>
            <a:r>
              <a:rPr lang="en-US" altLang="ja-JP" dirty="0">
                <a:ea typeface="MS UI Gothic" panose="020B0600070205080204" pitchFamily="50" charset="-128"/>
              </a:rPr>
              <a:t> </a:t>
            </a:r>
            <a:r>
              <a:rPr lang="en-US" altLang="ja-JP" dirty="0" err="1">
                <a:ea typeface="MS UI Gothic" panose="020B0600070205080204" pitchFamily="50" charset="-128"/>
              </a:rPr>
              <a:t>hiện</a:t>
            </a:r>
            <a:r>
              <a:rPr lang="en-US" altLang="ja-JP" dirty="0">
                <a:ea typeface="MS UI Gothic" panose="020B0600070205080204" pitchFamily="50" charset="-128"/>
              </a:rPr>
              <a:t>.</a:t>
            </a:r>
          </a:p>
          <a:p>
            <a:pPr lvl="1" algn="just"/>
            <a:r>
              <a:rPr lang="ja-JP" altLang="en-US" dirty="0">
                <a:ea typeface="MS UI Gothic" panose="020B0600070205080204" pitchFamily="50" charset="-128"/>
              </a:rPr>
              <a:t>　</a:t>
            </a:r>
            <a:r>
              <a:rPr lang="en-US" altLang="ja-JP" dirty="0" err="1">
                <a:ea typeface="MS UI Gothic" panose="020B0600070205080204" pitchFamily="50" charset="-128"/>
              </a:rPr>
              <a:t>Đây</a:t>
            </a:r>
            <a:r>
              <a:rPr lang="en-US" altLang="ja-JP" dirty="0">
                <a:ea typeface="MS UI Gothic" panose="020B0600070205080204" pitchFamily="50" charset="-128"/>
              </a:rPr>
              <a:t> là </a:t>
            </a:r>
            <a:r>
              <a:rPr lang="en-US" altLang="ja-JP" dirty="0" err="1">
                <a:ea typeface="MS UI Gothic" panose="020B0600070205080204" pitchFamily="50" charset="-128"/>
              </a:rPr>
              <a:t>biến</a:t>
            </a:r>
            <a:r>
              <a:rPr lang="en-US" altLang="ja-JP" dirty="0">
                <a:ea typeface="MS UI Gothic" panose="020B0600070205080204" pitchFamily="50" charset="-128"/>
              </a:rPr>
              <a:t> mà </a:t>
            </a:r>
            <a:r>
              <a:rPr lang="en-US" altLang="ja-JP" dirty="0" err="1">
                <a:ea typeface="MS UI Gothic" panose="020B0600070205080204" pitchFamily="50" charset="-128"/>
              </a:rPr>
              <a:t>người</a:t>
            </a:r>
            <a:r>
              <a:rPr lang="en-US" altLang="ja-JP" dirty="0">
                <a:ea typeface="MS UI Gothic" panose="020B0600070205080204" pitchFamily="50" charset="-128"/>
              </a:rPr>
              <a:t> </a:t>
            </a:r>
            <a:r>
              <a:rPr lang="en-US" altLang="ja-JP" dirty="0" err="1">
                <a:ea typeface="MS UI Gothic" panose="020B0600070205080204" pitchFamily="50" charset="-128"/>
              </a:rPr>
              <a:t>tạo</a:t>
            </a:r>
            <a:r>
              <a:rPr lang="en-US" altLang="ja-JP" dirty="0">
                <a:ea typeface="MS UI Gothic" panose="020B0600070205080204" pitchFamily="50" charset="-128"/>
              </a:rPr>
              <a:t> program </a:t>
            </a:r>
            <a:r>
              <a:rPr lang="en-US" altLang="ja-JP" dirty="0" err="1">
                <a:ea typeface="MS UI Gothic" panose="020B0600070205080204" pitchFamily="50" charset="-128"/>
              </a:rPr>
              <a:t>sư</a:t>
            </a:r>
            <a:r>
              <a:rPr lang="en-US" altLang="ja-JP" dirty="0">
                <a:ea typeface="MS UI Gothic" panose="020B0600070205080204" pitchFamily="50" charset="-128"/>
              </a:rPr>
              <a:t>̉ </a:t>
            </a:r>
            <a:r>
              <a:rPr lang="en-US" altLang="ja-JP" dirty="0" err="1">
                <a:ea typeface="MS UI Gothic" panose="020B0600070205080204" pitchFamily="50" charset="-128"/>
              </a:rPr>
              <a:t>dụng</a:t>
            </a:r>
            <a:r>
              <a:rPr lang="en-US" altLang="ja-JP" dirty="0">
                <a:ea typeface="MS UI Gothic" panose="020B0600070205080204" pitchFamily="50" charset="-128"/>
              </a:rPr>
              <a:t> </a:t>
            </a:r>
            <a:r>
              <a:rPr lang="en-US" altLang="ja-JP" dirty="0" err="1">
                <a:ea typeface="MS UI Gothic" panose="020B0600070205080204" pitchFamily="50" charset="-128"/>
              </a:rPr>
              <a:t>đê</a:t>
            </a:r>
            <a:r>
              <a:rPr lang="en-US" altLang="ja-JP" dirty="0">
                <a:ea typeface="MS UI Gothic" panose="020B0600070205080204" pitchFamily="50" charset="-128"/>
              </a:rPr>
              <a:t>̉ </a:t>
            </a:r>
            <a:r>
              <a:rPr lang="en-US" altLang="ja-JP" dirty="0" err="1">
                <a:ea typeface="MS UI Gothic" panose="020B0600070205080204" pitchFamily="50" charset="-128"/>
              </a:rPr>
              <a:t>làm</a:t>
            </a:r>
            <a:r>
              <a:rPr lang="en-US" altLang="ja-JP" dirty="0">
                <a:ea typeface="MS UI Gothic" panose="020B0600070205080204" pitchFamily="50" charset="-128"/>
              </a:rPr>
              <a:t> </a:t>
            </a:r>
            <a:r>
              <a:rPr lang="en-US" altLang="ja-JP" dirty="0" err="1">
                <a:ea typeface="MS UI Gothic" panose="020B0600070205080204" pitchFamily="50" charset="-128"/>
              </a:rPr>
              <a:t>việc</a:t>
            </a:r>
            <a:r>
              <a:rPr lang="en-US" altLang="ja-JP" dirty="0">
                <a:ea typeface="MS UI Gothic" panose="020B0600070205080204" pitchFamily="50" charset="-128"/>
              </a:rPr>
              <a:t>. Nó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sư</a:t>
            </a:r>
            <a:r>
              <a:rPr lang="en-US" altLang="ja-JP" dirty="0">
                <a:ea typeface="MS UI Gothic" panose="020B0600070205080204" pitchFamily="50" charset="-128"/>
              </a:rPr>
              <a:t>̉ </a:t>
            </a:r>
            <a:r>
              <a:rPr lang="en-US" altLang="ja-JP" dirty="0" err="1">
                <a:ea typeface="MS UI Gothic" panose="020B0600070205080204" pitchFamily="50" charset="-128"/>
              </a:rPr>
              <a:t>dụng</a:t>
            </a:r>
            <a:r>
              <a:rPr lang="en-US" altLang="ja-JP" dirty="0">
                <a:ea typeface="MS UI Gothic" panose="020B0600070205080204" pitchFamily="50" charset="-128"/>
              </a:rPr>
              <a:t> </a:t>
            </a:r>
            <a:r>
              <a:rPr lang="en-US" altLang="ja-JP" dirty="0" err="1">
                <a:ea typeface="MS UI Gothic" panose="020B0600070205080204" pitchFamily="50" charset="-128"/>
              </a:rPr>
              <a:t>trong</a:t>
            </a:r>
            <a:r>
              <a:rPr lang="en-US" altLang="ja-JP" dirty="0">
                <a:ea typeface="MS UI Gothic" panose="020B0600070205080204" pitchFamily="50" charset="-128"/>
              </a:rPr>
              <a:t> </a:t>
            </a:r>
            <a:r>
              <a:rPr lang="en-US" altLang="ja-JP" dirty="0" err="1">
                <a:ea typeface="MS UI Gothic" panose="020B0600070205080204" pitchFamily="50" charset="-128"/>
              </a:rPr>
              <a:t>các</a:t>
            </a:r>
            <a:r>
              <a:rPr lang="en-US" altLang="ja-JP" dirty="0">
                <a:ea typeface="MS UI Gothic" panose="020B0600070205080204" pitchFamily="50" charset="-128"/>
              </a:rPr>
              <a:t> </a:t>
            </a:r>
            <a:r>
              <a:rPr lang="en-US" altLang="ja-JP" dirty="0" err="1">
                <a:ea typeface="MS UI Gothic" panose="020B0600070205080204" pitchFamily="50" charset="-128"/>
              </a:rPr>
              <a:t>trường</a:t>
            </a:r>
            <a:r>
              <a:rPr lang="en-US" altLang="ja-JP" dirty="0">
                <a:ea typeface="MS UI Gothic" panose="020B0600070205080204" pitchFamily="50" charset="-128"/>
              </a:rPr>
              <a:t> </a:t>
            </a:r>
            <a:r>
              <a:rPr lang="en-US" altLang="ja-JP" dirty="0" err="1">
                <a:ea typeface="MS UI Gothic" panose="020B0600070205080204" pitchFamily="50" charset="-128"/>
              </a:rPr>
              <a:t>hợp</a:t>
            </a:r>
            <a:r>
              <a:rPr lang="en-US" altLang="ja-JP" dirty="0">
                <a:ea typeface="MS UI Gothic" panose="020B0600070205080204" pitchFamily="50" charset="-128"/>
              </a:rPr>
              <a:t> </a:t>
            </a:r>
            <a:r>
              <a:rPr lang="en-US" altLang="ja-JP" dirty="0" err="1">
                <a:ea typeface="MS UI Gothic" panose="020B0600070205080204" pitchFamily="50" charset="-128"/>
              </a:rPr>
              <a:t>bảo</a:t>
            </a:r>
            <a:r>
              <a:rPr lang="en-US" altLang="ja-JP" dirty="0">
                <a:ea typeface="MS UI Gothic" panose="020B0600070205080204" pitchFamily="50" charset="-128"/>
              </a:rPr>
              <a:t> </a:t>
            </a:r>
            <a:r>
              <a:rPr lang="en-US" altLang="ja-JP" dirty="0" err="1">
                <a:ea typeface="MS UI Gothic" panose="020B0600070205080204" pitchFamily="50" charset="-128"/>
              </a:rPr>
              <a:t>quản</a:t>
            </a:r>
            <a:r>
              <a:rPr lang="en-US" altLang="ja-JP" dirty="0">
                <a:ea typeface="MS UI Gothic" panose="020B0600070205080204" pitchFamily="50" charset="-128"/>
              </a:rPr>
              <a:t> data </a:t>
            </a:r>
            <a:r>
              <a:rPr lang="en-US" altLang="ja-JP" dirty="0" err="1">
                <a:ea typeface="MS UI Gothic" panose="020B0600070205080204" pitchFamily="50" charset="-128"/>
              </a:rPr>
              <a:t>tạm</a:t>
            </a:r>
            <a:r>
              <a:rPr lang="en-US" altLang="ja-JP" dirty="0">
                <a:ea typeface="MS UI Gothic" panose="020B0600070205080204" pitchFamily="50" charset="-128"/>
              </a:rPr>
              <a:t> </a:t>
            </a:r>
            <a:r>
              <a:rPr lang="en-US" altLang="ja-JP" dirty="0" err="1">
                <a:ea typeface="MS UI Gothic" panose="020B0600070205080204" pitchFamily="50" charset="-128"/>
              </a:rPr>
              <a:t>thời</a:t>
            </a:r>
            <a:r>
              <a:rPr lang="en-US" altLang="ja-JP" dirty="0">
                <a:ea typeface="MS UI Gothic" panose="020B0600070205080204" pitchFamily="50" charset="-128"/>
              </a:rPr>
              <a:t>.</a:t>
            </a:r>
          </a:p>
          <a:p>
            <a:pPr lvl="1" algn="just"/>
            <a:r>
              <a:rPr lang="ja-JP" altLang="en-US"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local </a:t>
            </a:r>
            <a:r>
              <a:rPr lang="en-US" altLang="ja-JP" dirty="0" err="1">
                <a:ea typeface="MS UI Gothic" panose="020B0600070205080204" pitchFamily="50" charset="-128"/>
              </a:rPr>
              <a:t>không</a:t>
            </a:r>
            <a:r>
              <a:rPr lang="en-US" altLang="ja-JP" dirty="0">
                <a:ea typeface="MS UI Gothic" panose="020B0600070205080204" pitchFamily="50" charset="-128"/>
              </a:rPr>
              <a:t> </a:t>
            </a:r>
            <a:r>
              <a:rPr lang="en-US" altLang="ja-JP" dirty="0" err="1">
                <a:ea typeface="MS UI Gothic" panose="020B0600070205080204" pitchFamily="50" charset="-128"/>
              </a:rPr>
              <a:t>phải</a:t>
            </a:r>
            <a:r>
              <a:rPr lang="en-US" altLang="ja-JP" dirty="0">
                <a:ea typeface="MS UI Gothic" panose="020B0600070205080204" pitchFamily="50" charset="-128"/>
              </a:rPr>
              <a:t> là </a:t>
            </a:r>
            <a:r>
              <a:rPr lang="en-US" altLang="ja-JP" dirty="0" err="1">
                <a:ea typeface="MS UI Gothic" panose="020B0600070205080204" pitchFamily="50" charset="-128"/>
              </a:rPr>
              <a:t>phần</a:t>
            </a:r>
            <a:r>
              <a:rPr lang="en-US" altLang="ja-JP" dirty="0">
                <a:ea typeface="MS UI Gothic" panose="020B0600070205080204" pitchFamily="50" charset="-128"/>
              </a:rPr>
              <a:t> </a:t>
            </a:r>
            <a:r>
              <a:rPr lang="en-US" altLang="ja-JP" dirty="0" err="1">
                <a:ea typeface="MS UI Gothic" panose="020B0600070205080204" pitchFamily="50" charset="-128"/>
              </a:rPr>
              <a:t>tư</a:t>
            </a:r>
            <a:r>
              <a:rPr lang="en-US" altLang="ja-JP" dirty="0">
                <a:ea typeface="MS UI Gothic" panose="020B0600070205080204" pitchFamily="50" charset="-128"/>
              </a:rPr>
              <a:t>̉ </a:t>
            </a:r>
            <a:r>
              <a:rPr lang="en-US" altLang="ja-JP" dirty="0" err="1">
                <a:ea typeface="MS UI Gothic" panose="020B0600070205080204" pitchFamily="50" charset="-128"/>
              </a:rPr>
              <a:t>của</a:t>
            </a:r>
            <a:r>
              <a:rPr lang="en-US" altLang="ja-JP" dirty="0">
                <a:ea typeface="MS UI Gothic" panose="020B0600070205080204" pitchFamily="50" charset="-128"/>
              </a:rPr>
              <a:t> </a:t>
            </a:r>
            <a:r>
              <a:rPr lang="en-US" altLang="ja-JP" dirty="0" err="1">
                <a:ea typeface="MS UI Gothic" panose="020B0600070205080204" pitchFamily="50" charset="-128"/>
              </a:rPr>
              <a:t>mảng</a:t>
            </a:r>
            <a:r>
              <a:rPr lang="en-US" altLang="ja-JP" dirty="0">
                <a:ea typeface="MS UI Gothic" panose="020B0600070205080204" pitchFamily="50" charset="-128"/>
              </a:rPr>
              <a:t> </a:t>
            </a:r>
            <a:r>
              <a:rPr lang="en-US" altLang="ja-JP" dirty="0" err="1">
                <a:ea typeface="MS UI Gothic" panose="020B0600070205080204" pitchFamily="50" charset="-128"/>
              </a:rPr>
              <a:t>thi</a:t>
            </a:r>
            <a:r>
              <a:rPr lang="en-US" altLang="ja-JP" dirty="0">
                <a:ea typeface="MS UI Gothic" panose="020B0600070205080204" pitchFamily="50" charset="-128"/>
              </a:rPr>
              <a:t>̀ sẽ </a:t>
            </a:r>
            <a:r>
              <a:rPr lang="en-US" altLang="ja-JP" dirty="0" err="1">
                <a:ea typeface="MS UI Gothic" panose="020B0600070205080204" pitchFamily="50" charset="-128"/>
              </a:rPr>
              <a:t>không</a:t>
            </a:r>
            <a:r>
              <a:rPr lang="en-US" altLang="ja-JP" dirty="0">
                <a:ea typeface="MS UI Gothic" panose="020B0600070205080204" pitchFamily="50" charset="-128"/>
              </a:rPr>
              <a:t>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khởi</a:t>
            </a:r>
            <a:r>
              <a:rPr lang="en-US" altLang="ja-JP" dirty="0">
                <a:ea typeface="MS UI Gothic" panose="020B0600070205080204" pitchFamily="50" charset="-128"/>
              </a:rPr>
              <a:t> </a:t>
            </a:r>
            <a:r>
              <a:rPr lang="en-US" altLang="ja-JP" dirty="0" err="1">
                <a:ea typeface="MS UI Gothic" panose="020B0600070205080204" pitchFamily="50" charset="-128"/>
              </a:rPr>
              <a:t>tạo</a:t>
            </a:r>
            <a:r>
              <a:rPr lang="en-US" altLang="ja-JP" dirty="0">
                <a:ea typeface="MS UI Gothic" panose="020B0600070205080204" pitchFamily="50" charset="-128"/>
              </a:rPr>
              <a:t>. </a:t>
            </a:r>
            <a:r>
              <a:rPr lang="en-US" altLang="ja-JP" dirty="0" err="1">
                <a:ea typeface="MS UI Gothic" panose="020B0600070205080204" pitchFamily="50" charset="-128"/>
              </a:rPr>
              <a:t>Hãy</a:t>
            </a:r>
            <a:r>
              <a:rPr lang="en-US" altLang="ja-JP" dirty="0">
                <a:ea typeface="MS UI Gothic" panose="020B0600070205080204" pitchFamily="50" charset="-128"/>
              </a:rPr>
              <a:t> </a:t>
            </a:r>
            <a:r>
              <a:rPr lang="en-US" altLang="ja-JP" dirty="0" err="1">
                <a:ea typeface="MS UI Gothic" panose="020B0600070205080204" pitchFamily="50" charset="-128"/>
              </a:rPr>
              <a:t>gán</a:t>
            </a:r>
            <a:r>
              <a:rPr lang="en-US" altLang="ja-JP" dirty="0">
                <a:ea typeface="MS UI Gothic" panose="020B0600070205080204" pitchFamily="50" charset="-128"/>
              </a:rPr>
              <a:t> </a:t>
            </a:r>
            <a:r>
              <a:rPr lang="en-US" altLang="ja-JP" dirty="0" err="1">
                <a:ea typeface="MS UI Gothic" panose="020B0600070205080204" pitchFamily="50" charset="-128"/>
              </a:rPr>
              <a:t>gia</a:t>
            </a:r>
            <a:r>
              <a:rPr lang="en-US" altLang="ja-JP" dirty="0">
                <a:ea typeface="MS UI Gothic" panose="020B0600070205080204" pitchFamily="50" charset="-128"/>
              </a:rPr>
              <a:t>́ trị </a:t>
            </a:r>
            <a:r>
              <a:rPr lang="en-US" altLang="ja-JP" dirty="0" err="1">
                <a:ea typeface="MS UI Gothic" panose="020B0600070205080204" pitchFamily="50" charset="-128"/>
              </a:rPr>
              <a:t>phu</a:t>
            </a:r>
            <a:r>
              <a:rPr lang="en-US" altLang="ja-JP" dirty="0">
                <a:ea typeface="MS UI Gothic" panose="020B0600070205080204" pitchFamily="50" charset="-128"/>
              </a:rPr>
              <a:t>̀ </a:t>
            </a:r>
            <a:r>
              <a:rPr lang="en-US" altLang="ja-JP" dirty="0" err="1">
                <a:ea typeface="MS UI Gothic" panose="020B0600070205080204" pitchFamily="50" charset="-128"/>
              </a:rPr>
              <a:t>hợp</a:t>
            </a:r>
            <a:r>
              <a:rPr lang="en-US" altLang="ja-JP" dirty="0">
                <a:ea typeface="MS UI Gothic" panose="020B0600070205080204" pitchFamily="50" charset="-128"/>
              </a:rPr>
              <a:t> </a:t>
            </a:r>
            <a:r>
              <a:rPr lang="en-US" altLang="ja-JP" dirty="0" err="1">
                <a:ea typeface="MS UI Gothic" panose="020B0600070205080204" pitchFamily="50" charset="-128"/>
              </a:rPr>
              <a:t>đê</a:t>
            </a:r>
            <a:r>
              <a:rPr lang="en-US" altLang="ja-JP" dirty="0">
                <a:ea typeface="MS UI Gothic" panose="020B0600070205080204" pitchFamily="50" charset="-128"/>
              </a:rPr>
              <a:t>̉ </a:t>
            </a:r>
            <a:r>
              <a:rPr lang="en-US" altLang="ja-JP" dirty="0" err="1">
                <a:ea typeface="MS UI Gothic" panose="020B0600070205080204" pitchFamily="50" charset="-128"/>
              </a:rPr>
              <a:t>sư</a:t>
            </a:r>
            <a:r>
              <a:rPr lang="en-US" altLang="ja-JP" dirty="0">
                <a:ea typeface="MS UI Gothic" panose="020B0600070205080204" pitchFamily="50" charset="-128"/>
              </a:rPr>
              <a:t>̉ </a:t>
            </a:r>
            <a:r>
              <a:rPr lang="en-US" altLang="ja-JP" dirty="0" err="1">
                <a:ea typeface="MS UI Gothic" panose="020B0600070205080204" pitchFamily="50" charset="-128"/>
              </a:rPr>
              <a:t>dụng</a:t>
            </a:r>
            <a:r>
              <a:rPr lang="en-US" altLang="ja-JP" dirty="0">
                <a:ea typeface="MS UI Gothic" panose="020B0600070205080204" pitchFamily="50" charset="-128"/>
              </a:rPr>
              <a:t>.</a:t>
            </a:r>
          </a:p>
          <a:p>
            <a:pPr marL="457200" lvl="1" indent="0" algn="just">
              <a:buNone/>
            </a:pPr>
            <a:r>
              <a:rPr lang="en-US" altLang="ja-JP" dirty="0">
                <a:ea typeface="MS UI Gothic" panose="020B0600070205080204" pitchFamily="50" charset="-128"/>
                <a:sym typeface="Wingdings" panose="05000000000000000000" pitchFamily="2" charset="2"/>
              </a:rPr>
              <a:t></a:t>
            </a:r>
            <a:r>
              <a:rPr lang="ja-JP" altLang="en-US"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mà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khai</a:t>
            </a:r>
            <a:r>
              <a:rPr lang="en-US" altLang="ja-JP" dirty="0">
                <a:ea typeface="MS UI Gothic" panose="020B0600070205080204" pitchFamily="50" charset="-128"/>
              </a:rPr>
              <a:t> </a:t>
            </a:r>
            <a:r>
              <a:rPr lang="en-US" altLang="ja-JP" dirty="0" err="1">
                <a:ea typeface="MS UI Gothic" panose="020B0600070205080204" pitchFamily="50" charset="-128"/>
              </a:rPr>
              <a:t>báo</a:t>
            </a:r>
            <a:r>
              <a:rPr lang="en-US" altLang="ja-JP" dirty="0">
                <a:ea typeface="MS UI Gothic" panose="020B0600070205080204" pitchFamily="50" charset="-128"/>
              </a:rPr>
              <a:t> </a:t>
            </a:r>
            <a:r>
              <a:rPr lang="en-US" altLang="ja-JP" dirty="0" err="1">
                <a:ea typeface="MS UI Gothic" panose="020B0600070205080204" pitchFamily="50" charset="-128"/>
              </a:rPr>
              <a:t>va</a:t>
            </a:r>
            <a:r>
              <a:rPr lang="en-US" altLang="ja-JP" dirty="0">
                <a:ea typeface="MS UI Gothic" panose="020B0600070205080204" pitchFamily="50" charset="-128"/>
              </a:rPr>
              <a:t>̀ </a:t>
            </a:r>
            <a:r>
              <a:rPr lang="en-US" altLang="ja-JP" dirty="0" err="1">
                <a:ea typeface="MS UI Gothic" panose="020B0600070205080204" pitchFamily="50" charset="-128"/>
              </a:rPr>
              <a:t>sư</a:t>
            </a:r>
            <a:r>
              <a:rPr lang="en-US" altLang="ja-JP" dirty="0">
                <a:ea typeface="MS UI Gothic" panose="020B0600070205080204" pitchFamily="50" charset="-128"/>
              </a:rPr>
              <a:t>̉ </a:t>
            </a:r>
            <a:r>
              <a:rPr lang="en-US" altLang="ja-JP" dirty="0" err="1">
                <a:ea typeface="MS UI Gothic" panose="020B0600070205080204" pitchFamily="50" charset="-128"/>
              </a:rPr>
              <a:t>dụng</a:t>
            </a:r>
            <a:r>
              <a:rPr lang="en-US" altLang="ja-JP" dirty="0">
                <a:ea typeface="MS UI Gothic" panose="020B0600070205080204" pitchFamily="50" charset="-128"/>
              </a:rPr>
              <a:t> </a:t>
            </a:r>
            <a:r>
              <a:rPr lang="en-US" altLang="ja-JP" dirty="0" err="1">
                <a:ea typeface="MS UI Gothic" panose="020B0600070205080204" pitchFamily="50" charset="-128"/>
              </a:rPr>
              <a:t>bên</a:t>
            </a:r>
            <a:r>
              <a:rPr lang="en-US" altLang="ja-JP" dirty="0">
                <a:ea typeface="MS UI Gothic" panose="020B0600070205080204" pitchFamily="50" charset="-128"/>
              </a:rPr>
              <a:t> </a:t>
            </a:r>
            <a:r>
              <a:rPr lang="en-US" altLang="ja-JP" dirty="0" err="1">
                <a:ea typeface="MS UI Gothic" panose="020B0600070205080204" pitchFamily="50" charset="-128"/>
              </a:rPr>
              <a:t>trong</a:t>
            </a:r>
            <a:r>
              <a:rPr lang="en-US" altLang="ja-JP" dirty="0">
                <a:ea typeface="MS UI Gothic" panose="020B0600070205080204" pitchFamily="50" charset="-128"/>
              </a:rPr>
              <a:t> main method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gọi</a:t>
            </a:r>
            <a:r>
              <a:rPr lang="en-US" altLang="ja-JP" dirty="0">
                <a:ea typeface="MS UI Gothic" panose="020B0600070205080204" pitchFamily="50" charset="-128"/>
              </a:rPr>
              <a:t> là </a:t>
            </a:r>
            <a:r>
              <a:rPr lang="en-US" altLang="ja-JP" dirty="0" err="1">
                <a:ea typeface="MS UI Gothic" panose="020B0600070205080204" pitchFamily="50" charset="-128"/>
              </a:rPr>
              <a:t>biến</a:t>
            </a:r>
            <a:r>
              <a:rPr lang="en-US" altLang="ja-JP" dirty="0">
                <a:ea typeface="MS UI Gothic" panose="020B0600070205080204" pitchFamily="50" charset="-128"/>
              </a:rPr>
              <a:t> local.</a:t>
            </a:r>
          </a:p>
          <a:p>
            <a:pPr lvl="1" algn="just"/>
            <a:endParaRPr lang="en-US" altLang="ja-JP" dirty="0">
              <a:ea typeface="MS UI Gothic" panose="020B0600070205080204" pitchFamily="50" charset="-128"/>
            </a:endParaRPr>
          </a:p>
          <a:p>
            <a:pPr algn="just"/>
            <a:endParaRPr lang="ja-JP" altLang="en-US" dirty="0"/>
          </a:p>
        </p:txBody>
      </p:sp>
      <p:sp>
        <p:nvSpPr>
          <p:cNvPr id="5" name="Slide Number Placeholder 4">
            <a:extLst>
              <a:ext uri="{FF2B5EF4-FFF2-40B4-BE49-F238E27FC236}">
                <a16:creationId xmlns:a16="http://schemas.microsoft.com/office/drawing/2014/main" id="{F30D9986-4F05-466B-449C-0FBB1785E0D0}"/>
              </a:ext>
            </a:extLst>
          </p:cNvPr>
          <p:cNvSpPr>
            <a:spLocks noGrp="1"/>
          </p:cNvSpPr>
          <p:nvPr>
            <p:ph type="sldNum" sz="quarter" idx="11"/>
          </p:nvPr>
        </p:nvSpPr>
        <p:spPr/>
        <p:txBody>
          <a:bodyPr/>
          <a:lstStyle/>
          <a:p>
            <a:fld id="{4AC556BE-C330-47A4-A283-5CF881B2E858}" type="slidenum">
              <a:rPr lang="en-US" altLang="ja-JP" smtClean="0"/>
              <a:pPr/>
              <a:t>6</a:t>
            </a:fld>
            <a:endParaRPr lang="en-US" altLang="ja-JP"/>
          </a:p>
        </p:txBody>
      </p:sp>
    </p:spTree>
    <p:extLst>
      <p:ext uri="{BB962C8B-B14F-4D97-AF65-F5344CB8AC3E}">
        <p14:creationId xmlns:p14="http://schemas.microsoft.com/office/powerpoint/2010/main" val="534135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65FB5-B241-7DE4-447E-414673C0B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0BCF9-EAC5-6E80-7034-5451FE437578}"/>
              </a:ext>
            </a:extLst>
          </p:cNvPr>
          <p:cNvSpPr>
            <a:spLocks noGrp="1"/>
          </p:cNvSpPr>
          <p:nvPr>
            <p:ph type="title"/>
          </p:nvPr>
        </p:nvSpPr>
        <p:spPr/>
        <p:txBody>
          <a:bodyPr>
            <a:normAutofit fontScale="90000"/>
          </a:bodyPr>
          <a:lstStyle/>
          <a:p>
            <a:r>
              <a:rPr lang="en-US" altLang="ja-JP" dirty="0" err="1">
                <a:latin typeface="+mj-lt"/>
                <a:ea typeface="MS UI Gothic" panose="020B0600070205080204" pitchFamily="50" charset="-128"/>
              </a:rPr>
              <a:t>Các</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loại</a:t>
            </a:r>
            <a:r>
              <a:rPr lang="en-US" altLang="ja-JP" dirty="0">
                <a:latin typeface="+mj-lt"/>
                <a:ea typeface="MS UI Gothic" panose="020B0600070205080204" pitchFamily="50" charset="-128"/>
              </a:rPr>
              <a:t> </a:t>
            </a:r>
            <a:r>
              <a:rPr lang="en-US" altLang="ja-JP" dirty="0" err="1">
                <a:latin typeface="+mj-lt"/>
                <a:ea typeface="MS UI Gothic" panose="020B0600070205080204" pitchFamily="50" charset="-128"/>
              </a:rPr>
              <a:t>biến</a:t>
            </a:r>
            <a:endParaRPr kumimoji="1" lang="ja-JP" altLang="en-US" dirty="0">
              <a:latin typeface="+mj-lt"/>
            </a:endParaRPr>
          </a:p>
        </p:txBody>
      </p:sp>
      <p:sp>
        <p:nvSpPr>
          <p:cNvPr id="6" name="Content Placeholder 5">
            <a:extLst>
              <a:ext uri="{FF2B5EF4-FFF2-40B4-BE49-F238E27FC236}">
                <a16:creationId xmlns:a16="http://schemas.microsoft.com/office/drawing/2014/main" id="{1137FD51-48F4-B232-DA5C-F3DE0ED2EAA9}"/>
              </a:ext>
            </a:extLst>
          </p:cNvPr>
          <p:cNvSpPr>
            <a:spLocks noGrp="1"/>
          </p:cNvSpPr>
          <p:nvPr>
            <p:ph idx="1"/>
          </p:nvPr>
        </p:nvSpPr>
        <p:spPr/>
        <p:txBody>
          <a:bodyPr>
            <a:normAutofit fontScale="92500" lnSpcReduction="20000"/>
          </a:bodyPr>
          <a:lstStyle/>
          <a:p>
            <a:pPr algn="just"/>
            <a:r>
              <a:rPr lang="en-US" altLang="ja-JP" dirty="0" err="1">
                <a:ea typeface="MS UI Gothic" panose="020B0600070205080204" pitchFamily="50" charset="-128"/>
              </a:rPr>
              <a:t>Biến</a:t>
            </a:r>
            <a:r>
              <a:rPr lang="en-US" altLang="ja-JP" dirty="0">
                <a:ea typeface="MS UI Gothic" panose="020B0600070205080204" pitchFamily="50" charset="-128"/>
              </a:rPr>
              <a:t> instance</a:t>
            </a:r>
          </a:p>
          <a:p>
            <a:pPr lvl="1" algn="just"/>
            <a:r>
              <a:rPr lang="ja-JP" altLang="en-US"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a:t>
            </a:r>
            <a:r>
              <a:rPr lang="en-US" altLang="ja-JP" dirty="0" err="1">
                <a:ea typeface="MS UI Gothic" panose="020B0600070205080204" pitchFamily="50" charset="-128"/>
              </a:rPr>
              <a:t>thê</a:t>
            </a:r>
            <a:r>
              <a:rPr lang="en-US" altLang="ja-JP" dirty="0">
                <a:ea typeface="MS UI Gothic" panose="020B0600070205080204" pitchFamily="50" charset="-128"/>
              </a:rPr>
              <a:t>̉ </a:t>
            </a:r>
            <a:r>
              <a:rPr lang="en-US" altLang="ja-JP" dirty="0" err="1">
                <a:ea typeface="MS UI Gothic" panose="020B0600070205080204" pitchFamily="50" charset="-128"/>
              </a:rPr>
              <a:t>hiện</a:t>
            </a:r>
            <a:r>
              <a:rPr lang="en-US" altLang="ja-JP" dirty="0">
                <a:ea typeface="MS UI Gothic" panose="020B0600070205080204" pitchFamily="50" charset="-128"/>
              </a:rPr>
              <a:t> </a:t>
            </a:r>
            <a:r>
              <a:rPr lang="en-US" altLang="ja-JP" dirty="0" err="1">
                <a:ea typeface="MS UI Gothic" panose="020B0600070205080204" pitchFamily="50" charset="-128"/>
              </a:rPr>
              <a:t>thuộc</a:t>
            </a:r>
            <a:r>
              <a:rPr lang="en-US" altLang="ja-JP" dirty="0">
                <a:ea typeface="MS UI Gothic" panose="020B0600070205080204" pitchFamily="50" charset="-128"/>
              </a:rPr>
              <a:t> </a:t>
            </a:r>
            <a:r>
              <a:rPr lang="en-US" altLang="ja-JP" dirty="0" err="1">
                <a:ea typeface="MS UI Gothic" panose="020B0600070205080204" pitchFamily="50" charset="-128"/>
              </a:rPr>
              <a:t>tính</a:t>
            </a:r>
            <a:r>
              <a:rPr lang="en-US" altLang="ja-JP" dirty="0">
                <a:ea typeface="MS UI Gothic" panose="020B0600070205080204" pitchFamily="50" charset="-128"/>
              </a:rPr>
              <a:t> mà </a:t>
            </a:r>
            <a:r>
              <a:rPr lang="en-US" altLang="ja-JP" dirty="0" err="1">
                <a:ea typeface="MS UI Gothic" panose="020B0600070205080204" pitchFamily="50" charset="-128"/>
              </a:rPr>
              <a:t>các</a:t>
            </a:r>
            <a:r>
              <a:rPr lang="en-US" altLang="ja-JP" dirty="0">
                <a:ea typeface="MS UI Gothic" panose="020B0600070205080204" pitchFamily="50" charset="-128"/>
              </a:rPr>
              <a:t> object </a:t>
            </a:r>
            <a:r>
              <a:rPr lang="en-US" altLang="ja-JP" dirty="0" err="1">
                <a:ea typeface="MS UI Gothic" panose="020B0600070205080204" pitchFamily="50" charset="-128"/>
              </a:rPr>
              <a:t>đang</a:t>
            </a:r>
            <a:r>
              <a:rPr lang="en-US" altLang="ja-JP" dirty="0">
                <a:ea typeface="MS UI Gothic" panose="020B0600070205080204" pitchFamily="50" charset="-128"/>
              </a:rPr>
              <a:t> có </a:t>
            </a:r>
            <a:r>
              <a:rPr lang="en-US" altLang="ja-JP" dirty="0" err="1">
                <a:ea typeface="MS UI Gothic" panose="020B0600070205080204" pitchFamily="50" charset="-128"/>
              </a:rPr>
              <a:t>thi</a:t>
            </a:r>
            <a:r>
              <a:rPr lang="en-US" altLang="ja-JP" dirty="0">
                <a:ea typeface="MS UI Gothic" panose="020B0600070205080204" pitchFamily="50" charset="-128"/>
              </a:rPr>
              <a:t>̀ </a:t>
            </a:r>
            <a:r>
              <a:rPr lang="en-US" altLang="ja-JP" dirty="0" err="1">
                <a:ea typeface="MS UI Gothic" panose="020B0600070205080204" pitchFamily="50" charset="-128"/>
              </a:rPr>
              <a:t>gọi</a:t>
            </a:r>
            <a:r>
              <a:rPr lang="en-US" altLang="ja-JP" dirty="0">
                <a:ea typeface="MS UI Gothic" panose="020B0600070205080204" pitchFamily="50" charset="-128"/>
              </a:rPr>
              <a:t> là </a:t>
            </a:r>
            <a:r>
              <a:rPr lang="en-US" altLang="ja-JP" dirty="0" err="1">
                <a:ea typeface="MS UI Gothic" panose="020B0600070205080204" pitchFamily="50" charset="-128"/>
              </a:rPr>
              <a:t>biến</a:t>
            </a:r>
            <a:r>
              <a:rPr lang="en-US" altLang="ja-JP" dirty="0">
                <a:ea typeface="MS UI Gothic" panose="020B0600070205080204" pitchFamily="50" charset="-128"/>
              </a:rPr>
              <a:t> instance.</a:t>
            </a:r>
          </a:p>
          <a:p>
            <a:pPr lvl="1" algn="just"/>
            <a:r>
              <a:rPr lang="ja-JP" altLang="en-US" dirty="0">
                <a:ea typeface="MS UI Gothic" panose="020B0600070205080204" pitchFamily="50" charset="-128"/>
              </a:rPr>
              <a:t>　</a:t>
            </a:r>
            <a:r>
              <a:rPr lang="en-US" altLang="ja-JP" dirty="0">
                <a:ea typeface="MS UI Gothic" panose="020B0600070205080204" pitchFamily="50" charset="-128"/>
              </a:rPr>
              <a:t>Giá trị </a:t>
            </a:r>
            <a:r>
              <a:rPr lang="en-US" altLang="ja-JP" dirty="0" err="1">
                <a:ea typeface="MS UI Gothic" panose="020B0600070205080204" pitchFamily="50" charset="-128"/>
              </a:rPr>
              <a:t>của</a:t>
            </a:r>
            <a:r>
              <a:rPr lang="en-US" altLang="ja-JP"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duy</a:t>
            </a:r>
            <a:r>
              <a:rPr lang="en-US" altLang="ja-JP" dirty="0">
                <a:ea typeface="MS UI Gothic" panose="020B0600070205080204" pitchFamily="50" charset="-128"/>
              </a:rPr>
              <a:t> trì </a:t>
            </a:r>
            <a:r>
              <a:rPr lang="en-US" altLang="ja-JP" dirty="0" err="1">
                <a:ea typeface="MS UI Gothic" panose="020B0600070205080204" pitchFamily="50" charset="-128"/>
              </a:rPr>
              <a:t>cho</a:t>
            </a:r>
            <a:r>
              <a:rPr lang="en-US" altLang="ja-JP" dirty="0">
                <a:ea typeface="MS UI Gothic" panose="020B0600070205080204" pitchFamily="50" charset="-128"/>
              </a:rPr>
              <a:t> </a:t>
            </a:r>
            <a:r>
              <a:rPr lang="en-US" altLang="ja-JP" dirty="0" err="1">
                <a:ea typeface="MS UI Gothic" panose="020B0600070205080204" pitchFamily="50" charset="-128"/>
              </a:rPr>
              <a:t>đến</a:t>
            </a:r>
            <a:r>
              <a:rPr lang="en-US" altLang="ja-JP" dirty="0">
                <a:ea typeface="MS UI Gothic" panose="020B0600070205080204" pitchFamily="50" charset="-128"/>
              </a:rPr>
              <a:t> </a:t>
            </a:r>
            <a:r>
              <a:rPr lang="en-US" altLang="ja-JP" dirty="0" err="1">
                <a:ea typeface="MS UI Gothic" panose="020B0600070205080204" pitchFamily="50" charset="-128"/>
              </a:rPr>
              <a:t>khi</a:t>
            </a:r>
            <a:r>
              <a:rPr lang="en-US" altLang="ja-JP" dirty="0">
                <a:ea typeface="MS UI Gothic" panose="020B0600070205080204" pitchFamily="50" charset="-128"/>
              </a:rPr>
              <a:t> object bị </a:t>
            </a:r>
            <a:r>
              <a:rPr lang="en-US" altLang="ja-JP" dirty="0" err="1">
                <a:ea typeface="MS UI Gothic" panose="020B0600070205080204" pitchFamily="50" charset="-128"/>
              </a:rPr>
              <a:t>pha</a:t>
            </a:r>
            <a:r>
              <a:rPr lang="en-US" altLang="ja-JP" dirty="0">
                <a:ea typeface="MS UI Gothic" panose="020B0600070205080204" pitchFamily="50" charset="-128"/>
              </a:rPr>
              <a:t>́ </a:t>
            </a:r>
            <a:r>
              <a:rPr lang="en-US" altLang="ja-JP" dirty="0" err="1">
                <a:ea typeface="MS UI Gothic" panose="020B0600070205080204" pitchFamily="50" charset="-128"/>
              </a:rPr>
              <a:t>hủy</a:t>
            </a:r>
            <a:r>
              <a:rPr lang="en-US" altLang="ja-JP" dirty="0">
                <a:ea typeface="MS UI Gothic" panose="020B0600070205080204" pitchFamily="50" charset="-128"/>
              </a:rPr>
              <a:t>.</a:t>
            </a:r>
          </a:p>
          <a:p>
            <a:pPr lvl="1" algn="just"/>
            <a:r>
              <a:rPr lang="ja-JP" altLang="en-US"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instance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a:t>
            </a:r>
            <a:r>
              <a:rPr lang="en-US" altLang="ja-JP" dirty="0" err="1">
                <a:ea typeface="MS UI Gothic" panose="020B0600070205080204" pitchFamily="50" charset="-128"/>
              </a:rPr>
              <a:t>bên</a:t>
            </a:r>
            <a:r>
              <a:rPr lang="en-US" altLang="ja-JP" dirty="0">
                <a:ea typeface="MS UI Gothic" panose="020B0600070205080204" pitchFamily="50" charset="-128"/>
              </a:rPr>
              <a:t> </a:t>
            </a:r>
            <a:r>
              <a:rPr lang="en-US" altLang="ja-JP" dirty="0" err="1">
                <a:ea typeface="MS UI Gothic" panose="020B0600070205080204" pitchFamily="50" charset="-128"/>
              </a:rPr>
              <a:t>trong</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class </a:t>
            </a:r>
            <a:r>
              <a:rPr lang="en-US" altLang="ja-JP" dirty="0" err="1">
                <a:ea typeface="MS UI Gothic" panose="020B0600070205080204" pitchFamily="50" charset="-128"/>
              </a:rPr>
              <a:t>va</a:t>
            </a:r>
            <a:r>
              <a:rPr lang="en-US" altLang="ja-JP" dirty="0">
                <a:ea typeface="MS UI Gothic" panose="020B0600070205080204" pitchFamily="50" charset="-128"/>
              </a:rPr>
              <a:t>̀ </a:t>
            </a:r>
            <a:r>
              <a:rPr lang="en-US" altLang="ja-JP" dirty="0" err="1">
                <a:ea typeface="MS UI Gothic" panose="020B0600070205080204" pitchFamily="50" charset="-128"/>
              </a:rPr>
              <a:t>bên</a:t>
            </a:r>
            <a:r>
              <a:rPr lang="en-US" altLang="ja-JP" dirty="0">
                <a:ea typeface="MS UI Gothic" panose="020B0600070205080204" pitchFamily="50" charset="-128"/>
              </a:rPr>
              <a:t> </a:t>
            </a:r>
            <a:r>
              <a:rPr lang="en-US" altLang="ja-JP" dirty="0" err="1">
                <a:ea typeface="MS UI Gothic" panose="020B0600070205080204" pitchFamily="50" charset="-128"/>
              </a:rPr>
              <a:t>ngoài</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method.</a:t>
            </a:r>
          </a:p>
          <a:p>
            <a:pPr lvl="1" algn="just"/>
            <a:r>
              <a:rPr lang="ja-JP" altLang="en-US" dirty="0">
                <a:ea typeface="MS UI Gothic" panose="020B0600070205080204" pitchFamily="50" charset="-128"/>
              </a:rPr>
              <a:t>　</a:t>
            </a:r>
            <a:r>
              <a:rPr lang="en-US" altLang="ja-JP" dirty="0">
                <a:ea typeface="MS UI Gothic" panose="020B0600070205080204" pitchFamily="50" charset="-128"/>
              </a:rPr>
              <a:t>Cú </a:t>
            </a:r>
            <a:r>
              <a:rPr lang="en-US" altLang="ja-JP" dirty="0" err="1">
                <a:ea typeface="MS UI Gothic" panose="020B0600070205080204" pitchFamily="50" charset="-128"/>
              </a:rPr>
              <a:t>pháp</a:t>
            </a:r>
            <a:r>
              <a:rPr lang="en-US" altLang="ja-JP" dirty="0">
                <a:ea typeface="MS UI Gothic" panose="020B0600070205080204" pitchFamily="50" charset="-128"/>
              </a:rPr>
              <a:t> </a:t>
            </a:r>
            <a:r>
              <a:rPr lang="en-US" altLang="ja-JP" dirty="0" err="1">
                <a:ea typeface="MS UI Gothic" panose="020B0600070205080204" pitchFamily="50" charset="-128"/>
              </a:rPr>
              <a:t>hầu</a:t>
            </a:r>
            <a:r>
              <a:rPr lang="en-US" altLang="ja-JP" dirty="0">
                <a:ea typeface="MS UI Gothic" panose="020B0600070205080204" pitchFamily="50" charset="-128"/>
              </a:rPr>
              <a:t> </a:t>
            </a:r>
            <a:r>
              <a:rPr lang="en-US" altLang="ja-JP" dirty="0" err="1">
                <a:ea typeface="MS UI Gothic" panose="020B0600070205080204" pitchFamily="50" charset="-128"/>
              </a:rPr>
              <a:t>như</a:t>
            </a:r>
            <a:r>
              <a:rPr lang="en-US" altLang="ja-JP" dirty="0">
                <a:ea typeface="MS UI Gothic" panose="020B0600070205080204" pitchFamily="50" charset="-128"/>
              </a:rPr>
              <a:t> </a:t>
            </a:r>
            <a:r>
              <a:rPr lang="en-US" altLang="ja-JP" dirty="0" err="1">
                <a:ea typeface="MS UI Gothic" panose="020B0600070205080204" pitchFamily="50" charset="-128"/>
              </a:rPr>
              <a:t>giống</a:t>
            </a:r>
            <a:r>
              <a:rPr lang="en-US" altLang="ja-JP" dirty="0">
                <a:ea typeface="MS UI Gothic" panose="020B0600070205080204" pitchFamily="50" charset="-128"/>
              </a:rPr>
              <a:t> </a:t>
            </a:r>
            <a:r>
              <a:rPr lang="en-US" altLang="ja-JP" dirty="0" err="1">
                <a:ea typeface="MS UI Gothic" panose="020B0600070205080204" pitchFamily="50" charset="-128"/>
              </a:rPr>
              <a:t>với</a:t>
            </a:r>
            <a:r>
              <a:rPr lang="en-US" altLang="ja-JP" dirty="0">
                <a:ea typeface="MS UI Gothic" panose="020B0600070205080204" pitchFamily="50" charset="-128"/>
              </a:rPr>
              <a:t> </a:t>
            </a:r>
            <a:r>
              <a:rPr lang="en-US" altLang="ja-JP" dirty="0" err="1">
                <a:ea typeface="MS UI Gothic" panose="020B0600070205080204" pitchFamily="50" charset="-128"/>
              </a:rPr>
              <a:t>cú</a:t>
            </a:r>
            <a:r>
              <a:rPr lang="en-US" altLang="ja-JP" dirty="0">
                <a:ea typeface="MS UI Gothic" panose="020B0600070205080204" pitchFamily="50" charset="-128"/>
              </a:rPr>
              <a:t> </a:t>
            </a:r>
            <a:r>
              <a:rPr lang="en-US" altLang="ja-JP" dirty="0" err="1">
                <a:ea typeface="MS UI Gothic" panose="020B0600070205080204" pitchFamily="50" charset="-128"/>
              </a:rPr>
              <a:t>pháp</a:t>
            </a:r>
            <a:r>
              <a:rPr lang="en-US" altLang="ja-JP" dirty="0">
                <a:ea typeface="MS UI Gothic" panose="020B0600070205080204" pitchFamily="50" charset="-128"/>
              </a:rPr>
              <a:t> </a:t>
            </a:r>
            <a:r>
              <a:rPr lang="en-US" altLang="ja-JP" dirty="0" err="1">
                <a:ea typeface="MS UI Gothic" panose="020B0600070205080204" pitchFamily="50" charset="-128"/>
              </a:rPr>
              <a:t>của</a:t>
            </a:r>
            <a:r>
              <a:rPr lang="en-US" altLang="ja-JP"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local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ở </a:t>
            </a:r>
            <a:r>
              <a:rPr lang="en-US" altLang="ja-JP" dirty="0" err="1">
                <a:ea typeface="MS UI Gothic" panose="020B0600070205080204" pitchFamily="50" charset="-128"/>
              </a:rPr>
              <a:t>trong</a:t>
            </a:r>
            <a:r>
              <a:rPr lang="en-US" altLang="ja-JP" dirty="0">
                <a:ea typeface="MS UI Gothic" panose="020B0600070205080204" pitchFamily="50" charset="-128"/>
              </a:rPr>
              <a:t> method </a:t>
            </a:r>
            <a:r>
              <a:rPr lang="en-US" altLang="ja-JP" dirty="0" err="1">
                <a:ea typeface="MS UI Gothic" panose="020B0600070205080204" pitchFamily="50" charset="-128"/>
              </a:rPr>
              <a:t>nhưng</a:t>
            </a:r>
            <a:r>
              <a:rPr lang="en-US" altLang="ja-JP" dirty="0">
                <a:ea typeface="MS UI Gothic" panose="020B0600070205080204" pitchFamily="50" charset="-128"/>
              </a:rPr>
              <a:t> </a:t>
            </a:r>
            <a:r>
              <a:rPr lang="en-US" altLang="ja-JP" dirty="0" err="1">
                <a:ea typeface="MS UI Gothic" panose="020B0600070205080204" pitchFamily="50" charset="-128"/>
              </a:rPr>
              <a:t>nơi</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a:t>
            </a:r>
            <a:r>
              <a:rPr lang="en-US" altLang="ja-JP" dirty="0" err="1">
                <a:ea typeface="MS UI Gothic" panose="020B0600070205080204" pitchFamily="50" charset="-128"/>
              </a:rPr>
              <a:t>có</a:t>
            </a:r>
            <a:r>
              <a:rPr lang="en-US" altLang="ja-JP" dirty="0">
                <a:ea typeface="MS UI Gothic" panose="020B0600070205080204" pitchFamily="50" charset="-128"/>
              </a:rPr>
              <a:t> </a:t>
            </a:r>
            <a:r>
              <a:rPr lang="en-US" altLang="ja-JP" dirty="0" err="1">
                <a:ea typeface="MS UI Gothic" panose="020B0600070205080204" pitchFamily="50" charset="-128"/>
              </a:rPr>
              <a:t>thể</a:t>
            </a:r>
            <a:r>
              <a:rPr lang="en-US" altLang="ja-JP" dirty="0">
                <a:ea typeface="MS UI Gothic" panose="020B0600070205080204" pitchFamily="50" charset="-128"/>
              </a:rPr>
              <a:t> chỉ </a:t>
            </a:r>
            <a:r>
              <a:rPr lang="en-US" altLang="ja-JP" dirty="0" err="1">
                <a:ea typeface="MS UI Gothic" panose="020B0600070205080204" pitchFamily="50" charset="-128"/>
              </a:rPr>
              <a:t>định</a:t>
            </a:r>
            <a:r>
              <a:rPr lang="en-US" altLang="ja-JP" dirty="0">
                <a:ea typeface="MS UI Gothic" panose="020B0600070205080204" pitchFamily="50" charset="-128"/>
              </a:rPr>
              <a:t> modifier </a:t>
            </a:r>
            <a:r>
              <a:rPr lang="en-US" altLang="ja-JP" dirty="0" err="1">
                <a:ea typeface="MS UI Gothic" panose="020B0600070205080204" pitchFamily="50" charset="-128"/>
              </a:rPr>
              <a:t>va</a:t>
            </a:r>
            <a:r>
              <a:rPr lang="en-US" altLang="ja-JP" dirty="0">
                <a:ea typeface="MS UI Gothic" panose="020B0600070205080204" pitchFamily="50" charset="-128"/>
              </a:rPr>
              <a:t>̀ </a:t>
            </a:r>
            <a:r>
              <a:rPr lang="en-US" altLang="ja-JP" dirty="0" err="1">
                <a:ea typeface="MS UI Gothic" panose="020B0600070205080204" pitchFamily="50" charset="-128"/>
              </a:rPr>
              <a:t>gia</a:t>
            </a:r>
            <a:r>
              <a:rPr lang="en-US" altLang="ja-JP" dirty="0">
                <a:ea typeface="MS UI Gothic" panose="020B0600070205080204" pitchFamily="50" charset="-128"/>
              </a:rPr>
              <a:t>́ trị </a:t>
            </a:r>
            <a:r>
              <a:rPr lang="en-US" altLang="ja-JP" dirty="0" err="1">
                <a:ea typeface="MS UI Gothic" panose="020B0600070205080204" pitchFamily="50" charset="-128"/>
              </a:rPr>
              <a:t>khi</a:t>
            </a:r>
            <a:r>
              <a:rPr lang="en-US" altLang="ja-JP" dirty="0">
                <a:ea typeface="MS UI Gothic" panose="020B0600070205080204" pitchFamily="50" charset="-128"/>
              </a:rPr>
              <a:t> </a:t>
            </a:r>
            <a:r>
              <a:rPr lang="en-US" altLang="ja-JP" dirty="0" err="1">
                <a:ea typeface="MS UI Gothic" panose="020B0600070205080204" pitchFamily="50" charset="-128"/>
              </a:rPr>
              <a:t>lược</a:t>
            </a:r>
            <a:r>
              <a:rPr lang="en-US" altLang="ja-JP" dirty="0">
                <a:ea typeface="MS UI Gothic" panose="020B0600070205080204" pitchFamily="50" charset="-128"/>
              </a:rPr>
              <a:t> </a:t>
            </a:r>
            <a:r>
              <a:rPr lang="en-US" altLang="ja-JP" dirty="0" err="1">
                <a:ea typeface="MS UI Gothic" panose="020B0600070205080204" pitchFamily="50" charset="-128"/>
              </a:rPr>
              <a:t>gia</a:t>
            </a:r>
            <a:r>
              <a:rPr lang="en-US" altLang="ja-JP" dirty="0">
                <a:ea typeface="MS UI Gothic" panose="020B0600070205080204" pitchFamily="50" charset="-128"/>
              </a:rPr>
              <a:t>́ trị </a:t>
            </a:r>
            <a:r>
              <a:rPr lang="en-US" altLang="ja-JP" dirty="0" err="1">
                <a:ea typeface="MS UI Gothic" panose="020B0600070205080204" pitchFamily="50" charset="-128"/>
              </a:rPr>
              <a:t>khởi</a:t>
            </a:r>
            <a:r>
              <a:rPr lang="en-US" altLang="ja-JP" dirty="0">
                <a:ea typeface="MS UI Gothic" panose="020B0600070205080204" pitchFamily="50" charset="-128"/>
              </a:rPr>
              <a:t> </a:t>
            </a:r>
            <a:r>
              <a:rPr lang="en-US" altLang="ja-JP" dirty="0" err="1">
                <a:ea typeface="MS UI Gothic" panose="020B0600070205080204" pitchFamily="50" charset="-128"/>
              </a:rPr>
              <a:t>tạo</a:t>
            </a:r>
            <a:r>
              <a:rPr lang="en-US" altLang="ja-JP" dirty="0">
                <a:ea typeface="MS UI Gothic" panose="020B0600070205080204" pitchFamily="50" charset="-128"/>
              </a:rPr>
              <a:t> </a:t>
            </a:r>
            <a:r>
              <a:rPr lang="en-US" altLang="ja-JP" dirty="0" err="1">
                <a:ea typeface="MS UI Gothic" panose="020B0600070205080204" pitchFamily="50" charset="-128"/>
              </a:rPr>
              <a:t>lại</a:t>
            </a:r>
            <a:r>
              <a:rPr lang="en-US" altLang="ja-JP" dirty="0">
                <a:ea typeface="MS UI Gothic" panose="020B0600070205080204" pitchFamily="50" charset="-128"/>
              </a:rPr>
              <a:t> </a:t>
            </a:r>
            <a:r>
              <a:rPr lang="en-US" altLang="ja-JP" dirty="0" err="1">
                <a:ea typeface="MS UI Gothic" panose="020B0600070205080204" pitchFamily="50" charset="-128"/>
              </a:rPr>
              <a:t>khác</a:t>
            </a:r>
            <a:r>
              <a:rPr lang="en-US" altLang="ja-JP" dirty="0">
                <a:ea typeface="MS UI Gothic" panose="020B0600070205080204" pitchFamily="50" charset="-128"/>
              </a:rPr>
              <a:t> </a:t>
            </a:r>
            <a:r>
              <a:rPr lang="en-US" altLang="ja-JP" dirty="0" err="1">
                <a:ea typeface="MS UI Gothic" panose="020B0600070205080204" pitchFamily="50" charset="-128"/>
              </a:rPr>
              <a:t>nhau</a:t>
            </a:r>
            <a:r>
              <a:rPr lang="en-US" altLang="ja-JP" dirty="0">
                <a:ea typeface="MS UI Gothic" panose="020B0600070205080204" pitchFamily="50" charset="-128"/>
              </a:rPr>
              <a:t>.</a:t>
            </a:r>
          </a:p>
          <a:p>
            <a:pPr algn="just"/>
            <a:endParaRPr lang="en-US" altLang="ja-JP" dirty="0">
              <a:ea typeface="MS UI Gothic" panose="020B0600070205080204" pitchFamily="50" charset="-128"/>
            </a:endParaRPr>
          </a:p>
          <a:p>
            <a:pPr algn="just"/>
            <a:r>
              <a:rPr lang="ja-JP" altLang="en-US"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static: là </a:t>
            </a:r>
            <a:r>
              <a:rPr lang="en-US" altLang="ja-JP" dirty="0" err="1">
                <a:ea typeface="MS UI Gothic" panose="020B0600070205080204" pitchFamily="50" charset="-128"/>
              </a:rPr>
              <a:t>biến</a:t>
            </a:r>
            <a:r>
              <a:rPr lang="en-US" altLang="ja-JP" dirty="0">
                <a:ea typeface="MS UI Gothic" panose="020B0600070205080204" pitchFamily="50" charset="-128"/>
              </a:rPr>
              <a:t>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xác</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theo</a:t>
            </a:r>
            <a:r>
              <a:rPr lang="en-US" altLang="ja-JP" dirty="0">
                <a:ea typeface="MS UI Gothic" panose="020B0600070205080204" pitchFamily="50" charset="-128"/>
              </a:rPr>
              <a:t> </a:t>
            </a:r>
            <a:r>
              <a:rPr lang="en-US" altLang="ja-JP" dirty="0" err="1">
                <a:ea typeface="MS UI Gothic" panose="020B0600070205080204" pitchFamily="50" charset="-128"/>
              </a:rPr>
              <a:t>đơn</a:t>
            </a:r>
            <a:r>
              <a:rPr lang="en-US" altLang="ja-JP" dirty="0">
                <a:ea typeface="MS UI Gothic" panose="020B0600070205080204" pitchFamily="50" charset="-128"/>
              </a:rPr>
              <a:t> vị class.</a:t>
            </a:r>
            <a:endParaRPr lang="ja-JP" altLang="en-US" dirty="0"/>
          </a:p>
        </p:txBody>
      </p:sp>
      <p:sp>
        <p:nvSpPr>
          <p:cNvPr id="5" name="Slide Number Placeholder 4">
            <a:extLst>
              <a:ext uri="{FF2B5EF4-FFF2-40B4-BE49-F238E27FC236}">
                <a16:creationId xmlns:a16="http://schemas.microsoft.com/office/drawing/2014/main" id="{13ED00E3-CADA-C929-95DF-748378028B37}"/>
              </a:ext>
            </a:extLst>
          </p:cNvPr>
          <p:cNvSpPr>
            <a:spLocks noGrp="1"/>
          </p:cNvSpPr>
          <p:nvPr>
            <p:ph type="sldNum" sz="quarter" idx="11"/>
          </p:nvPr>
        </p:nvSpPr>
        <p:spPr/>
        <p:txBody>
          <a:bodyPr/>
          <a:lstStyle/>
          <a:p>
            <a:fld id="{4AC556BE-C330-47A4-A283-5CF881B2E858}" type="slidenum">
              <a:rPr lang="en-US" altLang="ja-JP" smtClean="0"/>
              <a:pPr/>
              <a:t>7</a:t>
            </a:fld>
            <a:endParaRPr lang="en-US" altLang="ja-JP"/>
          </a:p>
        </p:txBody>
      </p:sp>
    </p:spTree>
    <p:extLst>
      <p:ext uri="{BB962C8B-B14F-4D97-AF65-F5344CB8AC3E}">
        <p14:creationId xmlns:p14="http://schemas.microsoft.com/office/powerpoint/2010/main" val="744663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287B01D-7F56-A394-26BD-74749956A418}"/>
              </a:ext>
            </a:extLst>
          </p:cNvPr>
          <p:cNvSpPr>
            <a:spLocks noGrp="1"/>
          </p:cNvSpPr>
          <p:nvPr>
            <p:ph type="title"/>
          </p:nvPr>
        </p:nvSpPr>
        <p:spPr/>
        <p:txBody>
          <a:bodyPr>
            <a:normAutofit fontScale="90000"/>
          </a:bodyPr>
          <a:lstStyle/>
          <a:p>
            <a:r>
              <a:rPr lang="en-US" altLang="ja-JP" dirty="0"/>
              <a:t>Modifier</a:t>
            </a:r>
            <a:endParaRPr lang="ja-JP" altLang="en-US" dirty="0"/>
          </a:p>
        </p:txBody>
      </p:sp>
      <p:sp>
        <p:nvSpPr>
          <p:cNvPr id="5" name="Slide Number Placeholder 4">
            <a:extLst>
              <a:ext uri="{FF2B5EF4-FFF2-40B4-BE49-F238E27FC236}">
                <a16:creationId xmlns:a16="http://schemas.microsoft.com/office/drawing/2014/main" id="{A2FB50D2-5145-D2C9-BB57-3298352EF3D7}"/>
              </a:ext>
            </a:extLst>
          </p:cNvPr>
          <p:cNvSpPr>
            <a:spLocks noGrp="1"/>
          </p:cNvSpPr>
          <p:nvPr>
            <p:ph type="sldNum" sz="quarter" idx="11"/>
          </p:nvPr>
        </p:nvSpPr>
        <p:spPr/>
        <p:txBody>
          <a:bodyPr/>
          <a:lstStyle/>
          <a:p>
            <a:fld id="{4AC556BE-C330-47A4-A283-5CF881B2E858}" type="slidenum">
              <a:rPr lang="en-US" altLang="ja-JP" smtClean="0"/>
              <a:pPr/>
              <a:t>8</a:t>
            </a:fld>
            <a:endParaRPr lang="en-US" altLang="ja-JP"/>
          </a:p>
        </p:txBody>
      </p:sp>
      <p:graphicFrame>
        <p:nvGraphicFramePr>
          <p:cNvPr id="9" name="Group 150">
            <a:extLst>
              <a:ext uri="{FF2B5EF4-FFF2-40B4-BE49-F238E27FC236}">
                <a16:creationId xmlns:a16="http://schemas.microsoft.com/office/drawing/2014/main" id="{800342D9-E305-90DC-4223-F40B20D9C166}"/>
              </a:ext>
            </a:extLst>
          </p:cNvPr>
          <p:cNvGraphicFramePr>
            <a:graphicFrameLocks noGrp="1"/>
          </p:cNvGraphicFramePr>
          <p:nvPr>
            <p:extLst>
              <p:ext uri="{D42A27DB-BD31-4B8C-83A1-F6EECF244321}">
                <p14:modId xmlns:p14="http://schemas.microsoft.com/office/powerpoint/2010/main" val="2336104724"/>
              </p:ext>
            </p:extLst>
          </p:nvPr>
        </p:nvGraphicFramePr>
        <p:xfrm>
          <a:off x="370484" y="1227568"/>
          <a:ext cx="8849716" cy="1940240"/>
        </p:xfrm>
        <a:graphic>
          <a:graphicData uri="http://schemas.openxmlformats.org/drawingml/2006/table">
            <a:tbl>
              <a:tblPr/>
              <a:tblGrid>
                <a:gridCol w="1818264">
                  <a:extLst>
                    <a:ext uri="{9D8B030D-6E8A-4147-A177-3AD203B41FA5}">
                      <a16:colId xmlns:a16="http://schemas.microsoft.com/office/drawing/2014/main" val="4159069535"/>
                    </a:ext>
                  </a:extLst>
                </a:gridCol>
                <a:gridCol w="7031452">
                  <a:extLst>
                    <a:ext uri="{9D8B030D-6E8A-4147-A177-3AD203B41FA5}">
                      <a16:colId xmlns:a16="http://schemas.microsoft.com/office/drawing/2014/main" val="1559977221"/>
                    </a:ext>
                  </a:extLst>
                </a:gridCol>
              </a:tblGrid>
              <a:tr h="300038">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1"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Access modifier</a:t>
                      </a:r>
                    </a:p>
                  </a:txBody>
                  <a:tcPr marL="95441" marR="95441" marT="47720" marB="47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1"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Explanation</a:t>
                      </a:r>
                    </a:p>
                  </a:txBody>
                  <a:tcPr marL="95441" marR="95441" marT="47720" marB="47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895924467"/>
                  </a:ext>
                </a:extLst>
              </a:tr>
              <a:tr h="25876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0"/>
                        </a:spcBef>
                        <a:spcAft>
                          <a:spcPct val="0"/>
                        </a:spcAft>
                        <a:buClrTx/>
                        <a:buSzTx/>
                        <a:buFontTx/>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public</a:t>
                      </a:r>
                    </a:p>
                  </a:txBody>
                  <a:tcPr marL="95441" marR="95441" marT="47720" marB="47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Có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thê</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access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tư</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bất</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ky</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đâu</a:t>
                      </a:r>
                      <a:endPar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endParaRPr>
                    </a:p>
                  </a:txBody>
                  <a:tcPr marL="95441" marR="95441" marT="47720" marB="47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33672237"/>
                  </a:ext>
                </a:extLst>
              </a:tr>
              <a:tr h="260350">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en-US"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protected</a:t>
                      </a:r>
                      <a:endParaRPr kumimoji="1" lang="en-US" altLang="en-US"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41" marR="95441" marT="47720" marB="47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0"/>
                        </a:spcBef>
                        <a:spcAft>
                          <a:spcPct val="0"/>
                        </a:spcAft>
                        <a:buClrTx/>
                        <a:buSzTx/>
                        <a:buFontTx/>
                        <a:buNone/>
                        <a:tabLst/>
                      </a:pP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Chỉ có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thê</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access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tư</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class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hoặc</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sub class có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quan</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hê</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kê</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thừa</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trong</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package.</a:t>
                      </a:r>
                    </a:p>
                  </a:txBody>
                  <a:tcPr marL="95441" marR="95441" marT="47720" marB="47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7283008"/>
                  </a:ext>
                </a:extLst>
              </a:tr>
              <a:tr h="261938">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0"/>
                        </a:spcBef>
                        <a:spcAft>
                          <a:spcPct val="0"/>
                        </a:spcAft>
                        <a:buClrTx/>
                        <a:buSzTx/>
                        <a:buFontTx/>
                        <a:buNone/>
                        <a:tabLst/>
                      </a:pPr>
                      <a:r>
                        <a:rPr kumimoji="1" lang="ja-JP" altLang="en-US"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Không</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chỉ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định</a:t>
                      </a:r>
                      <a:r>
                        <a:rPr kumimoji="1" lang="ja-JP" altLang="en-US"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a:t>
                      </a:r>
                    </a:p>
                  </a:txBody>
                  <a:tcPr marL="95441" marR="95441" marT="47720" marB="47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0"/>
                        </a:spcBef>
                        <a:spcAft>
                          <a:spcPct val="0"/>
                        </a:spcAft>
                        <a:buClrTx/>
                        <a:buSzTx/>
                        <a:buFontTx/>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Chỉ có thể access từ class trong cùng package.</a:t>
                      </a:r>
                    </a:p>
                  </a:txBody>
                  <a:tcPr marL="95441" marR="95441" marT="47720" marB="47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3349649"/>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0"/>
                        </a:spcBef>
                        <a:spcAft>
                          <a:spcPct val="0"/>
                        </a:spcAft>
                        <a:buClrTx/>
                        <a:buSzTx/>
                        <a:buFontTx/>
                        <a:buNone/>
                        <a:tabLst/>
                      </a:pP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private</a:t>
                      </a:r>
                    </a:p>
                  </a:txBody>
                  <a:tcPr marL="95441" marR="95441" marT="47720" marB="47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0"/>
                        </a:spcBef>
                        <a:spcAft>
                          <a:spcPct val="0"/>
                        </a:spcAft>
                        <a:buClrTx/>
                        <a:buSzTx/>
                        <a:buFontTx/>
                        <a:buNone/>
                        <a:tabLst/>
                      </a:pP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Chỉ có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thê</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access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tư</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trong</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cùng</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class.</a:t>
                      </a:r>
                    </a:p>
                  </a:txBody>
                  <a:tcPr marL="95441" marR="95441" marT="47720" marB="47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extLst>
                  <a:ext uri="{0D108BD9-81ED-4DB2-BD59-A6C34878D82A}">
                    <a16:rowId xmlns:a16="http://schemas.microsoft.com/office/drawing/2014/main" val="3024414194"/>
                  </a:ext>
                </a:extLst>
              </a:tr>
            </a:tbl>
          </a:graphicData>
        </a:graphic>
      </p:graphicFrame>
      <p:sp>
        <p:nvSpPr>
          <p:cNvPr id="11" name="AutoShape 135">
            <a:extLst>
              <a:ext uri="{FF2B5EF4-FFF2-40B4-BE49-F238E27FC236}">
                <a16:creationId xmlns:a16="http://schemas.microsoft.com/office/drawing/2014/main" id="{054629BC-76B7-536B-682E-9556BAB92CBE}"/>
              </a:ext>
            </a:extLst>
          </p:cNvPr>
          <p:cNvSpPr>
            <a:spLocks noChangeArrowheads="1"/>
          </p:cNvSpPr>
          <p:nvPr/>
        </p:nvSpPr>
        <p:spPr bwMode="auto">
          <a:xfrm>
            <a:off x="5434343" y="3167808"/>
            <a:ext cx="4495800" cy="361950"/>
          </a:xfrm>
          <a:prstGeom prst="wedgeRoundRectCallout">
            <a:avLst>
              <a:gd name="adj1" fmla="val -71333"/>
              <a:gd name="adj2" fmla="val -58523"/>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dirty="0" err="1">
                <a:ea typeface="MS UI Gothic" panose="020B0600070205080204" pitchFamily="50" charset="-128"/>
              </a:rPr>
              <a:t>Trường</a:t>
            </a:r>
            <a:r>
              <a:rPr lang="en-US" altLang="ja-JP" b="0" dirty="0">
                <a:ea typeface="MS UI Gothic" panose="020B0600070205080204" pitchFamily="50" charset="-128"/>
              </a:rPr>
              <a:t> </a:t>
            </a:r>
            <a:r>
              <a:rPr lang="en-US" altLang="ja-JP" b="0" dirty="0" err="1">
                <a:ea typeface="MS UI Gothic" panose="020B0600070205080204" pitchFamily="50" charset="-128"/>
              </a:rPr>
              <a:t>hợp</a:t>
            </a:r>
            <a:r>
              <a:rPr lang="en-US" altLang="ja-JP" b="0" dirty="0">
                <a:ea typeface="MS UI Gothic" panose="020B0600070205080204" pitchFamily="50" charset="-128"/>
              </a:rPr>
              <a:t> là </a:t>
            </a:r>
            <a:r>
              <a:rPr lang="en-US" altLang="ja-JP" b="0" dirty="0" err="1">
                <a:ea typeface="MS UI Gothic" panose="020B0600070205080204" pitchFamily="50" charset="-128"/>
              </a:rPr>
              <a:t>thuộc</a:t>
            </a:r>
            <a:r>
              <a:rPr lang="en-US" altLang="ja-JP" b="0" dirty="0">
                <a:ea typeface="MS UI Gothic" panose="020B0600070205080204" pitchFamily="50" charset="-128"/>
              </a:rPr>
              <a:t> </a:t>
            </a:r>
            <a:r>
              <a:rPr lang="en-US" altLang="ja-JP" b="0" dirty="0" err="1">
                <a:ea typeface="MS UI Gothic" panose="020B0600070205080204" pitchFamily="50" charset="-128"/>
              </a:rPr>
              <a:t>tính</a:t>
            </a:r>
            <a:r>
              <a:rPr lang="en-US" altLang="ja-JP" b="0" dirty="0">
                <a:ea typeface="MS UI Gothic" panose="020B0600070205080204" pitchFamily="50" charset="-128"/>
              </a:rPr>
              <a:t> </a:t>
            </a:r>
            <a:r>
              <a:rPr lang="en-US" altLang="ja-JP" b="0" dirty="0" err="1">
                <a:ea typeface="MS UI Gothic" panose="020B0600070205080204" pitchFamily="50" charset="-128"/>
              </a:rPr>
              <a:t>thi</a:t>
            </a:r>
            <a:r>
              <a:rPr lang="en-US" altLang="ja-JP" b="0" dirty="0">
                <a:ea typeface="MS UI Gothic" panose="020B0600070205080204" pitchFamily="50" charset="-128"/>
              </a:rPr>
              <a:t>̀ private là </a:t>
            </a:r>
            <a:r>
              <a:rPr lang="en-US" altLang="ja-JP" b="0" dirty="0" err="1">
                <a:ea typeface="MS UI Gothic" panose="020B0600070205080204" pitchFamily="50" charset="-128"/>
              </a:rPr>
              <a:t>phô</a:t>
            </a:r>
            <a:r>
              <a:rPr lang="en-US" altLang="ja-JP" b="0" dirty="0">
                <a:ea typeface="MS UI Gothic" panose="020B0600070205080204" pitchFamily="50" charset="-128"/>
              </a:rPr>
              <a:t>̉ </a:t>
            </a:r>
            <a:r>
              <a:rPr lang="en-US" altLang="ja-JP" b="0" dirty="0" err="1">
                <a:ea typeface="MS UI Gothic" panose="020B0600070205080204" pitchFamily="50" charset="-128"/>
              </a:rPr>
              <a:t>biến</a:t>
            </a:r>
            <a:endParaRPr lang="en-US" altLang="ja-JP" b="0" dirty="0">
              <a:ea typeface="MS UI Gothic" panose="020B0600070205080204" pitchFamily="50" charset="-128"/>
            </a:endParaRPr>
          </a:p>
        </p:txBody>
      </p:sp>
      <p:graphicFrame>
        <p:nvGraphicFramePr>
          <p:cNvPr id="13" name="Table 12">
            <a:extLst>
              <a:ext uri="{FF2B5EF4-FFF2-40B4-BE49-F238E27FC236}">
                <a16:creationId xmlns:a16="http://schemas.microsoft.com/office/drawing/2014/main" id="{D5CA4810-3477-AA69-B189-279E57DC1BD1}"/>
              </a:ext>
            </a:extLst>
          </p:cNvPr>
          <p:cNvGraphicFramePr>
            <a:graphicFrameLocks noGrp="1"/>
          </p:cNvGraphicFramePr>
          <p:nvPr>
            <p:extLst>
              <p:ext uri="{D42A27DB-BD31-4B8C-83A1-F6EECF244321}">
                <p14:modId xmlns:p14="http://schemas.microsoft.com/office/powerpoint/2010/main" val="342853134"/>
              </p:ext>
            </p:extLst>
          </p:nvPr>
        </p:nvGraphicFramePr>
        <p:xfrm>
          <a:off x="370484" y="3529758"/>
          <a:ext cx="8849716" cy="2926080"/>
        </p:xfrm>
        <a:graphic>
          <a:graphicData uri="http://schemas.openxmlformats.org/drawingml/2006/table">
            <a:tbl>
              <a:tblPr>
                <a:tableStyleId>{2D5ABB26-0587-4C30-8999-92F81FD0307C}</a:tableStyleId>
              </a:tblPr>
              <a:tblGrid>
                <a:gridCol w="1873851">
                  <a:extLst>
                    <a:ext uri="{9D8B030D-6E8A-4147-A177-3AD203B41FA5}">
                      <a16:colId xmlns:a16="http://schemas.microsoft.com/office/drawing/2014/main" val="43201760"/>
                    </a:ext>
                  </a:extLst>
                </a:gridCol>
                <a:gridCol w="6975865">
                  <a:extLst>
                    <a:ext uri="{9D8B030D-6E8A-4147-A177-3AD203B41FA5}">
                      <a16:colId xmlns:a16="http://schemas.microsoft.com/office/drawing/2014/main" val="2909578935"/>
                    </a:ext>
                  </a:extLst>
                </a:gridCol>
              </a:tblGrid>
              <a:tr h="0">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1"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Non-Access modifier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1"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Explanation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1182740"/>
                  </a:ext>
                </a:extLst>
              </a:tr>
              <a:tr h="0">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static</a:t>
                      </a:r>
                      <a:endParaRPr kumimoji="1" lang="ja-JP" altLang="en-US"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Thuộc về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6771803"/>
                  </a:ext>
                </a:extLst>
              </a:tr>
              <a:tr h="0">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a:ln>
                            <a:noFill/>
                          </a:ln>
                          <a:solidFill>
                            <a:schemeClr val="tx1"/>
                          </a:solidFill>
                          <a:effectLst/>
                          <a:latin typeface="Arial" panose="020B0604020202020204" pitchFamily="34" charset="0"/>
                          <a:ea typeface="MS UI Gothic" panose="020B0600070205080204" pitchFamily="50" charset="-128"/>
                          <a:cs typeface="+mn-cs"/>
                        </a:rPr>
                        <a:t>final</a:t>
                      </a:r>
                      <a:endParaRPr kumimoji="1" lang="ja-JP" altLang="en-US" sz="1600" b="0" i="0" u="none" strike="noStrike" kern="1200" cap="none" normalizeH="0" baseline="0">
                        <a:ln>
                          <a:noFill/>
                        </a:ln>
                        <a:solidFill>
                          <a:schemeClr val="tx1"/>
                        </a:solidFill>
                        <a:effectLst/>
                        <a:latin typeface="Arial" panose="020B0604020202020204" pitchFamily="34" charset="0"/>
                        <a:ea typeface="MS UI Gothic" panose="020B060007020508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err="1">
                          <a:ln>
                            <a:noFill/>
                          </a:ln>
                          <a:solidFill>
                            <a:schemeClr val="tx1"/>
                          </a:solidFill>
                          <a:effectLst/>
                          <a:latin typeface="Arial" panose="020B0604020202020204" pitchFamily="34" charset="0"/>
                          <a:ea typeface="MS UI Gothic" panose="020B0600070205080204" pitchFamily="50" charset="-128"/>
                          <a:cs typeface="+mn-cs"/>
                        </a:rPr>
                        <a:t>Không</a:t>
                      </a: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 </a:t>
                      </a:r>
                      <a:r>
                        <a:rPr kumimoji="1" lang="en-US" altLang="ja-JP" sz="1600" b="0" i="0" u="none" strike="noStrike" kern="1200" cap="none" normalizeH="0" baseline="0" dirty="0" err="1">
                          <a:ln>
                            <a:noFill/>
                          </a:ln>
                          <a:solidFill>
                            <a:schemeClr val="tx1"/>
                          </a:solidFill>
                          <a:effectLst/>
                          <a:latin typeface="Arial" panose="020B0604020202020204" pitchFamily="34" charset="0"/>
                          <a:ea typeface="MS UI Gothic" panose="020B0600070205080204" pitchFamily="50" charset="-128"/>
                          <a:cs typeface="+mn-cs"/>
                        </a:rPr>
                        <a:t>được</a:t>
                      </a: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 </a:t>
                      </a:r>
                      <a:r>
                        <a:rPr kumimoji="1" lang="en-US" altLang="ja-JP" sz="1600" b="0" i="0" u="none" strike="noStrike" kern="1200" cap="none" normalizeH="0" baseline="0" dirty="0" err="1">
                          <a:ln>
                            <a:noFill/>
                          </a:ln>
                          <a:solidFill>
                            <a:schemeClr val="tx1"/>
                          </a:solidFill>
                          <a:effectLst/>
                          <a:latin typeface="Arial" panose="020B0604020202020204" pitchFamily="34" charset="0"/>
                          <a:ea typeface="MS UI Gothic" panose="020B0600070205080204" pitchFamily="50" charset="-128"/>
                          <a:cs typeface="+mn-cs"/>
                        </a:rPr>
                        <a:t>thay</a:t>
                      </a: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 </a:t>
                      </a:r>
                      <a:r>
                        <a:rPr kumimoji="1" lang="en-US" altLang="ja-JP" sz="1600" b="0" i="0" u="none" strike="noStrike" kern="1200" cap="none" normalizeH="0" baseline="0" dirty="0" err="1">
                          <a:ln>
                            <a:noFill/>
                          </a:ln>
                          <a:solidFill>
                            <a:schemeClr val="tx1"/>
                          </a:solidFill>
                          <a:effectLst/>
                          <a:latin typeface="Arial" panose="020B0604020202020204" pitchFamily="34" charset="0"/>
                          <a:ea typeface="MS UI Gothic" panose="020B0600070205080204" pitchFamily="50" charset="-128"/>
                          <a:cs typeface="+mn-cs"/>
                        </a:rPr>
                        <a:t>đổi</a:t>
                      </a: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a:t>
                      </a:r>
                      <a:r>
                        <a:rPr kumimoji="1" lang="en-US" altLang="ja-JP" sz="1600" b="0" i="0" u="none" strike="noStrike" kern="1200" cap="none" normalizeH="0" baseline="0" dirty="0" err="1">
                          <a:ln>
                            <a:noFill/>
                          </a:ln>
                          <a:solidFill>
                            <a:schemeClr val="tx1"/>
                          </a:solidFill>
                          <a:effectLst/>
                          <a:latin typeface="Arial" panose="020B0604020202020204" pitchFamily="34" charset="0"/>
                          <a:ea typeface="MS UI Gothic" panose="020B0600070205080204" pitchFamily="50" charset="-128"/>
                          <a:cs typeface="+mn-cs"/>
                        </a:rPr>
                        <a:t>ghi</a:t>
                      </a: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 </a:t>
                      </a:r>
                      <a:r>
                        <a:rPr kumimoji="1" lang="en-US" altLang="ja-JP" sz="1600" b="0" i="0" u="none" strike="noStrike" kern="1200" cap="none" normalizeH="0" baseline="0" dirty="0" err="1">
                          <a:ln>
                            <a:noFill/>
                          </a:ln>
                          <a:solidFill>
                            <a:schemeClr val="tx1"/>
                          </a:solidFill>
                          <a:effectLst/>
                          <a:latin typeface="Arial" panose="020B0604020202020204" pitchFamily="34" charset="0"/>
                          <a:ea typeface="MS UI Gothic" panose="020B0600070205080204" pitchFamily="50" charset="-128"/>
                          <a:cs typeface="+mn-cs"/>
                        </a:rPr>
                        <a:t>đè</a:t>
                      </a:r>
                      <a:endPar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5757563"/>
                  </a:ext>
                </a:extLst>
              </a:tr>
              <a:tr h="0">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abstract</a:t>
                      </a:r>
                      <a:endParaRPr kumimoji="1" lang="ja-JP" altLang="en-US"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Chưa hoàn thiện, cần triển khai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6035845"/>
                  </a:ext>
                </a:extLst>
              </a:tr>
              <a:tr h="0">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a:ln>
                            <a:noFill/>
                          </a:ln>
                          <a:solidFill>
                            <a:schemeClr val="tx1"/>
                          </a:solidFill>
                          <a:effectLst/>
                          <a:latin typeface="Arial" panose="020B0604020202020204" pitchFamily="34" charset="0"/>
                          <a:ea typeface="MS UI Gothic" panose="020B0600070205080204" pitchFamily="50" charset="-128"/>
                          <a:cs typeface="+mn-cs"/>
                        </a:rPr>
                        <a:t>synchronized</a:t>
                      </a:r>
                      <a:endParaRPr kumimoji="1" lang="ja-JP" altLang="en-US" sz="1600" b="0" i="0" u="none" strike="noStrike" kern="1200" cap="none" normalizeH="0" baseline="0">
                        <a:ln>
                          <a:noFill/>
                        </a:ln>
                        <a:solidFill>
                          <a:schemeClr val="tx1"/>
                        </a:solidFill>
                        <a:effectLst/>
                        <a:latin typeface="Arial" panose="020B0604020202020204" pitchFamily="34" charset="0"/>
                        <a:ea typeface="MS UI Gothic" panose="020B060007020508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Đồng bộ thread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3983256"/>
                  </a:ext>
                </a:extLst>
              </a:tr>
              <a:tr h="0">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native</a:t>
                      </a:r>
                      <a:endParaRPr kumimoji="1" lang="ja-JP" altLang="en-US"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Cài đặt bằng ngôn ngữ khác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368952"/>
                  </a:ext>
                </a:extLst>
              </a:tr>
              <a:tr h="0">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a:ln>
                            <a:noFill/>
                          </a:ln>
                          <a:solidFill>
                            <a:schemeClr val="tx1"/>
                          </a:solidFill>
                          <a:effectLst/>
                          <a:latin typeface="Arial" panose="020B0604020202020204" pitchFamily="34" charset="0"/>
                          <a:ea typeface="MS UI Gothic" panose="020B0600070205080204" pitchFamily="50" charset="-128"/>
                          <a:cs typeface="+mn-cs"/>
                        </a:rPr>
                        <a:t>transient</a:t>
                      </a:r>
                      <a:endParaRPr kumimoji="1" lang="ja-JP" altLang="en-US" sz="1600" b="0" i="0" u="none" strike="noStrike" kern="1200" cap="none" normalizeH="0" baseline="0">
                        <a:ln>
                          <a:noFill/>
                        </a:ln>
                        <a:solidFill>
                          <a:schemeClr val="tx1"/>
                        </a:solidFill>
                        <a:effectLst/>
                        <a:latin typeface="Arial" panose="020B0604020202020204" pitchFamily="34" charset="0"/>
                        <a:ea typeface="MS UI Gothic" panose="020B060007020508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Bỏ qua khi serialization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369457"/>
                  </a:ext>
                </a:extLst>
              </a:tr>
              <a:tr h="0">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a:t>
                      </a:r>
                      <a:endParaRPr kumimoji="1" lang="ja-JP" altLang="en-US"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rPr>
                        <a:t>…</a:t>
                      </a:r>
                      <a:endParaRPr kumimoji="1" lang="ja-JP" altLang="en-US" sz="1600" b="0" i="0" u="none" strike="noStrike" kern="1200" cap="none" normalizeH="0" baseline="0" dirty="0">
                        <a:ln>
                          <a:noFill/>
                        </a:ln>
                        <a:solidFill>
                          <a:schemeClr val="tx1"/>
                        </a:solidFill>
                        <a:effectLst/>
                        <a:latin typeface="Arial" panose="020B0604020202020204" pitchFamily="34" charset="0"/>
                        <a:ea typeface="MS UI Gothic" panose="020B0600070205080204"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0226772"/>
                  </a:ext>
                </a:extLst>
              </a:tr>
            </a:tbl>
          </a:graphicData>
        </a:graphic>
      </p:graphicFrame>
    </p:spTree>
    <p:extLst>
      <p:ext uri="{BB962C8B-B14F-4D97-AF65-F5344CB8AC3E}">
        <p14:creationId xmlns:p14="http://schemas.microsoft.com/office/powerpoint/2010/main" val="1408986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B8606FA9-9E13-2BFB-615C-75F43C3C2759}"/>
              </a:ext>
            </a:extLst>
          </p:cNvPr>
          <p:cNvSpPr>
            <a:spLocks noGrp="1"/>
          </p:cNvSpPr>
          <p:nvPr>
            <p:ph type="sldNum" sz="quarter" idx="10"/>
          </p:nvPr>
        </p:nvSpPr>
        <p:spPr/>
        <p:txBody>
          <a:bodyPr/>
          <a:lstStyle/>
          <a:p>
            <a:fld id="{B0D2B8BF-51FE-4EE0-8443-BEF2094AC2B6}" type="slidenum">
              <a:rPr lang="en-US" altLang="ja-JP"/>
              <a:pPr/>
              <a:t>9</a:t>
            </a:fld>
            <a:endParaRPr lang="en-US" altLang="ja-JP"/>
          </a:p>
        </p:txBody>
      </p:sp>
      <p:sp>
        <p:nvSpPr>
          <p:cNvPr id="534530" name="Rectangle 2">
            <a:extLst>
              <a:ext uri="{FF2B5EF4-FFF2-40B4-BE49-F238E27FC236}">
                <a16:creationId xmlns:a16="http://schemas.microsoft.com/office/drawing/2014/main" id="{815A21C4-B3B4-A48F-6DF8-20D4EDA45AF3}"/>
              </a:ext>
            </a:extLst>
          </p:cNvPr>
          <p:cNvSpPr>
            <a:spLocks noGrp="1" noChangeArrowheads="1"/>
          </p:cNvSpPr>
          <p:nvPr>
            <p:ph type="title"/>
          </p:nvPr>
        </p:nvSpPr>
        <p:spPr>
          <a:xfrm>
            <a:off x="344488" y="307976"/>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Định</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nghĩa</a:t>
            </a:r>
            <a:r>
              <a:rPr lang="en-US" altLang="ja-JP" dirty="0">
                <a:latin typeface="Arial" panose="020B0604020202020204" pitchFamily="34" charset="0"/>
                <a:ea typeface="MS UI Gothic" panose="020B0600070205080204" pitchFamily="50" charset="-128"/>
              </a:rPr>
              <a:t> method (1)</a:t>
            </a:r>
          </a:p>
        </p:txBody>
      </p:sp>
      <p:sp>
        <p:nvSpPr>
          <p:cNvPr id="534531" name="Rectangle 3">
            <a:extLst>
              <a:ext uri="{FF2B5EF4-FFF2-40B4-BE49-F238E27FC236}">
                <a16:creationId xmlns:a16="http://schemas.microsoft.com/office/drawing/2014/main" id="{1D6F387A-1C67-7B51-B380-2F4ED927A110}"/>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34532" name="Rectangle 4">
            <a:extLst>
              <a:ext uri="{FF2B5EF4-FFF2-40B4-BE49-F238E27FC236}">
                <a16:creationId xmlns:a16="http://schemas.microsoft.com/office/drawing/2014/main" id="{E6C6F06F-6E2F-F2FA-8E9E-8EC49BA32E40}"/>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Định nghĩa method không có giá trị trả về</a:t>
            </a: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534533" name="Text Box 5">
            <a:extLst>
              <a:ext uri="{FF2B5EF4-FFF2-40B4-BE49-F238E27FC236}">
                <a16:creationId xmlns:a16="http://schemas.microsoft.com/office/drawing/2014/main" id="{AEE71966-00AA-DB9D-2DE5-0AF49D16FDA3}"/>
              </a:ext>
            </a:extLst>
          </p:cNvPr>
          <p:cNvSpPr txBox="1">
            <a:spLocks noChangeArrowheads="1"/>
          </p:cNvSpPr>
          <p:nvPr/>
        </p:nvSpPr>
        <p:spPr bwMode="auto">
          <a:xfrm>
            <a:off x="344488" y="1751013"/>
            <a:ext cx="9120187" cy="120650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en-US" sz="2000" dirty="0">
                <a:ea typeface="MS UI Gothic" panose="020B0600070205080204" pitchFamily="50" charset="-128"/>
              </a:rPr>
              <a:t>　</a:t>
            </a:r>
            <a:r>
              <a:rPr lang="en-US" altLang="ja-JP" sz="2000" dirty="0">
                <a:ea typeface="MS UI Gothic" panose="020B0600070205080204" pitchFamily="50" charset="-128"/>
              </a:rPr>
              <a:t>modifier</a:t>
            </a:r>
            <a:r>
              <a:rPr lang="ja-JP" altLang="en-US" sz="2000" dirty="0">
                <a:ea typeface="ＭＳ ゴシック" panose="020B0609070205080204" pitchFamily="49" charset="-128"/>
              </a:rPr>
              <a:t>　</a:t>
            </a:r>
            <a:r>
              <a:rPr lang="en-US" altLang="ja-JP" sz="2000" dirty="0">
                <a:ea typeface="ＭＳ ゴシック" panose="020B0609070205080204" pitchFamily="49" charset="-128"/>
              </a:rPr>
              <a:t>void</a:t>
            </a:r>
            <a:r>
              <a:rPr lang="ja-JP" altLang="en-US" sz="2000" dirty="0">
                <a:ea typeface="ＭＳ ゴシック" panose="020B0609070205080204" pitchFamily="49" charset="-128"/>
              </a:rPr>
              <a:t>　</a:t>
            </a:r>
            <a:r>
              <a:rPr lang="en-US" altLang="ja-JP" sz="2000" dirty="0" err="1">
                <a:ea typeface="ＭＳ ゴシック" panose="020B0609070205080204" pitchFamily="49" charset="-128"/>
              </a:rPr>
              <a:t>tên</a:t>
            </a:r>
            <a:r>
              <a:rPr lang="en-US" altLang="ja-JP" sz="2000" dirty="0">
                <a:ea typeface="ＭＳ ゴシック" panose="020B0609070205080204" pitchFamily="49" charset="-128"/>
              </a:rPr>
              <a:t> method(</a:t>
            </a:r>
            <a:r>
              <a:rPr lang="en-US" altLang="ja-JP" sz="2000" dirty="0" err="1">
                <a:ea typeface="ＭＳ ゴシック" panose="020B0609070205080204" pitchFamily="49" charset="-128"/>
              </a:rPr>
              <a:t>kiểu</a:t>
            </a:r>
            <a:r>
              <a:rPr lang="en-US" altLang="ja-JP" sz="2000" dirty="0">
                <a:ea typeface="ＭＳ ゴシック" panose="020B0609070205080204" pitchFamily="49" charset="-128"/>
              </a:rPr>
              <a:t> data</a:t>
            </a:r>
            <a:r>
              <a:rPr lang="ja-JP" altLang="en-US" sz="2000" dirty="0">
                <a:ea typeface="ＭＳ ゴシック" panose="020B0609070205080204" pitchFamily="49" charset="-128"/>
              </a:rPr>
              <a:t>　</a:t>
            </a:r>
            <a:r>
              <a:rPr lang="en-US" altLang="ja-JP" sz="2000" dirty="0" err="1">
                <a:ea typeface="ＭＳ ゴシック" panose="020B0609070205080204" pitchFamily="49" charset="-128"/>
              </a:rPr>
              <a:t>đối</a:t>
            </a:r>
            <a:r>
              <a:rPr lang="en-US" altLang="ja-JP" sz="2000" dirty="0">
                <a:ea typeface="ＭＳ ゴシック" panose="020B0609070205080204" pitchFamily="49" charset="-128"/>
              </a:rPr>
              <a:t> </a:t>
            </a:r>
            <a:r>
              <a:rPr lang="en-US" altLang="ja-JP" sz="2000" dirty="0" err="1">
                <a:ea typeface="ＭＳ ゴシック" panose="020B0609070205080204" pitchFamily="49" charset="-128"/>
              </a:rPr>
              <a:t>sô</a:t>
            </a:r>
            <a:r>
              <a:rPr lang="en-US" altLang="ja-JP" sz="2000" dirty="0">
                <a:ea typeface="ＭＳ ゴシック" panose="020B0609070205080204" pitchFamily="49" charset="-128"/>
              </a:rPr>
              <a:t>́</a:t>
            </a:r>
            <a:r>
              <a:rPr lang="ja-JP" altLang="en-US" sz="2000" dirty="0">
                <a:ea typeface="MS UI Gothic" panose="020B0600070205080204" pitchFamily="50" charset="-128"/>
              </a:rPr>
              <a:t>１</a:t>
            </a:r>
            <a:r>
              <a:rPr lang="en-US" altLang="ja-JP" sz="2000" dirty="0">
                <a:ea typeface="ＭＳ ゴシック" panose="020B0609070205080204" pitchFamily="49" charset="-128"/>
              </a:rPr>
              <a:t>, </a:t>
            </a:r>
            <a:r>
              <a:rPr lang="en-US" altLang="ja-JP" sz="2000" dirty="0">
                <a:ea typeface="MS UI Gothic" panose="020B0600070205080204" pitchFamily="50" charset="-128"/>
              </a:rPr>
              <a:t>…</a:t>
            </a:r>
            <a:r>
              <a:rPr lang="ja-JP" altLang="en-US" sz="2000" dirty="0">
                <a:ea typeface="MS UI Gothic" panose="020B0600070205080204" pitchFamily="50" charset="-128"/>
              </a:rPr>
              <a:t>　</a:t>
            </a:r>
            <a:r>
              <a:rPr lang="en-US" altLang="ja-JP" sz="2000" dirty="0">
                <a:ea typeface="ＭＳ ゴシック" panose="020B0609070205080204" pitchFamily="49" charset="-128"/>
              </a:rPr>
              <a:t>) {</a:t>
            </a:r>
          </a:p>
          <a:p>
            <a:pPr lvl="1" algn="just">
              <a:lnSpc>
                <a:spcPct val="112000"/>
              </a:lnSpc>
            </a:pPr>
            <a:r>
              <a:rPr lang="ja-JP" altLang="en-US" sz="2000" dirty="0">
                <a:ea typeface="MS UI Gothic" panose="020B0600070205080204" pitchFamily="50" charset="-128"/>
              </a:rPr>
              <a:t>　　　　　　</a:t>
            </a:r>
            <a:r>
              <a:rPr lang="en-US" altLang="ja-JP" sz="2000" dirty="0">
                <a:ea typeface="ＭＳ ゴシック" panose="020B0609070205080204" pitchFamily="49" charset="-128"/>
              </a:rPr>
              <a:t>// </a:t>
            </a:r>
            <a:r>
              <a:rPr lang="en-US" altLang="ja-JP" sz="2000" dirty="0" err="1">
                <a:ea typeface="MS UI Gothic" panose="020B0600070205080204" pitchFamily="50" charset="-128"/>
              </a:rPr>
              <a:t>Xư</a:t>
            </a:r>
            <a:r>
              <a:rPr lang="en-US" altLang="ja-JP" sz="2000" dirty="0">
                <a:ea typeface="MS UI Gothic" panose="020B0600070205080204" pitchFamily="50" charset="-128"/>
              </a:rPr>
              <a:t>̉ </a:t>
            </a:r>
            <a:r>
              <a:rPr lang="en-US" altLang="ja-JP" sz="2000" dirty="0" err="1">
                <a:ea typeface="MS UI Gothic" panose="020B0600070205080204" pitchFamily="50" charset="-128"/>
              </a:rPr>
              <a:t>ly</a:t>
            </a:r>
            <a:r>
              <a:rPr lang="en-US" altLang="ja-JP" sz="2000" dirty="0">
                <a:ea typeface="MS UI Gothic" panose="020B0600070205080204" pitchFamily="50" charset="-128"/>
              </a:rPr>
              <a:t>́</a:t>
            </a:r>
          </a:p>
          <a:p>
            <a:pPr lvl="1" algn="just">
              <a:lnSpc>
                <a:spcPct val="112000"/>
              </a:lnSpc>
            </a:pPr>
            <a:r>
              <a:rPr lang="ja-JP" altLang="en-US" sz="2000" dirty="0">
                <a:ea typeface="MS UI Gothic" panose="020B0600070205080204" pitchFamily="50" charset="-128"/>
              </a:rPr>
              <a:t>　</a:t>
            </a:r>
            <a:r>
              <a:rPr lang="en-US" altLang="ja-JP" sz="2000" dirty="0">
                <a:ea typeface="ＭＳ ゴシック" panose="020B0609070205080204" pitchFamily="49" charset="-128"/>
              </a:rPr>
              <a:t>}</a:t>
            </a:r>
          </a:p>
        </p:txBody>
      </p:sp>
      <p:sp>
        <p:nvSpPr>
          <p:cNvPr id="534534" name="Rectangle 6">
            <a:extLst>
              <a:ext uri="{FF2B5EF4-FFF2-40B4-BE49-F238E27FC236}">
                <a16:creationId xmlns:a16="http://schemas.microsoft.com/office/drawing/2014/main" id="{48FBCCF6-0ACF-2E0D-B828-EADF9B5DF43D}"/>
              </a:ext>
            </a:extLst>
          </p:cNvPr>
          <p:cNvSpPr>
            <a:spLocks noChangeArrowheads="1"/>
          </p:cNvSpPr>
          <p:nvPr/>
        </p:nvSpPr>
        <p:spPr bwMode="auto">
          <a:xfrm>
            <a:off x="344488" y="31607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534535" name="Rectangle 7">
            <a:extLst>
              <a:ext uri="{FF2B5EF4-FFF2-40B4-BE49-F238E27FC236}">
                <a16:creationId xmlns:a16="http://schemas.microsoft.com/office/drawing/2014/main" id="{229ECEC7-C3B8-39AC-9939-5BC71F12CCCE}"/>
              </a:ext>
            </a:extLst>
          </p:cNvPr>
          <p:cNvSpPr>
            <a:spLocks noChangeArrowheads="1"/>
          </p:cNvSpPr>
          <p:nvPr/>
        </p:nvSpPr>
        <p:spPr bwMode="auto">
          <a:xfrm>
            <a:off x="344488" y="3622675"/>
            <a:ext cx="9120187" cy="24685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18000" rIns="90000" bIns="18000"/>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public class Person {</a:t>
            </a:r>
          </a:p>
          <a:p>
            <a:pPr lvl="1"/>
            <a:r>
              <a:rPr lang="en-US" altLang="ja-JP" sz="1800" b="0">
                <a:latin typeface="ＭＳ ゴシック" panose="020B0609070205080204" pitchFamily="49" charset="-128"/>
                <a:ea typeface="ＭＳ ゴシック" panose="020B0609070205080204" pitchFamily="49" charset="-128"/>
              </a:rPr>
              <a:t>    // </a:t>
            </a:r>
            <a:r>
              <a:rPr lang="en-US" altLang="ja-JP" sz="1800" b="0">
                <a:latin typeface="Arial" panose="020B0604020202020204" pitchFamily="34" charset="0"/>
                <a:ea typeface="ＭＳ ゴシック" panose="020B0609070205080204" pitchFamily="49" charset="-128"/>
              </a:rPr>
              <a:t>Định nghĩa field</a:t>
            </a:r>
            <a:r>
              <a:rPr lang="ja-JP" altLang="en-US" sz="1800" b="0">
                <a:latin typeface="Arial" panose="020B0604020202020204" pitchFamily="34" charset="0"/>
                <a:ea typeface="ＭＳ ゴシック" panose="020B0609070205080204" pitchFamily="49" charset="-128"/>
              </a:rPr>
              <a:t>（</a:t>
            </a:r>
            <a:r>
              <a:rPr lang="en-US" altLang="ja-JP" sz="1800" b="0">
                <a:latin typeface="Arial" panose="020B0604020202020204" pitchFamily="34" charset="0"/>
                <a:ea typeface="ＭＳ ゴシック" panose="020B0609070205080204" pitchFamily="49" charset="-128"/>
              </a:rPr>
              <a:t>thuộc tính</a:t>
            </a:r>
            <a:r>
              <a:rPr lang="ja-JP" altLang="en-US" sz="1800" b="0">
                <a:latin typeface="ＭＳ ゴシック" panose="020B0609070205080204" pitchFamily="49" charset="-128"/>
                <a:ea typeface="ＭＳ ゴシック" panose="020B0609070205080204" pitchFamily="49" charset="-128"/>
              </a:rPr>
              <a:t>）</a:t>
            </a:r>
          </a:p>
          <a:p>
            <a:pPr lvl="1"/>
            <a:r>
              <a:rPr lang="ja-JP" altLang="en-US" sz="1800" b="0">
                <a:latin typeface="ＭＳ ゴシック" panose="020B0609070205080204" pitchFamily="49" charset="-128"/>
                <a:ea typeface="ＭＳ ゴシック" panose="020B0609070205080204" pitchFamily="49" charset="-128"/>
              </a:rPr>
              <a:t>    </a:t>
            </a:r>
            <a:r>
              <a:rPr lang="en-US" altLang="ja-JP" sz="1800" b="0">
                <a:latin typeface="ＭＳ ゴシック" panose="020B0609070205080204" pitchFamily="49" charset="-128"/>
                <a:ea typeface="ＭＳ ゴシック" panose="020B0609070205080204" pitchFamily="49" charset="-128"/>
              </a:rPr>
              <a:t>private String lastName;</a:t>
            </a:r>
          </a:p>
          <a:p>
            <a:pPr lvl="1"/>
            <a:r>
              <a:rPr lang="en-US" altLang="ja-JP" sz="1800" b="0">
                <a:latin typeface="ＭＳ ゴシック" panose="020B0609070205080204" pitchFamily="49" charset="-128"/>
                <a:ea typeface="ＭＳ ゴシック" panose="020B0609070205080204" pitchFamily="49" charset="-128"/>
              </a:rPr>
              <a:t>    // </a:t>
            </a:r>
            <a:r>
              <a:rPr lang="en-US" altLang="ja-JP" sz="1800" b="0">
                <a:latin typeface="Arial" panose="020B0604020202020204" pitchFamily="34" charset="0"/>
                <a:ea typeface="ＭＳ ゴシック" panose="020B0609070205080204" pitchFamily="49" charset="-128"/>
              </a:rPr>
              <a:t>Định nghĩa method</a:t>
            </a:r>
          </a:p>
          <a:p>
            <a:pPr lvl="1"/>
            <a:r>
              <a:rPr lang="en-US" altLang="ja-JP" sz="1800">
                <a:solidFill>
                  <a:srgbClr val="0000FF"/>
                </a:solidFill>
                <a:latin typeface="ＭＳ ゴシック" panose="020B0609070205080204" pitchFamily="49" charset="-128"/>
                <a:ea typeface="ＭＳ ゴシック" panose="020B0609070205080204" pitchFamily="49" charset="-128"/>
              </a:rPr>
              <a:t>    </a:t>
            </a:r>
            <a:r>
              <a:rPr lang="ja-JP" altLang="ja-JP" sz="1800">
                <a:solidFill>
                  <a:srgbClr val="0000FF"/>
                </a:solidFill>
                <a:latin typeface="ＭＳ ゴシック" panose="020B0609070205080204" pitchFamily="49" charset="-128"/>
                <a:ea typeface="ＭＳ ゴシック" panose="020B0609070205080204" pitchFamily="49" charset="-128"/>
              </a:rPr>
              <a:t>public void setLastName(String lname) {</a:t>
            </a:r>
          </a:p>
          <a:p>
            <a:pPr lvl="1"/>
            <a:r>
              <a:rPr lang="en-US" altLang="ja-JP" sz="1800">
                <a:solidFill>
                  <a:srgbClr val="0000FF"/>
                </a:solidFill>
                <a:latin typeface="ＭＳ ゴシック" panose="020B0609070205080204" pitchFamily="49" charset="-128"/>
                <a:ea typeface="ＭＳ ゴシック" panose="020B0609070205080204" pitchFamily="49" charset="-128"/>
              </a:rPr>
              <a:t>        </a:t>
            </a:r>
            <a:r>
              <a:rPr lang="ja-JP" altLang="ja-JP" sz="1800">
                <a:solidFill>
                  <a:srgbClr val="0000FF"/>
                </a:solidFill>
                <a:latin typeface="ＭＳ ゴシック" panose="020B0609070205080204" pitchFamily="49" charset="-128"/>
                <a:ea typeface="ＭＳ ゴシック" panose="020B0609070205080204" pitchFamily="49" charset="-128"/>
              </a:rPr>
              <a:t>lastName = lname;</a:t>
            </a:r>
          </a:p>
          <a:p>
            <a:pPr lvl="1"/>
            <a:r>
              <a:rPr lang="en-US" altLang="ja-JP" sz="1800">
                <a:solidFill>
                  <a:srgbClr val="0000FF"/>
                </a:solidFill>
                <a:latin typeface="ＭＳ ゴシック" panose="020B0609070205080204" pitchFamily="49" charset="-128"/>
                <a:ea typeface="ＭＳ ゴシック" panose="020B0609070205080204" pitchFamily="49" charset="-128"/>
              </a:rPr>
              <a:t>    </a:t>
            </a:r>
            <a:r>
              <a:rPr lang="ja-JP" altLang="ja-JP" sz="1800">
                <a:solidFill>
                  <a:srgbClr val="0000FF"/>
                </a:solidFill>
                <a:latin typeface="ＭＳ ゴシック" panose="020B0609070205080204" pitchFamily="49" charset="-128"/>
                <a:ea typeface="ＭＳ ゴシック" panose="020B0609070205080204" pitchFamily="49" charset="-128"/>
              </a:rPr>
              <a:t>}</a:t>
            </a:r>
            <a:endParaRPr lang="en-US" altLang="ja-JP" sz="1800">
              <a:solidFill>
                <a:srgbClr val="0000FF"/>
              </a:solidFill>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a:t>
            </a:r>
          </a:p>
        </p:txBody>
      </p:sp>
      <p:sp>
        <p:nvSpPr>
          <p:cNvPr id="534536" name="AutoShape 8">
            <a:extLst>
              <a:ext uri="{FF2B5EF4-FFF2-40B4-BE49-F238E27FC236}">
                <a16:creationId xmlns:a16="http://schemas.microsoft.com/office/drawing/2014/main" id="{F22D601C-E317-386A-9B00-EF25FACFEF6D}"/>
              </a:ext>
            </a:extLst>
          </p:cNvPr>
          <p:cNvSpPr>
            <a:spLocks noChangeArrowheads="1"/>
          </p:cNvSpPr>
          <p:nvPr/>
        </p:nvSpPr>
        <p:spPr bwMode="auto">
          <a:xfrm>
            <a:off x="4286250" y="1112838"/>
            <a:ext cx="5233988" cy="541337"/>
          </a:xfrm>
          <a:prstGeom prst="wedgeRoundRectCallout">
            <a:avLst>
              <a:gd name="adj1" fmla="val -83588"/>
              <a:gd name="adj2" fmla="val 6655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err="1">
                <a:latin typeface="+mj-lt"/>
              </a:rPr>
              <a:t>Trường</a:t>
            </a:r>
            <a:r>
              <a:rPr lang="en-US" altLang="ja-JP" sz="1600" dirty="0">
                <a:latin typeface="+mj-lt"/>
              </a:rPr>
              <a:t> </a:t>
            </a:r>
            <a:r>
              <a:rPr lang="en-US" altLang="ja-JP" sz="1600" dirty="0" err="1">
                <a:latin typeface="+mj-lt"/>
              </a:rPr>
              <a:t>hợp</a:t>
            </a:r>
            <a:r>
              <a:rPr lang="en-US" altLang="ja-JP" sz="1600" dirty="0">
                <a:latin typeface="+mj-lt"/>
              </a:rPr>
              <a:t> </a:t>
            </a:r>
            <a:r>
              <a:rPr lang="en-US" altLang="ja-JP" sz="1600" dirty="0" err="1">
                <a:latin typeface="+mj-lt"/>
              </a:rPr>
              <a:t>không</a:t>
            </a:r>
            <a:r>
              <a:rPr lang="en-US" altLang="ja-JP" sz="1600" dirty="0">
                <a:latin typeface="+mj-lt"/>
              </a:rPr>
              <a:t> có </a:t>
            </a:r>
            <a:r>
              <a:rPr lang="en-US" altLang="ja-JP" sz="1600" dirty="0" err="1">
                <a:latin typeface="+mj-lt"/>
              </a:rPr>
              <a:t>gia</a:t>
            </a:r>
            <a:r>
              <a:rPr lang="en-US" altLang="ja-JP" sz="1600" dirty="0">
                <a:latin typeface="+mj-lt"/>
              </a:rPr>
              <a:t>́ trị </a:t>
            </a:r>
            <a:r>
              <a:rPr lang="en-US" altLang="ja-JP" sz="1600" dirty="0" err="1">
                <a:latin typeface="+mj-lt"/>
              </a:rPr>
              <a:t>tra</a:t>
            </a:r>
            <a:r>
              <a:rPr lang="en-US" altLang="ja-JP" sz="1600" dirty="0">
                <a:latin typeface="+mj-lt"/>
              </a:rPr>
              <a:t>̉ </a:t>
            </a:r>
            <a:r>
              <a:rPr lang="en-US" altLang="ja-JP" sz="1600" dirty="0" err="1">
                <a:latin typeface="+mj-lt"/>
              </a:rPr>
              <a:t>vê</a:t>
            </a:r>
            <a:r>
              <a:rPr lang="en-US" altLang="ja-JP" sz="1600" dirty="0">
                <a:latin typeface="+mj-lt"/>
              </a:rPr>
              <a:t>̀ </a:t>
            </a:r>
            <a:r>
              <a:rPr lang="en-US" altLang="ja-JP" sz="1600" dirty="0" err="1">
                <a:latin typeface="+mj-lt"/>
              </a:rPr>
              <a:t>thi</a:t>
            </a:r>
            <a:r>
              <a:rPr lang="en-US" altLang="ja-JP" sz="1600" dirty="0">
                <a:latin typeface="+mj-lt"/>
              </a:rPr>
              <a:t>̀ sẽ chỉ </a:t>
            </a:r>
            <a:r>
              <a:rPr lang="en-US" altLang="ja-JP" sz="1600" dirty="0" err="1">
                <a:latin typeface="+mj-lt"/>
              </a:rPr>
              <a:t>định</a:t>
            </a:r>
            <a:r>
              <a:rPr lang="en-US" altLang="ja-JP" sz="1600" dirty="0">
                <a:latin typeface="+mj-lt"/>
              </a:rPr>
              <a:t> </a:t>
            </a:r>
          </a:p>
          <a:p>
            <a:pPr algn="ctr"/>
            <a:r>
              <a:rPr lang="ja-JP" altLang="ja-JP" sz="1600" dirty="0">
                <a:latin typeface="+mj-lt"/>
              </a:rPr>
              <a:t>「void」</a:t>
            </a:r>
            <a:r>
              <a:rPr lang="ja-JP" altLang="en-US" sz="1600" dirty="0">
                <a:latin typeface="+mj-lt"/>
              </a:rPr>
              <a:t> </a:t>
            </a:r>
            <a:r>
              <a:rPr lang="en-US" altLang="ja-JP" sz="1600" dirty="0" err="1">
                <a:latin typeface="+mj-lt"/>
              </a:rPr>
              <a:t>cho</a:t>
            </a:r>
            <a:r>
              <a:rPr lang="en-US" altLang="ja-JP" sz="1600" dirty="0">
                <a:latin typeface="+mj-lt"/>
              </a:rPr>
              <a:t> </a:t>
            </a:r>
            <a:r>
              <a:rPr lang="ja-JP" altLang="ja-JP" sz="1600" dirty="0">
                <a:latin typeface="+mj-lt"/>
              </a:rPr>
              <a:t>「</a:t>
            </a:r>
            <a:r>
              <a:rPr lang="en-US" altLang="ja-JP" sz="1600" dirty="0" err="1">
                <a:latin typeface="+mj-lt"/>
              </a:rPr>
              <a:t>kiểu</a:t>
            </a:r>
            <a:r>
              <a:rPr lang="en-US" altLang="ja-JP" sz="1600" dirty="0">
                <a:latin typeface="+mj-lt"/>
              </a:rPr>
              <a:t> </a:t>
            </a:r>
            <a:r>
              <a:rPr lang="en-US" altLang="ja-JP" sz="1600" dirty="0" err="1">
                <a:latin typeface="+mj-lt"/>
              </a:rPr>
              <a:t>gia</a:t>
            </a:r>
            <a:r>
              <a:rPr lang="en-US" altLang="ja-JP" sz="1600" dirty="0">
                <a:latin typeface="+mj-lt"/>
              </a:rPr>
              <a:t>́ trị </a:t>
            </a:r>
            <a:r>
              <a:rPr lang="en-US" altLang="ja-JP" sz="1600" dirty="0" err="1">
                <a:latin typeface="+mj-lt"/>
              </a:rPr>
              <a:t>tra</a:t>
            </a:r>
            <a:r>
              <a:rPr lang="en-US" altLang="ja-JP" sz="1600" dirty="0">
                <a:latin typeface="+mj-lt"/>
              </a:rPr>
              <a:t>̉ </a:t>
            </a:r>
            <a:r>
              <a:rPr lang="en-US" altLang="ja-JP" sz="1600" dirty="0" err="1">
                <a:latin typeface="+mj-lt"/>
              </a:rPr>
              <a:t>vê</a:t>
            </a:r>
            <a:r>
              <a:rPr lang="en-US" altLang="ja-JP" sz="1600" dirty="0">
                <a:latin typeface="+mj-lt"/>
              </a:rPr>
              <a:t>̀</a:t>
            </a:r>
            <a:r>
              <a:rPr lang="ja-JP" altLang="ja-JP" sz="1600" dirty="0">
                <a:latin typeface="+mj-lt"/>
              </a:rPr>
              <a:t>」</a:t>
            </a:r>
            <a:endParaRPr lang="ja-JP" altLang="en-US" sz="1600" dirty="0">
              <a:latin typeface="+mj-lt"/>
            </a:endParaRPr>
          </a:p>
        </p:txBody>
      </p:sp>
      <p:sp>
        <p:nvSpPr>
          <p:cNvPr id="534538" name="AutoShape 10">
            <a:extLst>
              <a:ext uri="{FF2B5EF4-FFF2-40B4-BE49-F238E27FC236}">
                <a16:creationId xmlns:a16="http://schemas.microsoft.com/office/drawing/2014/main" id="{C623ED17-1D55-37F6-E063-8B63243041FC}"/>
              </a:ext>
            </a:extLst>
          </p:cNvPr>
          <p:cNvSpPr>
            <a:spLocks noChangeArrowheads="1"/>
          </p:cNvSpPr>
          <p:nvPr/>
        </p:nvSpPr>
        <p:spPr bwMode="auto">
          <a:xfrm>
            <a:off x="4318000" y="3981450"/>
            <a:ext cx="4391025" cy="581025"/>
          </a:xfrm>
          <a:prstGeom prst="wedgeRoundRectCallout">
            <a:avLst>
              <a:gd name="adj1" fmla="val -86838"/>
              <a:gd name="adj2" fmla="val 110657"/>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Tên</a:t>
            </a:r>
            <a:r>
              <a:rPr lang="en-US" altLang="ja-JP" sz="1800" dirty="0">
                <a:latin typeface="+mj-lt"/>
              </a:rPr>
              <a:t> method </a:t>
            </a:r>
            <a:r>
              <a:rPr lang="en-US" altLang="ja-JP" sz="1800" dirty="0" err="1">
                <a:latin typeface="+mj-lt"/>
              </a:rPr>
              <a:t>thông</a:t>
            </a:r>
            <a:r>
              <a:rPr lang="en-US" altLang="ja-JP" sz="1800" dirty="0">
                <a:latin typeface="+mj-lt"/>
              </a:rPr>
              <a:t> </a:t>
            </a:r>
            <a:r>
              <a:rPr lang="en-US" altLang="ja-JP" sz="1800" dirty="0" err="1">
                <a:latin typeface="+mj-lt"/>
              </a:rPr>
              <a:t>thường</a:t>
            </a:r>
            <a:r>
              <a:rPr lang="en-US" altLang="ja-JP" sz="1800" dirty="0">
                <a:latin typeface="+mj-lt"/>
              </a:rPr>
              <a:t> sẽ </a:t>
            </a:r>
            <a:r>
              <a:rPr lang="en-US" altLang="ja-JP" sz="1800" dirty="0" err="1">
                <a:latin typeface="+mj-lt"/>
              </a:rPr>
              <a:t>dùng</a:t>
            </a:r>
            <a:r>
              <a:rPr lang="en-US" altLang="ja-JP" sz="1800" dirty="0">
                <a:latin typeface="+mj-lt"/>
              </a:rPr>
              <a:t> </a:t>
            </a:r>
            <a:r>
              <a:rPr lang="en-US" altLang="ja-JP" sz="1800" dirty="0" err="1">
                <a:latin typeface="+mj-lt"/>
              </a:rPr>
              <a:t>kí</a:t>
            </a:r>
            <a:r>
              <a:rPr lang="en-US" altLang="ja-JP" sz="1800" dirty="0">
                <a:latin typeface="+mj-lt"/>
              </a:rPr>
              <a:t> </a:t>
            </a:r>
            <a:r>
              <a:rPr lang="en-US" altLang="ja-JP" sz="1800" dirty="0" err="1">
                <a:latin typeface="+mj-lt"/>
              </a:rPr>
              <a:t>tự</a:t>
            </a:r>
            <a:r>
              <a:rPr lang="en-US" altLang="ja-JP" sz="1800" dirty="0">
                <a:latin typeface="+mj-lt"/>
              </a:rPr>
              <a:t> alphabet </a:t>
            </a:r>
            <a:r>
              <a:rPr lang="en-US" altLang="ja-JP" sz="1800" dirty="0" err="1">
                <a:latin typeface="+mj-lt"/>
              </a:rPr>
              <a:t>thường</a:t>
            </a:r>
            <a:r>
              <a:rPr lang="en-US" altLang="ja-JP" sz="1800" dirty="0">
                <a:latin typeface="+mj-lt"/>
              </a:rPr>
              <a:t> ở </a:t>
            </a:r>
            <a:r>
              <a:rPr lang="en-US" altLang="ja-JP" sz="1800" dirty="0" err="1">
                <a:latin typeface="+mj-lt"/>
              </a:rPr>
              <a:t>đầu</a:t>
            </a:r>
            <a:endParaRPr lang="en-US" altLang="ja-JP" sz="1800" dirty="0">
              <a:latin typeface="+mj-lt"/>
            </a:endParaRPr>
          </a:p>
        </p:txBody>
      </p:sp>
      <p:sp>
        <p:nvSpPr>
          <p:cNvPr id="534539" name="Rectangle 11">
            <a:extLst>
              <a:ext uri="{FF2B5EF4-FFF2-40B4-BE49-F238E27FC236}">
                <a16:creationId xmlns:a16="http://schemas.microsoft.com/office/drawing/2014/main" id="{ACAAE9FC-D335-8E21-C295-9F677F4FA9D1}"/>
              </a:ext>
            </a:extLst>
          </p:cNvPr>
          <p:cNvSpPr>
            <a:spLocks noChangeArrowheads="1"/>
          </p:cNvSpPr>
          <p:nvPr/>
        </p:nvSpPr>
        <p:spPr bwMode="auto">
          <a:xfrm>
            <a:off x="957263" y="4854575"/>
            <a:ext cx="4737100" cy="95091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534540" name="Rectangle 12">
            <a:extLst>
              <a:ext uri="{FF2B5EF4-FFF2-40B4-BE49-F238E27FC236}">
                <a16:creationId xmlns:a16="http://schemas.microsoft.com/office/drawing/2014/main" id="{D5427182-D7FD-61F2-333F-E7189FFA6BD5}"/>
              </a:ext>
            </a:extLst>
          </p:cNvPr>
          <p:cNvSpPr>
            <a:spLocks noChangeArrowheads="1"/>
          </p:cNvSpPr>
          <p:nvPr/>
        </p:nvSpPr>
        <p:spPr bwMode="auto">
          <a:xfrm>
            <a:off x="5957888" y="4865688"/>
            <a:ext cx="3389312" cy="941387"/>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b="0">
                <a:ea typeface="MS UI Gothic" panose="020B0600070205080204" pitchFamily="50" charset="-128"/>
              </a:rPr>
              <a:t>Set giá trị </a:t>
            </a:r>
            <a:r>
              <a:rPr lang="ja-JP" altLang="en-US" sz="1400" b="0">
                <a:ea typeface="MS UI Gothic" panose="020B0600070205080204" pitchFamily="50" charset="-128"/>
              </a:rPr>
              <a:t>（</a:t>
            </a:r>
            <a:r>
              <a:rPr lang="en-US" altLang="en-US" sz="1400" b="0">
                <a:ea typeface="MS UI Gothic" panose="020B0600070205080204" pitchFamily="50" charset="-128"/>
              </a:rPr>
              <a:t>lname</a:t>
            </a:r>
            <a:r>
              <a:rPr lang="ja-JP" altLang="en-US" sz="1400" b="0">
                <a:ea typeface="MS UI Gothic" panose="020B0600070205080204" pitchFamily="50" charset="-128"/>
              </a:rPr>
              <a:t>）</a:t>
            </a:r>
            <a:r>
              <a:rPr lang="ja-JP" altLang="en-US" sz="1800" b="0">
                <a:ea typeface="MS UI Gothic" panose="020B0600070205080204" pitchFamily="50" charset="-128"/>
              </a:rPr>
              <a:t> </a:t>
            </a:r>
            <a:r>
              <a:rPr lang="en-US" altLang="ja-JP" sz="1800" b="0">
                <a:ea typeface="MS UI Gothic" panose="020B0600070205080204" pitchFamily="50" charset="-128"/>
              </a:rPr>
              <a:t>đã nhận bằng đối số vào thuộc tính </a:t>
            </a:r>
            <a:r>
              <a:rPr lang="ja-JP" altLang="en-US" sz="1400" b="0">
                <a:ea typeface="MS UI Gothic" panose="020B0600070205080204" pitchFamily="50" charset="-128"/>
              </a:rPr>
              <a:t>（</a:t>
            </a:r>
            <a:r>
              <a:rPr lang="en-US" altLang="en-US" sz="1400" b="0">
                <a:ea typeface="MS UI Gothic" panose="020B0600070205080204" pitchFamily="50" charset="-128"/>
              </a:rPr>
              <a:t>lastName</a:t>
            </a:r>
            <a:r>
              <a:rPr lang="ja-JP" altLang="en-US" sz="1400" b="0">
                <a:ea typeface="MS UI Gothic" panose="020B0600070205080204" pitchFamily="50" charset="-128"/>
              </a:rPr>
              <a:t>）</a:t>
            </a:r>
            <a:r>
              <a:rPr lang="ja-JP" altLang="en-US" sz="1800" b="0">
                <a:ea typeface="MS UI Gothic" panose="020B0600070205080204" pitchFamily="50" charset="-128"/>
              </a:rPr>
              <a:t> </a:t>
            </a:r>
            <a:r>
              <a:rPr lang="en-US" altLang="ja-JP" sz="1800" b="0">
                <a:ea typeface="MS UI Gothic" panose="020B0600070205080204" pitchFamily="50" charset="-128"/>
              </a:rPr>
              <a:t>thể hiện họ</a:t>
            </a:r>
          </a:p>
        </p:txBody>
      </p:sp>
      <p:cxnSp>
        <p:nvCxnSpPr>
          <p:cNvPr id="534541" name="AutoShape 13">
            <a:extLst>
              <a:ext uri="{FF2B5EF4-FFF2-40B4-BE49-F238E27FC236}">
                <a16:creationId xmlns:a16="http://schemas.microsoft.com/office/drawing/2014/main" id="{C953312A-D596-90F3-2B3A-DEA2658DA1BB}"/>
              </a:ext>
            </a:extLst>
          </p:cNvPr>
          <p:cNvCxnSpPr>
            <a:cxnSpLocks noChangeShapeType="1"/>
            <a:stCxn id="534539" idx="3"/>
            <a:endCxn id="534540" idx="1"/>
          </p:cNvCxnSpPr>
          <p:nvPr/>
        </p:nvCxnSpPr>
        <p:spPr bwMode="auto">
          <a:xfrm>
            <a:off x="5707063" y="5330825"/>
            <a:ext cx="238125" cy="6350"/>
          </a:xfrm>
          <a:prstGeom prst="straightConnector1">
            <a:avLst/>
          </a:prstGeom>
          <a:noFill/>
          <a:ln w="2540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4542" name="AutoShape 14">
            <a:extLst>
              <a:ext uri="{FF2B5EF4-FFF2-40B4-BE49-F238E27FC236}">
                <a16:creationId xmlns:a16="http://schemas.microsoft.com/office/drawing/2014/main" id="{D79B3474-10D7-AE67-04EF-5819D3F423DF}"/>
              </a:ext>
            </a:extLst>
          </p:cNvPr>
          <p:cNvSpPr>
            <a:spLocks noChangeArrowheads="1"/>
          </p:cNvSpPr>
          <p:nvPr/>
        </p:nvSpPr>
        <p:spPr bwMode="auto">
          <a:xfrm>
            <a:off x="3317875" y="2374900"/>
            <a:ext cx="5724525" cy="592138"/>
          </a:xfrm>
          <a:prstGeom prst="wedgeRoundRectCallout">
            <a:avLst>
              <a:gd name="adj1" fmla="val -17722"/>
              <a:gd name="adj2" fmla="val -81097"/>
              <a:gd name="adj3" fmla="val 16667"/>
            </a:avLst>
          </a:prstGeom>
          <a:solidFill>
            <a:srgbClr val="FFCC99">
              <a:alpha val="66000"/>
            </a:srgbClr>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Chỉ </a:t>
            </a:r>
            <a:r>
              <a:rPr lang="en-US" altLang="ja-JP" sz="1800" dirty="0" err="1">
                <a:latin typeface="+mj-lt"/>
              </a:rPr>
              <a:t>định</a:t>
            </a:r>
            <a:r>
              <a:rPr lang="en-US" altLang="ja-JP" sz="1800" dirty="0">
                <a:latin typeface="+mj-lt"/>
              </a:rPr>
              <a:t> </a:t>
            </a:r>
            <a:r>
              <a:rPr lang="en-US" altLang="ja-JP" sz="1800" dirty="0" err="1">
                <a:latin typeface="+mj-lt"/>
              </a:rPr>
              <a:t>trong</a:t>
            </a:r>
            <a:r>
              <a:rPr lang="en-US" altLang="ja-JP" sz="1800" dirty="0">
                <a:latin typeface="+mj-lt"/>
              </a:rPr>
              <a:t> </a:t>
            </a:r>
            <a:r>
              <a:rPr lang="en-US" altLang="ja-JP" sz="1800" dirty="0" err="1">
                <a:latin typeface="+mj-lt"/>
              </a:rPr>
              <a:t>trường</a:t>
            </a:r>
            <a:r>
              <a:rPr lang="en-US" altLang="ja-JP" sz="1800" dirty="0">
                <a:latin typeface="+mj-lt"/>
              </a:rPr>
              <a:t> </a:t>
            </a:r>
            <a:r>
              <a:rPr lang="en-US" altLang="ja-JP" sz="1800" dirty="0" err="1">
                <a:latin typeface="+mj-lt"/>
              </a:rPr>
              <a:t>hợp</a:t>
            </a:r>
            <a:r>
              <a:rPr lang="en-US" altLang="ja-JP" sz="1800" dirty="0">
                <a:latin typeface="+mj-lt"/>
              </a:rPr>
              <a:t> </a:t>
            </a:r>
            <a:r>
              <a:rPr lang="en-US" altLang="ja-JP" sz="1800" dirty="0" err="1">
                <a:latin typeface="+mj-lt"/>
              </a:rPr>
              <a:t>nhận</a:t>
            </a:r>
            <a:r>
              <a:rPr lang="en-US" altLang="ja-JP" sz="1800" dirty="0">
                <a:latin typeface="+mj-lt"/>
              </a:rPr>
              <a:t> </a:t>
            </a:r>
            <a:r>
              <a:rPr lang="en-US" altLang="ja-JP" sz="1800" dirty="0" err="1">
                <a:latin typeface="+mj-lt"/>
              </a:rPr>
              <a:t>gia</a:t>
            </a:r>
            <a:r>
              <a:rPr lang="en-US" altLang="ja-JP" sz="1800" dirty="0">
                <a:latin typeface="+mj-lt"/>
              </a:rPr>
              <a:t>́ trị </a:t>
            </a:r>
            <a:r>
              <a:rPr lang="en-US" altLang="ja-JP" sz="1800" dirty="0" err="1">
                <a:latin typeface="+mj-lt"/>
              </a:rPr>
              <a:t>đa</a:t>
            </a:r>
            <a:r>
              <a:rPr lang="en-US" altLang="ja-JP" sz="1800" dirty="0">
                <a:latin typeface="+mj-lt"/>
              </a:rPr>
              <a:t>̃ chỉ </a:t>
            </a:r>
            <a:r>
              <a:rPr lang="en-US" altLang="ja-JP" sz="1800" dirty="0" err="1">
                <a:latin typeface="+mj-lt"/>
              </a:rPr>
              <a:t>định</a:t>
            </a:r>
            <a:r>
              <a:rPr lang="en-US" altLang="ja-JP" sz="1800" dirty="0">
                <a:latin typeface="+mj-lt"/>
              </a:rPr>
              <a:t> </a:t>
            </a:r>
            <a:r>
              <a:rPr lang="en-US" altLang="ja-JP" sz="1800" dirty="0" err="1">
                <a:latin typeface="+mj-lt"/>
              </a:rPr>
              <a:t>khi</a:t>
            </a:r>
            <a:r>
              <a:rPr lang="en-US" altLang="ja-JP" sz="1800" dirty="0">
                <a:latin typeface="+mj-lt"/>
              </a:rPr>
              <a:t> </a:t>
            </a:r>
            <a:r>
              <a:rPr lang="en-US" altLang="ja-JP" sz="1800" dirty="0" err="1">
                <a:latin typeface="+mj-lt"/>
              </a:rPr>
              <a:t>gọi</a:t>
            </a:r>
            <a:r>
              <a:rPr lang="en-US" altLang="ja-JP" sz="1800" dirty="0">
                <a:latin typeface="+mj-lt"/>
              </a:rPr>
              <a:t> method.</a:t>
            </a:r>
          </a:p>
        </p:txBody>
      </p:sp>
      <p:sp>
        <p:nvSpPr>
          <p:cNvPr id="534537" name="AutoShape 9">
            <a:extLst>
              <a:ext uri="{FF2B5EF4-FFF2-40B4-BE49-F238E27FC236}">
                <a16:creationId xmlns:a16="http://schemas.microsoft.com/office/drawing/2014/main" id="{3BC909BA-5524-8D48-8726-480C27B92E39}"/>
              </a:ext>
            </a:extLst>
          </p:cNvPr>
          <p:cNvSpPr>
            <a:spLocks noChangeArrowheads="1"/>
          </p:cNvSpPr>
          <p:nvPr/>
        </p:nvSpPr>
        <p:spPr bwMode="auto">
          <a:xfrm>
            <a:off x="687388" y="5981700"/>
            <a:ext cx="5721350" cy="630238"/>
          </a:xfrm>
          <a:prstGeom prst="wedgeRoundRectCallout">
            <a:avLst>
              <a:gd name="adj1" fmla="val -32352"/>
              <a:gd name="adj2" fmla="val -107431"/>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0" tIns="19050" rIns="0" bIns="9525"/>
          <a:lstStyle/>
          <a:p>
            <a:pPr algn="ctr"/>
            <a:r>
              <a:rPr lang="en-US" altLang="ja-JP" sz="1800" dirty="0">
                <a:latin typeface="+mj-lt"/>
              </a:rPr>
              <a:t>modifier sẽ </a:t>
            </a:r>
            <a:r>
              <a:rPr lang="en-US" altLang="ja-JP" sz="1800" dirty="0" err="1">
                <a:latin typeface="+mj-lt"/>
              </a:rPr>
              <a:t>sư</a:t>
            </a:r>
            <a:r>
              <a:rPr lang="en-US" altLang="ja-JP" sz="1800" dirty="0">
                <a:latin typeface="+mj-lt"/>
              </a:rPr>
              <a:t>̉ </a:t>
            </a:r>
            <a:r>
              <a:rPr lang="en-US" altLang="ja-JP" sz="1800" dirty="0" err="1">
                <a:latin typeface="+mj-lt"/>
              </a:rPr>
              <a:t>dụng</a:t>
            </a:r>
            <a:r>
              <a:rPr lang="en-US" altLang="ja-JP" sz="1800" dirty="0">
                <a:latin typeface="+mj-lt"/>
              </a:rPr>
              <a:t> </a:t>
            </a:r>
            <a:r>
              <a:rPr lang="en-US" altLang="ja-JP" sz="1800" dirty="0" err="1">
                <a:latin typeface="+mj-lt"/>
              </a:rPr>
              <a:t>trong</a:t>
            </a:r>
            <a:r>
              <a:rPr lang="en-US" altLang="ja-JP" sz="1800" dirty="0">
                <a:latin typeface="+mj-lt"/>
              </a:rPr>
              <a:t> method </a:t>
            </a:r>
            <a:r>
              <a:rPr lang="en-US" altLang="ja-JP" sz="1800" dirty="0" err="1">
                <a:latin typeface="+mj-lt"/>
              </a:rPr>
              <a:t>thông</a:t>
            </a:r>
            <a:r>
              <a:rPr lang="en-US" altLang="ja-JP" sz="1800" dirty="0">
                <a:latin typeface="+mj-lt"/>
              </a:rPr>
              <a:t> </a:t>
            </a:r>
            <a:r>
              <a:rPr lang="en-US" altLang="ja-JP" sz="1800" dirty="0" err="1">
                <a:latin typeface="+mj-lt"/>
              </a:rPr>
              <a:t>thường</a:t>
            </a:r>
            <a:r>
              <a:rPr lang="en-US" altLang="ja-JP" sz="1800" dirty="0">
                <a:latin typeface="+mj-lt"/>
              </a:rPr>
              <a:t> sẽ là public </a:t>
            </a:r>
            <a:r>
              <a:rPr lang="ja-JP" altLang="en-US" sz="1800" dirty="0">
                <a:latin typeface="+mj-lt"/>
              </a:rPr>
              <a:t>（</a:t>
            </a:r>
            <a:r>
              <a:rPr lang="en-US" altLang="ja-JP" sz="1800" dirty="0" err="1">
                <a:latin typeface="+mj-lt"/>
              </a:rPr>
              <a:t>công</a:t>
            </a:r>
            <a:r>
              <a:rPr lang="en-US" altLang="ja-JP" sz="1800" dirty="0">
                <a:latin typeface="+mj-lt"/>
              </a:rPr>
              <a:t> </a:t>
            </a:r>
            <a:r>
              <a:rPr lang="en-US" altLang="ja-JP" sz="1800" dirty="0" err="1">
                <a:latin typeface="+mj-lt"/>
              </a:rPr>
              <a:t>khai</a:t>
            </a:r>
            <a:r>
              <a:rPr lang="en-US" altLang="ja-JP" sz="1800" dirty="0">
                <a:latin typeface="+mj-lt"/>
              </a:rPr>
              <a:t> </a:t>
            </a:r>
            <a:r>
              <a:rPr lang="en-US" altLang="ja-JP" sz="1800" dirty="0" err="1">
                <a:latin typeface="+mj-lt"/>
              </a:rPr>
              <a:t>ra</a:t>
            </a:r>
            <a:r>
              <a:rPr lang="en-US" altLang="ja-JP" sz="1800" dirty="0">
                <a:latin typeface="+mj-lt"/>
              </a:rPr>
              <a:t> </a:t>
            </a:r>
            <a:r>
              <a:rPr lang="en-US" altLang="ja-JP" sz="1800" dirty="0" err="1">
                <a:latin typeface="+mj-lt"/>
              </a:rPr>
              <a:t>ngoài</a:t>
            </a:r>
            <a:r>
              <a:rPr lang="ja-JP" altLang="en-US" sz="1800" dirty="0">
                <a:latin typeface="+mj-lt"/>
              </a:rPr>
              <a:t>）</a:t>
            </a:r>
          </a:p>
        </p:txBody>
      </p:sp>
      <p:sp>
        <p:nvSpPr>
          <p:cNvPr id="534544" name="Rectangle 16">
            <a:extLst>
              <a:ext uri="{FF2B5EF4-FFF2-40B4-BE49-F238E27FC236}">
                <a16:creationId xmlns:a16="http://schemas.microsoft.com/office/drawing/2014/main" id="{FE9DE706-7089-CEA7-F2E2-36206173E2B4}"/>
              </a:ext>
            </a:extLst>
          </p:cNvPr>
          <p:cNvSpPr>
            <a:spLocks noChangeArrowheads="1"/>
          </p:cNvSpPr>
          <p:nvPr/>
        </p:nvSpPr>
        <p:spPr bwMode="auto">
          <a:xfrm>
            <a:off x="6234113" y="6092825"/>
            <a:ext cx="3162300" cy="3397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r"/>
            <a:r>
              <a:rPr lang="en-US" altLang="ja-JP" sz="1600" b="0" dirty="0">
                <a:latin typeface="+mj-lt"/>
              </a:rPr>
              <a:t>※ Code </a:t>
            </a:r>
            <a:r>
              <a:rPr lang="en-US" altLang="ja-JP" sz="1600" b="0" dirty="0" err="1">
                <a:latin typeface="+mj-lt"/>
              </a:rPr>
              <a:t>giữa</a:t>
            </a:r>
            <a:r>
              <a:rPr lang="en-US" altLang="ja-JP" sz="1600" b="0" dirty="0">
                <a:latin typeface="+mj-lt"/>
              </a:rPr>
              <a:t> </a:t>
            </a:r>
            <a:r>
              <a:rPr lang="en-US" altLang="ja-JP" sz="1600" b="0" dirty="0" err="1">
                <a:latin typeface="+mj-lt"/>
              </a:rPr>
              <a:t>chừng</a:t>
            </a:r>
            <a:r>
              <a:rPr lang="en-US" altLang="ja-JP" sz="1600" b="0" dirty="0">
                <a:latin typeface="+mj-lt"/>
              </a:rPr>
              <a:t> </a:t>
            </a:r>
            <a:r>
              <a:rPr lang="en-US" altLang="ja-JP" sz="1600" b="0" dirty="0" err="1">
                <a:latin typeface="+mj-lt"/>
              </a:rPr>
              <a:t>đa</a:t>
            </a:r>
            <a:r>
              <a:rPr lang="en-US" altLang="ja-JP" sz="1600" b="0" dirty="0">
                <a:latin typeface="+mj-lt"/>
              </a:rPr>
              <a:t>̃ bị </a:t>
            </a:r>
            <a:r>
              <a:rPr lang="en-US" altLang="ja-JP" sz="1600" b="0" dirty="0" err="1">
                <a:latin typeface="+mj-lt"/>
              </a:rPr>
              <a:t>lược</a:t>
            </a:r>
            <a:r>
              <a:rPr lang="en-US" altLang="ja-JP" sz="1600" b="0" dirty="0">
                <a:latin typeface="+mj-lt"/>
              </a:rPr>
              <a:t> </a:t>
            </a:r>
            <a:r>
              <a:rPr lang="en-US" altLang="ja-JP" sz="1600" b="0" dirty="0" err="1">
                <a:latin typeface="+mj-lt"/>
              </a:rPr>
              <a:t>đi</a:t>
            </a:r>
            <a:r>
              <a:rPr lang="en-US" altLang="ja-JP" sz="1600" b="0" dirty="0">
                <a:latin typeface="+mj-lt"/>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E77B1-873F-DD00-2112-8C2C125EACCB}"/>
              </a:ext>
            </a:extLst>
          </p:cNvPr>
          <p:cNvSpPr>
            <a:spLocks noGrp="1"/>
          </p:cNvSpPr>
          <p:nvPr>
            <p:ph type="title"/>
          </p:nvPr>
        </p:nvSpPr>
        <p:spPr/>
        <p:txBody>
          <a:bodyPr>
            <a:normAutofit fontScale="90000"/>
          </a:bodyPr>
          <a:lstStyle/>
          <a:p>
            <a:r>
              <a:rPr kumimoji="1" lang="en-US" altLang="ja-JP" dirty="0" err="1">
                <a:latin typeface="+mj-lt"/>
              </a:rPr>
              <a:t>Câu</a:t>
            </a:r>
            <a:r>
              <a:rPr kumimoji="1" lang="en-US" altLang="ja-JP" dirty="0">
                <a:latin typeface="+mj-lt"/>
              </a:rPr>
              <a:t> </a:t>
            </a:r>
            <a:r>
              <a:rPr kumimoji="1" lang="en-US" altLang="ja-JP" dirty="0" err="1">
                <a:latin typeface="+mj-lt"/>
              </a:rPr>
              <a:t>lệnh</a:t>
            </a:r>
            <a:r>
              <a:rPr kumimoji="1" lang="en-US" altLang="ja-JP" dirty="0">
                <a:latin typeface="+mj-lt"/>
              </a:rPr>
              <a:t> return</a:t>
            </a:r>
            <a:endParaRPr kumimoji="1" lang="ja-JP" altLang="en-US" dirty="0">
              <a:latin typeface="+mj-lt"/>
            </a:endParaRPr>
          </a:p>
        </p:txBody>
      </p:sp>
      <p:sp>
        <p:nvSpPr>
          <p:cNvPr id="6" name="Content Placeholder 5">
            <a:extLst>
              <a:ext uri="{FF2B5EF4-FFF2-40B4-BE49-F238E27FC236}">
                <a16:creationId xmlns:a16="http://schemas.microsoft.com/office/drawing/2014/main" id="{DA0A445F-68D6-C5CA-5751-B0BE54A32B07}"/>
              </a:ext>
            </a:extLst>
          </p:cNvPr>
          <p:cNvSpPr>
            <a:spLocks noGrp="1"/>
          </p:cNvSpPr>
          <p:nvPr>
            <p:ph idx="1"/>
          </p:nvPr>
        </p:nvSpPr>
        <p:spPr>
          <a:xfrm>
            <a:off x="128464" y="1124744"/>
            <a:ext cx="3761034" cy="5328592"/>
          </a:xfrm>
        </p:spPr>
        <p:txBody>
          <a:bodyPr>
            <a:normAutofit fontScale="77500" lnSpcReduction="20000"/>
          </a:bodyPr>
          <a:lstStyle/>
          <a:p>
            <a:pPr algn="just"/>
            <a:r>
              <a:rPr lang="en-US" altLang="ja-JP" dirty="0" err="1">
                <a:ea typeface="MS UI Gothic" panose="020B0600070205080204" pitchFamily="50" charset="-128"/>
              </a:rPr>
              <a:t>Câu</a:t>
            </a:r>
            <a:r>
              <a:rPr lang="en-US" altLang="ja-JP" dirty="0">
                <a:ea typeface="MS UI Gothic" panose="020B0600070205080204" pitchFamily="50" charset="-128"/>
              </a:rPr>
              <a:t> </a:t>
            </a:r>
            <a:r>
              <a:rPr lang="en-US" altLang="ja-JP" dirty="0" err="1">
                <a:ea typeface="MS UI Gothic" panose="020B0600070205080204" pitchFamily="50" charset="-128"/>
              </a:rPr>
              <a:t>lệnh</a:t>
            </a:r>
            <a:r>
              <a:rPr lang="en-US" altLang="ja-JP" dirty="0">
                <a:ea typeface="MS UI Gothic" panose="020B0600070205080204" pitchFamily="50" charset="-128"/>
              </a:rPr>
              <a:t> return </a:t>
            </a:r>
            <a:r>
              <a:rPr lang="en-US" altLang="ja-JP" dirty="0" err="1">
                <a:ea typeface="MS UI Gothic" panose="020B0600070205080204" pitchFamily="50" charset="-128"/>
              </a:rPr>
              <a:t>dùng</a:t>
            </a:r>
            <a:r>
              <a:rPr lang="en-US" altLang="ja-JP" dirty="0">
                <a:ea typeface="MS UI Gothic" panose="020B0600070205080204" pitchFamily="50" charset="-128"/>
              </a:rPr>
              <a:t> </a:t>
            </a:r>
            <a:r>
              <a:rPr lang="en-US" altLang="ja-JP" dirty="0" err="1">
                <a:ea typeface="MS UI Gothic" panose="020B0600070205080204" pitchFamily="50" charset="-128"/>
              </a:rPr>
              <a:t>khi</a:t>
            </a:r>
            <a:r>
              <a:rPr lang="en-US" altLang="ja-JP" dirty="0">
                <a:ea typeface="MS UI Gothic" panose="020B0600070205080204" pitchFamily="50" charset="-128"/>
              </a:rPr>
              <a:t> </a:t>
            </a:r>
            <a:r>
              <a:rPr lang="en-US" altLang="ja-JP" dirty="0" err="1">
                <a:ea typeface="MS UI Gothic" panose="020B0600070205080204" pitchFamily="50" charset="-128"/>
              </a:rPr>
              <a:t>kết</a:t>
            </a:r>
            <a:r>
              <a:rPr lang="en-US" altLang="ja-JP" dirty="0">
                <a:ea typeface="MS UI Gothic" panose="020B0600070205080204" pitchFamily="50" charset="-128"/>
              </a:rPr>
              <a:t> </a:t>
            </a:r>
            <a:r>
              <a:rPr lang="en-US" altLang="ja-JP" dirty="0" err="1">
                <a:ea typeface="MS UI Gothic" panose="020B0600070205080204" pitchFamily="50" charset="-128"/>
              </a:rPr>
              <a:t>thúc</a:t>
            </a:r>
            <a:r>
              <a:rPr lang="en-US" altLang="ja-JP" dirty="0">
                <a:ea typeface="MS UI Gothic" panose="020B0600070205080204" pitchFamily="50" charset="-128"/>
              </a:rPr>
              <a:t> </a:t>
            </a:r>
            <a:r>
              <a:rPr lang="en-US" altLang="ja-JP" dirty="0" err="1">
                <a:ea typeface="MS UI Gothic" panose="020B0600070205080204" pitchFamily="50" charset="-128"/>
              </a:rPr>
              <a:t>xư</a:t>
            </a:r>
            <a:r>
              <a:rPr lang="en-US" altLang="ja-JP" dirty="0">
                <a:ea typeface="MS UI Gothic" panose="020B0600070205080204" pitchFamily="50" charset="-128"/>
              </a:rPr>
              <a:t>̉ </a:t>
            </a:r>
            <a:r>
              <a:rPr lang="en-US" altLang="ja-JP" dirty="0" err="1">
                <a:ea typeface="MS UI Gothic" panose="020B0600070205080204" pitchFamily="50" charset="-128"/>
              </a:rPr>
              <a:t>ly</a:t>
            </a:r>
            <a:r>
              <a:rPr lang="en-US" altLang="ja-JP" dirty="0">
                <a:ea typeface="MS UI Gothic" panose="020B0600070205080204" pitchFamily="50" charset="-128"/>
              </a:rPr>
              <a:t>́ </a:t>
            </a:r>
            <a:r>
              <a:rPr lang="en-US" altLang="ja-JP" dirty="0" err="1">
                <a:ea typeface="MS UI Gothic" panose="020B0600070205080204" pitchFamily="50" charset="-128"/>
              </a:rPr>
              <a:t>trong</a:t>
            </a:r>
            <a:r>
              <a:rPr lang="en-US" altLang="ja-JP" dirty="0">
                <a:ea typeface="MS UI Gothic" panose="020B0600070205080204" pitchFamily="50" charset="-128"/>
              </a:rPr>
              <a:t> method mà </a:t>
            </a:r>
            <a:r>
              <a:rPr lang="en-US" altLang="ja-JP" dirty="0" err="1">
                <a:ea typeface="MS UI Gothic" panose="020B0600070205080204" pitchFamily="50" charset="-128"/>
              </a:rPr>
              <a:t>muốn</a:t>
            </a:r>
            <a:r>
              <a:rPr lang="en-US" altLang="ja-JP" dirty="0">
                <a:ea typeface="MS UI Gothic" panose="020B0600070205080204" pitchFamily="50" charset="-128"/>
              </a:rPr>
              <a:t> quay </a:t>
            </a:r>
            <a:r>
              <a:rPr lang="en-US" altLang="ja-JP" dirty="0" err="1">
                <a:ea typeface="MS UI Gothic" panose="020B0600070205080204" pitchFamily="50" charset="-128"/>
              </a:rPr>
              <a:t>trở</a:t>
            </a:r>
            <a:r>
              <a:rPr lang="en-US" altLang="ja-JP" dirty="0">
                <a:ea typeface="MS UI Gothic" panose="020B0600070205080204" pitchFamily="50" charset="-128"/>
              </a:rPr>
              <a:t> </a:t>
            </a:r>
            <a:r>
              <a:rPr lang="en-US" altLang="ja-JP" dirty="0" err="1">
                <a:ea typeface="MS UI Gothic" panose="020B0600070205080204" pitchFamily="50" charset="-128"/>
              </a:rPr>
              <a:t>lại</a:t>
            </a:r>
            <a:r>
              <a:rPr lang="en-US" altLang="ja-JP" dirty="0">
                <a:ea typeface="MS UI Gothic" panose="020B0600070205080204" pitchFamily="50" charset="-128"/>
              </a:rPr>
              <a:t> </a:t>
            </a:r>
            <a:r>
              <a:rPr lang="en-US" altLang="ja-JP" dirty="0" err="1">
                <a:ea typeface="MS UI Gothic" panose="020B0600070205080204" pitchFamily="50" charset="-128"/>
              </a:rPr>
              <a:t>gốc</a:t>
            </a:r>
            <a:r>
              <a:rPr lang="en-US" altLang="ja-JP" dirty="0">
                <a:ea typeface="MS UI Gothic" panose="020B0600070205080204" pitchFamily="50" charset="-128"/>
              </a:rPr>
              <a:t> </a:t>
            </a:r>
            <a:r>
              <a:rPr lang="en-US" altLang="ja-JP" dirty="0" err="1">
                <a:ea typeface="MS UI Gothic" panose="020B0600070205080204" pitchFamily="50" charset="-128"/>
              </a:rPr>
              <a:t>gọi</a:t>
            </a:r>
            <a:r>
              <a:rPr lang="en-US" altLang="ja-JP" dirty="0">
                <a:ea typeface="MS UI Gothic" panose="020B0600070205080204" pitchFamily="50" charset="-128"/>
              </a:rPr>
              <a:t> </a:t>
            </a:r>
            <a:r>
              <a:rPr lang="en-US" altLang="ja-JP" dirty="0" err="1">
                <a:ea typeface="MS UI Gothic" panose="020B0600070205080204" pitchFamily="50" charset="-128"/>
              </a:rPr>
              <a:t>ra</a:t>
            </a:r>
            <a:r>
              <a:rPr lang="en-US" altLang="ja-JP" dirty="0">
                <a:ea typeface="MS UI Gothic" panose="020B0600070205080204" pitchFamily="50" charset="-128"/>
              </a:rPr>
              <a:t> </a:t>
            </a:r>
            <a:r>
              <a:rPr lang="en-US" altLang="ja-JP" dirty="0" err="1">
                <a:ea typeface="MS UI Gothic" panose="020B0600070205080204" pitchFamily="50" charset="-128"/>
              </a:rPr>
              <a:t>của</a:t>
            </a:r>
            <a:r>
              <a:rPr lang="en-US" altLang="ja-JP" dirty="0">
                <a:ea typeface="MS UI Gothic" panose="020B0600070205080204" pitchFamily="50" charset="-128"/>
              </a:rPr>
              <a:t> method.</a:t>
            </a:r>
          </a:p>
          <a:p>
            <a:pPr algn="just"/>
            <a:r>
              <a:rPr lang="ja-JP" altLang="en-US" dirty="0">
                <a:ea typeface="MS UI Gothic" panose="020B0600070205080204" pitchFamily="50" charset="-128"/>
              </a:rPr>
              <a:t>　</a:t>
            </a:r>
            <a:r>
              <a:rPr lang="en-US" altLang="ja-JP" dirty="0" err="1">
                <a:ea typeface="MS UI Gothic" panose="020B0600070205080204" pitchFamily="50" charset="-128"/>
              </a:rPr>
              <a:t>Trường</a:t>
            </a:r>
            <a:r>
              <a:rPr lang="en-US" altLang="ja-JP" dirty="0">
                <a:ea typeface="MS UI Gothic" panose="020B0600070205080204" pitchFamily="50" charset="-128"/>
              </a:rPr>
              <a:t> </a:t>
            </a:r>
            <a:r>
              <a:rPr lang="en-US" altLang="ja-JP" dirty="0" err="1">
                <a:ea typeface="MS UI Gothic" panose="020B0600070205080204" pitchFamily="50" charset="-128"/>
              </a:rPr>
              <a:t>hợp</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method có </a:t>
            </a:r>
            <a:r>
              <a:rPr lang="en-US" altLang="ja-JP" dirty="0" err="1">
                <a:ea typeface="MS UI Gothic" panose="020B0600070205080204" pitchFamily="50" charset="-128"/>
              </a:rPr>
              <a:t>gia</a:t>
            </a:r>
            <a:r>
              <a:rPr lang="en-US" altLang="ja-JP" dirty="0">
                <a:ea typeface="MS UI Gothic" panose="020B0600070205080204" pitchFamily="50" charset="-128"/>
              </a:rPr>
              <a:t>́ trị </a:t>
            </a:r>
            <a:r>
              <a:rPr lang="en-US" altLang="ja-JP" dirty="0" err="1">
                <a:ea typeface="MS UI Gothic" panose="020B0600070205080204" pitchFamily="50" charset="-128"/>
              </a:rPr>
              <a:t>tra</a:t>
            </a:r>
            <a:r>
              <a:rPr lang="en-US" altLang="ja-JP" dirty="0">
                <a:ea typeface="MS UI Gothic" panose="020B0600070205080204" pitchFamily="50" charset="-128"/>
              </a:rPr>
              <a:t>̉ </a:t>
            </a:r>
            <a:r>
              <a:rPr lang="en-US" altLang="ja-JP" dirty="0" err="1">
                <a:ea typeface="MS UI Gothic" panose="020B0600070205080204" pitchFamily="50" charset="-128"/>
              </a:rPr>
              <a:t>vê</a:t>
            </a:r>
            <a:r>
              <a:rPr lang="en-US" altLang="ja-JP" dirty="0">
                <a:ea typeface="MS UI Gothic" panose="020B0600070205080204" pitchFamily="50" charset="-128"/>
              </a:rPr>
              <a:t>̀, </a:t>
            </a:r>
            <a:r>
              <a:rPr lang="en-US" altLang="ja-JP" dirty="0" err="1">
                <a:ea typeface="MS UI Gothic" panose="020B0600070205080204" pitchFamily="50" charset="-128"/>
              </a:rPr>
              <a:t>thi</a:t>
            </a:r>
            <a:r>
              <a:rPr lang="en-US" altLang="ja-JP" dirty="0">
                <a:ea typeface="MS UI Gothic" panose="020B0600070205080204" pitchFamily="50" charset="-128"/>
              </a:rPr>
              <a:t>̀ </a:t>
            </a:r>
            <a:r>
              <a:rPr lang="en-US" altLang="ja-JP" dirty="0" err="1">
                <a:ea typeface="MS UI Gothic" panose="020B0600070205080204" pitchFamily="50" charset="-128"/>
              </a:rPr>
              <a:t>nhất</a:t>
            </a:r>
            <a:r>
              <a:rPr lang="en-US" altLang="ja-JP" dirty="0">
                <a:ea typeface="MS UI Gothic" panose="020B0600070205080204" pitchFamily="50" charset="-128"/>
              </a:rPr>
              <a:t> </a:t>
            </a:r>
            <a:r>
              <a:rPr lang="en-US" altLang="ja-JP" dirty="0" err="1">
                <a:ea typeface="MS UI Gothic" panose="020B0600070205080204" pitchFamily="50" charset="-128"/>
              </a:rPr>
              <a:t>thiết</a:t>
            </a:r>
            <a:r>
              <a:rPr lang="en-US" altLang="ja-JP" dirty="0">
                <a:ea typeface="MS UI Gothic" panose="020B0600070205080204" pitchFamily="50" charset="-128"/>
              </a:rPr>
              <a:t> </a:t>
            </a:r>
            <a:r>
              <a:rPr lang="en-US" altLang="ja-JP" dirty="0" err="1">
                <a:ea typeface="MS UI Gothic" panose="020B0600070205080204" pitchFamily="50" charset="-128"/>
              </a:rPr>
              <a:t>phải</a:t>
            </a:r>
            <a:r>
              <a:rPr lang="en-US" altLang="ja-JP" dirty="0">
                <a:ea typeface="MS UI Gothic" panose="020B0600070205080204" pitchFamily="50" charset="-128"/>
              </a:rPr>
              <a:t> </a:t>
            </a:r>
            <a:r>
              <a:rPr lang="en-US" altLang="ja-JP" dirty="0" err="1">
                <a:ea typeface="MS UI Gothic" panose="020B0600070205080204" pitchFamily="50" charset="-128"/>
              </a:rPr>
              <a:t>sư</a:t>
            </a:r>
            <a:r>
              <a:rPr lang="en-US" altLang="ja-JP" dirty="0">
                <a:ea typeface="MS UI Gothic" panose="020B0600070205080204" pitchFamily="50" charset="-128"/>
              </a:rPr>
              <a:t>̉ </a:t>
            </a:r>
            <a:r>
              <a:rPr lang="en-US" altLang="ja-JP" dirty="0" err="1">
                <a:ea typeface="MS UI Gothic" panose="020B0600070205080204" pitchFamily="50" charset="-128"/>
              </a:rPr>
              <a:t>dụng</a:t>
            </a:r>
            <a:r>
              <a:rPr lang="en-US" altLang="ja-JP" dirty="0">
                <a:ea typeface="MS UI Gothic" panose="020B0600070205080204" pitchFamily="50" charset="-128"/>
              </a:rPr>
              <a:t> </a:t>
            </a:r>
            <a:r>
              <a:rPr lang="en-US" altLang="ja-JP" dirty="0" err="1">
                <a:ea typeface="MS UI Gothic" panose="020B0600070205080204" pitchFamily="50" charset="-128"/>
              </a:rPr>
              <a:t>câu</a:t>
            </a:r>
            <a:r>
              <a:rPr lang="en-US" altLang="ja-JP" dirty="0">
                <a:ea typeface="MS UI Gothic" panose="020B0600070205080204" pitchFamily="50" charset="-128"/>
              </a:rPr>
              <a:t> </a:t>
            </a:r>
            <a:r>
              <a:rPr lang="en-US" altLang="ja-JP" dirty="0" err="1">
                <a:ea typeface="MS UI Gothic" panose="020B0600070205080204" pitchFamily="50" charset="-128"/>
              </a:rPr>
              <a:t>lệnh</a:t>
            </a:r>
            <a:r>
              <a:rPr lang="en-US" altLang="ja-JP" dirty="0">
                <a:ea typeface="MS UI Gothic" panose="020B0600070205080204" pitchFamily="50" charset="-128"/>
              </a:rPr>
              <a:t> return </a:t>
            </a:r>
            <a:r>
              <a:rPr lang="en-US" altLang="ja-JP" dirty="0" err="1">
                <a:ea typeface="MS UI Gothic" panose="020B0600070205080204" pitchFamily="50" charset="-128"/>
              </a:rPr>
              <a:t>đê</a:t>
            </a:r>
            <a:r>
              <a:rPr lang="en-US" altLang="ja-JP" dirty="0">
                <a:ea typeface="MS UI Gothic" panose="020B0600070205080204" pitchFamily="50" charset="-128"/>
              </a:rPr>
              <a:t>̉ </a:t>
            </a:r>
            <a:r>
              <a:rPr lang="en-US" altLang="ja-JP" dirty="0" err="1">
                <a:ea typeface="MS UI Gothic" panose="020B0600070205080204" pitchFamily="50" charset="-128"/>
              </a:rPr>
              <a:t>tra</a:t>
            </a:r>
            <a:r>
              <a:rPr lang="en-US" altLang="ja-JP" dirty="0">
                <a:ea typeface="MS UI Gothic" panose="020B0600070205080204" pitchFamily="50" charset="-128"/>
              </a:rPr>
              <a:t>̉ </a:t>
            </a:r>
            <a:r>
              <a:rPr lang="en-US" altLang="ja-JP" dirty="0" err="1">
                <a:ea typeface="MS UI Gothic" panose="020B0600070205080204" pitchFamily="50" charset="-128"/>
              </a:rPr>
              <a:t>vê</a:t>
            </a:r>
            <a:r>
              <a:rPr lang="en-US" altLang="ja-JP" dirty="0">
                <a:ea typeface="MS UI Gothic" panose="020B0600070205080204" pitchFamily="50" charset="-128"/>
              </a:rPr>
              <a:t>̀ </a:t>
            </a:r>
            <a:r>
              <a:rPr lang="en-US" altLang="ja-JP" dirty="0" err="1">
                <a:ea typeface="MS UI Gothic" panose="020B0600070205080204" pitchFamily="50" charset="-128"/>
              </a:rPr>
              <a:t>gia</a:t>
            </a:r>
            <a:r>
              <a:rPr lang="en-US" altLang="ja-JP" dirty="0">
                <a:ea typeface="MS UI Gothic" panose="020B0600070205080204" pitchFamily="50" charset="-128"/>
              </a:rPr>
              <a:t>́ trị.</a:t>
            </a:r>
          </a:p>
          <a:p>
            <a:pPr algn="just"/>
            <a:r>
              <a:rPr lang="ja-JP" altLang="en-US" dirty="0">
                <a:ea typeface="MS UI Gothic" panose="020B0600070205080204" pitchFamily="50" charset="-128"/>
              </a:rPr>
              <a:t>　</a:t>
            </a:r>
            <a:r>
              <a:rPr lang="en-US" altLang="ja-JP" dirty="0" err="1">
                <a:ea typeface="MS UI Gothic" panose="020B0600070205080204" pitchFamily="50" charset="-128"/>
              </a:rPr>
              <a:t>Trường</a:t>
            </a:r>
            <a:r>
              <a:rPr lang="en-US" altLang="ja-JP" dirty="0">
                <a:ea typeface="MS UI Gothic" panose="020B0600070205080204" pitchFamily="50" charset="-128"/>
              </a:rPr>
              <a:t> </a:t>
            </a:r>
            <a:r>
              <a:rPr lang="en-US" altLang="ja-JP" dirty="0" err="1">
                <a:ea typeface="MS UI Gothic" panose="020B0600070205080204" pitchFamily="50" charset="-128"/>
              </a:rPr>
              <a:t>hợp</a:t>
            </a:r>
            <a:r>
              <a:rPr lang="en-US" altLang="ja-JP" dirty="0">
                <a:ea typeface="MS UI Gothic" panose="020B0600070205080204" pitchFamily="50" charset="-128"/>
              </a:rPr>
              <a:t> method </a:t>
            </a:r>
            <a:r>
              <a:rPr lang="en-US" altLang="ja-JP" dirty="0" err="1">
                <a:ea typeface="MS UI Gothic" panose="020B0600070205080204" pitchFamily="50" charset="-128"/>
              </a:rPr>
              <a:t>không</a:t>
            </a:r>
            <a:r>
              <a:rPr lang="en-US" altLang="ja-JP" dirty="0">
                <a:ea typeface="MS UI Gothic" panose="020B0600070205080204" pitchFamily="50" charset="-128"/>
              </a:rPr>
              <a:t> có </a:t>
            </a:r>
            <a:r>
              <a:rPr lang="en-US" altLang="ja-JP" dirty="0" err="1">
                <a:ea typeface="MS UI Gothic" panose="020B0600070205080204" pitchFamily="50" charset="-128"/>
              </a:rPr>
              <a:t>gia</a:t>
            </a:r>
            <a:r>
              <a:rPr lang="en-US" altLang="ja-JP" dirty="0">
                <a:ea typeface="MS UI Gothic" panose="020B0600070205080204" pitchFamily="50" charset="-128"/>
              </a:rPr>
              <a:t>́ trị </a:t>
            </a:r>
            <a:r>
              <a:rPr lang="en-US" altLang="ja-JP" dirty="0" err="1">
                <a:ea typeface="MS UI Gothic" panose="020B0600070205080204" pitchFamily="50" charset="-128"/>
              </a:rPr>
              <a:t>tra</a:t>
            </a:r>
            <a:r>
              <a:rPr lang="en-US" altLang="ja-JP" dirty="0">
                <a:ea typeface="MS UI Gothic" panose="020B0600070205080204" pitchFamily="50" charset="-128"/>
              </a:rPr>
              <a:t>̉ </a:t>
            </a:r>
            <a:r>
              <a:rPr lang="en-US" altLang="ja-JP" dirty="0" err="1">
                <a:ea typeface="MS UI Gothic" panose="020B0600070205080204" pitchFamily="50" charset="-128"/>
              </a:rPr>
              <a:t>vê</a:t>
            </a:r>
            <a:r>
              <a:rPr lang="en-US" altLang="ja-JP" dirty="0">
                <a:ea typeface="MS UI Gothic" panose="020B0600070205080204" pitchFamily="50" charset="-128"/>
              </a:rPr>
              <a:t>̀</a:t>
            </a:r>
            <a:r>
              <a:rPr lang="ja-JP" altLang="en-US" dirty="0">
                <a:ea typeface="MS UI Gothic" panose="020B0600070205080204" pitchFamily="50" charset="-128"/>
              </a:rPr>
              <a:t>（</a:t>
            </a:r>
            <a:r>
              <a:rPr lang="en-US" altLang="ja-JP" dirty="0">
                <a:ea typeface="MS UI Gothic" panose="020B0600070205080204" pitchFamily="50" charset="-128"/>
              </a:rPr>
              <a:t>chỉ </a:t>
            </a:r>
            <a:r>
              <a:rPr lang="en-US" altLang="ja-JP" dirty="0" err="1">
                <a:ea typeface="MS UI Gothic" panose="020B0600070205080204" pitchFamily="50" charset="-128"/>
              </a:rPr>
              <a:t>định</a:t>
            </a:r>
            <a:r>
              <a:rPr lang="en-US" altLang="ja-JP" dirty="0">
                <a:ea typeface="MS UI Gothic" panose="020B0600070205080204" pitchFamily="50" charset="-128"/>
              </a:rPr>
              <a:t> void</a:t>
            </a:r>
            <a:r>
              <a:rPr lang="ja-JP" altLang="en-US" dirty="0">
                <a:ea typeface="MS UI Gothic" panose="020B0600070205080204" pitchFamily="50" charset="-128"/>
              </a:rPr>
              <a:t>）</a:t>
            </a:r>
            <a:r>
              <a:rPr lang="en-US" altLang="ja-JP" dirty="0" err="1">
                <a:ea typeface="MS UI Gothic" panose="020B0600070205080204" pitchFamily="50" charset="-128"/>
              </a:rPr>
              <a:t>thi</a:t>
            </a:r>
            <a:r>
              <a:rPr lang="en-US" altLang="ja-JP" dirty="0">
                <a:ea typeface="MS UI Gothic" panose="020B0600070205080204" pitchFamily="50" charset="-128"/>
              </a:rPr>
              <a:t>̀ </a:t>
            </a:r>
            <a:r>
              <a:rPr lang="en-US" altLang="ja-JP" dirty="0" err="1">
                <a:ea typeface="MS UI Gothic" panose="020B0600070205080204" pitchFamily="50" charset="-128"/>
              </a:rPr>
              <a:t>không</a:t>
            </a:r>
            <a:r>
              <a:rPr lang="en-US" altLang="ja-JP" dirty="0">
                <a:ea typeface="MS UI Gothic" panose="020B0600070205080204" pitchFamily="50" charset="-128"/>
              </a:rPr>
              <a:t> </a:t>
            </a:r>
            <a:r>
              <a:rPr lang="en-US" altLang="ja-JP" dirty="0" err="1">
                <a:ea typeface="MS UI Gothic" panose="020B0600070205080204" pitchFamily="50" charset="-128"/>
              </a:rPr>
              <a:t>cần</a:t>
            </a:r>
            <a:r>
              <a:rPr lang="en-US" altLang="ja-JP" dirty="0">
                <a:ea typeface="MS UI Gothic" panose="020B0600070205080204" pitchFamily="50" charset="-128"/>
              </a:rPr>
              <a:t> </a:t>
            </a:r>
            <a:r>
              <a:rPr lang="en-US" altLang="ja-JP" dirty="0" err="1">
                <a:ea typeface="MS UI Gothic" panose="020B0600070205080204" pitchFamily="50" charset="-128"/>
              </a:rPr>
              <a:t>câu</a:t>
            </a:r>
            <a:r>
              <a:rPr lang="en-US" altLang="ja-JP" dirty="0">
                <a:ea typeface="MS UI Gothic" panose="020B0600070205080204" pitchFamily="50" charset="-128"/>
              </a:rPr>
              <a:t> </a:t>
            </a:r>
            <a:r>
              <a:rPr lang="en-US" altLang="ja-JP" dirty="0" err="1">
                <a:ea typeface="MS UI Gothic" panose="020B0600070205080204" pitchFamily="50" charset="-128"/>
              </a:rPr>
              <a:t>lệnh</a:t>
            </a:r>
            <a:r>
              <a:rPr lang="en-US" altLang="ja-JP" dirty="0">
                <a:ea typeface="MS UI Gothic" panose="020B0600070205080204" pitchFamily="50" charset="-128"/>
              </a:rPr>
              <a:t> return.</a:t>
            </a:r>
          </a:p>
          <a:p>
            <a:pPr algn="just"/>
            <a:endParaRPr lang="en-US" altLang="ja-JP" dirty="0"/>
          </a:p>
          <a:p>
            <a:pPr algn="just"/>
            <a:endParaRPr lang="ja-JP" altLang="en-US" dirty="0"/>
          </a:p>
        </p:txBody>
      </p:sp>
      <p:sp>
        <p:nvSpPr>
          <p:cNvPr id="5" name="Slide Number Placeholder 4">
            <a:extLst>
              <a:ext uri="{FF2B5EF4-FFF2-40B4-BE49-F238E27FC236}">
                <a16:creationId xmlns:a16="http://schemas.microsoft.com/office/drawing/2014/main" id="{DE8EA43C-3163-8230-2BED-F91927DC663B}"/>
              </a:ext>
            </a:extLst>
          </p:cNvPr>
          <p:cNvSpPr>
            <a:spLocks noGrp="1"/>
          </p:cNvSpPr>
          <p:nvPr>
            <p:ph type="sldNum" sz="quarter" idx="11"/>
          </p:nvPr>
        </p:nvSpPr>
        <p:spPr/>
        <p:txBody>
          <a:bodyPr/>
          <a:lstStyle/>
          <a:p>
            <a:fld id="{4AC556BE-C330-47A4-A283-5CF881B2E858}" type="slidenum">
              <a:rPr lang="en-US" altLang="ja-JP" smtClean="0"/>
              <a:pPr/>
              <a:t>10</a:t>
            </a:fld>
            <a:endParaRPr lang="en-US" altLang="ja-JP"/>
          </a:p>
        </p:txBody>
      </p:sp>
      <p:sp>
        <p:nvSpPr>
          <p:cNvPr id="8" name="Text Box 11">
            <a:extLst>
              <a:ext uri="{FF2B5EF4-FFF2-40B4-BE49-F238E27FC236}">
                <a16:creationId xmlns:a16="http://schemas.microsoft.com/office/drawing/2014/main" id="{2F4D6FB6-B5FF-9816-53A0-584B5326EACC}"/>
              </a:ext>
            </a:extLst>
          </p:cNvPr>
          <p:cNvSpPr txBox="1">
            <a:spLocks noChangeArrowheads="1"/>
          </p:cNvSpPr>
          <p:nvPr/>
        </p:nvSpPr>
        <p:spPr bwMode="auto">
          <a:xfrm>
            <a:off x="443706" y="6102962"/>
            <a:ext cx="3130549" cy="26193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dirty="0">
                <a:latin typeface="+mj-lt"/>
                <a:ea typeface="ＭＳ ゴシック" panose="020B0609070205080204" pitchFamily="49" charset="-128"/>
              </a:rPr>
              <a:t>return</a:t>
            </a:r>
            <a:r>
              <a:rPr lang="ja-JP" altLang="en-US" b="0" dirty="0">
                <a:latin typeface="+mj-lt"/>
                <a:ea typeface="ＭＳ ゴシック" panose="020B0609070205080204" pitchFamily="49" charset="-128"/>
              </a:rPr>
              <a:t>　</a:t>
            </a:r>
            <a:r>
              <a:rPr lang="en-US" altLang="ja-JP" b="0" dirty="0" err="1">
                <a:latin typeface="+mj-lt"/>
                <a:ea typeface="MS UI Gothic" panose="020B0600070205080204" pitchFamily="50" charset="-128"/>
              </a:rPr>
              <a:t>biểu</a:t>
            </a:r>
            <a:r>
              <a:rPr lang="en-US" altLang="ja-JP" b="0" dirty="0">
                <a:latin typeface="+mj-lt"/>
                <a:ea typeface="MS UI Gothic" panose="020B0600070205080204" pitchFamily="50" charset="-128"/>
              </a:rPr>
              <a:t> </a:t>
            </a:r>
            <a:r>
              <a:rPr lang="en-US" altLang="ja-JP" b="0" dirty="0" err="1">
                <a:latin typeface="+mj-lt"/>
                <a:ea typeface="MS UI Gothic" panose="020B0600070205080204" pitchFamily="50" charset="-128"/>
              </a:rPr>
              <a:t>thức</a:t>
            </a:r>
            <a:r>
              <a:rPr lang="en-US" altLang="ja-JP" b="0" dirty="0">
                <a:latin typeface="+mj-lt"/>
                <a:ea typeface="MS UI Gothic" panose="020B0600070205080204" pitchFamily="50" charset="-128"/>
              </a:rPr>
              <a:t> </a:t>
            </a:r>
            <a:r>
              <a:rPr lang="en-US" altLang="ja-JP" b="0" dirty="0" err="1">
                <a:latin typeface="+mj-lt"/>
                <a:ea typeface="MS UI Gothic" panose="020B0600070205080204" pitchFamily="50" charset="-128"/>
              </a:rPr>
              <a:t>hoặc</a:t>
            </a:r>
            <a:r>
              <a:rPr lang="en-US" altLang="ja-JP" b="0" dirty="0">
                <a:latin typeface="+mj-lt"/>
                <a:ea typeface="MS UI Gothic" panose="020B0600070205080204" pitchFamily="50" charset="-128"/>
              </a:rPr>
              <a:t> </a:t>
            </a:r>
            <a:r>
              <a:rPr lang="en-US" altLang="ja-JP" b="0" dirty="0" err="1">
                <a:latin typeface="+mj-lt"/>
                <a:ea typeface="MS UI Gothic" panose="020B0600070205080204" pitchFamily="50" charset="-128"/>
              </a:rPr>
              <a:t>gia</a:t>
            </a:r>
            <a:r>
              <a:rPr lang="en-US" altLang="ja-JP" b="0" dirty="0">
                <a:latin typeface="+mj-lt"/>
                <a:ea typeface="MS UI Gothic" panose="020B0600070205080204" pitchFamily="50" charset="-128"/>
              </a:rPr>
              <a:t>́ trị</a:t>
            </a:r>
            <a:r>
              <a:rPr lang="en-US" altLang="ja-JP" b="0" dirty="0">
                <a:latin typeface="+mj-lt"/>
                <a:ea typeface="ＭＳ ゴシック" panose="020B0609070205080204" pitchFamily="49" charset="-128"/>
              </a:rPr>
              <a:t>;</a:t>
            </a:r>
          </a:p>
        </p:txBody>
      </p:sp>
      <p:sp>
        <p:nvSpPr>
          <p:cNvPr id="10" name="Rectangle 44">
            <a:extLst>
              <a:ext uri="{FF2B5EF4-FFF2-40B4-BE49-F238E27FC236}">
                <a16:creationId xmlns:a16="http://schemas.microsoft.com/office/drawing/2014/main" id="{FE3FD35C-D0D0-77A4-2D86-300F12DCCC8A}"/>
              </a:ext>
            </a:extLst>
          </p:cNvPr>
          <p:cNvSpPr>
            <a:spLocks noChangeArrowheads="1"/>
          </p:cNvSpPr>
          <p:nvPr/>
        </p:nvSpPr>
        <p:spPr bwMode="auto">
          <a:xfrm>
            <a:off x="4086348" y="1152659"/>
            <a:ext cx="5691188" cy="4959350"/>
          </a:xfrm>
          <a:prstGeom prst="rect">
            <a:avLst/>
          </a:prstGeom>
          <a:solidFill>
            <a:srgbClr val="FFFFCC">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2" name="Text Box 19">
            <a:extLst>
              <a:ext uri="{FF2B5EF4-FFF2-40B4-BE49-F238E27FC236}">
                <a16:creationId xmlns:a16="http://schemas.microsoft.com/office/drawing/2014/main" id="{CEADBDEC-9D9D-2AC9-E572-F5243BA4EC2A}"/>
              </a:ext>
            </a:extLst>
          </p:cNvPr>
          <p:cNvSpPr txBox="1">
            <a:spLocks noChangeArrowheads="1"/>
          </p:cNvSpPr>
          <p:nvPr/>
        </p:nvSpPr>
        <p:spPr bwMode="auto">
          <a:xfrm>
            <a:off x="6726360" y="1199232"/>
            <a:ext cx="2908302" cy="170748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7581" tIns="37581" rIns="37581" bIns="3758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2563"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96000"/>
              </a:lnSpc>
            </a:pPr>
            <a:r>
              <a:rPr lang="en-US" altLang="ja-JP" b="0" dirty="0">
                <a:latin typeface="ＭＳ ゴシック" panose="020B0609070205080204" pitchFamily="49" charset="-128"/>
                <a:ea typeface="ＭＳ ゴシック" panose="020B0609070205080204" pitchFamily="49" charset="-128"/>
              </a:rPr>
              <a:t>public void method1() {</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   if (</a:t>
            </a:r>
            <a:r>
              <a:rPr lang="en-US" altLang="ja-JP" b="0" dirty="0" err="1">
                <a:latin typeface="ＭＳ ゴシック" panose="020B0609070205080204" pitchFamily="49" charset="-128"/>
                <a:ea typeface="ＭＳ ゴシック" panose="020B0609070205080204" pitchFamily="49" charset="-128"/>
              </a:rPr>
              <a:t>hantei</a:t>
            </a:r>
            <a:r>
              <a:rPr lang="en-US" altLang="ja-JP" b="0" dirty="0">
                <a:latin typeface="ＭＳ ゴシック" panose="020B0609070205080204" pitchFamily="49" charset="-128"/>
                <a:ea typeface="ＭＳ ゴシック" panose="020B0609070205080204" pitchFamily="49" charset="-128"/>
              </a:rPr>
              <a:t> == true) {</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        // </a:t>
            </a:r>
            <a:r>
              <a:rPr lang="en-US" altLang="ja-JP" b="0" dirty="0" err="1">
                <a:ea typeface="ＭＳ ゴシック" panose="020B0609070205080204" pitchFamily="49" charset="-128"/>
              </a:rPr>
              <a:t>xư</a:t>
            </a:r>
            <a:r>
              <a:rPr lang="en-US" altLang="ja-JP" b="0" dirty="0">
                <a:ea typeface="ＭＳ ゴシック" panose="020B0609070205080204" pitchFamily="49" charset="-128"/>
              </a:rPr>
              <a:t>̉ </a:t>
            </a:r>
            <a:r>
              <a:rPr lang="en-US" altLang="ja-JP" b="0" dirty="0" err="1">
                <a:ea typeface="ＭＳ ゴシック" panose="020B0609070205080204" pitchFamily="49" charset="-128"/>
              </a:rPr>
              <a:t>ly</a:t>
            </a:r>
            <a:r>
              <a:rPr lang="en-US" altLang="ja-JP" b="0" dirty="0">
                <a:ea typeface="ＭＳ ゴシック" panose="020B0609070205080204" pitchFamily="49" charset="-128"/>
              </a:rPr>
              <a:t>́</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        return;</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    }</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    // </a:t>
            </a:r>
            <a:r>
              <a:rPr lang="en-US" altLang="ja-JP" b="0" dirty="0" err="1">
                <a:ea typeface="ＭＳ ゴシック" panose="020B0609070205080204" pitchFamily="49" charset="-128"/>
              </a:rPr>
              <a:t>xư</a:t>
            </a:r>
            <a:r>
              <a:rPr lang="en-US" altLang="ja-JP" b="0" dirty="0">
                <a:ea typeface="ＭＳ ゴシック" panose="020B0609070205080204" pitchFamily="49" charset="-128"/>
              </a:rPr>
              <a:t>̉ </a:t>
            </a:r>
            <a:r>
              <a:rPr lang="en-US" altLang="ja-JP" b="0" dirty="0" err="1">
                <a:ea typeface="ＭＳ ゴシック" panose="020B0609070205080204" pitchFamily="49" charset="-128"/>
              </a:rPr>
              <a:t>ly</a:t>
            </a:r>
            <a:r>
              <a:rPr lang="en-US" altLang="ja-JP" b="0" dirty="0">
                <a:ea typeface="ＭＳ ゴシック" panose="020B0609070205080204" pitchFamily="49" charset="-128"/>
              </a:rPr>
              <a:t>́</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a:t>
            </a:r>
            <a:endParaRPr lang="en-US" altLang="ja-JP" dirty="0">
              <a:latin typeface="ＭＳ ゴシック" panose="020B0609070205080204" pitchFamily="49" charset="-128"/>
              <a:ea typeface="ＭＳ ゴシック" panose="020B0609070205080204" pitchFamily="49" charset="-128"/>
            </a:endParaRPr>
          </a:p>
        </p:txBody>
      </p:sp>
      <p:sp>
        <p:nvSpPr>
          <p:cNvPr id="14" name="Line 20">
            <a:extLst>
              <a:ext uri="{FF2B5EF4-FFF2-40B4-BE49-F238E27FC236}">
                <a16:creationId xmlns:a16="http://schemas.microsoft.com/office/drawing/2014/main" id="{CEB67182-5280-B332-D4D9-9DD6D4708E77}"/>
              </a:ext>
            </a:extLst>
          </p:cNvPr>
          <p:cNvSpPr>
            <a:spLocks noChangeShapeType="1"/>
          </p:cNvSpPr>
          <p:nvPr/>
        </p:nvSpPr>
        <p:spPr bwMode="auto">
          <a:xfrm flipV="1">
            <a:off x="6473948" y="1738446"/>
            <a:ext cx="554038"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6" name="Line 21">
            <a:extLst>
              <a:ext uri="{FF2B5EF4-FFF2-40B4-BE49-F238E27FC236}">
                <a16:creationId xmlns:a16="http://schemas.microsoft.com/office/drawing/2014/main" id="{DF628185-3F02-BF1B-1E90-5F508A6BFED9}"/>
              </a:ext>
            </a:extLst>
          </p:cNvPr>
          <p:cNvSpPr>
            <a:spLocks noChangeShapeType="1"/>
          </p:cNvSpPr>
          <p:nvPr/>
        </p:nvSpPr>
        <p:spPr bwMode="auto">
          <a:xfrm>
            <a:off x="7021636" y="1727334"/>
            <a:ext cx="1587" cy="409575"/>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 name="Text Box 26">
            <a:extLst>
              <a:ext uri="{FF2B5EF4-FFF2-40B4-BE49-F238E27FC236}">
                <a16:creationId xmlns:a16="http://schemas.microsoft.com/office/drawing/2014/main" id="{BEE3B373-9563-A628-4149-E3BA93AAB026}"/>
              </a:ext>
            </a:extLst>
          </p:cNvPr>
          <p:cNvSpPr txBox="1">
            <a:spLocks noChangeArrowheads="1"/>
          </p:cNvSpPr>
          <p:nvPr/>
        </p:nvSpPr>
        <p:spPr bwMode="auto">
          <a:xfrm>
            <a:off x="4141910" y="1646371"/>
            <a:ext cx="2441576" cy="11049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7581" tIns="37581" rIns="37581" bIns="3758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b="0" dirty="0">
                <a:ea typeface="MS UI Gothic" panose="020B0600070205080204" pitchFamily="50" charset="-128"/>
              </a:rPr>
              <a:t>Quay </a:t>
            </a:r>
            <a:r>
              <a:rPr lang="en-US" altLang="ja-JP" b="0" dirty="0" err="1">
                <a:ea typeface="MS UI Gothic" panose="020B0600070205080204" pitchFamily="50" charset="-128"/>
              </a:rPr>
              <a:t>vê</a:t>
            </a:r>
            <a:r>
              <a:rPr lang="en-US" altLang="ja-JP" b="0" dirty="0">
                <a:ea typeface="MS UI Gothic" panose="020B0600070205080204" pitchFamily="50" charset="-128"/>
              </a:rPr>
              <a:t>̀ </a:t>
            </a:r>
            <a:r>
              <a:rPr lang="en-US" altLang="ja-JP" b="0" dirty="0" err="1">
                <a:ea typeface="MS UI Gothic" panose="020B0600070205080204" pitchFamily="50" charset="-128"/>
              </a:rPr>
              <a:t>gốc</a:t>
            </a:r>
            <a:r>
              <a:rPr lang="en-US" altLang="ja-JP" b="0" dirty="0">
                <a:ea typeface="MS UI Gothic" panose="020B0600070205080204" pitchFamily="50" charset="-128"/>
              </a:rPr>
              <a:t> </a:t>
            </a:r>
            <a:r>
              <a:rPr lang="en-US" altLang="ja-JP" b="0" dirty="0" err="1">
                <a:ea typeface="MS UI Gothic" panose="020B0600070205080204" pitchFamily="50" charset="-128"/>
              </a:rPr>
              <a:t>gọi</a:t>
            </a:r>
            <a:r>
              <a:rPr lang="en-US" altLang="ja-JP" b="0" dirty="0">
                <a:ea typeface="MS UI Gothic" panose="020B0600070205080204" pitchFamily="50" charset="-128"/>
              </a:rPr>
              <a:t> </a:t>
            </a:r>
            <a:r>
              <a:rPr lang="en-US" altLang="ja-JP" b="0" dirty="0" err="1">
                <a:ea typeface="MS UI Gothic" panose="020B0600070205080204" pitchFamily="50" charset="-128"/>
              </a:rPr>
              <a:t>ra</a:t>
            </a:r>
            <a:r>
              <a:rPr lang="en-US" altLang="ja-JP" b="0" dirty="0">
                <a:ea typeface="MS UI Gothic" panose="020B0600070205080204" pitchFamily="50" charset="-128"/>
              </a:rPr>
              <a:t> </a:t>
            </a:r>
            <a:r>
              <a:rPr lang="en-US" altLang="ja-JP" b="0" dirty="0" err="1">
                <a:ea typeface="MS UI Gothic" panose="020B0600070205080204" pitchFamily="50" charset="-128"/>
              </a:rPr>
              <a:t>bằng</a:t>
            </a:r>
            <a:r>
              <a:rPr lang="en-US" altLang="ja-JP" b="0" dirty="0">
                <a:ea typeface="MS UI Gothic" panose="020B0600070205080204" pitchFamily="50" charset="-128"/>
              </a:rPr>
              <a:t> </a:t>
            </a:r>
            <a:r>
              <a:rPr lang="en-US" altLang="ja-JP" b="0" dirty="0" err="1">
                <a:ea typeface="MS UI Gothic" panose="020B0600070205080204" pitchFamily="50" charset="-128"/>
              </a:rPr>
              <a:t>câu</a:t>
            </a:r>
            <a:r>
              <a:rPr lang="en-US" altLang="ja-JP" b="0" dirty="0">
                <a:ea typeface="MS UI Gothic" panose="020B0600070205080204" pitchFamily="50" charset="-128"/>
              </a:rPr>
              <a:t> </a:t>
            </a:r>
            <a:r>
              <a:rPr lang="en-US" altLang="ja-JP" b="0" dirty="0" err="1">
                <a:ea typeface="MS UI Gothic" panose="020B0600070205080204" pitchFamily="50" charset="-128"/>
              </a:rPr>
              <a:t>lệnh</a:t>
            </a:r>
            <a:r>
              <a:rPr lang="en-US" altLang="ja-JP" b="0" dirty="0">
                <a:ea typeface="MS UI Gothic" panose="020B0600070205080204" pitchFamily="50" charset="-128"/>
              </a:rPr>
              <a:t> return</a:t>
            </a:r>
          </a:p>
          <a:p>
            <a:pPr algn="just"/>
            <a:r>
              <a:rPr lang="en-US" altLang="ja-JP" b="0" dirty="0" err="1">
                <a:ea typeface="MS UI Gothic" panose="020B0600070205080204" pitchFamily="50" charset="-128"/>
              </a:rPr>
              <a:t>Kết</a:t>
            </a:r>
            <a:r>
              <a:rPr lang="en-US" altLang="ja-JP" b="0" dirty="0">
                <a:ea typeface="MS UI Gothic" panose="020B0600070205080204" pitchFamily="50" charset="-128"/>
              </a:rPr>
              <a:t> quả </a:t>
            </a:r>
            <a:r>
              <a:rPr lang="en-US" altLang="ja-JP" b="0" dirty="0" err="1">
                <a:ea typeface="MS UI Gothic" panose="020B0600070205080204" pitchFamily="50" charset="-128"/>
              </a:rPr>
              <a:t>xư</a:t>
            </a:r>
            <a:r>
              <a:rPr lang="en-US" altLang="ja-JP" b="0" dirty="0">
                <a:ea typeface="MS UI Gothic" panose="020B0600070205080204" pitchFamily="50" charset="-128"/>
              </a:rPr>
              <a:t>̉ </a:t>
            </a:r>
            <a:r>
              <a:rPr lang="en-US" altLang="ja-JP" b="0" dirty="0" err="1">
                <a:ea typeface="MS UI Gothic" panose="020B0600070205080204" pitchFamily="50" charset="-128"/>
              </a:rPr>
              <a:t>ly</a:t>
            </a:r>
            <a:r>
              <a:rPr lang="en-US" altLang="ja-JP" b="0" dirty="0">
                <a:ea typeface="MS UI Gothic" panose="020B0600070205080204" pitchFamily="50" charset="-128"/>
              </a:rPr>
              <a:t>́ </a:t>
            </a:r>
            <a:r>
              <a:rPr lang="en-US" altLang="ja-JP" b="0" dirty="0" err="1">
                <a:ea typeface="MS UI Gothic" panose="020B0600070205080204" pitchFamily="50" charset="-128"/>
              </a:rPr>
              <a:t>không</a:t>
            </a:r>
            <a:r>
              <a:rPr lang="en-US" altLang="ja-JP" b="0" dirty="0">
                <a:ea typeface="MS UI Gothic" panose="020B0600070205080204" pitchFamily="50" charset="-128"/>
              </a:rPr>
              <a:t> </a:t>
            </a:r>
            <a:r>
              <a:rPr lang="en-US" altLang="ja-JP" b="0" dirty="0" err="1">
                <a:ea typeface="MS UI Gothic" panose="020B0600070205080204" pitchFamily="50" charset="-128"/>
              </a:rPr>
              <a:t>được</a:t>
            </a:r>
            <a:r>
              <a:rPr lang="en-US" altLang="ja-JP" b="0" dirty="0">
                <a:ea typeface="MS UI Gothic" panose="020B0600070205080204" pitchFamily="50" charset="-128"/>
              </a:rPr>
              <a:t> </a:t>
            </a:r>
            <a:r>
              <a:rPr lang="en-US" altLang="ja-JP" b="0" dirty="0" err="1">
                <a:ea typeface="MS UI Gothic" panose="020B0600070205080204" pitchFamily="50" charset="-128"/>
              </a:rPr>
              <a:t>tra</a:t>
            </a:r>
            <a:r>
              <a:rPr lang="en-US" altLang="ja-JP" b="0" dirty="0">
                <a:ea typeface="MS UI Gothic" panose="020B0600070205080204" pitchFamily="50" charset="-128"/>
              </a:rPr>
              <a:t>̉ </a:t>
            </a:r>
            <a:r>
              <a:rPr lang="en-US" altLang="ja-JP" b="0" dirty="0" err="1">
                <a:ea typeface="MS UI Gothic" panose="020B0600070205080204" pitchFamily="50" charset="-128"/>
              </a:rPr>
              <a:t>vê</a:t>
            </a:r>
            <a:r>
              <a:rPr lang="en-US" altLang="ja-JP" b="0" dirty="0">
                <a:ea typeface="MS UI Gothic" panose="020B0600070205080204" pitchFamily="50" charset="-128"/>
              </a:rPr>
              <a:t>̀.</a:t>
            </a:r>
          </a:p>
        </p:txBody>
      </p:sp>
      <p:sp>
        <p:nvSpPr>
          <p:cNvPr id="20" name="Text Box 27">
            <a:extLst>
              <a:ext uri="{FF2B5EF4-FFF2-40B4-BE49-F238E27FC236}">
                <a16:creationId xmlns:a16="http://schemas.microsoft.com/office/drawing/2014/main" id="{1C8063B5-B61D-8689-D373-816139D99D3A}"/>
              </a:ext>
            </a:extLst>
          </p:cNvPr>
          <p:cNvSpPr txBox="1">
            <a:spLocks noChangeArrowheads="1"/>
          </p:cNvSpPr>
          <p:nvPr/>
        </p:nvSpPr>
        <p:spPr bwMode="auto">
          <a:xfrm>
            <a:off x="4130675" y="3052639"/>
            <a:ext cx="2438524" cy="1527566"/>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7581" tIns="37581" rIns="37581" bIns="3758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b="0" dirty="0" err="1">
                <a:ea typeface="MS UI Gothic" panose="020B0600070205080204" pitchFamily="50" charset="-128"/>
              </a:rPr>
              <a:t>Trường</a:t>
            </a:r>
            <a:r>
              <a:rPr lang="en-US" altLang="ja-JP" b="0" dirty="0">
                <a:ea typeface="MS UI Gothic" panose="020B0600070205080204" pitchFamily="50" charset="-128"/>
              </a:rPr>
              <a:t> </a:t>
            </a:r>
            <a:r>
              <a:rPr lang="en-US" altLang="ja-JP" b="0" dirty="0" err="1">
                <a:ea typeface="MS UI Gothic" panose="020B0600070205080204" pitchFamily="50" charset="-128"/>
              </a:rPr>
              <a:t>hợp</a:t>
            </a:r>
            <a:r>
              <a:rPr lang="en-US" altLang="ja-JP" b="0" dirty="0">
                <a:ea typeface="MS UI Gothic" panose="020B0600070205080204" pitchFamily="50" charset="-128"/>
              </a:rPr>
              <a:t> </a:t>
            </a:r>
            <a:r>
              <a:rPr lang="en-US" altLang="ja-JP" b="0" dirty="0" err="1">
                <a:ea typeface="MS UI Gothic" panose="020B0600070205080204" pitchFamily="50" charset="-128"/>
              </a:rPr>
              <a:t>không</a:t>
            </a:r>
            <a:r>
              <a:rPr lang="en-US" altLang="ja-JP" b="0" dirty="0">
                <a:ea typeface="MS UI Gothic" panose="020B0600070205080204" pitchFamily="50" charset="-128"/>
              </a:rPr>
              <a:t> có </a:t>
            </a:r>
            <a:r>
              <a:rPr lang="en-US" altLang="ja-JP" b="0" dirty="0" err="1">
                <a:ea typeface="MS UI Gothic" panose="020B0600070205080204" pitchFamily="50" charset="-128"/>
              </a:rPr>
              <a:t>câu</a:t>
            </a:r>
            <a:r>
              <a:rPr lang="en-US" altLang="ja-JP" b="0" dirty="0">
                <a:ea typeface="MS UI Gothic" panose="020B0600070205080204" pitchFamily="50" charset="-128"/>
              </a:rPr>
              <a:t> </a:t>
            </a:r>
            <a:r>
              <a:rPr lang="en-US" altLang="ja-JP" b="0" dirty="0" err="1">
                <a:ea typeface="MS UI Gothic" panose="020B0600070205080204" pitchFamily="50" charset="-128"/>
              </a:rPr>
              <a:t>lệnh</a:t>
            </a:r>
            <a:r>
              <a:rPr lang="en-US" altLang="ja-JP" b="0" dirty="0">
                <a:ea typeface="MS UI Gothic" panose="020B0600070205080204" pitchFamily="50" charset="-128"/>
              </a:rPr>
              <a:t> return, </a:t>
            </a:r>
            <a:r>
              <a:rPr lang="en-US" altLang="ja-JP" b="0" dirty="0" err="1">
                <a:ea typeface="MS UI Gothic" panose="020B0600070205080204" pitchFamily="50" charset="-128"/>
              </a:rPr>
              <a:t>thi</a:t>
            </a:r>
            <a:r>
              <a:rPr lang="en-US" altLang="ja-JP" b="0" dirty="0">
                <a:ea typeface="MS UI Gothic" panose="020B0600070205080204" pitchFamily="50" charset="-128"/>
              </a:rPr>
              <a:t>̀ sẽ </a:t>
            </a:r>
            <a:r>
              <a:rPr lang="en-US" altLang="ja-JP" b="0" dirty="0" err="1">
                <a:ea typeface="MS UI Gothic" panose="020B0600070205080204" pitchFamily="50" charset="-128"/>
              </a:rPr>
              <a:t>tiến</a:t>
            </a:r>
            <a:r>
              <a:rPr lang="en-US" altLang="ja-JP" b="0" dirty="0">
                <a:ea typeface="MS UI Gothic" panose="020B0600070205080204" pitchFamily="50" charset="-128"/>
              </a:rPr>
              <a:t> </a:t>
            </a:r>
            <a:r>
              <a:rPr lang="en-US" altLang="ja-JP" b="0" dirty="0" err="1">
                <a:ea typeface="MS UI Gothic" panose="020B0600070205080204" pitchFamily="50" charset="-128"/>
              </a:rPr>
              <a:t>đến</a:t>
            </a:r>
            <a:r>
              <a:rPr lang="en-US" altLang="ja-JP" b="0" dirty="0">
                <a:ea typeface="MS UI Gothic" panose="020B0600070205080204" pitchFamily="50" charset="-128"/>
              </a:rPr>
              <a:t> </a:t>
            </a:r>
            <a:r>
              <a:rPr lang="en-US" altLang="ja-JP" b="0" dirty="0" err="1">
                <a:ea typeface="MS UI Gothic" panose="020B0600070205080204" pitchFamily="50" charset="-128"/>
              </a:rPr>
              <a:t>cuối</a:t>
            </a:r>
            <a:r>
              <a:rPr lang="en-US" altLang="ja-JP" b="0" dirty="0">
                <a:ea typeface="MS UI Gothic" panose="020B0600070205080204" pitchFamily="50" charset="-128"/>
              </a:rPr>
              <a:t> method, quay </a:t>
            </a:r>
            <a:r>
              <a:rPr lang="en-US" altLang="ja-JP" b="0" dirty="0" err="1">
                <a:ea typeface="MS UI Gothic" panose="020B0600070205080204" pitchFamily="50" charset="-128"/>
              </a:rPr>
              <a:t>trơ</a:t>
            </a:r>
            <a:r>
              <a:rPr lang="en-US" altLang="ja-JP" b="0" dirty="0">
                <a:ea typeface="MS UI Gothic" panose="020B0600070205080204" pitchFamily="50" charset="-128"/>
              </a:rPr>
              <a:t>̉ </a:t>
            </a:r>
            <a:r>
              <a:rPr lang="en-US" altLang="ja-JP" b="0" dirty="0" err="1">
                <a:ea typeface="MS UI Gothic" panose="020B0600070205080204" pitchFamily="50" charset="-128"/>
              </a:rPr>
              <a:t>vê</a:t>
            </a:r>
            <a:r>
              <a:rPr lang="en-US" altLang="ja-JP" b="0" dirty="0">
                <a:ea typeface="MS UI Gothic" panose="020B0600070205080204" pitchFamily="50" charset="-128"/>
              </a:rPr>
              <a:t>̀ </a:t>
            </a:r>
            <a:r>
              <a:rPr lang="en-US" altLang="ja-JP" b="0" dirty="0" err="1">
                <a:ea typeface="MS UI Gothic" panose="020B0600070205080204" pitchFamily="50" charset="-128"/>
              </a:rPr>
              <a:t>gốc</a:t>
            </a:r>
            <a:r>
              <a:rPr lang="en-US" altLang="ja-JP" b="0" dirty="0">
                <a:ea typeface="MS UI Gothic" panose="020B0600070205080204" pitchFamily="50" charset="-128"/>
              </a:rPr>
              <a:t> </a:t>
            </a:r>
            <a:r>
              <a:rPr lang="en-US" altLang="ja-JP" b="0" dirty="0" err="1">
                <a:ea typeface="MS UI Gothic" panose="020B0600070205080204" pitchFamily="50" charset="-128"/>
              </a:rPr>
              <a:t>gọi</a:t>
            </a:r>
            <a:r>
              <a:rPr lang="en-US" altLang="ja-JP" b="0" dirty="0">
                <a:ea typeface="MS UI Gothic" panose="020B0600070205080204" pitchFamily="50" charset="-128"/>
              </a:rPr>
              <a:t> </a:t>
            </a:r>
            <a:r>
              <a:rPr lang="en-US" altLang="ja-JP" b="0" dirty="0" err="1">
                <a:ea typeface="MS UI Gothic" panose="020B0600070205080204" pitchFamily="50" charset="-128"/>
              </a:rPr>
              <a:t>ra</a:t>
            </a:r>
            <a:r>
              <a:rPr lang="en-US" altLang="ja-JP" b="0" dirty="0">
                <a:ea typeface="MS UI Gothic" panose="020B0600070205080204" pitchFamily="50" charset="-128"/>
              </a:rPr>
              <a:t>, </a:t>
            </a:r>
            <a:r>
              <a:rPr lang="en-US" altLang="ja-JP" b="0" dirty="0" err="1">
                <a:ea typeface="MS UI Gothic" panose="020B0600070205080204" pitchFamily="50" charset="-128"/>
              </a:rPr>
              <a:t>kết</a:t>
            </a:r>
            <a:r>
              <a:rPr lang="en-US" altLang="ja-JP" b="0" dirty="0">
                <a:ea typeface="MS UI Gothic" panose="020B0600070205080204" pitchFamily="50" charset="-128"/>
              </a:rPr>
              <a:t> quả </a:t>
            </a:r>
            <a:r>
              <a:rPr lang="en-US" altLang="ja-JP" b="0" dirty="0" err="1">
                <a:ea typeface="MS UI Gothic" panose="020B0600070205080204" pitchFamily="50" charset="-128"/>
              </a:rPr>
              <a:t>xư</a:t>
            </a:r>
            <a:r>
              <a:rPr lang="en-US" altLang="ja-JP" b="0" dirty="0">
                <a:ea typeface="MS UI Gothic" panose="020B0600070205080204" pitchFamily="50" charset="-128"/>
              </a:rPr>
              <a:t>̉ </a:t>
            </a:r>
            <a:r>
              <a:rPr lang="en-US" altLang="ja-JP" b="0" dirty="0" err="1">
                <a:ea typeface="MS UI Gothic" panose="020B0600070205080204" pitchFamily="50" charset="-128"/>
              </a:rPr>
              <a:t>ly</a:t>
            </a:r>
            <a:r>
              <a:rPr lang="en-US" altLang="ja-JP" b="0" dirty="0">
                <a:ea typeface="MS UI Gothic" panose="020B0600070205080204" pitchFamily="50" charset="-128"/>
              </a:rPr>
              <a:t>́ </a:t>
            </a:r>
            <a:r>
              <a:rPr lang="en-US" altLang="ja-JP" b="0" dirty="0" err="1">
                <a:ea typeface="MS UI Gothic" panose="020B0600070205080204" pitchFamily="50" charset="-128"/>
              </a:rPr>
              <a:t>không</a:t>
            </a:r>
            <a:r>
              <a:rPr lang="en-US" altLang="ja-JP" b="0" dirty="0">
                <a:ea typeface="MS UI Gothic" panose="020B0600070205080204" pitchFamily="50" charset="-128"/>
              </a:rPr>
              <a:t> </a:t>
            </a:r>
            <a:r>
              <a:rPr lang="en-US" altLang="ja-JP" b="0" dirty="0" err="1">
                <a:ea typeface="MS UI Gothic" panose="020B0600070205080204" pitchFamily="50" charset="-128"/>
              </a:rPr>
              <a:t>được</a:t>
            </a:r>
            <a:r>
              <a:rPr lang="en-US" altLang="ja-JP" b="0" dirty="0">
                <a:ea typeface="MS UI Gothic" panose="020B0600070205080204" pitchFamily="50" charset="-128"/>
              </a:rPr>
              <a:t> </a:t>
            </a:r>
            <a:r>
              <a:rPr lang="en-US" altLang="ja-JP" b="0" dirty="0" err="1">
                <a:ea typeface="MS UI Gothic" panose="020B0600070205080204" pitchFamily="50" charset="-128"/>
              </a:rPr>
              <a:t>tra</a:t>
            </a:r>
            <a:r>
              <a:rPr lang="en-US" altLang="ja-JP" b="0" dirty="0">
                <a:ea typeface="MS UI Gothic" panose="020B0600070205080204" pitchFamily="50" charset="-128"/>
              </a:rPr>
              <a:t>̉ </a:t>
            </a:r>
            <a:r>
              <a:rPr lang="en-US" altLang="ja-JP" b="0" dirty="0" err="1">
                <a:ea typeface="MS UI Gothic" panose="020B0600070205080204" pitchFamily="50" charset="-128"/>
              </a:rPr>
              <a:t>vê</a:t>
            </a:r>
            <a:r>
              <a:rPr lang="en-US" altLang="ja-JP" b="0" dirty="0">
                <a:ea typeface="MS UI Gothic" panose="020B0600070205080204" pitchFamily="50" charset="-128"/>
              </a:rPr>
              <a:t>̀.</a:t>
            </a:r>
          </a:p>
        </p:txBody>
      </p:sp>
      <p:sp>
        <p:nvSpPr>
          <p:cNvPr id="22" name="Text Box 28">
            <a:extLst>
              <a:ext uri="{FF2B5EF4-FFF2-40B4-BE49-F238E27FC236}">
                <a16:creationId xmlns:a16="http://schemas.microsoft.com/office/drawing/2014/main" id="{5A6F4B06-C748-BD83-AA51-C7B153031B65}"/>
              </a:ext>
            </a:extLst>
          </p:cNvPr>
          <p:cNvSpPr txBox="1">
            <a:spLocks noChangeArrowheads="1"/>
          </p:cNvSpPr>
          <p:nvPr/>
        </p:nvSpPr>
        <p:spPr bwMode="auto">
          <a:xfrm>
            <a:off x="6705600" y="3049855"/>
            <a:ext cx="3057649" cy="165880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7581" tIns="37581" rIns="37581" bIns="3758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96000"/>
              </a:lnSpc>
            </a:pPr>
            <a:r>
              <a:rPr lang="en-US" altLang="ja-JP" b="0" dirty="0">
                <a:latin typeface="ＭＳ ゴシック" panose="020B0609070205080204" pitchFamily="49" charset="-128"/>
                <a:ea typeface="ＭＳ ゴシック" panose="020B0609070205080204" pitchFamily="49" charset="-128"/>
              </a:rPr>
              <a:t>public void method2() {</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    if (</a:t>
            </a:r>
            <a:r>
              <a:rPr lang="en-US" altLang="ja-JP" b="0" dirty="0" err="1">
                <a:latin typeface="ＭＳ ゴシック" panose="020B0609070205080204" pitchFamily="49" charset="-128"/>
                <a:ea typeface="ＭＳ ゴシック" panose="020B0609070205080204" pitchFamily="49" charset="-128"/>
              </a:rPr>
              <a:t>hantei</a:t>
            </a:r>
            <a:r>
              <a:rPr lang="en-US" altLang="ja-JP" b="0" dirty="0">
                <a:latin typeface="ＭＳ ゴシック" panose="020B0609070205080204" pitchFamily="49" charset="-128"/>
                <a:ea typeface="ＭＳ ゴシック" panose="020B0609070205080204" pitchFamily="49" charset="-128"/>
              </a:rPr>
              <a:t>  ==  true) {</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        // </a:t>
            </a:r>
            <a:r>
              <a:rPr lang="en-US" altLang="ja-JP" b="0" dirty="0" err="1">
                <a:ea typeface="ＭＳ ゴシック" panose="020B0609070205080204" pitchFamily="49" charset="-128"/>
              </a:rPr>
              <a:t>xư</a:t>
            </a:r>
            <a:r>
              <a:rPr lang="en-US" altLang="ja-JP" b="0" dirty="0">
                <a:ea typeface="ＭＳ ゴシック" panose="020B0609070205080204" pitchFamily="49" charset="-128"/>
              </a:rPr>
              <a:t>̉ </a:t>
            </a:r>
            <a:r>
              <a:rPr lang="en-US" altLang="ja-JP" b="0" dirty="0" err="1">
                <a:ea typeface="ＭＳ ゴシック" panose="020B0609070205080204" pitchFamily="49" charset="-128"/>
              </a:rPr>
              <a:t>ly</a:t>
            </a:r>
            <a:r>
              <a:rPr lang="en-US" altLang="ja-JP" b="0" dirty="0">
                <a:ea typeface="ＭＳ ゴシック" panose="020B0609070205080204" pitchFamily="49" charset="-128"/>
              </a:rPr>
              <a:t>́</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    }</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    // </a:t>
            </a:r>
            <a:r>
              <a:rPr lang="en-US" altLang="ja-JP" b="0" dirty="0" err="1">
                <a:ea typeface="ＭＳ ゴシック" panose="020B0609070205080204" pitchFamily="49" charset="-128"/>
              </a:rPr>
              <a:t>xư</a:t>
            </a:r>
            <a:r>
              <a:rPr lang="en-US" altLang="ja-JP" b="0" dirty="0">
                <a:ea typeface="ＭＳ ゴシック" panose="020B0609070205080204" pitchFamily="49" charset="-128"/>
              </a:rPr>
              <a:t>̉ </a:t>
            </a:r>
            <a:r>
              <a:rPr lang="en-US" altLang="ja-JP" b="0" dirty="0" err="1">
                <a:ea typeface="ＭＳ ゴシック" panose="020B0609070205080204" pitchFamily="49" charset="-128"/>
              </a:rPr>
              <a:t>ly</a:t>
            </a:r>
            <a:r>
              <a:rPr lang="en-US" altLang="ja-JP" b="0" dirty="0">
                <a:ea typeface="ＭＳ ゴシック" panose="020B0609070205080204" pitchFamily="49" charset="-128"/>
              </a:rPr>
              <a:t>́</a:t>
            </a:r>
          </a:p>
          <a:p>
            <a:pPr lvl="1" algn="just">
              <a:lnSpc>
                <a:spcPct val="96000"/>
              </a:lnSpc>
            </a:pPr>
            <a:r>
              <a:rPr lang="en-US" altLang="ja-JP" b="0" dirty="0">
                <a:latin typeface="ＭＳ ゴシック" panose="020B0609070205080204" pitchFamily="49" charset="-128"/>
                <a:ea typeface="ＭＳ ゴシック" panose="020B0609070205080204" pitchFamily="49" charset="-128"/>
              </a:rPr>
              <a:t>}</a:t>
            </a:r>
            <a:endParaRPr lang="en-US" altLang="ja-JP" dirty="0">
              <a:latin typeface="ＭＳ ゴシック" panose="020B0609070205080204" pitchFamily="49" charset="-128"/>
              <a:ea typeface="ＭＳ ゴシック" panose="020B0609070205080204" pitchFamily="49" charset="-128"/>
            </a:endParaRPr>
          </a:p>
        </p:txBody>
      </p:sp>
      <p:sp>
        <p:nvSpPr>
          <p:cNvPr id="24" name="Line 34">
            <a:extLst>
              <a:ext uri="{FF2B5EF4-FFF2-40B4-BE49-F238E27FC236}">
                <a16:creationId xmlns:a16="http://schemas.microsoft.com/office/drawing/2014/main" id="{A86A810D-E684-602A-DC53-061B75CF6068}"/>
              </a:ext>
            </a:extLst>
          </p:cNvPr>
          <p:cNvSpPr>
            <a:spLocks noChangeShapeType="1"/>
          </p:cNvSpPr>
          <p:nvPr/>
        </p:nvSpPr>
        <p:spPr bwMode="auto">
          <a:xfrm>
            <a:off x="7026398" y="3349759"/>
            <a:ext cx="1588" cy="77311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26" name="Text Box 36">
            <a:extLst>
              <a:ext uri="{FF2B5EF4-FFF2-40B4-BE49-F238E27FC236}">
                <a16:creationId xmlns:a16="http://schemas.microsoft.com/office/drawing/2014/main" id="{0B878137-1D0B-5512-1ADC-F30F6C830226}"/>
              </a:ext>
            </a:extLst>
          </p:cNvPr>
          <p:cNvSpPr txBox="1">
            <a:spLocks noChangeArrowheads="1"/>
          </p:cNvSpPr>
          <p:nvPr/>
        </p:nvSpPr>
        <p:spPr bwMode="auto">
          <a:xfrm>
            <a:off x="6873998" y="4737234"/>
            <a:ext cx="2760663" cy="769937"/>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7581" tIns="37581" rIns="37581" bIns="3758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2563"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96000"/>
              </a:lnSpc>
            </a:pPr>
            <a:r>
              <a:rPr lang="en-US" altLang="ja-JP" b="0">
                <a:latin typeface="ＭＳ ゴシック" panose="020B0609070205080204" pitchFamily="49" charset="-128"/>
                <a:ea typeface="ＭＳ ゴシック" panose="020B0609070205080204" pitchFamily="49" charset="-128"/>
              </a:rPr>
              <a:t>public string method3() {</a:t>
            </a:r>
          </a:p>
          <a:p>
            <a:pPr lvl="1" algn="just">
              <a:lnSpc>
                <a:spcPct val="96000"/>
              </a:lnSpc>
            </a:pPr>
            <a:r>
              <a:rPr lang="en-US" altLang="ja-JP" b="0">
                <a:latin typeface="ＭＳ ゴシック" panose="020B0609070205080204" pitchFamily="49" charset="-128"/>
                <a:ea typeface="ＭＳ ゴシック" panose="020B0609070205080204" pitchFamily="49" charset="-128"/>
              </a:rPr>
              <a:t>    // </a:t>
            </a:r>
            <a:r>
              <a:rPr lang="en-US" altLang="ja-JP" b="0">
                <a:ea typeface="ＭＳ ゴシック" panose="020B0609070205080204" pitchFamily="49" charset="-128"/>
              </a:rPr>
              <a:t>xử lý</a:t>
            </a:r>
          </a:p>
          <a:p>
            <a:pPr lvl="1" algn="just">
              <a:lnSpc>
                <a:spcPct val="96000"/>
              </a:lnSpc>
            </a:pPr>
            <a:r>
              <a:rPr lang="en-US" altLang="ja-JP" b="0">
                <a:latin typeface="ＭＳ ゴシック" panose="020B0609070205080204" pitchFamily="49" charset="-128"/>
                <a:ea typeface="ＭＳ ゴシック" panose="020B0609070205080204" pitchFamily="49" charset="-128"/>
              </a:rPr>
              <a:t>    return str;</a:t>
            </a:r>
          </a:p>
          <a:p>
            <a:pPr lvl="1" algn="just">
              <a:lnSpc>
                <a:spcPct val="96000"/>
              </a:lnSpc>
            </a:pPr>
            <a:r>
              <a:rPr lang="en-US" altLang="ja-JP" b="0">
                <a:latin typeface="ＭＳ ゴシック" panose="020B0609070205080204" pitchFamily="49" charset="-128"/>
                <a:ea typeface="ＭＳ ゴシック" panose="020B0609070205080204" pitchFamily="49" charset="-128"/>
              </a:rPr>
              <a:t>}</a:t>
            </a:r>
            <a:endParaRPr lang="en-US" altLang="ja-JP">
              <a:latin typeface="ＭＳ ゴシック" panose="020B0609070205080204" pitchFamily="49" charset="-128"/>
              <a:ea typeface="ＭＳ ゴシック" panose="020B0609070205080204" pitchFamily="49" charset="-128"/>
            </a:endParaRPr>
          </a:p>
        </p:txBody>
      </p:sp>
      <p:sp>
        <p:nvSpPr>
          <p:cNvPr id="28" name="Line 38">
            <a:extLst>
              <a:ext uri="{FF2B5EF4-FFF2-40B4-BE49-F238E27FC236}">
                <a16:creationId xmlns:a16="http://schemas.microsoft.com/office/drawing/2014/main" id="{07CCA056-D96B-F341-0E9D-02C924AF214F}"/>
              </a:ext>
            </a:extLst>
          </p:cNvPr>
          <p:cNvSpPr>
            <a:spLocks noChangeShapeType="1"/>
          </p:cNvSpPr>
          <p:nvPr/>
        </p:nvSpPr>
        <p:spPr bwMode="auto">
          <a:xfrm flipH="1">
            <a:off x="7002586" y="4886459"/>
            <a:ext cx="3175" cy="295275"/>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30" name="Text Box 41">
            <a:extLst>
              <a:ext uri="{FF2B5EF4-FFF2-40B4-BE49-F238E27FC236}">
                <a16:creationId xmlns:a16="http://schemas.microsoft.com/office/drawing/2014/main" id="{6D89C973-2FEC-EBE0-76B7-0BD12D53BE1A}"/>
              </a:ext>
            </a:extLst>
          </p:cNvPr>
          <p:cNvSpPr txBox="1">
            <a:spLocks noChangeArrowheads="1"/>
          </p:cNvSpPr>
          <p:nvPr/>
        </p:nvSpPr>
        <p:spPr bwMode="auto">
          <a:xfrm>
            <a:off x="4141910" y="4788034"/>
            <a:ext cx="2382838" cy="1231766"/>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7581" tIns="37581" rIns="37581" bIns="3758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b="0" dirty="0">
                <a:ea typeface="MS UI Gothic" panose="020B0600070205080204" pitchFamily="50" charset="-128"/>
              </a:rPr>
              <a:t>Quay </a:t>
            </a:r>
            <a:r>
              <a:rPr lang="en-US" altLang="ja-JP" b="0" dirty="0" err="1">
                <a:ea typeface="MS UI Gothic" panose="020B0600070205080204" pitchFamily="50" charset="-128"/>
              </a:rPr>
              <a:t>vê</a:t>
            </a:r>
            <a:r>
              <a:rPr lang="en-US" altLang="ja-JP" b="0" dirty="0">
                <a:ea typeface="MS UI Gothic" panose="020B0600070205080204" pitchFamily="50" charset="-128"/>
              </a:rPr>
              <a:t>̀ </a:t>
            </a:r>
            <a:r>
              <a:rPr lang="en-US" altLang="ja-JP" b="0" dirty="0" err="1">
                <a:ea typeface="MS UI Gothic" panose="020B0600070205080204" pitchFamily="50" charset="-128"/>
              </a:rPr>
              <a:t>gốc</a:t>
            </a:r>
            <a:r>
              <a:rPr lang="en-US" altLang="ja-JP" b="0" dirty="0">
                <a:ea typeface="MS UI Gothic" panose="020B0600070205080204" pitchFamily="50" charset="-128"/>
              </a:rPr>
              <a:t> </a:t>
            </a:r>
            <a:r>
              <a:rPr lang="en-US" altLang="ja-JP" b="0" dirty="0" err="1">
                <a:ea typeface="MS UI Gothic" panose="020B0600070205080204" pitchFamily="50" charset="-128"/>
              </a:rPr>
              <a:t>gọi</a:t>
            </a:r>
            <a:r>
              <a:rPr lang="en-US" altLang="ja-JP" b="0" dirty="0">
                <a:ea typeface="MS UI Gothic" panose="020B0600070205080204" pitchFamily="50" charset="-128"/>
              </a:rPr>
              <a:t> </a:t>
            </a:r>
            <a:r>
              <a:rPr lang="en-US" altLang="ja-JP" b="0" dirty="0" err="1">
                <a:ea typeface="MS UI Gothic" panose="020B0600070205080204" pitchFamily="50" charset="-128"/>
              </a:rPr>
              <a:t>ra</a:t>
            </a:r>
            <a:r>
              <a:rPr lang="en-US" altLang="ja-JP" b="0" dirty="0">
                <a:ea typeface="MS UI Gothic" panose="020B0600070205080204" pitchFamily="50" charset="-128"/>
              </a:rPr>
              <a:t> </a:t>
            </a:r>
            <a:r>
              <a:rPr lang="en-US" altLang="ja-JP" b="0" dirty="0" err="1">
                <a:ea typeface="MS UI Gothic" panose="020B0600070205080204" pitchFamily="50" charset="-128"/>
              </a:rPr>
              <a:t>bằng</a:t>
            </a:r>
            <a:r>
              <a:rPr lang="en-US" altLang="ja-JP" b="0" dirty="0">
                <a:ea typeface="MS UI Gothic" panose="020B0600070205080204" pitchFamily="50" charset="-128"/>
              </a:rPr>
              <a:t> </a:t>
            </a:r>
            <a:r>
              <a:rPr lang="en-US" altLang="ja-JP" b="0" dirty="0" err="1">
                <a:ea typeface="MS UI Gothic" panose="020B0600070205080204" pitchFamily="50" charset="-128"/>
              </a:rPr>
              <a:t>câu</a:t>
            </a:r>
            <a:r>
              <a:rPr lang="en-US" altLang="ja-JP" b="0" dirty="0">
                <a:ea typeface="MS UI Gothic" panose="020B0600070205080204" pitchFamily="50" charset="-128"/>
              </a:rPr>
              <a:t> </a:t>
            </a:r>
            <a:r>
              <a:rPr lang="en-US" altLang="ja-JP" b="0" dirty="0" err="1">
                <a:ea typeface="MS UI Gothic" panose="020B0600070205080204" pitchFamily="50" charset="-128"/>
              </a:rPr>
              <a:t>lệnh</a:t>
            </a:r>
            <a:r>
              <a:rPr lang="en-US" altLang="ja-JP" b="0" dirty="0">
                <a:ea typeface="MS UI Gothic" panose="020B0600070205080204" pitchFamily="50" charset="-128"/>
              </a:rPr>
              <a:t> return</a:t>
            </a:r>
          </a:p>
          <a:p>
            <a:pPr algn="just"/>
            <a:r>
              <a:rPr lang="en-US" altLang="ja-JP" b="0" dirty="0" err="1">
                <a:ea typeface="MS UI Gothic" panose="020B0600070205080204" pitchFamily="50" charset="-128"/>
              </a:rPr>
              <a:t>Kết</a:t>
            </a:r>
            <a:r>
              <a:rPr lang="en-US" altLang="ja-JP" b="0" dirty="0">
                <a:ea typeface="MS UI Gothic" panose="020B0600070205080204" pitchFamily="50" charset="-128"/>
              </a:rPr>
              <a:t> quả </a:t>
            </a:r>
            <a:r>
              <a:rPr lang="en-US" altLang="ja-JP" b="0" dirty="0" err="1">
                <a:ea typeface="MS UI Gothic" panose="020B0600070205080204" pitchFamily="50" charset="-128"/>
              </a:rPr>
              <a:t>xư</a:t>
            </a:r>
            <a:r>
              <a:rPr lang="en-US" altLang="ja-JP" b="0" dirty="0">
                <a:ea typeface="MS UI Gothic" panose="020B0600070205080204" pitchFamily="50" charset="-128"/>
              </a:rPr>
              <a:t>̉ </a:t>
            </a:r>
            <a:r>
              <a:rPr lang="en-US" altLang="ja-JP" b="0" dirty="0" err="1">
                <a:ea typeface="MS UI Gothic" panose="020B0600070205080204" pitchFamily="50" charset="-128"/>
              </a:rPr>
              <a:t>ly</a:t>
            </a:r>
            <a:r>
              <a:rPr lang="en-US" altLang="ja-JP" b="0" dirty="0">
                <a:ea typeface="MS UI Gothic" panose="020B0600070205080204" pitchFamily="50" charset="-128"/>
              </a:rPr>
              <a:t>́ </a:t>
            </a:r>
            <a:r>
              <a:rPr lang="en-US" altLang="ja-JP" b="0" dirty="0" err="1">
                <a:ea typeface="MS UI Gothic" panose="020B0600070205080204" pitchFamily="50" charset="-128"/>
              </a:rPr>
              <a:t>được</a:t>
            </a:r>
            <a:r>
              <a:rPr lang="en-US" altLang="ja-JP" b="0" dirty="0">
                <a:ea typeface="MS UI Gothic" panose="020B0600070205080204" pitchFamily="50" charset="-128"/>
              </a:rPr>
              <a:t> </a:t>
            </a:r>
            <a:r>
              <a:rPr lang="en-US" altLang="ja-JP" b="0" dirty="0" err="1">
                <a:ea typeface="MS UI Gothic" panose="020B0600070205080204" pitchFamily="50" charset="-128"/>
              </a:rPr>
              <a:t>tra</a:t>
            </a:r>
            <a:r>
              <a:rPr lang="en-US" altLang="ja-JP" b="0" dirty="0">
                <a:ea typeface="MS UI Gothic" panose="020B0600070205080204" pitchFamily="50" charset="-128"/>
              </a:rPr>
              <a:t>̉ </a:t>
            </a:r>
            <a:r>
              <a:rPr lang="en-US" altLang="ja-JP" b="0" dirty="0" err="1">
                <a:ea typeface="MS UI Gothic" panose="020B0600070205080204" pitchFamily="50" charset="-128"/>
              </a:rPr>
              <a:t>vê</a:t>
            </a:r>
            <a:r>
              <a:rPr lang="en-US" altLang="ja-JP" b="0" dirty="0">
                <a:ea typeface="MS UI Gothic" panose="020B0600070205080204" pitchFamily="50" charset="-128"/>
              </a:rPr>
              <a:t>̀</a:t>
            </a:r>
          </a:p>
        </p:txBody>
      </p:sp>
      <p:sp>
        <p:nvSpPr>
          <p:cNvPr id="32" name="Rectangle 42">
            <a:extLst>
              <a:ext uri="{FF2B5EF4-FFF2-40B4-BE49-F238E27FC236}">
                <a16:creationId xmlns:a16="http://schemas.microsoft.com/office/drawing/2014/main" id="{BFE86705-FD6E-22E7-0FB6-AABFAC89E744}"/>
              </a:ext>
            </a:extLst>
          </p:cNvPr>
          <p:cNvSpPr>
            <a:spLocks noChangeArrowheads="1"/>
          </p:cNvSpPr>
          <p:nvPr/>
        </p:nvSpPr>
        <p:spPr bwMode="auto">
          <a:xfrm>
            <a:off x="6569198" y="4913446"/>
            <a:ext cx="481013" cy="23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7581" tIns="26306" rIns="37581" bIns="26306"/>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b="0">
                <a:latin typeface="MS UI Gothic" panose="020B0600070205080204" pitchFamily="50" charset="-128"/>
                <a:ea typeface="MS UI Gothic" panose="020B0600070205080204" pitchFamily="50" charset="-128"/>
              </a:rPr>
              <a:t>str</a:t>
            </a:r>
            <a:endParaRPr lang="en-US" altLang="ja-JP">
              <a:latin typeface="MS UI Gothic" panose="020B0600070205080204" pitchFamily="50" charset="-128"/>
              <a:ea typeface="MS UI Gothic" panose="020B0600070205080204" pitchFamily="50" charset="-128"/>
            </a:endParaRPr>
          </a:p>
        </p:txBody>
      </p:sp>
      <p:sp>
        <p:nvSpPr>
          <p:cNvPr id="34" name="Line 46">
            <a:extLst>
              <a:ext uri="{FF2B5EF4-FFF2-40B4-BE49-F238E27FC236}">
                <a16:creationId xmlns:a16="http://schemas.microsoft.com/office/drawing/2014/main" id="{4218ADB4-290E-6253-E502-10CEF0012389}"/>
              </a:ext>
            </a:extLst>
          </p:cNvPr>
          <p:cNvSpPr>
            <a:spLocks noChangeShapeType="1"/>
          </p:cNvSpPr>
          <p:nvPr/>
        </p:nvSpPr>
        <p:spPr bwMode="auto">
          <a:xfrm>
            <a:off x="6305673" y="2128971"/>
            <a:ext cx="722313" cy="0"/>
          </a:xfrm>
          <a:prstGeom prst="line">
            <a:avLst/>
          </a:prstGeom>
          <a:noFill/>
          <a:ln w="19050">
            <a:solidFill>
              <a:srgbClr val="0000FF"/>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6" name="Line 47">
            <a:extLst>
              <a:ext uri="{FF2B5EF4-FFF2-40B4-BE49-F238E27FC236}">
                <a16:creationId xmlns:a16="http://schemas.microsoft.com/office/drawing/2014/main" id="{E7FABB4A-99D4-912E-8A65-654FE499F226}"/>
              </a:ext>
            </a:extLst>
          </p:cNvPr>
          <p:cNvSpPr>
            <a:spLocks noChangeShapeType="1"/>
          </p:cNvSpPr>
          <p:nvPr/>
        </p:nvSpPr>
        <p:spPr bwMode="auto">
          <a:xfrm>
            <a:off x="6313611" y="4129221"/>
            <a:ext cx="722312" cy="0"/>
          </a:xfrm>
          <a:prstGeom prst="line">
            <a:avLst/>
          </a:prstGeom>
          <a:noFill/>
          <a:ln w="19050">
            <a:solidFill>
              <a:srgbClr val="0000FF"/>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38" name="Line 48">
            <a:extLst>
              <a:ext uri="{FF2B5EF4-FFF2-40B4-BE49-F238E27FC236}">
                <a16:creationId xmlns:a16="http://schemas.microsoft.com/office/drawing/2014/main" id="{8ED753FE-61C6-D8DF-5A03-7B9DAA85D949}"/>
              </a:ext>
            </a:extLst>
          </p:cNvPr>
          <p:cNvSpPr>
            <a:spLocks noChangeShapeType="1"/>
          </p:cNvSpPr>
          <p:nvPr/>
        </p:nvSpPr>
        <p:spPr bwMode="auto">
          <a:xfrm flipV="1">
            <a:off x="6469186" y="3357696"/>
            <a:ext cx="554037"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40" name="Line 50">
            <a:extLst>
              <a:ext uri="{FF2B5EF4-FFF2-40B4-BE49-F238E27FC236}">
                <a16:creationId xmlns:a16="http://schemas.microsoft.com/office/drawing/2014/main" id="{D5062E03-C2F9-9253-DA47-40B3F387F432}"/>
              </a:ext>
            </a:extLst>
          </p:cNvPr>
          <p:cNvSpPr>
            <a:spLocks noChangeShapeType="1"/>
          </p:cNvSpPr>
          <p:nvPr/>
        </p:nvSpPr>
        <p:spPr bwMode="auto">
          <a:xfrm>
            <a:off x="6285036" y="5181734"/>
            <a:ext cx="722312" cy="0"/>
          </a:xfrm>
          <a:prstGeom prst="line">
            <a:avLst/>
          </a:prstGeom>
          <a:noFill/>
          <a:ln w="19050">
            <a:solidFill>
              <a:srgbClr val="0000FF"/>
            </a:solidFill>
            <a:round/>
            <a:headEnd type="triangle" w="med" len="med"/>
            <a:tailEnd/>
          </a:ln>
          <a:extLst>
            <a:ext uri="{909E8E84-426E-40DD-AFC4-6F175D3DCCD1}">
              <a14:hiddenFill xmlns:a14="http://schemas.microsoft.com/office/drawing/2010/main">
                <a:noFill/>
              </a14:hiddenFill>
            </a:ext>
          </a:extLst>
        </p:spPr>
        <p:txBody>
          <a:bodyPr/>
          <a:lstStyle/>
          <a:p>
            <a:endParaRPr lang="ja-JP" altLang="en-US"/>
          </a:p>
        </p:txBody>
      </p:sp>
      <p:sp>
        <p:nvSpPr>
          <p:cNvPr id="42" name="Rectangle 40">
            <a:extLst>
              <a:ext uri="{FF2B5EF4-FFF2-40B4-BE49-F238E27FC236}">
                <a16:creationId xmlns:a16="http://schemas.microsoft.com/office/drawing/2014/main" id="{45BF4D1F-CA82-D321-B904-3ED0D3F2226D}"/>
              </a:ext>
            </a:extLst>
          </p:cNvPr>
          <p:cNvSpPr>
            <a:spLocks noChangeArrowheads="1"/>
          </p:cNvSpPr>
          <p:nvPr/>
        </p:nvSpPr>
        <p:spPr bwMode="auto">
          <a:xfrm>
            <a:off x="6605588" y="5257800"/>
            <a:ext cx="252412" cy="142875"/>
          </a:xfrm>
          <a:prstGeom prst="rect">
            <a:avLst/>
          </a:prstGeom>
          <a:solidFill>
            <a:srgbClr val="FFFFFF"/>
          </a:solidFill>
          <a:ln w="19050">
            <a:solidFill>
              <a:srgbClr val="000000"/>
            </a:solidFill>
            <a:miter lim="800000"/>
            <a:headEnd/>
            <a:tailEnd/>
          </a:ln>
        </p:spPr>
        <p:txBody>
          <a:bodyPr/>
          <a:lstStyle/>
          <a:p>
            <a:endParaRPr lang="ja-JP" altLang="en-US"/>
          </a:p>
        </p:txBody>
      </p:sp>
      <p:sp>
        <p:nvSpPr>
          <p:cNvPr id="44" name="Line 51">
            <a:extLst>
              <a:ext uri="{FF2B5EF4-FFF2-40B4-BE49-F238E27FC236}">
                <a16:creationId xmlns:a16="http://schemas.microsoft.com/office/drawing/2014/main" id="{853B36F4-E326-2FE1-BDC1-3FB8B4D630AA}"/>
              </a:ext>
            </a:extLst>
          </p:cNvPr>
          <p:cNvSpPr>
            <a:spLocks noChangeShapeType="1"/>
          </p:cNvSpPr>
          <p:nvPr/>
        </p:nvSpPr>
        <p:spPr bwMode="auto">
          <a:xfrm flipV="1">
            <a:off x="6454898" y="4891221"/>
            <a:ext cx="554038"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ja-JP" altLang="en-US"/>
          </a:p>
        </p:txBody>
      </p:sp>
    </p:spTree>
    <p:extLst>
      <p:ext uri="{BB962C8B-B14F-4D97-AF65-F5344CB8AC3E}">
        <p14:creationId xmlns:p14="http://schemas.microsoft.com/office/powerpoint/2010/main" val="973722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A40ACA6D-532C-C912-B9A0-D5E030D635D6}"/>
              </a:ext>
            </a:extLst>
          </p:cNvPr>
          <p:cNvSpPr>
            <a:spLocks noGrp="1"/>
          </p:cNvSpPr>
          <p:nvPr>
            <p:ph type="sldNum" sz="quarter" idx="10"/>
          </p:nvPr>
        </p:nvSpPr>
        <p:spPr/>
        <p:txBody>
          <a:bodyPr/>
          <a:lstStyle/>
          <a:p>
            <a:fld id="{67867325-E493-44D0-BF56-3B6750D2953E}" type="slidenum">
              <a:rPr lang="en-US" altLang="ja-JP"/>
              <a:pPr/>
              <a:t>11</a:t>
            </a:fld>
            <a:endParaRPr lang="en-US" altLang="ja-JP"/>
          </a:p>
        </p:txBody>
      </p:sp>
      <p:sp>
        <p:nvSpPr>
          <p:cNvPr id="546818" name="Rectangle 2">
            <a:extLst>
              <a:ext uri="{FF2B5EF4-FFF2-40B4-BE49-F238E27FC236}">
                <a16:creationId xmlns:a16="http://schemas.microsoft.com/office/drawing/2014/main" id="{75F50A16-FA30-D64C-DE97-4D6967F53540}"/>
              </a:ext>
            </a:extLst>
          </p:cNvPr>
          <p:cNvSpPr>
            <a:spLocks noGrp="1" noChangeArrowheads="1"/>
          </p:cNvSpPr>
          <p:nvPr>
            <p:ph type="title"/>
          </p:nvPr>
        </p:nvSpPr>
        <p:spPr>
          <a:xfrm>
            <a:off x="344487" y="339208"/>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Constructor</a:t>
            </a:r>
          </a:p>
        </p:txBody>
      </p:sp>
      <p:sp>
        <p:nvSpPr>
          <p:cNvPr id="546819" name="Rectangle 3">
            <a:extLst>
              <a:ext uri="{FF2B5EF4-FFF2-40B4-BE49-F238E27FC236}">
                <a16:creationId xmlns:a16="http://schemas.microsoft.com/office/drawing/2014/main" id="{0BC30EFC-25C6-3937-54C9-1084F5100075}"/>
              </a:ext>
            </a:extLst>
          </p:cNvPr>
          <p:cNvSpPr>
            <a:spLocks noChangeArrowheads="1"/>
          </p:cNvSpPr>
          <p:nvPr/>
        </p:nvSpPr>
        <p:spPr bwMode="auto">
          <a:xfrm>
            <a:off x="-979488" y="20732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46820" name="Rectangle 4">
            <a:extLst>
              <a:ext uri="{FF2B5EF4-FFF2-40B4-BE49-F238E27FC236}">
                <a16:creationId xmlns:a16="http://schemas.microsoft.com/office/drawing/2014/main" id="{8D0F87AB-8184-A522-D238-4387AAAF4DA1}"/>
              </a:ext>
            </a:extLst>
          </p:cNvPr>
          <p:cNvSpPr>
            <a:spLocks noChangeArrowheads="1"/>
          </p:cNvSpPr>
          <p:nvPr/>
        </p:nvSpPr>
        <p:spPr bwMode="auto">
          <a:xfrm>
            <a:off x="344488" y="18780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546821" name="Text Box 5">
            <a:extLst>
              <a:ext uri="{FF2B5EF4-FFF2-40B4-BE49-F238E27FC236}">
                <a16:creationId xmlns:a16="http://schemas.microsoft.com/office/drawing/2014/main" id="{99415A38-0373-DAAA-33E1-F7EC6D075304}"/>
              </a:ext>
            </a:extLst>
          </p:cNvPr>
          <p:cNvSpPr txBox="1">
            <a:spLocks noChangeArrowheads="1"/>
          </p:cNvSpPr>
          <p:nvPr/>
        </p:nvSpPr>
        <p:spPr bwMode="auto">
          <a:xfrm>
            <a:off x="344488" y="2335213"/>
            <a:ext cx="9120187" cy="1106487"/>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en-US" sz="2000">
                <a:ea typeface="MS UI Gothic" panose="020B0600070205080204" pitchFamily="50" charset="-128"/>
              </a:rPr>
              <a:t>　</a:t>
            </a:r>
            <a:r>
              <a:rPr lang="en-US" altLang="ja-JP" sz="2000">
                <a:ea typeface="MS UI Gothic" panose="020B0600070205080204" pitchFamily="50" charset="-128"/>
              </a:rPr>
              <a:t>modifier</a:t>
            </a:r>
            <a:r>
              <a:rPr lang="ja-JP" altLang="en-US" sz="2000">
                <a:ea typeface="MS UI Gothic" panose="020B0600070205080204" pitchFamily="50" charset="-128"/>
              </a:rPr>
              <a:t>　　</a:t>
            </a:r>
            <a:r>
              <a:rPr lang="en-US" altLang="ja-JP" sz="2000">
                <a:ea typeface="MS UI Gothic" panose="020B0600070205080204" pitchFamily="50" charset="-128"/>
              </a:rPr>
              <a:t>tên constructor</a:t>
            </a:r>
            <a:r>
              <a:rPr lang="en-US" altLang="ja-JP" sz="2000">
                <a:ea typeface="ＭＳ ゴシック" panose="020B0609070205080204" pitchFamily="49" charset="-128"/>
              </a:rPr>
              <a:t>(</a:t>
            </a:r>
            <a:r>
              <a:rPr lang="en-US" altLang="ja-JP" sz="2000">
                <a:ea typeface="MS UI Gothic" panose="020B0600070205080204" pitchFamily="50" charset="-128"/>
              </a:rPr>
              <a:t> kiểu data  đối số </a:t>
            </a:r>
            <a:r>
              <a:rPr lang="ja-JP" altLang="en-US" sz="2000">
                <a:ea typeface="MS UI Gothic" panose="020B0600070205080204" pitchFamily="50" charset="-128"/>
              </a:rPr>
              <a:t>１</a:t>
            </a:r>
            <a:r>
              <a:rPr lang="en-US" altLang="ja-JP" sz="2000">
                <a:ea typeface="ＭＳ ゴシック" panose="020B0609070205080204" pitchFamily="49" charset="-128"/>
              </a:rPr>
              <a:t>,</a:t>
            </a:r>
            <a:r>
              <a:rPr lang="en-US" altLang="ja-JP" sz="2000">
                <a:ea typeface="MS UI Gothic" panose="020B0600070205080204" pitchFamily="50" charset="-128"/>
              </a:rPr>
              <a:t> …</a:t>
            </a:r>
            <a:r>
              <a:rPr lang="ja-JP" altLang="en-US" sz="2000">
                <a:ea typeface="MS UI Gothic" panose="020B0600070205080204" pitchFamily="50" charset="-128"/>
              </a:rPr>
              <a:t>　</a:t>
            </a:r>
            <a:r>
              <a:rPr lang="en-US" altLang="ja-JP" sz="2000">
                <a:ea typeface="ＭＳ ゴシック" panose="020B0609070205080204" pitchFamily="49" charset="-128"/>
              </a:rPr>
              <a:t>) {</a:t>
            </a:r>
          </a:p>
          <a:p>
            <a:pPr lvl="1" algn="just">
              <a:lnSpc>
                <a:spcPct val="112000"/>
              </a:lnSpc>
            </a:pPr>
            <a:r>
              <a:rPr lang="ja-JP" altLang="en-US" sz="2000">
                <a:ea typeface="MS UI Gothic" panose="020B0600070205080204" pitchFamily="50" charset="-128"/>
              </a:rPr>
              <a:t>　　　　　　</a:t>
            </a:r>
            <a:r>
              <a:rPr lang="en-US" altLang="ja-JP" sz="2000">
                <a:ea typeface="ＭＳ ゴシック" panose="020B0609070205080204" pitchFamily="49" charset="-128"/>
              </a:rPr>
              <a:t>//</a:t>
            </a:r>
            <a:r>
              <a:rPr lang="en-US" altLang="ja-JP" sz="2000">
                <a:ea typeface="MS UI Gothic" panose="020B0600070205080204" pitchFamily="50" charset="-128"/>
              </a:rPr>
              <a:t>  xử lý ban đầu khi sinh object</a:t>
            </a:r>
          </a:p>
          <a:p>
            <a:pPr lvl="1" algn="just">
              <a:lnSpc>
                <a:spcPct val="112000"/>
              </a:lnSpc>
            </a:pPr>
            <a:r>
              <a:rPr lang="ja-JP" altLang="en-US" sz="2000">
                <a:ea typeface="MS UI Gothic" panose="020B0600070205080204" pitchFamily="50" charset="-128"/>
              </a:rPr>
              <a:t>　</a:t>
            </a:r>
            <a:r>
              <a:rPr lang="en-US" altLang="ja-JP" sz="2000">
                <a:ea typeface="ＭＳ ゴシック" panose="020B0609070205080204" pitchFamily="49" charset="-128"/>
              </a:rPr>
              <a:t>}</a:t>
            </a:r>
          </a:p>
        </p:txBody>
      </p:sp>
      <p:sp>
        <p:nvSpPr>
          <p:cNvPr id="546822" name="AutoShape 6">
            <a:extLst>
              <a:ext uri="{FF2B5EF4-FFF2-40B4-BE49-F238E27FC236}">
                <a16:creationId xmlns:a16="http://schemas.microsoft.com/office/drawing/2014/main" id="{32A42EC7-94CF-8BA8-0944-CE76A7483C69}"/>
              </a:ext>
            </a:extLst>
          </p:cNvPr>
          <p:cNvSpPr>
            <a:spLocks noChangeArrowheads="1"/>
          </p:cNvSpPr>
          <p:nvPr/>
        </p:nvSpPr>
        <p:spPr bwMode="auto">
          <a:xfrm>
            <a:off x="2554288" y="1647825"/>
            <a:ext cx="3779837" cy="554038"/>
          </a:xfrm>
          <a:prstGeom prst="wedgeRoundRectCallout">
            <a:avLst>
              <a:gd name="adj1" fmla="val -44542"/>
              <a:gd name="adj2" fmla="val 91833"/>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Nhất</a:t>
            </a:r>
            <a:r>
              <a:rPr lang="en-US" altLang="ja-JP" sz="1800" dirty="0">
                <a:latin typeface="+mj-lt"/>
              </a:rPr>
              <a:t> </a:t>
            </a:r>
            <a:r>
              <a:rPr lang="en-US" altLang="ja-JP" sz="1800" dirty="0" err="1">
                <a:latin typeface="+mj-lt"/>
              </a:rPr>
              <a:t>thiết</a:t>
            </a:r>
            <a:r>
              <a:rPr lang="en-US" altLang="ja-JP" sz="1800" dirty="0">
                <a:latin typeface="+mj-lt"/>
              </a:rPr>
              <a:t> </a:t>
            </a:r>
            <a:r>
              <a:rPr lang="en-US" altLang="ja-JP" sz="1800" dirty="0" err="1">
                <a:latin typeface="+mj-lt"/>
              </a:rPr>
              <a:t>phải</a:t>
            </a:r>
            <a:r>
              <a:rPr lang="en-US" altLang="ja-JP" sz="1800" dirty="0">
                <a:latin typeface="+mj-lt"/>
              </a:rPr>
              <a:t> chỉ </a:t>
            </a:r>
            <a:r>
              <a:rPr lang="en-US" altLang="ja-JP" sz="1800" dirty="0" err="1">
                <a:latin typeface="+mj-lt"/>
              </a:rPr>
              <a:t>định</a:t>
            </a:r>
            <a:r>
              <a:rPr lang="en-US" altLang="ja-JP" sz="1800" dirty="0">
                <a:latin typeface="+mj-lt"/>
              </a:rPr>
              <a:t> </a:t>
            </a:r>
            <a:r>
              <a:rPr lang="en-US" altLang="ja-JP" sz="1800" dirty="0" err="1">
                <a:latin typeface="+mj-lt"/>
              </a:rPr>
              <a:t>tên</a:t>
            </a:r>
            <a:r>
              <a:rPr lang="en-US" altLang="ja-JP" sz="1800" dirty="0">
                <a:latin typeface="+mj-lt"/>
              </a:rPr>
              <a:t> class </a:t>
            </a:r>
            <a:r>
              <a:rPr lang="en-US" altLang="ja-JP" sz="1800" dirty="0" err="1">
                <a:latin typeface="+mj-lt"/>
              </a:rPr>
              <a:t>trong</a:t>
            </a:r>
            <a:r>
              <a:rPr lang="en-US" altLang="ja-JP" sz="1800" dirty="0">
                <a:latin typeface="+mj-lt"/>
              </a:rPr>
              <a:t> </a:t>
            </a:r>
            <a:r>
              <a:rPr lang="en-US" altLang="ja-JP" sz="1800" dirty="0" err="1">
                <a:latin typeface="+mj-lt"/>
              </a:rPr>
              <a:t>tên</a:t>
            </a:r>
            <a:r>
              <a:rPr lang="en-US" altLang="ja-JP" sz="1800" dirty="0">
                <a:latin typeface="+mj-lt"/>
              </a:rPr>
              <a:t> </a:t>
            </a:r>
            <a:r>
              <a:rPr lang="en-US" altLang="ja-JP" sz="1800" dirty="0" err="1">
                <a:latin typeface="+mj-lt"/>
              </a:rPr>
              <a:t>của</a:t>
            </a:r>
            <a:r>
              <a:rPr lang="en-US" altLang="ja-JP" sz="1800" dirty="0">
                <a:latin typeface="+mj-lt"/>
              </a:rPr>
              <a:t> constructor</a:t>
            </a:r>
          </a:p>
        </p:txBody>
      </p:sp>
      <p:sp>
        <p:nvSpPr>
          <p:cNvPr id="546823" name="Rectangle 7">
            <a:extLst>
              <a:ext uri="{FF2B5EF4-FFF2-40B4-BE49-F238E27FC236}">
                <a16:creationId xmlns:a16="http://schemas.microsoft.com/office/drawing/2014/main" id="{E9F79B0C-9B6E-B05B-50A6-AFCB245F2A2D}"/>
              </a:ext>
            </a:extLst>
          </p:cNvPr>
          <p:cNvSpPr>
            <a:spLocks noChangeArrowheads="1"/>
          </p:cNvSpPr>
          <p:nvPr/>
        </p:nvSpPr>
        <p:spPr bwMode="auto">
          <a:xfrm>
            <a:off x="344488" y="1130300"/>
            <a:ext cx="9120187" cy="530225"/>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Là hàm định nghĩa xử lý sẽ tiến hành lúc sinh object.</a:t>
            </a:r>
          </a:p>
        </p:txBody>
      </p:sp>
      <p:sp>
        <p:nvSpPr>
          <p:cNvPr id="546824" name="Rectangle 8">
            <a:extLst>
              <a:ext uri="{FF2B5EF4-FFF2-40B4-BE49-F238E27FC236}">
                <a16:creationId xmlns:a16="http://schemas.microsoft.com/office/drawing/2014/main" id="{A8D985C3-9023-EB58-B561-C4FCEB1E6872}"/>
              </a:ext>
            </a:extLst>
          </p:cNvPr>
          <p:cNvSpPr>
            <a:spLocks noChangeArrowheads="1"/>
          </p:cNvSpPr>
          <p:nvPr/>
        </p:nvSpPr>
        <p:spPr bwMode="auto">
          <a:xfrm>
            <a:off x="344488" y="6762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Constructor</a:t>
            </a:r>
          </a:p>
        </p:txBody>
      </p:sp>
      <p:sp>
        <p:nvSpPr>
          <p:cNvPr id="546825" name="Rectangle 9">
            <a:extLst>
              <a:ext uri="{FF2B5EF4-FFF2-40B4-BE49-F238E27FC236}">
                <a16:creationId xmlns:a16="http://schemas.microsoft.com/office/drawing/2014/main" id="{B2BB52E9-106A-72B2-662E-161F0F533A90}"/>
              </a:ext>
            </a:extLst>
          </p:cNvPr>
          <p:cNvSpPr>
            <a:spLocks noChangeArrowheads="1"/>
          </p:cNvSpPr>
          <p:nvPr/>
        </p:nvSpPr>
        <p:spPr bwMode="auto">
          <a:xfrm>
            <a:off x="344488" y="3611563"/>
            <a:ext cx="91281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 </a:t>
            </a:r>
            <a:r>
              <a:rPr lang="ja-JP" altLang="en-US" sz="2000" b="0">
                <a:latin typeface="Arial" panose="020B0604020202020204" pitchFamily="34" charset="0"/>
              </a:rPr>
              <a:t>（</a:t>
            </a:r>
            <a:r>
              <a:rPr lang="en-US" altLang="ja-JP" sz="2000" b="0">
                <a:latin typeface="Arial" panose="020B0604020202020204" pitchFamily="34" charset="0"/>
              </a:rPr>
              <a:t>Khi sinh object, sẽ set giá trị đã chỉ định ở đối số vào biến instance.</a:t>
            </a:r>
            <a:r>
              <a:rPr lang="ja-JP" altLang="en-US" sz="2000" b="0">
                <a:latin typeface="Arial" panose="020B0604020202020204" pitchFamily="34" charset="0"/>
              </a:rPr>
              <a:t>）</a:t>
            </a:r>
            <a:endParaRPr lang="ja-JP" altLang="en-US" sz="2400" b="0">
              <a:latin typeface="Arial" panose="020B0604020202020204" pitchFamily="34" charset="0"/>
            </a:endParaRPr>
          </a:p>
        </p:txBody>
      </p:sp>
      <p:sp>
        <p:nvSpPr>
          <p:cNvPr id="546826" name="Rectangle 10">
            <a:extLst>
              <a:ext uri="{FF2B5EF4-FFF2-40B4-BE49-F238E27FC236}">
                <a16:creationId xmlns:a16="http://schemas.microsoft.com/office/drawing/2014/main" id="{0B26F6EA-A507-A841-2BE1-DAF34E19C3BE}"/>
              </a:ext>
            </a:extLst>
          </p:cNvPr>
          <p:cNvSpPr>
            <a:spLocks noChangeArrowheads="1"/>
          </p:cNvSpPr>
          <p:nvPr/>
        </p:nvSpPr>
        <p:spPr bwMode="auto">
          <a:xfrm>
            <a:off x="344488" y="4049713"/>
            <a:ext cx="8951912" cy="22590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spcBef>
                <a:spcPct val="0"/>
              </a:spcBef>
            </a:pPr>
            <a:r>
              <a:rPr lang="en-US" altLang="ja-JP" sz="1800" b="0">
                <a:latin typeface="ＭＳ ゴシック" panose="020B0609070205080204" pitchFamily="49" charset="-128"/>
                <a:ea typeface="ＭＳ ゴシック" panose="020B0609070205080204" pitchFamily="49" charset="-128"/>
              </a:rPr>
              <a:t>public class </a:t>
            </a:r>
            <a:r>
              <a:rPr lang="en-US" altLang="en-US" sz="1800" b="0">
                <a:latin typeface="ＭＳ ゴシック" panose="020B0609070205080204" pitchFamily="49" charset="-128"/>
                <a:ea typeface="ＭＳ ゴシック" panose="020B0609070205080204" pitchFamily="49" charset="-128"/>
              </a:rPr>
              <a:t>Person</a:t>
            </a:r>
            <a:r>
              <a:rPr lang="en-US" altLang="ja-JP" sz="1800" b="0">
                <a:latin typeface="ＭＳ ゴシック" panose="020B0609070205080204" pitchFamily="49" charset="-128"/>
                <a:ea typeface="ＭＳ ゴシック" panose="020B0609070205080204" pitchFamily="49" charset="-128"/>
              </a:rPr>
              <a:t> {</a:t>
            </a:r>
          </a:p>
          <a:p>
            <a:pPr lvl="1">
              <a:spcBef>
                <a:spcPct val="0"/>
              </a:spcBef>
            </a:pPr>
            <a:r>
              <a:rPr lang="en-US" altLang="ja-JP" sz="1800" b="0">
                <a:latin typeface="ＭＳ ゴシック" panose="020B0609070205080204" pitchFamily="49" charset="-128"/>
                <a:ea typeface="ＭＳ ゴシック" panose="020B0609070205080204" pitchFamily="49" charset="-128"/>
              </a:rPr>
              <a:t> </a:t>
            </a:r>
            <a:r>
              <a:rPr lang="ja-JP" altLang="en-US" sz="1800" b="0">
                <a:latin typeface="ＭＳ ゴシック" panose="020B0609070205080204" pitchFamily="49" charset="-128"/>
                <a:ea typeface="ＭＳ ゴシック" panose="020B0609070205080204" pitchFamily="49" charset="-128"/>
              </a:rPr>
              <a:t>　       　　　　　　　　　　　　　　　　　　　　　　　　　　　　　　　　　　　　　　　　　</a:t>
            </a:r>
          </a:p>
          <a:p>
            <a:pPr lvl="1">
              <a:spcBef>
                <a:spcPct val="0"/>
              </a:spcBef>
            </a:pPr>
            <a:r>
              <a:rPr lang="ja-JP" altLang="en-US" sz="1800">
                <a:solidFill>
                  <a:srgbClr val="0033CC"/>
                </a:solidFill>
                <a:latin typeface="ＭＳ ゴシック" panose="020B0609070205080204" pitchFamily="49" charset="-128"/>
                <a:ea typeface="ＭＳ ゴシック" panose="020B0609070205080204" pitchFamily="49" charset="-128"/>
              </a:rPr>
              <a:t>    </a:t>
            </a:r>
            <a:r>
              <a:rPr lang="en-US" altLang="ja-JP" sz="1800">
                <a:solidFill>
                  <a:srgbClr val="0033CC"/>
                </a:solidFill>
                <a:latin typeface="ＭＳ ゴシック" panose="020B0609070205080204" pitchFamily="49" charset="-128"/>
                <a:ea typeface="ＭＳ ゴシック" panose="020B0609070205080204" pitchFamily="49" charset="-128"/>
              </a:rPr>
              <a:t>public Person (String lname, String fname, int a) {</a:t>
            </a:r>
          </a:p>
          <a:p>
            <a:pPr lvl="1">
              <a:spcBef>
                <a:spcPct val="0"/>
              </a:spcBef>
            </a:pPr>
            <a:r>
              <a:rPr lang="en-US" altLang="ja-JP" sz="1800">
                <a:solidFill>
                  <a:srgbClr val="0033CC"/>
                </a:solidFill>
                <a:latin typeface="ＭＳ ゴシック" panose="020B0609070205080204" pitchFamily="49" charset="-128"/>
                <a:ea typeface="ＭＳ ゴシック" panose="020B0609070205080204" pitchFamily="49" charset="-128"/>
              </a:rPr>
              <a:t>        lastName = lname;</a:t>
            </a:r>
          </a:p>
          <a:p>
            <a:pPr lvl="1">
              <a:spcBef>
                <a:spcPct val="0"/>
              </a:spcBef>
            </a:pPr>
            <a:r>
              <a:rPr lang="en-US" altLang="ja-JP" sz="1800">
                <a:solidFill>
                  <a:srgbClr val="0033CC"/>
                </a:solidFill>
                <a:latin typeface="ＭＳ ゴシック" panose="020B0609070205080204" pitchFamily="49" charset="-128"/>
                <a:ea typeface="ＭＳ ゴシック" panose="020B0609070205080204" pitchFamily="49" charset="-128"/>
              </a:rPr>
              <a:t>        firstName = fname;</a:t>
            </a:r>
          </a:p>
          <a:p>
            <a:pPr lvl="1">
              <a:spcBef>
                <a:spcPct val="0"/>
              </a:spcBef>
            </a:pPr>
            <a:r>
              <a:rPr lang="en-US" altLang="ja-JP" sz="1800">
                <a:solidFill>
                  <a:srgbClr val="0033CC"/>
                </a:solidFill>
                <a:latin typeface="ＭＳ ゴシック" panose="020B0609070205080204" pitchFamily="49" charset="-128"/>
                <a:ea typeface="ＭＳ ゴシック" panose="020B0609070205080204" pitchFamily="49" charset="-128"/>
              </a:rPr>
              <a:t>        age = a;</a:t>
            </a:r>
          </a:p>
          <a:p>
            <a:pPr lvl="1">
              <a:spcBef>
                <a:spcPct val="0"/>
              </a:spcBef>
            </a:pPr>
            <a:r>
              <a:rPr lang="en-US" altLang="ja-JP" sz="1800">
                <a:solidFill>
                  <a:srgbClr val="0033CC"/>
                </a:solidFill>
                <a:latin typeface="ＭＳ ゴシック" panose="020B0609070205080204" pitchFamily="49" charset="-128"/>
                <a:ea typeface="ＭＳ ゴシック" panose="020B0609070205080204" pitchFamily="49" charset="-128"/>
              </a:rPr>
              <a:t>    }</a:t>
            </a:r>
          </a:p>
          <a:p>
            <a:pPr lvl="1">
              <a:spcBef>
                <a:spcPct val="0"/>
              </a:spcBef>
            </a:pPr>
            <a:r>
              <a:rPr lang="en-US" altLang="ja-JP" sz="1800" b="0">
                <a:latin typeface="ＭＳ ゴシック" panose="020B0609070205080204" pitchFamily="49" charset="-128"/>
                <a:ea typeface="ＭＳ ゴシック" panose="020B0609070205080204" pitchFamily="49" charset="-128"/>
              </a:rPr>
              <a:t>}</a:t>
            </a:r>
          </a:p>
        </p:txBody>
      </p:sp>
      <p:sp>
        <p:nvSpPr>
          <p:cNvPr id="546828" name="Rectangle 12">
            <a:extLst>
              <a:ext uri="{FF2B5EF4-FFF2-40B4-BE49-F238E27FC236}">
                <a16:creationId xmlns:a16="http://schemas.microsoft.com/office/drawing/2014/main" id="{2D1BC19F-2635-1AF0-664D-381C64CB9401}"/>
              </a:ext>
            </a:extLst>
          </p:cNvPr>
          <p:cNvSpPr>
            <a:spLocks noChangeArrowheads="1"/>
          </p:cNvSpPr>
          <p:nvPr/>
        </p:nvSpPr>
        <p:spPr bwMode="auto">
          <a:xfrm>
            <a:off x="1022350" y="4618038"/>
            <a:ext cx="6149975" cy="1403350"/>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546831" name="AutoShape 15">
            <a:extLst>
              <a:ext uri="{FF2B5EF4-FFF2-40B4-BE49-F238E27FC236}">
                <a16:creationId xmlns:a16="http://schemas.microsoft.com/office/drawing/2014/main" id="{BC668CC8-613C-E10E-5097-2F1A0FF34538}"/>
              </a:ext>
            </a:extLst>
          </p:cNvPr>
          <p:cNvSpPr>
            <a:spLocks noChangeArrowheads="1"/>
          </p:cNvSpPr>
          <p:nvPr/>
        </p:nvSpPr>
        <p:spPr bwMode="auto">
          <a:xfrm>
            <a:off x="5745163" y="2917825"/>
            <a:ext cx="3432175" cy="655638"/>
          </a:xfrm>
          <a:prstGeom prst="wedgeRoundRectCallout">
            <a:avLst>
              <a:gd name="adj1" fmla="val -51065"/>
              <a:gd name="adj2" fmla="val -8631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Có </a:t>
            </a:r>
            <a:r>
              <a:rPr lang="en-US" altLang="ja-JP" sz="1800" dirty="0" err="1">
                <a:latin typeface="+mj-lt"/>
              </a:rPr>
              <a:t>thê</a:t>
            </a:r>
            <a:r>
              <a:rPr lang="en-US" altLang="ja-JP" sz="1800" dirty="0">
                <a:latin typeface="+mj-lt"/>
              </a:rPr>
              <a:t>̉ </a:t>
            </a:r>
            <a:r>
              <a:rPr lang="en-US" altLang="ja-JP" sz="1800" dirty="0" err="1">
                <a:latin typeface="+mj-lt"/>
              </a:rPr>
              <a:t>nhận</a:t>
            </a:r>
            <a:r>
              <a:rPr lang="en-US" altLang="ja-JP" sz="1800" dirty="0">
                <a:latin typeface="+mj-lt"/>
              </a:rPr>
              <a:t> </a:t>
            </a:r>
            <a:r>
              <a:rPr lang="en-US" altLang="ja-JP" sz="1800" dirty="0" err="1">
                <a:latin typeface="+mj-lt"/>
              </a:rPr>
              <a:t>gia</a:t>
            </a:r>
            <a:r>
              <a:rPr lang="en-US" altLang="ja-JP" sz="1800" dirty="0">
                <a:latin typeface="+mj-lt"/>
              </a:rPr>
              <a:t>́ trị </a:t>
            </a:r>
            <a:r>
              <a:rPr lang="en-US" altLang="ja-JP" sz="1800" dirty="0" err="1">
                <a:latin typeface="+mj-lt"/>
              </a:rPr>
              <a:t>đa</a:t>
            </a:r>
            <a:r>
              <a:rPr lang="en-US" altLang="ja-JP" sz="1800" dirty="0">
                <a:latin typeface="+mj-lt"/>
              </a:rPr>
              <a:t>̃ chỉ </a:t>
            </a:r>
            <a:r>
              <a:rPr lang="en-US" altLang="ja-JP" sz="1800" dirty="0" err="1">
                <a:latin typeface="+mj-lt"/>
              </a:rPr>
              <a:t>định</a:t>
            </a:r>
            <a:r>
              <a:rPr lang="en-US" altLang="ja-JP" sz="1800" dirty="0">
                <a:latin typeface="+mj-lt"/>
              </a:rPr>
              <a:t> </a:t>
            </a:r>
            <a:r>
              <a:rPr lang="en-US" altLang="ja-JP" sz="1800" dirty="0" err="1">
                <a:latin typeface="+mj-lt"/>
              </a:rPr>
              <a:t>khi</a:t>
            </a:r>
            <a:r>
              <a:rPr lang="en-US" altLang="ja-JP" sz="1800" dirty="0">
                <a:latin typeface="+mj-lt"/>
              </a:rPr>
              <a:t> </a:t>
            </a:r>
            <a:r>
              <a:rPr lang="en-US" altLang="ja-JP" sz="1800" dirty="0" err="1">
                <a:latin typeface="+mj-lt"/>
              </a:rPr>
              <a:t>sinh</a:t>
            </a:r>
            <a:r>
              <a:rPr lang="en-US" altLang="ja-JP" sz="1800" dirty="0">
                <a:latin typeface="+mj-lt"/>
              </a:rPr>
              <a:t> object.</a:t>
            </a:r>
          </a:p>
        </p:txBody>
      </p:sp>
      <p:sp>
        <p:nvSpPr>
          <p:cNvPr id="546833" name="AutoShape 17">
            <a:extLst>
              <a:ext uri="{FF2B5EF4-FFF2-40B4-BE49-F238E27FC236}">
                <a16:creationId xmlns:a16="http://schemas.microsoft.com/office/drawing/2014/main" id="{144A8D9C-B829-A981-3D22-E1E7C3367D37}"/>
              </a:ext>
            </a:extLst>
          </p:cNvPr>
          <p:cNvSpPr>
            <a:spLocks noChangeArrowheads="1"/>
          </p:cNvSpPr>
          <p:nvPr/>
        </p:nvSpPr>
        <p:spPr bwMode="auto">
          <a:xfrm>
            <a:off x="5024438" y="5154613"/>
            <a:ext cx="3975100" cy="842962"/>
          </a:xfrm>
          <a:prstGeom prst="wedgeRoundRectCallout">
            <a:avLst>
              <a:gd name="adj1" fmla="val -61699"/>
              <a:gd name="adj2" fmla="val -3455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cú</a:t>
            </a:r>
            <a:r>
              <a:rPr lang="en-US" altLang="ja-JP" sz="1800" dirty="0">
                <a:latin typeface="+mj-lt"/>
              </a:rPr>
              <a:t> </a:t>
            </a:r>
            <a:r>
              <a:rPr lang="en-US" altLang="ja-JP" sz="1800" dirty="0" err="1">
                <a:latin typeface="+mj-lt"/>
              </a:rPr>
              <a:t>pháp</a:t>
            </a:r>
            <a:r>
              <a:rPr lang="en-US" altLang="ja-JP" sz="1800" dirty="0">
                <a:latin typeface="+mj-lt"/>
              </a:rPr>
              <a:t> </a:t>
            </a:r>
            <a:r>
              <a:rPr lang="en-US" altLang="ja-JP" sz="1800" dirty="0" err="1">
                <a:latin typeface="+mj-lt"/>
              </a:rPr>
              <a:t>giống</a:t>
            </a:r>
            <a:r>
              <a:rPr lang="en-US" altLang="ja-JP" sz="1800" dirty="0">
                <a:latin typeface="+mj-lt"/>
              </a:rPr>
              <a:t> </a:t>
            </a:r>
            <a:r>
              <a:rPr lang="en-US" altLang="ja-JP" sz="1800" dirty="0" err="1">
                <a:latin typeface="+mj-lt"/>
              </a:rPr>
              <a:t>với</a:t>
            </a:r>
            <a:r>
              <a:rPr lang="en-US" altLang="ja-JP" sz="1800" dirty="0">
                <a:latin typeface="+mj-lt"/>
              </a:rPr>
              <a:t> method </a:t>
            </a:r>
            <a:r>
              <a:rPr lang="en-US" altLang="ja-JP" sz="1800" dirty="0" err="1">
                <a:latin typeface="+mj-lt"/>
              </a:rPr>
              <a:t>nhưng</a:t>
            </a:r>
            <a:r>
              <a:rPr lang="en-US" altLang="ja-JP" sz="1800" dirty="0">
                <a:latin typeface="+mj-lt"/>
              </a:rPr>
              <a:t> </a:t>
            </a:r>
            <a:r>
              <a:rPr lang="en-US" altLang="ja-JP" sz="1800" dirty="0" err="1">
                <a:latin typeface="+mj-lt"/>
              </a:rPr>
              <a:t>trong</a:t>
            </a:r>
            <a:r>
              <a:rPr lang="en-US" altLang="ja-JP" sz="1800" dirty="0">
                <a:latin typeface="+mj-lt"/>
              </a:rPr>
              <a:t> constructor </a:t>
            </a:r>
            <a:r>
              <a:rPr lang="en-US" altLang="ja-JP" sz="1800" dirty="0" err="1">
                <a:latin typeface="+mj-lt"/>
              </a:rPr>
              <a:t>không</a:t>
            </a:r>
            <a:r>
              <a:rPr lang="en-US" altLang="ja-JP" sz="1800" dirty="0">
                <a:latin typeface="+mj-lt"/>
              </a:rPr>
              <a:t> có chỉ </a:t>
            </a:r>
            <a:r>
              <a:rPr lang="en-US" altLang="ja-JP" sz="1800" dirty="0" err="1">
                <a:latin typeface="+mj-lt"/>
              </a:rPr>
              <a:t>định</a:t>
            </a:r>
            <a:r>
              <a:rPr lang="en-US" altLang="ja-JP" sz="1800" dirty="0">
                <a:latin typeface="+mj-lt"/>
              </a:rPr>
              <a:t> </a:t>
            </a:r>
            <a:r>
              <a:rPr lang="en-US" altLang="ja-JP" sz="1800" dirty="0" err="1">
                <a:latin typeface="+mj-lt"/>
              </a:rPr>
              <a:t>gia</a:t>
            </a:r>
            <a:r>
              <a:rPr lang="en-US" altLang="ja-JP" sz="1800" dirty="0">
                <a:latin typeface="+mj-lt"/>
              </a:rPr>
              <a:t>́ trị </a:t>
            </a:r>
            <a:r>
              <a:rPr lang="en-US" altLang="ja-JP" sz="1800" dirty="0" err="1">
                <a:latin typeface="+mj-lt"/>
              </a:rPr>
              <a:t>tra</a:t>
            </a:r>
            <a:r>
              <a:rPr lang="en-US" altLang="ja-JP" sz="1800" dirty="0">
                <a:latin typeface="+mj-lt"/>
              </a:rPr>
              <a:t>̉ </a:t>
            </a:r>
            <a:r>
              <a:rPr lang="en-US" altLang="ja-JP" sz="1800" dirty="0" err="1">
                <a:latin typeface="+mj-lt"/>
              </a:rPr>
              <a:t>vê</a:t>
            </a:r>
            <a:r>
              <a:rPr lang="en-US" altLang="ja-JP" sz="1800" dirty="0">
                <a:latin typeface="+mj-lt"/>
              </a:rPr>
              <a:t>̀</a:t>
            </a:r>
          </a:p>
        </p:txBody>
      </p:sp>
      <p:sp>
        <p:nvSpPr>
          <p:cNvPr id="546827" name="AutoShape 11">
            <a:extLst>
              <a:ext uri="{FF2B5EF4-FFF2-40B4-BE49-F238E27FC236}">
                <a16:creationId xmlns:a16="http://schemas.microsoft.com/office/drawing/2014/main" id="{F273DA3F-17D4-3A79-375C-544ACAA1F477}"/>
              </a:ext>
            </a:extLst>
          </p:cNvPr>
          <p:cNvSpPr>
            <a:spLocks noChangeArrowheads="1"/>
          </p:cNvSpPr>
          <p:nvPr/>
        </p:nvSpPr>
        <p:spPr bwMode="auto">
          <a:xfrm>
            <a:off x="3306763" y="3990975"/>
            <a:ext cx="5618162" cy="592138"/>
          </a:xfrm>
          <a:prstGeom prst="wedgeRoundRectCallout">
            <a:avLst>
              <a:gd name="adj1" fmla="val -64324"/>
              <a:gd name="adj2" fmla="val 56167"/>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Tên</a:t>
            </a:r>
            <a:r>
              <a:rPr lang="en-US" altLang="ja-JP" sz="1800" dirty="0">
                <a:latin typeface="+mj-lt"/>
              </a:rPr>
              <a:t> constructor </a:t>
            </a:r>
            <a:r>
              <a:rPr lang="en-US" altLang="ja-JP" sz="1800" dirty="0" err="1">
                <a:latin typeface="+mj-lt"/>
              </a:rPr>
              <a:t>định</a:t>
            </a:r>
            <a:r>
              <a:rPr lang="en-US" altLang="ja-JP" sz="1800" dirty="0">
                <a:latin typeface="+mj-lt"/>
              </a:rPr>
              <a:t> </a:t>
            </a:r>
            <a:r>
              <a:rPr lang="en-US" altLang="ja-JP" sz="1800" dirty="0" err="1">
                <a:latin typeface="+mj-lt"/>
              </a:rPr>
              <a:t>nghĩa</a:t>
            </a:r>
            <a:r>
              <a:rPr lang="en-US" altLang="ja-JP" sz="1800" dirty="0">
                <a:latin typeface="+mj-lt"/>
              </a:rPr>
              <a:t> ở </a:t>
            </a:r>
            <a:r>
              <a:rPr lang="en-US" altLang="ja-JP" sz="1800" dirty="0" err="1">
                <a:latin typeface="+mj-lt"/>
              </a:rPr>
              <a:t>trong</a:t>
            </a:r>
            <a:r>
              <a:rPr lang="en-US" altLang="ja-JP" sz="1800" dirty="0">
                <a:latin typeface="+mj-lt"/>
              </a:rPr>
              <a:t> </a:t>
            </a:r>
            <a:r>
              <a:rPr lang="ja-JP" altLang="ja-JP" sz="1800" dirty="0">
                <a:latin typeface="+mj-lt"/>
              </a:rPr>
              <a:t>Person </a:t>
            </a:r>
            <a:r>
              <a:rPr lang="en-US" altLang="ja-JP" sz="1800" dirty="0">
                <a:latin typeface="+mj-lt"/>
              </a:rPr>
              <a:t>class là </a:t>
            </a:r>
            <a:r>
              <a:rPr lang="ja-JP" altLang="ja-JP" sz="1800" dirty="0">
                <a:latin typeface="+mj-lt"/>
              </a:rPr>
              <a:t>Person</a:t>
            </a:r>
            <a:endParaRPr lang="en-US" altLang="ja-JP" sz="1800" dirty="0">
              <a:latin typeface="+mj-lt"/>
            </a:endParaRPr>
          </a:p>
        </p:txBody>
      </p:sp>
      <p:sp>
        <p:nvSpPr>
          <p:cNvPr id="546834" name="Rectangle 18">
            <a:extLst>
              <a:ext uri="{FF2B5EF4-FFF2-40B4-BE49-F238E27FC236}">
                <a16:creationId xmlns:a16="http://schemas.microsoft.com/office/drawing/2014/main" id="{7320B707-9638-A8AD-1FD6-BA6B6E06CE11}"/>
              </a:ext>
            </a:extLst>
          </p:cNvPr>
          <p:cNvSpPr>
            <a:spLocks noChangeArrowheads="1"/>
          </p:cNvSpPr>
          <p:nvPr/>
        </p:nvSpPr>
        <p:spPr bwMode="auto">
          <a:xfrm>
            <a:off x="5942013" y="6308725"/>
            <a:ext cx="3454400" cy="3397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r"/>
            <a:r>
              <a:rPr lang="en-US" altLang="ja-JP" sz="1600" b="0"/>
              <a:t>※Code giữa chừng đã lược đi.</a:t>
            </a:r>
          </a:p>
        </p:txBody>
      </p:sp>
      <p:sp>
        <p:nvSpPr>
          <p:cNvPr id="546835" name="AutoShape 19">
            <a:extLst>
              <a:ext uri="{FF2B5EF4-FFF2-40B4-BE49-F238E27FC236}">
                <a16:creationId xmlns:a16="http://schemas.microsoft.com/office/drawing/2014/main" id="{C3A5FCA5-EE46-B1FB-38FF-BF09F12EBD62}"/>
              </a:ext>
            </a:extLst>
          </p:cNvPr>
          <p:cNvSpPr>
            <a:spLocks noChangeArrowheads="1"/>
          </p:cNvSpPr>
          <p:nvPr/>
        </p:nvSpPr>
        <p:spPr bwMode="auto">
          <a:xfrm>
            <a:off x="5314950" y="703263"/>
            <a:ext cx="4379913" cy="365125"/>
          </a:xfrm>
          <a:prstGeom prst="wedgeRoundRectCallout">
            <a:avLst>
              <a:gd name="adj1" fmla="val -18722"/>
              <a:gd name="adj2" fmla="val 85653"/>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Được</a:t>
            </a:r>
            <a:r>
              <a:rPr lang="en-US" altLang="ja-JP" sz="1800" dirty="0">
                <a:latin typeface="+mj-lt"/>
              </a:rPr>
              <a:t> </a:t>
            </a:r>
            <a:r>
              <a:rPr lang="en-US" altLang="ja-JP" sz="1800" dirty="0" err="1">
                <a:latin typeface="+mj-lt"/>
              </a:rPr>
              <a:t>gọi</a:t>
            </a:r>
            <a:r>
              <a:rPr lang="en-US" altLang="ja-JP" sz="1800" dirty="0">
                <a:latin typeface="+mj-lt"/>
              </a:rPr>
              <a:t> </a:t>
            </a:r>
            <a:r>
              <a:rPr lang="en-US" altLang="ja-JP" sz="1800" dirty="0" err="1">
                <a:latin typeface="+mj-lt"/>
              </a:rPr>
              <a:t>ra</a:t>
            </a:r>
            <a:r>
              <a:rPr lang="en-US" altLang="ja-JP" sz="1800" dirty="0">
                <a:latin typeface="+mj-lt"/>
              </a:rPr>
              <a:t> </a:t>
            </a:r>
            <a:r>
              <a:rPr lang="en-US" altLang="ja-JP" sz="1800" dirty="0" err="1">
                <a:latin typeface="+mj-lt"/>
              </a:rPr>
              <a:t>tư</a:t>
            </a:r>
            <a:r>
              <a:rPr lang="en-US" altLang="ja-JP" sz="1800" dirty="0">
                <a:latin typeface="+mj-lt"/>
              </a:rPr>
              <a:t>̣ </a:t>
            </a:r>
            <a:r>
              <a:rPr lang="en-US" altLang="ja-JP" sz="1800" dirty="0" err="1">
                <a:latin typeface="+mj-lt"/>
              </a:rPr>
              <a:t>động</a:t>
            </a:r>
            <a:r>
              <a:rPr lang="en-US" altLang="ja-JP" sz="1800" dirty="0">
                <a:latin typeface="+mj-lt"/>
              </a:rPr>
              <a:t> </a:t>
            </a:r>
            <a:r>
              <a:rPr lang="en-US" altLang="ja-JP" sz="1800" dirty="0" err="1">
                <a:latin typeface="+mj-lt"/>
              </a:rPr>
              <a:t>khi</a:t>
            </a:r>
            <a:r>
              <a:rPr lang="en-US" altLang="ja-JP" sz="1800" dirty="0">
                <a:latin typeface="+mj-lt"/>
              </a:rPr>
              <a:t> </a:t>
            </a:r>
            <a:r>
              <a:rPr lang="en-US" altLang="ja-JP" sz="1800" dirty="0" err="1">
                <a:latin typeface="+mj-lt"/>
              </a:rPr>
              <a:t>sinh</a:t>
            </a:r>
            <a:r>
              <a:rPr lang="en-US" altLang="ja-JP" sz="1800" dirty="0">
                <a:latin typeface="+mj-lt"/>
              </a:rPr>
              <a:t> object.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674270-24DA-130A-FFE9-2A4C34209E48}"/>
              </a:ext>
            </a:extLst>
          </p:cNvPr>
          <p:cNvSpPr>
            <a:spLocks noGrp="1"/>
          </p:cNvSpPr>
          <p:nvPr>
            <p:ph type="title"/>
          </p:nvPr>
        </p:nvSpPr>
        <p:spPr/>
        <p:txBody>
          <a:bodyPr>
            <a:normAutofit fontScale="90000"/>
          </a:bodyPr>
          <a:lstStyle/>
          <a:p>
            <a:r>
              <a:rPr lang="en-US" altLang="ja-JP" dirty="0">
                <a:latin typeface="Arial" panose="020B0604020202020204" pitchFamily="34" charset="0"/>
              </a:rPr>
              <a:t>Constructor</a:t>
            </a:r>
            <a:endParaRPr lang="ja-JP" altLang="en-US" dirty="0"/>
          </a:p>
        </p:txBody>
      </p:sp>
      <p:sp>
        <p:nvSpPr>
          <p:cNvPr id="7" name="Content Placeholder 6">
            <a:extLst>
              <a:ext uri="{FF2B5EF4-FFF2-40B4-BE49-F238E27FC236}">
                <a16:creationId xmlns:a16="http://schemas.microsoft.com/office/drawing/2014/main" id="{04682012-555E-8F13-DE0A-C3A23D4BC252}"/>
              </a:ext>
            </a:extLst>
          </p:cNvPr>
          <p:cNvSpPr>
            <a:spLocks noGrp="1"/>
          </p:cNvSpPr>
          <p:nvPr>
            <p:ph idx="1"/>
          </p:nvPr>
        </p:nvSpPr>
        <p:spPr/>
        <p:txBody>
          <a:bodyPr>
            <a:normAutofit/>
          </a:bodyPr>
          <a:lstStyle/>
          <a:p>
            <a:pPr marL="0" indent="0" algn="just"/>
            <a:r>
              <a:rPr lang="en-US" altLang="ja-JP" sz="2800" dirty="0">
                <a:latin typeface="Arial" panose="020B0604020202020204" pitchFamily="34" charset="0"/>
              </a:rPr>
              <a:t>   Khi </a:t>
            </a:r>
            <a:r>
              <a:rPr lang="en-US" altLang="ja-JP" sz="2800" dirty="0" err="1">
                <a:latin typeface="Arial" panose="020B0604020202020204" pitchFamily="34" charset="0"/>
              </a:rPr>
              <a:t>định</a:t>
            </a:r>
            <a:r>
              <a:rPr lang="en-US" altLang="ja-JP" sz="2800" dirty="0">
                <a:latin typeface="Arial" panose="020B0604020202020204" pitchFamily="34" charset="0"/>
              </a:rPr>
              <a:t> </a:t>
            </a:r>
            <a:r>
              <a:rPr lang="en-US" altLang="ja-JP" sz="2800" dirty="0" err="1">
                <a:latin typeface="Arial" panose="020B0604020202020204" pitchFamily="34" charset="0"/>
              </a:rPr>
              <a:t>nghĩa</a:t>
            </a:r>
            <a:r>
              <a:rPr lang="en-US" altLang="ja-JP" sz="2800" dirty="0">
                <a:latin typeface="Arial" panose="020B0604020202020204" pitchFamily="34" charset="0"/>
              </a:rPr>
              <a:t> constructor sẽ </a:t>
            </a:r>
            <a:r>
              <a:rPr lang="en-US" altLang="ja-JP" sz="2800" dirty="0" err="1">
                <a:latin typeface="Arial" panose="020B0604020202020204" pitchFamily="34" charset="0"/>
              </a:rPr>
              <a:t>có</a:t>
            </a:r>
            <a:r>
              <a:rPr lang="en-US" altLang="ja-JP" sz="2800" dirty="0">
                <a:latin typeface="Arial" panose="020B0604020202020204" pitchFamily="34" charset="0"/>
              </a:rPr>
              <a:t> </a:t>
            </a:r>
            <a:r>
              <a:rPr lang="en-US" altLang="ja-JP" sz="2800" dirty="0" err="1">
                <a:latin typeface="Arial" panose="020B0604020202020204" pitchFamily="34" charset="0"/>
              </a:rPr>
              <a:t>thể</a:t>
            </a:r>
            <a:r>
              <a:rPr lang="en-US" altLang="ja-JP" sz="2800" dirty="0">
                <a:latin typeface="Arial" panose="020B0604020202020204" pitchFamily="34" charset="0"/>
              </a:rPr>
              <a:t> </a:t>
            </a:r>
            <a:r>
              <a:rPr lang="en-US" altLang="ja-JP" sz="2800" dirty="0" err="1">
                <a:latin typeface="Arial" panose="020B0604020202020204" pitchFamily="34" charset="0"/>
              </a:rPr>
              <a:t>mô</a:t>
            </a:r>
            <a:r>
              <a:rPr lang="en-US" altLang="ja-JP" sz="2800" dirty="0">
                <a:latin typeface="Arial" panose="020B0604020202020204" pitchFamily="34" charset="0"/>
              </a:rPr>
              <a:t> tả </a:t>
            </a:r>
            <a:r>
              <a:rPr lang="en-US" altLang="ja-JP" sz="2800" dirty="0" err="1">
                <a:latin typeface="Arial" panose="020B0604020202020204" pitchFamily="34" charset="0"/>
              </a:rPr>
              <a:t>xư</a:t>
            </a:r>
            <a:r>
              <a:rPr lang="en-US" altLang="ja-JP" sz="2800" dirty="0">
                <a:latin typeface="Arial" panose="020B0604020202020204" pitchFamily="34" charset="0"/>
              </a:rPr>
              <a:t>̉ </a:t>
            </a:r>
            <a:r>
              <a:rPr lang="en-US" altLang="ja-JP" sz="2800" dirty="0" err="1">
                <a:latin typeface="Arial" panose="020B0604020202020204" pitchFamily="34" charset="0"/>
              </a:rPr>
              <a:t>ly</a:t>
            </a:r>
            <a:r>
              <a:rPr lang="en-US" altLang="ja-JP" sz="2800" dirty="0">
                <a:latin typeface="Arial" panose="020B0604020202020204" pitchFamily="34" charset="0"/>
              </a:rPr>
              <a:t>́ </a:t>
            </a:r>
            <a:r>
              <a:rPr lang="en-US" altLang="ja-JP" sz="2800" dirty="0" err="1">
                <a:latin typeface="Arial" panose="020B0604020202020204" pitchFamily="34" charset="0"/>
              </a:rPr>
              <a:t>tiến</a:t>
            </a:r>
            <a:r>
              <a:rPr lang="en-US" altLang="ja-JP" sz="2800" dirty="0">
                <a:latin typeface="Arial" panose="020B0604020202020204" pitchFamily="34" charset="0"/>
              </a:rPr>
              <a:t> </a:t>
            </a:r>
            <a:r>
              <a:rPr lang="en-US" altLang="ja-JP" sz="2800" dirty="0" err="1">
                <a:latin typeface="Arial" panose="020B0604020202020204" pitchFamily="34" charset="0"/>
              </a:rPr>
              <a:t>hành</a:t>
            </a:r>
            <a:r>
              <a:rPr lang="en-US" altLang="ja-JP" sz="2800" dirty="0">
                <a:latin typeface="Arial" panose="020B0604020202020204" pitchFamily="34" charset="0"/>
              </a:rPr>
              <a:t> </a:t>
            </a:r>
            <a:r>
              <a:rPr lang="en-US" altLang="ja-JP" sz="2800" dirty="0" err="1">
                <a:latin typeface="Arial" panose="020B0604020202020204" pitchFamily="34" charset="0"/>
              </a:rPr>
              <a:t>khi</a:t>
            </a:r>
            <a:r>
              <a:rPr lang="en-US" altLang="ja-JP" sz="2800" dirty="0">
                <a:latin typeface="Arial" panose="020B0604020202020204" pitchFamily="34" charset="0"/>
              </a:rPr>
              <a:t> </a:t>
            </a:r>
            <a:r>
              <a:rPr lang="en-US" altLang="ja-JP" sz="2800" dirty="0" err="1">
                <a:latin typeface="Arial" panose="020B0604020202020204" pitchFamily="34" charset="0"/>
              </a:rPr>
              <a:t>sinh</a:t>
            </a:r>
            <a:r>
              <a:rPr lang="en-US" altLang="ja-JP" sz="2800" dirty="0">
                <a:latin typeface="Arial" panose="020B0604020202020204" pitchFamily="34" charset="0"/>
              </a:rPr>
              <a:t> object.</a:t>
            </a:r>
          </a:p>
          <a:p>
            <a:pPr marL="0" indent="0" algn="just"/>
            <a:r>
              <a:rPr lang="ja-JP" altLang="en-US" sz="2800" dirty="0">
                <a:latin typeface="Arial" panose="020B0604020202020204" pitchFamily="34" charset="0"/>
              </a:rPr>
              <a:t>　</a:t>
            </a:r>
            <a:r>
              <a:rPr lang="en-US" altLang="ja-JP" sz="2800" dirty="0">
                <a:latin typeface="Arial" panose="020B0604020202020204" pitchFamily="34" charset="0"/>
              </a:rPr>
              <a:t>Vì có </a:t>
            </a:r>
            <a:r>
              <a:rPr lang="en-US" altLang="ja-JP" sz="2800" dirty="0" err="1">
                <a:latin typeface="Arial" panose="020B0604020202020204" pitchFamily="34" charset="0"/>
              </a:rPr>
              <a:t>thê</a:t>
            </a:r>
            <a:r>
              <a:rPr lang="en-US" altLang="ja-JP" sz="2800" dirty="0">
                <a:latin typeface="Arial" panose="020B0604020202020204" pitchFamily="34" charset="0"/>
              </a:rPr>
              <a:t>̉ chỉ </a:t>
            </a:r>
            <a:r>
              <a:rPr lang="en-US" altLang="ja-JP" sz="2800" dirty="0" err="1">
                <a:latin typeface="Arial" panose="020B0604020202020204" pitchFamily="34" charset="0"/>
              </a:rPr>
              <a:t>định</a:t>
            </a:r>
            <a:r>
              <a:rPr lang="en-US" altLang="ja-JP" sz="2800" dirty="0">
                <a:latin typeface="Arial" panose="020B0604020202020204" pitchFamily="34" charset="0"/>
              </a:rPr>
              <a:t> </a:t>
            </a:r>
            <a:r>
              <a:rPr lang="en-US" altLang="ja-JP" sz="2800" dirty="0" err="1">
                <a:latin typeface="Arial" panose="020B0604020202020204" pitchFamily="34" charset="0"/>
              </a:rPr>
              <a:t>đối</a:t>
            </a:r>
            <a:r>
              <a:rPr lang="en-US" altLang="ja-JP" sz="2800" dirty="0">
                <a:latin typeface="Arial" panose="020B0604020202020204" pitchFamily="34" charset="0"/>
              </a:rPr>
              <a:t> </a:t>
            </a:r>
            <a:r>
              <a:rPr lang="en-US" altLang="ja-JP" sz="2800" dirty="0" err="1">
                <a:latin typeface="Arial" panose="020B0604020202020204" pitchFamily="34" charset="0"/>
              </a:rPr>
              <a:t>sô</a:t>
            </a:r>
            <a:r>
              <a:rPr lang="en-US" altLang="ja-JP" sz="2800" dirty="0">
                <a:latin typeface="Arial" panose="020B0604020202020204" pitchFamily="34" charset="0"/>
              </a:rPr>
              <a:t>́ </a:t>
            </a:r>
            <a:r>
              <a:rPr lang="en-US" altLang="ja-JP" sz="2800" dirty="0" err="1">
                <a:latin typeface="Arial" panose="020B0604020202020204" pitchFamily="34" charset="0"/>
              </a:rPr>
              <a:t>như</a:t>
            </a:r>
            <a:r>
              <a:rPr lang="en-US" altLang="ja-JP" sz="2800" dirty="0">
                <a:latin typeface="Arial" panose="020B0604020202020204" pitchFamily="34" charset="0"/>
              </a:rPr>
              <a:t> method </a:t>
            </a:r>
            <a:r>
              <a:rPr lang="en-US" altLang="ja-JP" sz="2800" dirty="0" err="1">
                <a:latin typeface="Arial" panose="020B0604020202020204" pitchFamily="34" charset="0"/>
              </a:rPr>
              <a:t>nên</a:t>
            </a:r>
            <a:r>
              <a:rPr lang="en-US" altLang="ja-JP" sz="2800" dirty="0">
                <a:latin typeface="Arial" panose="020B0604020202020204" pitchFamily="34" charset="0"/>
              </a:rPr>
              <a:t> có </a:t>
            </a:r>
            <a:r>
              <a:rPr lang="en-US" altLang="ja-JP" sz="2800" dirty="0" err="1">
                <a:latin typeface="Arial" panose="020B0604020202020204" pitchFamily="34" charset="0"/>
              </a:rPr>
              <a:t>thê</a:t>
            </a:r>
            <a:r>
              <a:rPr lang="en-US" altLang="ja-JP" sz="2800" dirty="0">
                <a:latin typeface="Arial" panose="020B0604020202020204" pitchFamily="34" charset="0"/>
              </a:rPr>
              <a:t>̉ </a:t>
            </a:r>
            <a:r>
              <a:rPr lang="en-US" altLang="ja-JP" sz="2800" dirty="0" err="1">
                <a:latin typeface="Arial" panose="020B0604020202020204" pitchFamily="34" charset="0"/>
              </a:rPr>
              <a:t>nhận</a:t>
            </a:r>
            <a:r>
              <a:rPr lang="en-US" altLang="ja-JP" sz="2800" dirty="0">
                <a:latin typeface="Arial" panose="020B0604020202020204" pitchFamily="34" charset="0"/>
              </a:rPr>
              <a:t> </a:t>
            </a:r>
            <a:r>
              <a:rPr lang="en-US" altLang="ja-JP" sz="2800" dirty="0" err="1">
                <a:latin typeface="Arial" panose="020B0604020202020204" pitchFamily="34" charset="0"/>
              </a:rPr>
              <a:t>gia</a:t>
            </a:r>
            <a:r>
              <a:rPr lang="en-US" altLang="ja-JP" sz="2800" dirty="0">
                <a:latin typeface="Arial" panose="020B0604020202020204" pitchFamily="34" charset="0"/>
              </a:rPr>
              <a:t>́ trị sẽ set </a:t>
            </a:r>
            <a:r>
              <a:rPr lang="en-US" altLang="ja-JP" sz="2800" dirty="0" err="1">
                <a:latin typeface="Arial" panose="020B0604020202020204" pitchFamily="34" charset="0"/>
              </a:rPr>
              <a:t>cho</a:t>
            </a:r>
            <a:r>
              <a:rPr lang="en-US" altLang="ja-JP" sz="2800" dirty="0">
                <a:latin typeface="Arial" panose="020B0604020202020204" pitchFamily="34" charset="0"/>
              </a:rPr>
              <a:t> </a:t>
            </a:r>
            <a:r>
              <a:rPr lang="en-US" altLang="ja-JP" sz="2800" dirty="0" err="1">
                <a:latin typeface="Arial" panose="020B0604020202020204" pitchFamily="34" charset="0"/>
              </a:rPr>
              <a:t>thuộc</a:t>
            </a:r>
            <a:r>
              <a:rPr lang="en-US" altLang="ja-JP" sz="2800" dirty="0">
                <a:latin typeface="Arial" panose="020B0604020202020204" pitchFamily="34" charset="0"/>
              </a:rPr>
              <a:t> </a:t>
            </a:r>
            <a:r>
              <a:rPr lang="en-US" altLang="ja-JP" sz="2800" dirty="0" err="1">
                <a:latin typeface="Arial" panose="020B0604020202020204" pitchFamily="34" charset="0"/>
              </a:rPr>
              <a:t>tính</a:t>
            </a:r>
            <a:r>
              <a:rPr lang="en-US" altLang="ja-JP" sz="2800" dirty="0">
                <a:latin typeface="Arial" panose="020B0604020202020204" pitchFamily="34" charset="0"/>
              </a:rPr>
              <a:t>.</a:t>
            </a:r>
          </a:p>
          <a:p>
            <a:pPr marL="0" indent="0" algn="just"/>
            <a:r>
              <a:rPr lang="ja-JP" altLang="en-US" sz="2800" dirty="0">
                <a:latin typeface="Arial" panose="020B0604020202020204" pitchFamily="34" charset="0"/>
              </a:rPr>
              <a:t>　</a:t>
            </a:r>
            <a:r>
              <a:rPr lang="en-US" altLang="ja-JP" sz="2800" dirty="0">
                <a:latin typeface="Arial" panose="020B0604020202020204" pitchFamily="34" charset="0"/>
              </a:rPr>
              <a:t>Có </a:t>
            </a:r>
            <a:r>
              <a:rPr lang="en-US" altLang="ja-JP" sz="2800" dirty="0" err="1">
                <a:latin typeface="Arial" panose="020B0604020202020204" pitchFamily="34" charset="0"/>
              </a:rPr>
              <a:t>thê</a:t>
            </a:r>
            <a:r>
              <a:rPr lang="en-US" altLang="ja-JP" sz="2800" dirty="0">
                <a:latin typeface="Arial" panose="020B0604020202020204" pitchFamily="34" charset="0"/>
              </a:rPr>
              <a:t>̉ </a:t>
            </a:r>
            <a:r>
              <a:rPr lang="en-US" altLang="ja-JP" sz="2800" dirty="0" err="1">
                <a:latin typeface="Arial" panose="020B0604020202020204" pitchFamily="34" charset="0"/>
              </a:rPr>
              <a:t>định</a:t>
            </a:r>
            <a:r>
              <a:rPr lang="en-US" altLang="ja-JP" sz="2800" dirty="0">
                <a:latin typeface="Arial" panose="020B0604020202020204" pitchFamily="34" charset="0"/>
              </a:rPr>
              <a:t> </a:t>
            </a:r>
            <a:r>
              <a:rPr lang="en-US" altLang="ja-JP" sz="2800" dirty="0" err="1">
                <a:latin typeface="Arial" panose="020B0604020202020204" pitchFamily="34" charset="0"/>
              </a:rPr>
              <a:t>nghĩa</a:t>
            </a:r>
            <a:r>
              <a:rPr lang="en-US" altLang="ja-JP" sz="2800" dirty="0">
                <a:latin typeface="Arial" panose="020B0604020202020204" pitchFamily="34" charset="0"/>
              </a:rPr>
              <a:t> </a:t>
            </a:r>
            <a:r>
              <a:rPr lang="en-US" altLang="ja-JP" sz="2800" dirty="0" err="1">
                <a:latin typeface="Arial" panose="020B0604020202020204" pitchFamily="34" charset="0"/>
              </a:rPr>
              <a:t>nhiều</a:t>
            </a:r>
            <a:r>
              <a:rPr lang="en-US" altLang="ja-JP" sz="2800" dirty="0">
                <a:latin typeface="Arial" panose="020B0604020202020204" pitchFamily="34" charset="0"/>
              </a:rPr>
              <a:t> constructor có </a:t>
            </a:r>
            <a:r>
              <a:rPr lang="en-US" altLang="ja-JP" sz="2800" dirty="0" err="1">
                <a:latin typeface="Arial" panose="020B0604020202020204" pitchFamily="34" charset="0"/>
              </a:rPr>
              <a:t>sô</a:t>
            </a:r>
            <a:r>
              <a:rPr lang="en-US" altLang="ja-JP" sz="2800" dirty="0">
                <a:latin typeface="Arial" panose="020B0604020202020204" pitchFamily="34" charset="0"/>
              </a:rPr>
              <a:t>́ </a:t>
            </a:r>
            <a:r>
              <a:rPr lang="en-US" altLang="ja-JP" sz="2800" dirty="0" err="1">
                <a:latin typeface="Arial" panose="020B0604020202020204" pitchFamily="34" charset="0"/>
              </a:rPr>
              <a:t>lượng</a:t>
            </a:r>
            <a:r>
              <a:rPr lang="en-US" altLang="ja-JP" sz="2800" dirty="0">
                <a:latin typeface="Arial" panose="020B0604020202020204" pitchFamily="34" charset="0"/>
              </a:rPr>
              <a:t> </a:t>
            </a:r>
            <a:r>
              <a:rPr lang="en-US" altLang="ja-JP" sz="2800" dirty="0" err="1">
                <a:latin typeface="Arial" panose="020B0604020202020204" pitchFamily="34" charset="0"/>
              </a:rPr>
              <a:t>va</a:t>
            </a:r>
            <a:r>
              <a:rPr lang="en-US" altLang="ja-JP" sz="2800" dirty="0">
                <a:latin typeface="Arial" panose="020B0604020202020204" pitchFamily="34" charset="0"/>
              </a:rPr>
              <a:t>̀ </a:t>
            </a:r>
            <a:r>
              <a:rPr lang="en-US" altLang="ja-JP" sz="2800" dirty="0" err="1">
                <a:latin typeface="Arial" panose="020B0604020202020204" pitchFamily="34" charset="0"/>
              </a:rPr>
              <a:t>kiểu</a:t>
            </a:r>
            <a:r>
              <a:rPr lang="en-US" altLang="ja-JP" sz="2800" dirty="0">
                <a:latin typeface="Arial" panose="020B0604020202020204" pitchFamily="34" charset="0"/>
              </a:rPr>
              <a:t> data </a:t>
            </a:r>
            <a:r>
              <a:rPr lang="en-US" altLang="ja-JP" sz="2800" dirty="0" err="1">
                <a:latin typeface="Arial" panose="020B0604020202020204" pitchFamily="34" charset="0"/>
              </a:rPr>
              <a:t>của</a:t>
            </a:r>
            <a:r>
              <a:rPr lang="en-US" altLang="ja-JP" sz="2800" dirty="0">
                <a:latin typeface="Arial" panose="020B0604020202020204" pitchFamily="34" charset="0"/>
              </a:rPr>
              <a:t> </a:t>
            </a:r>
            <a:r>
              <a:rPr lang="en-US" altLang="ja-JP" sz="2800" dirty="0" err="1">
                <a:latin typeface="Arial" panose="020B0604020202020204" pitchFamily="34" charset="0"/>
              </a:rPr>
              <a:t>đối</a:t>
            </a:r>
            <a:r>
              <a:rPr lang="en-US" altLang="ja-JP" sz="2800" dirty="0">
                <a:latin typeface="Arial" panose="020B0604020202020204" pitchFamily="34" charset="0"/>
              </a:rPr>
              <a:t> </a:t>
            </a:r>
            <a:r>
              <a:rPr lang="en-US" altLang="ja-JP" sz="2800" dirty="0" err="1">
                <a:latin typeface="Arial" panose="020B0604020202020204" pitchFamily="34" charset="0"/>
              </a:rPr>
              <a:t>sô</a:t>
            </a:r>
            <a:r>
              <a:rPr lang="en-US" altLang="ja-JP" sz="2800" dirty="0">
                <a:latin typeface="Arial" panose="020B0604020202020204" pitchFamily="34" charset="0"/>
              </a:rPr>
              <a:t>́ </a:t>
            </a:r>
            <a:r>
              <a:rPr lang="en-US" altLang="ja-JP" sz="2800" dirty="0" err="1">
                <a:latin typeface="Arial" panose="020B0604020202020204" pitchFamily="34" charset="0"/>
              </a:rPr>
              <a:t>khác</a:t>
            </a:r>
            <a:r>
              <a:rPr lang="en-US" altLang="ja-JP" sz="2800" dirty="0">
                <a:latin typeface="Arial" panose="020B0604020202020204" pitchFamily="34" charset="0"/>
              </a:rPr>
              <a:t> </a:t>
            </a:r>
            <a:r>
              <a:rPr lang="en-US" altLang="ja-JP" sz="2800" dirty="0" err="1">
                <a:latin typeface="Arial" panose="020B0604020202020204" pitchFamily="34" charset="0"/>
              </a:rPr>
              <a:t>nhau</a:t>
            </a:r>
            <a:r>
              <a:rPr lang="en-US" altLang="ja-JP" sz="2800" dirty="0">
                <a:latin typeface="Arial" panose="020B0604020202020204" pitchFamily="34" charset="0"/>
              </a:rPr>
              <a:t>. </a:t>
            </a:r>
          </a:p>
          <a:p>
            <a:pPr marL="0" indent="0" algn="just">
              <a:buNone/>
            </a:pPr>
            <a:r>
              <a:rPr lang="ja-JP" altLang="en-US" sz="2800" dirty="0">
                <a:latin typeface="Arial" panose="020B0604020202020204" pitchFamily="34" charset="0"/>
              </a:rPr>
              <a:t>●　</a:t>
            </a:r>
            <a:r>
              <a:rPr lang="en-US" altLang="ja-JP" sz="2800" dirty="0">
                <a:latin typeface="Arial" panose="020B0604020202020204" pitchFamily="34" charset="0"/>
              </a:rPr>
              <a:t>Default constructor</a:t>
            </a:r>
          </a:p>
          <a:p>
            <a:pPr marL="0" indent="0" algn="just"/>
            <a:r>
              <a:rPr lang="ja-JP" altLang="en-US" sz="2800" dirty="0">
                <a:latin typeface="Arial" panose="020B0604020202020204" pitchFamily="34" charset="0"/>
              </a:rPr>
              <a:t>　</a:t>
            </a:r>
            <a:r>
              <a:rPr lang="en-US" altLang="ja-JP" sz="2800" dirty="0" err="1">
                <a:latin typeface="Arial" panose="020B0604020202020204" pitchFamily="34" charset="0"/>
              </a:rPr>
              <a:t>Trường</a:t>
            </a:r>
            <a:r>
              <a:rPr lang="en-US" altLang="ja-JP" sz="2800" dirty="0">
                <a:latin typeface="Arial" panose="020B0604020202020204" pitchFamily="34" charset="0"/>
              </a:rPr>
              <a:t> </a:t>
            </a:r>
            <a:r>
              <a:rPr lang="en-US" altLang="ja-JP" sz="2800" dirty="0" err="1">
                <a:latin typeface="Arial" panose="020B0604020202020204" pitchFamily="34" charset="0"/>
              </a:rPr>
              <a:t>hợp</a:t>
            </a:r>
            <a:r>
              <a:rPr lang="en-US" altLang="ja-JP" sz="2800" dirty="0">
                <a:latin typeface="Arial" panose="020B0604020202020204" pitchFamily="34" charset="0"/>
              </a:rPr>
              <a:t> </a:t>
            </a:r>
            <a:r>
              <a:rPr lang="en-US" altLang="ja-JP" sz="2800" dirty="0" err="1">
                <a:latin typeface="Arial" panose="020B0604020202020204" pitchFamily="34" charset="0"/>
              </a:rPr>
              <a:t>trong</a:t>
            </a:r>
            <a:r>
              <a:rPr lang="en-US" altLang="ja-JP" sz="2800" dirty="0">
                <a:latin typeface="Arial" panose="020B0604020202020204" pitchFamily="34" charset="0"/>
              </a:rPr>
              <a:t> class </a:t>
            </a:r>
            <a:r>
              <a:rPr lang="en-US" altLang="ja-JP" sz="2800" dirty="0" err="1">
                <a:latin typeface="Arial" panose="020B0604020202020204" pitchFamily="34" charset="0"/>
              </a:rPr>
              <a:t>không</a:t>
            </a:r>
            <a:r>
              <a:rPr lang="en-US" altLang="ja-JP" sz="2800" dirty="0">
                <a:latin typeface="Arial" panose="020B0604020202020204" pitchFamily="34" charset="0"/>
              </a:rPr>
              <a:t> </a:t>
            </a:r>
            <a:r>
              <a:rPr lang="en-US" altLang="ja-JP" sz="2800" dirty="0" err="1">
                <a:latin typeface="Arial" panose="020B0604020202020204" pitchFamily="34" charset="0"/>
              </a:rPr>
              <a:t>định</a:t>
            </a:r>
            <a:r>
              <a:rPr lang="en-US" altLang="ja-JP" sz="2800" dirty="0">
                <a:latin typeface="Arial" panose="020B0604020202020204" pitchFamily="34" charset="0"/>
              </a:rPr>
              <a:t> </a:t>
            </a:r>
            <a:r>
              <a:rPr lang="en-US" altLang="ja-JP" sz="2800" dirty="0" err="1">
                <a:latin typeface="Arial" panose="020B0604020202020204" pitchFamily="34" charset="0"/>
              </a:rPr>
              <a:t>nghĩa</a:t>
            </a:r>
            <a:r>
              <a:rPr lang="en-US" altLang="ja-JP" sz="2800" dirty="0">
                <a:latin typeface="Arial" panose="020B0604020202020204" pitchFamily="34" charset="0"/>
              </a:rPr>
              <a:t> 1 constructor </a:t>
            </a:r>
            <a:r>
              <a:rPr lang="en-US" altLang="ja-JP" sz="2800" dirty="0" err="1">
                <a:latin typeface="Arial" panose="020B0604020202020204" pitchFamily="34" charset="0"/>
              </a:rPr>
              <a:t>nào</a:t>
            </a:r>
            <a:r>
              <a:rPr lang="en-US" altLang="ja-JP" sz="2800" dirty="0">
                <a:latin typeface="Arial" panose="020B0604020202020204" pitchFamily="34" charset="0"/>
              </a:rPr>
              <a:t>(</a:t>
            </a:r>
            <a:r>
              <a:rPr lang="en-US" altLang="ja-JP" sz="2800" dirty="0" err="1">
                <a:latin typeface="Arial" panose="020B0604020202020204" pitchFamily="34" charset="0"/>
              </a:rPr>
              <a:t>trường</a:t>
            </a:r>
            <a:r>
              <a:rPr lang="en-US" altLang="ja-JP" sz="2800" dirty="0">
                <a:latin typeface="Arial" panose="020B0604020202020204" pitchFamily="34" charset="0"/>
              </a:rPr>
              <a:t> </a:t>
            </a:r>
            <a:r>
              <a:rPr lang="en-US" altLang="ja-JP" sz="2800" dirty="0" err="1">
                <a:latin typeface="Arial" panose="020B0604020202020204" pitchFamily="34" charset="0"/>
              </a:rPr>
              <a:t>hợp</a:t>
            </a:r>
            <a:r>
              <a:rPr lang="en-US" altLang="ja-JP" sz="2800" dirty="0">
                <a:latin typeface="Arial" panose="020B0604020202020204" pitchFamily="34" charset="0"/>
              </a:rPr>
              <a:t> 0 </a:t>
            </a:r>
            <a:r>
              <a:rPr lang="en-US" altLang="ja-JP" sz="2800" dirty="0" err="1">
                <a:latin typeface="Arial" panose="020B0604020202020204" pitchFamily="34" charset="0"/>
              </a:rPr>
              <a:t>cái</a:t>
            </a:r>
            <a:r>
              <a:rPr lang="en-US" altLang="ja-JP" sz="2800" dirty="0">
                <a:latin typeface="Arial" panose="020B0604020202020204" pitchFamily="34" charset="0"/>
              </a:rPr>
              <a:t>) </a:t>
            </a:r>
            <a:r>
              <a:rPr lang="en-US" altLang="ja-JP" sz="2800" dirty="0" err="1">
                <a:latin typeface="Arial" panose="020B0604020202020204" pitchFamily="34" charset="0"/>
              </a:rPr>
              <a:t>thi</a:t>
            </a:r>
            <a:r>
              <a:rPr lang="en-US" altLang="ja-JP" sz="2800" dirty="0">
                <a:latin typeface="Arial" panose="020B0604020202020204" pitchFamily="34" charset="0"/>
              </a:rPr>
              <a:t>̀ default contract (</a:t>
            </a:r>
            <a:r>
              <a:rPr lang="en-US" altLang="ja-JP" sz="2800" dirty="0" err="1">
                <a:latin typeface="Arial" panose="020B0604020202020204" pitchFamily="34" charset="0"/>
              </a:rPr>
              <a:t>không</a:t>
            </a:r>
            <a:r>
              <a:rPr lang="en-US" altLang="ja-JP" sz="2800" dirty="0">
                <a:latin typeface="Arial" panose="020B0604020202020204" pitchFamily="34" charset="0"/>
              </a:rPr>
              <a:t> có </a:t>
            </a:r>
            <a:r>
              <a:rPr lang="en-US" altLang="ja-JP" sz="2800" dirty="0" err="1">
                <a:latin typeface="Arial" panose="020B0604020202020204" pitchFamily="34" charset="0"/>
              </a:rPr>
              <a:t>đối</a:t>
            </a:r>
            <a:r>
              <a:rPr lang="en-US" altLang="ja-JP" sz="2800" dirty="0">
                <a:latin typeface="Arial" panose="020B0604020202020204" pitchFamily="34" charset="0"/>
              </a:rPr>
              <a:t> </a:t>
            </a:r>
            <a:r>
              <a:rPr lang="en-US" altLang="ja-JP" sz="2800" dirty="0" err="1">
                <a:latin typeface="Arial" panose="020B0604020202020204" pitchFamily="34" charset="0"/>
              </a:rPr>
              <a:t>sô</a:t>
            </a:r>
            <a:r>
              <a:rPr lang="en-US" altLang="ja-JP" sz="2800" dirty="0">
                <a:latin typeface="Arial" panose="020B0604020202020204" pitchFamily="34" charset="0"/>
              </a:rPr>
              <a:t>́, </a:t>
            </a:r>
            <a:r>
              <a:rPr lang="en-US" altLang="ja-JP" sz="2800" dirty="0" err="1">
                <a:latin typeface="Arial" panose="020B0604020202020204" pitchFamily="34" charset="0"/>
              </a:rPr>
              <a:t>phần</a:t>
            </a:r>
            <a:r>
              <a:rPr lang="en-US" altLang="ja-JP" sz="2800" dirty="0">
                <a:latin typeface="Arial" panose="020B0604020202020204" pitchFamily="34" charset="0"/>
              </a:rPr>
              <a:t> body </a:t>
            </a:r>
            <a:r>
              <a:rPr lang="en-US" altLang="ja-JP" sz="2800" dirty="0" err="1">
                <a:latin typeface="Arial" panose="020B0604020202020204" pitchFamily="34" charset="0"/>
              </a:rPr>
              <a:t>rỗng</a:t>
            </a:r>
            <a:r>
              <a:rPr lang="en-US" altLang="ja-JP" sz="2800" dirty="0">
                <a:latin typeface="Arial" panose="020B0604020202020204" pitchFamily="34" charset="0"/>
              </a:rPr>
              <a:t>) sẽ </a:t>
            </a:r>
            <a:r>
              <a:rPr lang="en-US" altLang="ja-JP" sz="2800" dirty="0" err="1">
                <a:latin typeface="Arial" panose="020B0604020202020204" pitchFamily="34" charset="0"/>
              </a:rPr>
              <a:t>được</a:t>
            </a:r>
            <a:r>
              <a:rPr lang="en-US" altLang="ja-JP" sz="2800" dirty="0">
                <a:latin typeface="Arial" panose="020B0604020202020204" pitchFamily="34" charset="0"/>
              </a:rPr>
              <a:t> </a:t>
            </a:r>
            <a:r>
              <a:rPr lang="en-US" altLang="ja-JP" sz="2800" dirty="0" err="1">
                <a:latin typeface="Arial" panose="020B0604020202020204" pitchFamily="34" charset="0"/>
              </a:rPr>
              <a:t>tư</a:t>
            </a:r>
            <a:r>
              <a:rPr lang="en-US" altLang="ja-JP" sz="2800" dirty="0">
                <a:latin typeface="Arial" panose="020B0604020202020204" pitchFamily="34" charset="0"/>
              </a:rPr>
              <a:t>̣ </a:t>
            </a:r>
            <a:r>
              <a:rPr lang="en-US" altLang="ja-JP" sz="2800" dirty="0" err="1">
                <a:latin typeface="Arial" panose="020B0604020202020204" pitchFamily="34" charset="0"/>
              </a:rPr>
              <a:t>động</a:t>
            </a:r>
            <a:r>
              <a:rPr lang="en-US" altLang="ja-JP" sz="2800" dirty="0">
                <a:latin typeface="Arial" panose="020B0604020202020204" pitchFamily="34" charset="0"/>
              </a:rPr>
              <a:t> add </a:t>
            </a:r>
            <a:r>
              <a:rPr lang="en-US" altLang="ja-JP" sz="2800" dirty="0" err="1">
                <a:latin typeface="Arial" panose="020B0604020202020204" pitchFamily="34" charset="0"/>
              </a:rPr>
              <a:t>thêm</a:t>
            </a:r>
            <a:r>
              <a:rPr lang="en-US" altLang="ja-JP" sz="2800" dirty="0">
                <a:latin typeface="Arial" panose="020B0604020202020204" pitchFamily="34" charset="0"/>
              </a:rPr>
              <a:t> </a:t>
            </a:r>
            <a:r>
              <a:rPr lang="en-US" altLang="ja-JP" sz="2800" dirty="0" err="1">
                <a:latin typeface="Arial" panose="020B0604020202020204" pitchFamily="34" charset="0"/>
              </a:rPr>
              <a:t>vào</a:t>
            </a:r>
            <a:r>
              <a:rPr lang="en-US" altLang="ja-JP" sz="2800" dirty="0">
                <a:latin typeface="Arial" panose="020B0604020202020204" pitchFamily="34" charset="0"/>
              </a:rPr>
              <a:t> </a:t>
            </a:r>
            <a:r>
              <a:rPr lang="en-US" altLang="ja-JP" sz="2800" dirty="0" err="1">
                <a:latin typeface="Arial" panose="020B0604020202020204" pitchFamily="34" charset="0"/>
              </a:rPr>
              <a:t>lúc</a:t>
            </a:r>
            <a:r>
              <a:rPr lang="en-US" altLang="ja-JP" sz="2800" dirty="0">
                <a:latin typeface="Arial" panose="020B0604020202020204" pitchFamily="34" charset="0"/>
              </a:rPr>
              <a:t> compile.</a:t>
            </a:r>
          </a:p>
          <a:p>
            <a:pPr algn="just"/>
            <a:endParaRPr lang="ja-JP" altLang="en-US" sz="2800" dirty="0"/>
          </a:p>
        </p:txBody>
      </p:sp>
      <p:sp>
        <p:nvSpPr>
          <p:cNvPr id="5" name="Slide Number Placeholder 4">
            <a:extLst>
              <a:ext uri="{FF2B5EF4-FFF2-40B4-BE49-F238E27FC236}">
                <a16:creationId xmlns:a16="http://schemas.microsoft.com/office/drawing/2014/main" id="{5CA2E851-CA13-9F63-8FD9-44D5C7489047}"/>
              </a:ext>
            </a:extLst>
          </p:cNvPr>
          <p:cNvSpPr>
            <a:spLocks noGrp="1"/>
          </p:cNvSpPr>
          <p:nvPr>
            <p:ph type="sldNum" sz="quarter" idx="11"/>
          </p:nvPr>
        </p:nvSpPr>
        <p:spPr/>
        <p:txBody>
          <a:bodyPr/>
          <a:lstStyle/>
          <a:p>
            <a:fld id="{4AC556BE-C330-47A4-A283-5CF881B2E858}" type="slidenum">
              <a:rPr lang="en-US" altLang="ja-JP" smtClean="0"/>
              <a:pPr/>
              <a:t>12</a:t>
            </a:fld>
            <a:endParaRPr lang="en-US" altLang="ja-JP"/>
          </a:p>
        </p:txBody>
      </p:sp>
    </p:spTree>
    <p:extLst>
      <p:ext uri="{BB962C8B-B14F-4D97-AF65-F5344CB8AC3E}">
        <p14:creationId xmlns:p14="http://schemas.microsoft.com/office/powerpoint/2010/main" val="2106695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1DE1B80-8E5B-072A-87F8-17DBD5E92A6F}"/>
              </a:ext>
            </a:extLst>
          </p:cNvPr>
          <p:cNvSpPr>
            <a:spLocks noGrp="1"/>
          </p:cNvSpPr>
          <p:nvPr>
            <p:ph type="sldNum" sz="quarter" idx="10"/>
          </p:nvPr>
        </p:nvSpPr>
        <p:spPr/>
        <p:txBody>
          <a:bodyPr/>
          <a:lstStyle/>
          <a:p>
            <a:fld id="{607B85E3-289E-4072-8502-5A8731B8CB33}" type="slidenum">
              <a:rPr lang="en-US" altLang="ja-JP"/>
              <a:pPr/>
              <a:t>13</a:t>
            </a:fld>
            <a:endParaRPr lang="en-US" altLang="ja-JP"/>
          </a:p>
        </p:txBody>
      </p:sp>
      <p:sp>
        <p:nvSpPr>
          <p:cNvPr id="552962" name="Rectangle 2">
            <a:extLst>
              <a:ext uri="{FF2B5EF4-FFF2-40B4-BE49-F238E27FC236}">
                <a16:creationId xmlns:a16="http://schemas.microsoft.com/office/drawing/2014/main" id="{FE32F3B7-678D-E688-3FCB-C37B97520FB3}"/>
              </a:ext>
            </a:extLst>
          </p:cNvPr>
          <p:cNvSpPr>
            <a:spLocks noGrp="1" noChangeArrowheads="1"/>
          </p:cNvSpPr>
          <p:nvPr>
            <p:ph type="title"/>
          </p:nvPr>
        </p:nvSpPr>
        <p:spPr>
          <a:xfrm>
            <a:off x="296068" y="289523"/>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Sinh/</a:t>
            </a:r>
            <a:r>
              <a:rPr lang="en-US" altLang="ja-JP" dirty="0" err="1">
                <a:latin typeface="Arial" panose="020B0604020202020204" pitchFamily="34" charset="0"/>
                <a:ea typeface="MS UI Gothic" panose="020B0600070205080204" pitchFamily="50" charset="-128"/>
              </a:rPr>
              <a:t>giải</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phóng</a:t>
            </a:r>
            <a:r>
              <a:rPr lang="en-US" altLang="ja-JP" dirty="0">
                <a:latin typeface="Arial" panose="020B0604020202020204" pitchFamily="34" charset="0"/>
                <a:ea typeface="MS UI Gothic" panose="020B0600070205080204" pitchFamily="50" charset="-128"/>
              </a:rPr>
              <a:t> object (2) </a:t>
            </a:r>
          </a:p>
        </p:txBody>
      </p:sp>
      <p:sp>
        <p:nvSpPr>
          <p:cNvPr id="552963" name="Rectangle 3">
            <a:extLst>
              <a:ext uri="{FF2B5EF4-FFF2-40B4-BE49-F238E27FC236}">
                <a16:creationId xmlns:a16="http://schemas.microsoft.com/office/drawing/2014/main" id="{3D78A743-DA9C-9518-704F-F21B0109A450}"/>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52964" name="Rectangle 4">
            <a:extLst>
              <a:ext uri="{FF2B5EF4-FFF2-40B4-BE49-F238E27FC236}">
                <a16:creationId xmlns:a16="http://schemas.microsoft.com/office/drawing/2014/main" id="{06054847-F752-6A9F-5E52-169627D4BE09}"/>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Giải phóng object</a:t>
            </a:r>
          </a:p>
          <a:p>
            <a:pPr>
              <a:spcBef>
                <a:spcPct val="50000"/>
              </a:spcBef>
              <a:buFont typeface="Wingdings" panose="05000000000000000000" pitchFamily="2" charset="2"/>
              <a:buNone/>
            </a:pPr>
            <a:r>
              <a:rPr lang="en-US" altLang="ja-JP" sz="2000" b="0">
                <a:latin typeface="Arial" panose="020B0604020202020204" pitchFamily="34" charset="0"/>
              </a:rPr>
              <a:t>●Giá trị null</a:t>
            </a: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552965" name="Rectangle 5">
            <a:extLst>
              <a:ext uri="{FF2B5EF4-FFF2-40B4-BE49-F238E27FC236}">
                <a16:creationId xmlns:a16="http://schemas.microsoft.com/office/drawing/2014/main" id="{FC7DC578-E16E-8D2E-ED27-FD8D7B0E54F1}"/>
              </a:ext>
            </a:extLst>
          </p:cNvPr>
          <p:cNvSpPr>
            <a:spLocks noChangeArrowheads="1"/>
          </p:cNvSpPr>
          <p:nvPr/>
        </p:nvSpPr>
        <p:spPr bwMode="auto">
          <a:xfrm>
            <a:off x="344488" y="3797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552966" name="Rectangle 6">
            <a:extLst>
              <a:ext uri="{FF2B5EF4-FFF2-40B4-BE49-F238E27FC236}">
                <a16:creationId xmlns:a16="http://schemas.microsoft.com/office/drawing/2014/main" id="{070E70C8-9B25-D841-4E4F-FDDEA44B67F7}"/>
              </a:ext>
            </a:extLst>
          </p:cNvPr>
          <p:cNvSpPr>
            <a:spLocks noChangeArrowheads="1"/>
          </p:cNvSpPr>
          <p:nvPr/>
        </p:nvSpPr>
        <p:spPr bwMode="auto">
          <a:xfrm>
            <a:off x="344488" y="4268788"/>
            <a:ext cx="9120187" cy="20288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Person personA;</a:t>
            </a:r>
          </a:p>
          <a:p>
            <a:pPr lvl="1"/>
            <a:r>
              <a:rPr lang="en-US" altLang="ja-JP" sz="1800" b="0">
                <a:latin typeface="ＭＳ ゴシック" panose="020B0609070205080204" pitchFamily="49" charset="-128"/>
                <a:ea typeface="ＭＳ ゴシック" panose="020B0609070205080204" pitchFamily="49" charset="-128"/>
              </a:rPr>
              <a:t>personA = new Person();</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 </a:t>
            </a:r>
            <a:r>
              <a:rPr lang="en-US" altLang="ja-JP" sz="1800" b="0">
                <a:latin typeface="Arial" panose="020B0604020202020204" pitchFamily="34" charset="0"/>
                <a:ea typeface="ＭＳ ゴシック" panose="020B0609070205080204" pitchFamily="49" charset="-128"/>
              </a:rPr>
              <a:t>Gọi ra method đối với</a:t>
            </a:r>
            <a:r>
              <a:rPr lang="en-US" altLang="ja-JP" sz="1800" b="0">
                <a:latin typeface="ＭＳ ゴシック" panose="020B0609070205080204" pitchFamily="49" charset="-128"/>
                <a:ea typeface="ＭＳ ゴシック" panose="020B0609070205080204" pitchFamily="49" charset="-128"/>
              </a:rPr>
              <a:t> personAv.v...</a:t>
            </a:r>
          </a:p>
          <a:p>
            <a:pPr lvl="1"/>
            <a:endParaRPr lang="en-US" altLang="ja-JP" sz="1800" b="0">
              <a:latin typeface="ＭＳ ゴシック" panose="020B0609070205080204" pitchFamily="49" charset="-128"/>
              <a:ea typeface="ＭＳ ゴシック" panose="020B0609070205080204" pitchFamily="49" charset="-128"/>
            </a:endParaRPr>
          </a:p>
          <a:p>
            <a:pPr lvl="1"/>
            <a:r>
              <a:rPr lang="en-US" altLang="ja-JP" sz="1800" b="0">
                <a:latin typeface="ＭＳ ゴシック" panose="020B0609070205080204" pitchFamily="49" charset="-128"/>
                <a:ea typeface="ＭＳ ゴシック" panose="020B0609070205080204" pitchFamily="49" charset="-128"/>
              </a:rPr>
              <a:t>personA = null;</a:t>
            </a:r>
          </a:p>
        </p:txBody>
      </p:sp>
      <p:sp>
        <p:nvSpPr>
          <p:cNvPr id="552967" name="Text Box 7">
            <a:extLst>
              <a:ext uri="{FF2B5EF4-FFF2-40B4-BE49-F238E27FC236}">
                <a16:creationId xmlns:a16="http://schemas.microsoft.com/office/drawing/2014/main" id="{E0988813-163D-7411-AB5C-93D82884B2E7}"/>
              </a:ext>
            </a:extLst>
          </p:cNvPr>
          <p:cNvSpPr txBox="1">
            <a:spLocks noChangeArrowheads="1"/>
          </p:cNvSpPr>
          <p:nvPr/>
        </p:nvSpPr>
        <p:spPr bwMode="auto">
          <a:xfrm>
            <a:off x="344488" y="3105150"/>
            <a:ext cx="9120187" cy="449263"/>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MS UI Gothic" panose="020B0600070205080204" pitchFamily="50" charset="-128"/>
              </a:rPr>
              <a:t>Biến có tham chiếu của object</a:t>
            </a:r>
            <a:r>
              <a:rPr lang="ja-JP" altLang="ja-JP" sz="2000">
                <a:ea typeface="ＭＳ ゴシック" panose="020B0609070205080204" pitchFamily="49" charset="-128"/>
              </a:rPr>
              <a:t> = null;</a:t>
            </a:r>
          </a:p>
        </p:txBody>
      </p:sp>
      <p:sp>
        <p:nvSpPr>
          <p:cNvPr id="552969" name="Text Box 9">
            <a:extLst>
              <a:ext uri="{FF2B5EF4-FFF2-40B4-BE49-F238E27FC236}">
                <a16:creationId xmlns:a16="http://schemas.microsoft.com/office/drawing/2014/main" id="{D9F3394C-8675-7D85-016F-1E643CDE6140}"/>
              </a:ext>
            </a:extLst>
          </p:cNvPr>
          <p:cNvSpPr txBox="1">
            <a:spLocks noChangeArrowheads="1"/>
          </p:cNvSpPr>
          <p:nvPr/>
        </p:nvSpPr>
        <p:spPr bwMode="auto">
          <a:xfrm>
            <a:off x="344488" y="1700213"/>
            <a:ext cx="9120187" cy="449262"/>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MS UI Gothic" panose="020B0600070205080204" pitchFamily="50" charset="-128"/>
              </a:rPr>
              <a:t>Giá trị thể hiển rằng không có bất kỳ tham chiếu của object nào.</a:t>
            </a:r>
            <a:endParaRPr lang="ja-JP" altLang="ja-JP" sz="2000">
              <a:ea typeface="MS UI Gothic" panose="020B0600070205080204" pitchFamily="50" charset="-128"/>
            </a:endParaRPr>
          </a:p>
        </p:txBody>
      </p:sp>
      <p:sp>
        <p:nvSpPr>
          <p:cNvPr id="552968" name="AutoShape 8">
            <a:extLst>
              <a:ext uri="{FF2B5EF4-FFF2-40B4-BE49-F238E27FC236}">
                <a16:creationId xmlns:a16="http://schemas.microsoft.com/office/drawing/2014/main" id="{B3EAA550-6E7F-193F-A7AC-D963336E41B2}"/>
              </a:ext>
            </a:extLst>
          </p:cNvPr>
          <p:cNvSpPr>
            <a:spLocks noChangeArrowheads="1"/>
          </p:cNvSpPr>
          <p:nvPr/>
        </p:nvSpPr>
        <p:spPr bwMode="auto">
          <a:xfrm>
            <a:off x="3746500" y="4335463"/>
            <a:ext cx="5399088" cy="641350"/>
          </a:xfrm>
          <a:prstGeom prst="wedgeRoundRectCallout">
            <a:avLst>
              <a:gd name="adj1" fmla="val -70583"/>
              <a:gd name="adj2" fmla="val -24755"/>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Giá trị default </a:t>
            </a:r>
            <a:r>
              <a:rPr lang="en-US" altLang="ja-JP" sz="1800" dirty="0" err="1">
                <a:latin typeface="+mj-lt"/>
              </a:rPr>
              <a:t>của</a:t>
            </a:r>
            <a:r>
              <a:rPr lang="en-US" altLang="ja-JP" sz="1800" dirty="0">
                <a:latin typeface="+mj-lt"/>
              </a:rPr>
              <a:t> </a:t>
            </a:r>
            <a:r>
              <a:rPr lang="en-US" altLang="ja-JP" sz="1800" dirty="0" err="1">
                <a:latin typeface="+mj-lt"/>
              </a:rPr>
              <a:t>biến</a:t>
            </a:r>
            <a:r>
              <a:rPr lang="en-US" altLang="ja-JP" sz="1800" dirty="0">
                <a:latin typeface="+mj-lt"/>
              </a:rPr>
              <a:t> </a:t>
            </a:r>
            <a:r>
              <a:rPr lang="en-US" altLang="ja-JP" sz="1800" dirty="0" err="1">
                <a:latin typeface="+mj-lt"/>
              </a:rPr>
              <a:t>coi</a:t>
            </a:r>
            <a:r>
              <a:rPr lang="en-US" altLang="ja-JP" sz="1800" dirty="0">
                <a:latin typeface="+mj-lt"/>
              </a:rPr>
              <a:t> class là </a:t>
            </a:r>
            <a:r>
              <a:rPr lang="en-US" altLang="ja-JP" sz="1800" dirty="0" err="1">
                <a:latin typeface="+mj-lt"/>
              </a:rPr>
              <a:t>kiểu</a:t>
            </a:r>
            <a:r>
              <a:rPr lang="en-US" altLang="ja-JP" sz="1800" dirty="0">
                <a:latin typeface="+mj-lt"/>
              </a:rPr>
              <a:t> data </a:t>
            </a:r>
            <a:r>
              <a:rPr lang="en-US" altLang="ja-JP" sz="1800" dirty="0" err="1">
                <a:latin typeface="+mj-lt"/>
              </a:rPr>
              <a:t>cũng</a:t>
            </a:r>
            <a:r>
              <a:rPr lang="en-US" altLang="ja-JP" sz="1800" dirty="0">
                <a:latin typeface="+mj-lt"/>
              </a:rPr>
              <a:t> là </a:t>
            </a:r>
            <a:r>
              <a:rPr lang="en-US" altLang="ja-JP" sz="1800" dirty="0" err="1">
                <a:latin typeface="+mj-lt"/>
              </a:rPr>
              <a:t>gia</a:t>
            </a:r>
            <a:r>
              <a:rPr lang="en-US" altLang="ja-JP" sz="1800" dirty="0">
                <a:latin typeface="+mj-lt"/>
              </a:rPr>
              <a:t>́ trị null.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077AD8-35AA-DF44-43E4-7841F5684212}"/>
              </a:ext>
            </a:extLst>
          </p:cNvPr>
          <p:cNvSpPr>
            <a:spLocks noGrp="1"/>
          </p:cNvSpPr>
          <p:nvPr>
            <p:ph type="title"/>
          </p:nvPr>
        </p:nvSpPr>
        <p:spPr/>
        <p:txBody>
          <a:bodyPr>
            <a:normAutofit fontScale="90000"/>
          </a:bodyPr>
          <a:lstStyle/>
          <a:p>
            <a:r>
              <a:rPr lang="en-US" altLang="ja-JP" dirty="0" err="1">
                <a:latin typeface="Arial" panose="020B0604020202020204" pitchFamily="34" charset="0"/>
              </a:rPr>
              <a:t>Giải</a:t>
            </a:r>
            <a:r>
              <a:rPr lang="en-US" altLang="ja-JP" dirty="0">
                <a:latin typeface="Arial" panose="020B0604020202020204" pitchFamily="34" charset="0"/>
              </a:rPr>
              <a:t> </a:t>
            </a:r>
            <a:r>
              <a:rPr lang="en-US" altLang="ja-JP" dirty="0" err="1">
                <a:latin typeface="Arial" panose="020B0604020202020204" pitchFamily="34" charset="0"/>
              </a:rPr>
              <a:t>phóng</a:t>
            </a:r>
            <a:r>
              <a:rPr lang="en-US" altLang="ja-JP" dirty="0">
                <a:latin typeface="Arial" panose="020B0604020202020204" pitchFamily="34" charset="0"/>
              </a:rPr>
              <a:t> object</a:t>
            </a:r>
            <a:endParaRPr lang="ja-JP" altLang="en-US" dirty="0"/>
          </a:p>
        </p:txBody>
      </p:sp>
      <p:sp>
        <p:nvSpPr>
          <p:cNvPr id="7" name="Content Placeholder 6">
            <a:extLst>
              <a:ext uri="{FF2B5EF4-FFF2-40B4-BE49-F238E27FC236}">
                <a16:creationId xmlns:a16="http://schemas.microsoft.com/office/drawing/2014/main" id="{1695A259-E089-7560-BE28-CF71DA13F13D}"/>
              </a:ext>
            </a:extLst>
          </p:cNvPr>
          <p:cNvSpPr>
            <a:spLocks noGrp="1"/>
          </p:cNvSpPr>
          <p:nvPr>
            <p:ph idx="1"/>
          </p:nvPr>
        </p:nvSpPr>
        <p:spPr>
          <a:xfrm>
            <a:off x="128463" y="1124744"/>
            <a:ext cx="4029183" cy="5328592"/>
          </a:xfrm>
        </p:spPr>
        <p:txBody>
          <a:bodyPr>
            <a:normAutofit fontScale="77500" lnSpcReduction="20000"/>
          </a:bodyPr>
          <a:lstStyle/>
          <a:p>
            <a:pPr marL="0" indent="0" algn="just"/>
            <a:r>
              <a:rPr lang="ja-JP" altLang="en-US" dirty="0">
                <a:latin typeface="Arial" panose="020B0604020202020204" pitchFamily="34" charset="0"/>
              </a:rPr>
              <a:t>　</a:t>
            </a:r>
            <a:r>
              <a:rPr lang="en-US" altLang="ja-JP" dirty="0" err="1">
                <a:latin typeface="Arial" panose="020B0604020202020204" pitchFamily="34" charset="0"/>
              </a:rPr>
              <a:t>Nếu</a:t>
            </a:r>
            <a:r>
              <a:rPr lang="en-US" altLang="ja-JP" dirty="0">
                <a:latin typeface="Arial" panose="020B0604020202020204" pitchFamily="34" charset="0"/>
              </a:rPr>
              <a:t> </a:t>
            </a:r>
            <a:r>
              <a:rPr lang="en-US" altLang="ja-JP" dirty="0" err="1">
                <a:latin typeface="Arial" panose="020B0604020202020204" pitchFamily="34" charset="0"/>
              </a:rPr>
              <a:t>như</a:t>
            </a:r>
            <a:r>
              <a:rPr lang="en-US" altLang="ja-JP" dirty="0">
                <a:latin typeface="Arial" panose="020B0604020202020204" pitchFamily="34" charset="0"/>
              </a:rPr>
              <a:t> object </a:t>
            </a:r>
            <a:r>
              <a:rPr lang="en-US" altLang="ja-JP" dirty="0" err="1">
                <a:latin typeface="Arial" panose="020B0604020202020204" pitchFamily="34" charset="0"/>
              </a:rPr>
              <a:t>trơ</a:t>
            </a:r>
            <a:r>
              <a:rPr lang="en-US" altLang="ja-JP" dirty="0">
                <a:latin typeface="Arial" panose="020B0604020202020204" pitchFamily="34" charset="0"/>
              </a:rPr>
              <a:t>̉ </a:t>
            </a:r>
            <a:r>
              <a:rPr lang="en-US" altLang="ja-JP" dirty="0" err="1">
                <a:latin typeface="Arial" panose="020B0604020202020204" pitchFamily="34" charset="0"/>
              </a:rPr>
              <a:t>nên</a:t>
            </a:r>
            <a:r>
              <a:rPr lang="en-US" altLang="ja-JP" dirty="0">
                <a:latin typeface="Arial" panose="020B0604020202020204" pitchFamily="34" charset="0"/>
              </a:rPr>
              <a:t> </a:t>
            </a:r>
            <a:r>
              <a:rPr lang="en-US" altLang="ja-JP" dirty="0" err="1">
                <a:latin typeface="Arial" panose="020B0604020202020204" pitchFamily="34" charset="0"/>
              </a:rPr>
              <a:t>không</a:t>
            </a:r>
            <a:r>
              <a:rPr lang="en-US" altLang="ja-JP" dirty="0">
                <a:latin typeface="Arial" panose="020B0604020202020204" pitchFamily="34" charset="0"/>
              </a:rPr>
              <a:t> </a:t>
            </a:r>
            <a:r>
              <a:rPr lang="en-US" altLang="ja-JP" dirty="0" err="1">
                <a:latin typeface="Arial" panose="020B0604020202020204" pitchFamily="34" charset="0"/>
              </a:rPr>
              <a:t>cần</a:t>
            </a:r>
            <a:r>
              <a:rPr lang="en-US" altLang="ja-JP" dirty="0">
                <a:latin typeface="Arial" panose="020B0604020202020204" pitchFamily="34" charset="0"/>
              </a:rPr>
              <a:t> </a:t>
            </a:r>
            <a:r>
              <a:rPr lang="en-US" altLang="ja-JP" dirty="0" err="1">
                <a:latin typeface="Arial" panose="020B0604020202020204" pitchFamily="34" charset="0"/>
              </a:rPr>
              <a:t>thiết</a:t>
            </a:r>
            <a:r>
              <a:rPr lang="en-US" altLang="ja-JP" dirty="0">
                <a:latin typeface="Arial" panose="020B0604020202020204" pitchFamily="34" charset="0"/>
              </a:rPr>
              <a:t> </a:t>
            </a:r>
            <a:r>
              <a:rPr lang="en-US" altLang="ja-JP" dirty="0" err="1">
                <a:latin typeface="Arial" panose="020B0604020202020204" pitchFamily="34" charset="0"/>
              </a:rPr>
              <a:t>nữa</a:t>
            </a:r>
            <a:r>
              <a:rPr lang="en-US" altLang="ja-JP" dirty="0">
                <a:latin typeface="Arial" panose="020B0604020202020204" pitchFamily="34" charset="0"/>
              </a:rPr>
              <a:t> </a:t>
            </a:r>
            <a:r>
              <a:rPr lang="en-US" altLang="ja-JP" dirty="0" err="1">
                <a:latin typeface="Arial" panose="020B0604020202020204" pitchFamily="34" charset="0"/>
              </a:rPr>
              <a:t>thi</a:t>
            </a:r>
            <a:r>
              <a:rPr lang="en-US" altLang="ja-JP" dirty="0">
                <a:latin typeface="Arial" panose="020B0604020202020204" pitchFamily="34" charset="0"/>
              </a:rPr>
              <a:t>̀ </a:t>
            </a:r>
            <a:r>
              <a:rPr lang="en-US" altLang="ja-JP" dirty="0" err="1">
                <a:latin typeface="Arial" panose="020B0604020202020204" pitchFamily="34" charset="0"/>
              </a:rPr>
              <a:t>gán</a:t>
            </a:r>
            <a:r>
              <a:rPr lang="en-US" altLang="ja-JP" dirty="0">
                <a:latin typeface="Arial" panose="020B0604020202020204" pitchFamily="34" charset="0"/>
              </a:rPr>
              <a:t> </a:t>
            </a:r>
            <a:r>
              <a:rPr lang="en-US" altLang="ja-JP" dirty="0" err="1">
                <a:latin typeface="Arial" panose="020B0604020202020204" pitchFamily="34" charset="0"/>
              </a:rPr>
              <a:t>gia</a:t>
            </a:r>
            <a:r>
              <a:rPr lang="en-US" altLang="ja-JP" dirty="0">
                <a:latin typeface="Arial" panose="020B0604020202020204" pitchFamily="34" charset="0"/>
              </a:rPr>
              <a:t>́ trị null </a:t>
            </a:r>
            <a:r>
              <a:rPr lang="en-US" altLang="ja-JP" dirty="0" err="1">
                <a:latin typeface="Arial" panose="020B0604020202020204" pitchFamily="34" charset="0"/>
              </a:rPr>
              <a:t>vào</a:t>
            </a:r>
            <a:r>
              <a:rPr lang="en-US" altLang="ja-JP" dirty="0">
                <a:latin typeface="Arial" panose="020B0604020202020204" pitchFamily="34" charset="0"/>
              </a:rPr>
              <a:t> </a:t>
            </a:r>
            <a:r>
              <a:rPr lang="en-US" altLang="ja-JP" dirty="0" err="1">
                <a:latin typeface="Arial" panose="020B0604020202020204" pitchFamily="34" charset="0"/>
              </a:rPr>
              <a:t>biến</a:t>
            </a:r>
            <a:r>
              <a:rPr lang="en-US" altLang="ja-JP" dirty="0">
                <a:latin typeface="Arial" panose="020B0604020202020204" pitchFamily="34" charset="0"/>
              </a:rPr>
              <a:t> </a:t>
            </a:r>
            <a:r>
              <a:rPr lang="en-US" altLang="ja-JP" dirty="0" err="1">
                <a:latin typeface="Arial" panose="020B0604020202020204" pitchFamily="34" charset="0"/>
              </a:rPr>
              <a:t>dùng</a:t>
            </a:r>
            <a:r>
              <a:rPr lang="en-US" altLang="ja-JP" dirty="0">
                <a:latin typeface="Arial" panose="020B0604020202020204" pitchFamily="34" charset="0"/>
              </a:rPr>
              <a:t> </a:t>
            </a:r>
            <a:r>
              <a:rPr lang="en-US" altLang="ja-JP" dirty="0" err="1">
                <a:latin typeface="Arial" panose="020B0604020202020204" pitchFamily="34" charset="0"/>
              </a:rPr>
              <a:t>đê</a:t>
            </a:r>
            <a:r>
              <a:rPr lang="en-US" altLang="ja-JP" dirty="0">
                <a:latin typeface="Arial" panose="020B0604020202020204" pitchFamily="34" charset="0"/>
              </a:rPr>
              <a:t>̉ </a:t>
            </a:r>
            <a:r>
              <a:rPr lang="en-US" altLang="ja-JP" dirty="0" err="1">
                <a:latin typeface="Arial" panose="020B0604020202020204" pitchFamily="34" charset="0"/>
              </a:rPr>
              <a:t>thao</a:t>
            </a:r>
            <a:r>
              <a:rPr lang="en-US" altLang="ja-JP" dirty="0">
                <a:latin typeface="Arial" panose="020B0604020202020204" pitchFamily="34" charset="0"/>
              </a:rPr>
              <a:t> </a:t>
            </a:r>
            <a:r>
              <a:rPr lang="en-US" altLang="ja-JP" dirty="0" err="1">
                <a:latin typeface="Arial" panose="020B0604020202020204" pitchFamily="34" charset="0"/>
              </a:rPr>
              <a:t>tác</a:t>
            </a:r>
            <a:r>
              <a:rPr lang="en-US" altLang="ja-JP" dirty="0">
                <a:latin typeface="Arial" panose="020B0604020202020204" pitchFamily="34" charset="0"/>
              </a:rPr>
              <a:t> object.</a:t>
            </a:r>
          </a:p>
          <a:p>
            <a:pPr marL="0" indent="0" algn="just"/>
            <a:r>
              <a:rPr lang="en-US" altLang="ja-JP" dirty="0">
                <a:latin typeface="Arial" panose="020B0604020202020204" pitchFamily="34" charset="0"/>
              </a:rPr>
              <a:t> </a:t>
            </a:r>
            <a:r>
              <a:rPr lang="en-US" altLang="ja-JP" dirty="0" err="1">
                <a:latin typeface="Arial" panose="020B0604020202020204" pitchFamily="34" charset="0"/>
              </a:rPr>
              <a:t>Nếu</a:t>
            </a:r>
            <a:r>
              <a:rPr lang="en-US" altLang="ja-JP" dirty="0">
                <a:latin typeface="Arial" panose="020B0604020202020204" pitchFamily="34" charset="0"/>
              </a:rPr>
              <a:t> </a:t>
            </a:r>
            <a:r>
              <a:rPr lang="en-US" altLang="ja-JP" dirty="0" err="1">
                <a:latin typeface="Arial" panose="020B0604020202020204" pitchFamily="34" charset="0"/>
              </a:rPr>
              <a:t>gán</a:t>
            </a:r>
            <a:r>
              <a:rPr lang="en-US" altLang="ja-JP" dirty="0">
                <a:latin typeface="Arial" panose="020B0604020202020204" pitchFamily="34" charset="0"/>
              </a:rPr>
              <a:t> </a:t>
            </a:r>
            <a:r>
              <a:rPr lang="en-US" altLang="ja-JP" dirty="0" err="1">
                <a:latin typeface="Arial" panose="020B0604020202020204" pitchFamily="34" charset="0"/>
              </a:rPr>
              <a:t>gia</a:t>
            </a:r>
            <a:r>
              <a:rPr lang="en-US" altLang="ja-JP" dirty="0">
                <a:latin typeface="Arial" panose="020B0604020202020204" pitchFamily="34" charset="0"/>
              </a:rPr>
              <a:t>́ trị null </a:t>
            </a:r>
            <a:r>
              <a:rPr lang="en-US" altLang="ja-JP" dirty="0" err="1">
                <a:latin typeface="Arial" panose="020B0604020202020204" pitchFamily="34" charset="0"/>
              </a:rPr>
              <a:t>thi</a:t>
            </a:r>
            <a:r>
              <a:rPr lang="en-US" altLang="ja-JP" dirty="0">
                <a:latin typeface="Arial" panose="020B0604020202020204" pitchFamily="34" charset="0"/>
              </a:rPr>
              <a:t>̀ </a:t>
            </a:r>
            <a:r>
              <a:rPr lang="en-US" altLang="ja-JP" dirty="0" err="1">
                <a:latin typeface="Arial" panose="020B0604020202020204" pitchFamily="34" charset="0"/>
              </a:rPr>
              <a:t>không</a:t>
            </a:r>
            <a:r>
              <a:rPr lang="en-US" altLang="ja-JP" dirty="0">
                <a:latin typeface="Arial" panose="020B0604020202020204" pitchFamily="34" charset="0"/>
              </a:rPr>
              <a:t> có </a:t>
            </a:r>
            <a:r>
              <a:rPr lang="en-US" altLang="ja-JP" dirty="0" err="1">
                <a:latin typeface="Arial" panose="020B0604020202020204" pitchFamily="34" charset="0"/>
              </a:rPr>
              <a:t>nghĩa</a:t>
            </a:r>
            <a:r>
              <a:rPr lang="en-US" altLang="ja-JP" dirty="0">
                <a:latin typeface="Arial" panose="020B0604020202020204" pitchFamily="34" charset="0"/>
              </a:rPr>
              <a:t> là </a:t>
            </a:r>
            <a:r>
              <a:rPr lang="en-US" altLang="ja-JP" dirty="0" err="1">
                <a:latin typeface="Arial" panose="020B0604020202020204" pitchFamily="34" charset="0"/>
              </a:rPr>
              <a:t>vùng</a:t>
            </a:r>
            <a:r>
              <a:rPr lang="en-US" altLang="ja-JP" dirty="0">
                <a:latin typeface="Arial" panose="020B0604020202020204" pitchFamily="34" charset="0"/>
              </a:rPr>
              <a:t> </a:t>
            </a:r>
            <a:r>
              <a:rPr lang="en-US" altLang="ja-JP" dirty="0" err="1">
                <a:latin typeface="Arial" panose="020B0604020202020204" pitchFamily="34" charset="0"/>
              </a:rPr>
              <a:t>nhớ</a:t>
            </a:r>
            <a:r>
              <a:rPr lang="en-US" altLang="ja-JP" dirty="0">
                <a:latin typeface="Arial" panose="020B0604020202020204" pitchFamily="34" charset="0"/>
              </a:rPr>
              <a:t> mà object </a:t>
            </a:r>
            <a:r>
              <a:rPr lang="en-US" altLang="ja-JP" dirty="0" err="1">
                <a:latin typeface="Arial" panose="020B0604020202020204" pitchFamily="34" charset="0"/>
              </a:rPr>
              <a:t>đo</a:t>
            </a:r>
            <a:r>
              <a:rPr lang="en-US" altLang="ja-JP" dirty="0">
                <a:latin typeface="Arial" panose="020B0604020202020204" pitchFamily="34" charset="0"/>
              </a:rPr>
              <a:t>́ </a:t>
            </a:r>
            <a:r>
              <a:rPr lang="en-US" altLang="ja-JP" dirty="0" err="1">
                <a:latin typeface="Arial" panose="020B0604020202020204" pitchFamily="34" charset="0"/>
              </a:rPr>
              <a:t>đang</a:t>
            </a:r>
            <a:r>
              <a:rPr lang="en-US" altLang="ja-JP" dirty="0">
                <a:latin typeface="Arial" panose="020B0604020202020204" pitchFamily="34" charset="0"/>
              </a:rPr>
              <a:t> </a:t>
            </a:r>
            <a:r>
              <a:rPr lang="en-US" altLang="ja-JP" dirty="0" err="1">
                <a:latin typeface="Arial" panose="020B0604020202020204" pitchFamily="34" charset="0"/>
              </a:rPr>
              <a:t>sư</a:t>
            </a:r>
            <a:r>
              <a:rPr lang="en-US" altLang="ja-JP" dirty="0">
                <a:latin typeface="Arial" panose="020B0604020202020204" pitchFamily="34" charset="0"/>
              </a:rPr>
              <a:t>̉ </a:t>
            </a:r>
            <a:r>
              <a:rPr lang="en-US" altLang="ja-JP" dirty="0" err="1">
                <a:latin typeface="Arial" panose="020B0604020202020204" pitchFamily="34" charset="0"/>
              </a:rPr>
              <a:t>dụng</a:t>
            </a:r>
            <a:r>
              <a:rPr lang="en-US" altLang="ja-JP" dirty="0">
                <a:latin typeface="Arial" panose="020B0604020202020204" pitchFamily="34" charset="0"/>
              </a:rPr>
              <a:t> sẽ </a:t>
            </a:r>
            <a:r>
              <a:rPr lang="en-US" altLang="ja-JP" dirty="0" err="1">
                <a:latin typeface="Arial" panose="020B0604020202020204" pitchFamily="34" charset="0"/>
              </a:rPr>
              <a:t>được</a:t>
            </a:r>
            <a:r>
              <a:rPr lang="en-US" altLang="ja-JP" dirty="0">
                <a:latin typeface="Arial" panose="020B0604020202020204" pitchFamily="34" charset="0"/>
              </a:rPr>
              <a:t> </a:t>
            </a:r>
            <a:r>
              <a:rPr lang="en-US" altLang="ja-JP" dirty="0" err="1">
                <a:latin typeface="Arial" panose="020B0604020202020204" pitchFamily="34" charset="0"/>
              </a:rPr>
              <a:t>giải</a:t>
            </a:r>
            <a:r>
              <a:rPr lang="en-US" altLang="ja-JP" dirty="0">
                <a:latin typeface="Arial" panose="020B0604020202020204" pitchFamily="34" charset="0"/>
              </a:rPr>
              <a:t> </a:t>
            </a:r>
            <a:r>
              <a:rPr lang="en-US" altLang="ja-JP" dirty="0" err="1">
                <a:latin typeface="Arial" panose="020B0604020202020204" pitchFamily="34" charset="0"/>
              </a:rPr>
              <a:t>phóng</a:t>
            </a:r>
            <a:r>
              <a:rPr lang="en-US" altLang="ja-JP" dirty="0">
                <a:latin typeface="Arial" panose="020B0604020202020204" pitchFamily="34" charset="0"/>
              </a:rPr>
              <a:t> </a:t>
            </a:r>
            <a:r>
              <a:rPr lang="en-US" altLang="ja-JP" dirty="0" err="1">
                <a:latin typeface="Arial" panose="020B0604020202020204" pitchFamily="34" charset="0"/>
              </a:rPr>
              <a:t>ngay</a:t>
            </a:r>
            <a:r>
              <a:rPr lang="en-US" altLang="ja-JP" dirty="0">
                <a:latin typeface="Arial" panose="020B0604020202020204" pitchFamily="34" charset="0"/>
              </a:rPr>
              <a:t> </a:t>
            </a:r>
            <a:r>
              <a:rPr lang="en-US" altLang="ja-JP" dirty="0" err="1">
                <a:latin typeface="Arial" panose="020B0604020202020204" pitchFamily="34" charset="0"/>
              </a:rPr>
              <a:t>lập</a:t>
            </a:r>
            <a:r>
              <a:rPr lang="en-US" altLang="ja-JP" dirty="0">
                <a:latin typeface="Arial" panose="020B0604020202020204" pitchFamily="34" charset="0"/>
              </a:rPr>
              <a:t> </a:t>
            </a:r>
            <a:r>
              <a:rPr lang="en-US" altLang="ja-JP" dirty="0" err="1">
                <a:latin typeface="Arial" panose="020B0604020202020204" pitchFamily="34" charset="0"/>
              </a:rPr>
              <a:t>tức</a:t>
            </a:r>
            <a:r>
              <a:rPr lang="en-US" altLang="ja-JP" dirty="0">
                <a:latin typeface="Arial" panose="020B0604020202020204" pitchFamily="34" charset="0"/>
              </a:rPr>
              <a:t> </a:t>
            </a:r>
            <a:r>
              <a:rPr lang="en-US" altLang="ja-JP" dirty="0" err="1">
                <a:latin typeface="Arial" panose="020B0604020202020204" pitchFamily="34" charset="0"/>
              </a:rPr>
              <a:t>nhưng</a:t>
            </a:r>
            <a:r>
              <a:rPr lang="en-US" altLang="ja-JP" dirty="0">
                <a:latin typeface="Arial" panose="020B0604020202020204" pitchFamily="34" charset="0"/>
              </a:rPr>
              <a:t> </a:t>
            </a:r>
            <a:r>
              <a:rPr lang="en-US" altLang="ja-JP" dirty="0" err="1">
                <a:latin typeface="Arial" panose="020B0604020202020204" pitchFamily="34" charset="0"/>
              </a:rPr>
              <a:t>chức</a:t>
            </a:r>
            <a:r>
              <a:rPr lang="en-US" altLang="ja-JP" dirty="0">
                <a:latin typeface="Arial" panose="020B0604020202020204" pitchFamily="34" charset="0"/>
              </a:rPr>
              <a:t> </a:t>
            </a:r>
            <a:r>
              <a:rPr lang="en-US" altLang="ja-JP" dirty="0" err="1">
                <a:latin typeface="Arial" panose="020B0604020202020204" pitchFamily="34" charset="0"/>
              </a:rPr>
              <a:t>năng</a:t>
            </a:r>
            <a:r>
              <a:rPr lang="en-US" altLang="ja-JP" dirty="0">
                <a:latin typeface="Arial" panose="020B0604020202020204" pitchFamily="34" charset="0"/>
              </a:rPr>
              <a:t> garbage collector sẽ </a:t>
            </a:r>
            <a:r>
              <a:rPr lang="en-US" altLang="ja-JP" dirty="0" err="1">
                <a:latin typeface="Arial" panose="020B0604020202020204" pitchFamily="34" charset="0"/>
              </a:rPr>
              <a:t>giúp</a:t>
            </a:r>
            <a:r>
              <a:rPr lang="en-US" altLang="ja-JP" dirty="0">
                <a:latin typeface="Arial" panose="020B0604020202020204" pitchFamily="34" charset="0"/>
              </a:rPr>
              <a:t> </a:t>
            </a:r>
            <a:r>
              <a:rPr lang="en-US" altLang="ja-JP" dirty="0" err="1">
                <a:latin typeface="Arial" panose="020B0604020202020204" pitchFamily="34" charset="0"/>
              </a:rPr>
              <a:t>tiến</a:t>
            </a:r>
            <a:r>
              <a:rPr lang="en-US" altLang="ja-JP" dirty="0">
                <a:latin typeface="Arial" panose="020B0604020202020204" pitchFamily="34" charset="0"/>
              </a:rPr>
              <a:t> </a:t>
            </a:r>
            <a:r>
              <a:rPr lang="en-US" altLang="ja-JP" dirty="0" err="1">
                <a:latin typeface="Arial" panose="020B0604020202020204" pitchFamily="34" charset="0"/>
              </a:rPr>
              <a:t>hành</a:t>
            </a:r>
            <a:r>
              <a:rPr lang="en-US" altLang="ja-JP" dirty="0">
                <a:latin typeface="Arial" panose="020B0604020202020204" pitchFamily="34" charset="0"/>
              </a:rPr>
              <a:t> </a:t>
            </a:r>
            <a:r>
              <a:rPr lang="en-US" altLang="ja-JP" dirty="0" err="1">
                <a:latin typeface="Arial" panose="020B0604020202020204" pitchFamily="34" charset="0"/>
              </a:rPr>
              <a:t>giải</a:t>
            </a:r>
            <a:r>
              <a:rPr lang="en-US" altLang="ja-JP" dirty="0">
                <a:latin typeface="Arial" panose="020B0604020202020204" pitchFamily="34" charset="0"/>
              </a:rPr>
              <a:t> </a:t>
            </a:r>
            <a:r>
              <a:rPr lang="en-US" altLang="ja-JP" dirty="0" err="1">
                <a:latin typeface="Arial" panose="020B0604020202020204" pitchFamily="34" charset="0"/>
              </a:rPr>
              <a:t>phóng</a:t>
            </a:r>
            <a:r>
              <a:rPr lang="en-US" altLang="ja-JP" dirty="0">
                <a:latin typeface="Arial" panose="020B0604020202020204" pitchFamily="34" charset="0"/>
              </a:rPr>
              <a:t> </a:t>
            </a:r>
            <a:r>
              <a:rPr lang="en-US" altLang="ja-JP" dirty="0" err="1">
                <a:latin typeface="Arial" panose="020B0604020202020204" pitchFamily="34" charset="0"/>
              </a:rPr>
              <a:t>vùng</a:t>
            </a:r>
            <a:r>
              <a:rPr lang="en-US" altLang="ja-JP" dirty="0">
                <a:latin typeface="Arial" panose="020B0604020202020204" pitchFamily="34" charset="0"/>
              </a:rPr>
              <a:t> </a:t>
            </a:r>
            <a:r>
              <a:rPr lang="en-US" altLang="ja-JP" dirty="0" err="1">
                <a:latin typeface="Arial" panose="020B0604020202020204" pitchFamily="34" charset="0"/>
              </a:rPr>
              <a:t>nhớ</a:t>
            </a:r>
            <a:r>
              <a:rPr lang="en-US" altLang="ja-JP" dirty="0">
                <a:latin typeface="Arial" panose="020B0604020202020204" pitchFamily="34" charset="0"/>
              </a:rPr>
              <a:t> </a:t>
            </a:r>
            <a:r>
              <a:rPr lang="en-US" altLang="ja-JP" dirty="0" err="1">
                <a:latin typeface="Arial" panose="020B0604020202020204" pitchFamily="34" charset="0"/>
              </a:rPr>
              <a:t>nào</a:t>
            </a:r>
            <a:r>
              <a:rPr lang="en-US" altLang="ja-JP" dirty="0">
                <a:latin typeface="Arial" panose="020B0604020202020204" pitchFamily="34" charset="0"/>
              </a:rPr>
              <a:t> </a:t>
            </a:r>
            <a:r>
              <a:rPr lang="en-US" altLang="ja-JP" dirty="0" err="1">
                <a:latin typeface="Arial" panose="020B0604020202020204" pitchFamily="34" charset="0"/>
              </a:rPr>
              <a:t>đo</a:t>
            </a:r>
            <a:r>
              <a:rPr lang="en-US" altLang="ja-JP" dirty="0">
                <a:latin typeface="Arial" panose="020B0604020202020204" pitchFamily="34" charset="0"/>
              </a:rPr>
              <a:t>́ mà object </a:t>
            </a:r>
            <a:r>
              <a:rPr lang="en-US" altLang="ja-JP" dirty="0" err="1">
                <a:latin typeface="Arial" panose="020B0604020202020204" pitchFamily="34" charset="0"/>
              </a:rPr>
              <a:t>không</a:t>
            </a:r>
            <a:r>
              <a:rPr lang="en-US" altLang="ja-JP" dirty="0">
                <a:latin typeface="Arial" panose="020B0604020202020204" pitchFamily="34" charset="0"/>
              </a:rPr>
              <a:t> </a:t>
            </a:r>
            <a:r>
              <a:rPr lang="en-US" altLang="ja-JP" dirty="0" err="1">
                <a:latin typeface="Arial" panose="020B0604020202020204" pitchFamily="34" charset="0"/>
              </a:rPr>
              <a:t>được</a:t>
            </a:r>
            <a:r>
              <a:rPr lang="en-US" altLang="ja-JP" dirty="0">
                <a:latin typeface="Arial" panose="020B0604020202020204" pitchFamily="34" charset="0"/>
              </a:rPr>
              <a:t> </a:t>
            </a:r>
            <a:r>
              <a:rPr lang="en-US" altLang="ja-JP" dirty="0" err="1">
                <a:latin typeface="Arial" panose="020B0604020202020204" pitchFamily="34" charset="0"/>
              </a:rPr>
              <a:t>tham</a:t>
            </a:r>
            <a:r>
              <a:rPr lang="en-US" altLang="ja-JP" dirty="0">
                <a:latin typeface="Arial" panose="020B0604020202020204" pitchFamily="34" charset="0"/>
              </a:rPr>
              <a:t> </a:t>
            </a:r>
            <a:r>
              <a:rPr lang="en-US" altLang="ja-JP" dirty="0" err="1">
                <a:latin typeface="Arial" panose="020B0604020202020204" pitchFamily="34" charset="0"/>
              </a:rPr>
              <a:t>chiếu</a:t>
            </a:r>
            <a:r>
              <a:rPr lang="en-US" altLang="ja-JP" dirty="0">
                <a:latin typeface="Arial" panose="020B0604020202020204" pitchFamily="34" charset="0"/>
              </a:rPr>
              <a:t> </a:t>
            </a:r>
            <a:r>
              <a:rPr lang="en-US" altLang="ja-JP" dirty="0" err="1">
                <a:latin typeface="Arial" panose="020B0604020202020204" pitchFamily="34" charset="0"/>
              </a:rPr>
              <a:t>tư</a:t>
            </a:r>
            <a:r>
              <a:rPr lang="en-US" altLang="ja-JP" dirty="0">
                <a:latin typeface="Arial" panose="020B0604020202020204" pitchFamily="34" charset="0"/>
              </a:rPr>
              <a:t>̀ </a:t>
            </a:r>
            <a:r>
              <a:rPr lang="en-US" altLang="ja-JP" dirty="0" err="1">
                <a:latin typeface="Arial" panose="020B0604020202020204" pitchFamily="34" charset="0"/>
              </a:rPr>
              <a:t>bất</a:t>
            </a:r>
            <a:r>
              <a:rPr lang="en-US" altLang="ja-JP" dirty="0">
                <a:latin typeface="Arial" panose="020B0604020202020204" pitchFamily="34" charset="0"/>
              </a:rPr>
              <a:t> </a:t>
            </a:r>
            <a:r>
              <a:rPr lang="en-US" altLang="ja-JP" dirty="0" err="1">
                <a:latin typeface="Arial" panose="020B0604020202020204" pitchFamily="34" charset="0"/>
              </a:rPr>
              <a:t>ky</a:t>
            </a:r>
            <a:r>
              <a:rPr lang="en-US" altLang="ja-JP" dirty="0">
                <a:latin typeface="Arial" panose="020B0604020202020204" pitchFamily="34" charset="0"/>
              </a:rPr>
              <a:t>̀ </a:t>
            </a:r>
            <a:r>
              <a:rPr lang="en-US" altLang="ja-JP" dirty="0" err="1">
                <a:latin typeface="Arial" panose="020B0604020202020204" pitchFamily="34" charset="0"/>
              </a:rPr>
              <a:t>đâu</a:t>
            </a:r>
            <a:r>
              <a:rPr lang="en-US" altLang="ja-JP" dirty="0">
                <a:latin typeface="Arial" panose="020B0604020202020204" pitchFamily="34" charset="0"/>
              </a:rPr>
              <a:t> </a:t>
            </a:r>
            <a:r>
              <a:rPr lang="en-US" altLang="ja-JP" dirty="0" err="1">
                <a:latin typeface="Arial" panose="020B0604020202020204" pitchFamily="34" charset="0"/>
              </a:rPr>
              <a:t>đang</a:t>
            </a:r>
            <a:r>
              <a:rPr lang="en-US" altLang="ja-JP" dirty="0">
                <a:latin typeface="Arial" panose="020B0604020202020204" pitchFamily="34" charset="0"/>
              </a:rPr>
              <a:t> </a:t>
            </a:r>
            <a:r>
              <a:rPr lang="en-US" altLang="ja-JP" dirty="0" err="1">
                <a:latin typeface="Arial" panose="020B0604020202020204" pitchFamily="34" charset="0"/>
              </a:rPr>
              <a:t>sư</a:t>
            </a:r>
            <a:r>
              <a:rPr lang="en-US" altLang="ja-JP" dirty="0">
                <a:latin typeface="Arial" panose="020B0604020202020204" pitchFamily="34" charset="0"/>
              </a:rPr>
              <a:t>̉ </a:t>
            </a:r>
            <a:r>
              <a:rPr lang="en-US" altLang="ja-JP" dirty="0" err="1">
                <a:latin typeface="Arial" panose="020B0604020202020204" pitchFamily="34" charset="0"/>
              </a:rPr>
              <a:t>dụng</a:t>
            </a:r>
            <a:r>
              <a:rPr lang="en-US" altLang="ja-JP" dirty="0">
                <a:latin typeface="Arial" panose="020B0604020202020204" pitchFamily="34" charset="0"/>
              </a:rPr>
              <a:t>.</a:t>
            </a:r>
          </a:p>
          <a:p>
            <a:pPr marL="0" indent="0" algn="just"/>
            <a:r>
              <a:rPr lang="ja-JP" altLang="en-US" dirty="0">
                <a:latin typeface="Arial" panose="020B0604020202020204" pitchFamily="34" charset="0"/>
              </a:rPr>
              <a:t>　</a:t>
            </a:r>
            <a:r>
              <a:rPr lang="en-US" altLang="ja-JP" dirty="0">
                <a:latin typeface="Arial" panose="020B0604020202020204" pitchFamily="34" charset="0"/>
              </a:rPr>
              <a:t>Ví </a:t>
            </a:r>
            <a:r>
              <a:rPr lang="en-US" altLang="ja-JP" dirty="0" err="1">
                <a:latin typeface="Arial" panose="020B0604020202020204" pitchFamily="34" charset="0"/>
              </a:rPr>
              <a:t>dụ</a:t>
            </a:r>
            <a:r>
              <a:rPr lang="en-US" altLang="ja-JP" dirty="0">
                <a:latin typeface="Arial" panose="020B0604020202020204" pitchFamily="34" charset="0"/>
              </a:rPr>
              <a:t>:</a:t>
            </a:r>
            <a:endParaRPr lang="ja-JP" altLang="en-US" dirty="0">
              <a:latin typeface="Arial" panose="020B0604020202020204" pitchFamily="34" charset="0"/>
            </a:endParaRPr>
          </a:p>
          <a:p>
            <a:pPr marL="0" indent="0" algn="just"/>
            <a:endParaRPr lang="ja-JP" altLang="en-US" dirty="0">
              <a:latin typeface="Arial" panose="020B0604020202020204" pitchFamily="34" charset="0"/>
            </a:endParaRPr>
          </a:p>
          <a:p>
            <a:pPr marL="0" indent="0" algn="just"/>
            <a:endParaRPr lang="ja-JP" altLang="en-US" dirty="0">
              <a:latin typeface="Arial" panose="020B0604020202020204" pitchFamily="34" charset="0"/>
            </a:endParaRPr>
          </a:p>
          <a:p>
            <a:pPr marL="0" indent="0" algn="just"/>
            <a:endParaRPr lang="en-US" altLang="ja-JP" dirty="0">
              <a:latin typeface="Arial" panose="020B0604020202020204" pitchFamily="34" charset="0"/>
            </a:endParaRPr>
          </a:p>
          <a:p>
            <a:pPr algn="just"/>
            <a:endParaRPr lang="ja-JP" altLang="en-US" dirty="0"/>
          </a:p>
        </p:txBody>
      </p:sp>
      <p:sp>
        <p:nvSpPr>
          <p:cNvPr id="5" name="Slide Number Placeholder 4">
            <a:extLst>
              <a:ext uri="{FF2B5EF4-FFF2-40B4-BE49-F238E27FC236}">
                <a16:creationId xmlns:a16="http://schemas.microsoft.com/office/drawing/2014/main" id="{1A0E78CD-C878-CE61-A7F1-1407A55AF44E}"/>
              </a:ext>
            </a:extLst>
          </p:cNvPr>
          <p:cNvSpPr>
            <a:spLocks noGrp="1"/>
          </p:cNvSpPr>
          <p:nvPr>
            <p:ph type="sldNum" sz="quarter" idx="11"/>
          </p:nvPr>
        </p:nvSpPr>
        <p:spPr/>
        <p:txBody>
          <a:bodyPr/>
          <a:lstStyle/>
          <a:p>
            <a:fld id="{4AC556BE-C330-47A4-A283-5CF881B2E858}" type="slidenum">
              <a:rPr lang="en-US" altLang="ja-JP" smtClean="0"/>
              <a:pPr/>
              <a:t>14</a:t>
            </a:fld>
            <a:endParaRPr lang="en-US" altLang="ja-JP"/>
          </a:p>
        </p:txBody>
      </p:sp>
      <p:grpSp>
        <p:nvGrpSpPr>
          <p:cNvPr id="30" name="Group 39">
            <a:extLst>
              <a:ext uri="{FF2B5EF4-FFF2-40B4-BE49-F238E27FC236}">
                <a16:creationId xmlns:a16="http://schemas.microsoft.com/office/drawing/2014/main" id="{DDB5E96C-366B-C69A-6C89-E02D6CE8D91A}"/>
              </a:ext>
            </a:extLst>
          </p:cNvPr>
          <p:cNvGrpSpPr>
            <a:grpSpLocks/>
          </p:cNvGrpSpPr>
          <p:nvPr/>
        </p:nvGrpSpPr>
        <p:grpSpPr bwMode="auto">
          <a:xfrm>
            <a:off x="4187825" y="2259013"/>
            <a:ext cx="2498725" cy="1736725"/>
            <a:chOff x="539" y="5113"/>
            <a:chExt cx="1574" cy="1094"/>
          </a:xfrm>
        </p:grpSpPr>
        <p:sp>
          <p:nvSpPr>
            <p:cNvPr id="31" name="Cloud">
              <a:extLst>
                <a:ext uri="{FF2B5EF4-FFF2-40B4-BE49-F238E27FC236}">
                  <a16:creationId xmlns:a16="http://schemas.microsoft.com/office/drawing/2014/main" id="{B31778DB-1745-B0A8-FE71-98592EA86531}"/>
                </a:ext>
              </a:extLst>
            </p:cNvPr>
            <p:cNvSpPr>
              <a:spLocks noChangeAspect="1" noEditPoints="1" noChangeArrowheads="1"/>
            </p:cNvSpPr>
            <p:nvPr/>
          </p:nvSpPr>
          <p:spPr bwMode="auto">
            <a:xfrm>
              <a:off x="539" y="5113"/>
              <a:ext cx="1574" cy="109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lIns="91410" tIns="9716" rIns="91410" bIns="971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ja-JP" altLang="ja-JP">
                <a:ea typeface="MS UI Gothic" panose="020B0600070205080204" pitchFamily="50" charset="-128"/>
              </a:endParaRPr>
            </a:p>
          </p:txBody>
        </p:sp>
        <p:grpSp>
          <p:nvGrpSpPr>
            <p:cNvPr id="32" name="Group 38">
              <a:extLst>
                <a:ext uri="{FF2B5EF4-FFF2-40B4-BE49-F238E27FC236}">
                  <a16:creationId xmlns:a16="http://schemas.microsoft.com/office/drawing/2014/main" id="{368B1557-D3F3-F060-D633-1A343A55F8D2}"/>
                </a:ext>
              </a:extLst>
            </p:cNvPr>
            <p:cNvGrpSpPr>
              <a:grpSpLocks/>
            </p:cNvGrpSpPr>
            <p:nvPr/>
          </p:nvGrpSpPr>
          <p:grpSpPr bwMode="auto">
            <a:xfrm>
              <a:off x="796" y="5275"/>
              <a:ext cx="982" cy="757"/>
              <a:chOff x="796" y="5275"/>
              <a:chExt cx="982" cy="757"/>
            </a:xfrm>
          </p:grpSpPr>
          <p:sp>
            <p:nvSpPr>
              <p:cNvPr id="33" name="Text Box 9">
                <a:extLst>
                  <a:ext uri="{FF2B5EF4-FFF2-40B4-BE49-F238E27FC236}">
                    <a16:creationId xmlns:a16="http://schemas.microsoft.com/office/drawing/2014/main" id="{406A81F4-A491-DC69-A528-2D6E6DB52053}"/>
                  </a:ext>
                </a:extLst>
              </p:cNvPr>
              <p:cNvSpPr txBox="1">
                <a:spLocks noChangeArrowheads="1"/>
              </p:cNvSpPr>
              <p:nvPr/>
            </p:nvSpPr>
            <p:spPr bwMode="auto">
              <a:xfrm>
                <a:off x="796" y="5275"/>
                <a:ext cx="982" cy="757"/>
              </a:xfrm>
              <a:prstGeom prst="rect">
                <a:avLst/>
              </a:prstGeom>
              <a:noFill/>
              <a:ln w="12700">
                <a:solidFill>
                  <a:srgbClr val="80808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ja-JP" altLang="ja-JP" sz="800" b="0">
                    <a:latin typeface="ＭＳ ゴシック" panose="020B0609070205080204" pitchFamily="49" charset="-128"/>
                    <a:ea typeface="ＭＳ ゴシック" panose="020B0609070205080204" pitchFamily="49" charset="-128"/>
                  </a:rPr>
                  <a:t>　lastName</a:t>
                </a:r>
              </a:p>
              <a:p>
                <a:pPr algn="just">
                  <a:spcBef>
                    <a:spcPct val="50000"/>
                  </a:spcBef>
                </a:pPr>
                <a:r>
                  <a:rPr lang="ja-JP" altLang="ja-JP" sz="800" b="0">
                    <a:latin typeface="ＭＳ ゴシック" panose="020B0609070205080204" pitchFamily="49" charset="-128"/>
                    <a:ea typeface="ＭＳ ゴシック" panose="020B0609070205080204" pitchFamily="49" charset="-128"/>
                  </a:rPr>
                  <a:t>　firstName </a:t>
                </a:r>
                <a:endParaRPr lang="en-US" altLang="ja-JP" sz="800" b="0">
                  <a:latin typeface="ＭＳ ゴシック" panose="020B0609070205080204" pitchFamily="49" charset="-128"/>
                  <a:ea typeface="ＭＳ ゴシック" panose="020B0609070205080204" pitchFamily="49" charset="-128"/>
                </a:endParaRPr>
              </a:p>
              <a:p>
                <a:pPr algn="just">
                  <a:spcBef>
                    <a:spcPct val="20000"/>
                  </a:spcBef>
                </a:pPr>
                <a:r>
                  <a:rPr lang="ja-JP" altLang="ja-JP" sz="800" b="0">
                    <a:latin typeface="ＭＳ ゴシック" panose="020B0609070205080204" pitchFamily="49" charset="-128"/>
                    <a:ea typeface="ＭＳ ゴシック" panose="020B0609070205080204" pitchFamily="49" charset="-128"/>
                  </a:rPr>
                  <a:t>　age</a:t>
                </a:r>
                <a:endParaRPr lang="en-US" altLang="ja-JP" sz="800" b="0">
                  <a:latin typeface="ＭＳ ゴシック" panose="020B0609070205080204" pitchFamily="49" charset="-128"/>
                  <a:ea typeface="ＭＳ ゴシック" panose="020B0609070205080204" pitchFamily="49" charset="-128"/>
                </a:endParaRPr>
              </a:p>
              <a:p>
                <a:pPr algn="just">
                  <a:lnSpc>
                    <a:spcPct val="50000"/>
                  </a:lnSpc>
                </a:pPr>
                <a:r>
                  <a:rPr lang="ja-JP" altLang="ja-JP" sz="800" b="0">
                    <a:latin typeface="ＭＳ ゴシック" panose="020B0609070205080204" pitchFamily="49" charset="-128"/>
                    <a:ea typeface="ＭＳ ゴシック" panose="020B0609070205080204" pitchFamily="49" charset="-128"/>
                  </a:rPr>
                  <a:t>　</a:t>
                </a:r>
                <a:endParaRPr lang="ja-JP" altLang="en-US" sz="800" b="0">
                  <a:latin typeface="ＭＳ ゴシック" panose="020B0609070205080204" pitchFamily="49" charset="-128"/>
                  <a:ea typeface="ＭＳ ゴシック" panose="020B0609070205080204" pitchFamily="49" charset="-128"/>
                </a:endParaRPr>
              </a:p>
              <a:p>
                <a:pPr algn="just"/>
                <a:r>
                  <a:rPr lang="ja-JP" altLang="en-US" sz="800" b="0">
                    <a:latin typeface="ＭＳ ゴシック" panose="020B0609070205080204" pitchFamily="49" charset="-128"/>
                    <a:ea typeface="ＭＳ ゴシック" panose="020B0609070205080204" pitchFamily="49" charset="-128"/>
                  </a:rPr>
                  <a:t>  </a:t>
                </a:r>
                <a:r>
                  <a:rPr lang="ja-JP" altLang="ja-JP" sz="800" b="0">
                    <a:latin typeface="ＭＳ ゴシック" panose="020B0609070205080204" pitchFamily="49" charset="-128"/>
                    <a:ea typeface="ＭＳ ゴシック" panose="020B0609070205080204" pitchFamily="49" charset="-128"/>
                  </a:rPr>
                  <a:t>Person()</a:t>
                </a:r>
              </a:p>
              <a:p>
                <a:pPr algn="just"/>
                <a:r>
                  <a:rPr lang="ja-JP" altLang="ja-JP" sz="800" b="0">
                    <a:latin typeface="ＭＳ ゴシック" panose="020B0609070205080204" pitchFamily="49" charset="-128"/>
                    <a:ea typeface="ＭＳ ゴシック" panose="020B0609070205080204" pitchFamily="49" charset="-128"/>
                  </a:rPr>
                  <a:t>　Person(…)</a:t>
                </a:r>
              </a:p>
              <a:p>
                <a:pPr algn="just"/>
                <a:r>
                  <a:rPr lang="ja-JP" altLang="ja-JP" sz="800" b="0">
                    <a:latin typeface="ＭＳ ゴシック" panose="020B0609070205080204" pitchFamily="49" charset="-128"/>
                    <a:ea typeface="ＭＳ ゴシック" panose="020B0609070205080204" pitchFamily="49" charset="-128"/>
                  </a:rPr>
                  <a:t>　setLastName(l:String):void</a:t>
                </a:r>
              </a:p>
              <a:p>
                <a:pPr algn="just"/>
                <a:r>
                  <a:rPr lang="ja-JP" altLang="ja-JP" sz="800" b="0">
                    <a:latin typeface="ＭＳ ゴシック" panose="020B0609070205080204" pitchFamily="49" charset="-128"/>
                    <a:ea typeface="ＭＳ ゴシック" panose="020B0609070205080204" pitchFamily="49" charset="-128"/>
                  </a:rPr>
                  <a:t>　getFullName():String</a:t>
                </a:r>
              </a:p>
              <a:p>
                <a:pPr algn="just"/>
                <a:r>
                  <a:rPr lang="ja-JP" altLang="ja-JP" sz="800" b="0">
                    <a:latin typeface="ＭＳ ゴシック" panose="020B0609070205080204" pitchFamily="49" charset="-128"/>
                    <a:ea typeface="ＭＳ ゴシック" panose="020B0609070205080204" pitchFamily="49" charset="-128"/>
                  </a:rPr>
                  <a:t>　printInfo():void</a:t>
                </a:r>
              </a:p>
            </p:txBody>
          </p:sp>
          <p:sp>
            <p:nvSpPr>
              <p:cNvPr id="34" name="Line 10">
                <a:extLst>
                  <a:ext uri="{FF2B5EF4-FFF2-40B4-BE49-F238E27FC236}">
                    <a16:creationId xmlns:a16="http://schemas.microsoft.com/office/drawing/2014/main" id="{207F103E-E3D0-4F77-B4B1-71DE598B60D7}"/>
                  </a:ext>
                </a:extLst>
              </p:cNvPr>
              <p:cNvSpPr>
                <a:spLocks noChangeShapeType="1"/>
              </p:cNvSpPr>
              <p:nvPr/>
            </p:nvSpPr>
            <p:spPr bwMode="auto">
              <a:xfrm>
                <a:off x="800" y="5619"/>
                <a:ext cx="978" cy="1"/>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35" name="Rectangle 11">
                <a:extLst>
                  <a:ext uri="{FF2B5EF4-FFF2-40B4-BE49-F238E27FC236}">
                    <a16:creationId xmlns:a16="http://schemas.microsoft.com/office/drawing/2014/main" id="{DD7F1463-3FCA-DF25-428A-8402B6DCEDF1}"/>
                  </a:ext>
                </a:extLst>
              </p:cNvPr>
              <p:cNvSpPr>
                <a:spLocks noChangeArrowheads="1"/>
              </p:cNvSpPr>
              <p:nvPr/>
            </p:nvSpPr>
            <p:spPr bwMode="auto">
              <a:xfrm>
                <a:off x="1275" y="5529"/>
                <a:ext cx="329" cy="83"/>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800" b="0">
                    <a:latin typeface="MS UI Gothic" panose="020B0600070205080204" pitchFamily="50" charset="-128"/>
                    <a:ea typeface="MS UI Gothic" panose="020B0600070205080204" pitchFamily="50" charset="-128"/>
                  </a:rPr>
                  <a:t>20</a:t>
                </a:r>
                <a:endParaRPr lang="en-US" altLang="ja-JP" sz="800">
                  <a:latin typeface="MS UI Gothic" panose="020B0600070205080204" pitchFamily="50" charset="-128"/>
                  <a:ea typeface="MS UI Gothic" panose="020B0600070205080204" pitchFamily="50" charset="-128"/>
                </a:endParaRPr>
              </a:p>
            </p:txBody>
          </p:sp>
          <p:sp>
            <p:nvSpPr>
              <p:cNvPr id="36" name="Rectangle 12">
                <a:extLst>
                  <a:ext uri="{FF2B5EF4-FFF2-40B4-BE49-F238E27FC236}">
                    <a16:creationId xmlns:a16="http://schemas.microsoft.com/office/drawing/2014/main" id="{FD8AE945-C4CC-9AE2-59C9-20590A58FE85}"/>
                  </a:ext>
                </a:extLst>
              </p:cNvPr>
              <p:cNvSpPr>
                <a:spLocks noChangeArrowheads="1"/>
              </p:cNvSpPr>
              <p:nvPr/>
            </p:nvSpPr>
            <p:spPr bwMode="auto">
              <a:xfrm>
                <a:off x="1275" y="5423"/>
                <a:ext cx="331" cy="89"/>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80000"/>
                  </a:lnSpc>
                </a:pPr>
                <a:r>
                  <a:rPr lang="en-US" altLang="ja-JP" sz="800" b="0">
                    <a:ea typeface="MS UI Gothic" panose="020B0600070205080204" pitchFamily="50" charset="-128"/>
                  </a:rPr>
                  <a:t>Ko có tên</a:t>
                </a:r>
              </a:p>
            </p:txBody>
          </p:sp>
          <p:sp>
            <p:nvSpPr>
              <p:cNvPr id="37" name="Rectangle 13">
                <a:extLst>
                  <a:ext uri="{FF2B5EF4-FFF2-40B4-BE49-F238E27FC236}">
                    <a16:creationId xmlns:a16="http://schemas.microsoft.com/office/drawing/2014/main" id="{FB10F4A3-9620-1F4C-3C83-0E90F614CE7A}"/>
                  </a:ext>
                </a:extLst>
              </p:cNvPr>
              <p:cNvSpPr>
                <a:spLocks noChangeArrowheads="1"/>
              </p:cNvSpPr>
              <p:nvPr/>
            </p:nvSpPr>
            <p:spPr bwMode="auto">
              <a:xfrm>
                <a:off x="1275" y="5310"/>
                <a:ext cx="335" cy="90"/>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800" b="0">
                    <a:ea typeface="MS UI Gothic" panose="020B0600070205080204" pitchFamily="50" charset="-128"/>
                  </a:rPr>
                  <a:t>Ko có họ</a:t>
                </a:r>
                <a:endParaRPr lang="en-US" altLang="ja-JP" sz="800">
                  <a:ea typeface="MS UI Gothic" panose="020B0600070205080204" pitchFamily="50" charset="-128"/>
                </a:endParaRPr>
              </a:p>
            </p:txBody>
          </p:sp>
        </p:grpSp>
      </p:grpSp>
      <p:sp>
        <p:nvSpPr>
          <p:cNvPr id="38" name="Text Box 14">
            <a:extLst>
              <a:ext uri="{FF2B5EF4-FFF2-40B4-BE49-F238E27FC236}">
                <a16:creationId xmlns:a16="http://schemas.microsoft.com/office/drawing/2014/main" id="{6A5BF76F-91C8-42C9-4737-DF50A66F1DBD}"/>
              </a:ext>
            </a:extLst>
          </p:cNvPr>
          <p:cNvSpPr txBox="1">
            <a:spLocks noChangeArrowheads="1"/>
          </p:cNvSpPr>
          <p:nvPr/>
        </p:nvSpPr>
        <p:spPr bwMode="auto">
          <a:xfrm>
            <a:off x="4641849" y="1600200"/>
            <a:ext cx="1454151"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err="1">
                <a:ea typeface="MS UI Gothic" panose="020B0600070205080204" pitchFamily="50" charset="-128"/>
              </a:rPr>
              <a:t>Biến</a:t>
            </a:r>
            <a:r>
              <a:rPr lang="ja-JP" altLang="en-US" b="0" dirty="0">
                <a:latin typeface="MS UI Gothic" panose="020B0600070205080204" pitchFamily="50" charset="-128"/>
                <a:ea typeface="MS UI Gothic" panose="020B0600070205080204" pitchFamily="50" charset="-128"/>
              </a:rPr>
              <a:t>　</a:t>
            </a:r>
            <a:r>
              <a:rPr lang="en-US" altLang="ja-JP" b="0" dirty="0" err="1">
                <a:latin typeface="MS UI Gothic" panose="020B0600070205080204" pitchFamily="50" charset="-128"/>
                <a:ea typeface="MS UI Gothic" panose="020B0600070205080204" pitchFamily="50" charset="-128"/>
              </a:rPr>
              <a:t>personA</a:t>
            </a:r>
            <a:endParaRPr lang="en-US" altLang="ja-JP" dirty="0">
              <a:latin typeface="MS UI Gothic" panose="020B0600070205080204" pitchFamily="50" charset="-128"/>
              <a:ea typeface="MS UI Gothic" panose="020B0600070205080204" pitchFamily="50" charset="-128"/>
            </a:endParaRPr>
          </a:p>
        </p:txBody>
      </p:sp>
      <p:sp>
        <p:nvSpPr>
          <p:cNvPr id="39" name="Cloud">
            <a:extLst>
              <a:ext uri="{FF2B5EF4-FFF2-40B4-BE49-F238E27FC236}">
                <a16:creationId xmlns:a16="http://schemas.microsoft.com/office/drawing/2014/main" id="{FD12D472-C740-F8E1-AE5D-D58FA15319E2}"/>
              </a:ext>
            </a:extLst>
          </p:cNvPr>
          <p:cNvSpPr>
            <a:spLocks noChangeAspect="1" noEditPoints="1" noChangeArrowheads="1"/>
          </p:cNvSpPr>
          <p:nvPr/>
        </p:nvSpPr>
        <p:spPr bwMode="auto">
          <a:xfrm>
            <a:off x="7439025" y="2386013"/>
            <a:ext cx="2314575" cy="170973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lIns="91410" tIns="9716" rIns="91410" bIns="971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ja-JP" altLang="ja-JP">
              <a:ea typeface="MS UI Gothic" panose="020B0600070205080204" pitchFamily="50" charset="-128"/>
            </a:endParaRPr>
          </a:p>
        </p:txBody>
      </p:sp>
      <p:sp>
        <p:nvSpPr>
          <p:cNvPr id="40" name="Text Box 18">
            <a:extLst>
              <a:ext uri="{FF2B5EF4-FFF2-40B4-BE49-F238E27FC236}">
                <a16:creationId xmlns:a16="http://schemas.microsoft.com/office/drawing/2014/main" id="{10D94388-F70E-12AF-646E-EBA6D1FD96A4}"/>
              </a:ext>
            </a:extLst>
          </p:cNvPr>
          <p:cNvSpPr txBox="1">
            <a:spLocks noChangeArrowheads="1"/>
          </p:cNvSpPr>
          <p:nvPr/>
        </p:nvSpPr>
        <p:spPr bwMode="auto">
          <a:xfrm>
            <a:off x="7847012" y="2638425"/>
            <a:ext cx="1558925" cy="1182688"/>
          </a:xfrm>
          <a:prstGeom prst="rect">
            <a:avLst/>
          </a:prstGeom>
          <a:noFill/>
          <a:ln w="12700">
            <a:solidFill>
              <a:srgbClr val="80808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ja-JP" altLang="ja-JP" sz="800" b="0" dirty="0">
                <a:latin typeface="ＭＳ ゴシック" panose="020B0609070205080204" pitchFamily="49" charset="-128"/>
                <a:ea typeface="ＭＳ ゴシック" panose="020B0609070205080204" pitchFamily="49" charset="-128"/>
              </a:rPr>
              <a:t>　lastName</a:t>
            </a:r>
          </a:p>
          <a:p>
            <a:pPr algn="just">
              <a:spcBef>
                <a:spcPct val="50000"/>
              </a:spcBef>
            </a:pPr>
            <a:r>
              <a:rPr lang="ja-JP" altLang="ja-JP" sz="800" b="0" dirty="0">
                <a:latin typeface="ＭＳ ゴシック" panose="020B0609070205080204" pitchFamily="49" charset="-128"/>
                <a:ea typeface="ＭＳ ゴシック" panose="020B0609070205080204" pitchFamily="49" charset="-128"/>
              </a:rPr>
              <a:t>　firstName </a:t>
            </a:r>
            <a:endParaRPr lang="en-US" altLang="ja-JP" sz="800" b="0" dirty="0">
              <a:latin typeface="ＭＳ ゴシック" panose="020B0609070205080204" pitchFamily="49" charset="-128"/>
              <a:ea typeface="ＭＳ ゴシック" panose="020B0609070205080204" pitchFamily="49" charset="-128"/>
            </a:endParaRPr>
          </a:p>
          <a:p>
            <a:pPr algn="just">
              <a:spcBef>
                <a:spcPct val="20000"/>
              </a:spcBef>
            </a:pPr>
            <a:r>
              <a:rPr lang="ja-JP" altLang="ja-JP" sz="800" b="0" dirty="0">
                <a:latin typeface="ＭＳ ゴシック" panose="020B0609070205080204" pitchFamily="49" charset="-128"/>
                <a:ea typeface="ＭＳ ゴシック" panose="020B0609070205080204" pitchFamily="49" charset="-128"/>
              </a:rPr>
              <a:t>　age</a:t>
            </a:r>
            <a:endParaRPr lang="en-US" altLang="ja-JP" sz="800" b="0" dirty="0">
              <a:latin typeface="ＭＳ ゴシック" panose="020B0609070205080204" pitchFamily="49" charset="-128"/>
              <a:ea typeface="ＭＳ ゴシック" panose="020B0609070205080204" pitchFamily="49" charset="-128"/>
            </a:endParaRPr>
          </a:p>
          <a:p>
            <a:pPr algn="just">
              <a:lnSpc>
                <a:spcPct val="50000"/>
              </a:lnSpc>
            </a:pPr>
            <a:endParaRPr lang="ja-JP" altLang="ja-JP" sz="800" b="0" dirty="0">
              <a:latin typeface="ＭＳ ゴシック" panose="020B0609070205080204" pitchFamily="49" charset="-128"/>
              <a:ea typeface="ＭＳ ゴシック" panose="020B0609070205080204" pitchFamily="49" charset="-128"/>
            </a:endParaRPr>
          </a:p>
          <a:p>
            <a:pPr algn="just"/>
            <a:r>
              <a:rPr lang="ja-JP" altLang="ja-JP" sz="800" b="0" dirty="0">
                <a:latin typeface="ＭＳ ゴシック" panose="020B0609070205080204" pitchFamily="49" charset="-128"/>
                <a:ea typeface="ＭＳ ゴシック" panose="020B0609070205080204" pitchFamily="49" charset="-128"/>
              </a:rPr>
              <a:t>　Person()</a:t>
            </a:r>
          </a:p>
          <a:p>
            <a:pPr algn="just"/>
            <a:r>
              <a:rPr lang="ja-JP" altLang="ja-JP" sz="800" b="0" dirty="0">
                <a:latin typeface="ＭＳ ゴシック" panose="020B0609070205080204" pitchFamily="49" charset="-128"/>
                <a:ea typeface="ＭＳ ゴシック" panose="020B0609070205080204" pitchFamily="49" charset="-128"/>
              </a:rPr>
              <a:t>　Person(…)</a:t>
            </a:r>
          </a:p>
          <a:p>
            <a:pPr algn="just"/>
            <a:r>
              <a:rPr lang="ja-JP" altLang="ja-JP" sz="800" b="0" dirty="0">
                <a:latin typeface="ＭＳ ゴシック" panose="020B0609070205080204" pitchFamily="49" charset="-128"/>
                <a:ea typeface="ＭＳ ゴシック" panose="020B0609070205080204" pitchFamily="49" charset="-128"/>
              </a:rPr>
              <a:t>　setLastName(l:String):void</a:t>
            </a:r>
          </a:p>
          <a:p>
            <a:pPr algn="just"/>
            <a:r>
              <a:rPr lang="ja-JP" altLang="ja-JP" sz="800" b="0" dirty="0">
                <a:latin typeface="ＭＳ ゴシック" panose="020B0609070205080204" pitchFamily="49" charset="-128"/>
                <a:ea typeface="ＭＳ ゴシック" panose="020B0609070205080204" pitchFamily="49" charset="-128"/>
              </a:rPr>
              <a:t>　getFullName():String</a:t>
            </a:r>
          </a:p>
          <a:p>
            <a:pPr algn="just"/>
            <a:r>
              <a:rPr lang="ja-JP" altLang="ja-JP" sz="800" b="0" dirty="0">
                <a:latin typeface="ＭＳ ゴシック" panose="020B0609070205080204" pitchFamily="49" charset="-128"/>
                <a:ea typeface="ＭＳ ゴシック" panose="020B0609070205080204" pitchFamily="49" charset="-128"/>
              </a:rPr>
              <a:t>　printInfo():void</a:t>
            </a:r>
          </a:p>
        </p:txBody>
      </p:sp>
      <p:sp>
        <p:nvSpPr>
          <p:cNvPr id="41" name="Line 19">
            <a:extLst>
              <a:ext uri="{FF2B5EF4-FFF2-40B4-BE49-F238E27FC236}">
                <a16:creationId xmlns:a16="http://schemas.microsoft.com/office/drawing/2014/main" id="{602713D6-F588-32D4-36DF-2FCB724A484E}"/>
              </a:ext>
            </a:extLst>
          </p:cNvPr>
          <p:cNvSpPr>
            <a:spLocks noChangeShapeType="1"/>
          </p:cNvSpPr>
          <p:nvPr/>
        </p:nvSpPr>
        <p:spPr bwMode="auto">
          <a:xfrm>
            <a:off x="7853362" y="3176588"/>
            <a:ext cx="1552575" cy="0"/>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42" name="Rectangle 20">
            <a:extLst>
              <a:ext uri="{FF2B5EF4-FFF2-40B4-BE49-F238E27FC236}">
                <a16:creationId xmlns:a16="http://schemas.microsoft.com/office/drawing/2014/main" id="{BBF1801D-4837-883E-5B10-78710E73E769}"/>
              </a:ext>
            </a:extLst>
          </p:cNvPr>
          <p:cNvSpPr>
            <a:spLocks noChangeArrowheads="1"/>
          </p:cNvSpPr>
          <p:nvPr/>
        </p:nvSpPr>
        <p:spPr bwMode="auto">
          <a:xfrm>
            <a:off x="8607425" y="3035300"/>
            <a:ext cx="458787" cy="130175"/>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800" b="0">
                <a:latin typeface="MS UI Gothic" panose="020B0600070205080204" pitchFamily="50" charset="-128"/>
                <a:ea typeface="MS UI Gothic" panose="020B0600070205080204" pitchFamily="50" charset="-128"/>
              </a:rPr>
              <a:t>20</a:t>
            </a:r>
            <a:endParaRPr lang="en-US" altLang="ja-JP" sz="800">
              <a:latin typeface="MS UI Gothic" panose="020B0600070205080204" pitchFamily="50" charset="-128"/>
              <a:ea typeface="MS UI Gothic" panose="020B0600070205080204" pitchFamily="50" charset="-128"/>
            </a:endParaRPr>
          </a:p>
        </p:txBody>
      </p:sp>
      <p:sp>
        <p:nvSpPr>
          <p:cNvPr id="43" name="Rectangle 21">
            <a:extLst>
              <a:ext uri="{FF2B5EF4-FFF2-40B4-BE49-F238E27FC236}">
                <a16:creationId xmlns:a16="http://schemas.microsoft.com/office/drawing/2014/main" id="{709A45E9-05B7-5914-DCE5-1CD933A478F2}"/>
              </a:ext>
            </a:extLst>
          </p:cNvPr>
          <p:cNvSpPr>
            <a:spLocks noChangeArrowheads="1"/>
          </p:cNvSpPr>
          <p:nvPr/>
        </p:nvSpPr>
        <p:spPr bwMode="auto">
          <a:xfrm>
            <a:off x="8607425" y="2870200"/>
            <a:ext cx="538162" cy="139700"/>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lnSpc>
                <a:spcPct val="80000"/>
              </a:lnSpc>
            </a:pPr>
            <a:r>
              <a:rPr lang="en-US" altLang="ja-JP" sz="800" b="0">
                <a:ea typeface="MS UI Gothic" panose="020B0600070205080204" pitchFamily="50" charset="-128"/>
              </a:rPr>
              <a:t>Ko có tên</a:t>
            </a:r>
          </a:p>
        </p:txBody>
      </p:sp>
      <p:sp>
        <p:nvSpPr>
          <p:cNvPr id="44" name="Rectangle 22">
            <a:extLst>
              <a:ext uri="{FF2B5EF4-FFF2-40B4-BE49-F238E27FC236}">
                <a16:creationId xmlns:a16="http://schemas.microsoft.com/office/drawing/2014/main" id="{ABC5BE7A-E4A2-A370-B4F9-AF2BE0A3C0E8}"/>
              </a:ext>
            </a:extLst>
          </p:cNvPr>
          <p:cNvSpPr>
            <a:spLocks noChangeArrowheads="1"/>
          </p:cNvSpPr>
          <p:nvPr/>
        </p:nvSpPr>
        <p:spPr bwMode="auto">
          <a:xfrm>
            <a:off x="8607425" y="2693988"/>
            <a:ext cx="531812" cy="139700"/>
          </a:xfrm>
          <a:prstGeom prst="rect">
            <a:avLst/>
          </a:prstGeom>
          <a:noFill/>
          <a:ln w="12700">
            <a:solidFill>
              <a:srgbClr val="673EC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10796" rIns="35988" bIns="1079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800" b="0">
                <a:ea typeface="MS UI Gothic" panose="020B0600070205080204" pitchFamily="50" charset="-128"/>
              </a:rPr>
              <a:t>Ko có họ</a:t>
            </a:r>
            <a:endParaRPr lang="en-US" altLang="ja-JP" sz="800">
              <a:ea typeface="MS UI Gothic" panose="020B0600070205080204" pitchFamily="50" charset="-128"/>
            </a:endParaRPr>
          </a:p>
        </p:txBody>
      </p:sp>
      <p:sp>
        <p:nvSpPr>
          <p:cNvPr id="45" name="Rectangle 23">
            <a:extLst>
              <a:ext uri="{FF2B5EF4-FFF2-40B4-BE49-F238E27FC236}">
                <a16:creationId xmlns:a16="http://schemas.microsoft.com/office/drawing/2014/main" id="{A198B470-EC5C-29C6-FB20-7C5969047AE3}"/>
              </a:ext>
            </a:extLst>
          </p:cNvPr>
          <p:cNvSpPr>
            <a:spLocks noChangeArrowheads="1"/>
          </p:cNvSpPr>
          <p:nvPr/>
        </p:nvSpPr>
        <p:spPr bwMode="auto">
          <a:xfrm>
            <a:off x="4637089" y="1600201"/>
            <a:ext cx="1366839" cy="304799"/>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46" name="Line 24">
            <a:extLst>
              <a:ext uri="{FF2B5EF4-FFF2-40B4-BE49-F238E27FC236}">
                <a16:creationId xmlns:a16="http://schemas.microsoft.com/office/drawing/2014/main" id="{6F03FA6D-DABE-0852-5C48-EF310D155920}"/>
              </a:ext>
            </a:extLst>
          </p:cNvPr>
          <p:cNvSpPr>
            <a:spLocks noChangeShapeType="1"/>
          </p:cNvSpPr>
          <p:nvPr/>
        </p:nvSpPr>
        <p:spPr bwMode="auto">
          <a:xfrm>
            <a:off x="5339205" y="1895476"/>
            <a:ext cx="17022" cy="352425"/>
          </a:xfrm>
          <a:prstGeom prst="line">
            <a:avLst/>
          </a:prstGeom>
          <a:noFill/>
          <a:ln w="1270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47" name="Rectangle 25">
            <a:extLst>
              <a:ext uri="{FF2B5EF4-FFF2-40B4-BE49-F238E27FC236}">
                <a16:creationId xmlns:a16="http://schemas.microsoft.com/office/drawing/2014/main" id="{B4D225A8-14DC-3750-28F5-95A58DB5393F}"/>
              </a:ext>
            </a:extLst>
          </p:cNvPr>
          <p:cNvSpPr>
            <a:spLocks noChangeArrowheads="1"/>
          </p:cNvSpPr>
          <p:nvPr/>
        </p:nvSpPr>
        <p:spPr bwMode="auto">
          <a:xfrm>
            <a:off x="6932612" y="2151063"/>
            <a:ext cx="400050" cy="277812"/>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57" tIns="47728" rIns="95457" bIns="47728"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a:ea typeface="MS UI Gothic" panose="020B0600070205080204" pitchFamily="50" charset="-128"/>
              </a:rPr>
              <a:t>null</a:t>
            </a:r>
          </a:p>
        </p:txBody>
      </p:sp>
      <p:sp>
        <p:nvSpPr>
          <p:cNvPr id="48" name="Text Box 26">
            <a:extLst>
              <a:ext uri="{FF2B5EF4-FFF2-40B4-BE49-F238E27FC236}">
                <a16:creationId xmlns:a16="http://schemas.microsoft.com/office/drawing/2014/main" id="{86E9EC44-0E50-DF83-518B-242749619D36}"/>
              </a:ext>
            </a:extLst>
          </p:cNvPr>
          <p:cNvSpPr txBox="1">
            <a:spLocks noChangeArrowheads="1"/>
          </p:cNvSpPr>
          <p:nvPr/>
        </p:nvSpPr>
        <p:spPr bwMode="auto">
          <a:xfrm>
            <a:off x="6425043" y="1584326"/>
            <a:ext cx="1400174"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err="1">
                <a:ea typeface="MS UI Gothic" panose="020B0600070205080204" pitchFamily="50" charset="-128"/>
              </a:rPr>
              <a:t>Biến</a:t>
            </a:r>
            <a:r>
              <a:rPr lang="ja-JP" altLang="en-US" b="0" dirty="0">
                <a:latin typeface="MS UI Gothic" panose="020B0600070205080204" pitchFamily="50" charset="-128"/>
                <a:ea typeface="MS UI Gothic" panose="020B0600070205080204" pitchFamily="50" charset="-128"/>
              </a:rPr>
              <a:t>　</a:t>
            </a:r>
            <a:r>
              <a:rPr lang="en-US" altLang="ja-JP" b="0" dirty="0" err="1">
                <a:latin typeface="MS UI Gothic" panose="020B0600070205080204" pitchFamily="50" charset="-128"/>
                <a:ea typeface="MS UI Gothic" panose="020B0600070205080204" pitchFamily="50" charset="-128"/>
              </a:rPr>
              <a:t>personA</a:t>
            </a:r>
            <a:endParaRPr lang="en-US" altLang="ja-JP" dirty="0">
              <a:latin typeface="MS UI Gothic" panose="020B0600070205080204" pitchFamily="50" charset="-128"/>
              <a:ea typeface="MS UI Gothic" panose="020B0600070205080204" pitchFamily="50" charset="-128"/>
            </a:endParaRPr>
          </a:p>
        </p:txBody>
      </p:sp>
      <p:sp>
        <p:nvSpPr>
          <p:cNvPr id="49" name="Text Box 28">
            <a:extLst>
              <a:ext uri="{FF2B5EF4-FFF2-40B4-BE49-F238E27FC236}">
                <a16:creationId xmlns:a16="http://schemas.microsoft.com/office/drawing/2014/main" id="{67F26379-6044-5DA4-5EFC-188CC89DF864}"/>
              </a:ext>
            </a:extLst>
          </p:cNvPr>
          <p:cNvSpPr txBox="1">
            <a:spLocks noChangeArrowheads="1"/>
          </p:cNvSpPr>
          <p:nvPr/>
        </p:nvSpPr>
        <p:spPr bwMode="auto">
          <a:xfrm>
            <a:off x="7439025" y="2184400"/>
            <a:ext cx="2338511" cy="24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a:ea typeface="MS UI Gothic" panose="020B0600070205080204" pitchFamily="50" charset="-128"/>
              </a:rPr>
              <a:t>Object </a:t>
            </a:r>
            <a:r>
              <a:rPr lang="en-US" altLang="ja-JP" b="0" dirty="0" err="1">
                <a:ea typeface="MS UI Gothic" panose="020B0600070205080204" pitchFamily="50" charset="-128"/>
              </a:rPr>
              <a:t>của</a:t>
            </a:r>
            <a:r>
              <a:rPr lang="en-US" altLang="ja-JP" b="0" dirty="0">
                <a:ea typeface="MS UI Gothic" panose="020B0600070205080204" pitchFamily="50" charset="-128"/>
              </a:rPr>
              <a:t> Person class</a:t>
            </a:r>
            <a:endParaRPr lang="en-US" altLang="ja-JP" dirty="0">
              <a:ea typeface="MS UI Gothic" panose="020B0600070205080204" pitchFamily="50" charset="-128"/>
            </a:endParaRPr>
          </a:p>
        </p:txBody>
      </p:sp>
      <p:sp>
        <p:nvSpPr>
          <p:cNvPr id="50" name="Text Box 29">
            <a:extLst>
              <a:ext uri="{FF2B5EF4-FFF2-40B4-BE49-F238E27FC236}">
                <a16:creationId xmlns:a16="http://schemas.microsoft.com/office/drawing/2014/main" id="{DE7164FF-AFC2-FDD7-BB60-7FA268BE8818}"/>
              </a:ext>
            </a:extLst>
          </p:cNvPr>
          <p:cNvSpPr txBox="1">
            <a:spLocks noChangeArrowheads="1"/>
          </p:cNvSpPr>
          <p:nvPr/>
        </p:nvSpPr>
        <p:spPr bwMode="auto">
          <a:xfrm>
            <a:off x="4218003" y="2176464"/>
            <a:ext cx="2498725"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5988" tIns="35988" rIns="35988" bIns="35988"/>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a:ea typeface="MS UI Gothic" panose="020B0600070205080204" pitchFamily="50" charset="-128"/>
              </a:rPr>
              <a:t>Object </a:t>
            </a:r>
            <a:r>
              <a:rPr lang="en-US" altLang="ja-JP" b="0" dirty="0" err="1">
                <a:ea typeface="MS UI Gothic" panose="020B0600070205080204" pitchFamily="50" charset="-128"/>
              </a:rPr>
              <a:t>của</a:t>
            </a:r>
            <a:r>
              <a:rPr lang="en-US" altLang="ja-JP" b="0" dirty="0">
                <a:ea typeface="MS UI Gothic" panose="020B0600070205080204" pitchFamily="50" charset="-128"/>
              </a:rPr>
              <a:t> Person class</a:t>
            </a:r>
            <a:endParaRPr lang="en-US" altLang="ja-JP" dirty="0">
              <a:ea typeface="MS UI Gothic" panose="020B0600070205080204" pitchFamily="50" charset="-128"/>
            </a:endParaRPr>
          </a:p>
        </p:txBody>
      </p:sp>
      <p:sp>
        <p:nvSpPr>
          <p:cNvPr id="51" name="AutoShape 33">
            <a:extLst>
              <a:ext uri="{FF2B5EF4-FFF2-40B4-BE49-F238E27FC236}">
                <a16:creationId xmlns:a16="http://schemas.microsoft.com/office/drawing/2014/main" id="{DA102951-84E0-FAFC-1BAE-A4287351F126}"/>
              </a:ext>
            </a:extLst>
          </p:cNvPr>
          <p:cNvSpPr>
            <a:spLocks noChangeArrowheads="1"/>
          </p:cNvSpPr>
          <p:nvPr/>
        </p:nvSpPr>
        <p:spPr bwMode="auto">
          <a:xfrm>
            <a:off x="6100339" y="3994151"/>
            <a:ext cx="1482725" cy="1384300"/>
          </a:xfrm>
          <a:prstGeom prst="wedgeRoundRectCallout">
            <a:avLst>
              <a:gd name="adj1" fmla="val 14310"/>
              <a:gd name="adj2" fmla="val -163615"/>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dirty="0" err="1">
                <a:ea typeface="MS UI Gothic" panose="020B0600070205080204" pitchFamily="50" charset="-128"/>
              </a:rPr>
              <a:t>Trơ</a:t>
            </a:r>
            <a:r>
              <a:rPr lang="en-US" altLang="ja-JP" b="0" dirty="0">
                <a:ea typeface="MS UI Gothic" panose="020B0600070205080204" pitchFamily="50" charset="-128"/>
              </a:rPr>
              <a:t>̉ </a:t>
            </a:r>
            <a:r>
              <a:rPr lang="en-US" altLang="ja-JP" b="0" dirty="0" err="1">
                <a:ea typeface="MS UI Gothic" panose="020B0600070205080204" pitchFamily="50" charset="-128"/>
              </a:rPr>
              <a:t>thành</a:t>
            </a:r>
            <a:r>
              <a:rPr lang="en-US" altLang="ja-JP" b="0" dirty="0">
                <a:ea typeface="MS UI Gothic" panose="020B0600070205080204" pitchFamily="50" charset="-128"/>
              </a:rPr>
              <a:t> </a:t>
            </a:r>
            <a:r>
              <a:rPr lang="en-US" altLang="ja-JP" b="0" dirty="0" err="1">
                <a:ea typeface="MS UI Gothic" panose="020B0600070205080204" pitchFamily="50" charset="-128"/>
              </a:rPr>
              <a:t>đối</a:t>
            </a:r>
            <a:r>
              <a:rPr lang="en-US" altLang="ja-JP" b="0" dirty="0">
                <a:ea typeface="MS UI Gothic" panose="020B0600070205080204" pitchFamily="50" charset="-128"/>
              </a:rPr>
              <a:t> </a:t>
            </a:r>
            <a:r>
              <a:rPr lang="en-US" altLang="ja-JP" b="0" dirty="0" err="1">
                <a:ea typeface="MS UI Gothic" panose="020B0600070205080204" pitchFamily="50" charset="-128"/>
              </a:rPr>
              <a:t>tượng</a:t>
            </a:r>
            <a:r>
              <a:rPr lang="en-US" altLang="ja-JP" b="0" dirty="0">
                <a:ea typeface="MS UI Gothic" panose="020B0600070205080204" pitchFamily="50" charset="-128"/>
              </a:rPr>
              <a:t> </a:t>
            </a:r>
            <a:r>
              <a:rPr lang="en-US" altLang="ja-JP" b="0" dirty="0" err="1">
                <a:ea typeface="MS UI Gothic" panose="020B0600070205080204" pitchFamily="50" charset="-128"/>
              </a:rPr>
              <a:t>giải</a:t>
            </a:r>
            <a:r>
              <a:rPr lang="en-US" altLang="ja-JP" b="0" dirty="0">
                <a:ea typeface="MS UI Gothic" panose="020B0600070205080204" pitchFamily="50" charset="-128"/>
              </a:rPr>
              <a:t> </a:t>
            </a:r>
            <a:r>
              <a:rPr lang="en-US" altLang="ja-JP" b="0" dirty="0" err="1">
                <a:ea typeface="MS UI Gothic" panose="020B0600070205080204" pitchFamily="50" charset="-128"/>
              </a:rPr>
              <a:t>phóng</a:t>
            </a:r>
            <a:r>
              <a:rPr lang="en-US" altLang="ja-JP" b="0" dirty="0">
                <a:ea typeface="MS UI Gothic" panose="020B0600070205080204" pitchFamily="50" charset="-128"/>
              </a:rPr>
              <a:t> </a:t>
            </a:r>
            <a:r>
              <a:rPr lang="en-US" altLang="ja-JP" b="0" dirty="0" err="1">
                <a:ea typeface="MS UI Gothic" panose="020B0600070205080204" pitchFamily="50" charset="-128"/>
              </a:rPr>
              <a:t>nhơ</a:t>
            </a:r>
            <a:r>
              <a:rPr lang="en-US" altLang="ja-JP" b="0" dirty="0">
                <a:ea typeface="MS UI Gothic" panose="020B0600070205080204" pitchFamily="50" charset="-128"/>
              </a:rPr>
              <a:t>̀ garbage collector.</a:t>
            </a:r>
          </a:p>
        </p:txBody>
      </p:sp>
    </p:spTree>
    <p:extLst>
      <p:ext uri="{BB962C8B-B14F-4D97-AF65-F5344CB8AC3E}">
        <p14:creationId xmlns:p14="http://schemas.microsoft.com/office/powerpoint/2010/main" val="2946727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E2AFE-1121-DB73-4747-2A79CC866E76}"/>
              </a:ext>
            </a:extLst>
          </p:cNvPr>
          <p:cNvSpPr>
            <a:spLocks noGrp="1"/>
          </p:cNvSpPr>
          <p:nvPr>
            <p:ph type="title"/>
          </p:nvPr>
        </p:nvSpPr>
        <p:spPr/>
        <p:txBody>
          <a:bodyPr>
            <a:noAutofit/>
          </a:bodyPr>
          <a:lstStyle/>
          <a:p>
            <a:r>
              <a:rPr lang="en-US" altLang="ja-JP" sz="3200" b="1" dirty="0" err="1">
                <a:ea typeface="MS UI Gothic" panose="020B0600070205080204" pitchFamily="50" charset="-128"/>
              </a:rPr>
              <a:t>Gọi</a:t>
            </a:r>
            <a:r>
              <a:rPr lang="en-US" altLang="ja-JP" sz="3200" b="1" dirty="0">
                <a:ea typeface="MS UI Gothic" panose="020B0600070205080204" pitchFamily="50" charset="-128"/>
              </a:rPr>
              <a:t> </a:t>
            </a:r>
            <a:r>
              <a:rPr lang="en-US" altLang="ja-JP" sz="3200" b="1" dirty="0" err="1">
                <a:ea typeface="MS UI Gothic" panose="020B0600070205080204" pitchFamily="50" charset="-128"/>
              </a:rPr>
              <a:t>ra</a:t>
            </a:r>
            <a:r>
              <a:rPr lang="en-US" altLang="ja-JP" sz="3200" b="1" dirty="0">
                <a:ea typeface="MS UI Gothic" panose="020B0600070205080204" pitchFamily="50" charset="-128"/>
              </a:rPr>
              <a:t> method</a:t>
            </a:r>
            <a:endParaRPr lang="ja-JP" altLang="en-US" sz="3200" b="1" dirty="0"/>
          </a:p>
        </p:txBody>
      </p:sp>
      <p:grpSp>
        <p:nvGrpSpPr>
          <p:cNvPr id="15" name="Group 75">
            <a:extLst>
              <a:ext uri="{FF2B5EF4-FFF2-40B4-BE49-F238E27FC236}">
                <a16:creationId xmlns:a16="http://schemas.microsoft.com/office/drawing/2014/main" id="{82923A64-75CF-8DAC-11A1-2375626FC99F}"/>
              </a:ext>
            </a:extLst>
          </p:cNvPr>
          <p:cNvGrpSpPr>
            <a:grpSpLocks/>
          </p:cNvGrpSpPr>
          <p:nvPr/>
        </p:nvGrpSpPr>
        <p:grpSpPr bwMode="auto">
          <a:xfrm>
            <a:off x="762000" y="1711002"/>
            <a:ext cx="8153400" cy="4156075"/>
            <a:chOff x="356" y="862"/>
            <a:chExt cx="3689" cy="2618"/>
          </a:xfrm>
        </p:grpSpPr>
        <p:sp>
          <p:nvSpPr>
            <p:cNvPr id="16" name="Text Box 23">
              <a:extLst>
                <a:ext uri="{FF2B5EF4-FFF2-40B4-BE49-F238E27FC236}">
                  <a16:creationId xmlns:a16="http://schemas.microsoft.com/office/drawing/2014/main" id="{E975EE35-0739-EA9A-2825-1038D0F9D430}"/>
                </a:ext>
              </a:extLst>
            </p:cNvPr>
            <p:cNvSpPr txBox="1">
              <a:spLocks noChangeArrowheads="1"/>
            </p:cNvSpPr>
            <p:nvPr/>
          </p:nvSpPr>
          <p:spPr bwMode="auto">
            <a:xfrm>
              <a:off x="808" y="1579"/>
              <a:ext cx="856" cy="1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4269" tIns="8886" rIns="74269" bIns="888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Sinh object</a:t>
              </a:r>
              <a:endParaRPr lang="en-US" altLang="ja-JP">
                <a:ea typeface="MS UI Gothic" panose="020B0600070205080204" pitchFamily="50" charset="-128"/>
              </a:endParaRPr>
            </a:p>
          </p:txBody>
        </p:sp>
        <p:sp>
          <p:nvSpPr>
            <p:cNvPr id="17" name="Text Box 24">
              <a:extLst>
                <a:ext uri="{FF2B5EF4-FFF2-40B4-BE49-F238E27FC236}">
                  <a16:creationId xmlns:a16="http://schemas.microsoft.com/office/drawing/2014/main" id="{E6D1E7BA-AD31-B3A6-11BB-5087E41C5340}"/>
                </a:ext>
              </a:extLst>
            </p:cNvPr>
            <p:cNvSpPr txBox="1">
              <a:spLocks noChangeArrowheads="1"/>
            </p:cNvSpPr>
            <p:nvPr/>
          </p:nvSpPr>
          <p:spPr bwMode="auto">
            <a:xfrm>
              <a:off x="795" y="1862"/>
              <a:ext cx="1405"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4269" tIns="8886" rIns="74269" bIns="888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dirty="0" err="1">
                  <a:ea typeface="MS UI Gothic" panose="020B0600070205080204" pitchFamily="50" charset="-128"/>
                </a:rPr>
                <a:t>Hãy</a:t>
              </a:r>
              <a:r>
                <a:rPr lang="en-US" altLang="ja-JP" b="0" dirty="0">
                  <a:ea typeface="MS UI Gothic" panose="020B0600070205080204" pitchFamily="50" charset="-128"/>
                </a:rPr>
                <a:t> </a:t>
              </a:r>
              <a:r>
                <a:rPr lang="en-US" altLang="ja-JP" b="0" dirty="0" err="1">
                  <a:ea typeface="MS UI Gothic" panose="020B0600070205080204" pitchFamily="50" charset="-128"/>
                </a:rPr>
                <a:t>hiển</a:t>
              </a:r>
              <a:r>
                <a:rPr lang="en-US" altLang="ja-JP" b="0" dirty="0">
                  <a:ea typeface="MS UI Gothic" panose="020B0600070205080204" pitchFamily="50" charset="-128"/>
                </a:rPr>
                <a:t> </a:t>
              </a:r>
              <a:r>
                <a:rPr lang="en-US" altLang="ja-JP" b="0" dirty="0" err="1">
                  <a:ea typeface="MS UI Gothic" panose="020B0600070205080204" pitchFamily="50" charset="-128"/>
                </a:rPr>
                <a:t>thi</a:t>
              </a:r>
              <a:r>
                <a:rPr lang="en-US" altLang="ja-JP" b="0" dirty="0">
                  <a:ea typeface="MS UI Gothic" panose="020B0600070205080204" pitchFamily="50" charset="-128"/>
                </a:rPr>
                <a:t>̣ </a:t>
              </a:r>
              <a:r>
                <a:rPr lang="en-US" altLang="ja-JP" b="0" dirty="0" err="1">
                  <a:ea typeface="MS UI Gothic" panose="020B0600070205080204" pitchFamily="50" charset="-128"/>
                </a:rPr>
                <a:t>thông</a:t>
              </a:r>
              <a:r>
                <a:rPr lang="en-US" altLang="ja-JP" b="0" dirty="0">
                  <a:ea typeface="MS UI Gothic" panose="020B0600070205080204" pitchFamily="50" charset="-128"/>
                </a:rPr>
                <a:t> tin cá </a:t>
              </a:r>
              <a:r>
                <a:rPr lang="en-US" altLang="ja-JP" b="0" dirty="0" err="1">
                  <a:ea typeface="MS UI Gothic" panose="020B0600070205080204" pitchFamily="50" charset="-128"/>
                </a:rPr>
                <a:t>nhân</a:t>
              </a:r>
              <a:endParaRPr lang="en-US" altLang="ja-JP" dirty="0">
                <a:ea typeface="MS UI Gothic" panose="020B0600070205080204" pitchFamily="50" charset="-128"/>
              </a:endParaRPr>
            </a:p>
          </p:txBody>
        </p:sp>
        <p:sp>
          <p:nvSpPr>
            <p:cNvPr id="18" name="Rectangle 26">
              <a:extLst>
                <a:ext uri="{FF2B5EF4-FFF2-40B4-BE49-F238E27FC236}">
                  <a16:creationId xmlns:a16="http://schemas.microsoft.com/office/drawing/2014/main" id="{B69D98B4-0215-DB01-5AAA-DBA744AFC1FE}"/>
                </a:ext>
              </a:extLst>
            </p:cNvPr>
            <p:cNvSpPr>
              <a:spLocks noChangeArrowheads="1"/>
            </p:cNvSpPr>
            <p:nvPr/>
          </p:nvSpPr>
          <p:spPr bwMode="auto">
            <a:xfrm>
              <a:off x="2180" y="1605"/>
              <a:ext cx="524" cy="240"/>
            </a:xfrm>
            <a:prstGeom prst="rect">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1" tIns="19042" rIns="9521" bIns="9521"/>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ja-JP" altLang="en-US">
                  <a:ea typeface="MS UI Gothic" panose="020B0600070205080204" pitchFamily="50" charset="-128"/>
                </a:rPr>
                <a:t>：</a:t>
              </a:r>
              <a:r>
                <a:rPr lang="en-US" altLang="ja-JP">
                  <a:ea typeface="MS UI Gothic" panose="020B0600070205080204" pitchFamily="50" charset="-128"/>
                </a:rPr>
                <a:t>Person</a:t>
              </a:r>
            </a:p>
          </p:txBody>
        </p:sp>
        <p:sp>
          <p:nvSpPr>
            <p:cNvPr id="19" name="Line 27">
              <a:extLst>
                <a:ext uri="{FF2B5EF4-FFF2-40B4-BE49-F238E27FC236}">
                  <a16:creationId xmlns:a16="http://schemas.microsoft.com/office/drawing/2014/main" id="{FB3B16B5-E3F1-523C-EDDE-9DCB7D394F67}"/>
                </a:ext>
              </a:extLst>
            </p:cNvPr>
            <p:cNvSpPr>
              <a:spLocks noChangeShapeType="1"/>
            </p:cNvSpPr>
            <p:nvPr/>
          </p:nvSpPr>
          <p:spPr bwMode="auto">
            <a:xfrm>
              <a:off x="715" y="1401"/>
              <a:ext cx="1" cy="19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0" name="Line 28">
              <a:extLst>
                <a:ext uri="{FF2B5EF4-FFF2-40B4-BE49-F238E27FC236}">
                  <a16:creationId xmlns:a16="http://schemas.microsoft.com/office/drawing/2014/main" id="{50112C9F-3647-9426-970D-1C844F2DC1D9}"/>
                </a:ext>
              </a:extLst>
            </p:cNvPr>
            <p:cNvSpPr>
              <a:spLocks noChangeShapeType="1"/>
            </p:cNvSpPr>
            <p:nvPr/>
          </p:nvSpPr>
          <p:spPr bwMode="auto">
            <a:xfrm>
              <a:off x="2418" y="1847"/>
              <a:ext cx="1" cy="1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1" name="Rectangle 29">
              <a:extLst>
                <a:ext uri="{FF2B5EF4-FFF2-40B4-BE49-F238E27FC236}">
                  <a16:creationId xmlns:a16="http://schemas.microsoft.com/office/drawing/2014/main" id="{93A24F0B-7961-6F64-0116-669F4AC1073C}"/>
                </a:ext>
              </a:extLst>
            </p:cNvPr>
            <p:cNvSpPr>
              <a:spLocks noChangeArrowheads="1"/>
            </p:cNvSpPr>
            <p:nvPr/>
          </p:nvSpPr>
          <p:spPr bwMode="auto">
            <a:xfrm>
              <a:off x="682" y="1521"/>
              <a:ext cx="81" cy="174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2" name="Line 30">
              <a:extLst>
                <a:ext uri="{FF2B5EF4-FFF2-40B4-BE49-F238E27FC236}">
                  <a16:creationId xmlns:a16="http://schemas.microsoft.com/office/drawing/2014/main" id="{002145B8-0E32-4A46-5C16-0A459F446E55}"/>
                </a:ext>
              </a:extLst>
            </p:cNvPr>
            <p:cNvSpPr>
              <a:spLocks noChangeShapeType="1"/>
            </p:cNvSpPr>
            <p:nvPr/>
          </p:nvSpPr>
          <p:spPr bwMode="auto">
            <a:xfrm>
              <a:off x="768" y="1725"/>
              <a:ext cx="1405" cy="1"/>
            </a:xfrm>
            <a:prstGeom prst="line">
              <a:avLst/>
            </a:prstGeom>
            <a:noFill/>
            <a:ln w="12700">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3" name="Rectangle 31">
              <a:extLst>
                <a:ext uri="{FF2B5EF4-FFF2-40B4-BE49-F238E27FC236}">
                  <a16:creationId xmlns:a16="http://schemas.microsoft.com/office/drawing/2014/main" id="{D7F3C7D7-0CDA-97DA-1B8D-37174AC418E2}"/>
                </a:ext>
              </a:extLst>
            </p:cNvPr>
            <p:cNvSpPr>
              <a:spLocks noChangeArrowheads="1"/>
            </p:cNvSpPr>
            <p:nvPr/>
          </p:nvSpPr>
          <p:spPr bwMode="auto">
            <a:xfrm>
              <a:off x="2360" y="1956"/>
              <a:ext cx="115" cy="26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4" name="Line 32">
              <a:extLst>
                <a:ext uri="{FF2B5EF4-FFF2-40B4-BE49-F238E27FC236}">
                  <a16:creationId xmlns:a16="http://schemas.microsoft.com/office/drawing/2014/main" id="{59FA027F-B1CC-5A2F-676A-CE11DFCACFAE}"/>
                </a:ext>
              </a:extLst>
            </p:cNvPr>
            <p:cNvSpPr>
              <a:spLocks noChangeShapeType="1"/>
            </p:cNvSpPr>
            <p:nvPr/>
          </p:nvSpPr>
          <p:spPr bwMode="auto">
            <a:xfrm>
              <a:off x="766" y="2012"/>
              <a:ext cx="1585" cy="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5" name="Line 40">
              <a:extLst>
                <a:ext uri="{FF2B5EF4-FFF2-40B4-BE49-F238E27FC236}">
                  <a16:creationId xmlns:a16="http://schemas.microsoft.com/office/drawing/2014/main" id="{562ADE2F-CDA2-0059-8FB3-EF1EA039F1F5}"/>
                </a:ext>
              </a:extLst>
            </p:cNvPr>
            <p:cNvSpPr>
              <a:spLocks noChangeShapeType="1"/>
            </p:cNvSpPr>
            <p:nvPr/>
          </p:nvSpPr>
          <p:spPr bwMode="auto">
            <a:xfrm flipH="1">
              <a:off x="2497" y="2476"/>
              <a:ext cx="262" cy="7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6" name="AutoShape 41">
              <a:extLst>
                <a:ext uri="{FF2B5EF4-FFF2-40B4-BE49-F238E27FC236}">
                  <a16:creationId xmlns:a16="http://schemas.microsoft.com/office/drawing/2014/main" id="{A1A5A598-65AC-D20F-D602-C09B67D7B346}"/>
                </a:ext>
              </a:extLst>
            </p:cNvPr>
            <p:cNvSpPr>
              <a:spLocks noChangeArrowheads="1"/>
            </p:cNvSpPr>
            <p:nvPr/>
          </p:nvSpPr>
          <p:spPr bwMode="auto">
            <a:xfrm rot="16200000">
              <a:off x="3181" y="1886"/>
              <a:ext cx="363" cy="1214"/>
            </a:xfrm>
            <a:prstGeom prst="foldedCorner">
              <a:avLst>
                <a:gd name="adj" fmla="val 12500"/>
              </a:avLst>
            </a:prstGeom>
            <a:solidFill>
              <a:schemeClr val="bg1">
                <a:alpha val="5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1410" tIns="45704" rIns="91410" bIns="45704"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en-US" altLang="ja-JP" b="0" dirty="0">
                <a:ea typeface="MS UI Gothic" panose="020B0600070205080204" pitchFamily="50" charset="-128"/>
              </a:endParaRPr>
            </a:p>
            <a:p>
              <a:pPr algn="ctr"/>
              <a:r>
                <a:rPr lang="en-US" altLang="ja-JP" b="0" dirty="0" err="1">
                  <a:ea typeface="MS UI Gothic" panose="020B0600070205080204" pitchFamily="50" charset="-128"/>
                </a:rPr>
                <a:t>Thực</a:t>
              </a:r>
              <a:r>
                <a:rPr lang="en-US" altLang="ja-JP" b="0" dirty="0">
                  <a:ea typeface="MS UI Gothic" panose="020B0600070205080204" pitchFamily="50" charset="-128"/>
                </a:rPr>
                <a:t> </a:t>
              </a:r>
              <a:r>
                <a:rPr lang="en-US" altLang="ja-JP" b="0" dirty="0" err="1">
                  <a:ea typeface="MS UI Gothic" panose="020B0600070205080204" pitchFamily="50" charset="-128"/>
                </a:rPr>
                <a:t>hiện</a:t>
              </a:r>
              <a:r>
                <a:rPr lang="en-US" altLang="ja-JP" b="0" dirty="0">
                  <a:ea typeface="MS UI Gothic" panose="020B0600070205080204" pitchFamily="50" charset="-128"/>
                </a:rPr>
                <a:t> </a:t>
              </a:r>
              <a:r>
                <a:rPr lang="en-US" altLang="ja-JP" b="0" dirty="0" err="1">
                  <a:ea typeface="MS UI Gothic" panose="020B0600070205080204" pitchFamily="50" charset="-128"/>
                </a:rPr>
                <a:t>thao</a:t>
              </a:r>
              <a:r>
                <a:rPr lang="en-US" altLang="ja-JP" b="0" dirty="0">
                  <a:ea typeface="MS UI Gothic" panose="020B0600070205080204" pitchFamily="50" charset="-128"/>
                </a:rPr>
                <a:t> </a:t>
              </a:r>
              <a:r>
                <a:rPr lang="en-US" altLang="ja-JP" b="0" dirty="0" err="1">
                  <a:ea typeface="MS UI Gothic" panose="020B0600070205080204" pitchFamily="50" charset="-128"/>
                </a:rPr>
                <a:t>tác</a:t>
              </a:r>
              <a:endParaRPr lang="en-US" altLang="ja-JP" b="0" dirty="0">
                <a:ea typeface="MS UI Gothic" panose="020B0600070205080204" pitchFamily="50" charset="-128"/>
              </a:endParaRPr>
            </a:p>
            <a:p>
              <a:pPr algn="ctr"/>
              <a:r>
                <a:rPr lang="ja-JP" altLang="en-US" b="0" dirty="0">
                  <a:ea typeface="MS UI Gothic" panose="020B0600070205080204" pitchFamily="50" charset="-128"/>
                </a:rPr>
                <a:t>「 </a:t>
              </a:r>
              <a:r>
                <a:rPr lang="en-US" altLang="ja-JP" b="0" dirty="0" err="1">
                  <a:ea typeface="MS UI Gothic" panose="020B0600070205080204" pitchFamily="50" charset="-128"/>
                </a:rPr>
                <a:t>setLastName</a:t>
              </a:r>
              <a:r>
                <a:rPr lang="en-US" altLang="ja-JP" dirty="0">
                  <a:ea typeface="MS UI Gothic" panose="020B0600070205080204" pitchFamily="50" charset="-128"/>
                </a:rPr>
                <a:t> </a:t>
              </a:r>
              <a:r>
                <a:rPr lang="ja-JP" altLang="en-US" b="0" dirty="0">
                  <a:ea typeface="MS UI Gothic" panose="020B0600070205080204" pitchFamily="50" charset="-128"/>
                </a:rPr>
                <a:t>」</a:t>
              </a:r>
            </a:p>
            <a:p>
              <a:pPr algn="ctr"/>
              <a:endParaRPr lang="en-US" altLang="ja-JP" dirty="0">
                <a:ea typeface="MS UI Gothic" panose="020B0600070205080204" pitchFamily="50" charset="-128"/>
              </a:endParaRPr>
            </a:p>
          </p:txBody>
        </p:sp>
        <p:sp>
          <p:nvSpPr>
            <p:cNvPr id="27" name="Rectangle 43">
              <a:extLst>
                <a:ext uri="{FF2B5EF4-FFF2-40B4-BE49-F238E27FC236}">
                  <a16:creationId xmlns:a16="http://schemas.microsoft.com/office/drawing/2014/main" id="{80A70476-8D66-F24D-E10C-CAE592B8CCC5}"/>
                </a:ext>
              </a:extLst>
            </p:cNvPr>
            <p:cNvSpPr>
              <a:spLocks noChangeArrowheads="1"/>
            </p:cNvSpPr>
            <p:nvPr/>
          </p:nvSpPr>
          <p:spPr bwMode="auto">
            <a:xfrm>
              <a:off x="356" y="862"/>
              <a:ext cx="3689" cy="261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8" name="Text Box 46">
              <a:extLst>
                <a:ext uri="{FF2B5EF4-FFF2-40B4-BE49-F238E27FC236}">
                  <a16:creationId xmlns:a16="http://schemas.microsoft.com/office/drawing/2014/main" id="{B8FA7B5E-D673-BEBD-9514-A9BE34CAA2F4}"/>
                </a:ext>
              </a:extLst>
            </p:cNvPr>
            <p:cNvSpPr txBox="1">
              <a:spLocks noChangeArrowheads="1"/>
            </p:cNvSpPr>
            <p:nvPr/>
          </p:nvSpPr>
          <p:spPr bwMode="auto">
            <a:xfrm>
              <a:off x="791" y="2312"/>
              <a:ext cx="1563" cy="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4269" tIns="8886" rIns="74269" bIns="888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Hãy thay đổi họ</a:t>
              </a:r>
              <a:endParaRPr lang="en-US" altLang="ja-JP">
                <a:ea typeface="MS UI Gothic" panose="020B0600070205080204" pitchFamily="50" charset="-128"/>
              </a:endParaRPr>
            </a:p>
          </p:txBody>
        </p:sp>
        <p:sp>
          <p:nvSpPr>
            <p:cNvPr id="29" name="Line 52">
              <a:extLst>
                <a:ext uri="{FF2B5EF4-FFF2-40B4-BE49-F238E27FC236}">
                  <a16:creationId xmlns:a16="http://schemas.microsoft.com/office/drawing/2014/main" id="{23DFE076-ACC6-F74D-EE53-3CD3AB9538AF}"/>
                </a:ext>
              </a:extLst>
            </p:cNvPr>
            <p:cNvSpPr>
              <a:spLocks noChangeShapeType="1"/>
            </p:cNvSpPr>
            <p:nvPr/>
          </p:nvSpPr>
          <p:spPr bwMode="auto">
            <a:xfrm flipH="1">
              <a:off x="2473" y="2029"/>
              <a:ext cx="286" cy="7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0" name="AutoShape 53">
              <a:extLst>
                <a:ext uri="{FF2B5EF4-FFF2-40B4-BE49-F238E27FC236}">
                  <a16:creationId xmlns:a16="http://schemas.microsoft.com/office/drawing/2014/main" id="{6297022D-BAE7-0CFC-8C40-E230A0C4595A}"/>
                </a:ext>
              </a:extLst>
            </p:cNvPr>
            <p:cNvSpPr>
              <a:spLocks noChangeArrowheads="1"/>
            </p:cNvSpPr>
            <p:nvPr/>
          </p:nvSpPr>
          <p:spPr bwMode="auto">
            <a:xfrm rot="16200000">
              <a:off x="3217" y="1434"/>
              <a:ext cx="294" cy="1216"/>
            </a:xfrm>
            <a:prstGeom prst="foldedCorner">
              <a:avLst>
                <a:gd name="adj" fmla="val 12500"/>
              </a:avLst>
            </a:prstGeom>
            <a:solidFill>
              <a:schemeClr val="bg1">
                <a:alpha val="5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1410" tIns="45704" rIns="91410" bIns="45704"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err="1">
                  <a:ea typeface="MS UI Gothic" panose="020B0600070205080204" pitchFamily="50" charset="-128"/>
                </a:rPr>
                <a:t>Thực</a:t>
              </a:r>
              <a:r>
                <a:rPr lang="en-US" altLang="ja-JP" b="0" dirty="0">
                  <a:ea typeface="MS UI Gothic" panose="020B0600070205080204" pitchFamily="50" charset="-128"/>
                </a:rPr>
                <a:t> </a:t>
              </a:r>
              <a:r>
                <a:rPr lang="en-US" altLang="ja-JP" b="0" dirty="0" err="1">
                  <a:ea typeface="MS UI Gothic" panose="020B0600070205080204" pitchFamily="50" charset="-128"/>
                </a:rPr>
                <a:t>hiện</a:t>
              </a:r>
              <a:r>
                <a:rPr lang="en-US" altLang="ja-JP" b="0" dirty="0">
                  <a:ea typeface="MS UI Gothic" panose="020B0600070205080204" pitchFamily="50" charset="-128"/>
                </a:rPr>
                <a:t> </a:t>
              </a:r>
              <a:r>
                <a:rPr lang="en-US" altLang="ja-JP" b="0" dirty="0" err="1">
                  <a:ea typeface="MS UI Gothic" panose="020B0600070205080204" pitchFamily="50" charset="-128"/>
                </a:rPr>
                <a:t>thao</a:t>
              </a:r>
              <a:r>
                <a:rPr lang="en-US" altLang="ja-JP" b="0" dirty="0">
                  <a:ea typeface="MS UI Gothic" panose="020B0600070205080204" pitchFamily="50" charset="-128"/>
                </a:rPr>
                <a:t> </a:t>
              </a:r>
              <a:r>
                <a:rPr lang="en-US" altLang="ja-JP" b="0" dirty="0" err="1">
                  <a:ea typeface="MS UI Gothic" panose="020B0600070205080204" pitchFamily="50" charset="-128"/>
                </a:rPr>
                <a:t>tác</a:t>
              </a:r>
              <a:r>
                <a:rPr lang="en-US" altLang="ja-JP" b="0" dirty="0">
                  <a:ea typeface="MS UI Gothic" panose="020B0600070205080204" pitchFamily="50" charset="-128"/>
                </a:rPr>
                <a:t> </a:t>
              </a:r>
            </a:p>
            <a:p>
              <a:pPr algn="ctr"/>
              <a:r>
                <a:rPr lang="ja-JP" altLang="en-US" b="0" dirty="0">
                  <a:ea typeface="MS UI Gothic" panose="020B0600070205080204" pitchFamily="50" charset="-128"/>
                </a:rPr>
                <a:t>「 </a:t>
              </a:r>
              <a:r>
                <a:rPr lang="en-US" altLang="ja-JP" b="0" dirty="0" err="1">
                  <a:ea typeface="MS UI Gothic" panose="020B0600070205080204" pitchFamily="50" charset="-128"/>
                </a:rPr>
                <a:t>printInfo</a:t>
              </a:r>
              <a:r>
                <a:rPr lang="en-US" altLang="ja-JP" dirty="0">
                  <a:ea typeface="MS UI Gothic" panose="020B0600070205080204" pitchFamily="50" charset="-128"/>
                </a:rPr>
                <a:t> </a:t>
              </a:r>
              <a:r>
                <a:rPr lang="ja-JP" altLang="en-US" b="0" dirty="0">
                  <a:ea typeface="MS UI Gothic" panose="020B0600070205080204" pitchFamily="50" charset="-128"/>
                </a:rPr>
                <a:t>」</a:t>
              </a:r>
            </a:p>
          </p:txBody>
        </p:sp>
        <p:sp>
          <p:nvSpPr>
            <p:cNvPr id="31" name="Rectangle 22">
              <a:extLst>
                <a:ext uri="{FF2B5EF4-FFF2-40B4-BE49-F238E27FC236}">
                  <a16:creationId xmlns:a16="http://schemas.microsoft.com/office/drawing/2014/main" id="{D360B95C-BB8C-90D2-4397-44B962F1439A}"/>
                </a:ext>
              </a:extLst>
            </p:cNvPr>
            <p:cNvSpPr>
              <a:spLocks noChangeArrowheads="1"/>
            </p:cNvSpPr>
            <p:nvPr/>
          </p:nvSpPr>
          <p:spPr bwMode="auto">
            <a:xfrm>
              <a:off x="404" y="1124"/>
              <a:ext cx="856" cy="334"/>
            </a:xfrm>
            <a:prstGeom prst="rect">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1" tIns="19042" rIns="9521" bIns="9521"/>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ja-JP" altLang="en-US" dirty="0">
                  <a:ea typeface="MS UI Gothic" panose="020B0600070205080204" pitchFamily="50" charset="-128"/>
                </a:rPr>
                <a:t>：</a:t>
              </a:r>
              <a:r>
                <a:rPr lang="en-US" altLang="ja-JP" dirty="0" err="1">
                  <a:ea typeface="MS UI Gothic" panose="020B0600070205080204" pitchFamily="50" charset="-128"/>
                </a:rPr>
                <a:t>Người</a:t>
              </a:r>
              <a:r>
                <a:rPr lang="en-US" altLang="ja-JP" dirty="0">
                  <a:ea typeface="MS UI Gothic" panose="020B0600070205080204" pitchFamily="50" charset="-128"/>
                </a:rPr>
                <a:t> </a:t>
              </a:r>
              <a:r>
                <a:rPr lang="en-US" altLang="ja-JP" dirty="0" err="1">
                  <a:ea typeface="MS UI Gothic" panose="020B0600070205080204" pitchFamily="50" charset="-128"/>
                </a:rPr>
                <a:t>thực</a:t>
              </a:r>
              <a:r>
                <a:rPr lang="en-US" altLang="ja-JP" dirty="0">
                  <a:ea typeface="MS UI Gothic" panose="020B0600070205080204" pitchFamily="50" charset="-128"/>
                </a:rPr>
                <a:t> </a:t>
              </a:r>
              <a:r>
                <a:rPr lang="en-US" altLang="ja-JP" dirty="0" err="1">
                  <a:ea typeface="MS UI Gothic" panose="020B0600070205080204" pitchFamily="50" charset="-128"/>
                </a:rPr>
                <a:t>hiện</a:t>
              </a:r>
              <a:endParaRPr lang="en-US" altLang="ja-JP" dirty="0">
                <a:ea typeface="MS UI Gothic" panose="020B0600070205080204" pitchFamily="50" charset="-128"/>
              </a:endParaRPr>
            </a:p>
          </p:txBody>
        </p:sp>
        <p:sp>
          <p:nvSpPr>
            <p:cNvPr id="32" name="Line 61">
              <a:extLst>
                <a:ext uri="{FF2B5EF4-FFF2-40B4-BE49-F238E27FC236}">
                  <a16:creationId xmlns:a16="http://schemas.microsoft.com/office/drawing/2014/main" id="{DF9D3CE4-7A4B-73F4-F40F-319E36DD4989}"/>
                </a:ext>
              </a:extLst>
            </p:cNvPr>
            <p:cNvSpPr>
              <a:spLocks noChangeShapeType="1"/>
            </p:cNvSpPr>
            <p:nvPr/>
          </p:nvSpPr>
          <p:spPr bwMode="auto">
            <a:xfrm>
              <a:off x="767" y="2455"/>
              <a:ext cx="1585" cy="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3" name="Rectangle 63">
              <a:extLst>
                <a:ext uri="{FF2B5EF4-FFF2-40B4-BE49-F238E27FC236}">
                  <a16:creationId xmlns:a16="http://schemas.microsoft.com/office/drawing/2014/main" id="{750E846A-1B4C-40B2-EC0F-0B0DF8C7AFE0}"/>
                </a:ext>
              </a:extLst>
            </p:cNvPr>
            <p:cNvSpPr>
              <a:spLocks noChangeArrowheads="1"/>
            </p:cNvSpPr>
            <p:nvPr/>
          </p:nvSpPr>
          <p:spPr bwMode="auto">
            <a:xfrm>
              <a:off x="2360" y="2386"/>
              <a:ext cx="115" cy="26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4" name="Line 64">
              <a:extLst>
                <a:ext uri="{FF2B5EF4-FFF2-40B4-BE49-F238E27FC236}">
                  <a16:creationId xmlns:a16="http://schemas.microsoft.com/office/drawing/2014/main" id="{18E7CB54-AEC8-3821-B865-75806A8A51BF}"/>
                </a:ext>
              </a:extLst>
            </p:cNvPr>
            <p:cNvSpPr>
              <a:spLocks noChangeShapeType="1"/>
            </p:cNvSpPr>
            <p:nvPr/>
          </p:nvSpPr>
          <p:spPr bwMode="auto">
            <a:xfrm flipH="1">
              <a:off x="2488" y="2920"/>
              <a:ext cx="263" cy="7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5" name="AutoShape 65">
              <a:extLst>
                <a:ext uri="{FF2B5EF4-FFF2-40B4-BE49-F238E27FC236}">
                  <a16:creationId xmlns:a16="http://schemas.microsoft.com/office/drawing/2014/main" id="{A15E8435-F354-AA01-7189-B0D3DB224139}"/>
                </a:ext>
              </a:extLst>
            </p:cNvPr>
            <p:cNvSpPr>
              <a:spLocks noChangeArrowheads="1"/>
            </p:cNvSpPr>
            <p:nvPr/>
          </p:nvSpPr>
          <p:spPr bwMode="auto">
            <a:xfrm rot="16200000">
              <a:off x="3212" y="2322"/>
              <a:ext cx="293" cy="1222"/>
            </a:xfrm>
            <a:prstGeom prst="foldedCorner">
              <a:avLst>
                <a:gd name="adj" fmla="val 12500"/>
              </a:avLst>
            </a:prstGeom>
            <a:solidFill>
              <a:schemeClr val="bg1">
                <a:alpha val="5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1410" tIns="45704" rIns="91410" bIns="45704"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Thực hiện thao tác</a:t>
              </a:r>
            </a:p>
            <a:p>
              <a:pPr algn="ctr"/>
              <a:r>
                <a:rPr lang="ja-JP" altLang="en-US" b="0">
                  <a:ea typeface="MS UI Gothic" panose="020B0600070205080204" pitchFamily="50" charset="-128"/>
                </a:rPr>
                <a:t>「 </a:t>
              </a:r>
              <a:r>
                <a:rPr lang="en-US" altLang="ja-JP" b="0">
                  <a:ea typeface="MS UI Gothic" panose="020B0600070205080204" pitchFamily="50" charset="-128"/>
                </a:rPr>
                <a:t>getFullName</a:t>
              </a:r>
              <a:r>
                <a:rPr lang="en-US" altLang="ja-JP">
                  <a:ea typeface="MS UI Gothic" panose="020B0600070205080204" pitchFamily="50" charset="-128"/>
                </a:rPr>
                <a:t> </a:t>
              </a:r>
              <a:r>
                <a:rPr lang="ja-JP" altLang="en-US" b="0">
                  <a:ea typeface="MS UI Gothic" panose="020B0600070205080204" pitchFamily="50" charset="-128"/>
                </a:rPr>
                <a:t>」</a:t>
              </a:r>
              <a:endParaRPr lang="ja-JP" altLang="en-US">
                <a:ea typeface="MS UI Gothic" panose="020B0600070205080204" pitchFamily="50" charset="-128"/>
              </a:endParaRPr>
            </a:p>
          </p:txBody>
        </p:sp>
        <p:sp>
          <p:nvSpPr>
            <p:cNvPr id="36" name="Line 66">
              <a:extLst>
                <a:ext uri="{FF2B5EF4-FFF2-40B4-BE49-F238E27FC236}">
                  <a16:creationId xmlns:a16="http://schemas.microsoft.com/office/drawing/2014/main" id="{F375C1F4-033C-EB36-C604-0240D44B39BE}"/>
                </a:ext>
              </a:extLst>
            </p:cNvPr>
            <p:cNvSpPr>
              <a:spLocks noChangeShapeType="1"/>
            </p:cNvSpPr>
            <p:nvPr/>
          </p:nvSpPr>
          <p:spPr bwMode="auto">
            <a:xfrm>
              <a:off x="768" y="3042"/>
              <a:ext cx="1577" cy="5"/>
            </a:xfrm>
            <a:prstGeom prst="line">
              <a:avLst/>
            </a:prstGeom>
            <a:noFill/>
            <a:ln w="12700">
              <a:solidFill>
                <a:schemeClr val="tx1"/>
              </a:solidFill>
              <a:prstDash val="dash"/>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7" name="Line 67">
              <a:extLst>
                <a:ext uri="{FF2B5EF4-FFF2-40B4-BE49-F238E27FC236}">
                  <a16:creationId xmlns:a16="http://schemas.microsoft.com/office/drawing/2014/main" id="{0979C0D0-A282-0C98-B413-B79A49C5BD1A}"/>
                </a:ext>
              </a:extLst>
            </p:cNvPr>
            <p:cNvSpPr>
              <a:spLocks noChangeShapeType="1"/>
            </p:cNvSpPr>
            <p:nvPr/>
          </p:nvSpPr>
          <p:spPr bwMode="auto">
            <a:xfrm>
              <a:off x="766" y="2899"/>
              <a:ext cx="1585" cy="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8" name="Rectangle 68">
              <a:extLst>
                <a:ext uri="{FF2B5EF4-FFF2-40B4-BE49-F238E27FC236}">
                  <a16:creationId xmlns:a16="http://schemas.microsoft.com/office/drawing/2014/main" id="{3C4BB40C-085A-B7CD-F847-78A264583DF9}"/>
                </a:ext>
              </a:extLst>
            </p:cNvPr>
            <p:cNvSpPr>
              <a:spLocks noChangeArrowheads="1"/>
            </p:cNvSpPr>
            <p:nvPr/>
          </p:nvSpPr>
          <p:spPr bwMode="auto">
            <a:xfrm>
              <a:off x="2360" y="2830"/>
              <a:ext cx="115" cy="26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9" name="Text Box 69">
              <a:extLst>
                <a:ext uri="{FF2B5EF4-FFF2-40B4-BE49-F238E27FC236}">
                  <a16:creationId xmlns:a16="http://schemas.microsoft.com/office/drawing/2014/main" id="{D5BA66D2-F0E2-CF3A-9960-29689B56F2FC}"/>
                </a:ext>
              </a:extLst>
            </p:cNvPr>
            <p:cNvSpPr txBox="1">
              <a:spLocks noChangeArrowheads="1"/>
            </p:cNvSpPr>
            <p:nvPr/>
          </p:nvSpPr>
          <p:spPr bwMode="auto">
            <a:xfrm>
              <a:off x="809" y="2736"/>
              <a:ext cx="1562" cy="1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4269" tIns="8886" rIns="74269" bIns="8886"/>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Hãy cho biết họ tên</a:t>
              </a:r>
              <a:endParaRPr lang="en-US" altLang="ja-JP">
                <a:ea typeface="MS UI Gothic" panose="020B0600070205080204" pitchFamily="50" charset="-128"/>
              </a:endParaRPr>
            </a:p>
          </p:txBody>
        </p:sp>
        <p:sp>
          <p:nvSpPr>
            <p:cNvPr id="40" name="Line 72">
              <a:extLst>
                <a:ext uri="{FF2B5EF4-FFF2-40B4-BE49-F238E27FC236}">
                  <a16:creationId xmlns:a16="http://schemas.microsoft.com/office/drawing/2014/main" id="{79B8C30C-56C1-549A-785E-7D69A13264AC}"/>
                </a:ext>
              </a:extLst>
            </p:cNvPr>
            <p:cNvSpPr>
              <a:spLocks noChangeShapeType="1"/>
            </p:cNvSpPr>
            <p:nvPr/>
          </p:nvSpPr>
          <p:spPr bwMode="auto">
            <a:xfrm flipH="1">
              <a:off x="1218" y="1138"/>
              <a:ext cx="172" cy="11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41" name="AutoShape 73">
              <a:extLst>
                <a:ext uri="{FF2B5EF4-FFF2-40B4-BE49-F238E27FC236}">
                  <a16:creationId xmlns:a16="http://schemas.microsoft.com/office/drawing/2014/main" id="{DBB3FA23-9128-57AD-AC37-BA4D5C38ACA2}"/>
                </a:ext>
              </a:extLst>
            </p:cNvPr>
            <p:cNvSpPr>
              <a:spLocks noChangeArrowheads="1"/>
            </p:cNvSpPr>
            <p:nvPr/>
          </p:nvSpPr>
          <p:spPr bwMode="auto">
            <a:xfrm rot="16200000">
              <a:off x="2185" y="133"/>
              <a:ext cx="318" cy="1976"/>
            </a:xfrm>
            <a:prstGeom prst="foldedCorner">
              <a:avLst>
                <a:gd name="adj" fmla="val 125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1410" tIns="45704" rIns="91410" bIns="45704"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a:ea typeface="MS UI Gothic" panose="020B0600070205080204" pitchFamily="50" charset="-128"/>
                </a:rPr>
                <a:t>Object sẽ </a:t>
              </a:r>
              <a:r>
                <a:rPr lang="en-US" altLang="ja-JP" b="0" dirty="0" err="1">
                  <a:ea typeface="MS UI Gothic" panose="020B0600070205080204" pitchFamily="50" charset="-128"/>
                </a:rPr>
                <a:t>thao</a:t>
              </a:r>
              <a:r>
                <a:rPr lang="en-US" altLang="ja-JP" b="0" dirty="0">
                  <a:ea typeface="MS UI Gothic" panose="020B0600070205080204" pitchFamily="50" charset="-128"/>
                </a:rPr>
                <a:t> </a:t>
              </a:r>
              <a:r>
                <a:rPr lang="en-US" altLang="ja-JP" b="0" dirty="0" err="1">
                  <a:ea typeface="MS UI Gothic" panose="020B0600070205080204" pitchFamily="50" charset="-128"/>
                </a:rPr>
                <a:t>tác</a:t>
              </a:r>
              <a:r>
                <a:rPr lang="en-US" altLang="ja-JP" b="0" dirty="0">
                  <a:ea typeface="MS UI Gothic" panose="020B0600070205080204" pitchFamily="50" charset="-128"/>
                </a:rPr>
                <a:t> object </a:t>
              </a:r>
              <a:r>
                <a:rPr lang="en-US" altLang="ja-JP" b="0" dirty="0" err="1">
                  <a:ea typeface="MS UI Gothic" panose="020B0600070205080204" pitchFamily="50" charset="-128"/>
                </a:rPr>
                <a:t>của</a:t>
              </a:r>
              <a:r>
                <a:rPr lang="en-US" altLang="ja-JP" b="0" dirty="0">
                  <a:ea typeface="MS UI Gothic" panose="020B0600070205080204" pitchFamily="50" charset="-128"/>
                </a:rPr>
                <a:t> Person class</a:t>
              </a:r>
            </a:p>
            <a:p>
              <a:pPr algn="ctr"/>
              <a:r>
                <a:rPr lang="ja-JP" altLang="en-US" b="0" dirty="0">
                  <a:ea typeface="MS UI Gothic" panose="020B0600070205080204" pitchFamily="50" charset="-128"/>
                </a:rPr>
                <a:t>（</a:t>
              </a:r>
              <a:r>
                <a:rPr lang="en-US" altLang="ja-JP" b="0" dirty="0" err="1">
                  <a:ea typeface="MS UI Gothic" panose="020B0600070205080204" pitchFamily="50" charset="-128"/>
                </a:rPr>
                <a:t>Người</a:t>
              </a:r>
              <a:r>
                <a:rPr lang="en-US" altLang="ja-JP" b="0" dirty="0">
                  <a:ea typeface="MS UI Gothic" panose="020B0600070205080204" pitchFamily="50" charset="-128"/>
                </a:rPr>
                <a:t> </a:t>
              </a:r>
              <a:r>
                <a:rPr lang="en-US" altLang="ja-JP" b="0" dirty="0" err="1">
                  <a:ea typeface="MS UI Gothic" panose="020B0600070205080204" pitchFamily="50" charset="-128"/>
                </a:rPr>
                <a:t>sư</a:t>
              </a:r>
              <a:r>
                <a:rPr lang="en-US" altLang="ja-JP" b="0" dirty="0">
                  <a:ea typeface="MS UI Gothic" panose="020B0600070205080204" pitchFamily="50" charset="-128"/>
                </a:rPr>
                <a:t>̉ </a:t>
              </a:r>
              <a:r>
                <a:rPr lang="en-US" altLang="ja-JP" b="0" dirty="0" err="1">
                  <a:ea typeface="MS UI Gothic" panose="020B0600070205080204" pitchFamily="50" charset="-128"/>
                </a:rPr>
                <a:t>dụng</a:t>
              </a:r>
              <a:r>
                <a:rPr lang="en-US" altLang="ja-JP" b="0" dirty="0">
                  <a:ea typeface="MS UI Gothic" panose="020B0600070205080204" pitchFamily="50" charset="-128"/>
                </a:rPr>
                <a:t> Person class</a:t>
              </a:r>
              <a:r>
                <a:rPr lang="ja-JP" altLang="en-US" b="0" dirty="0">
                  <a:ea typeface="MS UI Gothic" panose="020B0600070205080204" pitchFamily="50" charset="-128"/>
                </a:rPr>
                <a:t>）</a:t>
              </a:r>
            </a:p>
          </p:txBody>
        </p:sp>
      </p:grpSp>
    </p:spTree>
    <p:extLst>
      <p:ext uri="{BB962C8B-B14F-4D97-AF65-F5344CB8AC3E}">
        <p14:creationId xmlns:p14="http://schemas.microsoft.com/office/powerpoint/2010/main" val="583241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1BA643B9-D237-16DB-C8CD-CFB7434468CE}"/>
              </a:ext>
            </a:extLst>
          </p:cNvPr>
          <p:cNvSpPr>
            <a:spLocks noGrp="1"/>
          </p:cNvSpPr>
          <p:nvPr>
            <p:ph type="sldNum" sz="quarter" idx="10"/>
          </p:nvPr>
        </p:nvSpPr>
        <p:spPr/>
        <p:txBody>
          <a:bodyPr/>
          <a:lstStyle/>
          <a:p>
            <a:fld id="{1925CFD7-61DB-4977-A57B-1418C3E8A990}" type="slidenum">
              <a:rPr lang="en-US" altLang="ja-JP"/>
              <a:pPr/>
              <a:t>16</a:t>
            </a:fld>
            <a:endParaRPr lang="en-US" altLang="ja-JP"/>
          </a:p>
        </p:txBody>
      </p:sp>
      <p:sp>
        <p:nvSpPr>
          <p:cNvPr id="559106" name="Rectangle 2">
            <a:extLst>
              <a:ext uri="{FF2B5EF4-FFF2-40B4-BE49-F238E27FC236}">
                <a16:creationId xmlns:a16="http://schemas.microsoft.com/office/drawing/2014/main" id="{24398D11-8851-70E5-9CCC-A9D8C62CA8A9}"/>
              </a:ext>
            </a:extLst>
          </p:cNvPr>
          <p:cNvSpPr>
            <a:spLocks noGrp="1" noChangeArrowheads="1"/>
          </p:cNvSpPr>
          <p:nvPr>
            <p:ph type="title"/>
          </p:nvPr>
        </p:nvSpPr>
        <p:spPr>
          <a:xfrm>
            <a:off x="344488" y="310357"/>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Gọi</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ra</a:t>
            </a:r>
            <a:r>
              <a:rPr lang="en-US" altLang="ja-JP" dirty="0">
                <a:latin typeface="Arial" panose="020B0604020202020204" pitchFamily="34" charset="0"/>
                <a:ea typeface="MS UI Gothic" panose="020B0600070205080204" pitchFamily="50" charset="-128"/>
              </a:rPr>
              <a:t> method</a:t>
            </a:r>
          </a:p>
        </p:txBody>
      </p:sp>
      <p:sp>
        <p:nvSpPr>
          <p:cNvPr id="559107" name="Rectangle 3">
            <a:extLst>
              <a:ext uri="{FF2B5EF4-FFF2-40B4-BE49-F238E27FC236}">
                <a16:creationId xmlns:a16="http://schemas.microsoft.com/office/drawing/2014/main" id="{C47A37FC-5803-DA49-D042-90FF74E1F66B}"/>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59108" name="Rectangle 4">
            <a:extLst>
              <a:ext uri="{FF2B5EF4-FFF2-40B4-BE49-F238E27FC236}">
                <a16:creationId xmlns:a16="http://schemas.microsoft.com/office/drawing/2014/main" id="{64023770-2587-51F6-3988-5280D181038A}"/>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Gọi ra instance method</a:t>
            </a: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559109" name="Rectangle 5">
            <a:extLst>
              <a:ext uri="{FF2B5EF4-FFF2-40B4-BE49-F238E27FC236}">
                <a16:creationId xmlns:a16="http://schemas.microsoft.com/office/drawing/2014/main" id="{627E9BF7-87FC-25E1-F8CE-EF8975668B7B}"/>
              </a:ext>
            </a:extLst>
          </p:cNvPr>
          <p:cNvSpPr>
            <a:spLocks noChangeArrowheads="1"/>
          </p:cNvSpPr>
          <p:nvPr/>
        </p:nvSpPr>
        <p:spPr bwMode="auto">
          <a:xfrm>
            <a:off x="344488" y="26638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559110" name="Rectangle 6">
            <a:extLst>
              <a:ext uri="{FF2B5EF4-FFF2-40B4-BE49-F238E27FC236}">
                <a16:creationId xmlns:a16="http://schemas.microsoft.com/office/drawing/2014/main" id="{E348D173-BC91-E4CB-4D7F-FF226612663B}"/>
              </a:ext>
            </a:extLst>
          </p:cNvPr>
          <p:cNvSpPr>
            <a:spLocks noChangeArrowheads="1"/>
          </p:cNvSpPr>
          <p:nvPr/>
        </p:nvSpPr>
        <p:spPr bwMode="auto">
          <a:xfrm>
            <a:off x="344488" y="3181350"/>
            <a:ext cx="9120187" cy="3170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spcBef>
                <a:spcPct val="0"/>
              </a:spcBef>
            </a:pPr>
            <a:r>
              <a:rPr lang="en-US" altLang="ja-JP" sz="1800" b="0">
                <a:latin typeface="ＭＳ ゴシック" panose="020B0609070205080204" pitchFamily="49" charset="-128"/>
                <a:ea typeface="ＭＳ ゴシック" panose="020B0609070205080204" pitchFamily="49" charset="-128"/>
              </a:rPr>
              <a:t>Person personA = new Person("</a:t>
            </a:r>
            <a:r>
              <a:rPr lang="ja-JP" altLang="en-US" sz="1800" b="0">
                <a:latin typeface="ＭＳ ゴシック" panose="020B0609070205080204" pitchFamily="49" charset="-128"/>
                <a:ea typeface="ＭＳ ゴシック" panose="020B0609070205080204" pitchFamily="49" charset="-128"/>
              </a:rPr>
              <a:t>佐藤</a:t>
            </a:r>
            <a:r>
              <a:rPr lang="en-US" altLang="ja-JP" sz="1800" b="0">
                <a:latin typeface="ＭＳ ゴシック" panose="020B0609070205080204" pitchFamily="49" charset="-128"/>
                <a:ea typeface="ＭＳ ゴシック" panose="020B0609070205080204" pitchFamily="49" charset="-128"/>
              </a:rPr>
              <a:t>(Sato)", "</a:t>
            </a:r>
            <a:r>
              <a:rPr lang="ja-JP" altLang="en-US" sz="1800" b="0">
                <a:latin typeface="ＭＳ ゴシック" panose="020B0609070205080204" pitchFamily="49" charset="-128"/>
                <a:ea typeface="ＭＳ ゴシック" panose="020B0609070205080204" pitchFamily="49" charset="-128"/>
              </a:rPr>
              <a:t>花子</a:t>
            </a:r>
            <a:r>
              <a:rPr lang="en-US" altLang="ja-JP" sz="1800" b="0">
                <a:latin typeface="ＭＳ ゴシック" panose="020B0609070205080204" pitchFamily="49" charset="-128"/>
                <a:ea typeface="ＭＳ ゴシック" panose="020B0609070205080204" pitchFamily="49" charset="-128"/>
              </a:rPr>
              <a:t>(Hanako)", 22);</a:t>
            </a:r>
          </a:p>
          <a:p>
            <a:pPr lvl="1">
              <a:spcBef>
                <a:spcPct val="0"/>
              </a:spcBef>
            </a:pPr>
            <a:endParaRPr lang="en-US" altLang="ja-JP" sz="1800" b="0">
              <a:latin typeface="ＭＳ ゴシック" panose="020B0609070205080204" pitchFamily="49" charset="-128"/>
              <a:ea typeface="ＭＳ ゴシック" panose="020B0609070205080204" pitchFamily="49" charset="-128"/>
            </a:endParaRPr>
          </a:p>
          <a:p>
            <a:pPr lvl="1">
              <a:spcBef>
                <a:spcPct val="0"/>
              </a:spcBef>
            </a:pPr>
            <a:r>
              <a:rPr lang="en-US" altLang="ja-JP" sz="1800" b="0">
                <a:latin typeface="ＭＳ ゴシック" panose="020B0609070205080204" pitchFamily="49" charset="-128"/>
                <a:ea typeface="ＭＳ ゴシック" panose="020B0609070205080204" pitchFamily="49" charset="-128"/>
              </a:rPr>
              <a:t>// </a:t>
            </a:r>
            <a:r>
              <a:rPr lang="en-US" altLang="ja-JP" sz="1800" b="0">
                <a:latin typeface="Arial" panose="020B0604020202020204" pitchFamily="34" charset="0"/>
                <a:ea typeface="ＭＳ ゴシック" panose="020B0609070205080204" pitchFamily="49" charset="-128"/>
              </a:rPr>
              <a:t>Hiển thị thông tin cá nhân</a:t>
            </a:r>
          </a:p>
          <a:p>
            <a:pPr lvl="1">
              <a:spcBef>
                <a:spcPct val="0"/>
              </a:spcBef>
            </a:pPr>
            <a:r>
              <a:rPr lang="en-US" altLang="ja-JP" sz="1800">
                <a:solidFill>
                  <a:srgbClr val="0000FF"/>
                </a:solidFill>
                <a:latin typeface="ＭＳ ゴシック" panose="020B0609070205080204" pitchFamily="49" charset="-128"/>
                <a:ea typeface="ＭＳ ゴシック" panose="020B0609070205080204" pitchFamily="49" charset="-128"/>
              </a:rPr>
              <a:t>personA.printInfo();</a:t>
            </a:r>
            <a:r>
              <a:rPr lang="en-US" altLang="ja-JP" sz="1800" b="0">
                <a:latin typeface="ＭＳ ゴシック" panose="020B0609070205080204" pitchFamily="49" charset="-128"/>
                <a:ea typeface="ＭＳ ゴシック" panose="020B0609070205080204" pitchFamily="49" charset="-128"/>
              </a:rPr>
              <a:t>  // </a:t>
            </a:r>
            <a:r>
              <a:rPr lang="en-US" altLang="ja-JP" sz="1600" b="0">
                <a:latin typeface="Arial" panose="020B0604020202020204" pitchFamily="34" charset="0"/>
                <a:ea typeface="ＭＳ ゴシック" panose="020B0609070205080204" pitchFamily="49" charset="-128"/>
              </a:rPr>
              <a:t>Ví dụ gọi ra method không có đối số, không có giá trị trả về</a:t>
            </a:r>
          </a:p>
          <a:p>
            <a:pPr lvl="1"/>
            <a:r>
              <a:rPr lang="en-US" altLang="ja-JP" sz="1800" b="0">
                <a:latin typeface="ＭＳ ゴシック" panose="020B0609070205080204" pitchFamily="49" charset="-128"/>
                <a:ea typeface="ＭＳ ゴシック" panose="020B0609070205080204" pitchFamily="49" charset="-128"/>
              </a:rPr>
              <a:t>// </a:t>
            </a:r>
            <a:r>
              <a:rPr lang="en-US" altLang="ja-JP" sz="1800" b="0">
                <a:latin typeface="Arial" panose="020B0604020202020204" pitchFamily="34" charset="0"/>
                <a:ea typeface="ＭＳ ゴシック" panose="020B0609070205080204" pitchFamily="49" charset="-128"/>
              </a:rPr>
              <a:t>Thay đổi họ</a:t>
            </a:r>
          </a:p>
          <a:p>
            <a:pPr lvl="1">
              <a:spcBef>
                <a:spcPct val="0"/>
              </a:spcBef>
            </a:pPr>
            <a:r>
              <a:rPr lang="en-US" altLang="ja-JP" sz="1800">
                <a:solidFill>
                  <a:srgbClr val="0000FF"/>
                </a:solidFill>
                <a:latin typeface="ＭＳ ゴシック" panose="020B0609070205080204" pitchFamily="49" charset="-128"/>
                <a:ea typeface="ＭＳ ゴシック" panose="020B0609070205080204" pitchFamily="49" charset="-128"/>
              </a:rPr>
              <a:t>personA.setLastName("</a:t>
            </a:r>
            <a:r>
              <a:rPr lang="ja-JP" altLang="en-US" sz="1800">
                <a:solidFill>
                  <a:srgbClr val="0000FF"/>
                </a:solidFill>
                <a:latin typeface="ＭＳ ゴシック" panose="020B0609070205080204" pitchFamily="49" charset="-128"/>
                <a:ea typeface="ＭＳ ゴシック" panose="020B0609070205080204" pitchFamily="49" charset="-128"/>
              </a:rPr>
              <a:t>川村</a:t>
            </a:r>
            <a:r>
              <a:rPr lang="en-US" altLang="ja-JP" sz="1800">
                <a:solidFill>
                  <a:srgbClr val="0000FF"/>
                </a:solidFill>
                <a:latin typeface="ＭＳ ゴシック" panose="020B0609070205080204" pitchFamily="49" charset="-128"/>
                <a:ea typeface="ＭＳ ゴシック" panose="020B0609070205080204" pitchFamily="49" charset="-128"/>
              </a:rPr>
              <a:t>(Kawamura)");</a:t>
            </a:r>
            <a:r>
              <a:rPr lang="en-US" altLang="ja-JP" sz="1800" b="0">
                <a:latin typeface="ＭＳ ゴシック" panose="020B0609070205080204" pitchFamily="49" charset="-128"/>
                <a:ea typeface="ＭＳ ゴシック" panose="020B0609070205080204" pitchFamily="49" charset="-128"/>
              </a:rPr>
              <a:t> // </a:t>
            </a:r>
            <a:r>
              <a:rPr lang="en-US" altLang="ja-JP" sz="1600" b="0">
                <a:latin typeface="Arial" panose="020B0604020202020204" pitchFamily="34" charset="0"/>
                <a:ea typeface="ＭＳ ゴシック" panose="020B0609070205080204" pitchFamily="49" charset="-128"/>
              </a:rPr>
              <a:t>Ví dụ gọi ra method có đối số, không có giá trị trả về.</a:t>
            </a:r>
          </a:p>
          <a:p>
            <a:pPr lvl="1"/>
            <a:r>
              <a:rPr lang="en-US" altLang="ja-JP" sz="1800" b="0">
                <a:latin typeface="ＭＳ ゴシック" panose="020B0609070205080204" pitchFamily="49" charset="-128"/>
                <a:ea typeface="ＭＳ ゴシック" panose="020B0609070205080204" pitchFamily="49" charset="-128"/>
              </a:rPr>
              <a:t>// </a:t>
            </a:r>
            <a:r>
              <a:rPr lang="en-US" altLang="ja-JP" sz="1800" b="0">
                <a:latin typeface="Arial" panose="020B0604020202020204" pitchFamily="34" charset="0"/>
                <a:ea typeface="ＭＳ ゴシック" panose="020B0609070205080204" pitchFamily="49" charset="-128"/>
              </a:rPr>
              <a:t>Get họ tên</a:t>
            </a:r>
          </a:p>
          <a:p>
            <a:pPr lvl="1">
              <a:spcBef>
                <a:spcPct val="0"/>
              </a:spcBef>
            </a:pPr>
            <a:r>
              <a:rPr lang="en-US" altLang="ja-JP" sz="1800">
                <a:solidFill>
                  <a:srgbClr val="0000FF"/>
                </a:solidFill>
                <a:latin typeface="ＭＳ ゴシック" panose="020B0609070205080204" pitchFamily="49" charset="-128"/>
                <a:ea typeface="ＭＳ ゴシック" panose="020B0609070205080204" pitchFamily="49" charset="-128"/>
              </a:rPr>
              <a:t>String fullName = personA.getFullName();</a:t>
            </a:r>
          </a:p>
          <a:p>
            <a:pPr lvl="1">
              <a:spcBef>
                <a:spcPct val="0"/>
              </a:spcBef>
            </a:pPr>
            <a:r>
              <a:rPr lang="en-US" altLang="ja-JP" sz="1800">
                <a:solidFill>
                  <a:srgbClr val="0000FF"/>
                </a:solidFill>
                <a:latin typeface="ＭＳ ゴシック" panose="020B0609070205080204" pitchFamily="49" charset="-128"/>
                <a:ea typeface="ＭＳ ゴシック" panose="020B0609070205080204" pitchFamily="49" charset="-128"/>
              </a:rPr>
              <a:t>                           </a:t>
            </a:r>
            <a:r>
              <a:rPr lang="en-US" altLang="ja-JP" sz="1800" b="0">
                <a:latin typeface="ＭＳ ゴシック" panose="020B0609070205080204" pitchFamily="49" charset="-128"/>
                <a:ea typeface="ＭＳ ゴシック" panose="020B0609070205080204" pitchFamily="49" charset="-128"/>
              </a:rPr>
              <a:t>     // </a:t>
            </a:r>
            <a:r>
              <a:rPr lang="en-US" altLang="ja-JP" sz="1600" b="0">
                <a:latin typeface="Arial" panose="020B0604020202020204" pitchFamily="34" charset="0"/>
                <a:ea typeface="ＭＳ ゴシック" panose="020B0609070205080204" pitchFamily="49" charset="-128"/>
              </a:rPr>
              <a:t>Ví dụ gọi ra method không có đối số, có giá trị trả về</a:t>
            </a:r>
          </a:p>
          <a:p>
            <a:pPr lvl="1"/>
            <a:r>
              <a:rPr lang="en-US" altLang="ja-JP" sz="1800" b="0">
                <a:latin typeface="ＭＳ ゴシック" panose="020B0609070205080204" pitchFamily="49" charset="-128"/>
                <a:ea typeface="ＭＳ ゴシック" panose="020B0609070205080204" pitchFamily="49" charset="-128"/>
              </a:rPr>
              <a:t>System.out.println("</a:t>
            </a:r>
            <a:r>
              <a:rPr lang="ja-JP" altLang="en-US" sz="1800" b="0">
                <a:latin typeface="ＭＳ ゴシック" panose="020B0609070205080204" pitchFamily="49" charset="-128"/>
                <a:ea typeface="ＭＳ ゴシック" panose="020B0609070205080204" pitchFamily="49" charset="-128"/>
              </a:rPr>
              <a:t>変更後の姓名は</a:t>
            </a:r>
            <a:r>
              <a:rPr lang="en-US" altLang="ja-JP" sz="1600" b="0">
                <a:latin typeface="Arial" panose="020B0604020202020204" pitchFamily="34" charset="0"/>
                <a:ea typeface="ＭＳ ゴシック" panose="020B0609070205080204" pitchFamily="49" charset="-128"/>
              </a:rPr>
              <a:t>(Họ tên sau khi thay đổi là</a:t>
            </a:r>
            <a:r>
              <a:rPr lang="en-US" altLang="ja-JP" sz="1800" b="0">
                <a:latin typeface="Arial" panose="020B0604020202020204" pitchFamily="34" charset="0"/>
                <a:ea typeface="ＭＳ ゴシック" panose="020B0609070205080204" pitchFamily="49" charset="-128"/>
              </a:rPr>
              <a:t>)"</a:t>
            </a:r>
            <a:r>
              <a:rPr lang="en-US" altLang="ja-JP" sz="1800" b="0">
                <a:latin typeface="ＭＳ ゴシック" panose="020B0609070205080204" pitchFamily="49" charset="-128"/>
                <a:ea typeface="ＭＳ ゴシック" panose="020B0609070205080204" pitchFamily="49" charset="-128"/>
              </a:rPr>
              <a:t> + fullName + "</a:t>
            </a:r>
            <a:r>
              <a:rPr lang="ja-JP" altLang="en-US" sz="1800" b="0">
                <a:latin typeface="ＭＳ ゴシック" panose="020B0609070205080204" pitchFamily="49" charset="-128"/>
                <a:ea typeface="ＭＳ ゴシック" panose="020B0609070205080204" pitchFamily="49" charset="-128"/>
              </a:rPr>
              <a:t>です</a:t>
            </a:r>
            <a:r>
              <a:rPr lang="en-US" altLang="ja-JP" sz="1800" b="0">
                <a:latin typeface="ＭＳ ゴシック" panose="020B0609070205080204" pitchFamily="49" charset="-128"/>
                <a:ea typeface="ＭＳ ゴシック" panose="020B0609070205080204" pitchFamily="49" charset="-128"/>
              </a:rPr>
              <a:t>");</a:t>
            </a:r>
          </a:p>
        </p:txBody>
      </p:sp>
      <p:sp>
        <p:nvSpPr>
          <p:cNvPr id="559111" name="Text Box 7">
            <a:extLst>
              <a:ext uri="{FF2B5EF4-FFF2-40B4-BE49-F238E27FC236}">
                <a16:creationId xmlns:a16="http://schemas.microsoft.com/office/drawing/2014/main" id="{406A9BD5-BC9B-2D67-F569-D8C53CF72217}"/>
              </a:ext>
            </a:extLst>
          </p:cNvPr>
          <p:cNvSpPr txBox="1">
            <a:spLocks noChangeArrowheads="1"/>
          </p:cNvSpPr>
          <p:nvPr/>
        </p:nvSpPr>
        <p:spPr bwMode="auto">
          <a:xfrm>
            <a:off x="349250" y="1752600"/>
            <a:ext cx="9120188" cy="449263"/>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ja-JP" sz="2000">
                <a:ea typeface="MS UI Gothic" panose="020B0600070205080204" pitchFamily="50" charset="-128"/>
              </a:rPr>
              <a:t>　</a:t>
            </a:r>
            <a:r>
              <a:rPr lang="en-US" altLang="ja-JP" sz="2000">
                <a:ea typeface="MS UI Gothic" panose="020B0600070205080204" pitchFamily="50" charset="-128"/>
              </a:rPr>
              <a:t>Tên biến có tham chiếu của object</a:t>
            </a:r>
            <a:r>
              <a:rPr lang="ja-JP" altLang="ja-JP" sz="2000">
                <a:ea typeface="MS UI Gothic" panose="020B0600070205080204" pitchFamily="50" charset="-128"/>
              </a:rPr>
              <a:t> . </a:t>
            </a:r>
            <a:r>
              <a:rPr lang="en-US" altLang="ja-JP" sz="2000">
                <a:ea typeface="MS UI Gothic" panose="020B0600070205080204" pitchFamily="50" charset="-128"/>
              </a:rPr>
              <a:t>Tên method</a:t>
            </a:r>
            <a:r>
              <a:rPr lang="ja-JP" altLang="ja-JP" sz="2000">
                <a:ea typeface="ＭＳ ゴシック" panose="020B0609070205080204" pitchFamily="49" charset="-128"/>
              </a:rPr>
              <a:t>(</a:t>
            </a:r>
            <a:r>
              <a:rPr lang="ja-JP" altLang="ja-JP" sz="2000">
                <a:ea typeface="MS UI Gothic" panose="020B0600070205080204" pitchFamily="50" charset="-128"/>
              </a:rPr>
              <a:t> </a:t>
            </a:r>
            <a:r>
              <a:rPr lang="en-US" altLang="ja-JP" sz="2000">
                <a:ea typeface="MS UI Gothic" panose="020B0600070205080204" pitchFamily="50" charset="-128"/>
              </a:rPr>
              <a:t>List đối số</a:t>
            </a:r>
            <a:r>
              <a:rPr lang="ja-JP" altLang="ja-JP" sz="2000">
                <a:ea typeface="MS UI Gothic" panose="020B0600070205080204" pitchFamily="50" charset="-128"/>
              </a:rPr>
              <a:t> </a:t>
            </a:r>
            <a:r>
              <a:rPr lang="ja-JP" altLang="ja-JP" sz="2000">
                <a:ea typeface="ＭＳ ゴシック" panose="020B0609070205080204" pitchFamily="49" charset="-128"/>
              </a:rPr>
              <a:t>)</a:t>
            </a:r>
            <a:r>
              <a:rPr lang="ja-JP" altLang="ja-JP" sz="2000">
                <a:ea typeface="MS UI Gothic" panose="020B0600070205080204" pitchFamily="50" charset="-128"/>
              </a:rPr>
              <a:t> </a:t>
            </a:r>
          </a:p>
        </p:txBody>
      </p:sp>
      <p:sp>
        <p:nvSpPr>
          <p:cNvPr id="559112" name="AutoShape 8">
            <a:extLst>
              <a:ext uri="{FF2B5EF4-FFF2-40B4-BE49-F238E27FC236}">
                <a16:creationId xmlns:a16="http://schemas.microsoft.com/office/drawing/2014/main" id="{11BFC063-C03F-B413-8818-DD1D7C8CED17}"/>
              </a:ext>
            </a:extLst>
          </p:cNvPr>
          <p:cNvSpPr>
            <a:spLocks noChangeArrowheads="1"/>
          </p:cNvSpPr>
          <p:nvPr/>
        </p:nvSpPr>
        <p:spPr bwMode="auto">
          <a:xfrm>
            <a:off x="2601913" y="2430463"/>
            <a:ext cx="4845050" cy="615950"/>
          </a:xfrm>
          <a:prstGeom prst="wedgeRoundRectCallout">
            <a:avLst>
              <a:gd name="adj1" fmla="val 12778"/>
              <a:gd name="adj2" fmla="val -83245"/>
              <a:gd name="adj3" fmla="val 16667"/>
            </a:avLst>
          </a:prstGeom>
          <a:solidFill>
            <a:srgbClr val="FFCC99">
              <a:alpha val="66000"/>
            </a:srgbClr>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Kê</a:t>
            </a:r>
            <a:r>
              <a:rPr lang="en-US" altLang="ja-JP" sz="1800" dirty="0">
                <a:latin typeface="+mj-lt"/>
              </a:rPr>
              <a:t>̉ cả </a:t>
            </a:r>
            <a:r>
              <a:rPr lang="en-US" altLang="ja-JP" sz="1800" dirty="0" err="1">
                <a:latin typeface="+mj-lt"/>
              </a:rPr>
              <a:t>trường</a:t>
            </a:r>
            <a:r>
              <a:rPr lang="en-US" altLang="ja-JP" sz="1800" dirty="0">
                <a:latin typeface="+mj-lt"/>
              </a:rPr>
              <a:t> </a:t>
            </a:r>
            <a:r>
              <a:rPr lang="en-US" altLang="ja-JP" sz="1800" dirty="0" err="1">
                <a:latin typeface="+mj-lt"/>
              </a:rPr>
              <a:t>hợp</a:t>
            </a:r>
            <a:r>
              <a:rPr lang="en-US" altLang="ja-JP" sz="1800" dirty="0">
                <a:latin typeface="+mj-lt"/>
              </a:rPr>
              <a:t> </a:t>
            </a:r>
            <a:r>
              <a:rPr lang="en-US" altLang="ja-JP" sz="1800" dirty="0" err="1">
                <a:latin typeface="+mj-lt"/>
              </a:rPr>
              <a:t>không</a:t>
            </a:r>
            <a:r>
              <a:rPr lang="en-US" altLang="ja-JP" sz="1800" dirty="0">
                <a:latin typeface="+mj-lt"/>
              </a:rPr>
              <a:t> có </a:t>
            </a:r>
            <a:r>
              <a:rPr lang="en-US" altLang="ja-JP" sz="1800" dirty="0" err="1">
                <a:latin typeface="+mj-lt"/>
              </a:rPr>
              <a:t>việc</a:t>
            </a:r>
            <a:r>
              <a:rPr lang="en-US" altLang="ja-JP" sz="1800" dirty="0">
                <a:latin typeface="+mj-lt"/>
              </a:rPr>
              <a:t> </a:t>
            </a:r>
            <a:r>
              <a:rPr lang="en-US" altLang="ja-JP" sz="1800" dirty="0" err="1">
                <a:latin typeface="+mj-lt"/>
              </a:rPr>
              <a:t>truyền</a:t>
            </a:r>
            <a:r>
              <a:rPr lang="en-US" altLang="ja-JP" sz="1800" dirty="0">
                <a:latin typeface="+mj-lt"/>
              </a:rPr>
              <a:t> </a:t>
            </a:r>
            <a:r>
              <a:rPr lang="en-US" altLang="ja-JP" sz="1800" dirty="0" err="1">
                <a:latin typeface="+mj-lt"/>
              </a:rPr>
              <a:t>nhận</a:t>
            </a:r>
            <a:r>
              <a:rPr lang="en-US" altLang="ja-JP" sz="1800" dirty="0">
                <a:latin typeface="+mj-lt"/>
              </a:rPr>
              <a:t> </a:t>
            </a:r>
            <a:r>
              <a:rPr lang="en-US" altLang="ja-JP" sz="1800" dirty="0" err="1">
                <a:latin typeface="+mj-lt"/>
              </a:rPr>
              <a:t>đối</a:t>
            </a:r>
            <a:r>
              <a:rPr lang="en-US" altLang="ja-JP" sz="1800" dirty="0">
                <a:latin typeface="+mj-lt"/>
              </a:rPr>
              <a:t> </a:t>
            </a:r>
            <a:r>
              <a:rPr lang="en-US" altLang="ja-JP" sz="1800" dirty="0" err="1">
                <a:latin typeface="+mj-lt"/>
              </a:rPr>
              <a:t>sô</a:t>
            </a:r>
            <a:r>
              <a:rPr lang="en-US" altLang="ja-JP" sz="1800" dirty="0">
                <a:latin typeface="+mj-lt"/>
              </a:rPr>
              <a:t>́ </a:t>
            </a:r>
            <a:r>
              <a:rPr lang="en-US" altLang="ja-JP" sz="1800" dirty="0" err="1">
                <a:latin typeface="+mj-lt"/>
              </a:rPr>
              <a:t>thi</a:t>
            </a:r>
            <a:r>
              <a:rPr lang="en-US" altLang="ja-JP" sz="1800" dirty="0">
                <a:latin typeface="+mj-lt"/>
              </a:rPr>
              <a:t>̀ () </a:t>
            </a:r>
            <a:r>
              <a:rPr lang="en-US" altLang="ja-JP" sz="1800" dirty="0" err="1">
                <a:latin typeface="+mj-lt"/>
              </a:rPr>
              <a:t>cũng</a:t>
            </a:r>
            <a:r>
              <a:rPr lang="en-US" altLang="ja-JP" sz="1800" dirty="0">
                <a:latin typeface="+mj-lt"/>
              </a:rPr>
              <a:t> </a:t>
            </a:r>
            <a:r>
              <a:rPr lang="en-US" altLang="ja-JP" sz="1800" dirty="0" err="1">
                <a:latin typeface="+mj-lt"/>
              </a:rPr>
              <a:t>cần</a:t>
            </a:r>
            <a:r>
              <a:rPr lang="en-US" altLang="ja-JP" sz="1800" dirty="0">
                <a:latin typeface="+mj-lt"/>
              </a:rPr>
              <a:t> </a:t>
            </a:r>
            <a:r>
              <a:rPr lang="en-US" altLang="ja-JP" sz="1800" dirty="0" err="1">
                <a:latin typeface="+mj-lt"/>
              </a:rPr>
              <a:t>thiết</a:t>
            </a:r>
            <a:endParaRPr lang="en-US" altLang="ja-JP" sz="1800" dirty="0">
              <a:latin typeface="+mj-lt"/>
            </a:endParaRPr>
          </a:p>
        </p:txBody>
      </p:sp>
      <p:sp>
        <p:nvSpPr>
          <p:cNvPr id="559113" name="AutoShape 9">
            <a:extLst>
              <a:ext uri="{FF2B5EF4-FFF2-40B4-BE49-F238E27FC236}">
                <a16:creationId xmlns:a16="http://schemas.microsoft.com/office/drawing/2014/main" id="{346D5CD9-4E68-9357-9675-C091E04B4F20}"/>
              </a:ext>
            </a:extLst>
          </p:cNvPr>
          <p:cNvSpPr>
            <a:spLocks noChangeArrowheads="1"/>
          </p:cNvSpPr>
          <p:nvPr/>
        </p:nvSpPr>
        <p:spPr bwMode="auto">
          <a:xfrm>
            <a:off x="7315200" y="2213164"/>
            <a:ext cx="1766888" cy="706437"/>
          </a:xfrm>
          <a:prstGeom prst="irregularSeal1">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73" tIns="47736" rIns="95473" bIns="47736"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300">
                <a:ea typeface="MS UI Gothic" panose="020B0600070205080204" pitchFamily="50" charset="-128"/>
              </a:rPr>
              <a:t>Chú ý</a:t>
            </a:r>
            <a:r>
              <a:rPr lang="ja-JP" altLang="en-US" sz="1300">
                <a:ea typeface="MS UI Gothic" panose="020B0600070205080204" pitchFamily="50" charset="-128"/>
              </a:rPr>
              <a:t>！</a:t>
            </a:r>
          </a:p>
        </p:txBody>
      </p:sp>
      <p:sp>
        <p:nvSpPr>
          <p:cNvPr id="559114" name="AutoShape 10">
            <a:extLst>
              <a:ext uri="{FF2B5EF4-FFF2-40B4-BE49-F238E27FC236}">
                <a16:creationId xmlns:a16="http://schemas.microsoft.com/office/drawing/2014/main" id="{F15E6858-04D4-05E5-3392-AAF01E097FF9}"/>
              </a:ext>
            </a:extLst>
          </p:cNvPr>
          <p:cNvSpPr>
            <a:spLocks noChangeArrowheads="1"/>
          </p:cNvSpPr>
          <p:nvPr/>
        </p:nvSpPr>
        <p:spPr bwMode="auto">
          <a:xfrm>
            <a:off x="3835542" y="1054101"/>
            <a:ext cx="6037262" cy="592137"/>
          </a:xfrm>
          <a:prstGeom prst="wedgeRoundRectCallout">
            <a:avLst>
              <a:gd name="adj1" fmla="val 18287"/>
              <a:gd name="adj2" fmla="val 77347"/>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List </a:t>
            </a:r>
            <a:r>
              <a:rPr lang="en-US" altLang="ja-JP" sz="1800" dirty="0" err="1">
                <a:latin typeface="+mj-lt"/>
              </a:rPr>
              <a:t>đối</a:t>
            </a:r>
            <a:r>
              <a:rPr lang="en-US" altLang="ja-JP" sz="1800" dirty="0">
                <a:latin typeface="+mj-lt"/>
              </a:rPr>
              <a:t> </a:t>
            </a:r>
            <a:r>
              <a:rPr lang="en-US" altLang="ja-JP" sz="1800" dirty="0" err="1">
                <a:latin typeface="+mj-lt"/>
              </a:rPr>
              <a:t>sô</a:t>
            </a:r>
            <a:r>
              <a:rPr lang="en-US" altLang="ja-JP" sz="1800" dirty="0">
                <a:latin typeface="+mj-lt"/>
              </a:rPr>
              <a:t>́ sẽ chỉ </a:t>
            </a:r>
            <a:r>
              <a:rPr lang="en-US" altLang="ja-JP" sz="1800" dirty="0" err="1">
                <a:latin typeface="+mj-lt"/>
              </a:rPr>
              <a:t>định</a:t>
            </a:r>
            <a:r>
              <a:rPr lang="en-US" altLang="ja-JP" sz="1800" dirty="0">
                <a:latin typeface="+mj-lt"/>
              </a:rPr>
              <a:t> </a:t>
            </a:r>
            <a:r>
              <a:rPr lang="en-US" altLang="ja-JP" sz="1800" dirty="0" err="1">
                <a:latin typeface="+mj-lt"/>
              </a:rPr>
              <a:t>những</a:t>
            </a:r>
            <a:r>
              <a:rPr lang="en-US" altLang="ja-JP" sz="1800" dirty="0">
                <a:latin typeface="+mj-lt"/>
              </a:rPr>
              <a:t> </a:t>
            </a:r>
            <a:r>
              <a:rPr lang="en-US" altLang="ja-JP" sz="1800" dirty="0" err="1">
                <a:latin typeface="+mj-lt"/>
              </a:rPr>
              <a:t>đối</a:t>
            </a:r>
            <a:r>
              <a:rPr lang="en-US" altLang="ja-JP" sz="1800" dirty="0">
                <a:latin typeface="+mj-lt"/>
              </a:rPr>
              <a:t> </a:t>
            </a:r>
            <a:r>
              <a:rPr lang="en-US" altLang="ja-JP" sz="1800" dirty="0" err="1">
                <a:latin typeface="+mj-lt"/>
              </a:rPr>
              <a:t>số</a:t>
            </a:r>
            <a:r>
              <a:rPr lang="en-US" altLang="ja-JP" sz="1800" dirty="0">
                <a:latin typeface="+mj-lt"/>
              </a:rPr>
              <a:t> </a:t>
            </a:r>
            <a:r>
              <a:rPr lang="en-US" altLang="ja-JP" sz="1800" dirty="0" err="1">
                <a:latin typeface="+mj-lt"/>
              </a:rPr>
              <a:t>tương</a:t>
            </a:r>
            <a:r>
              <a:rPr lang="en-US" altLang="ja-JP" sz="1800" dirty="0">
                <a:latin typeface="+mj-lt"/>
              </a:rPr>
              <a:t> </a:t>
            </a:r>
            <a:r>
              <a:rPr lang="en-US" altLang="ja-JP" sz="1800" dirty="0" err="1">
                <a:latin typeface="+mj-lt"/>
              </a:rPr>
              <a:t>ứng</a:t>
            </a:r>
            <a:r>
              <a:rPr lang="en-US" altLang="ja-JP" sz="1800" dirty="0">
                <a:latin typeface="+mj-lt"/>
              </a:rPr>
              <a:t> </a:t>
            </a:r>
            <a:r>
              <a:rPr lang="en-US" altLang="ja-JP" sz="1800" dirty="0" err="1">
                <a:latin typeface="+mj-lt"/>
              </a:rPr>
              <a:t>với</a:t>
            </a:r>
            <a:r>
              <a:rPr lang="en-US" altLang="ja-JP" sz="1800" dirty="0">
                <a:latin typeface="+mj-lt"/>
              </a:rPr>
              <a:t> </a:t>
            </a:r>
            <a:r>
              <a:rPr lang="en-US" altLang="ja-JP" sz="1800" dirty="0" err="1">
                <a:latin typeface="+mj-lt"/>
              </a:rPr>
              <a:t>định</a:t>
            </a:r>
            <a:r>
              <a:rPr lang="en-US" altLang="ja-JP" sz="1800" dirty="0">
                <a:latin typeface="+mj-lt"/>
              </a:rPr>
              <a:t> </a:t>
            </a:r>
            <a:r>
              <a:rPr lang="en-US" altLang="ja-JP" sz="1800" dirty="0" err="1">
                <a:latin typeface="+mj-lt"/>
              </a:rPr>
              <a:t>nghĩa</a:t>
            </a:r>
            <a:r>
              <a:rPr lang="en-US" altLang="ja-JP" sz="1800" dirty="0">
                <a:latin typeface="+mj-lt"/>
              </a:rPr>
              <a:t> method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53E59520-2AD1-A431-7B3D-1EE18C22C6FE}"/>
              </a:ext>
            </a:extLst>
          </p:cNvPr>
          <p:cNvSpPr>
            <a:spLocks noGrp="1"/>
          </p:cNvSpPr>
          <p:nvPr>
            <p:ph type="sldNum" sz="quarter" idx="10"/>
          </p:nvPr>
        </p:nvSpPr>
        <p:spPr/>
        <p:txBody>
          <a:bodyPr/>
          <a:lstStyle/>
          <a:p>
            <a:fld id="{C6707BD3-8223-4D16-A864-18AA8BA491B4}" type="slidenum">
              <a:rPr lang="en-US" altLang="ja-JP"/>
              <a:pPr/>
              <a:t>17</a:t>
            </a:fld>
            <a:endParaRPr lang="en-US" altLang="ja-JP"/>
          </a:p>
        </p:txBody>
      </p:sp>
      <p:sp>
        <p:nvSpPr>
          <p:cNvPr id="565250" name="Rectangle 2">
            <a:extLst>
              <a:ext uri="{FF2B5EF4-FFF2-40B4-BE49-F238E27FC236}">
                <a16:creationId xmlns:a16="http://schemas.microsoft.com/office/drawing/2014/main" id="{264D8141-928B-CC93-842C-B7381E609FCB}"/>
              </a:ext>
            </a:extLst>
          </p:cNvPr>
          <p:cNvSpPr>
            <a:spLocks noGrp="1" noChangeArrowheads="1"/>
          </p:cNvSpPr>
          <p:nvPr>
            <p:ph type="title"/>
          </p:nvPr>
        </p:nvSpPr>
        <p:spPr>
          <a:xfrm>
            <a:off x="344488" y="321108"/>
            <a:ext cx="9217025" cy="490537"/>
          </a:xfrm>
        </p:spPr>
        <p:txBody>
          <a:bodyPr>
            <a:normAutofit fontScale="90000"/>
          </a:bodyPr>
          <a:lstStyle/>
          <a:p>
            <a:r>
              <a:rPr lang="en-US" altLang="ja-JP" dirty="0">
                <a:latin typeface="MS UI Gothic" panose="020B0600070205080204" pitchFamily="50" charset="-128"/>
                <a:ea typeface="MS UI Gothic" panose="020B0600070205080204" pitchFamily="50" charset="-128"/>
              </a:rPr>
              <a:t>Overload</a:t>
            </a:r>
          </a:p>
        </p:txBody>
      </p:sp>
      <p:sp>
        <p:nvSpPr>
          <p:cNvPr id="565251" name="Rectangle 3">
            <a:extLst>
              <a:ext uri="{FF2B5EF4-FFF2-40B4-BE49-F238E27FC236}">
                <a16:creationId xmlns:a16="http://schemas.microsoft.com/office/drawing/2014/main" id="{ED84BEBE-B2D9-E7AC-0FA3-0C9480C4ECB2}"/>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65252" name="Rectangle 4">
            <a:extLst>
              <a:ext uri="{FF2B5EF4-FFF2-40B4-BE49-F238E27FC236}">
                <a16:creationId xmlns:a16="http://schemas.microsoft.com/office/drawing/2014/main" id="{B31FF87B-0E62-49BE-D88C-36A8DB492ECC}"/>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Overload</a:t>
            </a:r>
          </a:p>
          <a:p>
            <a:pPr lvl="1"/>
            <a:endParaRPr lang="en-US" altLang="ja-JP" sz="2400" b="0"/>
          </a:p>
        </p:txBody>
      </p:sp>
      <p:sp>
        <p:nvSpPr>
          <p:cNvPr id="565253" name="Rectangle 5">
            <a:extLst>
              <a:ext uri="{FF2B5EF4-FFF2-40B4-BE49-F238E27FC236}">
                <a16:creationId xmlns:a16="http://schemas.microsoft.com/office/drawing/2014/main" id="{D377F195-DD81-8788-A6B8-5BF4DCBCC32E}"/>
              </a:ext>
            </a:extLst>
          </p:cNvPr>
          <p:cNvSpPr>
            <a:spLocks noChangeArrowheads="1"/>
          </p:cNvSpPr>
          <p:nvPr/>
        </p:nvSpPr>
        <p:spPr bwMode="auto">
          <a:xfrm>
            <a:off x="344488" y="23653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a:t>
            </a:r>
            <a:r>
              <a:rPr lang="en-US" altLang="ja-JP" sz="2000" b="0">
                <a:latin typeface="Arial" panose="020B0604020202020204" pitchFamily="34" charset="0"/>
              </a:rPr>
              <a:t>Ví dụ tốt</a:t>
            </a:r>
            <a:endParaRPr lang="en-US" altLang="ja-JP" sz="2400" b="0">
              <a:latin typeface="Arial" panose="020B0604020202020204" pitchFamily="34" charset="0"/>
            </a:endParaRPr>
          </a:p>
        </p:txBody>
      </p:sp>
      <p:sp>
        <p:nvSpPr>
          <p:cNvPr id="565254" name="Rectangle 6">
            <a:extLst>
              <a:ext uri="{FF2B5EF4-FFF2-40B4-BE49-F238E27FC236}">
                <a16:creationId xmlns:a16="http://schemas.microsoft.com/office/drawing/2014/main" id="{D46B7E95-B901-1545-49B5-C1C8FB4D3666}"/>
              </a:ext>
            </a:extLst>
          </p:cNvPr>
          <p:cNvSpPr>
            <a:spLocks noChangeArrowheads="1"/>
          </p:cNvSpPr>
          <p:nvPr/>
        </p:nvSpPr>
        <p:spPr bwMode="auto">
          <a:xfrm>
            <a:off x="344488" y="2930525"/>
            <a:ext cx="9120187" cy="1046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void proc1() { … }</a:t>
            </a:r>
          </a:p>
          <a:p>
            <a:pPr lvl="1"/>
            <a:r>
              <a:rPr lang="en-US" altLang="ja-JP" sz="1800" b="0">
                <a:latin typeface="ＭＳ ゴシック" panose="020B0609070205080204" pitchFamily="49" charset="-128"/>
                <a:ea typeface="ＭＳ ゴシック" panose="020B0609070205080204" pitchFamily="49" charset="-128"/>
              </a:rPr>
              <a:t>void proc1(int i, String str) { … }</a:t>
            </a:r>
          </a:p>
          <a:p>
            <a:pPr lvl="1"/>
            <a:r>
              <a:rPr lang="en-US" altLang="ja-JP" sz="1800" b="0">
                <a:latin typeface="ＭＳ ゴシック" panose="020B0609070205080204" pitchFamily="49" charset="-128"/>
                <a:ea typeface="ＭＳ ゴシック" panose="020B0609070205080204" pitchFamily="49" charset="-128"/>
              </a:rPr>
              <a:t>void proc1(String str, int i) { … }</a:t>
            </a:r>
          </a:p>
        </p:txBody>
      </p:sp>
      <p:sp>
        <p:nvSpPr>
          <p:cNvPr id="565255" name="AutoShape 7">
            <a:extLst>
              <a:ext uri="{FF2B5EF4-FFF2-40B4-BE49-F238E27FC236}">
                <a16:creationId xmlns:a16="http://schemas.microsoft.com/office/drawing/2014/main" id="{8E74E47D-422A-E122-DB8C-348DB09C83D8}"/>
              </a:ext>
            </a:extLst>
          </p:cNvPr>
          <p:cNvSpPr>
            <a:spLocks noChangeArrowheads="1"/>
          </p:cNvSpPr>
          <p:nvPr/>
        </p:nvSpPr>
        <p:spPr bwMode="auto">
          <a:xfrm>
            <a:off x="4706143" y="3533775"/>
            <a:ext cx="5068887" cy="617538"/>
          </a:xfrm>
          <a:prstGeom prst="wedgeRoundRectCallout">
            <a:avLst>
              <a:gd name="adj1" fmla="val -40481"/>
              <a:gd name="adj2" fmla="val -58741"/>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List </a:t>
            </a:r>
            <a:r>
              <a:rPr lang="en-US" altLang="ja-JP" sz="1800" dirty="0" err="1">
                <a:latin typeface="+mj-lt"/>
              </a:rPr>
              <a:t>đối</a:t>
            </a:r>
            <a:r>
              <a:rPr lang="en-US" altLang="ja-JP" sz="1800" dirty="0">
                <a:latin typeface="+mj-lt"/>
              </a:rPr>
              <a:t> </a:t>
            </a:r>
            <a:r>
              <a:rPr lang="en-US" altLang="ja-JP" sz="1800" dirty="0" err="1">
                <a:latin typeface="+mj-lt"/>
              </a:rPr>
              <a:t>sô</a:t>
            </a:r>
            <a:r>
              <a:rPr lang="en-US" altLang="ja-JP" sz="1800" dirty="0">
                <a:latin typeface="+mj-lt"/>
              </a:rPr>
              <a:t>́</a:t>
            </a:r>
            <a:r>
              <a:rPr lang="ja-JP" altLang="en-US" sz="1800" dirty="0">
                <a:latin typeface="+mj-lt"/>
              </a:rPr>
              <a:t>（ </a:t>
            </a:r>
            <a:r>
              <a:rPr lang="en-US" altLang="ja-JP" sz="1800" dirty="0">
                <a:latin typeface="+mj-lt"/>
              </a:rPr>
              <a:t>int , String </a:t>
            </a:r>
            <a:r>
              <a:rPr lang="ja-JP" altLang="en-US" sz="1800" dirty="0">
                <a:latin typeface="+mj-lt"/>
              </a:rPr>
              <a:t>） </a:t>
            </a:r>
            <a:r>
              <a:rPr lang="en-US" altLang="ja-JP" sz="1800" dirty="0" err="1">
                <a:latin typeface="+mj-lt"/>
              </a:rPr>
              <a:t>va</a:t>
            </a:r>
            <a:r>
              <a:rPr lang="en-US" altLang="ja-JP" sz="1800" dirty="0">
                <a:latin typeface="+mj-lt"/>
              </a:rPr>
              <a:t>̀ </a:t>
            </a:r>
            <a:r>
              <a:rPr lang="ja-JP" altLang="en-US" sz="1800" dirty="0">
                <a:latin typeface="+mj-lt"/>
              </a:rPr>
              <a:t>（ </a:t>
            </a:r>
            <a:r>
              <a:rPr lang="en-US" altLang="ja-JP" sz="1800" dirty="0">
                <a:latin typeface="+mj-lt"/>
              </a:rPr>
              <a:t>String , int </a:t>
            </a:r>
            <a:r>
              <a:rPr lang="ja-JP" altLang="en-US" sz="1800" dirty="0">
                <a:latin typeface="+mj-lt"/>
              </a:rPr>
              <a:t>）</a:t>
            </a:r>
            <a:r>
              <a:rPr lang="en-US" altLang="ja-JP" sz="1800" dirty="0">
                <a:latin typeface="+mj-lt"/>
              </a:rPr>
              <a:t>là </a:t>
            </a:r>
            <a:r>
              <a:rPr lang="en-US" altLang="ja-JP" sz="1800" dirty="0" err="1">
                <a:latin typeface="+mj-lt"/>
              </a:rPr>
              <a:t>những</a:t>
            </a:r>
            <a:r>
              <a:rPr lang="en-US" altLang="ja-JP" sz="1800" dirty="0">
                <a:latin typeface="+mj-lt"/>
              </a:rPr>
              <a:t> method(constructor) </a:t>
            </a:r>
            <a:r>
              <a:rPr lang="en-US" altLang="ja-JP" sz="1800" dirty="0" err="1">
                <a:latin typeface="+mj-lt"/>
              </a:rPr>
              <a:t>riêng</a:t>
            </a:r>
            <a:r>
              <a:rPr lang="en-US" altLang="ja-JP" sz="1800" dirty="0">
                <a:latin typeface="+mj-lt"/>
              </a:rPr>
              <a:t> </a:t>
            </a:r>
            <a:r>
              <a:rPr lang="en-US" altLang="ja-JP" sz="1800" dirty="0" err="1">
                <a:latin typeface="+mj-lt"/>
              </a:rPr>
              <a:t>biệt</a:t>
            </a:r>
            <a:endParaRPr lang="en-US" altLang="ja-JP" sz="1800" dirty="0">
              <a:latin typeface="+mj-lt"/>
            </a:endParaRPr>
          </a:p>
        </p:txBody>
      </p:sp>
      <p:sp>
        <p:nvSpPr>
          <p:cNvPr id="565256" name="Rectangle 8">
            <a:extLst>
              <a:ext uri="{FF2B5EF4-FFF2-40B4-BE49-F238E27FC236}">
                <a16:creationId xmlns:a16="http://schemas.microsoft.com/office/drawing/2014/main" id="{6DC90A88-120C-0A3C-20D6-D4CF0CFA5805}"/>
              </a:ext>
            </a:extLst>
          </p:cNvPr>
          <p:cNvSpPr>
            <a:spLocks noChangeArrowheads="1"/>
          </p:cNvSpPr>
          <p:nvPr/>
        </p:nvSpPr>
        <p:spPr bwMode="auto">
          <a:xfrm>
            <a:off x="344488" y="1206500"/>
            <a:ext cx="9120187" cy="65563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Là việc định nghĩa các method hoặc constructor cùng tên nhưng có đối số khác nhau trong cùng class.</a:t>
            </a:r>
          </a:p>
        </p:txBody>
      </p:sp>
      <p:sp>
        <p:nvSpPr>
          <p:cNvPr id="565257" name="Rectangle 9">
            <a:extLst>
              <a:ext uri="{FF2B5EF4-FFF2-40B4-BE49-F238E27FC236}">
                <a16:creationId xmlns:a16="http://schemas.microsoft.com/office/drawing/2014/main" id="{C54C8401-59BA-A112-31B4-254B0C6DF075}"/>
              </a:ext>
            </a:extLst>
          </p:cNvPr>
          <p:cNvSpPr>
            <a:spLocks noChangeArrowheads="1"/>
          </p:cNvSpPr>
          <p:nvPr/>
        </p:nvSpPr>
        <p:spPr bwMode="auto">
          <a:xfrm>
            <a:off x="344488" y="4594225"/>
            <a:ext cx="9120187" cy="701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void proc2(int x) { … }</a:t>
            </a:r>
          </a:p>
          <a:p>
            <a:pPr lvl="1"/>
            <a:r>
              <a:rPr lang="en-US" altLang="ja-JP" sz="1800" b="0">
                <a:latin typeface="ＭＳ ゴシック" panose="020B0609070205080204" pitchFamily="49" charset="-128"/>
                <a:ea typeface="ＭＳ ゴシック" panose="020B0609070205080204" pitchFamily="49" charset="-128"/>
              </a:rPr>
              <a:t>boolean proc2(int x) { … }</a:t>
            </a:r>
          </a:p>
        </p:txBody>
      </p:sp>
      <p:sp>
        <p:nvSpPr>
          <p:cNvPr id="565258" name="Rectangle 10">
            <a:extLst>
              <a:ext uri="{FF2B5EF4-FFF2-40B4-BE49-F238E27FC236}">
                <a16:creationId xmlns:a16="http://schemas.microsoft.com/office/drawing/2014/main" id="{79CA4EC1-9B40-42DA-7949-401A16D5F76A}"/>
              </a:ext>
            </a:extLst>
          </p:cNvPr>
          <p:cNvSpPr>
            <a:spLocks noChangeArrowheads="1"/>
          </p:cNvSpPr>
          <p:nvPr/>
        </p:nvSpPr>
        <p:spPr bwMode="auto">
          <a:xfrm>
            <a:off x="344488" y="5527675"/>
            <a:ext cx="9120187" cy="701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void proc3(int x) { … }</a:t>
            </a:r>
          </a:p>
          <a:p>
            <a:pPr lvl="1"/>
            <a:r>
              <a:rPr lang="en-US" altLang="ja-JP" sz="1800" b="0">
                <a:latin typeface="ＭＳ ゴシック" panose="020B0609070205080204" pitchFamily="49" charset="-128"/>
                <a:ea typeface="ＭＳ ゴシック" panose="020B0609070205080204" pitchFamily="49" charset="-128"/>
              </a:rPr>
              <a:t>void proc3(int y) { … }</a:t>
            </a:r>
          </a:p>
        </p:txBody>
      </p:sp>
      <p:sp>
        <p:nvSpPr>
          <p:cNvPr id="565259" name="AutoShape 11">
            <a:extLst>
              <a:ext uri="{FF2B5EF4-FFF2-40B4-BE49-F238E27FC236}">
                <a16:creationId xmlns:a16="http://schemas.microsoft.com/office/drawing/2014/main" id="{A3EF1090-26BB-C48F-10C3-B93B3178C353}"/>
              </a:ext>
            </a:extLst>
          </p:cNvPr>
          <p:cNvSpPr>
            <a:spLocks noChangeArrowheads="1"/>
          </p:cNvSpPr>
          <p:nvPr/>
        </p:nvSpPr>
        <p:spPr bwMode="auto">
          <a:xfrm>
            <a:off x="1401763" y="1965325"/>
            <a:ext cx="8062912" cy="615950"/>
          </a:xfrm>
          <a:prstGeom prst="wedgeRoundRectCallout">
            <a:avLst>
              <a:gd name="adj1" fmla="val -30509"/>
              <a:gd name="adj2" fmla="val -74741"/>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Đối</a:t>
            </a:r>
            <a:r>
              <a:rPr lang="en-US" altLang="ja-JP" sz="1800" dirty="0">
                <a:latin typeface="+mj-lt"/>
              </a:rPr>
              <a:t> </a:t>
            </a:r>
            <a:r>
              <a:rPr lang="en-US" altLang="ja-JP" sz="1800" dirty="0" err="1">
                <a:latin typeface="+mj-lt"/>
              </a:rPr>
              <a:t>sô</a:t>
            </a:r>
            <a:r>
              <a:rPr lang="en-US" altLang="ja-JP" sz="1800" dirty="0">
                <a:latin typeface="+mj-lt"/>
              </a:rPr>
              <a:t>́ </a:t>
            </a:r>
            <a:r>
              <a:rPr lang="en-US" altLang="ja-JP" sz="1800" dirty="0" err="1">
                <a:latin typeface="+mj-lt"/>
              </a:rPr>
              <a:t>giống</a:t>
            </a:r>
            <a:r>
              <a:rPr lang="en-US" altLang="ja-JP" sz="1800" dirty="0">
                <a:latin typeface="+mj-lt"/>
              </a:rPr>
              <a:t> </a:t>
            </a:r>
            <a:r>
              <a:rPr lang="en-US" altLang="ja-JP" sz="1800" dirty="0" err="1">
                <a:latin typeface="+mj-lt"/>
              </a:rPr>
              <a:t>nhau</a:t>
            </a:r>
            <a:r>
              <a:rPr lang="en-US" altLang="ja-JP" sz="1800" dirty="0">
                <a:latin typeface="+mj-lt"/>
              </a:rPr>
              <a:t> </a:t>
            </a:r>
            <a:r>
              <a:rPr lang="en-US" altLang="ja-JP" sz="1800" dirty="0" err="1">
                <a:latin typeface="+mj-lt"/>
              </a:rPr>
              <a:t>nghĩa</a:t>
            </a:r>
            <a:r>
              <a:rPr lang="en-US" altLang="ja-JP" sz="1800" dirty="0">
                <a:latin typeface="+mj-lt"/>
              </a:rPr>
              <a:t> là </a:t>
            </a:r>
            <a:r>
              <a:rPr lang="ja-JP" altLang="en-US" sz="1800" dirty="0">
                <a:latin typeface="+mj-lt"/>
              </a:rPr>
              <a:t>「</a:t>
            </a:r>
            <a:r>
              <a:rPr lang="en-US" altLang="ja-JP" sz="1800" dirty="0" err="1">
                <a:latin typeface="+mj-lt"/>
              </a:rPr>
              <a:t>sô</a:t>
            </a:r>
            <a:r>
              <a:rPr lang="en-US" altLang="ja-JP" sz="1800" dirty="0">
                <a:latin typeface="+mj-lt"/>
              </a:rPr>
              <a:t>́ </a:t>
            </a:r>
            <a:r>
              <a:rPr lang="en-US" altLang="ja-JP" sz="1800" dirty="0" err="1">
                <a:latin typeface="+mj-lt"/>
              </a:rPr>
              <a:t>lượng</a:t>
            </a:r>
            <a:r>
              <a:rPr lang="en-US" altLang="ja-JP" sz="1800" dirty="0">
                <a:latin typeface="+mj-lt"/>
              </a:rPr>
              <a:t> </a:t>
            </a:r>
            <a:r>
              <a:rPr lang="en-US" altLang="ja-JP" sz="1800" dirty="0" err="1">
                <a:latin typeface="+mj-lt"/>
              </a:rPr>
              <a:t>của</a:t>
            </a:r>
            <a:r>
              <a:rPr lang="en-US" altLang="ja-JP" sz="1800" dirty="0">
                <a:latin typeface="+mj-lt"/>
              </a:rPr>
              <a:t> </a:t>
            </a:r>
            <a:r>
              <a:rPr lang="en-US" altLang="ja-JP" sz="1800" dirty="0" err="1">
                <a:latin typeface="+mj-lt"/>
              </a:rPr>
              <a:t>đối</a:t>
            </a:r>
            <a:r>
              <a:rPr lang="en-US" altLang="ja-JP" sz="1800" dirty="0">
                <a:latin typeface="+mj-lt"/>
              </a:rPr>
              <a:t> </a:t>
            </a:r>
            <a:r>
              <a:rPr lang="en-US" altLang="ja-JP" sz="1800" dirty="0" err="1">
                <a:latin typeface="+mj-lt"/>
              </a:rPr>
              <a:t>sô</a:t>
            </a:r>
            <a:r>
              <a:rPr lang="en-US" altLang="ja-JP" sz="1800" dirty="0">
                <a:latin typeface="+mj-lt"/>
              </a:rPr>
              <a:t>́</a:t>
            </a:r>
            <a:r>
              <a:rPr lang="ja-JP" altLang="en-US" sz="1800" dirty="0">
                <a:latin typeface="+mj-lt"/>
              </a:rPr>
              <a:t>」「</a:t>
            </a:r>
            <a:r>
              <a:rPr lang="en-US" altLang="ja-JP" sz="1800" dirty="0" err="1">
                <a:latin typeface="+mj-lt"/>
              </a:rPr>
              <a:t>kiểu</a:t>
            </a:r>
            <a:r>
              <a:rPr lang="en-US" altLang="ja-JP" sz="1800" dirty="0">
                <a:latin typeface="+mj-lt"/>
              </a:rPr>
              <a:t> data</a:t>
            </a:r>
            <a:r>
              <a:rPr lang="ja-JP" altLang="en-US" sz="1800" dirty="0">
                <a:latin typeface="+mj-lt"/>
              </a:rPr>
              <a:t>」「</a:t>
            </a:r>
            <a:r>
              <a:rPr lang="en-US" altLang="ja-JP" sz="1800" dirty="0" err="1">
                <a:latin typeface="+mj-lt"/>
              </a:rPr>
              <a:t>trình</a:t>
            </a:r>
            <a:r>
              <a:rPr lang="en-US" altLang="ja-JP" sz="1800" dirty="0">
                <a:latin typeface="+mj-lt"/>
              </a:rPr>
              <a:t> </a:t>
            </a:r>
            <a:r>
              <a:rPr lang="en-US" altLang="ja-JP" sz="1800" dirty="0" err="1">
                <a:latin typeface="+mj-lt"/>
              </a:rPr>
              <a:t>tư</a:t>
            </a:r>
            <a:r>
              <a:rPr lang="en-US" altLang="ja-JP" sz="1800" dirty="0">
                <a:latin typeface="+mj-lt"/>
              </a:rPr>
              <a:t>̣ chỉ </a:t>
            </a:r>
            <a:r>
              <a:rPr lang="en-US" altLang="ja-JP" sz="1800" dirty="0" err="1">
                <a:latin typeface="+mj-lt"/>
              </a:rPr>
              <a:t>định</a:t>
            </a:r>
            <a:r>
              <a:rPr lang="en-US" altLang="ja-JP" sz="1800" dirty="0">
                <a:latin typeface="+mj-lt"/>
              </a:rPr>
              <a:t> </a:t>
            </a:r>
            <a:r>
              <a:rPr lang="en-US" altLang="ja-JP" sz="1800" dirty="0" err="1">
                <a:latin typeface="+mj-lt"/>
              </a:rPr>
              <a:t>của</a:t>
            </a:r>
            <a:r>
              <a:rPr lang="en-US" altLang="ja-JP" sz="1800" dirty="0">
                <a:latin typeface="+mj-lt"/>
              </a:rPr>
              <a:t> </a:t>
            </a:r>
            <a:r>
              <a:rPr lang="en-US" altLang="ja-JP" sz="1800" dirty="0" err="1">
                <a:latin typeface="+mj-lt"/>
              </a:rPr>
              <a:t>đối</a:t>
            </a:r>
            <a:r>
              <a:rPr lang="en-US" altLang="ja-JP" sz="1800" dirty="0">
                <a:latin typeface="+mj-lt"/>
              </a:rPr>
              <a:t> </a:t>
            </a:r>
            <a:r>
              <a:rPr lang="en-US" altLang="ja-JP" sz="1800" dirty="0" err="1">
                <a:latin typeface="+mj-lt"/>
              </a:rPr>
              <a:t>sô</a:t>
            </a:r>
            <a:r>
              <a:rPr lang="en-US" altLang="ja-JP" sz="1800" dirty="0">
                <a:latin typeface="+mj-lt"/>
              </a:rPr>
              <a:t>́</a:t>
            </a:r>
            <a:r>
              <a:rPr lang="ja-JP" altLang="en-US" sz="1800" dirty="0">
                <a:latin typeface="+mj-lt"/>
              </a:rPr>
              <a:t>」 </a:t>
            </a:r>
            <a:r>
              <a:rPr lang="en-US" altLang="ja-JP" sz="1800" dirty="0">
                <a:latin typeface="+mj-lt"/>
              </a:rPr>
              <a:t>là </a:t>
            </a:r>
            <a:r>
              <a:rPr lang="en-US" altLang="ja-JP" sz="1800" dirty="0" err="1">
                <a:latin typeface="+mj-lt"/>
              </a:rPr>
              <a:t>hoàn</a:t>
            </a:r>
            <a:r>
              <a:rPr lang="en-US" altLang="ja-JP" sz="1800" dirty="0">
                <a:latin typeface="+mj-lt"/>
              </a:rPr>
              <a:t> </a:t>
            </a:r>
            <a:r>
              <a:rPr lang="en-US" altLang="ja-JP" sz="1800" dirty="0" err="1">
                <a:latin typeface="+mj-lt"/>
              </a:rPr>
              <a:t>toàn</a:t>
            </a:r>
            <a:r>
              <a:rPr lang="en-US" altLang="ja-JP" sz="1800" dirty="0">
                <a:latin typeface="+mj-lt"/>
              </a:rPr>
              <a:t> </a:t>
            </a:r>
            <a:r>
              <a:rPr lang="en-US" altLang="ja-JP" sz="1800" dirty="0" err="1">
                <a:latin typeface="+mj-lt"/>
              </a:rPr>
              <a:t>giống</a:t>
            </a:r>
            <a:r>
              <a:rPr lang="en-US" altLang="ja-JP" sz="1800" dirty="0">
                <a:latin typeface="+mj-lt"/>
              </a:rPr>
              <a:t> </a:t>
            </a:r>
            <a:r>
              <a:rPr lang="en-US" altLang="ja-JP" sz="1800" dirty="0" err="1">
                <a:latin typeface="+mj-lt"/>
              </a:rPr>
              <a:t>nhau</a:t>
            </a:r>
            <a:r>
              <a:rPr lang="en-US" altLang="ja-JP" sz="1800" dirty="0">
                <a:latin typeface="+mj-lt"/>
              </a:rPr>
              <a:t>.</a:t>
            </a:r>
          </a:p>
        </p:txBody>
      </p:sp>
      <p:sp>
        <p:nvSpPr>
          <p:cNvPr id="565260" name="AutoShape 12">
            <a:extLst>
              <a:ext uri="{FF2B5EF4-FFF2-40B4-BE49-F238E27FC236}">
                <a16:creationId xmlns:a16="http://schemas.microsoft.com/office/drawing/2014/main" id="{BC7F1152-F8A6-5462-E03B-CA3ECE75B046}"/>
              </a:ext>
            </a:extLst>
          </p:cNvPr>
          <p:cNvSpPr>
            <a:spLocks noChangeArrowheads="1"/>
          </p:cNvSpPr>
          <p:nvPr/>
        </p:nvSpPr>
        <p:spPr bwMode="auto">
          <a:xfrm>
            <a:off x="3421063" y="5141913"/>
            <a:ext cx="1766887" cy="706437"/>
          </a:xfrm>
          <a:prstGeom prst="irregularSeal1">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73" tIns="47736" rIns="95473" bIns="47736"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300">
                <a:ea typeface="MS UI Gothic" panose="020B0600070205080204" pitchFamily="50" charset="-128"/>
              </a:rPr>
              <a:t>Chú ý</a:t>
            </a:r>
            <a:r>
              <a:rPr lang="ja-JP" altLang="en-US" sz="1300">
                <a:ea typeface="MS UI Gothic" panose="020B0600070205080204" pitchFamily="50" charset="-128"/>
              </a:rPr>
              <a:t>！</a:t>
            </a:r>
          </a:p>
        </p:txBody>
      </p:sp>
      <p:sp>
        <p:nvSpPr>
          <p:cNvPr id="565261" name="Rectangle 13">
            <a:extLst>
              <a:ext uri="{FF2B5EF4-FFF2-40B4-BE49-F238E27FC236}">
                <a16:creationId xmlns:a16="http://schemas.microsoft.com/office/drawing/2014/main" id="{24DE1947-BF94-4AFB-E7B0-3BBA38826937}"/>
              </a:ext>
            </a:extLst>
          </p:cNvPr>
          <p:cNvSpPr>
            <a:spLocks noChangeArrowheads="1"/>
          </p:cNvSpPr>
          <p:nvPr/>
        </p:nvSpPr>
        <p:spPr bwMode="auto">
          <a:xfrm>
            <a:off x="344488" y="41227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a:t>
            </a:r>
            <a:r>
              <a:rPr lang="en-US" altLang="ja-JP" sz="2000" b="0">
                <a:latin typeface="Arial" panose="020B0604020202020204" pitchFamily="34" charset="0"/>
              </a:rPr>
              <a:t>Ví dụ xấu</a:t>
            </a:r>
            <a:endParaRPr lang="en-US" altLang="ja-JP" sz="2400" b="0">
              <a:latin typeface="Arial" panose="020B0604020202020204" pitchFamily="34" charset="0"/>
            </a:endParaRPr>
          </a:p>
        </p:txBody>
      </p:sp>
      <p:sp>
        <p:nvSpPr>
          <p:cNvPr id="565262" name="AutoShape 14">
            <a:extLst>
              <a:ext uri="{FF2B5EF4-FFF2-40B4-BE49-F238E27FC236}">
                <a16:creationId xmlns:a16="http://schemas.microsoft.com/office/drawing/2014/main" id="{F8E329DA-7BBB-5A1E-FA6B-0C1D732E063D}"/>
              </a:ext>
            </a:extLst>
          </p:cNvPr>
          <p:cNvSpPr>
            <a:spLocks noChangeArrowheads="1"/>
          </p:cNvSpPr>
          <p:nvPr/>
        </p:nvSpPr>
        <p:spPr bwMode="auto">
          <a:xfrm>
            <a:off x="5111750" y="4489450"/>
            <a:ext cx="3990975" cy="881063"/>
          </a:xfrm>
          <a:prstGeom prst="wedgeRoundRectCallout">
            <a:avLst>
              <a:gd name="adj1" fmla="val -81824"/>
              <a:gd name="adj2" fmla="val 11981"/>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Nếu</a:t>
            </a:r>
            <a:r>
              <a:rPr lang="en-US" altLang="ja-JP" sz="1800" dirty="0">
                <a:latin typeface="+mj-lt"/>
              </a:rPr>
              <a:t> </a:t>
            </a:r>
            <a:r>
              <a:rPr lang="en-US" altLang="ja-JP" sz="1800" dirty="0" err="1">
                <a:latin typeface="+mj-lt"/>
              </a:rPr>
              <a:t>định</a:t>
            </a:r>
            <a:r>
              <a:rPr lang="en-US" altLang="ja-JP" sz="1800" dirty="0">
                <a:latin typeface="+mj-lt"/>
              </a:rPr>
              <a:t> </a:t>
            </a:r>
            <a:r>
              <a:rPr lang="en-US" altLang="ja-JP" sz="1800" dirty="0" err="1">
                <a:latin typeface="+mj-lt"/>
              </a:rPr>
              <a:t>nghĩa</a:t>
            </a:r>
            <a:r>
              <a:rPr lang="en-US" altLang="ja-JP" sz="1800" dirty="0">
                <a:latin typeface="+mj-lt"/>
              </a:rPr>
              <a:t> method có </a:t>
            </a:r>
            <a:r>
              <a:rPr lang="en-US" altLang="ja-JP" sz="1800" dirty="0" err="1">
                <a:latin typeface="+mj-lt"/>
              </a:rPr>
              <a:t>đối</a:t>
            </a:r>
            <a:r>
              <a:rPr lang="en-US" altLang="ja-JP" sz="1800" dirty="0">
                <a:latin typeface="+mj-lt"/>
              </a:rPr>
              <a:t> </a:t>
            </a:r>
            <a:r>
              <a:rPr lang="en-US" altLang="ja-JP" sz="1800" dirty="0" err="1">
                <a:latin typeface="+mj-lt"/>
              </a:rPr>
              <a:t>sô</a:t>
            </a:r>
            <a:r>
              <a:rPr lang="en-US" altLang="ja-JP" sz="1800" dirty="0">
                <a:latin typeface="+mj-lt"/>
              </a:rPr>
              <a:t>́ </a:t>
            </a:r>
            <a:r>
              <a:rPr lang="en-US" altLang="ja-JP" sz="1800" dirty="0" err="1">
                <a:latin typeface="+mj-lt"/>
              </a:rPr>
              <a:t>giống</a:t>
            </a:r>
            <a:r>
              <a:rPr lang="en-US" altLang="ja-JP" sz="1800" dirty="0">
                <a:latin typeface="+mj-lt"/>
              </a:rPr>
              <a:t> </a:t>
            </a:r>
            <a:r>
              <a:rPr lang="en-US" altLang="ja-JP" sz="1800" dirty="0" err="1">
                <a:latin typeface="+mj-lt"/>
              </a:rPr>
              <a:t>nhau</a:t>
            </a:r>
            <a:r>
              <a:rPr lang="en-US" altLang="ja-JP" sz="1800" dirty="0">
                <a:latin typeface="+mj-lt"/>
              </a:rPr>
              <a:t>, </a:t>
            </a:r>
            <a:r>
              <a:rPr lang="en-US" altLang="ja-JP" sz="1800" dirty="0" err="1">
                <a:latin typeface="+mj-lt"/>
              </a:rPr>
              <a:t>gia</a:t>
            </a:r>
            <a:r>
              <a:rPr lang="en-US" altLang="ja-JP" sz="1800" dirty="0">
                <a:latin typeface="+mj-lt"/>
              </a:rPr>
              <a:t>́ trị </a:t>
            </a:r>
            <a:r>
              <a:rPr lang="en-US" altLang="ja-JP" sz="1800" dirty="0" err="1">
                <a:latin typeface="+mj-lt"/>
              </a:rPr>
              <a:t>tra</a:t>
            </a:r>
            <a:r>
              <a:rPr lang="en-US" altLang="ja-JP" sz="1800" dirty="0">
                <a:latin typeface="+mj-lt"/>
              </a:rPr>
              <a:t>̉ </a:t>
            </a:r>
            <a:r>
              <a:rPr lang="en-US" altLang="ja-JP" sz="1800" dirty="0" err="1">
                <a:latin typeface="+mj-lt"/>
              </a:rPr>
              <a:t>vê</a:t>
            </a:r>
            <a:r>
              <a:rPr lang="en-US" altLang="ja-JP" sz="1800" dirty="0">
                <a:latin typeface="+mj-lt"/>
              </a:rPr>
              <a:t>̀ </a:t>
            </a:r>
            <a:r>
              <a:rPr lang="en-US" altLang="ja-JP" sz="1800" dirty="0" err="1">
                <a:latin typeface="+mj-lt"/>
              </a:rPr>
              <a:t>khác</a:t>
            </a:r>
            <a:r>
              <a:rPr lang="en-US" altLang="ja-JP" sz="1800" dirty="0">
                <a:latin typeface="+mj-lt"/>
              </a:rPr>
              <a:t> </a:t>
            </a:r>
            <a:r>
              <a:rPr lang="en-US" altLang="ja-JP" sz="1800" dirty="0" err="1">
                <a:latin typeface="+mj-lt"/>
              </a:rPr>
              <a:t>nhau</a:t>
            </a:r>
            <a:r>
              <a:rPr lang="en-US" altLang="ja-JP" sz="1800" dirty="0">
                <a:latin typeface="+mj-lt"/>
              </a:rPr>
              <a:t> sẽ bị compile error.</a:t>
            </a:r>
          </a:p>
        </p:txBody>
      </p:sp>
      <p:sp>
        <p:nvSpPr>
          <p:cNvPr id="565263" name="AutoShape 15">
            <a:extLst>
              <a:ext uri="{FF2B5EF4-FFF2-40B4-BE49-F238E27FC236}">
                <a16:creationId xmlns:a16="http://schemas.microsoft.com/office/drawing/2014/main" id="{2CE17F8D-8E6C-7A37-0B2D-FEDD0095C4BA}"/>
              </a:ext>
            </a:extLst>
          </p:cNvPr>
          <p:cNvSpPr>
            <a:spLocks noChangeArrowheads="1"/>
          </p:cNvSpPr>
          <p:nvPr/>
        </p:nvSpPr>
        <p:spPr bwMode="auto">
          <a:xfrm>
            <a:off x="5111750" y="5519738"/>
            <a:ext cx="4257675" cy="895350"/>
          </a:xfrm>
          <a:prstGeom prst="wedgeRoundRectCallout">
            <a:avLst>
              <a:gd name="adj1" fmla="val -82773"/>
              <a:gd name="adj2" fmla="val -3190"/>
              <a:gd name="adj3" fmla="val 16667"/>
            </a:avLst>
          </a:prstGeom>
          <a:solidFill>
            <a:srgbClr val="FFFF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Do dù </a:t>
            </a:r>
            <a:r>
              <a:rPr lang="en-US" altLang="ja-JP" sz="1800" dirty="0" err="1">
                <a:latin typeface="+mj-lt"/>
              </a:rPr>
              <a:t>tên</a:t>
            </a:r>
            <a:r>
              <a:rPr lang="en-US" altLang="ja-JP" sz="1800" dirty="0">
                <a:latin typeface="+mj-lt"/>
              </a:rPr>
              <a:t> </a:t>
            </a:r>
            <a:r>
              <a:rPr lang="en-US" altLang="ja-JP" sz="1800" dirty="0" err="1">
                <a:latin typeface="+mj-lt"/>
              </a:rPr>
              <a:t>biến</a:t>
            </a:r>
            <a:r>
              <a:rPr lang="en-US" altLang="ja-JP" sz="1800" dirty="0">
                <a:latin typeface="+mj-lt"/>
              </a:rPr>
              <a:t> </a:t>
            </a:r>
            <a:r>
              <a:rPr lang="en-US" altLang="ja-JP" sz="1800" dirty="0" err="1">
                <a:latin typeface="+mj-lt"/>
              </a:rPr>
              <a:t>của</a:t>
            </a:r>
            <a:r>
              <a:rPr lang="en-US" altLang="ja-JP" sz="1800" dirty="0">
                <a:latin typeface="+mj-lt"/>
              </a:rPr>
              <a:t> </a:t>
            </a:r>
            <a:r>
              <a:rPr lang="en-US" altLang="ja-JP" sz="1800" dirty="0" err="1">
                <a:latin typeface="+mj-lt"/>
              </a:rPr>
              <a:t>đối</a:t>
            </a:r>
            <a:r>
              <a:rPr lang="en-US" altLang="ja-JP" sz="1800" dirty="0">
                <a:latin typeface="+mj-lt"/>
              </a:rPr>
              <a:t> </a:t>
            </a:r>
            <a:r>
              <a:rPr lang="en-US" altLang="ja-JP" sz="1800" dirty="0" err="1">
                <a:latin typeface="+mj-lt"/>
              </a:rPr>
              <a:t>sô</a:t>
            </a:r>
            <a:r>
              <a:rPr lang="en-US" altLang="ja-JP" sz="1800" dirty="0">
                <a:latin typeface="+mj-lt"/>
              </a:rPr>
              <a:t>́ có </a:t>
            </a:r>
            <a:r>
              <a:rPr lang="en-US" altLang="ja-JP" sz="1800" dirty="0" err="1">
                <a:latin typeface="+mj-lt"/>
              </a:rPr>
              <a:t>khác</a:t>
            </a:r>
            <a:r>
              <a:rPr lang="en-US" altLang="ja-JP" sz="1800" dirty="0">
                <a:latin typeface="+mj-lt"/>
              </a:rPr>
              <a:t> </a:t>
            </a:r>
            <a:r>
              <a:rPr lang="en-US" altLang="ja-JP" sz="1800" dirty="0" err="1">
                <a:latin typeface="+mj-lt"/>
              </a:rPr>
              <a:t>nhau</a:t>
            </a:r>
            <a:r>
              <a:rPr lang="en-US" altLang="ja-JP" sz="1800" dirty="0">
                <a:latin typeface="+mj-lt"/>
              </a:rPr>
              <a:t> </a:t>
            </a:r>
            <a:r>
              <a:rPr lang="en-US" altLang="ja-JP" sz="1800" dirty="0" err="1">
                <a:latin typeface="+mj-lt"/>
              </a:rPr>
              <a:t>đi</a:t>
            </a:r>
            <a:r>
              <a:rPr lang="en-US" altLang="ja-JP" sz="1800" dirty="0">
                <a:latin typeface="+mj-lt"/>
              </a:rPr>
              <a:t> </a:t>
            </a:r>
            <a:r>
              <a:rPr lang="en-US" altLang="ja-JP" sz="1800" dirty="0" err="1">
                <a:latin typeface="+mj-lt"/>
              </a:rPr>
              <a:t>nữa</a:t>
            </a:r>
            <a:r>
              <a:rPr lang="en-US" altLang="ja-JP" sz="1800" dirty="0">
                <a:latin typeface="+mj-lt"/>
              </a:rPr>
              <a:t> </a:t>
            </a:r>
            <a:r>
              <a:rPr lang="en-US" altLang="ja-JP" sz="1800" dirty="0" err="1">
                <a:latin typeface="+mj-lt"/>
              </a:rPr>
              <a:t>nhưng</a:t>
            </a:r>
            <a:r>
              <a:rPr lang="en-US" altLang="ja-JP" sz="1800" dirty="0">
                <a:latin typeface="+mj-lt"/>
              </a:rPr>
              <a:t> </a:t>
            </a:r>
            <a:r>
              <a:rPr lang="en-US" altLang="ja-JP" sz="1800" dirty="0" err="1">
                <a:latin typeface="+mj-lt"/>
              </a:rPr>
              <a:t>nếu</a:t>
            </a:r>
            <a:r>
              <a:rPr lang="en-US" altLang="ja-JP" sz="1800" dirty="0">
                <a:latin typeface="+mj-lt"/>
              </a:rPr>
              <a:t> </a:t>
            </a:r>
            <a:r>
              <a:rPr lang="en-US" altLang="ja-JP" sz="1800" dirty="0" err="1">
                <a:latin typeface="+mj-lt"/>
              </a:rPr>
              <a:t>kiểu</a:t>
            </a:r>
            <a:r>
              <a:rPr lang="en-US" altLang="ja-JP" sz="1800" dirty="0">
                <a:latin typeface="+mj-lt"/>
              </a:rPr>
              <a:t> data </a:t>
            </a:r>
            <a:r>
              <a:rPr lang="en-US" altLang="ja-JP" sz="1800" dirty="0" err="1">
                <a:latin typeface="+mj-lt"/>
              </a:rPr>
              <a:t>giống</a:t>
            </a:r>
            <a:r>
              <a:rPr lang="en-US" altLang="ja-JP" sz="1800" dirty="0">
                <a:latin typeface="+mj-lt"/>
              </a:rPr>
              <a:t> </a:t>
            </a:r>
            <a:r>
              <a:rPr lang="en-US" altLang="ja-JP" sz="1800" dirty="0" err="1">
                <a:latin typeface="+mj-lt"/>
              </a:rPr>
              <a:t>nhau</a:t>
            </a:r>
            <a:r>
              <a:rPr lang="en-US" altLang="ja-JP" sz="1800" dirty="0">
                <a:latin typeface="+mj-lt"/>
              </a:rPr>
              <a:t> </a:t>
            </a:r>
            <a:r>
              <a:rPr lang="en-US" altLang="ja-JP" sz="1800" dirty="0" err="1">
                <a:latin typeface="+mj-lt"/>
              </a:rPr>
              <a:t>thi</a:t>
            </a:r>
            <a:r>
              <a:rPr lang="en-US" altLang="ja-JP" sz="1800" dirty="0">
                <a:latin typeface="+mj-lt"/>
              </a:rPr>
              <a:t>̀ </a:t>
            </a:r>
            <a:r>
              <a:rPr lang="en-US" altLang="ja-JP" sz="1800" dirty="0" err="1">
                <a:latin typeface="+mj-lt"/>
              </a:rPr>
              <a:t>vẫn</a:t>
            </a:r>
            <a:r>
              <a:rPr lang="en-US" altLang="ja-JP" sz="1800" dirty="0">
                <a:latin typeface="+mj-lt"/>
              </a:rPr>
              <a:t> bị compile error.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96784DF5-DE95-9D36-EA58-2C4C7BFA51EE}"/>
              </a:ext>
            </a:extLst>
          </p:cNvPr>
          <p:cNvSpPr>
            <a:spLocks noGrp="1"/>
          </p:cNvSpPr>
          <p:nvPr>
            <p:ph type="sldNum" sz="quarter" idx="10"/>
          </p:nvPr>
        </p:nvSpPr>
        <p:spPr/>
        <p:txBody>
          <a:bodyPr/>
          <a:lstStyle/>
          <a:p>
            <a:fld id="{051EFF7E-8AA9-4A14-9ABC-2EFD19068D91}" type="slidenum">
              <a:rPr lang="en-US" altLang="ja-JP"/>
              <a:pPr/>
              <a:t>18</a:t>
            </a:fld>
            <a:endParaRPr lang="en-US" altLang="ja-JP"/>
          </a:p>
        </p:txBody>
      </p:sp>
      <p:sp>
        <p:nvSpPr>
          <p:cNvPr id="446466" name="Rectangle 2">
            <a:extLst>
              <a:ext uri="{FF2B5EF4-FFF2-40B4-BE49-F238E27FC236}">
                <a16:creationId xmlns:a16="http://schemas.microsoft.com/office/drawing/2014/main" id="{C950EBBB-1123-E340-543C-E911A67CCB3F}"/>
              </a:ext>
            </a:extLst>
          </p:cNvPr>
          <p:cNvSpPr>
            <a:spLocks noGrp="1" noChangeArrowheads="1"/>
          </p:cNvSpPr>
          <p:nvPr>
            <p:ph type="title"/>
          </p:nvPr>
        </p:nvSpPr>
        <p:spPr>
          <a:xfrm>
            <a:off x="344487" y="299243"/>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Biến</a:t>
            </a:r>
            <a:r>
              <a:rPr lang="en-US" altLang="ja-JP" dirty="0">
                <a:latin typeface="Arial" panose="020B0604020202020204" pitchFamily="34" charset="0"/>
                <a:ea typeface="MS UI Gothic" panose="020B0600070205080204" pitchFamily="50" charset="-128"/>
              </a:rPr>
              <a:t> static, static method (1)</a:t>
            </a:r>
          </a:p>
        </p:txBody>
      </p:sp>
      <p:sp>
        <p:nvSpPr>
          <p:cNvPr id="446468" name="Rectangle 4">
            <a:extLst>
              <a:ext uri="{FF2B5EF4-FFF2-40B4-BE49-F238E27FC236}">
                <a16:creationId xmlns:a16="http://schemas.microsoft.com/office/drawing/2014/main" id="{DFE2D350-A61F-228D-1F83-489B90036D1A}"/>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Biến static</a:t>
            </a:r>
          </a:p>
        </p:txBody>
      </p:sp>
      <p:sp>
        <p:nvSpPr>
          <p:cNvPr id="446476" name="Rectangle 12">
            <a:extLst>
              <a:ext uri="{FF2B5EF4-FFF2-40B4-BE49-F238E27FC236}">
                <a16:creationId xmlns:a16="http://schemas.microsoft.com/office/drawing/2014/main" id="{7A440A7B-152D-DD3B-697A-23E0A3258C60}"/>
              </a:ext>
            </a:extLst>
          </p:cNvPr>
          <p:cNvSpPr>
            <a:spLocks noChangeArrowheads="1"/>
          </p:cNvSpPr>
          <p:nvPr/>
        </p:nvSpPr>
        <p:spPr bwMode="auto">
          <a:xfrm>
            <a:off x="344488" y="1284288"/>
            <a:ext cx="9120187" cy="12017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a:latin typeface="Arial" panose="020B0604020202020204" pitchFamily="34" charset="0"/>
              </a:rPr>
              <a:t>Là biến có vùng nhớ được đảm bảo theo đơn vị class và có thể sử dụng được ngay cả khi không có object.</a:t>
            </a:r>
          </a:p>
          <a:p>
            <a:pPr>
              <a:buFont typeface="Wingdings" panose="05000000000000000000" pitchFamily="2" charset="2"/>
              <a:buNone/>
            </a:pPr>
            <a:r>
              <a:rPr lang="en-US" altLang="ja-JP" sz="1800">
                <a:latin typeface="Arial" panose="020B0604020202020204" pitchFamily="34" charset="0"/>
              </a:rPr>
              <a:t>Sử dụng static keyword để khai báo</a:t>
            </a:r>
          </a:p>
          <a:p>
            <a:pPr>
              <a:buFont typeface="Wingdings" panose="05000000000000000000" pitchFamily="2" charset="2"/>
              <a:buNone/>
            </a:pPr>
            <a:r>
              <a:rPr lang="en-US" altLang="ja-JP" sz="1800">
                <a:latin typeface="Arial" panose="020B0604020202020204" pitchFamily="34" charset="0"/>
              </a:rPr>
              <a:t>Trường hợp access vào biến static thì sẽ chỉ định là</a:t>
            </a:r>
            <a:r>
              <a:rPr lang="ja-JP" altLang="en-US" sz="1800">
                <a:latin typeface="Arial" panose="020B0604020202020204" pitchFamily="34" charset="0"/>
              </a:rPr>
              <a:t>「</a:t>
            </a:r>
            <a:r>
              <a:rPr lang="en-US" altLang="ja-JP" sz="1800">
                <a:latin typeface="Arial" panose="020B0604020202020204" pitchFamily="34" charset="0"/>
              </a:rPr>
              <a:t>class name.tên biến</a:t>
            </a:r>
            <a:r>
              <a:rPr lang="ja-JP" altLang="en-US" sz="1800">
                <a:latin typeface="Arial" panose="020B0604020202020204" pitchFamily="34" charset="0"/>
              </a:rPr>
              <a:t>」</a:t>
            </a:r>
          </a:p>
        </p:txBody>
      </p:sp>
      <p:sp>
        <p:nvSpPr>
          <p:cNvPr id="446483" name="Rectangle 19">
            <a:extLst>
              <a:ext uri="{FF2B5EF4-FFF2-40B4-BE49-F238E27FC236}">
                <a16:creationId xmlns:a16="http://schemas.microsoft.com/office/drawing/2014/main" id="{534A3F29-0A27-D0D7-0E26-CE9226A13616}"/>
              </a:ext>
            </a:extLst>
          </p:cNvPr>
          <p:cNvSpPr>
            <a:spLocks noChangeArrowheads="1"/>
          </p:cNvSpPr>
          <p:nvPr/>
        </p:nvSpPr>
        <p:spPr bwMode="auto">
          <a:xfrm>
            <a:off x="344488" y="26352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p>
          <a:p>
            <a:pPr>
              <a:spcBef>
                <a:spcPct val="50000"/>
              </a:spcBef>
              <a:buFont typeface="Wingdings" panose="05000000000000000000" pitchFamily="2" charset="2"/>
              <a:buNone/>
            </a:pPr>
            <a:r>
              <a:rPr lang="en-US" altLang="ja-JP" sz="2000" b="0">
                <a:latin typeface="Arial" panose="020B0604020202020204" pitchFamily="34" charset="0"/>
              </a:rPr>
              <a:t>【Biến static được định nghĩa trong Person class】</a:t>
            </a:r>
          </a:p>
        </p:txBody>
      </p:sp>
      <p:sp>
        <p:nvSpPr>
          <p:cNvPr id="446484" name="Rectangle 20">
            <a:extLst>
              <a:ext uri="{FF2B5EF4-FFF2-40B4-BE49-F238E27FC236}">
                <a16:creationId xmlns:a16="http://schemas.microsoft.com/office/drawing/2014/main" id="{C5EFCA22-1789-2AD7-10A7-78599C95A9AC}"/>
              </a:ext>
            </a:extLst>
          </p:cNvPr>
          <p:cNvSpPr>
            <a:spLocks noChangeArrowheads="1"/>
          </p:cNvSpPr>
          <p:nvPr/>
        </p:nvSpPr>
        <p:spPr bwMode="auto">
          <a:xfrm>
            <a:off x="344488" y="3621088"/>
            <a:ext cx="9120187" cy="4333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public </a:t>
            </a:r>
            <a:r>
              <a:rPr lang="en-US" altLang="ja-JP" sz="1800">
                <a:solidFill>
                  <a:srgbClr val="0000FF"/>
                </a:solidFill>
                <a:latin typeface="ＭＳ ゴシック" panose="020B0609070205080204" pitchFamily="49" charset="-128"/>
                <a:ea typeface="ＭＳ ゴシック" panose="020B0609070205080204" pitchFamily="49" charset="-128"/>
              </a:rPr>
              <a:t>static</a:t>
            </a:r>
            <a:r>
              <a:rPr lang="en-US" altLang="ja-JP" sz="1800" b="0">
                <a:latin typeface="ＭＳ ゴシック" panose="020B0609070205080204" pitchFamily="49" charset="-128"/>
                <a:ea typeface="ＭＳ ゴシック" panose="020B0609070205080204" pitchFamily="49" charset="-128"/>
              </a:rPr>
              <a:t> final String SPECIES = "Homo sapiens";</a:t>
            </a:r>
          </a:p>
        </p:txBody>
      </p:sp>
      <p:sp>
        <p:nvSpPr>
          <p:cNvPr id="446485" name="Rectangle 21">
            <a:extLst>
              <a:ext uri="{FF2B5EF4-FFF2-40B4-BE49-F238E27FC236}">
                <a16:creationId xmlns:a16="http://schemas.microsoft.com/office/drawing/2014/main" id="{150EB520-C5BE-2FC1-F791-AC1F9332984F}"/>
              </a:ext>
            </a:extLst>
          </p:cNvPr>
          <p:cNvSpPr>
            <a:spLocks noChangeArrowheads="1"/>
          </p:cNvSpPr>
          <p:nvPr/>
        </p:nvSpPr>
        <p:spPr bwMode="auto">
          <a:xfrm>
            <a:off x="344488" y="476726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 sử dụng】</a:t>
            </a:r>
          </a:p>
        </p:txBody>
      </p:sp>
      <p:sp>
        <p:nvSpPr>
          <p:cNvPr id="446486" name="Rectangle 22">
            <a:extLst>
              <a:ext uri="{FF2B5EF4-FFF2-40B4-BE49-F238E27FC236}">
                <a16:creationId xmlns:a16="http://schemas.microsoft.com/office/drawing/2014/main" id="{60911944-C395-486E-01BD-D4D6E515731F}"/>
              </a:ext>
            </a:extLst>
          </p:cNvPr>
          <p:cNvSpPr>
            <a:spLocks noChangeArrowheads="1"/>
          </p:cNvSpPr>
          <p:nvPr/>
        </p:nvSpPr>
        <p:spPr bwMode="auto">
          <a:xfrm>
            <a:off x="344488" y="5291138"/>
            <a:ext cx="9120187" cy="4191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System.out.println("</a:t>
            </a:r>
            <a:r>
              <a:rPr lang="ja-JP" altLang="en-US" sz="1800" b="0">
                <a:latin typeface="ＭＳ ゴシック" panose="020B0609070205080204" pitchFamily="49" charset="-128"/>
                <a:ea typeface="ＭＳ ゴシック" panose="020B0609070205080204" pitchFamily="49" charset="-128"/>
              </a:rPr>
              <a:t>種</a:t>
            </a:r>
            <a:r>
              <a:rPr lang="en-US" altLang="ja-JP" sz="1800" b="0">
                <a:latin typeface="Arial" panose="020B0604020202020204" pitchFamily="34" charset="0"/>
                <a:ea typeface="ＭＳ ゴシック" panose="020B0609070205080204" pitchFamily="49" charset="-128"/>
              </a:rPr>
              <a:t>(chủng loại)</a:t>
            </a:r>
            <a:r>
              <a:rPr lang="ja-JP" altLang="en-US" sz="1800" b="0">
                <a:latin typeface="ＭＳ ゴシック" panose="020B0609070205080204" pitchFamily="49" charset="-128"/>
                <a:ea typeface="ＭＳ ゴシック" panose="020B0609070205080204" pitchFamily="49" charset="-128"/>
              </a:rPr>
              <a:t>：</a:t>
            </a:r>
            <a:r>
              <a:rPr lang="en-US" altLang="ja-JP" sz="1800" b="0">
                <a:latin typeface="ＭＳ ゴシック" panose="020B0609070205080204" pitchFamily="49" charset="-128"/>
                <a:ea typeface="ＭＳ ゴシック" panose="020B0609070205080204" pitchFamily="49" charset="-128"/>
              </a:rPr>
              <a:t>" + </a:t>
            </a:r>
            <a:r>
              <a:rPr lang="en-US" altLang="ja-JP" sz="1800">
                <a:solidFill>
                  <a:srgbClr val="0000FF"/>
                </a:solidFill>
                <a:latin typeface="ＭＳ ゴシック" panose="020B0609070205080204" pitchFamily="49" charset="-128"/>
                <a:ea typeface="ＭＳ ゴシック" panose="020B0609070205080204" pitchFamily="49" charset="-128"/>
              </a:rPr>
              <a:t>Person.SPECIES</a:t>
            </a:r>
            <a:r>
              <a:rPr lang="en-US" altLang="ja-JP" sz="1800" b="0">
                <a:latin typeface="ＭＳ ゴシック" panose="020B0609070205080204" pitchFamily="49" charset="-128"/>
                <a:ea typeface="ＭＳ ゴシック" panose="020B0609070205080204" pitchFamily="49" charset="-128"/>
              </a:rPr>
              <a:t>);</a:t>
            </a:r>
          </a:p>
        </p:txBody>
      </p:sp>
      <p:sp>
        <p:nvSpPr>
          <p:cNvPr id="446487" name="AutoShape 23">
            <a:extLst>
              <a:ext uri="{FF2B5EF4-FFF2-40B4-BE49-F238E27FC236}">
                <a16:creationId xmlns:a16="http://schemas.microsoft.com/office/drawing/2014/main" id="{E42F0AA1-663D-D086-B882-3F21416F61F2}"/>
              </a:ext>
            </a:extLst>
          </p:cNvPr>
          <p:cNvSpPr>
            <a:spLocks noChangeArrowheads="1"/>
          </p:cNvSpPr>
          <p:nvPr/>
        </p:nvSpPr>
        <p:spPr bwMode="auto">
          <a:xfrm>
            <a:off x="2324100" y="5910263"/>
            <a:ext cx="6440488" cy="590550"/>
          </a:xfrm>
          <a:prstGeom prst="wedgeRoundRectCallout">
            <a:avLst>
              <a:gd name="adj1" fmla="val -21481"/>
              <a:gd name="adj2" fmla="val -94088"/>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Ngay cả </a:t>
            </a:r>
            <a:r>
              <a:rPr lang="en-US" altLang="ja-JP" sz="1800" dirty="0" err="1">
                <a:latin typeface="+mj-lt"/>
              </a:rPr>
              <a:t>khi</a:t>
            </a:r>
            <a:r>
              <a:rPr lang="en-US" altLang="ja-JP" sz="1800" dirty="0">
                <a:latin typeface="+mj-lt"/>
              </a:rPr>
              <a:t> </a:t>
            </a:r>
            <a:r>
              <a:rPr lang="en-US" altLang="ja-JP" sz="1800" dirty="0" err="1">
                <a:latin typeface="+mj-lt"/>
              </a:rPr>
              <a:t>không</a:t>
            </a:r>
            <a:r>
              <a:rPr lang="en-US" altLang="ja-JP" sz="1800" dirty="0">
                <a:latin typeface="+mj-lt"/>
              </a:rPr>
              <a:t> </a:t>
            </a:r>
            <a:r>
              <a:rPr lang="en-US" altLang="ja-JP" sz="1800" dirty="0" err="1">
                <a:latin typeface="+mj-lt"/>
              </a:rPr>
              <a:t>tồn</a:t>
            </a:r>
            <a:r>
              <a:rPr lang="en-US" altLang="ja-JP" sz="1800" dirty="0">
                <a:latin typeface="+mj-lt"/>
              </a:rPr>
              <a:t> </a:t>
            </a:r>
            <a:r>
              <a:rPr lang="en-US" altLang="ja-JP" sz="1800" dirty="0" err="1">
                <a:latin typeface="+mj-lt"/>
              </a:rPr>
              <a:t>tại</a:t>
            </a:r>
            <a:r>
              <a:rPr lang="en-US" altLang="ja-JP" sz="1800" dirty="0">
                <a:latin typeface="+mj-lt"/>
              </a:rPr>
              <a:t> object </a:t>
            </a:r>
            <a:r>
              <a:rPr lang="en-US" altLang="ja-JP" sz="1800" dirty="0" err="1">
                <a:latin typeface="+mj-lt"/>
              </a:rPr>
              <a:t>của</a:t>
            </a:r>
            <a:r>
              <a:rPr lang="en-US" altLang="ja-JP" sz="1800" dirty="0">
                <a:latin typeface="+mj-lt"/>
              </a:rPr>
              <a:t> class </a:t>
            </a:r>
            <a:r>
              <a:rPr lang="en-US" altLang="ja-JP" sz="1800" dirty="0" err="1">
                <a:latin typeface="+mj-lt"/>
              </a:rPr>
              <a:t>có</a:t>
            </a:r>
            <a:r>
              <a:rPr lang="en-US" altLang="ja-JP" sz="1800" dirty="0">
                <a:latin typeface="+mj-lt"/>
              </a:rPr>
              <a:t> </a:t>
            </a:r>
            <a:r>
              <a:rPr lang="en-US" altLang="ja-JP" sz="1800" dirty="0" err="1">
                <a:latin typeface="+mj-lt"/>
              </a:rPr>
              <a:t>biến</a:t>
            </a:r>
            <a:r>
              <a:rPr lang="en-US" altLang="ja-JP" sz="1800" dirty="0">
                <a:latin typeface="+mj-lt"/>
              </a:rPr>
              <a:t> </a:t>
            </a:r>
            <a:r>
              <a:rPr lang="en-US" altLang="en-US" sz="1800" dirty="0">
                <a:latin typeface="+mj-lt"/>
              </a:rPr>
              <a:t>static</a:t>
            </a:r>
            <a:r>
              <a:rPr lang="en-US" altLang="ja-JP" sz="1800" dirty="0">
                <a:latin typeface="+mj-lt"/>
              </a:rPr>
              <a:t> </a:t>
            </a:r>
            <a:r>
              <a:rPr lang="en-US" altLang="ja-JP" sz="1800" dirty="0" err="1">
                <a:latin typeface="+mj-lt"/>
              </a:rPr>
              <a:t>thi</a:t>
            </a:r>
            <a:r>
              <a:rPr lang="en-US" altLang="ja-JP" sz="1800" dirty="0">
                <a:latin typeface="+mj-lt"/>
              </a:rPr>
              <a:t>̀ </a:t>
            </a:r>
            <a:r>
              <a:rPr lang="en-US" altLang="ja-JP" sz="1800" dirty="0" err="1">
                <a:latin typeface="+mj-lt"/>
              </a:rPr>
              <a:t>vẫn</a:t>
            </a:r>
            <a:r>
              <a:rPr lang="en-US" altLang="ja-JP" sz="1800" dirty="0">
                <a:latin typeface="+mj-lt"/>
              </a:rPr>
              <a:t> có </a:t>
            </a:r>
            <a:r>
              <a:rPr lang="en-US" altLang="ja-JP" sz="1800" dirty="0" err="1">
                <a:latin typeface="+mj-lt"/>
              </a:rPr>
              <a:t>thê</a:t>
            </a:r>
            <a:r>
              <a:rPr lang="en-US" altLang="ja-JP" sz="1800" dirty="0">
                <a:latin typeface="+mj-lt"/>
              </a:rPr>
              <a:t>̉ </a:t>
            </a:r>
            <a:r>
              <a:rPr lang="en-US" altLang="ja-JP" sz="1800" dirty="0" err="1">
                <a:latin typeface="+mj-lt"/>
              </a:rPr>
              <a:t>sư</a:t>
            </a:r>
            <a:r>
              <a:rPr lang="en-US" altLang="ja-JP" sz="1800" dirty="0">
                <a:latin typeface="+mj-lt"/>
              </a:rPr>
              <a:t>̉ </a:t>
            </a:r>
            <a:r>
              <a:rPr lang="en-US" altLang="ja-JP" sz="1800" dirty="0" err="1">
                <a:latin typeface="+mj-lt"/>
              </a:rPr>
              <a:t>dụng</a:t>
            </a:r>
            <a:r>
              <a:rPr lang="en-US" altLang="ja-JP" sz="1800" dirty="0">
                <a:latin typeface="+mj-lt"/>
              </a:rPr>
              <a:t> </a:t>
            </a:r>
            <a:r>
              <a:rPr lang="en-US" altLang="ja-JP" sz="1800" dirty="0" err="1">
                <a:latin typeface="+mj-lt"/>
              </a:rPr>
              <a:t>được</a:t>
            </a:r>
            <a:r>
              <a:rPr lang="en-US" altLang="ja-JP" sz="1800" dirty="0">
                <a:latin typeface="+mj-lt"/>
              </a:rPr>
              <a:t>.</a:t>
            </a:r>
          </a:p>
        </p:txBody>
      </p:sp>
      <p:sp>
        <p:nvSpPr>
          <p:cNvPr id="446479" name="AutoShape 15">
            <a:extLst>
              <a:ext uri="{FF2B5EF4-FFF2-40B4-BE49-F238E27FC236}">
                <a16:creationId xmlns:a16="http://schemas.microsoft.com/office/drawing/2014/main" id="{EF824F6B-070C-808B-65AC-EFF0D8DFFAFB}"/>
              </a:ext>
            </a:extLst>
          </p:cNvPr>
          <p:cNvSpPr>
            <a:spLocks noChangeArrowheads="1"/>
          </p:cNvSpPr>
          <p:nvPr/>
        </p:nvSpPr>
        <p:spPr bwMode="auto">
          <a:xfrm>
            <a:off x="509588" y="4259263"/>
            <a:ext cx="8267700" cy="590550"/>
          </a:xfrm>
          <a:prstGeom prst="wedgeRoundRectCallout">
            <a:avLst>
              <a:gd name="adj1" fmla="val -36616"/>
              <a:gd name="adj2" fmla="val -98926"/>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Có</a:t>
            </a:r>
            <a:r>
              <a:rPr lang="en-US" altLang="ja-JP" sz="1800" dirty="0">
                <a:latin typeface="+mj-lt"/>
              </a:rPr>
              <a:t> </a:t>
            </a:r>
            <a:r>
              <a:rPr lang="en-US" altLang="ja-JP" sz="1800" dirty="0" err="1">
                <a:latin typeface="+mj-lt"/>
              </a:rPr>
              <a:t>nhiều</a:t>
            </a:r>
            <a:r>
              <a:rPr lang="en-US" altLang="ja-JP" sz="1800" dirty="0">
                <a:latin typeface="+mj-lt"/>
              </a:rPr>
              <a:t> </a:t>
            </a:r>
            <a:r>
              <a:rPr lang="en-US" altLang="ja-JP" sz="1800" dirty="0" err="1">
                <a:latin typeface="+mj-lt"/>
              </a:rPr>
              <a:t>trường</a:t>
            </a:r>
            <a:r>
              <a:rPr lang="en-US" altLang="ja-JP" sz="1800" dirty="0">
                <a:latin typeface="+mj-lt"/>
              </a:rPr>
              <a:t> </a:t>
            </a:r>
            <a:r>
              <a:rPr lang="en-US" altLang="ja-JP" sz="1800" dirty="0" err="1">
                <a:latin typeface="+mj-lt"/>
              </a:rPr>
              <a:t>hợp</a:t>
            </a:r>
            <a:r>
              <a:rPr lang="en-US" altLang="ja-JP" sz="1800" dirty="0">
                <a:latin typeface="+mj-lt"/>
              </a:rPr>
              <a:t> </a:t>
            </a:r>
            <a:r>
              <a:rPr lang="en-US" altLang="ja-JP" sz="1800" dirty="0" err="1">
                <a:latin typeface="+mj-lt"/>
              </a:rPr>
              <a:t>để</a:t>
            </a:r>
            <a:r>
              <a:rPr lang="en-US" altLang="ja-JP" sz="1800" dirty="0">
                <a:latin typeface="+mj-lt"/>
              </a:rPr>
              <a:t> modifier </a:t>
            </a:r>
            <a:r>
              <a:rPr lang="en-US" altLang="ja-JP" sz="1800" dirty="0" err="1">
                <a:latin typeface="+mj-lt"/>
              </a:rPr>
              <a:t>của</a:t>
            </a:r>
            <a:r>
              <a:rPr lang="en-US" altLang="ja-JP" sz="1800" dirty="0">
                <a:latin typeface="+mj-lt"/>
              </a:rPr>
              <a:t> </a:t>
            </a:r>
            <a:r>
              <a:rPr lang="en-US" altLang="ja-JP" sz="1800" dirty="0" err="1">
                <a:latin typeface="+mj-lt"/>
              </a:rPr>
              <a:t>biến</a:t>
            </a:r>
            <a:r>
              <a:rPr lang="en-US" altLang="ja-JP" sz="1800" dirty="0">
                <a:latin typeface="+mj-lt"/>
              </a:rPr>
              <a:t> static </a:t>
            </a:r>
            <a:r>
              <a:rPr lang="en-US" altLang="ja-JP" sz="1800" dirty="0" err="1">
                <a:latin typeface="+mj-lt"/>
              </a:rPr>
              <a:t>là</a:t>
            </a:r>
            <a:r>
              <a:rPr lang="en-US" altLang="ja-JP" sz="1800" dirty="0">
                <a:latin typeface="+mj-lt"/>
              </a:rPr>
              <a:t> public </a:t>
            </a:r>
            <a:r>
              <a:rPr lang="ja-JP" altLang="en-US" sz="1800" dirty="0">
                <a:latin typeface="+mj-lt"/>
              </a:rPr>
              <a:t>（</a:t>
            </a:r>
            <a:r>
              <a:rPr lang="en-US" altLang="ja-JP" sz="1800" dirty="0" err="1">
                <a:latin typeface="+mj-lt"/>
              </a:rPr>
              <a:t>công</a:t>
            </a:r>
            <a:r>
              <a:rPr lang="en-US" altLang="ja-JP" sz="1800" dirty="0">
                <a:latin typeface="+mj-lt"/>
              </a:rPr>
              <a:t> </a:t>
            </a:r>
            <a:r>
              <a:rPr lang="en-US" altLang="ja-JP" sz="1800" dirty="0" err="1">
                <a:latin typeface="+mj-lt"/>
              </a:rPr>
              <a:t>khai</a:t>
            </a:r>
            <a:r>
              <a:rPr lang="en-US" altLang="ja-JP" sz="1800" dirty="0">
                <a:latin typeface="+mj-lt"/>
              </a:rPr>
              <a:t> </a:t>
            </a:r>
            <a:r>
              <a:rPr lang="en-US" altLang="ja-JP" sz="1800" dirty="0" err="1">
                <a:latin typeface="+mj-lt"/>
              </a:rPr>
              <a:t>ra</a:t>
            </a:r>
            <a:r>
              <a:rPr lang="en-US" altLang="ja-JP" sz="1800" dirty="0">
                <a:latin typeface="+mj-lt"/>
              </a:rPr>
              <a:t> </a:t>
            </a:r>
            <a:r>
              <a:rPr lang="en-US" altLang="ja-JP" sz="1800" dirty="0" err="1">
                <a:latin typeface="+mj-lt"/>
              </a:rPr>
              <a:t>bên</a:t>
            </a:r>
            <a:r>
              <a:rPr lang="en-US" altLang="ja-JP" sz="1800" dirty="0">
                <a:latin typeface="+mj-lt"/>
              </a:rPr>
              <a:t> </a:t>
            </a:r>
            <a:r>
              <a:rPr lang="en-US" altLang="ja-JP" sz="1800" dirty="0" err="1">
                <a:latin typeface="+mj-lt"/>
              </a:rPr>
              <a:t>ngoài</a:t>
            </a:r>
            <a:r>
              <a:rPr lang="ja-JP" altLang="en-US" sz="1800" dirty="0">
                <a:latin typeface="+mj-lt"/>
              </a:rPr>
              <a:t>）</a:t>
            </a:r>
            <a:r>
              <a:rPr lang="en-US" altLang="ja-JP" sz="1800" dirty="0">
                <a:latin typeface="+mj-lt"/>
              </a:rPr>
              <a:t>, final</a:t>
            </a:r>
            <a:r>
              <a:rPr lang="ja-JP" altLang="en-US" sz="1800" dirty="0">
                <a:latin typeface="+mj-lt"/>
              </a:rPr>
              <a:t>（</a:t>
            </a:r>
            <a:r>
              <a:rPr lang="en-US" altLang="ja-JP" sz="1800" dirty="0" err="1">
                <a:latin typeface="+mj-lt"/>
              </a:rPr>
              <a:t>hằng</a:t>
            </a:r>
            <a:r>
              <a:rPr lang="en-US" altLang="ja-JP" sz="1800" dirty="0">
                <a:latin typeface="+mj-lt"/>
              </a:rPr>
              <a:t> </a:t>
            </a:r>
            <a:r>
              <a:rPr lang="en-US" altLang="ja-JP" sz="1800" dirty="0" err="1">
                <a:latin typeface="+mj-lt"/>
              </a:rPr>
              <a:t>sô</a:t>
            </a:r>
            <a:r>
              <a:rPr lang="en-US" altLang="ja-JP" sz="1800" dirty="0">
                <a:latin typeface="+mj-lt"/>
              </a:rPr>
              <a:t>́</a:t>
            </a:r>
            <a:r>
              <a:rPr lang="ja-JP" altLang="en-US" sz="1800" dirty="0">
                <a:latin typeface="+mj-lt"/>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68B78296-FB09-8DE7-6FC8-C833D57BE507}"/>
              </a:ext>
            </a:extLst>
          </p:cNvPr>
          <p:cNvSpPr>
            <a:spLocks noGrp="1"/>
          </p:cNvSpPr>
          <p:nvPr>
            <p:ph type="sldNum" sz="quarter" idx="10"/>
          </p:nvPr>
        </p:nvSpPr>
        <p:spPr/>
        <p:txBody>
          <a:bodyPr/>
          <a:lstStyle/>
          <a:p>
            <a:fld id="{62CB924C-0DBD-4A52-ACE8-2DE9CC0881FA}" type="slidenum">
              <a:rPr lang="en-US" altLang="ja-JP"/>
              <a:pPr/>
              <a:t>19</a:t>
            </a:fld>
            <a:endParaRPr lang="en-US" altLang="ja-JP"/>
          </a:p>
        </p:txBody>
      </p:sp>
      <p:sp>
        <p:nvSpPr>
          <p:cNvPr id="571394" name="Rectangle 2">
            <a:extLst>
              <a:ext uri="{FF2B5EF4-FFF2-40B4-BE49-F238E27FC236}">
                <a16:creationId xmlns:a16="http://schemas.microsoft.com/office/drawing/2014/main" id="{4F541C98-0B22-4920-4B39-F9AFF301F333}"/>
              </a:ext>
            </a:extLst>
          </p:cNvPr>
          <p:cNvSpPr>
            <a:spLocks noGrp="1" noChangeArrowheads="1"/>
          </p:cNvSpPr>
          <p:nvPr>
            <p:ph type="title"/>
          </p:nvPr>
        </p:nvSpPr>
        <p:spPr>
          <a:xfrm>
            <a:off x="344488" y="327820"/>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Biến</a:t>
            </a:r>
            <a:r>
              <a:rPr lang="en-US" altLang="ja-JP" dirty="0">
                <a:latin typeface="Arial" panose="020B0604020202020204" pitchFamily="34" charset="0"/>
                <a:ea typeface="MS UI Gothic" panose="020B0600070205080204" pitchFamily="50" charset="-128"/>
              </a:rPr>
              <a:t> static, static method (2)</a:t>
            </a:r>
          </a:p>
        </p:txBody>
      </p:sp>
      <p:sp>
        <p:nvSpPr>
          <p:cNvPr id="571395" name="Rectangle 3">
            <a:extLst>
              <a:ext uri="{FF2B5EF4-FFF2-40B4-BE49-F238E27FC236}">
                <a16:creationId xmlns:a16="http://schemas.microsoft.com/office/drawing/2014/main" id="{D1A3CBCD-B878-3BFA-AC8B-781079D78F10}"/>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71396" name="Rectangle 4">
            <a:extLst>
              <a:ext uri="{FF2B5EF4-FFF2-40B4-BE49-F238E27FC236}">
                <a16:creationId xmlns:a16="http://schemas.microsoft.com/office/drawing/2014/main" id="{CBF2FD59-FC33-F785-77A1-7FB1EEC95D79}"/>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static method</a:t>
            </a:r>
          </a:p>
          <a:p>
            <a:pPr lvl="1"/>
            <a:endParaRPr lang="en-US" altLang="ja-JP" sz="2400" b="0"/>
          </a:p>
        </p:txBody>
      </p:sp>
      <p:sp>
        <p:nvSpPr>
          <p:cNvPr id="571403" name="Rectangle 11">
            <a:extLst>
              <a:ext uri="{FF2B5EF4-FFF2-40B4-BE49-F238E27FC236}">
                <a16:creationId xmlns:a16="http://schemas.microsoft.com/office/drawing/2014/main" id="{829C6BCE-63E3-C522-7CA4-02D028E0E515}"/>
              </a:ext>
            </a:extLst>
          </p:cNvPr>
          <p:cNvSpPr>
            <a:spLocks noChangeArrowheads="1"/>
          </p:cNvSpPr>
          <p:nvPr/>
        </p:nvSpPr>
        <p:spPr bwMode="auto">
          <a:xfrm>
            <a:off x="344488" y="1250950"/>
            <a:ext cx="9120187" cy="131603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Có thể sử dụng cho dù không có object</a:t>
            </a:r>
          </a:p>
          <a:p>
            <a:pPr>
              <a:buFont typeface="Wingdings" panose="05000000000000000000" pitchFamily="2" charset="2"/>
              <a:buNone/>
            </a:pPr>
            <a:r>
              <a:rPr lang="en-US" altLang="ja-JP" sz="2000">
                <a:latin typeface="Arial" panose="020B0604020202020204" pitchFamily="34" charset="0"/>
              </a:rPr>
              <a:t>Sử dụng static keyword để khai báo</a:t>
            </a:r>
          </a:p>
          <a:p>
            <a:pPr>
              <a:buFont typeface="Wingdings" panose="05000000000000000000" pitchFamily="2" charset="2"/>
              <a:buNone/>
            </a:pPr>
            <a:r>
              <a:rPr lang="en-US" altLang="ja-JP" sz="2000">
                <a:latin typeface="Arial" panose="020B0604020202020204" pitchFamily="34" charset="0"/>
              </a:rPr>
              <a:t>Trường hợp gọi ra method static thì chỉ định </a:t>
            </a:r>
            <a:r>
              <a:rPr lang="ja-JP" altLang="en-US" sz="2000">
                <a:latin typeface="Arial" panose="020B0604020202020204" pitchFamily="34" charset="0"/>
              </a:rPr>
              <a:t>「</a:t>
            </a:r>
            <a:r>
              <a:rPr lang="en-US" altLang="ja-JP" sz="2000">
                <a:latin typeface="Arial" panose="020B0604020202020204" pitchFamily="34" charset="0"/>
              </a:rPr>
              <a:t>class name.tên method</a:t>
            </a:r>
            <a:r>
              <a:rPr lang="ja-JP" altLang="en-US" sz="2000">
                <a:latin typeface="Arial" panose="020B0604020202020204" pitchFamily="34" charset="0"/>
              </a:rPr>
              <a:t>（</a:t>
            </a:r>
            <a:r>
              <a:rPr lang="en-US" altLang="ja-JP" sz="2000">
                <a:latin typeface="Arial" panose="020B0604020202020204" pitchFamily="34" charset="0"/>
              </a:rPr>
              <a:t>list đối số</a:t>
            </a:r>
            <a:r>
              <a:rPr lang="ja-JP" altLang="en-US" sz="2000">
                <a:latin typeface="Arial" panose="020B0604020202020204" pitchFamily="34" charset="0"/>
              </a:rPr>
              <a:t>）」</a:t>
            </a:r>
          </a:p>
        </p:txBody>
      </p:sp>
      <p:sp>
        <p:nvSpPr>
          <p:cNvPr id="571404" name="Rectangle 12">
            <a:extLst>
              <a:ext uri="{FF2B5EF4-FFF2-40B4-BE49-F238E27FC236}">
                <a16:creationId xmlns:a16="http://schemas.microsoft.com/office/drawing/2014/main" id="{F770FD53-D7AB-C420-18D3-52A50B96EE47}"/>
              </a:ext>
            </a:extLst>
          </p:cNvPr>
          <p:cNvSpPr>
            <a:spLocks noChangeArrowheads="1"/>
          </p:cNvSpPr>
          <p:nvPr/>
        </p:nvSpPr>
        <p:spPr bwMode="auto">
          <a:xfrm>
            <a:off x="344488" y="24892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p>
          <a:p>
            <a:pPr>
              <a:spcBef>
                <a:spcPct val="50000"/>
              </a:spcBef>
              <a:buFont typeface="Wingdings" panose="05000000000000000000" pitchFamily="2" charset="2"/>
              <a:buNone/>
            </a:pPr>
            <a:r>
              <a:rPr lang="en-US" altLang="ja-JP" sz="2000" b="0">
                <a:latin typeface="Arial" panose="020B0604020202020204" pitchFamily="34" charset="0"/>
              </a:rPr>
              <a:t>【static method đang được định nghĩa trong Employee class】</a:t>
            </a:r>
          </a:p>
        </p:txBody>
      </p:sp>
      <p:sp>
        <p:nvSpPr>
          <p:cNvPr id="571405" name="Rectangle 13">
            <a:extLst>
              <a:ext uri="{FF2B5EF4-FFF2-40B4-BE49-F238E27FC236}">
                <a16:creationId xmlns:a16="http://schemas.microsoft.com/office/drawing/2014/main" id="{89665697-BE6A-01E1-018B-23C436E65317}"/>
              </a:ext>
            </a:extLst>
          </p:cNvPr>
          <p:cNvSpPr>
            <a:spLocks noChangeArrowheads="1"/>
          </p:cNvSpPr>
          <p:nvPr/>
        </p:nvSpPr>
        <p:spPr bwMode="auto">
          <a:xfrm>
            <a:off x="334963" y="3408363"/>
            <a:ext cx="9120187" cy="13620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36000"/>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public static final String SPECIES = "Homo sapiens";</a:t>
            </a:r>
          </a:p>
          <a:p>
            <a:pPr lvl="1"/>
            <a:r>
              <a:rPr lang="en-US" altLang="ja-JP" sz="1800">
                <a:solidFill>
                  <a:srgbClr val="0000FF"/>
                </a:solidFill>
                <a:latin typeface="ＭＳ ゴシック" panose="020B0609070205080204" pitchFamily="49" charset="-128"/>
                <a:ea typeface="ＭＳ ゴシック" panose="020B0609070205080204" pitchFamily="49" charset="-128"/>
              </a:rPr>
              <a:t>public static void printSpecies() {</a:t>
            </a:r>
          </a:p>
          <a:p>
            <a:pPr lvl="1"/>
            <a:r>
              <a:rPr lang="en-US" altLang="ja-JP" sz="1800">
                <a:solidFill>
                  <a:srgbClr val="0000FF"/>
                </a:solidFill>
                <a:latin typeface="ＭＳ ゴシック" panose="020B0609070205080204" pitchFamily="49" charset="-128"/>
                <a:ea typeface="ＭＳ ゴシック" panose="020B0609070205080204" pitchFamily="49" charset="-128"/>
              </a:rPr>
              <a:t>    System.out.println(SPECIES);  // </a:t>
            </a:r>
            <a:r>
              <a:rPr lang="en-US" altLang="ja-JP" sz="1800">
                <a:solidFill>
                  <a:srgbClr val="0000FF"/>
                </a:solidFill>
                <a:latin typeface="Arial" panose="020B0604020202020204" pitchFamily="34" charset="0"/>
                <a:ea typeface="ＭＳ ゴシック" panose="020B0609070205080204" pitchFamily="49" charset="-128"/>
              </a:rPr>
              <a:t>Chỉ định </a:t>
            </a:r>
            <a:r>
              <a:rPr lang="en-US" altLang="ja-JP" sz="1800">
                <a:solidFill>
                  <a:srgbClr val="0000FF"/>
                </a:solidFill>
                <a:latin typeface="ＭＳ ゴシック" panose="020B0609070205080204" pitchFamily="49" charset="-128"/>
                <a:ea typeface="ＭＳ ゴシック" panose="020B0609070205080204" pitchFamily="49" charset="-128"/>
              </a:rPr>
              <a:t>SPECIES </a:t>
            </a:r>
            <a:r>
              <a:rPr lang="en-US" altLang="ja-JP" sz="1800">
                <a:solidFill>
                  <a:srgbClr val="0000FF"/>
                </a:solidFill>
                <a:latin typeface="Arial" panose="020B0604020202020204" pitchFamily="34" charset="0"/>
                <a:ea typeface="ＭＳ ゴシック" panose="020B0609070205080204" pitchFamily="49" charset="-128"/>
              </a:rPr>
              <a:t>thành </a:t>
            </a:r>
            <a:r>
              <a:rPr lang="en-US" altLang="ja-JP" sz="1800">
                <a:solidFill>
                  <a:srgbClr val="0000FF"/>
                </a:solidFill>
                <a:latin typeface="ＭＳ ゴシック" panose="020B0609070205080204" pitchFamily="49" charset="-128"/>
                <a:ea typeface="ＭＳ ゴシック" panose="020B0609070205080204" pitchFamily="49" charset="-128"/>
              </a:rPr>
              <a:t>Person.SPECIES </a:t>
            </a:r>
            <a:r>
              <a:rPr lang="en-US" altLang="ja-JP" sz="1800">
                <a:solidFill>
                  <a:srgbClr val="0000FF"/>
                </a:solidFill>
                <a:latin typeface="Arial" panose="020B0604020202020204" pitchFamily="34" charset="0"/>
                <a:ea typeface="ＭＳ ゴシック" panose="020B0609070205080204" pitchFamily="49" charset="-128"/>
              </a:rPr>
              <a:t>cũng được</a:t>
            </a:r>
          </a:p>
          <a:p>
            <a:pPr lvl="1"/>
            <a:r>
              <a:rPr lang="en-US" altLang="ja-JP" sz="1800">
                <a:solidFill>
                  <a:srgbClr val="0000FF"/>
                </a:solidFill>
                <a:latin typeface="ＭＳ ゴシック" panose="020B0609070205080204" pitchFamily="49" charset="-128"/>
                <a:ea typeface="ＭＳ ゴシック" panose="020B0609070205080204" pitchFamily="49" charset="-128"/>
              </a:rPr>
              <a:t>}</a:t>
            </a:r>
          </a:p>
        </p:txBody>
      </p:sp>
      <p:sp>
        <p:nvSpPr>
          <p:cNvPr id="571406" name="Rectangle 14">
            <a:extLst>
              <a:ext uri="{FF2B5EF4-FFF2-40B4-BE49-F238E27FC236}">
                <a16:creationId xmlns:a16="http://schemas.microsoft.com/office/drawing/2014/main" id="{2E8C1EA5-3DE7-AF3B-66DC-BB2BDBA708FC}"/>
              </a:ext>
            </a:extLst>
          </p:cNvPr>
          <p:cNvSpPr>
            <a:spLocks noChangeArrowheads="1"/>
          </p:cNvSpPr>
          <p:nvPr/>
        </p:nvSpPr>
        <p:spPr bwMode="auto">
          <a:xfrm>
            <a:off x="344488" y="49593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 sử dụng】</a:t>
            </a:r>
          </a:p>
        </p:txBody>
      </p:sp>
      <p:sp>
        <p:nvSpPr>
          <p:cNvPr id="571407" name="Rectangle 15">
            <a:extLst>
              <a:ext uri="{FF2B5EF4-FFF2-40B4-BE49-F238E27FC236}">
                <a16:creationId xmlns:a16="http://schemas.microsoft.com/office/drawing/2014/main" id="{DCB661CB-B99B-5FB6-9AE8-35DD72E86C9B}"/>
              </a:ext>
            </a:extLst>
          </p:cNvPr>
          <p:cNvSpPr>
            <a:spLocks noChangeArrowheads="1"/>
          </p:cNvSpPr>
          <p:nvPr/>
        </p:nvSpPr>
        <p:spPr bwMode="auto">
          <a:xfrm>
            <a:off x="344488" y="5430838"/>
            <a:ext cx="9120187" cy="4191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36000"/>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a:solidFill>
                  <a:srgbClr val="0000FF"/>
                </a:solidFill>
                <a:latin typeface="ＭＳ ゴシック" panose="020B0609070205080204" pitchFamily="49" charset="-128"/>
                <a:ea typeface="ＭＳ ゴシック" panose="020B0609070205080204" pitchFamily="49" charset="-128"/>
              </a:rPr>
              <a:t>Person.printSpecies();</a:t>
            </a:r>
          </a:p>
        </p:txBody>
      </p:sp>
      <p:sp>
        <p:nvSpPr>
          <p:cNvPr id="571408" name="AutoShape 16">
            <a:extLst>
              <a:ext uri="{FF2B5EF4-FFF2-40B4-BE49-F238E27FC236}">
                <a16:creationId xmlns:a16="http://schemas.microsoft.com/office/drawing/2014/main" id="{FB887D94-B5E2-28DD-9962-496265FFA9CE}"/>
              </a:ext>
            </a:extLst>
          </p:cNvPr>
          <p:cNvSpPr>
            <a:spLocks noChangeArrowheads="1"/>
          </p:cNvSpPr>
          <p:nvPr/>
        </p:nvSpPr>
        <p:spPr bwMode="auto">
          <a:xfrm>
            <a:off x="2384425" y="4789488"/>
            <a:ext cx="6827838" cy="592137"/>
          </a:xfrm>
          <a:prstGeom prst="wedgeRoundRectCallout">
            <a:avLst>
              <a:gd name="adj1" fmla="val -43468"/>
              <a:gd name="adj2" fmla="val -88875"/>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800" dirty="0">
                <a:latin typeface="+mj-lt"/>
              </a:rPr>
              <a:t>modifier </a:t>
            </a:r>
            <a:r>
              <a:rPr lang="en-US" altLang="ja-JP" sz="1800" dirty="0" err="1">
                <a:latin typeface="+mj-lt"/>
              </a:rPr>
              <a:t>sư</a:t>
            </a:r>
            <a:r>
              <a:rPr lang="en-US" altLang="ja-JP" sz="1800" dirty="0">
                <a:latin typeface="+mj-lt"/>
              </a:rPr>
              <a:t>̉ </a:t>
            </a:r>
            <a:r>
              <a:rPr lang="en-US" altLang="ja-JP" sz="1800" dirty="0" err="1">
                <a:latin typeface="+mj-lt"/>
              </a:rPr>
              <a:t>dụng</a:t>
            </a:r>
            <a:r>
              <a:rPr lang="en-US" altLang="ja-JP" sz="1800" dirty="0">
                <a:latin typeface="+mj-lt"/>
              </a:rPr>
              <a:t> ở static method </a:t>
            </a:r>
            <a:r>
              <a:rPr lang="en-US" altLang="ja-JP" sz="1800" dirty="0" err="1">
                <a:latin typeface="+mj-lt"/>
              </a:rPr>
              <a:t>thông</a:t>
            </a:r>
            <a:r>
              <a:rPr lang="en-US" altLang="ja-JP" sz="1800" dirty="0">
                <a:latin typeface="+mj-lt"/>
              </a:rPr>
              <a:t> </a:t>
            </a:r>
            <a:r>
              <a:rPr lang="en-US" altLang="ja-JP" sz="1800" dirty="0" err="1">
                <a:latin typeface="+mj-lt"/>
              </a:rPr>
              <a:t>thường</a:t>
            </a:r>
            <a:r>
              <a:rPr lang="en-US" altLang="ja-JP" sz="1800" dirty="0">
                <a:latin typeface="+mj-lt"/>
              </a:rPr>
              <a:t> là public </a:t>
            </a:r>
            <a:r>
              <a:rPr lang="ja-JP" altLang="en-US" sz="1800" dirty="0">
                <a:latin typeface="+mj-lt"/>
              </a:rPr>
              <a:t>（</a:t>
            </a:r>
            <a:r>
              <a:rPr lang="en-US" altLang="ja-JP" sz="1800" dirty="0" err="1">
                <a:latin typeface="+mj-lt"/>
              </a:rPr>
              <a:t>công</a:t>
            </a:r>
            <a:r>
              <a:rPr lang="en-US" altLang="ja-JP" sz="1800" dirty="0">
                <a:latin typeface="+mj-lt"/>
              </a:rPr>
              <a:t> </a:t>
            </a:r>
            <a:r>
              <a:rPr lang="en-US" altLang="ja-JP" sz="1800" dirty="0" err="1">
                <a:latin typeface="+mj-lt"/>
              </a:rPr>
              <a:t>khai</a:t>
            </a:r>
            <a:r>
              <a:rPr lang="en-US" altLang="ja-JP" sz="1800" dirty="0">
                <a:latin typeface="+mj-lt"/>
              </a:rPr>
              <a:t> </a:t>
            </a:r>
            <a:r>
              <a:rPr lang="en-US" altLang="ja-JP" sz="1800" dirty="0" err="1">
                <a:latin typeface="+mj-lt"/>
              </a:rPr>
              <a:t>ra</a:t>
            </a:r>
            <a:r>
              <a:rPr lang="en-US" altLang="ja-JP" sz="1800" dirty="0">
                <a:latin typeface="+mj-lt"/>
              </a:rPr>
              <a:t> </a:t>
            </a:r>
            <a:r>
              <a:rPr lang="en-US" altLang="ja-JP" sz="1800" dirty="0" err="1">
                <a:latin typeface="+mj-lt"/>
              </a:rPr>
              <a:t>bên</a:t>
            </a:r>
            <a:r>
              <a:rPr lang="en-US" altLang="ja-JP" sz="1800" dirty="0">
                <a:latin typeface="+mj-lt"/>
              </a:rPr>
              <a:t> </a:t>
            </a:r>
            <a:r>
              <a:rPr lang="en-US" altLang="ja-JP" sz="1800" dirty="0" err="1">
                <a:latin typeface="+mj-lt"/>
              </a:rPr>
              <a:t>ngoài</a:t>
            </a:r>
            <a:r>
              <a:rPr lang="ja-JP" altLang="en-US" sz="1800" dirty="0">
                <a:latin typeface="+mj-lt"/>
              </a:rPr>
              <a:t>）</a:t>
            </a:r>
          </a:p>
        </p:txBody>
      </p:sp>
      <p:sp>
        <p:nvSpPr>
          <p:cNvPr id="571409" name="AutoShape 17">
            <a:extLst>
              <a:ext uri="{FF2B5EF4-FFF2-40B4-BE49-F238E27FC236}">
                <a16:creationId xmlns:a16="http://schemas.microsoft.com/office/drawing/2014/main" id="{74EAAA79-5728-D2B4-4138-7E031C135F02}"/>
              </a:ext>
            </a:extLst>
          </p:cNvPr>
          <p:cNvSpPr>
            <a:spLocks noChangeArrowheads="1"/>
          </p:cNvSpPr>
          <p:nvPr/>
        </p:nvSpPr>
        <p:spPr bwMode="auto">
          <a:xfrm>
            <a:off x="2533650" y="5910263"/>
            <a:ext cx="6589713" cy="590550"/>
          </a:xfrm>
          <a:prstGeom prst="wedgeRoundRectCallout">
            <a:avLst>
              <a:gd name="adj1" fmla="val -38556"/>
              <a:gd name="adj2" fmla="val -9005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Có </a:t>
            </a:r>
            <a:r>
              <a:rPr lang="en-US" altLang="ja-JP" sz="1800" dirty="0" err="1">
                <a:latin typeface="+mj-lt"/>
              </a:rPr>
              <a:t>thê</a:t>
            </a:r>
            <a:r>
              <a:rPr lang="en-US" altLang="ja-JP" sz="1800" dirty="0">
                <a:latin typeface="+mj-lt"/>
              </a:rPr>
              <a:t>̉ </a:t>
            </a:r>
            <a:r>
              <a:rPr lang="en-US" altLang="ja-JP" sz="1800" dirty="0" err="1">
                <a:latin typeface="+mj-lt"/>
              </a:rPr>
              <a:t>sư</a:t>
            </a:r>
            <a:r>
              <a:rPr lang="en-US" altLang="ja-JP" sz="1800" dirty="0">
                <a:latin typeface="+mj-lt"/>
              </a:rPr>
              <a:t>̉ </a:t>
            </a:r>
            <a:r>
              <a:rPr lang="en-US" altLang="ja-JP" sz="1800" dirty="0" err="1">
                <a:latin typeface="+mj-lt"/>
              </a:rPr>
              <a:t>dụng</a:t>
            </a:r>
            <a:r>
              <a:rPr lang="en-US" altLang="ja-JP" sz="1800" dirty="0">
                <a:latin typeface="+mj-lt"/>
              </a:rPr>
              <a:t> </a:t>
            </a:r>
            <a:r>
              <a:rPr lang="en-US" altLang="ja-JP" sz="1800" dirty="0" err="1">
                <a:latin typeface="+mj-lt"/>
              </a:rPr>
              <a:t>ngay</a:t>
            </a:r>
            <a:r>
              <a:rPr lang="en-US" altLang="ja-JP" sz="1800" dirty="0">
                <a:latin typeface="+mj-lt"/>
              </a:rPr>
              <a:t> cả </a:t>
            </a:r>
            <a:r>
              <a:rPr lang="en-US" altLang="ja-JP" sz="1800" dirty="0" err="1">
                <a:latin typeface="+mj-lt"/>
              </a:rPr>
              <a:t>khi</a:t>
            </a:r>
            <a:r>
              <a:rPr lang="en-US" altLang="ja-JP" sz="1800" dirty="0">
                <a:latin typeface="+mj-lt"/>
              </a:rPr>
              <a:t> </a:t>
            </a:r>
            <a:r>
              <a:rPr lang="en-US" altLang="ja-JP" sz="1800" dirty="0" err="1">
                <a:latin typeface="+mj-lt"/>
              </a:rPr>
              <a:t>không</a:t>
            </a:r>
            <a:r>
              <a:rPr lang="en-US" altLang="ja-JP" sz="1800" dirty="0">
                <a:latin typeface="+mj-lt"/>
              </a:rPr>
              <a:t> </a:t>
            </a:r>
            <a:r>
              <a:rPr lang="en-US" altLang="ja-JP" sz="1800" dirty="0" err="1">
                <a:latin typeface="+mj-lt"/>
              </a:rPr>
              <a:t>tồn</a:t>
            </a:r>
            <a:r>
              <a:rPr lang="en-US" altLang="ja-JP" sz="1800" dirty="0">
                <a:latin typeface="+mj-lt"/>
              </a:rPr>
              <a:t> </a:t>
            </a:r>
            <a:r>
              <a:rPr lang="en-US" altLang="ja-JP" sz="1800" dirty="0" err="1">
                <a:latin typeface="+mj-lt"/>
              </a:rPr>
              <a:t>tại</a:t>
            </a:r>
            <a:r>
              <a:rPr lang="en-US" altLang="ja-JP" sz="1800" dirty="0">
                <a:latin typeface="+mj-lt"/>
              </a:rPr>
              <a:t> object </a:t>
            </a:r>
            <a:r>
              <a:rPr lang="en-US" altLang="ja-JP" sz="1800" dirty="0" err="1">
                <a:latin typeface="+mj-lt"/>
              </a:rPr>
              <a:t>của</a:t>
            </a:r>
            <a:r>
              <a:rPr lang="en-US" altLang="ja-JP" sz="1800" dirty="0">
                <a:latin typeface="+mj-lt"/>
              </a:rPr>
              <a:t> class </a:t>
            </a:r>
            <a:r>
              <a:rPr lang="en-US" altLang="ja-JP" sz="1800" dirty="0" err="1">
                <a:latin typeface="+mj-lt"/>
              </a:rPr>
              <a:t>có</a:t>
            </a:r>
            <a:r>
              <a:rPr lang="en-US" altLang="ja-JP" sz="1800" dirty="0">
                <a:latin typeface="+mj-lt"/>
              </a:rPr>
              <a:t> </a:t>
            </a:r>
            <a:r>
              <a:rPr lang="en-US" altLang="en-US" sz="1800" dirty="0">
                <a:latin typeface="+mj-lt"/>
              </a:rPr>
              <a:t>static</a:t>
            </a:r>
            <a:r>
              <a:rPr lang="en-US" altLang="ja-JP" sz="1800" dirty="0">
                <a:latin typeface="+mj-lt"/>
              </a:rPr>
              <a:t> method.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B600B825-2F90-4D1D-1494-8C4E85329DDD}"/>
              </a:ext>
            </a:extLst>
          </p:cNvPr>
          <p:cNvSpPr>
            <a:spLocks noGrp="1"/>
          </p:cNvSpPr>
          <p:nvPr>
            <p:ph type="sldNum" sz="quarter" idx="10"/>
          </p:nvPr>
        </p:nvSpPr>
        <p:spPr/>
        <p:txBody>
          <a:bodyPr/>
          <a:lstStyle/>
          <a:p>
            <a:fld id="{1B398AD8-3427-4E66-8B5B-0E3F36166927}" type="slidenum">
              <a:rPr lang="en-US" altLang="ja-JP"/>
              <a:pPr/>
              <a:t>20</a:t>
            </a:fld>
            <a:endParaRPr lang="en-US" altLang="ja-JP"/>
          </a:p>
        </p:txBody>
      </p:sp>
      <p:sp>
        <p:nvSpPr>
          <p:cNvPr id="464898" name="Rectangle 2">
            <a:extLst>
              <a:ext uri="{FF2B5EF4-FFF2-40B4-BE49-F238E27FC236}">
                <a16:creationId xmlns:a16="http://schemas.microsoft.com/office/drawing/2014/main" id="{D28FE6C7-B795-3307-1645-88B94F32CEC5}"/>
              </a:ext>
            </a:extLst>
          </p:cNvPr>
          <p:cNvSpPr>
            <a:spLocks noGrp="1" noChangeArrowheads="1"/>
          </p:cNvSpPr>
          <p:nvPr>
            <p:ph type="title"/>
          </p:nvPr>
        </p:nvSpPr>
        <p:spPr>
          <a:xfrm>
            <a:off x="344488" y="273844"/>
            <a:ext cx="9217025" cy="490537"/>
          </a:xfrm>
        </p:spPr>
        <p:txBody>
          <a:bodyPr>
            <a:normAutofit fontScale="90000"/>
          </a:bodyPr>
          <a:lstStyle/>
          <a:p>
            <a:r>
              <a:rPr lang="en-US" altLang="ja-JP" dirty="0">
                <a:latin typeface="MS UI Gothic" panose="020B0600070205080204" pitchFamily="50" charset="-128"/>
                <a:ea typeface="MS UI Gothic" panose="020B0600070205080204" pitchFamily="50" charset="-128"/>
              </a:rPr>
              <a:t>MAIN METHOD</a:t>
            </a:r>
          </a:p>
        </p:txBody>
      </p:sp>
      <p:sp>
        <p:nvSpPr>
          <p:cNvPr id="464899" name="Rectangle 3">
            <a:extLst>
              <a:ext uri="{FF2B5EF4-FFF2-40B4-BE49-F238E27FC236}">
                <a16:creationId xmlns:a16="http://schemas.microsoft.com/office/drawing/2014/main" id="{3C5A3D4D-9310-4BC1-2F77-52C6D3C247B3}"/>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464900" name="Rectangle 4">
            <a:extLst>
              <a:ext uri="{FF2B5EF4-FFF2-40B4-BE49-F238E27FC236}">
                <a16:creationId xmlns:a16="http://schemas.microsoft.com/office/drawing/2014/main" id="{B748D8F4-A1F2-F91C-4E2A-8DEE1B41E85E}"/>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main method</a:t>
            </a: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464901" name="Text Box 5">
            <a:extLst>
              <a:ext uri="{FF2B5EF4-FFF2-40B4-BE49-F238E27FC236}">
                <a16:creationId xmlns:a16="http://schemas.microsoft.com/office/drawing/2014/main" id="{A442ED41-40F0-D6B3-3A6C-23F06A7964EA}"/>
              </a:ext>
            </a:extLst>
          </p:cNvPr>
          <p:cNvSpPr txBox="1">
            <a:spLocks noChangeArrowheads="1"/>
          </p:cNvSpPr>
          <p:nvPr/>
        </p:nvSpPr>
        <p:spPr bwMode="auto">
          <a:xfrm>
            <a:off x="344488" y="1751013"/>
            <a:ext cx="9120187" cy="120650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ja-JP" sz="2000">
                <a:latin typeface="MS UI Gothic" panose="020B0600070205080204" pitchFamily="50" charset="-128"/>
                <a:ea typeface="MS UI Gothic" panose="020B0600070205080204" pitchFamily="50" charset="-128"/>
              </a:rPr>
              <a:t>　</a:t>
            </a:r>
            <a:r>
              <a:rPr lang="ja-JP" altLang="ja-JP" sz="2000">
                <a:latin typeface="ＭＳ ゴシック" panose="020B0609070205080204" pitchFamily="49" charset="-128"/>
                <a:ea typeface="ＭＳ ゴシック" panose="020B0609070205080204" pitchFamily="49" charset="-128"/>
              </a:rPr>
              <a:t>public</a:t>
            </a:r>
            <a:r>
              <a:rPr lang="en-US" altLang="ja-JP" sz="2000">
                <a:latin typeface="ＭＳ ゴシック" panose="020B0609070205080204" pitchFamily="49" charset="-128"/>
                <a:ea typeface="ＭＳ ゴシック" panose="020B0609070205080204" pitchFamily="49" charset="-128"/>
              </a:rPr>
              <a:t>  </a:t>
            </a:r>
            <a:r>
              <a:rPr lang="ja-JP" altLang="ja-JP" sz="2000">
                <a:latin typeface="ＭＳ ゴシック" panose="020B0609070205080204" pitchFamily="49" charset="-128"/>
                <a:ea typeface="ＭＳ ゴシック" panose="020B0609070205080204" pitchFamily="49" charset="-128"/>
              </a:rPr>
              <a:t>static </a:t>
            </a:r>
            <a:r>
              <a:rPr lang="en-US" altLang="ja-JP" sz="2000">
                <a:latin typeface="ＭＳ ゴシック" panose="020B0609070205080204" pitchFamily="49" charset="-128"/>
                <a:ea typeface="ＭＳ ゴシック" panose="020B0609070205080204" pitchFamily="49" charset="-128"/>
              </a:rPr>
              <a:t> </a:t>
            </a:r>
            <a:r>
              <a:rPr lang="ja-JP" altLang="ja-JP" sz="2000">
                <a:latin typeface="ＭＳ ゴシック" panose="020B0609070205080204" pitchFamily="49" charset="-128"/>
                <a:ea typeface="ＭＳ ゴシック" panose="020B0609070205080204" pitchFamily="49" charset="-128"/>
              </a:rPr>
              <a:t>void</a:t>
            </a:r>
            <a:r>
              <a:rPr lang="en-US" altLang="ja-JP" sz="2000">
                <a:latin typeface="ＭＳ ゴシック" panose="020B0609070205080204" pitchFamily="49" charset="-128"/>
                <a:ea typeface="ＭＳ ゴシック" panose="020B0609070205080204" pitchFamily="49" charset="-128"/>
              </a:rPr>
              <a:t>  </a:t>
            </a:r>
            <a:r>
              <a:rPr lang="ja-JP" altLang="ja-JP" sz="2000">
                <a:latin typeface="ＭＳ ゴシック" panose="020B0609070205080204" pitchFamily="49" charset="-128"/>
                <a:ea typeface="ＭＳ ゴシック" panose="020B0609070205080204" pitchFamily="49" charset="-128"/>
              </a:rPr>
              <a:t>main(</a:t>
            </a:r>
            <a:r>
              <a:rPr lang="en-US" altLang="ja-JP" sz="2000">
                <a:latin typeface="ＭＳ ゴシック" panose="020B0609070205080204" pitchFamily="49" charset="-128"/>
                <a:ea typeface="ＭＳ ゴシック" panose="020B0609070205080204" pitchFamily="49" charset="-128"/>
              </a:rPr>
              <a:t> </a:t>
            </a:r>
            <a:r>
              <a:rPr lang="ja-JP" altLang="ja-JP" sz="2000">
                <a:latin typeface="ＭＳ ゴシック" panose="020B0609070205080204" pitchFamily="49" charset="-128"/>
                <a:ea typeface="ＭＳ ゴシック" panose="020B0609070205080204" pitchFamily="49" charset="-128"/>
              </a:rPr>
              <a:t>String[] </a:t>
            </a:r>
            <a:r>
              <a:rPr lang="en-US" altLang="ja-JP" sz="2000">
                <a:latin typeface="ＭＳ ゴシック" panose="020B0609070205080204" pitchFamily="49" charset="-128"/>
                <a:ea typeface="ＭＳ ゴシック" panose="020B0609070205080204" pitchFamily="49" charset="-128"/>
              </a:rPr>
              <a:t> </a:t>
            </a:r>
            <a:r>
              <a:rPr lang="ja-JP" altLang="ja-JP" sz="2000">
                <a:latin typeface="ＭＳ ゴシック" panose="020B0609070205080204" pitchFamily="49" charset="-128"/>
                <a:ea typeface="ＭＳ ゴシック" panose="020B0609070205080204" pitchFamily="49" charset="-128"/>
              </a:rPr>
              <a:t>args</a:t>
            </a:r>
            <a:r>
              <a:rPr lang="en-US" altLang="ja-JP" sz="2000">
                <a:latin typeface="ＭＳ ゴシック" panose="020B0609070205080204" pitchFamily="49" charset="-128"/>
                <a:ea typeface="ＭＳ ゴシック" panose="020B0609070205080204" pitchFamily="49" charset="-128"/>
              </a:rPr>
              <a:t> </a:t>
            </a:r>
            <a:r>
              <a:rPr lang="ja-JP" altLang="ja-JP" sz="2000">
                <a:latin typeface="ＭＳ ゴシック" panose="020B0609070205080204" pitchFamily="49" charset="-128"/>
                <a:ea typeface="ＭＳ ゴシック" panose="020B0609070205080204" pitchFamily="49" charset="-128"/>
              </a:rPr>
              <a:t>) {</a:t>
            </a:r>
          </a:p>
          <a:p>
            <a:pPr lvl="1" algn="just">
              <a:lnSpc>
                <a:spcPct val="112000"/>
              </a:lnSpc>
            </a:pPr>
            <a:r>
              <a:rPr lang="ja-JP" altLang="ja-JP" sz="2000">
                <a:latin typeface="MS UI Gothic" panose="020B0600070205080204" pitchFamily="50" charset="-128"/>
                <a:ea typeface="MS UI Gothic" panose="020B0600070205080204" pitchFamily="50" charset="-128"/>
              </a:rPr>
              <a:t>　　　　　　</a:t>
            </a:r>
            <a:r>
              <a:rPr lang="ja-JP" altLang="ja-JP" sz="2000">
                <a:latin typeface="ＭＳ ゴシック" panose="020B0609070205080204" pitchFamily="49" charset="-128"/>
                <a:ea typeface="ＭＳ ゴシック" panose="020B0609070205080204" pitchFamily="49" charset="-128"/>
              </a:rPr>
              <a:t>//</a:t>
            </a:r>
            <a:r>
              <a:rPr lang="ja-JP" altLang="ja-JP" sz="2000">
                <a:latin typeface="MS UI Gothic" panose="020B0600070205080204" pitchFamily="50" charset="-128"/>
                <a:ea typeface="MS UI Gothic" panose="020B0600070205080204" pitchFamily="50" charset="-128"/>
              </a:rPr>
              <a:t>  </a:t>
            </a:r>
            <a:r>
              <a:rPr lang="en-US" altLang="ja-JP" sz="2000">
                <a:latin typeface="MS UI Gothic" panose="020B0600070205080204" pitchFamily="50" charset="-128"/>
                <a:ea typeface="MS UI Gothic" panose="020B0600070205080204" pitchFamily="50" charset="-128"/>
              </a:rPr>
              <a:t>Xử lý</a:t>
            </a:r>
            <a:endParaRPr lang="ja-JP" altLang="ja-JP" sz="2000">
              <a:latin typeface="MS UI Gothic" panose="020B0600070205080204" pitchFamily="50" charset="-128"/>
              <a:ea typeface="MS UI Gothic" panose="020B0600070205080204" pitchFamily="50" charset="-128"/>
            </a:endParaRPr>
          </a:p>
          <a:p>
            <a:pPr lvl="1" algn="just">
              <a:lnSpc>
                <a:spcPct val="112000"/>
              </a:lnSpc>
            </a:pPr>
            <a:r>
              <a:rPr lang="ja-JP" altLang="ja-JP" sz="2000">
                <a:latin typeface="MS UI Gothic" panose="020B0600070205080204" pitchFamily="50" charset="-128"/>
                <a:ea typeface="MS UI Gothic" panose="020B0600070205080204" pitchFamily="50" charset="-128"/>
              </a:rPr>
              <a:t>　</a:t>
            </a:r>
            <a:r>
              <a:rPr lang="ja-JP" altLang="ja-JP" sz="2000">
                <a:latin typeface="ＭＳ ゴシック" panose="020B0609070205080204" pitchFamily="49" charset="-128"/>
                <a:ea typeface="ＭＳ ゴシック" panose="020B0609070205080204" pitchFamily="49" charset="-128"/>
              </a:rPr>
              <a:t>}</a:t>
            </a:r>
          </a:p>
        </p:txBody>
      </p:sp>
      <p:sp>
        <p:nvSpPr>
          <p:cNvPr id="464902" name="Rectangle 6">
            <a:extLst>
              <a:ext uri="{FF2B5EF4-FFF2-40B4-BE49-F238E27FC236}">
                <a16:creationId xmlns:a16="http://schemas.microsoft.com/office/drawing/2014/main" id="{014E9DA1-758C-AEBF-0474-272732069F5B}"/>
              </a:ext>
            </a:extLst>
          </p:cNvPr>
          <p:cNvSpPr>
            <a:spLocks noChangeArrowheads="1"/>
          </p:cNvSpPr>
          <p:nvPr/>
        </p:nvSpPr>
        <p:spPr bwMode="auto">
          <a:xfrm>
            <a:off x="344488" y="34544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●Đối số của main method</a:t>
            </a:r>
            <a:r>
              <a:rPr lang="ja-JP" altLang="en-US" sz="2000" b="0">
                <a:latin typeface="Arial" panose="020B0604020202020204" pitchFamily="34" charset="0"/>
              </a:rPr>
              <a:t>（</a:t>
            </a:r>
            <a:r>
              <a:rPr lang="en-US" altLang="ja-JP" sz="2000" b="0">
                <a:latin typeface="Arial" panose="020B0604020202020204" pitchFamily="34" charset="0"/>
              </a:rPr>
              <a:t>nhận giá trị từ command line</a:t>
            </a:r>
            <a:r>
              <a:rPr lang="ja-JP" altLang="en-US" sz="2000" b="0">
                <a:latin typeface="Arial" panose="020B0604020202020204" pitchFamily="34" charset="0"/>
              </a:rPr>
              <a:t>）</a:t>
            </a:r>
          </a:p>
        </p:txBody>
      </p:sp>
      <p:sp>
        <p:nvSpPr>
          <p:cNvPr id="464905" name="AutoShape 9">
            <a:extLst>
              <a:ext uri="{FF2B5EF4-FFF2-40B4-BE49-F238E27FC236}">
                <a16:creationId xmlns:a16="http://schemas.microsoft.com/office/drawing/2014/main" id="{F9C5B59A-CD7F-47E6-5326-6F72D3C2E277}"/>
              </a:ext>
            </a:extLst>
          </p:cNvPr>
          <p:cNvSpPr>
            <a:spLocks noChangeArrowheads="1"/>
          </p:cNvSpPr>
          <p:nvPr/>
        </p:nvSpPr>
        <p:spPr bwMode="auto">
          <a:xfrm>
            <a:off x="3197225" y="939800"/>
            <a:ext cx="5775325" cy="579438"/>
          </a:xfrm>
          <a:prstGeom prst="wedgeRoundRectCallout">
            <a:avLst>
              <a:gd name="adj1" fmla="val -45023"/>
              <a:gd name="adj2" fmla="val 100958"/>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Là method </a:t>
            </a:r>
            <a:r>
              <a:rPr lang="en-US" altLang="ja-JP" sz="1800" dirty="0" err="1">
                <a:latin typeface="+mj-lt"/>
              </a:rPr>
              <a:t>được</a:t>
            </a:r>
            <a:r>
              <a:rPr lang="en-US" altLang="ja-JP" sz="1800" dirty="0">
                <a:latin typeface="+mj-lt"/>
              </a:rPr>
              <a:t> </a:t>
            </a:r>
            <a:r>
              <a:rPr lang="en-US" altLang="ja-JP" sz="1800" dirty="0" err="1">
                <a:latin typeface="+mj-lt"/>
              </a:rPr>
              <a:t>gọi</a:t>
            </a:r>
            <a:r>
              <a:rPr lang="en-US" altLang="ja-JP" sz="1800" dirty="0">
                <a:latin typeface="+mj-lt"/>
              </a:rPr>
              <a:t> </a:t>
            </a:r>
            <a:r>
              <a:rPr lang="en-US" altLang="ja-JP" sz="1800" dirty="0" err="1">
                <a:latin typeface="+mj-lt"/>
              </a:rPr>
              <a:t>ra</a:t>
            </a:r>
            <a:r>
              <a:rPr lang="en-US" altLang="ja-JP" sz="1800" dirty="0">
                <a:latin typeface="+mj-lt"/>
              </a:rPr>
              <a:t> </a:t>
            </a:r>
            <a:r>
              <a:rPr lang="en-US" altLang="ja-JP" sz="1800" dirty="0" err="1">
                <a:latin typeface="+mj-lt"/>
              </a:rPr>
              <a:t>đầu</a:t>
            </a:r>
            <a:r>
              <a:rPr lang="en-US" altLang="ja-JP" sz="1800" dirty="0">
                <a:latin typeface="+mj-lt"/>
              </a:rPr>
              <a:t> </a:t>
            </a:r>
            <a:r>
              <a:rPr lang="en-US" altLang="ja-JP" sz="1800" dirty="0" err="1">
                <a:latin typeface="+mj-lt"/>
              </a:rPr>
              <a:t>tiên</a:t>
            </a:r>
            <a:r>
              <a:rPr lang="en-US" altLang="ja-JP" sz="1800" dirty="0">
                <a:latin typeface="+mj-lt"/>
              </a:rPr>
              <a:t> </a:t>
            </a:r>
            <a:r>
              <a:rPr lang="en-US" altLang="ja-JP" sz="1800" dirty="0" err="1">
                <a:latin typeface="+mj-lt"/>
              </a:rPr>
              <a:t>khi</a:t>
            </a:r>
            <a:r>
              <a:rPr lang="en-US" altLang="ja-JP" sz="1800" dirty="0">
                <a:latin typeface="+mj-lt"/>
              </a:rPr>
              <a:t> </a:t>
            </a:r>
            <a:r>
              <a:rPr lang="en-US" altLang="ja-JP" sz="1800" dirty="0" err="1">
                <a:latin typeface="+mj-lt"/>
              </a:rPr>
              <a:t>thực</a:t>
            </a:r>
            <a:r>
              <a:rPr lang="en-US" altLang="ja-JP" sz="1800" dirty="0">
                <a:latin typeface="+mj-lt"/>
              </a:rPr>
              <a:t> </a:t>
            </a:r>
            <a:r>
              <a:rPr lang="en-US" altLang="ja-JP" sz="1800" dirty="0" err="1">
                <a:latin typeface="+mj-lt"/>
              </a:rPr>
              <a:t>hiện</a:t>
            </a:r>
            <a:r>
              <a:rPr lang="en-US" altLang="ja-JP" sz="1800" dirty="0">
                <a:latin typeface="+mj-lt"/>
              </a:rPr>
              <a:t> application.</a:t>
            </a:r>
          </a:p>
        </p:txBody>
      </p:sp>
      <p:sp>
        <p:nvSpPr>
          <p:cNvPr id="464906" name="Text Box 10">
            <a:extLst>
              <a:ext uri="{FF2B5EF4-FFF2-40B4-BE49-F238E27FC236}">
                <a16:creationId xmlns:a16="http://schemas.microsoft.com/office/drawing/2014/main" id="{BFF62938-E44A-92FD-15B0-49FD199BCB25}"/>
              </a:ext>
            </a:extLst>
          </p:cNvPr>
          <p:cNvSpPr txBox="1">
            <a:spLocks noChangeArrowheads="1"/>
          </p:cNvSpPr>
          <p:nvPr/>
        </p:nvSpPr>
        <p:spPr bwMode="auto">
          <a:xfrm>
            <a:off x="344488" y="3914775"/>
            <a:ext cx="9120187" cy="509588"/>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nchor="ctr"/>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ja-JP" sz="2000">
                <a:ea typeface="MS UI Gothic" panose="020B0600070205080204" pitchFamily="50" charset="-128"/>
              </a:rPr>
              <a:t>　</a:t>
            </a:r>
            <a:r>
              <a:rPr lang="ja-JP" altLang="ja-JP" sz="2000">
                <a:ea typeface="ＭＳ ゴシック" panose="020B0609070205080204" pitchFamily="49" charset="-128"/>
              </a:rPr>
              <a:t>java</a:t>
            </a:r>
            <a:r>
              <a:rPr lang="ja-JP" altLang="ja-JP" sz="2000">
                <a:ea typeface="MS UI Gothic" panose="020B0600070205080204" pitchFamily="50" charset="-128"/>
              </a:rPr>
              <a:t>　</a:t>
            </a:r>
            <a:r>
              <a:rPr lang="en-US" altLang="ja-JP" sz="2000">
                <a:ea typeface="MS UI Gothic" panose="020B0600070205080204" pitchFamily="50" charset="-128"/>
              </a:rPr>
              <a:t>class name</a:t>
            </a:r>
            <a:r>
              <a:rPr lang="ja-JP" altLang="ja-JP" sz="2000">
                <a:ea typeface="MS UI Gothic" panose="020B0600070205080204" pitchFamily="50" charset="-128"/>
              </a:rPr>
              <a:t>　　</a:t>
            </a:r>
            <a:r>
              <a:rPr lang="en-US" altLang="ja-JP" sz="2000">
                <a:ea typeface="MS UI Gothic" panose="020B0600070205080204" pitchFamily="50" charset="-128"/>
              </a:rPr>
              <a:t>giá trị 1</a:t>
            </a:r>
            <a:r>
              <a:rPr lang="ja-JP" altLang="ja-JP" sz="2000">
                <a:ea typeface="MS UI Gothic" panose="020B0600070205080204" pitchFamily="50" charset="-128"/>
              </a:rPr>
              <a:t>　　</a:t>
            </a:r>
            <a:r>
              <a:rPr lang="en-US" altLang="ja-JP" sz="2000">
                <a:ea typeface="MS UI Gothic" panose="020B0600070205080204" pitchFamily="50" charset="-128"/>
              </a:rPr>
              <a:t>giá trị 2</a:t>
            </a:r>
            <a:r>
              <a:rPr lang="ja-JP" altLang="ja-JP" sz="2000">
                <a:ea typeface="MS UI Gothic" panose="020B0600070205080204" pitchFamily="50" charset="-128"/>
              </a:rPr>
              <a:t>　　…</a:t>
            </a:r>
          </a:p>
        </p:txBody>
      </p:sp>
      <p:sp>
        <p:nvSpPr>
          <p:cNvPr id="464908" name="Rectangle 12">
            <a:extLst>
              <a:ext uri="{FF2B5EF4-FFF2-40B4-BE49-F238E27FC236}">
                <a16:creationId xmlns:a16="http://schemas.microsoft.com/office/drawing/2014/main" id="{618BE8C4-0674-6452-1B56-C1D42BB137E1}"/>
              </a:ext>
            </a:extLst>
          </p:cNvPr>
          <p:cNvSpPr>
            <a:spLocks noChangeArrowheads="1"/>
          </p:cNvSpPr>
          <p:nvPr/>
        </p:nvSpPr>
        <p:spPr bwMode="auto">
          <a:xfrm>
            <a:off x="2470150" y="4002088"/>
            <a:ext cx="3546475" cy="369887"/>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464909" name="AutoShape 13">
            <a:extLst>
              <a:ext uri="{FF2B5EF4-FFF2-40B4-BE49-F238E27FC236}">
                <a16:creationId xmlns:a16="http://schemas.microsoft.com/office/drawing/2014/main" id="{B76AA31F-A4C0-A24F-314A-F3704A8BF991}"/>
              </a:ext>
            </a:extLst>
          </p:cNvPr>
          <p:cNvCxnSpPr>
            <a:cxnSpLocks noChangeShapeType="1"/>
            <a:stCxn id="464908" idx="3"/>
            <a:endCxn id="464911" idx="2"/>
          </p:cNvCxnSpPr>
          <p:nvPr/>
        </p:nvCxnSpPr>
        <p:spPr bwMode="auto">
          <a:xfrm flipH="1" flipV="1">
            <a:off x="5202238" y="2152650"/>
            <a:ext cx="833437" cy="2035175"/>
          </a:xfrm>
          <a:prstGeom prst="bentConnector4">
            <a:avLst>
              <a:gd name="adj1" fmla="val -25144"/>
              <a:gd name="adj2" fmla="val 55069"/>
            </a:avLst>
          </a:prstGeom>
          <a:noFill/>
          <a:ln w="381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4911" name="Rectangle 15">
            <a:extLst>
              <a:ext uri="{FF2B5EF4-FFF2-40B4-BE49-F238E27FC236}">
                <a16:creationId xmlns:a16="http://schemas.microsoft.com/office/drawing/2014/main" id="{09FB33C4-E429-F972-7277-12790835E2EF}"/>
              </a:ext>
            </a:extLst>
          </p:cNvPr>
          <p:cNvSpPr>
            <a:spLocks noChangeArrowheads="1"/>
          </p:cNvSpPr>
          <p:nvPr/>
        </p:nvSpPr>
        <p:spPr bwMode="auto">
          <a:xfrm>
            <a:off x="4256088" y="1787525"/>
            <a:ext cx="1892300" cy="3460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a:ea typeface="ＭＳ ゴシック" panose="020B0609070205080204" pitchFamily="49" charset="-128"/>
            </a:endParaRPr>
          </a:p>
        </p:txBody>
      </p:sp>
      <p:sp>
        <p:nvSpPr>
          <p:cNvPr id="464912" name="AutoShape 16">
            <a:extLst>
              <a:ext uri="{FF2B5EF4-FFF2-40B4-BE49-F238E27FC236}">
                <a16:creationId xmlns:a16="http://schemas.microsoft.com/office/drawing/2014/main" id="{0C299A14-B122-93B0-D920-F43DFA789A9C}"/>
              </a:ext>
            </a:extLst>
          </p:cNvPr>
          <p:cNvSpPr>
            <a:spLocks noChangeArrowheads="1"/>
          </p:cNvSpPr>
          <p:nvPr/>
        </p:nvSpPr>
        <p:spPr bwMode="auto">
          <a:xfrm>
            <a:off x="6581775" y="2416175"/>
            <a:ext cx="2979737" cy="1739900"/>
          </a:xfrm>
          <a:prstGeom prst="wedgeRoundRectCallout">
            <a:avLst>
              <a:gd name="adj1" fmla="val -59819"/>
              <a:gd name="adj2" fmla="val 21079"/>
              <a:gd name="adj3" fmla="val 16667"/>
            </a:avLst>
          </a:prstGeom>
          <a:solidFill>
            <a:srgbClr val="CC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ja-JP" sz="2000" dirty="0" err="1">
                <a:latin typeface="+mj-lt"/>
              </a:rPr>
              <a:t>Được</a:t>
            </a:r>
            <a:r>
              <a:rPr lang="en-US" altLang="ja-JP" sz="2000" dirty="0">
                <a:latin typeface="+mj-lt"/>
              </a:rPr>
              <a:t> </a:t>
            </a:r>
            <a:r>
              <a:rPr lang="en-US" altLang="ja-JP" sz="2000" dirty="0" err="1">
                <a:latin typeface="+mj-lt"/>
              </a:rPr>
              <a:t>truyền</a:t>
            </a:r>
            <a:r>
              <a:rPr lang="en-US" altLang="ja-JP" sz="2000" dirty="0">
                <a:latin typeface="+mj-lt"/>
              </a:rPr>
              <a:t> </a:t>
            </a:r>
            <a:r>
              <a:rPr lang="en-US" altLang="ja-JP" sz="2000" dirty="0" err="1">
                <a:latin typeface="+mj-lt"/>
              </a:rPr>
              <a:t>như</a:t>
            </a:r>
            <a:r>
              <a:rPr lang="en-US" altLang="ja-JP" sz="2000" dirty="0">
                <a:latin typeface="+mj-lt"/>
              </a:rPr>
              <a:t> là </a:t>
            </a:r>
            <a:r>
              <a:rPr lang="en-US" altLang="ja-JP" sz="2000" dirty="0" err="1">
                <a:latin typeface="+mj-lt"/>
              </a:rPr>
              <a:t>mảng</a:t>
            </a:r>
            <a:r>
              <a:rPr lang="en-US" altLang="ja-JP" sz="2000" dirty="0">
                <a:latin typeface="+mj-lt"/>
              </a:rPr>
              <a:t> String.</a:t>
            </a:r>
          </a:p>
          <a:p>
            <a:r>
              <a:rPr lang="ja-JP" altLang="en-US" sz="2000" dirty="0">
                <a:latin typeface="+mj-lt"/>
              </a:rPr>
              <a:t>　</a:t>
            </a:r>
            <a:r>
              <a:rPr lang="en-US" altLang="ja-JP" sz="2000" dirty="0" err="1">
                <a:latin typeface="+mj-lt"/>
              </a:rPr>
              <a:t>args</a:t>
            </a:r>
            <a:r>
              <a:rPr lang="en-US" altLang="ja-JP" sz="2000" dirty="0">
                <a:latin typeface="+mj-lt"/>
              </a:rPr>
              <a:t>[0] ← </a:t>
            </a:r>
            <a:r>
              <a:rPr lang="en-US" altLang="ja-JP" sz="2000" dirty="0" err="1">
                <a:latin typeface="+mj-lt"/>
              </a:rPr>
              <a:t>gia</a:t>
            </a:r>
            <a:r>
              <a:rPr lang="en-US" altLang="ja-JP" sz="2000" dirty="0">
                <a:latin typeface="+mj-lt"/>
              </a:rPr>
              <a:t>́ trị 1</a:t>
            </a:r>
          </a:p>
          <a:p>
            <a:r>
              <a:rPr lang="ja-JP" altLang="en-US" sz="2000" dirty="0">
                <a:latin typeface="+mj-lt"/>
              </a:rPr>
              <a:t>　</a:t>
            </a:r>
            <a:r>
              <a:rPr lang="en-US" altLang="ja-JP" sz="2000" dirty="0" err="1">
                <a:latin typeface="+mj-lt"/>
              </a:rPr>
              <a:t>args</a:t>
            </a:r>
            <a:r>
              <a:rPr lang="en-US" altLang="ja-JP" sz="2000" dirty="0">
                <a:latin typeface="+mj-lt"/>
              </a:rPr>
              <a:t>[1] ← </a:t>
            </a:r>
            <a:r>
              <a:rPr lang="en-US" altLang="ja-JP" sz="2000" dirty="0" err="1">
                <a:latin typeface="+mj-lt"/>
              </a:rPr>
              <a:t>gia</a:t>
            </a:r>
            <a:r>
              <a:rPr lang="en-US" altLang="ja-JP" sz="2000" dirty="0">
                <a:latin typeface="+mj-lt"/>
              </a:rPr>
              <a:t>́ trị 2</a:t>
            </a:r>
          </a:p>
          <a:p>
            <a:r>
              <a:rPr lang="en-US" altLang="ja-JP" sz="2000" dirty="0">
                <a:latin typeface="+mj-lt"/>
              </a:rPr>
              <a:t>	</a:t>
            </a:r>
            <a:r>
              <a:rPr lang="ja-JP" altLang="en-US" sz="2000" dirty="0">
                <a:latin typeface="+mj-lt"/>
              </a:rPr>
              <a:t>　：</a:t>
            </a:r>
          </a:p>
        </p:txBody>
      </p:sp>
      <p:sp>
        <p:nvSpPr>
          <p:cNvPr id="464913" name="Rectangle 17">
            <a:extLst>
              <a:ext uri="{FF2B5EF4-FFF2-40B4-BE49-F238E27FC236}">
                <a16:creationId xmlns:a16="http://schemas.microsoft.com/office/drawing/2014/main" id="{DC48D6BA-4934-8C7D-F22B-23CE55AF0887}"/>
              </a:ext>
            </a:extLst>
          </p:cNvPr>
          <p:cNvSpPr>
            <a:spLocks noChangeArrowheads="1"/>
          </p:cNvSpPr>
          <p:nvPr/>
        </p:nvSpPr>
        <p:spPr bwMode="auto">
          <a:xfrm>
            <a:off x="344488" y="46609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endParaRPr lang="en-US" altLang="ja-JP" sz="2000" b="0" dirty="0">
              <a:latin typeface="Arial" panose="020B0604020202020204" pitchFamily="34" charset="0"/>
            </a:endParaRPr>
          </a:p>
        </p:txBody>
      </p:sp>
      <p:sp>
        <p:nvSpPr>
          <p:cNvPr id="4" name="TextBox 3">
            <a:extLst>
              <a:ext uri="{FF2B5EF4-FFF2-40B4-BE49-F238E27FC236}">
                <a16:creationId xmlns:a16="http://schemas.microsoft.com/office/drawing/2014/main" id="{2A6F4CCF-BF78-23DE-BACA-3967EB3BDA92}"/>
              </a:ext>
            </a:extLst>
          </p:cNvPr>
          <p:cNvSpPr txBox="1"/>
          <p:nvPr/>
        </p:nvSpPr>
        <p:spPr>
          <a:xfrm>
            <a:off x="194446" y="4589304"/>
            <a:ext cx="9482953" cy="2062103"/>
          </a:xfrm>
          <a:prstGeom prst="rect">
            <a:avLst/>
          </a:prstGeom>
          <a:noFill/>
        </p:spPr>
        <p:txBody>
          <a:bodyPr wrap="square">
            <a:spAutoFit/>
          </a:bodyPr>
          <a:lstStyle/>
          <a:p>
            <a:r>
              <a:rPr lang="en-US" altLang="ja-JP" dirty="0">
                <a:latin typeface="Arial" panose="020B0604020202020204" pitchFamily="34" charset="0"/>
              </a:rPr>
              <a:t>※</a:t>
            </a:r>
            <a:r>
              <a:rPr lang="ja-JP" altLang="en-US" dirty="0">
                <a:latin typeface="Arial" panose="020B0604020202020204" pitchFamily="34" charset="0"/>
              </a:rPr>
              <a:t>　</a:t>
            </a:r>
            <a:r>
              <a:rPr lang="en-US" altLang="ja-JP" dirty="0">
                <a:latin typeface="Arial" panose="020B0604020202020204" pitchFamily="34" charset="0"/>
              </a:rPr>
              <a:t>Chỉ </a:t>
            </a:r>
            <a:r>
              <a:rPr lang="en-US" altLang="ja-JP" dirty="0" err="1">
                <a:latin typeface="Arial" panose="020B0604020202020204" pitchFamily="34" charset="0"/>
              </a:rPr>
              <a:t>định</a:t>
            </a:r>
            <a:r>
              <a:rPr lang="en-US" altLang="ja-JP" dirty="0">
                <a:latin typeface="Arial" panose="020B0604020202020204" pitchFamily="34" charset="0"/>
              </a:rPr>
              <a:t> </a:t>
            </a:r>
            <a:r>
              <a:rPr lang="en-US" altLang="ja-JP" dirty="0" err="1">
                <a:latin typeface="Arial" panose="020B0604020202020204" pitchFamily="34" charset="0"/>
              </a:rPr>
              <a:t>các</a:t>
            </a:r>
            <a:r>
              <a:rPr lang="en-US" altLang="ja-JP" dirty="0">
                <a:latin typeface="Arial" panose="020B0604020202020204" pitchFamily="34" charset="0"/>
              </a:rPr>
              <a:t> </a:t>
            </a:r>
            <a:r>
              <a:rPr lang="en-US" altLang="ja-JP" dirty="0" err="1">
                <a:latin typeface="Arial" panose="020B0604020202020204" pitchFamily="34" charset="0"/>
              </a:rPr>
              <a:t>gia</a:t>
            </a:r>
            <a:r>
              <a:rPr lang="en-US" altLang="ja-JP" dirty="0">
                <a:latin typeface="Arial" panose="020B0604020202020204" pitchFamily="34" charset="0"/>
              </a:rPr>
              <a:t>́ trị </a:t>
            </a:r>
            <a:r>
              <a:rPr lang="en-US" altLang="ja-JP" dirty="0" err="1">
                <a:latin typeface="Arial" panose="020B0604020202020204" pitchFamily="34" charset="0"/>
              </a:rPr>
              <a:t>muốn</a:t>
            </a:r>
            <a:r>
              <a:rPr lang="en-US" altLang="ja-JP" dirty="0">
                <a:latin typeface="Arial" panose="020B0604020202020204" pitchFamily="34" charset="0"/>
              </a:rPr>
              <a:t> </a:t>
            </a:r>
            <a:r>
              <a:rPr lang="en-US" altLang="ja-JP" dirty="0" err="1">
                <a:latin typeface="Arial" panose="020B0604020202020204" pitchFamily="34" charset="0"/>
              </a:rPr>
              <a:t>truyền</a:t>
            </a:r>
            <a:r>
              <a:rPr lang="en-US" altLang="ja-JP" dirty="0">
                <a:latin typeface="Arial" panose="020B0604020202020204" pitchFamily="34" charset="0"/>
              </a:rPr>
              <a:t> </a:t>
            </a:r>
            <a:r>
              <a:rPr lang="en-US" altLang="ja-JP" dirty="0" err="1">
                <a:latin typeface="Arial" panose="020B0604020202020204" pitchFamily="34" charset="0"/>
              </a:rPr>
              <a:t>cho</a:t>
            </a:r>
            <a:r>
              <a:rPr lang="en-US" altLang="ja-JP" dirty="0">
                <a:latin typeface="Arial" panose="020B0604020202020204" pitchFamily="34" charset="0"/>
              </a:rPr>
              <a:t> main method </a:t>
            </a:r>
            <a:r>
              <a:rPr lang="en-US" altLang="ja-JP" dirty="0" err="1">
                <a:latin typeface="Arial" panose="020B0604020202020204" pitchFamily="34" charset="0"/>
              </a:rPr>
              <a:t>ngăn</a:t>
            </a:r>
            <a:r>
              <a:rPr lang="en-US" altLang="ja-JP" dirty="0">
                <a:latin typeface="Arial" panose="020B0604020202020204" pitchFamily="34" charset="0"/>
              </a:rPr>
              <a:t> </a:t>
            </a:r>
            <a:r>
              <a:rPr lang="en-US" altLang="ja-JP" dirty="0" err="1">
                <a:latin typeface="Arial" panose="020B0604020202020204" pitchFamily="34" charset="0"/>
              </a:rPr>
              <a:t>cách</a:t>
            </a:r>
            <a:r>
              <a:rPr lang="en-US" altLang="ja-JP" dirty="0">
                <a:latin typeface="Arial" panose="020B0604020202020204" pitchFamily="34" charset="0"/>
              </a:rPr>
              <a:t> </a:t>
            </a:r>
            <a:r>
              <a:rPr lang="en-US" altLang="ja-JP" dirty="0" err="1">
                <a:latin typeface="Arial" panose="020B0604020202020204" pitchFamily="34" charset="0"/>
              </a:rPr>
              <a:t>nhau</a:t>
            </a:r>
            <a:r>
              <a:rPr lang="en-US" altLang="ja-JP" dirty="0">
                <a:latin typeface="Arial" panose="020B0604020202020204" pitchFamily="34" charset="0"/>
              </a:rPr>
              <a:t> </a:t>
            </a:r>
            <a:r>
              <a:rPr lang="en-US" altLang="ja-JP" dirty="0" err="1">
                <a:latin typeface="Arial" panose="020B0604020202020204" pitchFamily="34" charset="0"/>
              </a:rPr>
              <a:t>bằng</a:t>
            </a:r>
            <a:r>
              <a:rPr lang="en-US" altLang="ja-JP" dirty="0">
                <a:latin typeface="Arial" panose="020B0604020202020204" pitchFamily="34" charset="0"/>
              </a:rPr>
              <a:t> blank </a:t>
            </a:r>
            <a:r>
              <a:rPr lang="en-US" altLang="ja-JP" dirty="0" err="1">
                <a:latin typeface="Arial" panose="020B0604020202020204" pitchFamily="34" charset="0"/>
              </a:rPr>
              <a:t>vào</a:t>
            </a:r>
            <a:r>
              <a:rPr lang="en-US" altLang="ja-JP" dirty="0">
                <a:latin typeface="Arial" panose="020B0604020202020204" pitchFamily="34" charset="0"/>
              </a:rPr>
              <a:t> </a:t>
            </a:r>
            <a:r>
              <a:rPr lang="en-US" altLang="ja-JP" dirty="0" err="1">
                <a:latin typeface="Arial" panose="020B0604020202020204" pitchFamily="34" charset="0"/>
              </a:rPr>
              <a:t>sau</a:t>
            </a:r>
            <a:r>
              <a:rPr lang="en-US" altLang="ja-JP" dirty="0">
                <a:latin typeface="Arial" panose="020B0604020202020204" pitchFamily="34" charset="0"/>
              </a:rPr>
              <a:t> class name</a:t>
            </a:r>
          </a:p>
          <a:p>
            <a:pPr marL="0" indent="0"/>
            <a:r>
              <a:rPr lang="en-US" altLang="ja-JP" dirty="0">
                <a:latin typeface="Arial" panose="020B0604020202020204" pitchFamily="34" charset="0"/>
              </a:rPr>
              <a:t>※ Do </a:t>
            </a:r>
            <a:r>
              <a:rPr lang="en-US" altLang="ja-JP" dirty="0" err="1">
                <a:latin typeface="Arial" panose="020B0604020202020204" pitchFamily="34" charset="0"/>
              </a:rPr>
              <a:t>đa</a:t>
            </a:r>
            <a:r>
              <a:rPr lang="en-US" altLang="ja-JP" dirty="0">
                <a:latin typeface="Arial" panose="020B0604020202020204" pitchFamily="34" charset="0"/>
              </a:rPr>
              <a:t>̃ </a:t>
            </a:r>
            <a:r>
              <a:rPr lang="en-US" altLang="ja-JP" dirty="0" err="1">
                <a:latin typeface="Arial" panose="020B0604020202020204" pitchFamily="34" charset="0"/>
              </a:rPr>
              <a:t>được</a:t>
            </a:r>
            <a:r>
              <a:rPr lang="en-US" altLang="ja-JP" dirty="0">
                <a:latin typeface="Arial" panose="020B0604020202020204" pitchFamily="34" charset="0"/>
              </a:rPr>
              <a:t> chỉ </a:t>
            </a:r>
            <a:r>
              <a:rPr lang="en-US" altLang="ja-JP" dirty="0" err="1">
                <a:latin typeface="Arial" panose="020B0604020202020204" pitchFamily="34" charset="0"/>
              </a:rPr>
              <a:t>định</a:t>
            </a:r>
            <a:r>
              <a:rPr lang="en-US" altLang="ja-JP" dirty="0">
                <a:latin typeface="Arial" panose="020B0604020202020204" pitchFamily="34" charset="0"/>
              </a:rPr>
              <a:t> là public </a:t>
            </a:r>
            <a:r>
              <a:rPr lang="en-US" altLang="ja-JP" dirty="0" err="1">
                <a:latin typeface="Arial" panose="020B0604020202020204" pitchFamily="34" charset="0"/>
              </a:rPr>
              <a:t>nên</a:t>
            </a:r>
            <a:r>
              <a:rPr lang="en-US" altLang="ja-JP" dirty="0">
                <a:latin typeface="Arial" panose="020B0604020202020204" pitchFamily="34" charset="0"/>
              </a:rPr>
              <a:t> có </a:t>
            </a:r>
            <a:r>
              <a:rPr lang="en-US" altLang="ja-JP" dirty="0" err="1">
                <a:latin typeface="Arial" panose="020B0604020202020204" pitchFamily="34" charset="0"/>
              </a:rPr>
              <a:t>thê</a:t>
            </a:r>
            <a:r>
              <a:rPr lang="en-US" altLang="ja-JP" dirty="0">
                <a:latin typeface="Arial" panose="020B0604020202020204" pitchFamily="34" charset="0"/>
              </a:rPr>
              <a:t>̉ </a:t>
            </a:r>
            <a:r>
              <a:rPr lang="en-US" altLang="ja-JP" dirty="0" err="1">
                <a:latin typeface="Arial" panose="020B0604020202020204" pitchFamily="34" charset="0"/>
              </a:rPr>
              <a:t>gọi</a:t>
            </a:r>
            <a:r>
              <a:rPr lang="en-US" altLang="ja-JP" dirty="0">
                <a:latin typeface="Arial" panose="020B0604020202020204" pitchFamily="34" charset="0"/>
              </a:rPr>
              <a:t> </a:t>
            </a:r>
            <a:r>
              <a:rPr lang="en-US" altLang="ja-JP" dirty="0" err="1">
                <a:latin typeface="Arial" panose="020B0604020202020204" pitchFamily="34" charset="0"/>
              </a:rPr>
              <a:t>ra</a:t>
            </a:r>
            <a:r>
              <a:rPr lang="en-US" altLang="ja-JP" dirty="0">
                <a:latin typeface="Arial" panose="020B0604020202020204" pitchFamily="34" charset="0"/>
              </a:rPr>
              <a:t> </a:t>
            </a:r>
            <a:r>
              <a:rPr lang="en-US" altLang="ja-JP" dirty="0" err="1">
                <a:latin typeface="Arial" panose="020B0604020202020204" pitchFamily="34" charset="0"/>
              </a:rPr>
              <a:t>tư</a:t>
            </a:r>
            <a:r>
              <a:rPr lang="en-US" altLang="ja-JP" dirty="0">
                <a:latin typeface="Arial" panose="020B0604020202020204" pitchFamily="34" charset="0"/>
              </a:rPr>
              <a:t>̀ </a:t>
            </a:r>
            <a:r>
              <a:rPr lang="en-US" altLang="ja-JP" dirty="0" err="1">
                <a:latin typeface="Arial" panose="020B0604020202020204" pitchFamily="34" charset="0"/>
              </a:rPr>
              <a:t>bên</a:t>
            </a:r>
            <a:r>
              <a:rPr lang="en-US" altLang="ja-JP" dirty="0">
                <a:latin typeface="Arial" panose="020B0604020202020204" pitchFamily="34" charset="0"/>
              </a:rPr>
              <a:t> </a:t>
            </a:r>
            <a:r>
              <a:rPr lang="en-US" altLang="ja-JP" dirty="0" err="1">
                <a:latin typeface="Arial" panose="020B0604020202020204" pitchFamily="34" charset="0"/>
              </a:rPr>
              <a:t>ngoài</a:t>
            </a:r>
            <a:r>
              <a:rPr lang="en-US" altLang="ja-JP" dirty="0">
                <a:latin typeface="Arial" panose="020B0604020202020204" pitchFamily="34" charset="0"/>
              </a:rPr>
              <a:t>.</a:t>
            </a:r>
          </a:p>
          <a:p>
            <a:pPr marL="0" indent="0"/>
            <a:r>
              <a:rPr lang="en-US" altLang="ja-JP" dirty="0">
                <a:latin typeface="Arial" panose="020B0604020202020204" pitchFamily="34" charset="0"/>
              </a:rPr>
              <a:t>※ Do </a:t>
            </a:r>
            <a:r>
              <a:rPr lang="en-US" altLang="ja-JP" dirty="0" err="1">
                <a:latin typeface="Arial" panose="020B0604020202020204" pitchFamily="34" charset="0"/>
              </a:rPr>
              <a:t>đa</a:t>
            </a:r>
            <a:r>
              <a:rPr lang="en-US" altLang="ja-JP" dirty="0">
                <a:latin typeface="Arial" panose="020B0604020202020204" pitchFamily="34" charset="0"/>
              </a:rPr>
              <a:t>̃ </a:t>
            </a:r>
            <a:r>
              <a:rPr lang="en-US" altLang="ja-JP" dirty="0" err="1">
                <a:latin typeface="Arial" panose="020B0604020202020204" pitchFamily="34" charset="0"/>
              </a:rPr>
              <a:t>được</a:t>
            </a:r>
            <a:r>
              <a:rPr lang="en-US" altLang="ja-JP" dirty="0">
                <a:latin typeface="Arial" panose="020B0604020202020204" pitchFamily="34" charset="0"/>
              </a:rPr>
              <a:t> chỉ </a:t>
            </a:r>
            <a:r>
              <a:rPr lang="en-US" altLang="ja-JP" dirty="0" err="1">
                <a:latin typeface="Arial" panose="020B0604020202020204" pitchFamily="34" charset="0"/>
              </a:rPr>
              <a:t>định</a:t>
            </a:r>
            <a:r>
              <a:rPr lang="en-US" altLang="ja-JP" dirty="0">
                <a:latin typeface="Arial" panose="020B0604020202020204" pitchFamily="34" charset="0"/>
              </a:rPr>
              <a:t> là static </a:t>
            </a:r>
            <a:r>
              <a:rPr lang="en-US" altLang="ja-JP" dirty="0" err="1">
                <a:latin typeface="Arial" panose="020B0604020202020204" pitchFamily="34" charset="0"/>
              </a:rPr>
              <a:t>nên</a:t>
            </a:r>
            <a:r>
              <a:rPr lang="en-US" altLang="ja-JP" dirty="0">
                <a:latin typeface="Arial" panose="020B0604020202020204" pitchFamily="34" charset="0"/>
              </a:rPr>
              <a:t> có </a:t>
            </a:r>
            <a:r>
              <a:rPr lang="en-US" altLang="ja-JP" dirty="0" err="1">
                <a:latin typeface="Arial" panose="020B0604020202020204" pitchFamily="34" charset="0"/>
              </a:rPr>
              <a:t>thê</a:t>
            </a:r>
            <a:r>
              <a:rPr lang="en-US" altLang="ja-JP" dirty="0">
                <a:latin typeface="Arial" panose="020B0604020202020204" pitchFamily="34" charset="0"/>
              </a:rPr>
              <a:t>̉ </a:t>
            </a:r>
            <a:r>
              <a:rPr lang="en-US" altLang="ja-JP" dirty="0" err="1">
                <a:latin typeface="Arial" panose="020B0604020202020204" pitchFamily="34" charset="0"/>
              </a:rPr>
              <a:t>gọi</a:t>
            </a:r>
            <a:r>
              <a:rPr lang="en-US" altLang="ja-JP" dirty="0">
                <a:latin typeface="Arial" panose="020B0604020202020204" pitchFamily="34" charset="0"/>
              </a:rPr>
              <a:t> </a:t>
            </a:r>
            <a:r>
              <a:rPr lang="en-US" altLang="ja-JP" dirty="0" err="1">
                <a:latin typeface="Arial" panose="020B0604020202020204" pitchFamily="34" charset="0"/>
              </a:rPr>
              <a:t>ra</a:t>
            </a:r>
            <a:r>
              <a:rPr lang="en-US" altLang="ja-JP" dirty="0">
                <a:latin typeface="Arial" panose="020B0604020202020204" pitchFamily="34" charset="0"/>
              </a:rPr>
              <a:t> </a:t>
            </a:r>
            <a:r>
              <a:rPr lang="en-US" altLang="ja-JP" dirty="0" err="1">
                <a:latin typeface="Arial" panose="020B0604020202020204" pitchFamily="34" charset="0"/>
              </a:rPr>
              <a:t>cho</a:t>
            </a:r>
            <a:r>
              <a:rPr lang="en-US" altLang="ja-JP" dirty="0">
                <a:latin typeface="Arial" panose="020B0604020202020204" pitchFamily="34" charset="0"/>
              </a:rPr>
              <a:t> dù </a:t>
            </a:r>
            <a:r>
              <a:rPr lang="en-US" altLang="ja-JP" dirty="0" err="1">
                <a:latin typeface="Arial" panose="020B0604020202020204" pitchFamily="34" charset="0"/>
              </a:rPr>
              <a:t>không</a:t>
            </a:r>
            <a:r>
              <a:rPr lang="en-US" altLang="ja-JP" dirty="0">
                <a:latin typeface="Arial" panose="020B0604020202020204" pitchFamily="34" charset="0"/>
              </a:rPr>
              <a:t> </a:t>
            </a:r>
            <a:r>
              <a:rPr lang="en-US" altLang="ja-JP" dirty="0" err="1">
                <a:latin typeface="Arial" panose="020B0604020202020204" pitchFamily="34" charset="0"/>
              </a:rPr>
              <a:t>tồn</a:t>
            </a:r>
            <a:r>
              <a:rPr lang="en-US" altLang="ja-JP" dirty="0">
                <a:latin typeface="Arial" panose="020B0604020202020204" pitchFamily="34" charset="0"/>
              </a:rPr>
              <a:t> </a:t>
            </a:r>
            <a:r>
              <a:rPr lang="en-US" altLang="ja-JP" dirty="0" err="1">
                <a:latin typeface="Arial" panose="020B0604020202020204" pitchFamily="34" charset="0"/>
              </a:rPr>
              <a:t>tại</a:t>
            </a:r>
            <a:r>
              <a:rPr lang="en-US" altLang="ja-JP" dirty="0">
                <a:latin typeface="Arial" panose="020B0604020202020204" pitchFamily="34" charset="0"/>
              </a:rPr>
              <a:t> object.</a:t>
            </a:r>
          </a:p>
          <a:p>
            <a:pPr marL="0" indent="0"/>
            <a:r>
              <a:rPr lang="en-US" altLang="ja-JP" dirty="0">
                <a:latin typeface="Arial" panose="020B0604020202020204" pitchFamily="34" charset="0"/>
              </a:rPr>
              <a:t>※ Do </a:t>
            </a:r>
            <a:r>
              <a:rPr lang="en-US" altLang="ja-JP" dirty="0" err="1">
                <a:latin typeface="Arial" panose="020B0604020202020204" pitchFamily="34" charset="0"/>
              </a:rPr>
              <a:t>không</a:t>
            </a:r>
            <a:r>
              <a:rPr lang="en-US" altLang="ja-JP" dirty="0">
                <a:latin typeface="Arial" panose="020B0604020202020204" pitchFamily="34" charset="0"/>
              </a:rPr>
              <a:t> có </a:t>
            </a:r>
            <a:r>
              <a:rPr lang="en-US" altLang="ja-JP" dirty="0" err="1">
                <a:latin typeface="Arial" panose="020B0604020202020204" pitchFamily="34" charset="0"/>
              </a:rPr>
              <a:t>gia</a:t>
            </a:r>
            <a:r>
              <a:rPr lang="en-US" altLang="ja-JP" dirty="0">
                <a:latin typeface="Arial" panose="020B0604020202020204" pitchFamily="34" charset="0"/>
              </a:rPr>
              <a:t>́ trị </a:t>
            </a:r>
            <a:r>
              <a:rPr lang="en-US" altLang="ja-JP" dirty="0" err="1">
                <a:latin typeface="Arial" panose="020B0604020202020204" pitchFamily="34" charset="0"/>
              </a:rPr>
              <a:t>tra</a:t>
            </a:r>
            <a:r>
              <a:rPr lang="en-US" altLang="ja-JP" dirty="0">
                <a:latin typeface="Arial" panose="020B0604020202020204" pitchFamily="34" charset="0"/>
              </a:rPr>
              <a:t>̉ </a:t>
            </a:r>
            <a:r>
              <a:rPr lang="en-US" altLang="ja-JP" dirty="0" err="1">
                <a:latin typeface="Arial" panose="020B0604020202020204" pitchFamily="34" charset="0"/>
              </a:rPr>
              <a:t>vê</a:t>
            </a:r>
            <a:r>
              <a:rPr lang="en-US" altLang="ja-JP" dirty="0">
                <a:latin typeface="Arial" panose="020B0604020202020204" pitchFamily="34" charset="0"/>
              </a:rPr>
              <a:t>̀ </a:t>
            </a:r>
            <a:r>
              <a:rPr lang="en-US" altLang="ja-JP" dirty="0" err="1">
                <a:latin typeface="Arial" panose="020B0604020202020204" pitchFamily="34" charset="0"/>
              </a:rPr>
              <a:t>nên</a:t>
            </a:r>
            <a:r>
              <a:rPr lang="en-US" altLang="ja-JP" dirty="0">
                <a:latin typeface="Arial" panose="020B0604020202020204" pitchFamily="34" charset="0"/>
              </a:rPr>
              <a:t> chỉ </a:t>
            </a:r>
            <a:r>
              <a:rPr lang="en-US" altLang="ja-JP" dirty="0" err="1">
                <a:latin typeface="Arial" panose="020B0604020202020204" pitchFamily="34" charset="0"/>
              </a:rPr>
              <a:t>định</a:t>
            </a:r>
            <a:r>
              <a:rPr lang="en-US" altLang="ja-JP"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void</a:t>
            </a:r>
            <a:r>
              <a:rPr lang="ja-JP" altLang="en-US" dirty="0">
                <a:latin typeface="Arial" panose="020B0604020202020204" pitchFamily="34" charset="0"/>
              </a:rPr>
              <a:t>」 </a:t>
            </a:r>
            <a:r>
              <a:rPr lang="en-US" altLang="ja-JP" dirty="0" err="1">
                <a:latin typeface="Arial" panose="020B0604020202020204" pitchFamily="34" charset="0"/>
              </a:rPr>
              <a:t>vào</a:t>
            </a:r>
            <a:r>
              <a:rPr lang="en-US" altLang="ja-JP" dirty="0">
                <a:latin typeface="Arial" panose="020B0604020202020204" pitchFamily="34" charset="0"/>
              </a:rPr>
              <a:t> </a:t>
            </a:r>
            <a:r>
              <a:rPr lang="en-US" altLang="ja-JP" dirty="0" err="1">
                <a:latin typeface="Arial" panose="020B0604020202020204" pitchFamily="34" charset="0"/>
              </a:rPr>
              <a:t>phần</a:t>
            </a:r>
            <a:r>
              <a:rPr lang="en-US" altLang="ja-JP" dirty="0">
                <a:latin typeface="Arial" panose="020B0604020202020204" pitchFamily="34" charset="0"/>
              </a:rPr>
              <a:t> </a:t>
            </a:r>
            <a:r>
              <a:rPr lang="ja-JP" altLang="en-US" dirty="0">
                <a:latin typeface="Arial" panose="020B0604020202020204" pitchFamily="34" charset="0"/>
              </a:rPr>
              <a:t>「</a:t>
            </a:r>
            <a:r>
              <a:rPr lang="en-US" altLang="ja-JP" dirty="0" err="1">
                <a:latin typeface="Arial" panose="020B0604020202020204" pitchFamily="34" charset="0"/>
              </a:rPr>
              <a:t>kiểu</a:t>
            </a:r>
            <a:r>
              <a:rPr lang="en-US" altLang="ja-JP" dirty="0">
                <a:latin typeface="Arial" panose="020B0604020202020204" pitchFamily="34" charset="0"/>
              </a:rPr>
              <a:t> </a:t>
            </a:r>
            <a:r>
              <a:rPr lang="en-US" altLang="ja-JP" dirty="0" err="1">
                <a:latin typeface="Arial" panose="020B0604020202020204" pitchFamily="34" charset="0"/>
              </a:rPr>
              <a:t>gia</a:t>
            </a:r>
            <a:r>
              <a:rPr lang="en-US" altLang="ja-JP" dirty="0">
                <a:latin typeface="Arial" panose="020B0604020202020204" pitchFamily="34" charset="0"/>
              </a:rPr>
              <a:t>́ trị </a:t>
            </a:r>
            <a:r>
              <a:rPr lang="en-US" altLang="ja-JP" dirty="0" err="1">
                <a:latin typeface="Arial" panose="020B0604020202020204" pitchFamily="34" charset="0"/>
              </a:rPr>
              <a:t>tra</a:t>
            </a:r>
            <a:r>
              <a:rPr lang="en-US" altLang="ja-JP" dirty="0">
                <a:latin typeface="Arial" panose="020B0604020202020204" pitchFamily="34" charset="0"/>
              </a:rPr>
              <a:t>̉ </a:t>
            </a:r>
            <a:r>
              <a:rPr lang="en-US" altLang="ja-JP" dirty="0" err="1">
                <a:latin typeface="Arial" panose="020B0604020202020204" pitchFamily="34" charset="0"/>
              </a:rPr>
              <a:t>vê</a:t>
            </a:r>
            <a:r>
              <a:rPr lang="en-US" altLang="ja-JP" dirty="0">
                <a:latin typeface="Arial" panose="020B0604020202020204" pitchFamily="34" charset="0"/>
              </a:rPr>
              <a:t>̀</a:t>
            </a:r>
            <a:r>
              <a:rPr lang="ja-JP" altLang="en-US" dirty="0">
                <a:latin typeface="Arial" panose="020B0604020202020204" pitchFamily="34" charset="0"/>
              </a:rPr>
              <a:t>」</a:t>
            </a:r>
            <a:r>
              <a:rPr lang="en-US" altLang="ja-JP" dirty="0">
                <a:latin typeface="Arial" panose="020B0604020202020204" pitchFamily="34" charset="0"/>
              </a:rPr>
              <a:t>.</a:t>
            </a:r>
          </a:p>
          <a:p>
            <a:pPr marL="0" indent="0"/>
            <a:r>
              <a:rPr lang="en-US" altLang="ja-JP" dirty="0">
                <a:latin typeface="Arial" panose="020B0604020202020204" pitchFamily="34" charset="0"/>
              </a:rPr>
              <a:t>※ </a:t>
            </a:r>
            <a:r>
              <a:rPr lang="en-US" altLang="ja-JP" dirty="0" err="1">
                <a:latin typeface="Arial" panose="020B0604020202020204" pitchFamily="34" charset="0"/>
              </a:rPr>
              <a:t>Tên</a:t>
            </a:r>
            <a:r>
              <a:rPr lang="en-US" altLang="ja-JP" dirty="0">
                <a:latin typeface="Arial" panose="020B0604020202020204" pitchFamily="34" charset="0"/>
              </a:rPr>
              <a:t> method là </a:t>
            </a:r>
            <a:r>
              <a:rPr lang="ja-JP" altLang="en-US" dirty="0">
                <a:latin typeface="Arial" panose="020B0604020202020204" pitchFamily="34" charset="0"/>
              </a:rPr>
              <a:t>「</a:t>
            </a:r>
            <a:r>
              <a:rPr lang="en-US" altLang="ja-JP" dirty="0">
                <a:latin typeface="Arial" panose="020B0604020202020204" pitchFamily="34" charset="0"/>
              </a:rPr>
              <a:t>main</a:t>
            </a:r>
            <a:r>
              <a:rPr lang="ja-JP" altLang="en-US" dirty="0">
                <a:latin typeface="Arial" panose="020B0604020202020204" pitchFamily="34" charset="0"/>
              </a:rPr>
              <a:t>」</a:t>
            </a:r>
            <a:r>
              <a:rPr lang="en-US" altLang="ja-JP" dirty="0">
                <a:latin typeface="Arial" panose="020B0604020202020204" pitchFamily="34" charset="0"/>
              </a:rPr>
              <a:t>.</a:t>
            </a:r>
          </a:p>
          <a:p>
            <a:pPr marL="0" indent="0"/>
            <a:r>
              <a:rPr lang="en-US" altLang="ja-JP" dirty="0">
                <a:latin typeface="Arial" panose="020B0604020202020204" pitchFamily="34" charset="0"/>
              </a:rPr>
              <a:t>※ main method có </a:t>
            </a:r>
            <a:r>
              <a:rPr lang="en-US" altLang="ja-JP" dirty="0" err="1">
                <a:latin typeface="Arial" panose="020B0604020202020204" pitchFamily="34" charset="0"/>
              </a:rPr>
              <a:t>thê</a:t>
            </a:r>
            <a:r>
              <a:rPr lang="en-US" altLang="ja-JP" dirty="0">
                <a:latin typeface="Arial" panose="020B0604020202020204" pitchFamily="34" charset="0"/>
              </a:rPr>
              <a:t>̉ </a:t>
            </a:r>
            <a:r>
              <a:rPr lang="en-US" altLang="ja-JP" dirty="0" err="1">
                <a:latin typeface="Arial" panose="020B0604020202020204" pitchFamily="34" charset="0"/>
              </a:rPr>
              <a:t>nhận</a:t>
            </a:r>
            <a:r>
              <a:rPr lang="en-US" altLang="ja-JP" dirty="0">
                <a:latin typeface="Arial" panose="020B0604020202020204" pitchFamily="34" charset="0"/>
              </a:rPr>
              <a:t> </a:t>
            </a:r>
            <a:r>
              <a:rPr lang="en-US" altLang="ja-JP" dirty="0" err="1">
                <a:latin typeface="Arial" panose="020B0604020202020204" pitchFamily="34" charset="0"/>
              </a:rPr>
              <a:t>gia</a:t>
            </a:r>
            <a:r>
              <a:rPr lang="en-US" altLang="ja-JP" dirty="0">
                <a:latin typeface="Arial" panose="020B0604020202020204" pitchFamily="34" charset="0"/>
              </a:rPr>
              <a:t>́ trị </a:t>
            </a:r>
            <a:r>
              <a:rPr lang="en-US" altLang="ja-JP" dirty="0" err="1">
                <a:latin typeface="Arial" panose="020B0604020202020204" pitchFamily="34" charset="0"/>
              </a:rPr>
              <a:t>đa</a:t>
            </a:r>
            <a:r>
              <a:rPr lang="en-US" altLang="ja-JP" dirty="0">
                <a:latin typeface="Arial" panose="020B0604020202020204" pitchFamily="34" charset="0"/>
              </a:rPr>
              <a:t>̃ </a:t>
            </a:r>
            <a:r>
              <a:rPr lang="en-US" altLang="ja-JP" dirty="0" err="1">
                <a:latin typeface="Arial" panose="020B0604020202020204" pitchFamily="34" charset="0"/>
              </a:rPr>
              <a:t>được</a:t>
            </a:r>
            <a:r>
              <a:rPr lang="en-US" altLang="ja-JP" dirty="0">
                <a:latin typeface="Arial" panose="020B0604020202020204" pitchFamily="34" charset="0"/>
              </a:rPr>
              <a:t> chỉ </a:t>
            </a:r>
            <a:r>
              <a:rPr lang="en-US" altLang="ja-JP" dirty="0" err="1">
                <a:latin typeface="Arial" panose="020B0604020202020204" pitchFamily="34" charset="0"/>
              </a:rPr>
              <a:t>định</a:t>
            </a:r>
            <a:r>
              <a:rPr lang="en-US" altLang="ja-JP" dirty="0">
                <a:latin typeface="Arial" panose="020B0604020202020204" pitchFamily="34" charset="0"/>
              </a:rPr>
              <a:t> </a:t>
            </a:r>
            <a:r>
              <a:rPr lang="en-US" altLang="ja-JP" dirty="0" err="1">
                <a:latin typeface="Arial" panose="020B0604020202020204" pitchFamily="34" charset="0"/>
              </a:rPr>
              <a:t>khi</a:t>
            </a:r>
            <a:r>
              <a:rPr lang="en-US" altLang="ja-JP" dirty="0">
                <a:latin typeface="Arial" panose="020B0604020202020204" pitchFamily="34" charset="0"/>
              </a:rPr>
              <a:t> </a:t>
            </a:r>
            <a:r>
              <a:rPr lang="en-US" altLang="ja-JP" dirty="0" err="1">
                <a:latin typeface="Arial" panose="020B0604020202020204" pitchFamily="34" charset="0"/>
              </a:rPr>
              <a:t>thực</a:t>
            </a:r>
            <a:r>
              <a:rPr lang="en-US" altLang="ja-JP" dirty="0">
                <a:latin typeface="Arial" panose="020B0604020202020204" pitchFamily="34" charset="0"/>
              </a:rPr>
              <a:t> </a:t>
            </a:r>
            <a:r>
              <a:rPr lang="en-US" altLang="ja-JP" dirty="0" err="1">
                <a:latin typeface="Arial" panose="020B0604020202020204" pitchFamily="34" charset="0"/>
              </a:rPr>
              <a:t>hiện</a:t>
            </a:r>
            <a:r>
              <a:rPr lang="en-US" altLang="ja-JP" dirty="0">
                <a:latin typeface="Arial" panose="020B0604020202020204" pitchFamily="34" charset="0"/>
              </a:rPr>
              <a:t> </a:t>
            </a:r>
            <a:r>
              <a:rPr lang="en-US" altLang="ja-JP" dirty="0" err="1">
                <a:latin typeface="Arial" panose="020B0604020202020204" pitchFamily="34" charset="0"/>
              </a:rPr>
              <a:t>như</a:t>
            </a:r>
            <a:r>
              <a:rPr lang="en-US" altLang="ja-JP" dirty="0">
                <a:latin typeface="Arial" panose="020B0604020202020204" pitchFamily="34" charset="0"/>
              </a:rPr>
              <a:t> là </a:t>
            </a:r>
            <a:r>
              <a:rPr lang="en-US" altLang="ja-JP" dirty="0" err="1">
                <a:latin typeface="Arial" panose="020B0604020202020204" pitchFamily="34" charset="0"/>
              </a:rPr>
              <a:t>một</a:t>
            </a:r>
            <a:r>
              <a:rPr lang="en-US" altLang="ja-JP" dirty="0">
                <a:latin typeface="Arial" panose="020B0604020202020204" pitchFamily="34" charset="0"/>
              </a:rPr>
              <a:t> </a:t>
            </a:r>
            <a:r>
              <a:rPr lang="en-US" altLang="ja-JP" dirty="0" err="1">
                <a:latin typeface="Arial" panose="020B0604020202020204" pitchFamily="34" charset="0"/>
              </a:rPr>
              <a:t>mảng</a:t>
            </a:r>
            <a:r>
              <a:rPr lang="en-US" altLang="ja-JP" dirty="0">
                <a:latin typeface="Arial" panose="020B0604020202020204" pitchFamily="34" charset="0"/>
              </a:rPr>
              <a:t> String.</a:t>
            </a:r>
          </a:p>
          <a:p>
            <a:pPr marL="0" indent="0"/>
            <a:r>
              <a:rPr lang="ja-JP" altLang="en-US" dirty="0">
                <a:latin typeface="Arial" panose="020B0604020202020204" pitchFamily="34" charset="0"/>
              </a:rPr>
              <a:t>　　「</a:t>
            </a:r>
            <a:r>
              <a:rPr lang="en-US" altLang="ja-JP" dirty="0" err="1">
                <a:latin typeface="Arial" panose="020B0604020202020204" pitchFamily="34" charset="0"/>
              </a:rPr>
              <a:t>args</a:t>
            </a:r>
            <a:r>
              <a:rPr lang="ja-JP" altLang="en-US" dirty="0">
                <a:latin typeface="Arial" panose="020B0604020202020204" pitchFamily="34" charset="0"/>
              </a:rPr>
              <a:t>」</a:t>
            </a:r>
            <a:r>
              <a:rPr lang="en-US" altLang="ja-JP" dirty="0">
                <a:latin typeface="Arial" panose="020B0604020202020204" pitchFamily="34" charset="0"/>
              </a:rPr>
              <a:t>là </a:t>
            </a:r>
            <a:r>
              <a:rPr lang="en-US" altLang="ja-JP" dirty="0" err="1">
                <a:latin typeface="Arial" panose="020B0604020202020204" pitchFamily="34" charset="0"/>
              </a:rPr>
              <a:t>tên</a:t>
            </a:r>
            <a:r>
              <a:rPr lang="en-US" altLang="ja-JP" dirty="0">
                <a:latin typeface="Arial" panose="020B0604020202020204" pitchFamily="34" charset="0"/>
              </a:rPr>
              <a:t> </a:t>
            </a:r>
            <a:r>
              <a:rPr lang="en-US" altLang="ja-JP" dirty="0" err="1">
                <a:latin typeface="Arial" panose="020B0604020202020204" pitchFamily="34" charset="0"/>
              </a:rPr>
              <a:t>biến</a:t>
            </a:r>
            <a:r>
              <a:rPr lang="en-US" altLang="ja-JP" dirty="0">
                <a:latin typeface="Arial" panose="020B0604020202020204" pitchFamily="34" charset="0"/>
              </a:rPr>
              <a:t> </a:t>
            </a:r>
            <a:r>
              <a:rPr lang="en-US" altLang="ja-JP" dirty="0" err="1">
                <a:latin typeface="Arial" panose="020B0604020202020204" pitchFamily="34" charset="0"/>
              </a:rPr>
              <a:t>nên</a:t>
            </a:r>
            <a:r>
              <a:rPr lang="en-US" altLang="ja-JP" dirty="0">
                <a:latin typeface="Arial" panose="020B0604020202020204" pitchFamily="34" charset="0"/>
              </a:rPr>
              <a:t> có </a:t>
            </a:r>
            <a:r>
              <a:rPr lang="en-US" altLang="ja-JP" dirty="0" err="1">
                <a:latin typeface="Arial" panose="020B0604020202020204" pitchFamily="34" charset="0"/>
              </a:rPr>
              <a:t>thê</a:t>
            </a:r>
            <a:r>
              <a:rPr lang="en-US" altLang="ja-JP" dirty="0">
                <a:latin typeface="Arial" panose="020B0604020202020204" pitchFamily="34" charset="0"/>
              </a:rPr>
              <a:t>̉ chỉ </a:t>
            </a:r>
            <a:r>
              <a:rPr lang="en-US" altLang="ja-JP" dirty="0" err="1">
                <a:latin typeface="Arial" panose="020B0604020202020204" pitchFamily="34" charset="0"/>
              </a:rPr>
              <a:t>định</a:t>
            </a:r>
            <a:r>
              <a:rPr lang="en-US" altLang="ja-JP" dirty="0">
                <a:latin typeface="Arial" panose="020B0604020202020204" pitchFamily="34" charset="0"/>
              </a:rPr>
              <a:t> </a:t>
            </a:r>
            <a:r>
              <a:rPr lang="en-US" altLang="ja-JP" dirty="0" err="1">
                <a:latin typeface="Arial" panose="020B0604020202020204" pitchFamily="34" charset="0"/>
              </a:rPr>
              <a:t>tên</a:t>
            </a:r>
            <a:r>
              <a:rPr lang="en-US" altLang="ja-JP" dirty="0">
                <a:latin typeface="Arial" panose="020B0604020202020204" pitchFamily="34" charset="0"/>
              </a:rPr>
              <a:t> </a:t>
            </a:r>
            <a:r>
              <a:rPr lang="en-US" altLang="ja-JP" dirty="0" err="1">
                <a:latin typeface="Arial" panose="020B0604020202020204" pitchFamily="34" charset="0"/>
              </a:rPr>
              <a:t>tùy</a:t>
            </a:r>
            <a:r>
              <a:rPr lang="en-US" altLang="ja-JP" dirty="0">
                <a:latin typeface="Arial" panose="020B0604020202020204" pitchFamily="34" charset="0"/>
              </a:rPr>
              <a:t> ý.</a:t>
            </a:r>
          </a:p>
        </p:txBody>
      </p:sp>
    </p:spTree>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26076</TotalTime>
  <Words>4687</Words>
  <Application>Microsoft Office PowerPoint</Application>
  <PresentationFormat>A4 Paper (210x297 mm)</PresentationFormat>
  <Paragraphs>655</Paragraphs>
  <Slides>20</Slides>
  <Notes>11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20</vt:i4>
      </vt:variant>
    </vt:vector>
  </HeadingPairs>
  <TitlesOfParts>
    <vt:vector size="33" baseType="lpstr">
      <vt:lpstr>HG丸ｺﾞｼｯｸM-PRO</vt:lpstr>
      <vt:lpstr>Meiryo UI</vt:lpstr>
      <vt:lpstr>ＭＳ Ｐゴシック</vt:lpstr>
      <vt:lpstr>MS UI Gothic</vt:lpstr>
      <vt:lpstr>ＭＳ ゴシック</vt:lpstr>
      <vt:lpstr>ヒラギノ明朝 Pro W6</vt:lpstr>
      <vt:lpstr>ADLaM Display</vt:lpstr>
      <vt:lpstr>Arial</vt:lpstr>
      <vt:lpstr>Segoe Script</vt:lpstr>
      <vt:lpstr>Times New Roman</vt:lpstr>
      <vt:lpstr>Wingdings</vt:lpstr>
      <vt:lpstr>標準デザイン</vt:lpstr>
      <vt:lpstr>デザインの設定</vt:lpstr>
      <vt:lpstr>PowerPoint Presentation</vt:lpstr>
      <vt:lpstr>Các phương pháp implement cơ bản của OOP</vt:lpstr>
      <vt:lpstr>Định nghĩa class</vt:lpstr>
      <vt:lpstr>Định nghĩa class</vt:lpstr>
      <vt:lpstr>Định nghĩa thuộc tính</vt:lpstr>
      <vt:lpstr>Các loại biến</vt:lpstr>
      <vt:lpstr>Các loại biến</vt:lpstr>
      <vt:lpstr>Modifier</vt:lpstr>
      <vt:lpstr>Định nghĩa method (1)</vt:lpstr>
      <vt:lpstr>Câu lệnh return</vt:lpstr>
      <vt:lpstr>Constructor</vt:lpstr>
      <vt:lpstr>Constructor</vt:lpstr>
      <vt:lpstr>Sinh/giải phóng object (2) </vt:lpstr>
      <vt:lpstr>Giải phóng object</vt:lpstr>
      <vt:lpstr>Gọi ra method</vt:lpstr>
      <vt:lpstr>Gọi ra method</vt:lpstr>
      <vt:lpstr>Overload</vt:lpstr>
      <vt:lpstr>Biến static, static method (1)</vt:lpstr>
      <vt:lpstr>Biến static, static method (2)</vt:lpstr>
      <vt:lpstr>MAIN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465</cp:revision>
  <cp:lastPrinted>2018-04-10T08:59:30Z</cp:lastPrinted>
  <dcterms:created xsi:type="dcterms:W3CDTF">2025-05-21T02:38:07Z</dcterms:created>
  <dcterms:modified xsi:type="dcterms:W3CDTF">2026-08-14T02:31:32Z</dcterms:modified>
</cp:coreProperties>
</file>