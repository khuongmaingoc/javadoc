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76"/>
  </p:notesMasterIdLst>
  <p:handoutMasterIdLst>
    <p:handoutMasterId r:id="rId77"/>
  </p:handoutMasterIdLst>
  <p:sldIdLst>
    <p:sldId id="689" r:id="rId3"/>
    <p:sldId id="329" r:id="rId4"/>
    <p:sldId id="330" r:id="rId5"/>
    <p:sldId id="261" r:id="rId6"/>
    <p:sldId id="257" r:id="rId7"/>
    <p:sldId id="258" r:id="rId8"/>
    <p:sldId id="259" r:id="rId9"/>
    <p:sldId id="260" r:id="rId10"/>
    <p:sldId id="272" r:id="rId11"/>
    <p:sldId id="265" r:id="rId12"/>
    <p:sldId id="266" r:id="rId13"/>
    <p:sldId id="267" r:id="rId14"/>
    <p:sldId id="268" r:id="rId15"/>
    <p:sldId id="269" r:id="rId16"/>
    <p:sldId id="270" r:id="rId17"/>
    <p:sldId id="271" r:id="rId18"/>
    <p:sldId id="273" r:id="rId19"/>
    <p:sldId id="274" r:id="rId20"/>
    <p:sldId id="275" r:id="rId21"/>
    <p:sldId id="276" r:id="rId22"/>
    <p:sldId id="278" r:id="rId23"/>
    <p:sldId id="331" r:id="rId24"/>
    <p:sldId id="279" r:id="rId25"/>
    <p:sldId id="277" r:id="rId26"/>
    <p:sldId id="280" r:id="rId27"/>
    <p:sldId id="281" r:id="rId28"/>
    <p:sldId id="282" r:id="rId29"/>
    <p:sldId id="283" r:id="rId30"/>
    <p:sldId id="284" r:id="rId31"/>
    <p:sldId id="285" r:id="rId32"/>
    <p:sldId id="328" r:id="rId33"/>
    <p:sldId id="286" r:id="rId34"/>
    <p:sldId id="287" r:id="rId35"/>
    <p:sldId id="327" r:id="rId36"/>
    <p:sldId id="288" r:id="rId37"/>
    <p:sldId id="289" r:id="rId38"/>
    <p:sldId id="332" r:id="rId39"/>
    <p:sldId id="333" r:id="rId40"/>
    <p:sldId id="334" r:id="rId41"/>
    <p:sldId id="335" r:id="rId42"/>
    <p:sldId id="336" r:id="rId43"/>
    <p:sldId id="337" r:id="rId44"/>
    <p:sldId id="338" r:id="rId45"/>
    <p:sldId id="339" r:id="rId46"/>
    <p:sldId id="340" r:id="rId47"/>
    <p:sldId id="341" r:id="rId48"/>
    <p:sldId id="342" r:id="rId49"/>
    <p:sldId id="343" r:id="rId50"/>
    <p:sldId id="344" r:id="rId51"/>
    <p:sldId id="345" r:id="rId52"/>
    <p:sldId id="346" r:id="rId53"/>
    <p:sldId id="347" r:id="rId54"/>
    <p:sldId id="348" r:id="rId55"/>
    <p:sldId id="349" r:id="rId56"/>
    <p:sldId id="350" r:id="rId57"/>
    <p:sldId id="351" r:id="rId58"/>
    <p:sldId id="352" r:id="rId59"/>
    <p:sldId id="353" r:id="rId60"/>
    <p:sldId id="354" r:id="rId61"/>
    <p:sldId id="355" r:id="rId62"/>
    <p:sldId id="356" r:id="rId63"/>
    <p:sldId id="357" r:id="rId64"/>
    <p:sldId id="358" r:id="rId65"/>
    <p:sldId id="359" r:id="rId66"/>
    <p:sldId id="360" r:id="rId67"/>
    <p:sldId id="361" r:id="rId68"/>
    <p:sldId id="362" r:id="rId69"/>
    <p:sldId id="363" r:id="rId70"/>
    <p:sldId id="364" r:id="rId71"/>
    <p:sldId id="365" r:id="rId72"/>
    <p:sldId id="366" r:id="rId73"/>
    <p:sldId id="367" r:id="rId74"/>
    <p:sldId id="368" r:id="rId75"/>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p:cViewPr varScale="1">
        <p:scale>
          <a:sx n="106" d="100"/>
          <a:sy n="106" d="100"/>
        </p:scale>
        <p:origin x="1548" y="120"/>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start.spring.io/"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Spring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framework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JVM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p>
          <a:p>
            <a:endParaRPr lang="en-US" dirty="0"/>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4</a:t>
            </a:fld>
            <a:endParaRPr lang="en-US"/>
          </a:p>
        </p:txBody>
      </p:sp>
    </p:spTree>
    <p:extLst>
      <p:ext uri="{BB962C8B-B14F-4D97-AF65-F5344CB8AC3E}">
        <p14:creationId xmlns:p14="http://schemas.microsoft.com/office/powerpoint/2010/main" val="1083342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err="1">
                <a:solidFill>
                  <a:schemeClr val="tx1"/>
                </a:solidFill>
                <a:effectLst/>
                <a:latin typeface="+mn-lt"/>
                <a:ea typeface="+mn-ea"/>
                <a:cs typeface="+mn-cs"/>
              </a:rPr>
              <a:t>nhẹ</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nhỏ</a:t>
            </a:r>
            <a:r>
              <a:rPr lang="en-US" sz="1200" kern="1200" dirty="0">
                <a:solidFill>
                  <a:schemeClr val="tx1"/>
                </a:solidFill>
                <a:effectLst/>
                <a:latin typeface="+mn-lt"/>
                <a:ea typeface="+mn-ea"/>
                <a:cs typeface="+mn-cs"/>
              </a:rPr>
              <a:t>, version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khoảng</a:t>
            </a:r>
            <a:r>
              <a:rPr lang="en-US" sz="1200" kern="1200" dirty="0">
                <a:solidFill>
                  <a:schemeClr val="tx1"/>
                </a:solidFill>
                <a:effectLst/>
                <a:latin typeface="+mn-lt"/>
                <a:ea typeface="+mn-ea"/>
                <a:cs typeface="+mn-cs"/>
              </a:rPr>
              <a:t> 2MB;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suốt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suốt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core (</a:t>
            </a:r>
            <a:r>
              <a:rPr lang="en-US" sz="1200" kern="1200" dirty="0" err="1">
                <a:solidFill>
                  <a:schemeClr val="tx1"/>
                </a:solidFill>
                <a:effectLst/>
                <a:latin typeface="+mn-lt"/>
                <a:ea typeface="+mn-ea"/>
                <a:cs typeface="+mn-cs"/>
              </a:rPr>
              <a:t>cốt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lõi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Java Desktop,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mobile, Java Web.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J2EE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dễ</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dàng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POJO (Plain Old Java Object)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dirty="0">
              <a:solidFill>
                <a:schemeClr val="tx1"/>
              </a:solidFill>
              <a:effectLst/>
              <a:latin typeface="+mn-lt"/>
              <a:ea typeface="+mn-ea"/>
              <a:cs typeface="+mn-cs"/>
            </a:endParaRPr>
          </a:p>
          <a:p>
            <a:endParaRPr lang="en-US" dirty="0"/>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5</a:t>
            </a:fld>
            <a:endParaRPr lang="en-US"/>
          </a:p>
        </p:txBody>
      </p:sp>
    </p:spTree>
    <p:extLst>
      <p:ext uri="{BB962C8B-B14F-4D97-AF65-F5344CB8AC3E}">
        <p14:creationId xmlns:p14="http://schemas.microsoft.com/office/powerpoint/2010/main" val="360786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Test</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kern="1200" dirty="0" err="1">
                <a:solidFill>
                  <a:schemeClr val="tx1"/>
                </a:solidFill>
                <a:effectLst/>
                <a:latin typeface="+mn-lt"/>
                <a:ea typeface="+mn-ea"/>
                <a:cs typeface="+mn-cs"/>
              </a:rPr>
              <a:t>Tầng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JUnit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TestNG</a:t>
            </a:r>
            <a:r>
              <a:rPr lang="en-US" sz="1200" kern="1200" dirty="0">
                <a:solidFill>
                  <a:schemeClr val="tx1"/>
                </a:solidFill>
                <a:effectLst/>
                <a:latin typeface="+mn-lt"/>
                <a:ea typeface="+mn-ea"/>
                <a:cs typeface="+mn-cs"/>
              </a:rPr>
              <a:t>.</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Spring Core Container</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Bao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module spring core, beans, context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expression </a:t>
            </a:r>
            <a:r>
              <a:rPr lang="en-US" sz="1200" kern="1200" dirty="0" err="1">
                <a:solidFill>
                  <a:schemeClr val="tx1"/>
                </a:solidFill>
                <a:effectLst/>
                <a:latin typeface="+mn-lt"/>
                <a:ea typeface="+mn-ea"/>
                <a:cs typeface="+mn-cs"/>
              </a:rPr>
              <a:t>languate</a:t>
            </a:r>
            <a:r>
              <a:rPr lang="en-US" sz="1200" kern="1200" dirty="0">
                <a:solidFill>
                  <a:schemeClr val="tx1"/>
                </a:solidFill>
                <a:effectLst/>
                <a:latin typeface="+mn-lt"/>
                <a:ea typeface="+mn-ea"/>
                <a:cs typeface="+mn-cs"/>
              </a:rPr>
              <a:t> (EL)</a:t>
            </a:r>
          </a:p>
          <a:p>
            <a:pPr lvl="0"/>
            <a:r>
              <a:rPr lang="en-US" sz="1200" kern="1200" dirty="0">
                <a:solidFill>
                  <a:schemeClr val="tx1"/>
                </a:solidFill>
                <a:effectLst/>
                <a:latin typeface="+mn-lt"/>
                <a:ea typeface="+mn-ea"/>
                <a:cs typeface="+mn-cs"/>
              </a:rPr>
              <a:t>Spring core, bean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IOC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Dependency Injection.</a:t>
            </a:r>
          </a:p>
          <a:p>
            <a:pPr lvl="0"/>
            <a:r>
              <a:rPr lang="en-US" sz="1200" kern="1200" dirty="0">
                <a:solidFill>
                  <a:schemeClr val="tx1"/>
                </a:solidFill>
                <a:effectLst/>
                <a:latin typeface="+mn-lt"/>
                <a:ea typeface="+mn-ea"/>
                <a:cs typeface="+mn-cs"/>
              </a:rPr>
              <a:t>Spring Context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ngôn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ngữ</a:t>
            </a:r>
            <a:r>
              <a:rPr lang="en-US" sz="1200" kern="1200" dirty="0">
                <a:solidFill>
                  <a:schemeClr val="tx1"/>
                </a:solidFill>
                <a:effectLst/>
                <a:latin typeface="+mn-lt"/>
                <a:ea typeface="+mn-ea"/>
                <a:cs typeface="+mn-cs"/>
              </a:rPr>
              <a:t> (internationalization),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Java EE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EJB, JMX.</a:t>
            </a:r>
          </a:p>
          <a:p>
            <a:r>
              <a:rPr lang="en-US" sz="1200" kern="1200" dirty="0">
                <a:solidFill>
                  <a:schemeClr val="tx1"/>
                </a:solidFill>
                <a:effectLst/>
                <a:latin typeface="+mn-lt"/>
                <a:ea typeface="+mn-ea"/>
                <a:cs typeface="+mn-cs"/>
              </a:rPr>
              <a:t>Expression Language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Expresion</a:t>
            </a:r>
            <a:r>
              <a:rPr lang="en-US" sz="1200" kern="1200" dirty="0">
                <a:solidFill>
                  <a:schemeClr val="tx1"/>
                </a:solidFill>
                <a:effectLst/>
                <a:latin typeface="+mn-lt"/>
                <a:ea typeface="+mn-ea"/>
                <a:cs typeface="+mn-cs"/>
              </a:rPr>
              <a:t> Language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JSP.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setting/getting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method </a:t>
            </a:r>
            <a:r>
              <a:rPr lang="en-US" sz="1200" kern="1200" dirty="0" err="1">
                <a:solidFill>
                  <a:schemeClr val="tx1"/>
                </a:solidFill>
                <a:effectLst/>
                <a:latin typeface="+mn-lt"/>
                <a:ea typeface="+mn-ea"/>
                <a:cs typeface="+mn-cs"/>
              </a:rPr>
              <a:t>cải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cập</a:t>
            </a:r>
            <a:r>
              <a:rPr lang="en-US" sz="1200" kern="1200" dirty="0">
                <a:solidFill>
                  <a:schemeClr val="tx1"/>
                </a:solidFill>
                <a:effectLst/>
                <a:latin typeface="+mn-lt"/>
                <a:ea typeface="+mn-ea"/>
                <a:cs typeface="+mn-cs"/>
              </a:rPr>
              <a:t> collections, index,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tử</a:t>
            </a:r>
            <a:r>
              <a:rPr lang="en-US" sz="1200" kern="1200" dirty="0">
                <a:solidFill>
                  <a:schemeClr val="tx1"/>
                </a:solidFill>
                <a:effectLst/>
                <a:latin typeface="+mn-lt"/>
                <a:ea typeface="+mn-ea"/>
                <a:cs typeface="+mn-cs"/>
              </a:rPr>
              <a:t> logic…</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AOP, Aspects and Instrumentation</a:t>
            </a:r>
            <a:endParaRPr lang="en-US" sz="1200" kern="1200" dirty="0">
              <a:solidFill>
                <a:schemeClr val="tx1"/>
              </a:solidFill>
              <a:effectLst/>
              <a:latin typeface="+mn-lt"/>
              <a:ea typeface="+mn-ea"/>
              <a:cs typeface="+mn-cs"/>
            </a:endParaRPr>
          </a:p>
          <a:p>
            <a:pPr marL="0" indent="0">
              <a:buFont typeface="Wingdings" panose="05000000000000000000" pitchFamily="2" charset="2"/>
              <a:buNone/>
            </a:pP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module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đặt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cạnh</a:t>
            </a:r>
            <a:r>
              <a:rPr lang="en-US" sz="1200" kern="1200" dirty="0">
                <a:solidFill>
                  <a:schemeClr val="tx1"/>
                </a:solidFill>
                <a:effectLst/>
                <a:latin typeface="+mn-lt"/>
                <a:ea typeface="+mn-ea"/>
                <a:cs typeface="+mn-cs"/>
              </a:rPr>
              <a:t> (Aspect Oriented Programming),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AspectJ</a:t>
            </a:r>
            <a:r>
              <a:rPr lang="en-US" sz="1200" kern="1200" dirty="0">
                <a:solidFill>
                  <a:schemeClr val="tx1"/>
                </a:solidFill>
                <a:effectLst/>
                <a:latin typeface="+mn-lt"/>
                <a:ea typeface="+mn-ea"/>
                <a:cs typeface="+mn-cs"/>
              </a:rPr>
              <a:t>.</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Data Access / Integration</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JDBC, ORM, OXM, JMS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module Transaction.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module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database</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Web</a:t>
            </a:r>
            <a:endParaRPr lang="en-US" sz="1200" kern="1200" dirty="0">
              <a:solidFill>
                <a:schemeClr val="tx1"/>
              </a:solidFill>
              <a:effectLst/>
              <a:latin typeface="+mn-lt"/>
              <a:ea typeface="+mn-ea"/>
              <a:cs typeface="+mn-cs"/>
            </a:endParaRPr>
          </a:p>
          <a:p>
            <a:pPr marL="0" indent="0">
              <a:buFont typeface="Wingdings" panose="05000000000000000000" pitchFamily="2" charset="2"/>
              <a:buNone/>
            </a:pPr>
            <a:r>
              <a:rPr lang="en-US" sz="1200" kern="1200" dirty="0">
                <a:solidFill>
                  <a:schemeClr val="tx1"/>
                </a:solidFill>
                <a:effectLst/>
                <a:latin typeface="+mn-lt"/>
                <a:ea typeface="+mn-ea"/>
                <a:cs typeface="+mn-cs"/>
              </a:rPr>
              <a:t>Hay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Spring MVC </a:t>
            </a: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Web, Web-Servlet…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web</a:t>
            </a:r>
          </a:p>
          <a:p>
            <a:pPr marL="0" indent="0">
              <a:buFont typeface="Wingdings" panose="05000000000000000000" pitchFamily="2" charset="2"/>
              <a:buNone/>
            </a:pP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tế</a:t>
            </a:r>
            <a:r>
              <a:rPr lang="en-US" sz="1200" kern="1200" dirty="0">
                <a:solidFill>
                  <a:schemeClr val="tx1"/>
                </a:solidFill>
                <a:effectLst/>
                <a:latin typeface="+mn-lt"/>
                <a:ea typeface="+mn-ea"/>
                <a:cs typeface="+mn-cs"/>
              </a:rPr>
              <a:t>, Spring framework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Spring MVC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tảng</a:t>
            </a:r>
            <a:r>
              <a:rPr lang="en-US" sz="1200" kern="1200" dirty="0">
                <a:solidFill>
                  <a:schemeClr val="tx1"/>
                </a:solidFill>
                <a:effectLst/>
                <a:latin typeface="+mn-lt"/>
                <a:ea typeface="+mn-ea"/>
                <a:cs typeface="+mn-cs"/>
              </a:rPr>
              <a:t> web), Spring Data, Spring Boot,…</a:t>
            </a:r>
            <a:endParaRPr lang="en-US" sz="105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web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Spring framework,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trải</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5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 project</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Thêm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XML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bean</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Code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build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file WAR</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Tomcat server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file WAR </a:t>
            </a:r>
            <a:r>
              <a:rPr lang="en-US" sz="1200" kern="1200" dirty="0" err="1">
                <a:solidFill>
                  <a:schemeClr val="tx1"/>
                </a:solidFill>
                <a:effectLst/>
                <a:latin typeface="+mn-lt"/>
                <a:ea typeface="+mn-ea"/>
                <a:cs typeface="+mn-cs"/>
              </a:rPr>
              <a:t>vừa</a:t>
            </a:r>
            <a:r>
              <a:rPr lang="en-US" sz="1200" kern="1200" dirty="0">
                <a:solidFill>
                  <a:schemeClr val="tx1"/>
                </a:solidFill>
                <a:effectLst/>
                <a:latin typeface="+mn-lt"/>
                <a:ea typeface="+mn-ea"/>
                <a:cs typeface="+mn-cs"/>
              </a:rPr>
              <a:t> build</a:t>
            </a:r>
            <a:endParaRPr lang="en-US" sz="105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khá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dependency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pom.xml,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XML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annotation </a:t>
            </a:r>
            <a:r>
              <a:rPr lang="en-US" sz="1200" kern="1200" dirty="0" err="1">
                <a:solidFill>
                  <a:schemeClr val="tx1"/>
                </a:solidFill>
                <a:effectLst/>
                <a:latin typeface="+mn-lt"/>
                <a:ea typeface="+mn-ea"/>
                <a:cs typeface="+mn-cs"/>
              </a:rPr>
              <a:t>cực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tạp</a:t>
            </a:r>
            <a:r>
              <a:rPr lang="en-US" sz="1200" kern="1200" dirty="0">
                <a:solidFill>
                  <a:schemeClr val="tx1"/>
                </a:solidFill>
                <a:effectLst/>
                <a:latin typeface="+mn-lt"/>
                <a:ea typeface="+mn-ea"/>
                <a:cs typeface="+mn-cs"/>
              </a:rPr>
              <a:t>. </a:t>
            </a:r>
            <a:endParaRPr lang="en-US" sz="105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Giờ</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Spring Boot. </a:t>
            </a:r>
            <a:r>
              <a:rPr lang="en-US" sz="1200" kern="1200" dirty="0" err="1">
                <a:solidFill>
                  <a:schemeClr val="tx1"/>
                </a:solidFill>
                <a:effectLst/>
                <a:latin typeface="+mn-lt"/>
                <a:ea typeface="+mn-ea"/>
                <a:cs typeface="+mn-cs"/>
              </a:rPr>
              <a:t>Vậy</a:t>
            </a:r>
            <a:r>
              <a:rPr lang="en-US" sz="1200" kern="1200" dirty="0">
                <a:solidFill>
                  <a:schemeClr val="tx1"/>
                </a:solidFill>
                <a:effectLst/>
                <a:latin typeface="+mn-lt"/>
                <a:ea typeface="+mn-ea"/>
                <a:cs typeface="+mn-cs"/>
              </a:rPr>
              <a:t> Spring Boot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gì</a:t>
            </a:r>
            <a:r>
              <a:rPr lang="en-US" sz="1200" kern="1200" dirty="0">
                <a:solidFill>
                  <a:schemeClr val="tx1"/>
                </a:solidFill>
                <a:effectLst/>
                <a:latin typeface="+mn-lt"/>
                <a:ea typeface="+mn-ea"/>
                <a:cs typeface="+mn-cs"/>
              </a:rPr>
              <a:t>?</a:t>
            </a:r>
            <a:endParaRPr lang="en-US" sz="1050" kern="1200" dirty="0">
              <a:solidFill>
                <a:schemeClr val="tx1"/>
              </a:solidFill>
              <a:effectLst/>
              <a:latin typeface="+mn-lt"/>
              <a:ea typeface="+mn-ea"/>
              <a:cs typeface="+mn-cs"/>
            </a:endParaRPr>
          </a:p>
          <a:p>
            <a:pPr marL="0" indent="0">
              <a:buFont typeface="Wingdings" panose="05000000000000000000" pitchFamily="2" charset="2"/>
              <a:buNone/>
            </a:pPr>
            <a:endParaRPr lang="en-US" dirty="0"/>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6</a:t>
            </a:fld>
            <a:endParaRPr lang="en-US"/>
          </a:p>
        </p:txBody>
      </p:sp>
    </p:spTree>
    <p:extLst>
      <p:ext uri="{BB962C8B-B14F-4D97-AF65-F5344CB8AC3E}">
        <p14:creationId xmlns:p14="http://schemas.microsoft.com/office/powerpoint/2010/main" val="740058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 </a:t>
            </a:r>
            <a:r>
              <a:rPr lang="en-US" sz="1200" b="1" kern="1200" dirty="0" err="1">
                <a:solidFill>
                  <a:schemeClr val="tx1"/>
                </a:solidFill>
                <a:effectLst/>
                <a:latin typeface="+mn-lt"/>
                <a:ea typeface="+mn-ea"/>
                <a:cs typeface="+mn-cs"/>
              </a:rPr>
              <a:t>config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Annotation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bean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XML.</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Server Tomcat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file JAR build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java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a:t>
            </a: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8</a:t>
            </a:fld>
            <a:endParaRPr lang="en-US"/>
          </a:p>
        </p:txBody>
      </p:sp>
    </p:spTree>
    <p:extLst>
      <p:ext uri="{BB962C8B-B14F-4D97-AF65-F5344CB8AC3E}">
        <p14:creationId xmlns:p14="http://schemas.microsoft.com/office/powerpoint/2010/main" val="2108657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vi-VN" sz="1200" b="1" i="0" kern="1200" dirty="0">
                <a:solidFill>
                  <a:schemeClr val="tx1"/>
                </a:solidFill>
                <a:effectLst/>
                <a:latin typeface="+mn-lt"/>
                <a:ea typeface="+mn-ea"/>
                <a:cs typeface="+mn-cs"/>
              </a:rPr>
              <a:t>Thiếu kiểm soát.</a:t>
            </a:r>
            <a:r>
              <a:rPr lang="vi-VN" sz="1200" b="0" i="0" kern="1200" dirty="0">
                <a:solidFill>
                  <a:schemeClr val="tx1"/>
                </a:solidFill>
                <a:effectLst/>
                <a:latin typeface="+mn-lt"/>
                <a:ea typeface="+mn-ea"/>
                <a:cs typeface="+mn-cs"/>
              </a:rPr>
              <a:t> Do style cố định, Spring Boot tạo ra nhiều phụ thuộc không được sử dụng dẫn đến kích thước tệp triển khai lớn.</a:t>
            </a:r>
          </a:p>
          <a:p>
            <a:r>
              <a:rPr lang="vi-VN" sz="1200" b="0" i="0" kern="1200" dirty="0">
                <a:solidFill>
                  <a:schemeClr val="tx1"/>
                </a:solidFill>
                <a:effectLst/>
                <a:latin typeface="+mn-lt"/>
                <a:ea typeface="+mn-ea"/>
                <a:cs typeface="+mn-cs"/>
              </a:rPr>
              <a:t>Quá trình chuyển đổi dự án Spring cũ hoặc hiện có thành các ứng dụng Spring Boot nhiều khó khăn và tốn thời gian.</a:t>
            </a:r>
          </a:p>
          <a:p>
            <a:pPr marL="171450" indent="-171450">
              <a:buFont typeface="Arial" panose="020B0604020202020204" pitchFamily="34" charset="0"/>
              <a:buChar char="•"/>
            </a:pPr>
            <a:r>
              <a:rPr lang="vi-VN" sz="1200" b="1" i="0" kern="1200" dirty="0">
                <a:solidFill>
                  <a:schemeClr val="tx1"/>
                </a:solidFill>
                <a:effectLst/>
                <a:latin typeface="+mn-lt"/>
                <a:ea typeface="+mn-ea"/>
                <a:cs typeface="+mn-cs"/>
              </a:rPr>
              <a:t>Không thích hợp cho các dự án quy mô lớn.</a:t>
            </a:r>
            <a:r>
              <a:rPr lang="vi-VN" sz="1200" b="0" i="0" kern="1200" dirty="0">
                <a:solidFill>
                  <a:schemeClr val="tx1"/>
                </a:solidFill>
                <a:effectLst/>
                <a:latin typeface="+mn-lt"/>
                <a:ea typeface="+mn-ea"/>
                <a:cs typeface="+mn-cs"/>
              </a:rPr>
              <a:t> Hoạt động liên tục với các microservices, theo nhiều nhà phát triển, Spring Boot không phù hợp để xây dựng các ứng dụng nguyên khối.</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10</a:t>
            </a:fld>
            <a:endParaRPr lang="en-US"/>
          </a:p>
        </p:txBody>
      </p:sp>
    </p:spTree>
    <p:extLst>
      <p:ext uri="{BB962C8B-B14F-4D97-AF65-F5344CB8AC3E}">
        <p14:creationId xmlns:p14="http://schemas.microsoft.com/office/powerpoint/2010/main" val="3221259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lvl="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11</a:t>
            </a:fld>
            <a:endParaRPr lang="en-US"/>
          </a:p>
        </p:txBody>
      </p:sp>
    </p:spTree>
    <p:extLst>
      <p:ext uri="{BB962C8B-B14F-4D97-AF65-F5344CB8AC3E}">
        <p14:creationId xmlns:p14="http://schemas.microsoft.com/office/powerpoint/2010/main" val="709956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err="1">
                <a:solidFill>
                  <a:schemeClr val="tx1"/>
                </a:solidFill>
                <a:effectLst/>
                <a:latin typeface="+mn-lt"/>
                <a:ea typeface="+mn-ea"/>
                <a:cs typeface="+mn-cs"/>
              </a:rPr>
              <a:t>Các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thông</a:t>
            </a:r>
            <a:r>
              <a:rPr lang="en-US" sz="1200" b="1" kern="1200" dirty="0">
                <a:solidFill>
                  <a:schemeClr val="tx1"/>
                </a:solidFill>
                <a:effectLst/>
                <a:latin typeface="+mn-lt"/>
                <a:ea typeface="+mn-ea"/>
                <a:cs typeface="+mn-cs"/>
              </a:rPr>
              <a:t> tin project</a:t>
            </a:r>
          </a:p>
          <a:p>
            <a:pPr lvl="0"/>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project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package manager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a:t>
            </a:r>
          </a:p>
          <a:p>
            <a:pPr lvl="0"/>
            <a:r>
              <a:rPr lang="en-US" sz="1200" b="1" kern="1200" dirty="0">
                <a:solidFill>
                  <a:schemeClr val="tx1"/>
                </a:solidFill>
                <a:effectLst/>
                <a:latin typeface="+mn-lt"/>
                <a:ea typeface="+mn-ea"/>
                <a:cs typeface="+mn-cs"/>
              </a:rPr>
              <a:t>Language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ngôn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ngữ</a:t>
            </a:r>
            <a:r>
              <a:rPr lang="en-US" sz="1200" kern="1200" dirty="0">
                <a:solidFill>
                  <a:schemeClr val="tx1"/>
                </a:solidFill>
                <a:effectLst/>
                <a:latin typeface="+mn-lt"/>
                <a:ea typeface="+mn-ea"/>
                <a:cs typeface="+mn-cs"/>
              </a:rPr>
              <a:t> code (Java, </a:t>
            </a:r>
            <a:r>
              <a:rPr lang="en-US" sz="1200" kern="1200" dirty="0" err="1">
                <a:solidFill>
                  <a:schemeClr val="tx1"/>
                </a:solidFill>
                <a:effectLst/>
                <a:latin typeface="+mn-lt"/>
                <a:ea typeface="+mn-ea"/>
                <a:cs typeface="+mn-cs"/>
              </a:rPr>
              <a:t>Kotlin</a:t>
            </a:r>
            <a:r>
              <a:rPr lang="en-US" sz="1200" kern="1200" dirty="0">
                <a:solidFill>
                  <a:schemeClr val="tx1"/>
                </a:solidFill>
                <a:effectLst/>
                <a:latin typeface="+mn-lt"/>
                <a:ea typeface="+mn-ea"/>
                <a:cs typeface="+mn-cs"/>
              </a:rPr>
              <a:t>, Groovy)</a:t>
            </a:r>
          </a:p>
          <a:p>
            <a:pPr lvl="0"/>
            <a:r>
              <a:rPr lang="en-US" sz="1200" kern="1200" dirty="0" err="1">
                <a:solidFill>
                  <a:schemeClr val="tx1"/>
                </a:solidFill>
                <a:effectLst/>
                <a:latin typeface="+mn-lt"/>
                <a:ea typeface="+mn-ea"/>
                <a:cs typeface="+mn-cs"/>
              </a:rPr>
              <a:t>Phiên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Boot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version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SNAPSHOT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ổn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file build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Jar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Spring Boot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JAR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Tomcat server)</a:t>
            </a:r>
          </a:p>
          <a:p>
            <a:pPr lvl="0"/>
            <a:r>
              <a:rPr lang="en-US" sz="1200" kern="1200" dirty="0" err="1">
                <a:solidFill>
                  <a:schemeClr val="tx1"/>
                </a:solidFill>
                <a:effectLst/>
                <a:latin typeface="+mn-lt"/>
                <a:ea typeface="+mn-ea"/>
                <a:cs typeface="+mn-cs"/>
              </a:rPr>
              <a:t>Phiên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Java: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java </a:t>
            </a:r>
            <a:r>
              <a:rPr lang="en-US" sz="1200" kern="1200" dirty="0" err="1">
                <a:solidFill>
                  <a:schemeClr val="tx1"/>
                </a:solidFill>
                <a:effectLst/>
                <a:latin typeface="+mn-lt"/>
                <a:ea typeface="+mn-ea"/>
                <a:cs typeface="+mn-cs"/>
              </a:rPr>
              <a:t>mong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muốn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ảnh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ở java  8.</a:t>
            </a:r>
          </a:p>
          <a:p>
            <a:pPr lvl="0"/>
            <a:r>
              <a:rPr lang="en-US" sz="1200" b="1" kern="1200" dirty="0">
                <a:solidFill>
                  <a:schemeClr val="tx1"/>
                </a:solidFill>
                <a:effectLst/>
                <a:latin typeface="+mn-lt"/>
                <a:ea typeface="+mn-ea"/>
                <a:cs typeface="+mn-cs"/>
              </a:rPr>
              <a:t>Group, Artifact, Name, Description, Package name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tin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tên</a:t>
            </a:r>
            <a:r>
              <a:rPr lang="en-US" sz="1200" kern="1200" dirty="0">
                <a:solidFill>
                  <a:schemeClr val="tx1"/>
                </a:solidFill>
                <a:effectLst/>
                <a:latin typeface="+mn-lt"/>
                <a:ea typeface="+mn-ea"/>
                <a:cs typeface="+mn-cs"/>
              </a:rPr>
              <a:t> project, group project,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project…</a:t>
            </a:r>
          </a:p>
          <a:p>
            <a:pPr lvl="0"/>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err="1">
                <a:solidFill>
                  <a:schemeClr val="tx1"/>
                </a:solidFill>
                <a:effectLst/>
                <a:latin typeface="+mn-lt"/>
                <a:ea typeface="+mn-ea"/>
                <a:cs typeface="+mn-cs"/>
              </a:rPr>
              <a:t>Chọn</a:t>
            </a:r>
            <a:r>
              <a:rPr lang="en-US" sz="1200" b="1" kern="1200" dirty="0">
                <a:solidFill>
                  <a:schemeClr val="tx1"/>
                </a:solidFill>
                <a:effectLst/>
                <a:latin typeface="+mn-lt"/>
                <a:ea typeface="+mn-ea"/>
                <a:cs typeface="+mn-cs"/>
              </a:rPr>
              <a:t> dependency</a:t>
            </a:r>
          </a:p>
          <a:p>
            <a:r>
              <a:rPr lang="en-US" sz="1200" kern="1200" dirty="0" err="1">
                <a:solidFill>
                  <a:schemeClr val="tx1"/>
                </a:solidFill>
                <a:effectLst/>
                <a:latin typeface="+mn-lt"/>
                <a:ea typeface="+mn-ea"/>
                <a:cs typeface="+mn-cs"/>
              </a:rPr>
              <a:t>Ngăn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dependency,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web service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web</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ý </a:t>
            </a:r>
            <a:r>
              <a:rPr lang="en-US" sz="1200" kern="1200" dirty="0" err="1">
                <a:solidFill>
                  <a:schemeClr val="tx1"/>
                </a:solidFill>
                <a:effectLst/>
                <a:latin typeface="+mn-lt"/>
                <a:ea typeface="+mn-ea"/>
                <a:cs typeface="+mn-cs"/>
              </a:rPr>
              <a:t>nghĩa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a:t>
            </a:r>
          </a:p>
          <a:p>
            <a:r>
              <a:rPr lang="en-US" sz="1200" b="1" kern="1200" dirty="0" err="1">
                <a:solidFill>
                  <a:schemeClr val="tx1"/>
                </a:solidFill>
                <a:effectLst/>
                <a:latin typeface="+mn-lt"/>
                <a:ea typeface="+mn-ea"/>
                <a:cs typeface="+mn-cs"/>
              </a:rPr>
              <a:t>PostgreSQL</a:t>
            </a:r>
            <a:r>
              <a:rPr lang="en-US" sz="1200" b="1" kern="1200" dirty="0">
                <a:solidFill>
                  <a:schemeClr val="tx1"/>
                </a:solidFill>
                <a:effectLst/>
                <a:latin typeface="+mn-lt"/>
                <a:ea typeface="+mn-ea"/>
                <a:cs typeface="+mn-cs"/>
              </a:rPr>
              <a:t> Driver: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Dùng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kết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tới</a:t>
            </a:r>
            <a:r>
              <a:rPr lang="en-US" sz="1200" b="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PostgreSQL</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Spring Data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JPA</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Data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JPA </a:t>
            </a:r>
            <a:r>
              <a:rPr lang="en-US" sz="1200" kern="1200" dirty="0" err="1">
                <a:solidFill>
                  <a:schemeClr val="tx1"/>
                </a:solidFill>
                <a:effectLst/>
                <a:latin typeface="+mn-lt"/>
                <a:ea typeface="+mn-ea"/>
                <a:cs typeface="+mn-cs"/>
              </a:rPr>
              <a:t>là</a:t>
            </a: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implement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JPA. Spring Data JPA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Spirng</a:t>
            </a:r>
            <a:r>
              <a:rPr lang="en-US" sz="1200" kern="1200" dirty="0">
                <a:solidFill>
                  <a:schemeClr val="tx1"/>
                </a:solidFill>
                <a:effectLst/>
                <a:latin typeface="+mn-lt"/>
                <a:ea typeface="+mn-ea"/>
                <a:cs typeface="+mn-cs"/>
              </a:rPr>
              <a:t> Data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Hibernate 5, </a:t>
            </a:r>
            <a:r>
              <a:rPr lang="en-US" sz="1200" kern="1200" dirty="0" err="1">
                <a:solidFill>
                  <a:schemeClr val="tx1"/>
                </a:solidFill>
                <a:effectLst/>
                <a:latin typeface="+mn-lt"/>
                <a:ea typeface="+mn-ea"/>
                <a:cs typeface="+mn-cs"/>
              </a:rPr>
              <a:t>OpenJPA</a:t>
            </a:r>
            <a:r>
              <a:rPr lang="en-US" sz="1200" kern="1200" dirty="0">
                <a:solidFill>
                  <a:schemeClr val="tx1"/>
                </a:solidFill>
                <a:effectLst/>
                <a:latin typeface="+mn-lt"/>
                <a:ea typeface="+mn-ea"/>
                <a:cs typeface="+mn-cs"/>
              </a:rPr>
              <a:t> 2.4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EclipseLink</a:t>
            </a:r>
            <a:r>
              <a:rPr lang="en-US" sz="1200" kern="1200" dirty="0">
                <a:solidFill>
                  <a:schemeClr val="tx1"/>
                </a:solidFill>
                <a:effectLst/>
                <a:latin typeface="+mn-lt"/>
                <a:ea typeface="+mn-ea"/>
                <a:cs typeface="+mn-cs"/>
              </a:rPr>
              <a:t> 2.6.1</a:t>
            </a:r>
          </a:p>
          <a:p>
            <a:r>
              <a:rPr lang="en-US" sz="1200" b="0" kern="1200" dirty="0" err="1">
                <a:solidFill>
                  <a:schemeClr val="tx1"/>
                </a:solidFill>
                <a:effectLst/>
                <a:latin typeface="+mn-lt"/>
                <a:ea typeface="+mn-ea"/>
                <a:cs typeface="+mn-cs"/>
              </a:rPr>
              <a:t>Ngoài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còn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rất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nhiều</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dependency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tùy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thêm</a:t>
            </a:r>
            <a:r>
              <a:rPr lang="en-US" sz="1200" kern="1200" dirty="0">
                <a:solidFill>
                  <a:schemeClr val="tx1"/>
                </a:solidFill>
                <a:effectLst/>
                <a:latin typeface="+mn-lt"/>
                <a:ea typeface="+mn-ea"/>
                <a:cs typeface="+mn-cs"/>
              </a:rPr>
              <a:t> dependency </a:t>
            </a:r>
            <a:r>
              <a:rPr lang="en-US" sz="1200" kern="1200" dirty="0" err="1">
                <a:solidFill>
                  <a:schemeClr val="tx1"/>
                </a:solidFill>
                <a:effectLst/>
                <a:latin typeface="+mn-lt"/>
                <a:ea typeface="+mn-ea"/>
                <a:cs typeface="+mn-cs"/>
              </a:rPr>
              <a:t>phù</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12</a:t>
            </a:fld>
            <a:endParaRPr lang="en-US"/>
          </a:p>
        </p:txBody>
      </p:sp>
    </p:spTree>
    <p:extLst>
      <p:ext uri="{BB962C8B-B14F-4D97-AF65-F5344CB8AC3E}">
        <p14:creationId xmlns:p14="http://schemas.microsoft.com/office/powerpoint/2010/main" val="2757112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tin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nút</a:t>
            </a:r>
            <a:r>
              <a:rPr lang="en-US" sz="1200" kern="1200" dirty="0">
                <a:solidFill>
                  <a:schemeClr val="tx1"/>
                </a:solidFill>
                <a:effectLst/>
                <a:latin typeface="+mn-lt"/>
                <a:ea typeface="+mn-ea"/>
                <a:cs typeface="+mn-cs"/>
              </a:rPr>
              <a:t> Generate,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file zip </a:t>
            </a:r>
            <a:r>
              <a:rPr lang="en-US" sz="1200" kern="1200" dirty="0" err="1">
                <a:solidFill>
                  <a:schemeClr val="tx1"/>
                </a:solidFill>
                <a:effectLst/>
                <a:latin typeface="+mn-lt"/>
                <a:ea typeface="+mn-ea"/>
                <a:cs typeface="+mn-cs"/>
              </a:rPr>
              <a:t>chứa</a:t>
            </a:r>
            <a:r>
              <a:rPr lang="en-US" sz="1200" kern="1200" dirty="0">
                <a:solidFill>
                  <a:schemeClr val="tx1"/>
                </a:solidFill>
                <a:effectLst/>
                <a:latin typeface="+mn-lt"/>
                <a:ea typeface="+mn-ea"/>
                <a:cs typeface="+mn-cs"/>
              </a:rPr>
              <a:t> source ban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13</a:t>
            </a:fld>
            <a:endParaRPr lang="en-US"/>
          </a:p>
        </p:txBody>
      </p:sp>
    </p:spTree>
    <p:extLst>
      <p:ext uri="{BB962C8B-B14F-4D97-AF65-F5344CB8AC3E}">
        <p14:creationId xmlns:p14="http://schemas.microsoft.com/office/powerpoint/2010/main" val="1482241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buFont typeface="Arial" panose="020B0604020202020204" pitchFamily="34" charset="0"/>
              <a:buNone/>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14</a:t>
            </a:fld>
            <a:endParaRPr lang="en-US"/>
          </a:p>
        </p:txBody>
      </p:sp>
    </p:spTree>
    <p:extLst>
      <p:ext uri="{BB962C8B-B14F-4D97-AF65-F5344CB8AC3E}">
        <p14:creationId xmlns:p14="http://schemas.microsoft.com/office/powerpoint/2010/main" val="3810931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initializr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dưới</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Dependencies:</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nếu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muốn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thêm</a:t>
            </a:r>
            <a:r>
              <a:rPr lang="en-US" sz="1200" kern="1200" baseline="0" dirty="0">
                <a:solidFill>
                  <a:schemeClr val="tx1"/>
                </a:solidFill>
                <a:effectLst/>
                <a:latin typeface="+mn-lt"/>
                <a:ea typeface="+mn-ea"/>
                <a:cs typeface="+mn-cs"/>
              </a:rPr>
              <a:t> dependencies </a:t>
            </a:r>
            <a:r>
              <a:rPr lang="en-US" sz="1200" kern="1200" baseline="0" dirty="0" err="1">
                <a:solidFill>
                  <a:schemeClr val="tx1"/>
                </a:solidFill>
                <a:effectLst/>
                <a:latin typeface="+mn-lt"/>
                <a:ea typeface="+mn-ea"/>
                <a:cs typeface="+mn-cs"/>
              </a:rPr>
              <a:t>khác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có</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thể</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thêm</a:t>
            </a:r>
            <a:r>
              <a:rPr lang="en-US" sz="1200" kern="1200" baseline="0" dirty="0">
                <a:solidFill>
                  <a:schemeClr val="tx1"/>
                </a:solidFill>
                <a:effectLst/>
                <a:latin typeface="+mn-lt"/>
                <a:ea typeface="+mn-ea"/>
                <a:cs typeface="+mn-cs"/>
              </a:rPr>
              <a:t> implement </a:t>
            </a:r>
            <a:r>
              <a:rPr lang="en-US" sz="1200" kern="1200" baseline="0" dirty="0" err="1">
                <a:solidFill>
                  <a:schemeClr val="tx1"/>
                </a:solidFill>
                <a:effectLst/>
                <a:latin typeface="+mn-lt"/>
                <a:ea typeface="+mn-ea"/>
                <a:cs typeface="+mn-cs"/>
              </a:rPr>
              <a:t>vào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đây</a:t>
            </a: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15</a:t>
            </a:fld>
            <a:endParaRPr lang="en-US"/>
          </a:p>
        </p:txBody>
      </p:sp>
    </p:spTree>
    <p:extLst>
      <p:ext uri="{BB962C8B-B14F-4D97-AF65-F5344CB8AC3E}">
        <p14:creationId xmlns:p14="http://schemas.microsoft.com/office/powerpoint/2010/main" val="1764639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anotation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SpringBootApplication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quét</a:t>
            </a:r>
            <a:r>
              <a:rPr lang="en-US" sz="1200" kern="1200" dirty="0">
                <a:solidFill>
                  <a:schemeClr val="tx1"/>
                </a:solidFill>
                <a:effectLst/>
                <a:latin typeface="+mn-lt"/>
                <a:ea typeface="+mn-ea"/>
                <a:cs typeface="+mn-cs"/>
              </a:rPr>
              <a:t> (Scan)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Spring (Controller, Bean, Service,...)</a:t>
            </a:r>
          </a:p>
          <a:p>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a:t>
            </a:r>
            <a:r>
              <a:rPr lang="en-US" sz="1200" kern="1200" dirty="0">
                <a:solidFill>
                  <a:schemeClr val="tx1"/>
                </a:solidFill>
                <a:effectLst/>
                <a:latin typeface="+mn-lt"/>
                <a:ea typeface="+mn-ea"/>
                <a:cs typeface="+mn-cs"/>
              </a:rPr>
              <a:t> 3 </a:t>
            </a:r>
            <a:r>
              <a:rPr lang="en-US" sz="1200" kern="1200" dirty="0" err="1">
                <a:solidFill>
                  <a:schemeClr val="tx1"/>
                </a:solidFill>
                <a:effectLst/>
                <a:latin typeface="+mn-lt"/>
                <a:ea typeface="+mn-ea"/>
                <a:cs typeface="+mn-cs"/>
              </a:rPr>
              <a:t>anotation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EnableAutoConfiguration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ComponentScan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SpringBootConfiguration</a:t>
            </a:r>
            <a:r>
              <a:rPr lang="en-US" sz="1200" kern="1200" dirty="0">
                <a:solidFill>
                  <a:schemeClr val="tx1"/>
                </a:solidFill>
                <a:effectLst/>
                <a:latin typeface="+mn-lt"/>
                <a:ea typeface="+mn-ea"/>
                <a:cs typeface="+mn-cs"/>
              </a:rPr>
              <a:t> </a:t>
            </a:r>
            <a:endParaRPr lang="en-US" sz="1200" b="1"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err="1">
                <a:solidFill>
                  <a:schemeClr val="tx1"/>
                </a:solidFill>
                <a:effectLst/>
                <a:latin typeface="+mn-lt"/>
                <a:ea typeface="+mn-ea"/>
                <a:cs typeface="+mn-cs"/>
              </a:rPr>
              <a:t>SpringApplication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class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hàm</a:t>
            </a:r>
            <a:r>
              <a:rPr lang="en-US" sz="1200" kern="1200" dirty="0">
                <a:solidFill>
                  <a:schemeClr val="tx1"/>
                </a:solidFill>
                <a:effectLst/>
                <a:latin typeface="+mn-lt"/>
                <a:ea typeface="+mn-ea"/>
                <a:cs typeface="+mn-cs"/>
              </a:rPr>
              <a:t> main().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gọi</a:t>
            </a:r>
            <a:r>
              <a:rPr lang="en-US" sz="1200" kern="1200" dirty="0">
                <a:solidFill>
                  <a:schemeClr val="tx1"/>
                </a:solidFill>
                <a:effectLst/>
                <a:latin typeface="+mn-lt"/>
                <a:ea typeface="+mn-ea"/>
                <a:cs typeface="+mn-cs"/>
              </a:rPr>
              <a:t> method run(). </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16</a:t>
            </a:fld>
            <a:endParaRPr lang="en-US"/>
          </a:p>
        </p:txBody>
      </p:sp>
    </p:spTree>
    <p:extLst>
      <p:ext uri="{BB962C8B-B14F-4D97-AF65-F5344CB8AC3E}">
        <p14:creationId xmlns:p14="http://schemas.microsoft.com/office/powerpoint/2010/main" val="3921909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17</a:t>
            </a:fld>
            <a:endParaRPr lang="en-US"/>
          </a:p>
        </p:txBody>
      </p:sp>
    </p:spTree>
    <p:extLst>
      <p:ext uri="{BB962C8B-B14F-4D97-AF65-F5344CB8AC3E}">
        <p14:creationId xmlns:p14="http://schemas.microsoft.com/office/powerpoint/2010/main" val="3612221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18</a:t>
            </a:fld>
            <a:endParaRPr lang="en-US"/>
          </a:p>
        </p:txBody>
      </p:sp>
    </p:spTree>
    <p:extLst>
      <p:ext uri="{BB962C8B-B14F-4D97-AF65-F5344CB8AC3E}">
        <p14:creationId xmlns:p14="http://schemas.microsoft.com/office/powerpoint/2010/main" val="2911986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build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file JAR,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task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package manager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Nếu</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task </a:t>
            </a:r>
            <a:r>
              <a:rPr lang="en-US" sz="1200" b="1" kern="1200" dirty="0">
                <a:solidFill>
                  <a:schemeClr val="tx1"/>
                </a:solidFill>
                <a:effectLst/>
                <a:latin typeface="+mn-lt"/>
                <a:ea typeface="+mn-ea"/>
                <a:cs typeface="+mn-cs"/>
              </a:rPr>
              <a:t>jar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bootJar</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19</a:t>
            </a:fld>
            <a:endParaRPr lang="en-US"/>
          </a:p>
        </p:txBody>
      </p:sp>
    </p:spTree>
    <p:extLst>
      <p:ext uri="{BB962C8B-B14F-4D97-AF65-F5344CB8AC3E}">
        <p14:creationId xmlns:p14="http://schemas.microsoft.com/office/powerpoint/2010/main" val="4055720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20</a:t>
            </a:fld>
            <a:endParaRPr lang="en-US"/>
          </a:p>
        </p:txBody>
      </p:sp>
    </p:spTree>
    <p:extLst>
      <p:ext uri="{BB962C8B-B14F-4D97-AF65-F5344CB8AC3E}">
        <p14:creationId xmlns:p14="http://schemas.microsoft.com/office/powerpoint/2010/main" val="2940582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21</a:t>
            </a:fld>
            <a:endParaRPr lang="en-US"/>
          </a:p>
        </p:txBody>
      </p:sp>
    </p:spTree>
    <p:extLst>
      <p:ext uri="{BB962C8B-B14F-4D97-AF65-F5344CB8AC3E}">
        <p14:creationId xmlns:p14="http://schemas.microsoft.com/office/powerpoint/2010/main" val="2147930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sz="1200" kern="1200" dirty="0">
                <a:solidFill>
                  <a:schemeClr val="tx1"/>
                </a:solidFill>
                <a:effectLst/>
                <a:latin typeface="+mn-lt"/>
                <a:ea typeface="+mn-ea"/>
                <a:cs typeface="+mn-cs"/>
              </a:rPr>
              <a:t>Spring Data JPA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tầng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tầng</a:t>
            </a:r>
            <a:r>
              <a:rPr lang="en-US" sz="1200" kern="1200" dirty="0">
                <a:solidFill>
                  <a:schemeClr val="tx1"/>
                </a:solidFill>
                <a:effectLst/>
                <a:latin typeface="+mn-lt"/>
                <a:ea typeface="+mn-ea"/>
                <a:cs typeface="+mn-cs"/>
              </a:rPr>
              <a:t> JPA.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nghĩa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JPA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entity mapping, entity life-lifecycle, JPA query </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Đối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repository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đều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hàm</a:t>
            </a:r>
            <a:r>
              <a:rPr lang="en-US" sz="1200" kern="1200" dirty="0">
                <a:solidFill>
                  <a:schemeClr val="tx1"/>
                </a:solidFill>
                <a:effectLst/>
                <a:latin typeface="+mn-lt"/>
                <a:ea typeface="+mn-ea"/>
                <a:cs typeface="+mn-cs"/>
              </a:rPr>
              <a:t> CRUD,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chán</a:t>
            </a:r>
            <a:r>
              <a:rPr lang="en-US" sz="1200" kern="1200" dirty="0">
                <a:solidFill>
                  <a:schemeClr val="tx1"/>
                </a:solidFill>
                <a:effectLst/>
                <a:latin typeface="+mn-lt"/>
                <a:ea typeface="+mn-ea"/>
                <a:cs typeface="+mn-cs"/>
              </a:rPr>
              <a:t>. Spring Data JPA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repository interface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extends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hàm</a:t>
            </a:r>
            <a:r>
              <a:rPr lang="en-US" sz="1200" kern="1200" dirty="0">
                <a:solidFill>
                  <a:schemeClr val="tx1"/>
                </a:solidFill>
                <a:effectLst/>
                <a:latin typeface="+mn-lt"/>
                <a:ea typeface="+mn-ea"/>
                <a:cs typeface="+mn-cs"/>
              </a:rPr>
              <a:t> CRUD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ngoài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Để</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hiểu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rõ</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hơn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chúng</a:t>
            </a:r>
            <a:r>
              <a:rPr lang="en-US" sz="1200" kern="1200" baseline="0" dirty="0">
                <a:solidFill>
                  <a:schemeClr val="tx1"/>
                </a:solidFill>
                <a:effectLst/>
                <a:latin typeface="+mn-lt"/>
                <a:ea typeface="+mn-ea"/>
                <a:cs typeface="+mn-cs"/>
              </a:rPr>
              <a:t> ta </a:t>
            </a:r>
            <a:r>
              <a:rPr lang="en-US" sz="1200" kern="1200" baseline="0" dirty="0" err="1">
                <a:solidFill>
                  <a:schemeClr val="tx1"/>
                </a:solidFill>
                <a:effectLst/>
                <a:latin typeface="+mn-lt"/>
                <a:ea typeface="+mn-ea"/>
                <a:cs typeface="+mn-cs"/>
              </a:rPr>
              <a:t>cần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biết</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cơ</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bản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về</a:t>
            </a:r>
            <a:r>
              <a:rPr lang="en-US" sz="1200" kern="1200" baseline="0" dirty="0">
                <a:solidFill>
                  <a:schemeClr val="tx1"/>
                </a:solidFill>
                <a:effectLst/>
                <a:latin typeface="+mn-lt"/>
                <a:ea typeface="+mn-ea"/>
                <a:cs typeface="+mn-cs"/>
              </a:rPr>
              <a:t> JPA </a:t>
            </a:r>
            <a:r>
              <a:rPr lang="en-US" sz="1200" kern="1200" baseline="0" dirty="0" err="1">
                <a:solidFill>
                  <a:schemeClr val="tx1"/>
                </a:solidFill>
                <a:effectLst/>
                <a:latin typeface="+mn-lt"/>
                <a:ea typeface="+mn-ea"/>
                <a:cs typeface="+mn-cs"/>
              </a:rPr>
              <a:t>và</a:t>
            </a:r>
            <a:r>
              <a:rPr lang="en-US" sz="1200" kern="1200" baseline="0" dirty="0">
                <a:solidFill>
                  <a:schemeClr val="tx1"/>
                </a:solidFill>
                <a:effectLst/>
                <a:latin typeface="+mn-lt"/>
                <a:ea typeface="+mn-ea"/>
                <a:cs typeface="+mn-cs"/>
              </a:rPr>
              <a:t> ORM</a:t>
            </a: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23</a:t>
            </a:fld>
            <a:endParaRPr lang="en-US"/>
          </a:p>
        </p:txBody>
      </p:sp>
    </p:spTree>
    <p:extLst>
      <p:ext uri="{BB962C8B-B14F-4D97-AF65-F5344CB8AC3E}">
        <p14:creationId xmlns:p14="http://schemas.microsoft.com/office/powerpoint/2010/main" val="2412597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24</a:t>
            </a:fld>
            <a:endParaRPr lang="en-US"/>
          </a:p>
        </p:txBody>
      </p:sp>
    </p:spTree>
    <p:extLst>
      <p:ext uri="{BB962C8B-B14F-4D97-AF65-F5344CB8AC3E}">
        <p14:creationId xmlns:p14="http://schemas.microsoft.com/office/powerpoint/2010/main" val="1058062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table Users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column (Id, name, age…)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class Users.java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field Id, name, age…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vấn</a:t>
            </a:r>
            <a:r>
              <a:rPr lang="en-US" sz="1200" kern="1200" dirty="0">
                <a:solidFill>
                  <a:schemeClr val="tx1"/>
                </a:solidFill>
                <a:effectLst/>
                <a:latin typeface="+mn-lt"/>
                <a:ea typeface="+mn-ea"/>
                <a:cs typeface="+mn-cs"/>
              </a:rPr>
              <a:t> table hay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column ta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class,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field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class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tâm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database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database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sao</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JPA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framework.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nghĩa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niệm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thi </a:t>
            </a:r>
            <a:r>
              <a:rPr lang="en-US" sz="1200" kern="1200" dirty="0" err="1">
                <a:solidFill>
                  <a:schemeClr val="tx1"/>
                </a:solidFill>
                <a:effectLst/>
                <a:latin typeface="+mn-lt"/>
                <a:ea typeface="+mn-ea"/>
                <a:cs typeface="+mn-cs"/>
              </a:rPr>
              <a:t>bởi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kỳ</a:t>
            </a:r>
            <a:r>
              <a:rPr lang="en-US" sz="1200" kern="1200" dirty="0">
                <a:solidFill>
                  <a:schemeClr val="tx1"/>
                </a:solidFill>
                <a:effectLst/>
                <a:latin typeface="+mn-lt"/>
                <a:ea typeface="+mn-ea"/>
                <a:cs typeface="+mn-cs"/>
              </a:rPr>
              <a:t> framework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Hibernate, </a:t>
            </a:r>
            <a:r>
              <a:rPr lang="en-US" sz="1200" b="1" kern="1200" dirty="0" err="1">
                <a:solidFill>
                  <a:schemeClr val="tx1"/>
                </a:solidFill>
                <a:effectLst/>
                <a:latin typeface="+mn-lt"/>
                <a:ea typeface="+mn-ea"/>
                <a:cs typeface="+mn-cs"/>
              </a:rPr>
              <a:t>EclipseLink</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t>
            </a: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25</a:t>
            </a:fld>
            <a:endParaRPr lang="en-US"/>
          </a:p>
        </p:txBody>
      </p:sp>
    </p:spTree>
    <p:extLst>
      <p:ext uri="{BB962C8B-B14F-4D97-AF65-F5344CB8AC3E}">
        <p14:creationId xmlns:p14="http://schemas.microsoft.com/office/powerpoint/2010/main" val="1240741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ea typeface="Times New Roman" panose="02020603050405020304" pitchFamily="18" charset="0"/>
              </a:rPr>
              <a:t>L</a:t>
            </a:r>
            <a:r>
              <a:rPr lang="vi-VN" dirty="0">
                <a:ea typeface="Times New Roman" panose="02020603050405020304" pitchFamily="18" charset="0"/>
              </a:rPr>
              <a:t>oại database </a:t>
            </a:r>
            <a:r>
              <a:rPr lang="en-US" dirty="0">
                <a:ea typeface="Times New Roman" panose="02020603050405020304" pitchFamily="18" charset="0"/>
              </a:rPr>
              <a:t> : </a:t>
            </a:r>
            <a:r>
              <a:rPr lang="vi-VN" dirty="0">
                <a:ea typeface="Times New Roman" panose="02020603050405020304" pitchFamily="18" charset="0"/>
              </a:rPr>
              <a:t>(SQL Server, MySQL, PostgreSQL, …) </a:t>
            </a:r>
            <a:endParaRPr lang="en-US" dirty="0">
              <a:ea typeface="Times New Roman" panose="02020603050405020304" pitchFamily="18" charset="0"/>
            </a:endParaRPr>
          </a:p>
          <a:p>
            <a:r>
              <a:rPr lang="en-US" sz="1200" kern="1200" dirty="0" err="1">
                <a:solidFill>
                  <a:schemeClr val="tx1"/>
                </a:solidFill>
                <a:effectLst/>
                <a:latin typeface="+mn-lt"/>
                <a:ea typeface="+mn-ea"/>
                <a:cs typeface="+mn-cs"/>
              </a:rPr>
              <a:t>Loại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thao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tác</a:t>
            </a:r>
            <a:r>
              <a:rPr lang="en-US" sz="1200" kern="1200" baseline="0" dirty="0">
                <a:solidFill>
                  <a:schemeClr val="tx1"/>
                </a:solidFill>
                <a:effectLst/>
                <a:latin typeface="+mn-lt"/>
                <a:ea typeface="+mn-ea"/>
                <a:cs typeface="+mn-cs"/>
              </a:rPr>
              <a:t> :  </a:t>
            </a:r>
            <a:r>
              <a:rPr lang="en-US" sz="1200" kern="1200" dirty="0">
                <a:solidFill>
                  <a:schemeClr val="tx1"/>
                </a:solidFill>
                <a:effectLst/>
                <a:latin typeface="+mn-lt"/>
                <a:ea typeface="+mn-ea"/>
                <a:cs typeface="+mn-cs"/>
              </a:rPr>
              <a:t>(INSERT, UPDATE, DELETE, SELECT, …)</a:t>
            </a:r>
          </a:p>
          <a:p>
            <a:r>
              <a:rPr lang="en-US" sz="1200" kern="1200" dirty="0">
                <a:solidFill>
                  <a:schemeClr val="tx1"/>
                </a:solidFill>
                <a:effectLst/>
                <a:latin typeface="+mn-lt"/>
                <a:ea typeface="+mn-ea"/>
                <a:cs typeface="+mn-cs"/>
              </a:rPr>
              <a:t>ORM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phổ</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biến</a:t>
            </a:r>
            <a:r>
              <a:rPr lang="en-US" sz="1200"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Hibernate</a:t>
            </a: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26</a:t>
            </a:fld>
            <a:endParaRPr lang="en-US"/>
          </a:p>
        </p:txBody>
      </p:sp>
    </p:spTree>
    <p:extLst>
      <p:ext uri="{BB962C8B-B14F-4D97-AF65-F5344CB8AC3E}">
        <p14:creationId xmlns:p14="http://schemas.microsoft.com/office/powerpoint/2010/main" val="870928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lvl="0"/>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a:t>
            </a:r>
            <a:r>
              <a:rPr lang="en-US" sz="1200" u="sng" kern="1200" dirty="0">
                <a:solidFill>
                  <a:schemeClr val="tx1"/>
                </a:solidFill>
                <a:effectLst/>
                <a:latin typeface="+mn-lt"/>
                <a:ea typeface="+mn-ea"/>
                <a:cs typeface="+mn-cs"/>
                <a:hlinkClick r:id="rId3"/>
              </a:rPr>
              <a:t>https://start.spring.io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ngôn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muốn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dẫn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Java.</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Bấm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Dependencies </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Data JPA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H2 Database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Nhấp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Generate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Tải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tệp</a:t>
            </a:r>
            <a:r>
              <a:rPr lang="en-US" sz="1200" kern="1200" dirty="0">
                <a:solidFill>
                  <a:schemeClr val="tx1"/>
                </a:solidFill>
                <a:effectLst/>
                <a:latin typeface="+mn-lt"/>
                <a:ea typeface="+mn-ea"/>
                <a:cs typeface="+mn-cs"/>
              </a:rPr>
              <a:t> ZIP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web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27</a:t>
            </a:fld>
            <a:endParaRPr lang="en-US"/>
          </a:p>
        </p:txBody>
      </p:sp>
    </p:spTree>
    <p:extLst>
      <p:ext uri="{BB962C8B-B14F-4D97-AF65-F5344CB8AC3E}">
        <p14:creationId xmlns:p14="http://schemas.microsoft.com/office/powerpoint/2010/main" val="1960509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28</a:t>
            </a:fld>
            <a:endParaRPr lang="en-US"/>
          </a:p>
        </p:txBody>
      </p:sp>
    </p:spTree>
    <p:extLst>
      <p:ext uri="{BB962C8B-B14F-4D97-AF65-F5344CB8AC3E}">
        <p14:creationId xmlns:p14="http://schemas.microsoft.com/office/powerpoint/2010/main" val="66757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29</a:t>
            </a:fld>
            <a:endParaRPr lang="en-US"/>
          </a:p>
        </p:txBody>
      </p:sp>
    </p:spTree>
    <p:extLst>
      <p:ext uri="{BB962C8B-B14F-4D97-AF65-F5344CB8AC3E}">
        <p14:creationId xmlns:p14="http://schemas.microsoft.com/office/powerpoint/2010/main" val="7947996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30</a:t>
            </a:fld>
            <a:endParaRPr lang="en-US"/>
          </a:p>
        </p:txBody>
      </p:sp>
    </p:spTree>
    <p:extLst>
      <p:ext uri="{BB962C8B-B14F-4D97-AF65-F5344CB8AC3E}">
        <p14:creationId xmlns:p14="http://schemas.microsoft.com/office/powerpoint/2010/main" val="9287715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31</a:t>
            </a:fld>
            <a:endParaRPr lang="en-US"/>
          </a:p>
        </p:txBody>
      </p:sp>
    </p:spTree>
    <p:extLst>
      <p:ext uri="{BB962C8B-B14F-4D97-AF65-F5344CB8AC3E}">
        <p14:creationId xmlns:p14="http://schemas.microsoft.com/office/powerpoint/2010/main" val="5401183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sz="1200" kern="1200" dirty="0" err="1">
                <a:solidFill>
                  <a:schemeClr val="tx1"/>
                </a:solidFill>
                <a:effectLst/>
                <a:latin typeface="+mn-lt"/>
                <a:ea typeface="+mn-ea"/>
                <a:cs typeface="+mn-cs"/>
              </a:rPr>
              <a:t>Ineterface</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CustomerRepository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thừa</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CrudRepository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Trong </a:t>
            </a:r>
            <a:r>
              <a:rPr lang="en-US" sz="1200" b="1" kern="1200" dirty="0" err="1">
                <a:solidFill>
                  <a:schemeClr val="tx1"/>
                </a:solidFill>
                <a:effectLst/>
                <a:latin typeface="+mn-lt"/>
                <a:ea typeface="+mn-ea"/>
                <a:cs typeface="+mn-cs"/>
              </a:rPr>
              <a:t>CrudRepository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entity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ID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Entity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Bằng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thừa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CrudRepository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CustomerRepository</a:t>
            </a: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xóa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Customer.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Spring Data JPA </a:t>
            </a:r>
            <a:r>
              <a:rPr lang="en-US" sz="1200" kern="1200" dirty="0" err="1">
                <a:solidFill>
                  <a:schemeClr val="tx1"/>
                </a:solidFill>
                <a:effectLst/>
                <a:latin typeface="+mn-lt"/>
                <a:ea typeface="+mn-ea"/>
                <a:cs typeface="+mn-cs"/>
              </a:rPr>
              <a:t>cũng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method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method signature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CustomerRepository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findByFirstName</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32</a:t>
            </a:fld>
            <a:endParaRPr lang="en-US"/>
          </a:p>
        </p:txBody>
      </p:sp>
    </p:spTree>
    <p:extLst>
      <p:ext uri="{BB962C8B-B14F-4D97-AF65-F5344CB8AC3E}">
        <p14:creationId xmlns:p14="http://schemas.microsoft.com/office/powerpoint/2010/main" val="26570073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33</a:t>
            </a:fld>
            <a:endParaRPr lang="en-US"/>
          </a:p>
        </p:txBody>
      </p:sp>
    </p:spTree>
    <p:extLst>
      <p:ext uri="{BB962C8B-B14F-4D97-AF65-F5344CB8AC3E}">
        <p14:creationId xmlns:p14="http://schemas.microsoft.com/office/powerpoint/2010/main" val="1216064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34</a:t>
            </a:fld>
            <a:endParaRPr lang="en-US"/>
          </a:p>
        </p:txBody>
      </p:sp>
    </p:spTree>
    <p:extLst>
      <p:ext uri="{BB962C8B-B14F-4D97-AF65-F5344CB8AC3E}">
        <p14:creationId xmlns:p14="http://schemas.microsoft.com/office/powerpoint/2010/main" val="739577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35</a:t>
            </a:fld>
            <a:endParaRPr lang="en-US"/>
          </a:p>
        </p:txBody>
      </p:sp>
    </p:spTree>
    <p:extLst>
      <p:ext uri="{BB962C8B-B14F-4D97-AF65-F5344CB8AC3E}">
        <p14:creationId xmlns:p14="http://schemas.microsoft.com/office/powerpoint/2010/main" val="17369780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36</a:t>
            </a:fld>
            <a:endParaRPr lang="en-US"/>
          </a:p>
        </p:txBody>
      </p:sp>
    </p:spTree>
    <p:extLst>
      <p:ext uri="{BB962C8B-B14F-4D97-AF65-F5344CB8AC3E}">
        <p14:creationId xmlns:p14="http://schemas.microsoft.com/office/powerpoint/2010/main" val="2521476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en-US" dirty="0"/>
              <a:t>Application </a:t>
            </a:r>
            <a:r>
              <a:rPr lang="en-US" dirty="0" err="1"/>
              <a:t>chứa</a:t>
            </a:r>
            <a:r>
              <a:rPr lang="en-US" dirty="0"/>
              <a:t> </a:t>
            </a:r>
            <a:r>
              <a:rPr lang="en-US" dirty="0" err="1"/>
              <a:t>tất</a:t>
            </a:r>
            <a:r>
              <a:rPr lang="en-US" dirty="0"/>
              <a:t> </a:t>
            </a:r>
            <a:r>
              <a:rPr lang="en-US" dirty="0" err="1"/>
              <a:t>cả</a:t>
            </a:r>
            <a:r>
              <a:rPr lang="en-US" dirty="0"/>
              <a:t> </a:t>
            </a:r>
            <a:r>
              <a:rPr lang="en-US" dirty="0" err="1"/>
              <a:t>các</a:t>
            </a:r>
            <a:r>
              <a:rPr lang="en-US" dirty="0"/>
              <a:t> job </a:t>
            </a:r>
            <a:r>
              <a:rPr lang="en-US" dirty="0" err="1"/>
              <a:t>và</a:t>
            </a:r>
            <a:r>
              <a:rPr lang="en-US" dirty="0"/>
              <a:t> code </a:t>
            </a:r>
            <a:r>
              <a:rPr lang="en-US" dirty="0" err="1"/>
              <a:t>mà</a:t>
            </a:r>
            <a:r>
              <a:rPr lang="en-US" dirty="0"/>
              <a:t> </a:t>
            </a:r>
            <a:r>
              <a:rPr lang="en-US" dirty="0" err="1"/>
              <a:t>chúng</a:t>
            </a:r>
            <a:r>
              <a:rPr lang="en-US" dirty="0"/>
              <a:t> ta </a:t>
            </a:r>
            <a:r>
              <a:rPr lang="en-US" dirty="0" err="1"/>
              <a:t>viết</a:t>
            </a:r>
            <a:r>
              <a:rPr lang="en-US" dirty="0"/>
              <a:t> </a:t>
            </a:r>
            <a:r>
              <a:rPr lang="en-US" dirty="0" err="1"/>
              <a:t>bằng</a:t>
            </a:r>
            <a:r>
              <a:rPr lang="en-US" dirty="0"/>
              <a:t> Spring Framework</a:t>
            </a:r>
          </a:p>
          <a:p>
            <a:pPr marL="171450" indent="-171450">
              <a:buFont typeface="Arial" panose="020B0604020202020204" pitchFamily="34" charset="0"/>
              <a:buChar char="•"/>
            </a:pPr>
            <a:r>
              <a:rPr lang="en-US" dirty="0"/>
              <a:t>Batch Core </a:t>
            </a:r>
            <a:r>
              <a:rPr lang="en-US" dirty="0" err="1"/>
              <a:t>chứa</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lớp</a:t>
            </a:r>
            <a:r>
              <a:rPr lang="en-US" dirty="0"/>
              <a:t> API </a:t>
            </a:r>
            <a:r>
              <a:rPr lang="en-US" dirty="0" err="1"/>
              <a:t>cần</a:t>
            </a:r>
            <a:r>
              <a:rPr lang="en-US" dirty="0"/>
              <a:t> </a:t>
            </a:r>
            <a:r>
              <a:rPr lang="en-US" dirty="0" err="1"/>
              <a:t>thiết</a:t>
            </a:r>
            <a:r>
              <a:rPr lang="en-US" dirty="0"/>
              <a:t> </a:t>
            </a:r>
            <a:r>
              <a:rPr lang="en-US" dirty="0" err="1"/>
              <a:t>để</a:t>
            </a:r>
            <a:r>
              <a:rPr lang="en-US" dirty="0"/>
              <a:t> </a:t>
            </a:r>
            <a:r>
              <a:rPr lang="en-US" dirty="0" err="1"/>
              <a:t>kiểm</a:t>
            </a:r>
            <a:r>
              <a:rPr lang="en-US" dirty="0"/>
              <a:t> </a:t>
            </a:r>
            <a:r>
              <a:rPr lang="en-US" dirty="0" err="1"/>
              <a:t>soát</a:t>
            </a:r>
            <a:r>
              <a:rPr lang="en-US" dirty="0"/>
              <a:t> </a:t>
            </a:r>
            <a:r>
              <a:rPr lang="en-US" dirty="0" err="1"/>
              <a:t>và</a:t>
            </a:r>
            <a:r>
              <a:rPr lang="en-US" dirty="0"/>
              <a:t> </a:t>
            </a:r>
            <a:r>
              <a:rPr lang="en-US" dirty="0" err="1"/>
              <a:t>khởi</a:t>
            </a:r>
            <a:r>
              <a:rPr lang="en-US" dirty="0"/>
              <a:t> </a:t>
            </a:r>
            <a:r>
              <a:rPr lang="en-US" dirty="0" err="1"/>
              <a:t>chạy</a:t>
            </a:r>
            <a:r>
              <a:rPr lang="en-US" dirty="0"/>
              <a:t> Batch Job</a:t>
            </a:r>
          </a:p>
          <a:p>
            <a:pPr marL="171450" indent="-171450">
              <a:buFont typeface="Arial" panose="020B0604020202020204" pitchFamily="34" charset="0"/>
              <a:buChar char="•"/>
            </a:pPr>
            <a:r>
              <a:rPr lang="en-US" dirty="0"/>
              <a:t>Batch Infrastructure </a:t>
            </a:r>
            <a:r>
              <a:rPr lang="en-US" dirty="0" err="1"/>
              <a:t>chứa</a:t>
            </a:r>
            <a:r>
              <a:rPr lang="en-US" dirty="0"/>
              <a:t> </a:t>
            </a:r>
            <a:r>
              <a:rPr lang="en-US" dirty="0" err="1"/>
              <a:t>các</a:t>
            </a:r>
            <a:r>
              <a:rPr lang="en-US" dirty="0"/>
              <a:t> </a:t>
            </a:r>
            <a:r>
              <a:rPr lang="en-US" dirty="0" err="1"/>
              <a:t>trình</a:t>
            </a:r>
            <a:r>
              <a:rPr lang="en-US" dirty="0"/>
              <a:t> </a:t>
            </a:r>
            <a:r>
              <a:rPr lang="en-US" dirty="0" err="1"/>
              <a:t>đọc</a:t>
            </a:r>
            <a:r>
              <a:rPr lang="en-US" dirty="0"/>
              <a:t>, </a:t>
            </a:r>
            <a:r>
              <a:rPr lang="en-US" dirty="0" err="1"/>
              <a:t>ghi</a:t>
            </a:r>
            <a:r>
              <a:rPr lang="en-US" dirty="0"/>
              <a:t> </a:t>
            </a:r>
            <a:r>
              <a:rPr lang="en-US" dirty="0" err="1"/>
              <a:t>và</a:t>
            </a:r>
            <a:r>
              <a:rPr lang="en-US" dirty="0"/>
              <a:t> </a:t>
            </a:r>
            <a:r>
              <a:rPr lang="en-US" dirty="0" err="1"/>
              <a:t>các</a:t>
            </a:r>
            <a:r>
              <a:rPr lang="en-US" dirty="0"/>
              <a:t> service </a:t>
            </a:r>
            <a:r>
              <a:rPr lang="en-US" dirty="0" err="1"/>
              <a:t>được</a:t>
            </a:r>
            <a:r>
              <a:rPr lang="en-US" dirty="0"/>
              <a:t> </a:t>
            </a:r>
            <a:r>
              <a:rPr lang="en-US" dirty="0" err="1"/>
              <a:t>sử</a:t>
            </a:r>
            <a:r>
              <a:rPr lang="en-US" dirty="0"/>
              <a:t> </a:t>
            </a:r>
            <a:r>
              <a:rPr lang="en-US" dirty="0" err="1"/>
              <a:t>dụng</a:t>
            </a:r>
            <a:r>
              <a:rPr lang="en-US" dirty="0"/>
              <a:t> </a:t>
            </a:r>
            <a:r>
              <a:rPr lang="en-US" dirty="0" err="1"/>
              <a:t>bởi</a:t>
            </a:r>
            <a:r>
              <a:rPr lang="en-US" dirty="0"/>
              <a:t> </a:t>
            </a:r>
            <a:r>
              <a:rPr lang="en-US" dirty="0" err="1"/>
              <a:t>cả</a:t>
            </a:r>
            <a:r>
              <a:rPr lang="en-US" dirty="0"/>
              <a:t> Application </a:t>
            </a:r>
            <a:r>
              <a:rPr lang="en-US" dirty="0" err="1"/>
              <a:t>và</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Batch Core.</a:t>
            </a:r>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42</a:t>
            </a:fld>
            <a:endParaRPr lang="en-US">
              <a:solidFill>
                <a:prstClr val="black"/>
              </a:solidFill>
            </a:endParaRPr>
          </a:p>
        </p:txBody>
      </p:sp>
    </p:spTree>
    <p:extLst>
      <p:ext uri="{BB962C8B-B14F-4D97-AF65-F5344CB8AC3E}">
        <p14:creationId xmlns:p14="http://schemas.microsoft.com/office/powerpoint/2010/main" val="15128174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lgn="just">
              <a:buFont typeface="Arial" panose="020B0604020202020204" pitchFamily="34" charset="0"/>
              <a:buChar char="•"/>
            </a:pPr>
            <a:r>
              <a:rPr lang="en-US" i="1" dirty="0"/>
              <a:t>Job</a:t>
            </a:r>
            <a:r>
              <a:rPr lang="en-US" dirty="0"/>
              <a:t> </a:t>
            </a:r>
            <a:r>
              <a:rPr lang="en-US" dirty="0" err="1"/>
              <a:t>là</a:t>
            </a:r>
            <a:r>
              <a:rPr lang="en-US" dirty="0"/>
              <a:t> </a:t>
            </a:r>
            <a:r>
              <a:rPr lang="en-US" dirty="0" err="1"/>
              <a:t>một</a:t>
            </a:r>
            <a:r>
              <a:rPr lang="en-US" dirty="0"/>
              <a:t> </a:t>
            </a:r>
            <a:r>
              <a:rPr lang="en-US" dirty="0" err="1"/>
              <a:t>xử</a:t>
            </a:r>
            <a:r>
              <a:rPr lang="en-US" dirty="0"/>
              <a:t> </a:t>
            </a:r>
            <a:r>
              <a:rPr lang="en-US" dirty="0" err="1"/>
              <a:t>lý</a:t>
            </a:r>
            <a:r>
              <a:rPr lang="en-US" dirty="0"/>
              <a:t> batch </a:t>
            </a:r>
            <a:r>
              <a:rPr lang="en-US" dirty="0" err="1"/>
              <a:t>sẽ</a:t>
            </a:r>
            <a:r>
              <a:rPr lang="en-US" dirty="0"/>
              <a:t> </a:t>
            </a:r>
            <a:r>
              <a:rPr lang="en-US" dirty="0" err="1"/>
              <a:t>được</a:t>
            </a:r>
            <a:r>
              <a:rPr lang="en-US" dirty="0"/>
              <a:t> </a:t>
            </a:r>
            <a:r>
              <a:rPr lang="en-US" dirty="0" err="1"/>
              <a:t>thực</a:t>
            </a:r>
            <a:r>
              <a:rPr lang="en-US" dirty="0"/>
              <a:t> thi, </a:t>
            </a:r>
            <a:r>
              <a:rPr lang="en-US" dirty="0" err="1"/>
              <a:t>nó</a:t>
            </a:r>
            <a:r>
              <a:rPr lang="en-US" dirty="0"/>
              <a:t> </a:t>
            </a:r>
            <a:r>
              <a:rPr lang="en-US" dirty="0" err="1"/>
              <a:t>chạy</a:t>
            </a:r>
            <a:r>
              <a:rPr lang="en-US" dirty="0"/>
              <a:t> </a:t>
            </a:r>
            <a:r>
              <a:rPr lang="en-US" dirty="0" err="1"/>
              <a:t>từ</a:t>
            </a:r>
            <a:r>
              <a:rPr lang="en-US" dirty="0"/>
              <a:t> </a:t>
            </a:r>
            <a:r>
              <a:rPr lang="en-US" dirty="0" err="1"/>
              <a:t>đầu</a:t>
            </a:r>
            <a:r>
              <a:rPr lang="en-US" dirty="0"/>
              <a:t> </a:t>
            </a:r>
            <a:r>
              <a:rPr lang="en-US" dirty="0" err="1"/>
              <a:t>đến</a:t>
            </a:r>
            <a:r>
              <a:rPr lang="en-US" dirty="0"/>
              <a:t> </a:t>
            </a:r>
            <a:r>
              <a:rPr lang="en-US" dirty="0" err="1"/>
              <a:t>cuối</a:t>
            </a:r>
            <a:r>
              <a:rPr lang="en-US" dirty="0"/>
              <a:t> </a:t>
            </a:r>
            <a:r>
              <a:rPr lang="en-US" dirty="0" err="1"/>
              <a:t>mà</a:t>
            </a:r>
            <a:r>
              <a:rPr lang="en-US" dirty="0"/>
              <a:t> </a:t>
            </a:r>
            <a:r>
              <a:rPr lang="en-US" dirty="0" err="1"/>
              <a:t>không</a:t>
            </a:r>
            <a:r>
              <a:rPr lang="en-US" dirty="0"/>
              <a:t> </a:t>
            </a:r>
            <a:r>
              <a:rPr lang="en-US" dirty="0" err="1"/>
              <a:t>bị</a:t>
            </a:r>
            <a:r>
              <a:rPr lang="en-US" dirty="0"/>
              <a:t> </a:t>
            </a:r>
            <a:r>
              <a:rPr lang="en-US" dirty="0" err="1"/>
              <a:t>gián</a:t>
            </a:r>
            <a:r>
              <a:rPr lang="en-US" dirty="0"/>
              <a:t> </a:t>
            </a:r>
            <a:r>
              <a:rPr lang="en-US" dirty="0" err="1"/>
              <a:t>đoạn</a:t>
            </a:r>
            <a:r>
              <a:rPr lang="en-US" dirty="0"/>
              <a:t>. </a:t>
            </a:r>
            <a:r>
              <a:rPr lang="en-US" dirty="0" err="1"/>
              <a:t>Mỗi</a:t>
            </a:r>
            <a:r>
              <a:rPr lang="en-US" dirty="0"/>
              <a:t> </a:t>
            </a:r>
            <a:r>
              <a:rPr lang="en-US" i="1" dirty="0"/>
              <a:t>Job</a:t>
            </a:r>
            <a:r>
              <a:rPr lang="en-US" dirty="0"/>
              <a:t> </a:t>
            </a:r>
            <a:r>
              <a:rPr lang="en-US" dirty="0" err="1"/>
              <a:t>có</a:t>
            </a:r>
            <a:r>
              <a:rPr lang="en-US" dirty="0"/>
              <a:t> </a:t>
            </a:r>
            <a:r>
              <a:rPr lang="en-US" dirty="0" err="1"/>
              <a:t>một</a:t>
            </a:r>
            <a:r>
              <a:rPr lang="en-US" dirty="0"/>
              <a:t> </a:t>
            </a:r>
            <a:r>
              <a:rPr lang="en-US" dirty="0" err="1"/>
              <a:t>hoặc</a:t>
            </a:r>
            <a:r>
              <a:rPr lang="en-US" dirty="0"/>
              <a:t> </a:t>
            </a:r>
            <a:r>
              <a:rPr lang="en-US" dirty="0" err="1"/>
              <a:t>nhiều</a:t>
            </a:r>
            <a:r>
              <a:rPr lang="en-US" dirty="0"/>
              <a:t> </a:t>
            </a:r>
            <a:r>
              <a:rPr lang="en-US" i="1" dirty="0"/>
              <a:t>Step</a:t>
            </a:r>
            <a:r>
              <a:rPr lang="en-US" dirty="0"/>
              <a:t>.</a:t>
            </a:r>
          </a:p>
          <a:p>
            <a:pPr marL="171450" indent="-171450" algn="just">
              <a:buFont typeface="Arial" panose="020B0604020202020204" pitchFamily="34" charset="0"/>
              <a:buChar char="•"/>
            </a:pPr>
            <a:r>
              <a:rPr lang="en-US" i="1" dirty="0"/>
              <a:t>Step</a:t>
            </a:r>
            <a:r>
              <a:rPr lang="en-US" dirty="0"/>
              <a:t> </a:t>
            </a:r>
            <a:r>
              <a:rPr lang="en-US" dirty="0" err="1"/>
              <a:t>là</a:t>
            </a:r>
            <a:r>
              <a:rPr lang="en-US" dirty="0"/>
              <a:t> </a:t>
            </a:r>
            <a:r>
              <a:rPr lang="en-US" dirty="0" err="1"/>
              <a:t>một</a:t>
            </a:r>
            <a:r>
              <a:rPr lang="en-US" dirty="0"/>
              <a:t> </a:t>
            </a:r>
            <a:r>
              <a:rPr lang="en-US" dirty="0" err="1"/>
              <a:t>phần</a:t>
            </a:r>
            <a:r>
              <a:rPr lang="en-US" dirty="0"/>
              <a:t> </a:t>
            </a:r>
            <a:r>
              <a:rPr lang="en-US" dirty="0" err="1"/>
              <a:t>độc</a:t>
            </a:r>
            <a:r>
              <a:rPr lang="en-US" dirty="0"/>
              <a:t> </a:t>
            </a:r>
            <a:r>
              <a:rPr lang="en-US" dirty="0" err="1"/>
              <a:t>lập</a:t>
            </a:r>
            <a:r>
              <a:rPr lang="en-US" dirty="0"/>
              <a:t> </a:t>
            </a:r>
            <a:r>
              <a:rPr lang="en-US" dirty="0" err="1"/>
              <a:t>của</a:t>
            </a:r>
            <a:r>
              <a:rPr lang="en-US" dirty="0"/>
              <a:t> </a:t>
            </a:r>
            <a:r>
              <a:rPr lang="en-US" i="1" dirty="0"/>
              <a:t>Job</a:t>
            </a:r>
            <a:r>
              <a:rPr lang="en-US" dirty="0"/>
              <a:t> </a:t>
            </a:r>
            <a:r>
              <a:rPr lang="en-US" dirty="0" err="1"/>
              <a:t>mà</a:t>
            </a:r>
            <a:r>
              <a:rPr lang="en-US" dirty="0"/>
              <a:t> </a:t>
            </a:r>
            <a:r>
              <a:rPr lang="en-US" dirty="0" err="1"/>
              <a:t>bao</a:t>
            </a:r>
            <a:r>
              <a:rPr lang="en-US" dirty="0"/>
              <a:t> </a:t>
            </a:r>
            <a:r>
              <a:rPr lang="en-US" dirty="0" err="1"/>
              <a:t>gồm</a:t>
            </a:r>
            <a:r>
              <a:rPr lang="en-US" dirty="0"/>
              <a:t> </a:t>
            </a:r>
            <a:r>
              <a:rPr lang="en-US" dirty="0" err="1"/>
              <a:t>những</a:t>
            </a:r>
            <a:r>
              <a:rPr lang="en-US" dirty="0"/>
              <a:t> </a:t>
            </a:r>
            <a:r>
              <a:rPr lang="en-US" dirty="0" err="1"/>
              <a:t>thông</a:t>
            </a:r>
            <a:r>
              <a:rPr lang="en-US" dirty="0"/>
              <a:t> tin </a:t>
            </a:r>
            <a:r>
              <a:rPr lang="en-US" dirty="0" err="1"/>
              <a:t>cần</a:t>
            </a:r>
            <a:r>
              <a:rPr lang="en-US" dirty="0"/>
              <a:t> </a:t>
            </a:r>
            <a:r>
              <a:rPr lang="en-US" dirty="0" err="1"/>
              <a:t>thiết</a:t>
            </a:r>
            <a:r>
              <a:rPr lang="en-US" dirty="0"/>
              <a:t> </a:t>
            </a:r>
            <a:r>
              <a:rPr lang="en-US" dirty="0" err="1"/>
              <a:t>để</a:t>
            </a:r>
            <a:r>
              <a:rPr lang="en-US" dirty="0"/>
              <a:t> </a:t>
            </a:r>
            <a:r>
              <a:rPr lang="en-US" dirty="0" err="1"/>
              <a:t>định</a:t>
            </a:r>
            <a:r>
              <a:rPr lang="en-US" dirty="0"/>
              <a:t> </a:t>
            </a:r>
            <a:r>
              <a:rPr lang="en-US" dirty="0" err="1"/>
              <a:t>nghĩa</a:t>
            </a:r>
            <a:r>
              <a:rPr lang="en-US" dirty="0"/>
              <a:t> </a:t>
            </a:r>
            <a:r>
              <a:rPr lang="en-US" dirty="0" err="1"/>
              <a:t>và</a:t>
            </a:r>
            <a:r>
              <a:rPr lang="en-US" dirty="0"/>
              <a:t> </a:t>
            </a:r>
            <a:r>
              <a:rPr lang="en-US" dirty="0" err="1"/>
              <a:t>thực</a:t>
            </a:r>
            <a:r>
              <a:rPr lang="en-US" dirty="0"/>
              <a:t> thi </a:t>
            </a:r>
            <a:r>
              <a:rPr lang="en-US" i="1" dirty="0"/>
              <a:t>Job</a:t>
            </a:r>
            <a:r>
              <a:rPr lang="en-US" dirty="0"/>
              <a:t>. </a:t>
            </a:r>
            <a:r>
              <a:rPr lang="en-US" dirty="0" err="1"/>
              <a:t>Mỗi</a:t>
            </a:r>
            <a:r>
              <a:rPr lang="en-US" dirty="0"/>
              <a:t> </a:t>
            </a:r>
            <a:r>
              <a:rPr lang="en-US" i="1" dirty="0"/>
              <a:t>Step </a:t>
            </a:r>
            <a:r>
              <a:rPr lang="en-US" dirty="0" err="1"/>
              <a:t>thuộc</a:t>
            </a:r>
            <a:r>
              <a:rPr lang="en-US" dirty="0"/>
              <a:t> </a:t>
            </a:r>
            <a:r>
              <a:rPr lang="en-US" dirty="0" err="1"/>
              <a:t>về</a:t>
            </a:r>
            <a:r>
              <a:rPr lang="en-US" dirty="0"/>
              <a:t> </a:t>
            </a:r>
            <a:r>
              <a:rPr lang="en-US" dirty="0" err="1"/>
              <a:t>một</a:t>
            </a:r>
            <a:r>
              <a:rPr lang="en-US" dirty="0"/>
              <a:t> </a:t>
            </a:r>
            <a:r>
              <a:rPr lang="en-US" i="1" dirty="0"/>
              <a:t>Job</a:t>
            </a:r>
            <a:r>
              <a:rPr lang="en-US" dirty="0"/>
              <a:t>.</a:t>
            </a:r>
          </a:p>
          <a:p>
            <a:pPr marL="171450" indent="-171450" algn="just">
              <a:buFont typeface="Arial" panose="020B0604020202020204" pitchFamily="34" charset="0"/>
              <a:buChar char="•"/>
            </a:pPr>
            <a:r>
              <a:rPr lang="en-US" i="1" dirty="0" err="1"/>
              <a:t>ItemReader</a:t>
            </a:r>
            <a:r>
              <a:rPr lang="en-US" dirty="0"/>
              <a:t> </a:t>
            </a:r>
            <a:r>
              <a:rPr lang="en-US" dirty="0" err="1"/>
              <a:t>đọc</a:t>
            </a:r>
            <a:r>
              <a:rPr lang="en-US" dirty="0"/>
              <a:t> </a:t>
            </a:r>
            <a:r>
              <a:rPr lang="en-US" dirty="0" err="1"/>
              <a:t>dữ</a:t>
            </a:r>
            <a:r>
              <a:rPr lang="en-US" dirty="0"/>
              <a:t> </a:t>
            </a:r>
            <a:r>
              <a:rPr lang="en-US" dirty="0" err="1"/>
              <a:t>liệu</a:t>
            </a:r>
            <a:r>
              <a:rPr lang="en-US" dirty="0"/>
              <a:t> </a:t>
            </a:r>
            <a:r>
              <a:rPr lang="en-US" dirty="0" err="1"/>
              <a:t>vào</a:t>
            </a:r>
            <a:r>
              <a:rPr lang="en-US" dirty="0"/>
              <a:t> </a:t>
            </a:r>
            <a:r>
              <a:rPr lang="en-US" dirty="0" err="1"/>
              <a:t>ứng</a:t>
            </a:r>
            <a:r>
              <a:rPr lang="en-US" dirty="0"/>
              <a:t> </a:t>
            </a:r>
            <a:r>
              <a:rPr lang="en-US" dirty="0" err="1"/>
              <a:t>dụng</a:t>
            </a:r>
            <a:r>
              <a:rPr lang="en-US" dirty="0"/>
              <a:t> Spring Batch </a:t>
            </a:r>
            <a:r>
              <a:rPr lang="en-US" dirty="0" err="1"/>
              <a:t>từ</a:t>
            </a:r>
            <a:r>
              <a:rPr lang="en-US" dirty="0"/>
              <a:t> </a:t>
            </a:r>
            <a:r>
              <a:rPr lang="en-US" dirty="0" err="1"/>
              <a:t>một</a:t>
            </a:r>
            <a:r>
              <a:rPr lang="en-US" dirty="0"/>
              <a:t> </a:t>
            </a:r>
            <a:r>
              <a:rPr lang="en-US" dirty="0" err="1"/>
              <a:t>nguồn</a:t>
            </a:r>
            <a:r>
              <a:rPr lang="en-US" dirty="0"/>
              <a:t> </a:t>
            </a:r>
            <a:r>
              <a:rPr lang="en-US" dirty="0" err="1"/>
              <a:t>cụ</a:t>
            </a:r>
            <a:r>
              <a:rPr lang="en-US" dirty="0"/>
              <a:t> </a:t>
            </a:r>
            <a:r>
              <a:rPr lang="en-US" dirty="0" err="1"/>
              <a:t>thể</a:t>
            </a:r>
            <a:r>
              <a:rPr lang="en-US" dirty="0"/>
              <a:t>. </a:t>
            </a:r>
            <a:r>
              <a:rPr lang="en-US" dirty="0" err="1"/>
              <a:t>Một</a:t>
            </a:r>
            <a:r>
              <a:rPr lang="en-US" dirty="0"/>
              <a:t> </a:t>
            </a:r>
            <a:r>
              <a:rPr lang="en-US" i="1" dirty="0" err="1"/>
              <a:t>ItemReader</a:t>
            </a:r>
            <a:r>
              <a:rPr lang="en-US" dirty="0"/>
              <a:t> </a:t>
            </a:r>
            <a:r>
              <a:rPr lang="en-US" dirty="0" err="1"/>
              <a:t>thuộc</a:t>
            </a:r>
            <a:r>
              <a:rPr lang="en-US" dirty="0"/>
              <a:t> </a:t>
            </a:r>
            <a:r>
              <a:rPr lang="en-US" dirty="0" err="1"/>
              <a:t>về</a:t>
            </a:r>
            <a:r>
              <a:rPr lang="en-US" dirty="0"/>
              <a:t> </a:t>
            </a:r>
            <a:r>
              <a:rPr lang="en-US" dirty="0" err="1"/>
              <a:t>một</a:t>
            </a:r>
            <a:r>
              <a:rPr lang="en-US" dirty="0"/>
              <a:t> </a:t>
            </a:r>
            <a:r>
              <a:rPr lang="en-US" i="1" dirty="0"/>
              <a:t>Step </a:t>
            </a:r>
            <a:r>
              <a:rPr lang="en-US" dirty="0" err="1"/>
              <a:t>và</a:t>
            </a:r>
            <a:r>
              <a:rPr lang="en-US" dirty="0"/>
              <a:t> </a:t>
            </a:r>
            <a:r>
              <a:rPr lang="en-US" dirty="0" err="1"/>
              <a:t>mỗi</a:t>
            </a:r>
            <a:r>
              <a:rPr lang="en-US" dirty="0"/>
              <a:t> </a:t>
            </a:r>
            <a:r>
              <a:rPr lang="en-US" i="1" dirty="0"/>
              <a:t>Step </a:t>
            </a:r>
            <a:r>
              <a:rPr lang="en-US" dirty="0" err="1"/>
              <a:t>chỉ</a:t>
            </a:r>
            <a:r>
              <a:rPr lang="en-US" dirty="0"/>
              <a:t> </a:t>
            </a:r>
            <a:r>
              <a:rPr lang="en-US" dirty="0" err="1"/>
              <a:t>có</a:t>
            </a:r>
            <a:r>
              <a:rPr lang="en-US" dirty="0"/>
              <a:t> </a:t>
            </a:r>
            <a:r>
              <a:rPr lang="en-US" dirty="0" err="1"/>
              <a:t>một</a:t>
            </a:r>
            <a:r>
              <a:rPr lang="en-US" dirty="0"/>
              <a:t> </a:t>
            </a:r>
            <a:r>
              <a:rPr lang="en-US" i="1" dirty="0" err="1"/>
              <a:t>ItemReader</a:t>
            </a:r>
            <a:r>
              <a:rPr lang="en-US" i="1" dirty="0"/>
              <a:t>.</a:t>
            </a:r>
          </a:p>
          <a:p>
            <a:pPr marL="171450" indent="-171450" algn="just">
              <a:buFont typeface="Arial" panose="020B0604020202020204" pitchFamily="34" charset="0"/>
              <a:buChar char="•"/>
            </a:pPr>
            <a:r>
              <a:rPr lang="en-US" i="1" dirty="0" err="1"/>
              <a:t>ItemWriter</a:t>
            </a:r>
            <a:r>
              <a:rPr lang="en-US" dirty="0"/>
              <a:t> </a:t>
            </a:r>
            <a:r>
              <a:rPr lang="en-US" dirty="0" err="1"/>
              <a:t>ghi</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ứng</a:t>
            </a:r>
            <a:r>
              <a:rPr lang="en-US" dirty="0"/>
              <a:t> </a:t>
            </a:r>
            <a:r>
              <a:rPr lang="en-US" dirty="0" err="1"/>
              <a:t>dụng</a:t>
            </a:r>
            <a:r>
              <a:rPr lang="en-US" dirty="0"/>
              <a:t> Spring Batch </a:t>
            </a:r>
            <a:r>
              <a:rPr lang="en-US" dirty="0" err="1"/>
              <a:t>vào</a:t>
            </a:r>
            <a:r>
              <a:rPr lang="en-US" dirty="0"/>
              <a:t> </a:t>
            </a:r>
            <a:r>
              <a:rPr lang="en-US" dirty="0" err="1"/>
              <a:t>một</a:t>
            </a:r>
            <a:r>
              <a:rPr lang="en-US" dirty="0"/>
              <a:t> </a:t>
            </a:r>
            <a:r>
              <a:rPr lang="en-US" dirty="0" err="1"/>
              <a:t>đích</a:t>
            </a:r>
            <a:r>
              <a:rPr lang="en-US" dirty="0"/>
              <a:t> </a:t>
            </a:r>
            <a:r>
              <a:rPr lang="en-US" dirty="0" err="1"/>
              <a:t>đến</a:t>
            </a:r>
            <a:r>
              <a:rPr lang="en-US" dirty="0"/>
              <a:t> </a:t>
            </a:r>
            <a:r>
              <a:rPr lang="en-US" dirty="0" err="1"/>
              <a:t>cụ</a:t>
            </a:r>
            <a:r>
              <a:rPr lang="en-US" dirty="0"/>
              <a:t> </a:t>
            </a:r>
            <a:r>
              <a:rPr lang="en-US" dirty="0" err="1"/>
              <a:t>thể</a:t>
            </a:r>
            <a:r>
              <a:rPr lang="en-US" dirty="0"/>
              <a:t>. </a:t>
            </a:r>
            <a:r>
              <a:rPr lang="en-US" dirty="0" err="1"/>
              <a:t>Một</a:t>
            </a:r>
            <a:r>
              <a:rPr lang="en-US" dirty="0"/>
              <a:t> </a:t>
            </a:r>
            <a:r>
              <a:rPr lang="en-US" i="1" dirty="0" err="1"/>
              <a:t>ItemWriter</a:t>
            </a:r>
            <a:r>
              <a:rPr lang="en-US" dirty="0"/>
              <a:t> </a:t>
            </a:r>
            <a:r>
              <a:rPr lang="en-US" dirty="0" err="1"/>
              <a:t>thuộc</a:t>
            </a:r>
            <a:r>
              <a:rPr lang="en-US" dirty="0"/>
              <a:t> </a:t>
            </a:r>
            <a:r>
              <a:rPr lang="en-US" dirty="0" err="1"/>
              <a:t>về</a:t>
            </a:r>
            <a:r>
              <a:rPr lang="en-US" dirty="0"/>
              <a:t> </a:t>
            </a:r>
            <a:r>
              <a:rPr lang="en-US" dirty="0" err="1"/>
              <a:t>một</a:t>
            </a:r>
            <a:r>
              <a:rPr lang="en-US" dirty="0"/>
              <a:t> </a:t>
            </a:r>
            <a:r>
              <a:rPr lang="en-US" i="1" dirty="0"/>
              <a:t>Step </a:t>
            </a:r>
            <a:r>
              <a:rPr lang="en-US" dirty="0" err="1"/>
              <a:t>và</a:t>
            </a:r>
            <a:r>
              <a:rPr lang="en-US" dirty="0"/>
              <a:t> </a:t>
            </a:r>
            <a:r>
              <a:rPr lang="en-US" dirty="0" err="1"/>
              <a:t>mỗi</a:t>
            </a:r>
            <a:r>
              <a:rPr lang="en-US" dirty="0"/>
              <a:t> </a:t>
            </a:r>
            <a:r>
              <a:rPr lang="en-US" i="1" dirty="0"/>
              <a:t>Step </a:t>
            </a:r>
            <a:r>
              <a:rPr lang="en-US" dirty="0" err="1"/>
              <a:t>chỉ</a:t>
            </a:r>
            <a:r>
              <a:rPr lang="en-US" dirty="0"/>
              <a:t> </a:t>
            </a:r>
            <a:r>
              <a:rPr lang="en-US" dirty="0" err="1"/>
              <a:t>có</a:t>
            </a:r>
            <a:r>
              <a:rPr lang="en-US" dirty="0"/>
              <a:t> </a:t>
            </a:r>
            <a:r>
              <a:rPr lang="en-US" dirty="0" err="1"/>
              <a:t>một</a:t>
            </a:r>
            <a:r>
              <a:rPr lang="en-US" dirty="0"/>
              <a:t> </a:t>
            </a:r>
            <a:r>
              <a:rPr lang="en-US" i="1" dirty="0" err="1"/>
              <a:t>ItemWriter</a:t>
            </a:r>
            <a:r>
              <a:rPr lang="en-US" dirty="0"/>
              <a:t> .</a:t>
            </a:r>
            <a:endParaRPr lang="en-US" i="1" dirty="0"/>
          </a:p>
          <a:p>
            <a:pPr marL="171450" indent="-171450" algn="just">
              <a:buFont typeface="Arial" panose="020B0604020202020204" pitchFamily="34" charset="0"/>
              <a:buChar char="•"/>
            </a:pPr>
            <a:r>
              <a:rPr lang="en-US" i="1" dirty="0" err="1"/>
              <a:t>ItemProcessor</a:t>
            </a:r>
            <a:r>
              <a:rPr lang="en-US" dirty="0"/>
              <a:t> </a:t>
            </a:r>
            <a:r>
              <a:rPr lang="en-US" dirty="0" err="1"/>
              <a:t>chứa</a:t>
            </a:r>
            <a:r>
              <a:rPr lang="en-US" dirty="0"/>
              <a:t> code </a:t>
            </a:r>
            <a:r>
              <a:rPr lang="en-US" dirty="0" err="1"/>
              <a:t>xử</a:t>
            </a:r>
            <a:r>
              <a:rPr lang="en-US" dirty="0"/>
              <a:t> </a:t>
            </a:r>
            <a:r>
              <a:rPr lang="en-US" dirty="0" err="1"/>
              <a:t>lý</a:t>
            </a:r>
            <a:r>
              <a:rPr lang="en-US" dirty="0"/>
              <a:t> </a:t>
            </a:r>
            <a:r>
              <a:rPr lang="en-US" dirty="0" err="1"/>
              <a:t>mà</a:t>
            </a:r>
            <a:r>
              <a:rPr lang="en-US" dirty="0"/>
              <a:t> </a:t>
            </a:r>
            <a:r>
              <a:rPr lang="en-US" dirty="0" err="1"/>
              <a:t>xử</a:t>
            </a:r>
            <a:r>
              <a:rPr lang="en-US" dirty="0"/>
              <a:t> </a:t>
            </a:r>
            <a:r>
              <a:rPr lang="en-US" dirty="0" err="1"/>
              <a:t>lý</a:t>
            </a:r>
            <a:r>
              <a:rPr lang="en-US" dirty="0"/>
              <a:t>, </a:t>
            </a:r>
            <a:r>
              <a:rPr lang="en-US" dirty="0" err="1"/>
              <a:t>biến</a:t>
            </a:r>
            <a:r>
              <a:rPr lang="en-US" dirty="0"/>
              <a:t> </a:t>
            </a:r>
            <a:r>
              <a:rPr lang="en-US" dirty="0" err="1"/>
              <a:t>đổi</a:t>
            </a:r>
            <a:r>
              <a:rPr lang="en-US" dirty="0"/>
              <a:t> </a:t>
            </a:r>
            <a:r>
              <a:rPr lang="en-US" dirty="0" err="1"/>
              <a:t>các</a:t>
            </a:r>
            <a:r>
              <a:rPr lang="en-US" dirty="0"/>
              <a:t> </a:t>
            </a:r>
            <a:r>
              <a:rPr lang="en-US" dirty="0" err="1"/>
              <a:t>dữ</a:t>
            </a:r>
            <a:r>
              <a:rPr lang="en-US" dirty="0"/>
              <a:t> </a:t>
            </a:r>
            <a:r>
              <a:rPr lang="en-US" dirty="0" err="1"/>
              <a:t>liệu</a:t>
            </a:r>
            <a:r>
              <a:rPr lang="en-US" dirty="0"/>
              <a:t> </a:t>
            </a:r>
            <a:r>
              <a:rPr lang="en-US" dirty="0" err="1"/>
              <a:t>thành</a:t>
            </a:r>
            <a:r>
              <a:rPr lang="en-US" dirty="0"/>
              <a:t> </a:t>
            </a:r>
            <a:r>
              <a:rPr lang="en-US" dirty="0" err="1"/>
              <a:t>một</a:t>
            </a:r>
            <a:r>
              <a:rPr lang="en-US" dirty="0"/>
              <a:t> </a:t>
            </a:r>
            <a:r>
              <a:rPr lang="en-US" dirty="0" err="1"/>
              <a:t>dạng</a:t>
            </a:r>
            <a:r>
              <a:rPr lang="en-US" dirty="0"/>
              <a:t> </a:t>
            </a:r>
            <a:r>
              <a:rPr lang="en-US" dirty="0" err="1"/>
              <a:t>mà</a:t>
            </a:r>
            <a:r>
              <a:rPr lang="en-US" dirty="0"/>
              <a:t> </a:t>
            </a:r>
            <a:r>
              <a:rPr lang="en-US" i="1" dirty="0" err="1"/>
              <a:t>ItemWriter</a:t>
            </a:r>
            <a:r>
              <a:rPr lang="en-US" dirty="0"/>
              <a:t> </a:t>
            </a:r>
            <a:r>
              <a:rPr lang="en-US" dirty="0" err="1"/>
              <a:t>có</a:t>
            </a:r>
            <a:r>
              <a:rPr lang="en-US" dirty="0"/>
              <a:t> </a:t>
            </a:r>
            <a:r>
              <a:rPr lang="en-US" dirty="0" err="1"/>
              <a:t>thể</a:t>
            </a:r>
            <a:r>
              <a:rPr lang="en-US" dirty="0"/>
              <a:t> </a:t>
            </a:r>
            <a:r>
              <a:rPr lang="en-US" dirty="0" err="1"/>
              <a:t>hiểu</a:t>
            </a:r>
            <a:r>
              <a:rPr lang="en-US" dirty="0"/>
              <a:t> </a:t>
            </a:r>
            <a:r>
              <a:rPr lang="en-US" dirty="0" err="1"/>
              <a:t>được</a:t>
            </a:r>
            <a:r>
              <a:rPr lang="en-US" dirty="0"/>
              <a:t>. </a:t>
            </a:r>
            <a:r>
              <a:rPr lang="en-US" dirty="0" err="1"/>
              <a:t>Một</a:t>
            </a:r>
            <a:r>
              <a:rPr lang="en-US" dirty="0"/>
              <a:t> </a:t>
            </a:r>
            <a:r>
              <a:rPr lang="en-US" i="1" dirty="0" err="1"/>
              <a:t>ItemProcessor</a:t>
            </a:r>
            <a:r>
              <a:rPr lang="en-US" dirty="0"/>
              <a:t> </a:t>
            </a:r>
            <a:r>
              <a:rPr lang="en-US" dirty="0" err="1"/>
              <a:t>thuộc</a:t>
            </a:r>
            <a:r>
              <a:rPr lang="en-US" dirty="0"/>
              <a:t> </a:t>
            </a:r>
            <a:r>
              <a:rPr lang="en-US" dirty="0" err="1"/>
              <a:t>về</a:t>
            </a:r>
            <a:r>
              <a:rPr lang="en-US" dirty="0"/>
              <a:t> </a:t>
            </a:r>
            <a:r>
              <a:rPr lang="en-US" dirty="0" err="1"/>
              <a:t>một</a:t>
            </a:r>
            <a:r>
              <a:rPr lang="en-US" dirty="0"/>
              <a:t> </a:t>
            </a:r>
            <a:r>
              <a:rPr lang="en-US" i="1" dirty="0"/>
              <a:t>Step </a:t>
            </a:r>
            <a:r>
              <a:rPr lang="en-US" dirty="0" err="1"/>
              <a:t>và</a:t>
            </a:r>
            <a:r>
              <a:rPr lang="en-US" dirty="0"/>
              <a:t> </a:t>
            </a:r>
            <a:r>
              <a:rPr lang="en-US" dirty="0" err="1"/>
              <a:t>mỗi</a:t>
            </a:r>
            <a:r>
              <a:rPr lang="en-US" dirty="0"/>
              <a:t> </a:t>
            </a:r>
            <a:r>
              <a:rPr lang="en-US" i="1" dirty="0"/>
              <a:t>Step </a:t>
            </a:r>
            <a:r>
              <a:rPr lang="en-US" dirty="0" err="1"/>
              <a:t>chỉ</a:t>
            </a:r>
            <a:r>
              <a:rPr lang="en-US" dirty="0"/>
              <a:t> </a:t>
            </a:r>
            <a:r>
              <a:rPr lang="en-US" dirty="0" err="1"/>
              <a:t>có</a:t>
            </a:r>
            <a:r>
              <a:rPr lang="en-US" dirty="0"/>
              <a:t> </a:t>
            </a:r>
            <a:r>
              <a:rPr lang="en-US" dirty="0" err="1"/>
              <a:t>một</a:t>
            </a:r>
            <a:r>
              <a:rPr lang="en-US" i="1" dirty="0"/>
              <a:t> </a:t>
            </a:r>
            <a:r>
              <a:rPr lang="en-US" i="1" dirty="0" err="1"/>
              <a:t>ItemProcessor</a:t>
            </a:r>
            <a:r>
              <a:rPr lang="en-US" i="1" dirty="0"/>
              <a:t>.</a:t>
            </a:r>
          </a:p>
          <a:p>
            <a:pPr marL="171450" indent="-171450" algn="just">
              <a:buFont typeface="Arial" panose="020B0604020202020204" pitchFamily="34" charset="0"/>
              <a:buChar char="•"/>
            </a:pPr>
            <a:r>
              <a:rPr lang="en-US" i="1" dirty="0" err="1"/>
              <a:t>JobRepositories</a:t>
            </a:r>
            <a:r>
              <a:rPr lang="en-US" dirty="0"/>
              <a:t> </a:t>
            </a:r>
            <a:r>
              <a:rPr lang="en-US" dirty="0" err="1"/>
              <a:t>là</a:t>
            </a:r>
            <a:r>
              <a:rPr lang="en-US" dirty="0"/>
              <a:t> </a:t>
            </a:r>
            <a:r>
              <a:rPr lang="en-US" dirty="0" err="1"/>
              <a:t>lớp</a:t>
            </a:r>
            <a:r>
              <a:rPr lang="en-US" dirty="0"/>
              <a:t> </a:t>
            </a:r>
            <a:r>
              <a:rPr lang="en-US" dirty="0" err="1"/>
              <a:t>trừu</a:t>
            </a:r>
            <a:r>
              <a:rPr lang="en-US" dirty="0"/>
              <a:t> </a:t>
            </a:r>
            <a:r>
              <a:rPr lang="en-US" dirty="0" err="1"/>
              <a:t>tượng</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toán</a:t>
            </a:r>
            <a:r>
              <a:rPr lang="en-US" dirty="0"/>
              <a:t> </a:t>
            </a:r>
            <a:r>
              <a:rPr lang="en-US" dirty="0" err="1"/>
              <a:t>tử</a:t>
            </a:r>
            <a:r>
              <a:rPr lang="en-US" dirty="0"/>
              <a:t> Create, Retrieve, Update </a:t>
            </a:r>
            <a:r>
              <a:rPr lang="en-US" dirty="0" err="1"/>
              <a:t>và</a:t>
            </a:r>
            <a:r>
              <a:rPr lang="en-US" dirty="0"/>
              <a:t> Delete (CRUD) </a:t>
            </a:r>
            <a:r>
              <a:rPr lang="en-US" dirty="0" err="1"/>
              <a:t>cho</a:t>
            </a:r>
            <a:r>
              <a:rPr lang="en-US" dirty="0"/>
              <a:t> </a:t>
            </a:r>
            <a:r>
              <a:rPr lang="en-US" i="1" dirty="0" err="1"/>
              <a:t>JobLauncher</a:t>
            </a:r>
            <a:r>
              <a:rPr lang="en-US" dirty="0"/>
              <a:t>, </a:t>
            </a:r>
            <a:r>
              <a:rPr lang="en-US" i="1" dirty="0"/>
              <a:t>Job</a:t>
            </a:r>
            <a:r>
              <a:rPr lang="en-US" dirty="0"/>
              <a:t> </a:t>
            </a:r>
            <a:r>
              <a:rPr lang="en-US" dirty="0" err="1"/>
              <a:t>và</a:t>
            </a:r>
            <a:r>
              <a:rPr lang="en-US" dirty="0"/>
              <a:t> </a:t>
            </a:r>
            <a:r>
              <a:rPr lang="en-US" i="1" dirty="0"/>
              <a:t>Step</a:t>
            </a:r>
            <a:r>
              <a:rPr lang="en-US" dirty="0"/>
              <a:t>.</a:t>
            </a:r>
          </a:p>
          <a:p>
            <a:pPr marL="171450" indent="-171450" algn="just">
              <a:buFont typeface="Arial" panose="020B0604020202020204" pitchFamily="34" charset="0"/>
              <a:buChar char="•"/>
            </a:pPr>
            <a:r>
              <a:rPr lang="en-US" i="1" dirty="0" err="1"/>
              <a:t>JobLauncher</a:t>
            </a:r>
            <a:r>
              <a:rPr lang="en-US" dirty="0"/>
              <a:t> </a:t>
            </a:r>
            <a:r>
              <a:rPr lang="en-US" dirty="0" err="1"/>
              <a:t>là</a:t>
            </a:r>
            <a:r>
              <a:rPr lang="en-US" dirty="0"/>
              <a:t> </a:t>
            </a:r>
            <a:r>
              <a:rPr lang="en-US" dirty="0" err="1"/>
              <a:t>một</a:t>
            </a:r>
            <a:r>
              <a:rPr lang="en-US" dirty="0"/>
              <a:t> interface </a:t>
            </a:r>
            <a:r>
              <a:rPr lang="en-US" dirty="0" err="1"/>
              <a:t>khởi</a:t>
            </a:r>
            <a:r>
              <a:rPr lang="en-US" dirty="0"/>
              <a:t> </a:t>
            </a:r>
            <a:r>
              <a:rPr lang="en-US" dirty="0" err="1"/>
              <a:t>chạy</a:t>
            </a:r>
            <a:r>
              <a:rPr lang="en-US" dirty="0"/>
              <a:t> Spring Batch Job </a:t>
            </a:r>
            <a:r>
              <a:rPr lang="en-US" dirty="0" err="1"/>
              <a:t>với</a:t>
            </a:r>
            <a:r>
              <a:rPr lang="en-US" dirty="0"/>
              <a:t> </a:t>
            </a:r>
            <a:r>
              <a:rPr lang="en-US" dirty="0" err="1"/>
              <a:t>các</a:t>
            </a:r>
            <a:r>
              <a:rPr lang="en-US" dirty="0"/>
              <a:t> </a:t>
            </a:r>
            <a:r>
              <a:rPr lang="en-US" dirty="0" err="1"/>
              <a:t>tham</a:t>
            </a:r>
            <a:r>
              <a:rPr lang="en-US" dirty="0"/>
              <a:t> </a:t>
            </a:r>
            <a:r>
              <a:rPr lang="en-US" dirty="0" err="1"/>
              <a:t>số</a:t>
            </a:r>
            <a:r>
              <a:rPr lang="en-US" dirty="0"/>
              <a:t> </a:t>
            </a:r>
            <a:r>
              <a:rPr lang="en-US" dirty="0" err="1"/>
              <a:t>nhất</a:t>
            </a:r>
            <a:r>
              <a:rPr lang="en-US" dirty="0"/>
              <a:t> </a:t>
            </a:r>
            <a:r>
              <a:rPr lang="en-US" dirty="0" err="1"/>
              <a:t>định</a:t>
            </a:r>
            <a:r>
              <a:rPr lang="en-US" dirty="0"/>
              <a:t>.</a:t>
            </a:r>
          </a:p>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43</a:t>
            </a:fld>
            <a:endParaRPr lang="en-US">
              <a:solidFill>
                <a:prstClr val="black"/>
              </a:solidFill>
            </a:endParaRPr>
          </a:p>
        </p:txBody>
      </p:sp>
    </p:spTree>
    <p:extLst>
      <p:ext uri="{BB962C8B-B14F-4D97-AF65-F5344CB8AC3E}">
        <p14:creationId xmlns:p14="http://schemas.microsoft.com/office/powerpoint/2010/main" val="25316697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49</a:t>
            </a:fld>
            <a:endParaRPr lang="en-US">
              <a:solidFill>
                <a:prstClr val="black"/>
              </a:solidFill>
            </a:endParaRPr>
          </a:p>
        </p:txBody>
      </p:sp>
    </p:spTree>
    <p:extLst>
      <p:ext uri="{BB962C8B-B14F-4D97-AF65-F5344CB8AC3E}">
        <p14:creationId xmlns:p14="http://schemas.microsoft.com/office/powerpoint/2010/main" val="390935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50</a:t>
            </a:fld>
            <a:endParaRPr lang="en-US">
              <a:solidFill>
                <a:prstClr val="black"/>
              </a:solidFill>
            </a:endParaRPr>
          </a:p>
        </p:txBody>
      </p:sp>
    </p:spTree>
    <p:extLst>
      <p:ext uri="{BB962C8B-B14F-4D97-AF65-F5344CB8AC3E}">
        <p14:creationId xmlns:p14="http://schemas.microsoft.com/office/powerpoint/2010/main" val="30002235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51</a:t>
            </a:fld>
            <a:endParaRPr lang="en-US">
              <a:solidFill>
                <a:prstClr val="black"/>
              </a:solidFill>
            </a:endParaRPr>
          </a:p>
        </p:txBody>
      </p:sp>
    </p:spTree>
    <p:extLst>
      <p:ext uri="{BB962C8B-B14F-4D97-AF65-F5344CB8AC3E}">
        <p14:creationId xmlns:p14="http://schemas.microsoft.com/office/powerpoint/2010/main" val="30627057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en-US" dirty="0" err="1"/>
              <a:t>AuthenticationFilter</a:t>
            </a:r>
            <a:r>
              <a:rPr lang="en-US" dirty="0"/>
              <a:t> </a:t>
            </a:r>
            <a:r>
              <a:rPr lang="en-US" dirty="0" err="1"/>
              <a:t>là</a:t>
            </a:r>
            <a:r>
              <a:rPr lang="en-US" dirty="0"/>
              <a:t> </a:t>
            </a:r>
            <a:r>
              <a:rPr lang="en-US" dirty="0" err="1"/>
              <a:t>bộ</a:t>
            </a:r>
            <a:r>
              <a:rPr lang="en-US" dirty="0"/>
              <a:t> </a:t>
            </a:r>
            <a:r>
              <a:rPr lang="en-US" dirty="0" err="1"/>
              <a:t>lọc</a:t>
            </a:r>
            <a:r>
              <a:rPr lang="en-US" dirty="0"/>
              <a:t> </a:t>
            </a:r>
            <a:r>
              <a:rPr lang="en-US" dirty="0" err="1"/>
              <a:t>chặn</a:t>
            </a:r>
            <a:r>
              <a:rPr lang="en-US" dirty="0"/>
              <a:t> </a:t>
            </a:r>
            <a:r>
              <a:rPr lang="en-US" dirty="0" err="1"/>
              <a:t>các</a:t>
            </a:r>
            <a:r>
              <a:rPr lang="en-US" dirty="0"/>
              <a:t> request </a:t>
            </a:r>
            <a:r>
              <a:rPr lang="en-US" dirty="0" err="1"/>
              <a:t>và</a:t>
            </a:r>
            <a:r>
              <a:rPr lang="en-US" dirty="0"/>
              <a:t> </a:t>
            </a:r>
            <a:r>
              <a:rPr lang="en-US" dirty="0" err="1"/>
              <a:t>thử</a:t>
            </a:r>
            <a:r>
              <a:rPr lang="en-US" dirty="0"/>
              <a:t> </a:t>
            </a:r>
            <a:r>
              <a:rPr lang="en-US" dirty="0" err="1"/>
              <a:t>xác</a:t>
            </a:r>
            <a:r>
              <a:rPr lang="en-US" dirty="0"/>
              <a:t> </a:t>
            </a:r>
            <a:r>
              <a:rPr lang="en-US" dirty="0" err="1"/>
              <a:t>thực</a:t>
            </a:r>
            <a:r>
              <a:rPr lang="en-US" dirty="0"/>
              <a:t> </a:t>
            </a:r>
            <a:r>
              <a:rPr lang="en-US" dirty="0" err="1"/>
              <a:t>nó</a:t>
            </a:r>
            <a:r>
              <a:rPr lang="en-US" dirty="0"/>
              <a:t>.</a:t>
            </a:r>
            <a:r>
              <a:rPr lang="en-US" baseline="0" dirty="0"/>
              <a:t> </a:t>
            </a:r>
            <a:r>
              <a:rPr lang="en-US" dirty="0"/>
              <a:t>Convert </a:t>
            </a:r>
            <a:r>
              <a:rPr lang="en-US" dirty="0" err="1"/>
              <a:t>các</a:t>
            </a:r>
            <a:r>
              <a:rPr lang="en-US" dirty="0"/>
              <a:t> request </a:t>
            </a:r>
            <a:r>
              <a:rPr lang="en-US" dirty="0" err="1"/>
              <a:t>thành</a:t>
            </a:r>
            <a:r>
              <a:rPr lang="en-US" dirty="0"/>
              <a:t> </a:t>
            </a:r>
            <a:r>
              <a:rPr lang="en-US" dirty="0" err="1"/>
              <a:t>một</a:t>
            </a:r>
            <a:r>
              <a:rPr lang="en-US" dirty="0"/>
              <a:t> Authentication Object </a:t>
            </a:r>
            <a:r>
              <a:rPr lang="en-US" dirty="0" err="1"/>
              <a:t>và</a:t>
            </a:r>
            <a:r>
              <a:rPr lang="en-US" dirty="0"/>
              <a:t> </a:t>
            </a:r>
            <a:r>
              <a:rPr lang="en-US" dirty="0" err="1"/>
              <a:t>ủy</a:t>
            </a:r>
            <a:r>
              <a:rPr lang="en-US" dirty="0"/>
              <a:t> </a:t>
            </a:r>
            <a:r>
              <a:rPr lang="en-US" dirty="0" err="1"/>
              <a:t>quyền</a:t>
            </a:r>
            <a:r>
              <a:rPr lang="en-US" dirty="0"/>
              <a:t> </a:t>
            </a:r>
            <a:r>
              <a:rPr lang="en-US" dirty="0" err="1"/>
              <a:t>xác</a:t>
            </a:r>
            <a:r>
              <a:rPr lang="en-US" dirty="0"/>
              <a:t> </a:t>
            </a:r>
            <a:r>
              <a:rPr lang="en-US" dirty="0" err="1"/>
              <a:t>thực</a:t>
            </a:r>
            <a:r>
              <a:rPr lang="en-US" dirty="0"/>
              <a:t> </a:t>
            </a:r>
            <a:r>
              <a:rPr lang="en-US" dirty="0" err="1"/>
              <a:t>cho</a:t>
            </a:r>
            <a:r>
              <a:rPr lang="en-US" dirty="0"/>
              <a:t> </a:t>
            </a:r>
            <a:r>
              <a:rPr lang="en-US" dirty="0" err="1"/>
              <a:t>AuthenticationManager</a:t>
            </a:r>
            <a:endParaRPr lang="en-US" dirty="0"/>
          </a:p>
          <a:p>
            <a:pPr marL="171450" indent="-171450">
              <a:buFont typeface="Arial" panose="020B0604020202020204" pitchFamily="34" charset="0"/>
              <a:buChar char="•"/>
            </a:pPr>
            <a:r>
              <a:rPr lang="en-US" dirty="0" err="1"/>
              <a:t>AuthenticationManager</a:t>
            </a:r>
            <a:r>
              <a:rPr lang="en-US" dirty="0"/>
              <a:t> </a:t>
            </a:r>
            <a:r>
              <a:rPr lang="en-US" dirty="0" err="1"/>
              <a:t>là</a:t>
            </a:r>
            <a:r>
              <a:rPr lang="en-US" dirty="0"/>
              <a:t> interface </a:t>
            </a:r>
            <a:r>
              <a:rPr lang="en-US" dirty="0" err="1"/>
              <a:t>chính</a:t>
            </a:r>
            <a:r>
              <a:rPr lang="en-US" dirty="0"/>
              <a:t> </a:t>
            </a:r>
            <a:r>
              <a:rPr lang="en-US" dirty="0" err="1"/>
              <a:t>cho</a:t>
            </a:r>
            <a:r>
              <a:rPr lang="en-US" dirty="0"/>
              <a:t> </a:t>
            </a:r>
            <a:r>
              <a:rPr lang="en-US" dirty="0" err="1"/>
              <a:t>việc</a:t>
            </a:r>
            <a:r>
              <a:rPr lang="en-US" dirty="0"/>
              <a:t> </a:t>
            </a:r>
            <a:r>
              <a:rPr lang="en-US" dirty="0" err="1"/>
              <a:t>xác</a:t>
            </a:r>
            <a:r>
              <a:rPr lang="en-US" dirty="0"/>
              <a:t> </a:t>
            </a:r>
            <a:r>
              <a:rPr lang="en-US" dirty="0" err="1"/>
              <a:t>thực</a:t>
            </a:r>
            <a:r>
              <a:rPr lang="en-US" dirty="0"/>
              <a:t>.</a:t>
            </a:r>
          </a:p>
          <a:p>
            <a:pPr lvl="1"/>
            <a:r>
              <a:rPr lang="en-US" dirty="0" err="1"/>
              <a:t>Sử</a:t>
            </a:r>
            <a:r>
              <a:rPr lang="en-US" dirty="0"/>
              <a:t> </a:t>
            </a:r>
            <a:r>
              <a:rPr lang="en-US" dirty="0" err="1"/>
              <a:t>dụng</a:t>
            </a:r>
            <a:r>
              <a:rPr lang="en-US" dirty="0"/>
              <a:t> method authenticate() </a:t>
            </a:r>
            <a:r>
              <a:rPr lang="en-US" dirty="0" err="1"/>
              <a:t>để</a:t>
            </a:r>
            <a:r>
              <a:rPr lang="en-US" dirty="0"/>
              <a:t> </a:t>
            </a:r>
            <a:r>
              <a:rPr lang="en-US" dirty="0" err="1"/>
              <a:t>xác</a:t>
            </a:r>
            <a:r>
              <a:rPr lang="en-US" dirty="0"/>
              <a:t> </a:t>
            </a:r>
            <a:r>
              <a:rPr lang="en-US" dirty="0" err="1"/>
              <a:t>thực</a:t>
            </a:r>
            <a:r>
              <a:rPr lang="en-US" dirty="0"/>
              <a:t> </a:t>
            </a:r>
            <a:r>
              <a:rPr lang="en-US" dirty="0" err="1"/>
              <a:t>các</a:t>
            </a:r>
            <a:r>
              <a:rPr lang="en-US" dirty="0"/>
              <a:t> request.</a:t>
            </a:r>
          </a:p>
          <a:p>
            <a:pPr lvl="1"/>
            <a:r>
              <a:rPr lang="en-US" dirty="0"/>
              <a:t>Method authenticate() </a:t>
            </a:r>
            <a:r>
              <a:rPr lang="en-US" dirty="0" err="1"/>
              <a:t>thực</a:t>
            </a:r>
            <a:r>
              <a:rPr lang="en-US" dirty="0"/>
              <a:t> </a:t>
            </a:r>
            <a:r>
              <a:rPr lang="en-US" dirty="0" err="1"/>
              <a:t>hiện</a:t>
            </a:r>
            <a:r>
              <a:rPr lang="en-US" dirty="0"/>
              <a:t> </a:t>
            </a:r>
            <a:r>
              <a:rPr lang="en-US" dirty="0" err="1"/>
              <a:t>xác</a:t>
            </a:r>
            <a:r>
              <a:rPr lang="en-US" dirty="0"/>
              <a:t> </a:t>
            </a:r>
            <a:r>
              <a:rPr lang="en-US" dirty="0" err="1"/>
              <a:t>thực</a:t>
            </a:r>
            <a:endParaRPr lang="en-US" dirty="0"/>
          </a:p>
          <a:p>
            <a:pPr lvl="2"/>
            <a:r>
              <a:rPr lang="en-US" dirty="0" err="1"/>
              <a:t>Xác</a:t>
            </a:r>
            <a:r>
              <a:rPr lang="en-US" dirty="0"/>
              <a:t> </a:t>
            </a:r>
            <a:r>
              <a:rPr lang="en-US" dirty="0" err="1"/>
              <a:t>thực</a:t>
            </a:r>
            <a:r>
              <a:rPr lang="en-US" dirty="0"/>
              <a:t> </a:t>
            </a:r>
            <a:r>
              <a:rPr lang="en-US" dirty="0" err="1"/>
              <a:t>thành</a:t>
            </a:r>
            <a:r>
              <a:rPr lang="en-US" dirty="0"/>
              <a:t> </a:t>
            </a:r>
            <a:r>
              <a:rPr lang="en-US" dirty="0" err="1"/>
              <a:t>công</a:t>
            </a:r>
            <a:r>
              <a:rPr lang="en-US" dirty="0"/>
              <a:t> -&gt; </a:t>
            </a:r>
            <a:r>
              <a:rPr lang="en-US" dirty="0" err="1"/>
              <a:t>trả</a:t>
            </a:r>
            <a:r>
              <a:rPr lang="en-US" dirty="0"/>
              <a:t> </a:t>
            </a:r>
            <a:r>
              <a:rPr lang="en-US" dirty="0" err="1"/>
              <a:t>về</a:t>
            </a:r>
            <a:r>
              <a:rPr lang="en-US" dirty="0"/>
              <a:t> </a:t>
            </a:r>
            <a:r>
              <a:rPr lang="en-US" dirty="0" err="1"/>
              <a:t>một</a:t>
            </a:r>
            <a:r>
              <a:rPr lang="en-US" dirty="0"/>
              <a:t> Authentication Object.</a:t>
            </a:r>
          </a:p>
          <a:p>
            <a:pPr lvl="2"/>
            <a:r>
              <a:rPr lang="en-US" dirty="0" err="1"/>
              <a:t>Xác</a:t>
            </a:r>
            <a:r>
              <a:rPr lang="en-US" dirty="0"/>
              <a:t> </a:t>
            </a:r>
            <a:r>
              <a:rPr lang="en-US" dirty="0" err="1"/>
              <a:t>thực</a:t>
            </a:r>
            <a:r>
              <a:rPr lang="en-US" dirty="0"/>
              <a:t> </a:t>
            </a:r>
            <a:r>
              <a:rPr lang="en-US" dirty="0" err="1"/>
              <a:t>lỗi</a:t>
            </a:r>
            <a:r>
              <a:rPr lang="en-US" dirty="0"/>
              <a:t> -&gt; </a:t>
            </a:r>
            <a:r>
              <a:rPr lang="en-US" dirty="0" err="1"/>
              <a:t>ném</a:t>
            </a:r>
            <a:r>
              <a:rPr lang="en-US" dirty="0"/>
              <a:t> </a:t>
            </a:r>
            <a:r>
              <a:rPr lang="en-US" dirty="0" err="1"/>
              <a:t>một</a:t>
            </a:r>
            <a:r>
              <a:rPr lang="en-US" dirty="0"/>
              <a:t> </a:t>
            </a:r>
            <a:r>
              <a:rPr lang="en-US" dirty="0" err="1"/>
              <a:t>AuthenticationException</a:t>
            </a:r>
            <a:r>
              <a:rPr lang="en-US" dirty="0"/>
              <a:t>.</a:t>
            </a:r>
          </a:p>
          <a:p>
            <a:pPr lvl="1"/>
            <a:r>
              <a:rPr lang="en-US" dirty="0" err="1"/>
              <a:t>Xử</a:t>
            </a:r>
            <a:r>
              <a:rPr lang="en-US" dirty="0"/>
              <a:t> </a:t>
            </a:r>
            <a:r>
              <a:rPr lang="en-US" dirty="0" err="1"/>
              <a:t>lý</a:t>
            </a:r>
            <a:r>
              <a:rPr lang="en-US" dirty="0"/>
              <a:t> </a:t>
            </a:r>
            <a:r>
              <a:rPr lang="en-US" dirty="0" err="1"/>
              <a:t>xác</a:t>
            </a:r>
            <a:r>
              <a:rPr lang="en-US" dirty="0"/>
              <a:t> </a:t>
            </a:r>
            <a:r>
              <a:rPr lang="en-US" dirty="0" err="1"/>
              <a:t>thực</a:t>
            </a:r>
            <a:r>
              <a:rPr lang="en-US" dirty="0"/>
              <a:t> </a:t>
            </a:r>
            <a:r>
              <a:rPr lang="en-US" dirty="0" err="1"/>
              <a:t>được</a:t>
            </a:r>
            <a:r>
              <a:rPr lang="en-US" dirty="0"/>
              <a:t> </a:t>
            </a:r>
            <a:r>
              <a:rPr lang="en-US" dirty="0" err="1"/>
              <a:t>ủy</a:t>
            </a:r>
            <a:r>
              <a:rPr lang="en-US" dirty="0"/>
              <a:t> </a:t>
            </a:r>
            <a:r>
              <a:rPr lang="en-US" dirty="0" err="1"/>
              <a:t>quyền</a:t>
            </a:r>
            <a:r>
              <a:rPr lang="en-US" dirty="0"/>
              <a:t> </a:t>
            </a:r>
            <a:r>
              <a:rPr lang="en-US" dirty="0" err="1"/>
              <a:t>cho</a:t>
            </a:r>
            <a:r>
              <a:rPr lang="en-US" dirty="0"/>
              <a:t> </a:t>
            </a:r>
            <a:r>
              <a:rPr lang="en-US" dirty="0" err="1"/>
              <a:t>AuthenticationProvider</a:t>
            </a:r>
            <a:r>
              <a:rPr lang="en-US" dirty="0"/>
              <a:t>.</a:t>
            </a:r>
          </a:p>
          <a:p>
            <a:pPr marL="171450" indent="-171450">
              <a:buFont typeface="Arial" panose="020B0604020202020204" pitchFamily="34" charset="0"/>
              <a:buChar char="•"/>
            </a:pPr>
            <a:r>
              <a:rPr lang="en-US" dirty="0" err="1"/>
              <a:t>AuthenticationProvider</a:t>
            </a:r>
            <a:r>
              <a:rPr lang="en-US" dirty="0"/>
              <a:t> </a:t>
            </a:r>
            <a:r>
              <a:rPr lang="en-US" dirty="0" err="1"/>
              <a:t>là</a:t>
            </a:r>
            <a:r>
              <a:rPr lang="en-US" dirty="0"/>
              <a:t> </a:t>
            </a:r>
            <a:r>
              <a:rPr lang="en-US" dirty="0" err="1"/>
              <a:t>một</a:t>
            </a:r>
            <a:r>
              <a:rPr lang="en-US" dirty="0"/>
              <a:t> interface </a:t>
            </a:r>
            <a:r>
              <a:rPr lang="en-US" dirty="0" err="1"/>
              <a:t>có</a:t>
            </a:r>
            <a:r>
              <a:rPr lang="en-US" dirty="0"/>
              <a:t> </a:t>
            </a:r>
            <a:r>
              <a:rPr lang="en-US" dirty="0" err="1"/>
              <a:t>phương</a:t>
            </a:r>
            <a:r>
              <a:rPr lang="en-US" dirty="0"/>
              <a:t> </a:t>
            </a:r>
            <a:r>
              <a:rPr lang="en-US" dirty="0" err="1"/>
              <a:t>thức</a:t>
            </a:r>
            <a:r>
              <a:rPr lang="en-US" dirty="0"/>
              <a:t> </a:t>
            </a:r>
            <a:r>
              <a:rPr lang="en-US" dirty="0" err="1"/>
              <a:t>là</a:t>
            </a:r>
            <a:r>
              <a:rPr lang="en-US" dirty="0"/>
              <a:t> authenticate() </a:t>
            </a:r>
            <a:r>
              <a:rPr lang="en-US" dirty="0" err="1"/>
              <a:t>và</a:t>
            </a:r>
            <a:r>
              <a:rPr lang="en-US" dirty="0"/>
              <a:t> supports().</a:t>
            </a:r>
          </a:p>
          <a:p>
            <a:r>
              <a:rPr lang="en-US" dirty="0"/>
              <a:t>	</a:t>
            </a:r>
            <a:r>
              <a:rPr lang="en-US" dirty="0" err="1"/>
              <a:t>Phương</a:t>
            </a:r>
            <a:r>
              <a:rPr lang="en-US" dirty="0"/>
              <a:t> </a:t>
            </a:r>
            <a:r>
              <a:rPr lang="en-US" dirty="0" err="1"/>
              <a:t>thức</a:t>
            </a:r>
            <a:r>
              <a:rPr lang="en-US" dirty="0"/>
              <a:t> support()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kiểm</a:t>
            </a:r>
            <a:r>
              <a:rPr lang="en-US" dirty="0"/>
              <a:t> </a:t>
            </a:r>
            <a:r>
              <a:rPr lang="en-US" dirty="0" err="1"/>
              <a:t>tra</a:t>
            </a:r>
            <a:r>
              <a:rPr lang="en-US" dirty="0"/>
              <a:t> </a:t>
            </a:r>
            <a:r>
              <a:rPr lang="en-US" dirty="0" err="1"/>
              <a:t>loại</a:t>
            </a:r>
            <a:r>
              <a:rPr lang="en-US" dirty="0"/>
              <a:t> </a:t>
            </a:r>
            <a:r>
              <a:rPr lang="en-US" dirty="0" err="1"/>
              <a:t>xác</a:t>
            </a:r>
            <a:r>
              <a:rPr lang="en-US" dirty="0"/>
              <a:t> </a:t>
            </a:r>
            <a:r>
              <a:rPr lang="en-US" dirty="0" err="1"/>
              <a:t>thực</a:t>
            </a:r>
            <a:r>
              <a:rPr lang="en-US" dirty="0"/>
              <a:t> </a:t>
            </a:r>
            <a:r>
              <a:rPr lang="en-US" dirty="0" err="1"/>
              <a:t>cụ</a:t>
            </a:r>
            <a:r>
              <a:rPr lang="en-US" dirty="0"/>
              <a:t> </a:t>
            </a:r>
            <a:r>
              <a:rPr lang="en-US" dirty="0" err="1"/>
              <a:t>thể</a:t>
            </a:r>
            <a:r>
              <a:rPr lang="en-US" dirty="0"/>
              <a:t> </a:t>
            </a:r>
            <a:r>
              <a:rPr lang="en-US" dirty="0" err="1"/>
              <a:t>có</a:t>
            </a:r>
            <a:r>
              <a:rPr lang="en-US" dirty="0"/>
              <a:t> </a:t>
            </a:r>
            <a:r>
              <a:rPr lang="en-US" dirty="0" err="1"/>
              <a:t>được</a:t>
            </a:r>
            <a:r>
              <a:rPr lang="en-US" dirty="0"/>
              <a:t> support </a:t>
            </a:r>
            <a:r>
              <a:rPr lang="en-US" dirty="0" err="1"/>
              <a:t>bởi</a:t>
            </a:r>
            <a:r>
              <a:rPr lang="en-US" dirty="0"/>
              <a:t> Authentication </a:t>
            </a:r>
            <a:r>
              <a:rPr lang="en-US" dirty="0" err="1"/>
              <a:t>không</a:t>
            </a:r>
            <a:r>
              <a:rPr lang="en-US" dirty="0"/>
              <a:t>.</a:t>
            </a:r>
          </a:p>
          <a:p>
            <a:r>
              <a:rPr lang="en-US" dirty="0"/>
              <a:t>	</a:t>
            </a:r>
            <a:r>
              <a:rPr lang="en-US" dirty="0" err="1"/>
              <a:t>Phương</a:t>
            </a:r>
            <a:r>
              <a:rPr lang="en-US" dirty="0"/>
              <a:t> </a:t>
            </a:r>
            <a:r>
              <a:rPr lang="en-US" dirty="0" err="1"/>
              <a:t>thức</a:t>
            </a:r>
            <a:r>
              <a:rPr lang="en-US" dirty="0"/>
              <a:t> authenticate()  </a:t>
            </a:r>
            <a:r>
              <a:rPr lang="en-US" dirty="0" err="1"/>
              <a:t>lấy</a:t>
            </a:r>
            <a:r>
              <a:rPr lang="en-US" dirty="0"/>
              <a:t> </a:t>
            </a:r>
            <a:r>
              <a:rPr lang="en-US" dirty="0" err="1"/>
              <a:t>ra</a:t>
            </a:r>
            <a:r>
              <a:rPr lang="en-US" dirty="0"/>
              <a:t> </a:t>
            </a:r>
            <a:r>
              <a:rPr lang="en-US" dirty="0" err="1"/>
              <a:t>thông</a:t>
            </a:r>
            <a:r>
              <a:rPr lang="en-US" dirty="0"/>
              <a:t> tin user </a:t>
            </a:r>
            <a:r>
              <a:rPr lang="en-US" dirty="0" err="1"/>
              <a:t>bằng</a:t>
            </a:r>
            <a:r>
              <a:rPr lang="en-US" dirty="0"/>
              <a:t> </a:t>
            </a:r>
            <a:r>
              <a:rPr lang="en-US" dirty="0" err="1"/>
              <a:t>cách</a:t>
            </a:r>
            <a:r>
              <a:rPr lang="en-US" dirty="0"/>
              <a:t> </a:t>
            </a:r>
            <a:r>
              <a:rPr lang="en-US" dirty="0" err="1"/>
              <a:t>cách</a:t>
            </a:r>
            <a:r>
              <a:rPr lang="en-US" dirty="0"/>
              <a:t> </a:t>
            </a:r>
            <a:r>
              <a:rPr lang="en-US" dirty="0" err="1"/>
              <a:t>sử</a:t>
            </a:r>
            <a:r>
              <a:rPr lang="en-US" dirty="0"/>
              <a:t> </a:t>
            </a:r>
            <a:r>
              <a:rPr lang="en-US" dirty="0" err="1"/>
              <a:t>dụng</a:t>
            </a:r>
            <a:r>
              <a:rPr lang="en-US" dirty="0"/>
              <a:t> </a:t>
            </a:r>
            <a:r>
              <a:rPr lang="en-US" dirty="0" err="1"/>
              <a:t>phương</a:t>
            </a:r>
            <a:r>
              <a:rPr lang="en-US" dirty="0"/>
              <a:t> </a:t>
            </a:r>
            <a:r>
              <a:rPr lang="en-US" dirty="0" err="1"/>
              <a:t>thức</a:t>
            </a:r>
            <a:r>
              <a:rPr lang="en-US" dirty="0"/>
              <a:t> </a:t>
            </a:r>
            <a:r>
              <a:rPr lang="en-US" dirty="0" err="1"/>
              <a:t>loadUserByUsername</a:t>
            </a:r>
            <a:r>
              <a:rPr lang="en-US" dirty="0"/>
              <a:t>() </a:t>
            </a:r>
            <a:r>
              <a:rPr lang="en-US" dirty="0" err="1"/>
              <a:t>của</a:t>
            </a:r>
            <a:r>
              <a:rPr lang="en-US" dirty="0"/>
              <a:t> </a:t>
            </a:r>
            <a:r>
              <a:rPr lang="en-US" dirty="0" err="1"/>
              <a:t>UserDetailSerivice</a:t>
            </a:r>
            <a:r>
              <a:rPr lang="en-US" dirty="0"/>
              <a:t> </a:t>
            </a:r>
            <a:r>
              <a:rPr lang="en-US" dirty="0" err="1"/>
              <a:t>để</a:t>
            </a:r>
            <a:r>
              <a:rPr lang="en-US" dirty="0"/>
              <a:t> </a:t>
            </a:r>
            <a:r>
              <a:rPr lang="en-US" dirty="0" err="1"/>
              <a:t>xác</a:t>
            </a:r>
            <a:r>
              <a:rPr lang="en-US" dirty="0"/>
              <a:t> </a:t>
            </a:r>
            <a:r>
              <a:rPr lang="en-US" dirty="0" err="1"/>
              <a:t>thực</a:t>
            </a:r>
            <a:r>
              <a:rPr lang="en-US" dirty="0"/>
              <a:t> user.</a:t>
            </a:r>
          </a:p>
          <a:p>
            <a:pPr marL="171450" indent="-171450">
              <a:buFont typeface="Arial" panose="020B0604020202020204" pitchFamily="34" charset="0"/>
              <a:buChar char="•"/>
            </a:pPr>
            <a:r>
              <a:rPr lang="en-US" dirty="0" err="1"/>
              <a:t>UserDetailsService</a:t>
            </a:r>
            <a:r>
              <a:rPr lang="en-US" dirty="0"/>
              <a:t> </a:t>
            </a:r>
            <a:r>
              <a:rPr lang="en-US" dirty="0" err="1"/>
              <a:t>là</a:t>
            </a:r>
            <a:r>
              <a:rPr lang="en-US" dirty="0"/>
              <a:t> </a:t>
            </a:r>
            <a:r>
              <a:rPr lang="en-US" dirty="0" err="1"/>
              <a:t>một</a:t>
            </a:r>
            <a:r>
              <a:rPr lang="en-US" dirty="0"/>
              <a:t> </a:t>
            </a:r>
            <a:r>
              <a:rPr lang="en-US" dirty="0" err="1"/>
              <a:t>trong</a:t>
            </a:r>
            <a:r>
              <a:rPr lang="en-US" dirty="0"/>
              <a:t> </a:t>
            </a:r>
            <a:r>
              <a:rPr lang="en-US" dirty="0" err="1"/>
              <a:t>những</a:t>
            </a:r>
            <a:r>
              <a:rPr lang="en-US" dirty="0"/>
              <a:t> interface </a:t>
            </a:r>
            <a:r>
              <a:rPr lang="en-US" dirty="0" err="1"/>
              <a:t>cốt</a:t>
            </a:r>
            <a:r>
              <a:rPr lang="en-US" dirty="0"/>
              <a:t> </a:t>
            </a:r>
            <a:r>
              <a:rPr lang="en-US" dirty="0" err="1"/>
              <a:t>lõi</a:t>
            </a:r>
            <a:r>
              <a:rPr lang="en-US" dirty="0"/>
              <a:t> </a:t>
            </a:r>
            <a:r>
              <a:rPr lang="en-US" dirty="0" err="1"/>
              <a:t>của</a:t>
            </a:r>
            <a:r>
              <a:rPr lang="en-US" dirty="0"/>
              <a:t> Spring Security. </a:t>
            </a:r>
          </a:p>
          <a:p>
            <a:pPr lvl="1"/>
            <a:r>
              <a:rPr lang="en-US" dirty="0" err="1"/>
              <a:t>Việc</a:t>
            </a:r>
            <a:r>
              <a:rPr lang="en-US" dirty="0"/>
              <a:t> </a:t>
            </a:r>
            <a:r>
              <a:rPr lang="en-US" dirty="0" err="1"/>
              <a:t>xác</a:t>
            </a:r>
            <a:r>
              <a:rPr lang="en-US" dirty="0"/>
              <a:t> </a:t>
            </a:r>
            <a:r>
              <a:rPr lang="en-US" dirty="0" err="1"/>
              <a:t>thực</a:t>
            </a:r>
            <a:r>
              <a:rPr lang="en-US" dirty="0"/>
              <a:t> </a:t>
            </a:r>
            <a:r>
              <a:rPr lang="en-US" dirty="0" err="1"/>
              <a:t>bất</a:t>
            </a:r>
            <a:r>
              <a:rPr lang="en-US" dirty="0"/>
              <a:t> </a:t>
            </a:r>
            <a:r>
              <a:rPr lang="en-US" dirty="0" err="1"/>
              <a:t>kỳ</a:t>
            </a:r>
            <a:r>
              <a:rPr lang="en-US" dirty="0"/>
              <a:t> request </a:t>
            </a:r>
            <a:r>
              <a:rPr lang="en-US" dirty="0" err="1"/>
              <a:t>nào</a:t>
            </a:r>
            <a:r>
              <a:rPr lang="en-US" dirty="0"/>
              <a:t> </a:t>
            </a:r>
            <a:r>
              <a:rPr lang="en-US" dirty="0" err="1"/>
              <a:t>hầu</a:t>
            </a:r>
            <a:r>
              <a:rPr lang="en-US" dirty="0"/>
              <a:t> </a:t>
            </a:r>
            <a:r>
              <a:rPr lang="en-US" dirty="0" err="1"/>
              <a:t>hết</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các</a:t>
            </a:r>
            <a:r>
              <a:rPr lang="en-US" dirty="0"/>
              <a:t> </a:t>
            </a:r>
            <a:r>
              <a:rPr lang="en-US" dirty="0" err="1"/>
              <a:t>lớp</a:t>
            </a:r>
            <a:r>
              <a:rPr lang="en-US" dirty="0"/>
              <a:t> implement </a:t>
            </a:r>
            <a:r>
              <a:rPr lang="en-US" dirty="0" err="1"/>
              <a:t>của</a:t>
            </a:r>
            <a:r>
              <a:rPr lang="en-US" dirty="0"/>
              <a:t> </a:t>
            </a:r>
            <a:r>
              <a:rPr lang="en-US" dirty="0" err="1"/>
              <a:t>UserDetailsService</a:t>
            </a:r>
            <a:r>
              <a:rPr lang="en-US" dirty="0"/>
              <a:t> Interface</a:t>
            </a:r>
          </a:p>
          <a:p>
            <a:pPr lvl="1"/>
            <a:r>
              <a:rPr lang="en-US" dirty="0" err="1"/>
              <a:t>Nó</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phổ</a:t>
            </a:r>
            <a:r>
              <a:rPr lang="en-US" dirty="0"/>
              <a:t> </a:t>
            </a:r>
            <a:r>
              <a:rPr lang="en-US" dirty="0" err="1"/>
              <a:t>biến</a:t>
            </a:r>
            <a:r>
              <a:rPr lang="en-US" dirty="0"/>
              <a:t> </a:t>
            </a:r>
            <a:r>
              <a:rPr lang="en-US" dirty="0" err="1"/>
              <a:t>nhất</a:t>
            </a:r>
            <a:r>
              <a:rPr lang="en-US" dirty="0"/>
              <a:t> </a:t>
            </a:r>
            <a:r>
              <a:rPr lang="en-US" dirty="0" err="1"/>
              <a:t>trong</a:t>
            </a:r>
            <a:r>
              <a:rPr lang="en-US" dirty="0"/>
              <a:t> </a:t>
            </a:r>
            <a:r>
              <a:rPr lang="en-US" dirty="0" err="1"/>
              <a:t>việc</a:t>
            </a:r>
            <a:r>
              <a:rPr lang="en-US" dirty="0"/>
              <a:t> </a:t>
            </a:r>
            <a:r>
              <a:rPr lang="en-US" dirty="0" err="1"/>
              <a:t>xác</a:t>
            </a:r>
            <a:r>
              <a:rPr lang="en-US" dirty="0"/>
              <a:t> </a:t>
            </a:r>
            <a:r>
              <a:rPr lang="en-US" dirty="0" err="1"/>
              <a:t>thực</a:t>
            </a:r>
            <a:r>
              <a:rPr lang="en-US" dirty="0"/>
              <a:t> </a:t>
            </a:r>
            <a:r>
              <a:rPr lang="en-US" dirty="0" err="1"/>
              <a:t>dữ</a:t>
            </a:r>
            <a:r>
              <a:rPr lang="en-US" dirty="0"/>
              <a:t> </a:t>
            </a:r>
            <a:r>
              <a:rPr lang="en-US" dirty="0" err="1"/>
              <a:t>liệu</a:t>
            </a:r>
            <a:r>
              <a:rPr lang="en-US" dirty="0"/>
              <a:t> User </a:t>
            </a:r>
            <a:r>
              <a:rPr lang="en-US" dirty="0" err="1"/>
              <a:t>được</a:t>
            </a:r>
            <a:r>
              <a:rPr lang="en-US" dirty="0"/>
              <a:t> </a:t>
            </a:r>
            <a:r>
              <a:rPr lang="en-US" dirty="0" err="1"/>
              <a:t>lấy</a:t>
            </a:r>
            <a:r>
              <a:rPr lang="en-US" dirty="0"/>
              <a:t> </a:t>
            </a:r>
            <a:r>
              <a:rPr lang="en-US" dirty="0" err="1"/>
              <a:t>từ</a:t>
            </a:r>
            <a:r>
              <a:rPr lang="en-US" dirty="0"/>
              <a:t> database.</a:t>
            </a:r>
          </a:p>
          <a:p>
            <a:pPr lvl="1"/>
            <a:r>
              <a:rPr lang="en-US" dirty="0" err="1"/>
              <a:t>Dữ</a:t>
            </a:r>
            <a:r>
              <a:rPr lang="en-US" dirty="0"/>
              <a:t> </a:t>
            </a:r>
            <a:r>
              <a:rPr lang="en-US" dirty="0" err="1"/>
              <a:t>liệu</a:t>
            </a:r>
            <a:r>
              <a:rPr lang="en-US" dirty="0"/>
              <a:t> </a:t>
            </a:r>
            <a:r>
              <a:rPr lang="en-US" dirty="0" err="1"/>
              <a:t>được</a:t>
            </a:r>
            <a:r>
              <a:rPr lang="en-US" dirty="0"/>
              <a:t> </a:t>
            </a:r>
            <a:r>
              <a:rPr lang="en-US" dirty="0" err="1"/>
              <a:t>truy</a:t>
            </a:r>
            <a:r>
              <a:rPr lang="en-US" dirty="0"/>
              <a:t> </a:t>
            </a:r>
            <a:r>
              <a:rPr lang="en-US" dirty="0" err="1"/>
              <a:t>xuất</a:t>
            </a:r>
            <a:r>
              <a:rPr lang="en-US" dirty="0"/>
              <a:t> </a:t>
            </a:r>
            <a:r>
              <a:rPr lang="en-US" dirty="0" err="1"/>
              <a:t>bằng</a:t>
            </a:r>
            <a:r>
              <a:rPr lang="en-US" dirty="0"/>
              <a:t> </a:t>
            </a:r>
            <a:r>
              <a:rPr lang="en-US" dirty="0" err="1"/>
              <a:t>cách</a:t>
            </a:r>
            <a:r>
              <a:rPr lang="en-US" dirty="0"/>
              <a:t> </a:t>
            </a:r>
            <a:r>
              <a:rPr lang="en-US" dirty="0" err="1"/>
              <a:t>triển</a:t>
            </a:r>
            <a:r>
              <a:rPr lang="en-US" dirty="0"/>
              <a:t> </a:t>
            </a:r>
            <a:r>
              <a:rPr lang="en-US" dirty="0" err="1"/>
              <a:t>khai</a:t>
            </a:r>
            <a:r>
              <a:rPr lang="en-US" dirty="0"/>
              <a:t> </a:t>
            </a:r>
            <a:r>
              <a:rPr lang="en-US" dirty="0" err="1"/>
              <a:t>phương</a:t>
            </a:r>
            <a:r>
              <a:rPr lang="en-US" dirty="0"/>
              <a:t> </a:t>
            </a:r>
            <a:r>
              <a:rPr lang="en-US" dirty="0" err="1"/>
              <a:t>thức</a:t>
            </a:r>
            <a:r>
              <a:rPr lang="en-US" dirty="0"/>
              <a:t> </a:t>
            </a:r>
            <a:r>
              <a:rPr lang="en-US" dirty="0" err="1"/>
              <a:t>loadUserByUsername</a:t>
            </a:r>
            <a:r>
              <a:rPr lang="en-US" dirty="0"/>
              <a:t>()</a:t>
            </a:r>
          </a:p>
          <a:p>
            <a:pPr marL="171450" indent="-171450">
              <a:buFont typeface="Arial" panose="020B0604020202020204" pitchFamily="34" charset="0"/>
              <a:buChar char="•"/>
            </a:pPr>
            <a:r>
              <a:rPr lang="en-US" dirty="0"/>
              <a:t>Spring Security Context </a:t>
            </a:r>
            <a:r>
              <a:rPr lang="en-US" dirty="0" err="1"/>
              <a:t>lưu</a:t>
            </a:r>
            <a:r>
              <a:rPr lang="en-US" dirty="0"/>
              <a:t> </a:t>
            </a:r>
            <a:r>
              <a:rPr lang="en-US" dirty="0" err="1"/>
              <a:t>trữ</a:t>
            </a:r>
            <a:r>
              <a:rPr lang="en-US" dirty="0"/>
              <a:t> </a:t>
            </a:r>
            <a:r>
              <a:rPr lang="en-US" dirty="0" err="1"/>
              <a:t>các</a:t>
            </a:r>
            <a:r>
              <a:rPr lang="en-US" dirty="0"/>
              <a:t> </a:t>
            </a:r>
            <a:r>
              <a:rPr lang="en-US" dirty="0" err="1"/>
              <a:t>thông</a:t>
            </a:r>
            <a:r>
              <a:rPr lang="en-US" dirty="0"/>
              <a:t> tin chi </a:t>
            </a:r>
            <a:r>
              <a:rPr lang="en-US" dirty="0" err="1"/>
              <a:t>tiết</a:t>
            </a:r>
            <a:r>
              <a:rPr lang="en-US" dirty="0"/>
              <a:t> </a:t>
            </a:r>
            <a:r>
              <a:rPr lang="en-US" dirty="0" err="1"/>
              <a:t>của</a:t>
            </a:r>
            <a:r>
              <a:rPr lang="en-US" dirty="0"/>
              <a:t> user </a:t>
            </a:r>
            <a:r>
              <a:rPr lang="en-US" dirty="0" err="1"/>
              <a:t>đã</a:t>
            </a:r>
            <a:r>
              <a:rPr lang="en-US" dirty="0"/>
              <a:t> </a:t>
            </a:r>
            <a:r>
              <a:rPr lang="en-US" dirty="0" err="1"/>
              <a:t>được</a:t>
            </a:r>
            <a:r>
              <a:rPr lang="en-US" dirty="0"/>
              <a:t> </a:t>
            </a:r>
            <a:r>
              <a:rPr lang="en-US" dirty="0" err="1"/>
              <a:t>xác</a:t>
            </a:r>
            <a:r>
              <a:rPr lang="en-US" dirty="0"/>
              <a:t> </a:t>
            </a:r>
            <a:r>
              <a:rPr lang="en-US" dirty="0" err="1"/>
              <a:t>thực</a:t>
            </a:r>
            <a:r>
              <a:rPr lang="en-US" dirty="0"/>
              <a:t>.</a:t>
            </a:r>
          </a:p>
          <a:p>
            <a:pPr lvl="1"/>
            <a:r>
              <a:rPr lang="en-US" dirty="0"/>
              <a:t>Authentication Object </a:t>
            </a:r>
            <a:r>
              <a:rPr lang="en-US" dirty="0" err="1"/>
              <a:t>luôn</a:t>
            </a:r>
            <a:r>
              <a:rPr lang="en-US" dirty="0"/>
              <a:t> </a:t>
            </a:r>
            <a:r>
              <a:rPr lang="en-US" dirty="0" err="1"/>
              <a:t>có</a:t>
            </a:r>
            <a:r>
              <a:rPr lang="en-US" dirty="0"/>
              <a:t> </a:t>
            </a:r>
            <a:r>
              <a:rPr lang="en-US" dirty="0" err="1"/>
              <a:t>sẵn</a:t>
            </a:r>
            <a:r>
              <a:rPr lang="en-US" dirty="0"/>
              <a:t> </a:t>
            </a:r>
            <a:r>
              <a:rPr lang="en-US" dirty="0" err="1"/>
              <a:t>trong</a:t>
            </a:r>
            <a:r>
              <a:rPr lang="en-US" dirty="0"/>
              <a:t> </a:t>
            </a:r>
            <a:r>
              <a:rPr lang="en-US" dirty="0" err="1"/>
              <a:t>các</a:t>
            </a:r>
            <a:r>
              <a:rPr lang="en-US" dirty="0"/>
              <a:t> session </a:t>
            </a:r>
            <a:r>
              <a:rPr lang="en-US" dirty="0" err="1"/>
              <a:t>của</a:t>
            </a:r>
            <a:r>
              <a:rPr lang="en-US" dirty="0"/>
              <a:t> </a:t>
            </a:r>
            <a:r>
              <a:rPr lang="en-US" dirty="0" err="1"/>
              <a:t>ứng</a:t>
            </a:r>
            <a:r>
              <a:rPr lang="en-US" dirty="0"/>
              <a:t> </a:t>
            </a:r>
            <a:r>
              <a:rPr lang="en-US" dirty="0" err="1"/>
              <a:t>dụng</a:t>
            </a:r>
            <a:r>
              <a:rPr lang="en-US" dirty="0"/>
              <a:t>.</a:t>
            </a:r>
          </a:p>
          <a:p>
            <a:pPr lvl="1"/>
            <a:r>
              <a:rPr lang="en-US" dirty="0" err="1"/>
              <a:t>Vì</a:t>
            </a:r>
            <a:r>
              <a:rPr lang="en-US" dirty="0"/>
              <a:t> </a:t>
            </a:r>
            <a:r>
              <a:rPr lang="en-US" dirty="0" err="1"/>
              <a:t>vậy</a:t>
            </a:r>
            <a:r>
              <a:rPr lang="en-US" dirty="0"/>
              <a:t>, </a:t>
            </a:r>
            <a:r>
              <a:rPr lang="en-US" dirty="0" err="1"/>
              <a:t>có</a:t>
            </a:r>
            <a:r>
              <a:rPr lang="en-US" dirty="0"/>
              <a:t> </a:t>
            </a:r>
            <a:r>
              <a:rPr lang="en-US" dirty="0" err="1"/>
              <a:t>thể</a:t>
            </a:r>
            <a:r>
              <a:rPr lang="en-US" dirty="0"/>
              <a:t> </a:t>
            </a:r>
            <a:r>
              <a:rPr lang="en-US" dirty="0" err="1"/>
              <a:t>lấy</a:t>
            </a:r>
            <a:r>
              <a:rPr lang="en-US" dirty="0"/>
              <a:t> </a:t>
            </a:r>
            <a:r>
              <a:rPr lang="en-US" dirty="0" err="1"/>
              <a:t>ra</a:t>
            </a:r>
            <a:r>
              <a:rPr lang="en-US" dirty="0"/>
              <a:t> </a:t>
            </a:r>
            <a:r>
              <a:rPr lang="en-US" dirty="0" err="1"/>
              <a:t>các</a:t>
            </a:r>
            <a:r>
              <a:rPr lang="en-US" dirty="0"/>
              <a:t> </a:t>
            </a:r>
            <a:r>
              <a:rPr lang="en-US" dirty="0" err="1"/>
              <a:t>thông</a:t>
            </a:r>
            <a:r>
              <a:rPr lang="en-US" dirty="0"/>
              <a:t> tin </a:t>
            </a:r>
            <a:r>
              <a:rPr lang="en-US" dirty="0" err="1"/>
              <a:t>của</a:t>
            </a:r>
            <a:r>
              <a:rPr lang="en-US" dirty="0"/>
              <a:t> User </a:t>
            </a:r>
            <a:r>
              <a:rPr lang="en-US" dirty="0" err="1"/>
              <a:t>thông</a:t>
            </a:r>
            <a:r>
              <a:rPr lang="en-US" dirty="0"/>
              <a:t> qua </a:t>
            </a:r>
            <a:r>
              <a:rPr lang="en-US" dirty="0" err="1"/>
              <a:t>SecurityContext</a:t>
            </a:r>
            <a:r>
              <a:rPr lang="en-US" dirty="0"/>
              <a:t>.</a:t>
            </a:r>
          </a:p>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58</a:t>
            </a:fld>
            <a:endParaRPr lang="en-US">
              <a:solidFill>
                <a:prstClr val="black"/>
              </a:solidFill>
            </a:endParaRPr>
          </a:p>
        </p:txBody>
      </p:sp>
    </p:spTree>
    <p:extLst>
      <p:ext uri="{BB962C8B-B14F-4D97-AF65-F5344CB8AC3E}">
        <p14:creationId xmlns:p14="http://schemas.microsoft.com/office/powerpoint/2010/main" val="16881880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1,</a:t>
            </a:r>
            <a:r>
              <a:rPr lang="en-US" baseline="0" dirty="0"/>
              <a:t> </a:t>
            </a:r>
            <a:r>
              <a:rPr lang="en-US" baseline="0" dirty="0" err="1"/>
              <a:t>Thêm</a:t>
            </a:r>
            <a:r>
              <a:rPr lang="en-US" baseline="0" dirty="0"/>
              <a:t> annotation @Configuration </a:t>
            </a:r>
            <a:r>
              <a:rPr lang="en-US" baseline="0" dirty="0" err="1"/>
              <a:t>và</a:t>
            </a:r>
            <a:r>
              <a:rPr lang="en-US" baseline="0" dirty="0"/>
              <a:t> @</a:t>
            </a:r>
            <a:r>
              <a:rPr lang="en-US" baseline="0" dirty="0" err="1"/>
              <a:t>EnableWebSecurity</a:t>
            </a:r>
            <a:r>
              <a:rPr lang="en-US" baseline="0" dirty="0"/>
              <a:t> </a:t>
            </a:r>
            <a:r>
              <a:rPr lang="en-US" baseline="0" dirty="0" err="1"/>
              <a:t>và</a:t>
            </a:r>
            <a:r>
              <a:rPr lang="en-US" baseline="0" dirty="0"/>
              <a:t> extend </a:t>
            </a:r>
            <a:r>
              <a:rPr lang="en-US" baseline="0" dirty="0" err="1"/>
              <a:t>WebSecurityConfigurerAdapter</a:t>
            </a:r>
            <a:endParaRPr lang="en-US" dirty="0"/>
          </a:p>
          <a:p>
            <a:r>
              <a:rPr lang="en-US" dirty="0"/>
              <a:t>2, Override method</a:t>
            </a:r>
            <a:r>
              <a:rPr lang="en-US" baseline="0" dirty="0"/>
              <a:t> configure() </a:t>
            </a:r>
            <a:r>
              <a:rPr lang="en-US" baseline="0" dirty="0" err="1"/>
              <a:t>từ</a:t>
            </a:r>
            <a:r>
              <a:rPr lang="en-US" baseline="0" dirty="0"/>
              <a:t> Adapter </a:t>
            </a:r>
            <a:r>
              <a:rPr lang="en-US" baseline="0" dirty="0" err="1"/>
              <a:t>để</a:t>
            </a:r>
            <a:r>
              <a:rPr lang="en-US" baseline="0" dirty="0"/>
              <a:t> </a:t>
            </a:r>
            <a:r>
              <a:rPr lang="en-US" baseline="0" dirty="0" err="1"/>
              <a:t>tiến</a:t>
            </a:r>
            <a:r>
              <a:rPr lang="en-US" baseline="0" dirty="0"/>
              <a:t> </a:t>
            </a:r>
            <a:r>
              <a:rPr lang="en-US" baseline="0" dirty="0" err="1"/>
              <a:t>hành</a:t>
            </a:r>
            <a:r>
              <a:rPr lang="en-US" baseline="0" dirty="0"/>
              <a:t> custom </a:t>
            </a:r>
            <a:r>
              <a:rPr lang="en-US" baseline="0" dirty="0" err="1"/>
              <a:t>các</a:t>
            </a:r>
            <a:r>
              <a:rPr lang="en-US" baseline="0" dirty="0"/>
              <a:t> filter</a:t>
            </a:r>
            <a:endParaRPr lang="en-US" dirty="0"/>
          </a:p>
          <a:p>
            <a:r>
              <a:rPr lang="en-US" baseline="0" dirty="0"/>
              <a:t>3, </a:t>
            </a:r>
            <a:r>
              <a:rPr lang="en-US" baseline="0" dirty="0" err="1"/>
              <a:t>thuộc</a:t>
            </a:r>
            <a:r>
              <a:rPr lang="en-US" baseline="0" dirty="0"/>
              <a:t> </a:t>
            </a:r>
            <a:r>
              <a:rPr lang="en-US" baseline="0" dirty="0" err="1"/>
              <a:t>tính</a:t>
            </a:r>
            <a:r>
              <a:rPr lang="en-US" baseline="0" dirty="0"/>
              <a:t> </a:t>
            </a:r>
            <a:r>
              <a:rPr lang="en-US" baseline="0" dirty="0" err="1"/>
              <a:t>permitAll</a:t>
            </a:r>
            <a:r>
              <a:rPr lang="en-US" baseline="0" dirty="0"/>
              <a:t>()  </a:t>
            </a:r>
            <a:r>
              <a:rPr lang="en-US" baseline="0" dirty="0" err="1"/>
              <a:t>cho</a:t>
            </a:r>
            <a:r>
              <a:rPr lang="en-US" baseline="0" dirty="0"/>
              <a:t> </a:t>
            </a:r>
            <a:r>
              <a:rPr lang="en-US" baseline="0" dirty="0" err="1"/>
              <a:t>phép</a:t>
            </a:r>
            <a:r>
              <a:rPr lang="en-US" baseline="0" dirty="0"/>
              <a:t> </a:t>
            </a:r>
            <a:r>
              <a:rPr lang="en-US" baseline="0" dirty="0" err="1"/>
              <a:t>các</a:t>
            </a:r>
            <a:r>
              <a:rPr lang="en-US" baseline="0" dirty="0"/>
              <a:t> request </a:t>
            </a:r>
            <a:r>
              <a:rPr lang="en-US" baseline="0" dirty="0" err="1"/>
              <a:t>đến</a:t>
            </a:r>
            <a:r>
              <a:rPr lang="en-US" baseline="0" dirty="0"/>
              <a:t> “/”, “/</a:t>
            </a:r>
            <a:r>
              <a:rPr lang="en-US" baseline="0" dirty="0" err="1"/>
              <a:t>getAll</a:t>
            </a:r>
            <a:r>
              <a:rPr lang="en-US" baseline="0" dirty="0"/>
              <a:t>” </a:t>
            </a:r>
            <a:r>
              <a:rPr lang="en-US" baseline="0" dirty="0" err="1"/>
              <a:t>sẽ</a:t>
            </a:r>
            <a:r>
              <a:rPr lang="en-US" baseline="0" dirty="0"/>
              <a:t> </a:t>
            </a:r>
            <a:r>
              <a:rPr lang="en-US" baseline="0" dirty="0" err="1"/>
              <a:t>không</a:t>
            </a:r>
            <a:r>
              <a:rPr lang="en-US" baseline="0" dirty="0"/>
              <a:t> </a:t>
            </a:r>
            <a:r>
              <a:rPr lang="en-US" baseline="0" dirty="0" err="1"/>
              <a:t>bị</a:t>
            </a:r>
            <a:r>
              <a:rPr lang="en-US" baseline="0" dirty="0"/>
              <a:t> filter </a:t>
            </a:r>
            <a:r>
              <a:rPr lang="en-US" baseline="0" dirty="0" err="1"/>
              <a:t>xác</a:t>
            </a:r>
            <a:r>
              <a:rPr lang="en-US" baseline="0" dirty="0"/>
              <a:t> </a:t>
            </a:r>
            <a:r>
              <a:rPr lang="en-US" baseline="0" dirty="0" err="1"/>
              <a:t>thực</a:t>
            </a:r>
            <a:r>
              <a:rPr lang="en-US" baseline="0" dirty="0"/>
              <a:t> hay </a:t>
            </a:r>
            <a:r>
              <a:rPr lang="en-US" baseline="0" dirty="0" err="1"/>
              <a:t>phần</a:t>
            </a:r>
            <a:r>
              <a:rPr lang="en-US" baseline="0" dirty="0"/>
              <a:t> </a:t>
            </a:r>
            <a:r>
              <a:rPr lang="en-US" baseline="0" dirty="0" err="1"/>
              <a:t>quyền</a:t>
            </a:r>
            <a:endParaRPr lang="en-US" baseline="0" dirty="0"/>
          </a:p>
          <a:p>
            <a:r>
              <a:rPr lang="en-US" baseline="0" dirty="0"/>
              <a:t>4, </a:t>
            </a:r>
            <a:r>
              <a:rPr lang="en-US" baseline="0" dirty="0" err="1"/>
              <a:t>thuộc</a:t>
            </a:r>
            <a:r>
              <a:rPr lang="en-US" baseline="0" dirty="0"/>
              <a:t> </a:t>
            </a:r>
            <a:r>
              <a:rPr lang="en-US" baseline="0" dirty="0" err="1"/>
              <a:t>tính</a:t>
            </a:r>
            <a:r>
              <a:rPr lang="en-US" baseline="0" dirty="0"/>
              <a:t> authenticated() </a:t>
            </a:r>
            <a:r>
              <a:rPr lang="en-US" baseline="0" dirty="0" err="1"/>
              <a:t>sẽ</a:t>
            </a:r>
            <a:r>
              <a:rPr lang="en-US" baseline="0" dirty="0"/>
              <a:t> </a:t>
            </a:r>
            <a:r>
              <a:rPr lang="en-US" baseline="0" dirty="0" err="1"/>
              <a:t>xác</a:t>
            </a:r>
            <a:r>
              <a:rPr lang="en-US" baseline="0" dirty="0"/>
              <a:t> </a:t>
            </a:r>
            <a:r>
              <a:rPr lang="en-US" baseline="0" dirty="0" err="1"/>
              <a:t>thực</a:t>
            </a:r>
            <a:r>
              <a:rPr lang="en-US" baseline="0" dirty="0"/>
              <a:t> </a:t>
            </a:r>
            <a:r>
              <a:rPr lang="en-US" baseline="0" dirty="0" err="1"/>
              <a:t>tất</a:t>
            </a:r>
            <a:r>
              <a:rPr lang="en-US" baseline="0" dirty="0"/>
              <a:t> </a:t>
            </a:r>
            <a:r>
              <a:rPr lang="en-US" baseline="0" dirty="0" err="1"/>
              <a:t>cả</a:t>
            </a:r>
            <a:r>
              <a:rPr lang="en-US" baseline="0" dirty="0"/>
              <a:t> </a:t>
            </a:r>
            <a:r>
              <a:rPr lang="en-US" baseline="0" dirty="0" err="1"/>
              <a:t>các</a:t>
            </a:r>
            <a:r>
              <a:rPr lang="en-US" baseline="0" dirty="0"/>
              <a:t> request </a:t>
            </a:r>
            <a:r>
              <a:rPr lang="en-US" baseline="0" dirty="0" err="1"/>
              <a:t>còn</a:t>
            </a:r>
            <a:r>
              <a:rPr lang="en-US" baseline="0" dirty="0"/>
              <a:t> </a:t>
            </a:r>
            <a:r>
              <a:rPr lang="en-US" baseline="0" dirty="0" err="1"/>
              <a:t>lại</a:t>
            </a:r>
            <a:r>
              <a:rPr lang="en-US" baseline="0" dirty="0"/>
              <a:t> </a:t>
            </a:r>
          </a:p>
          <a:p>
            <a:r>
              <a:rPr lang="en-US" baseline="0" dirty="0"/>
              <a:t>5, Form Login </a:t>
            </a:r>
            <a:r>
              <a:rPr lang="en-US" baseline="0" dirty="0" err="1"/>
              <a:t>sẽ</a:t>
            </a:r>
            <a:r>
              <a:rPr lang="en-US" baseline="0" dirty="0"/>
              <a:t> </a:t>
            </a:r>
            <a:r>
              <a:rPr lang="en-US" baseline="0" dirty="0" err="1"/>
              <a:t>được</a:t>
            </a:r>
            <a:r>
              <a:rPr lang="en-US" baseline="0" dirty="0"/>
              <a:t> </a:t>
            </a:r>
            <a:r>
              <a:rPr lang="en-US" baseline="0" dirty="0" err="1"/>
              <a:t>tạo</a:t>
            </a:r>
            <a:r>
              <a:rPr lang="en-US" baseline="0" dirty="0"/>
              <a:t> </a:t>
            </a:r>
            <a:r>
              <a:rPr lang="en-US" baseline="0" dirty="0" err="1"/>
              <a:t>tự</a:t>
            </a:r>
            <a:r>
              <a:rPr lang="en-US" baseline="0" dirty="0"/>
              <a:t> </a:t>
            </a:r>
            <a:r>
              <a:rPr lang="en-US" baseline="0" dirty="0" err="1"/>
              <a:t>động</a:t>
            </a:r>
            <a:r>
              <a:rPr lang="en-US" baseline="0" dirty="0"/>
              <a:t> </a:t>
            </a:r>
            <a:r>
              <a:rPr lang="en-US" baseline="0" dirty="0" err="1"/>
              <a:t>và</a:t>
            </a:r>
            <a:r>
              <a:rPr lang="en-US" baseline="0" dirty="0"/>
              <a:t> </a:t>
            </a:r>
            <a:r>
              <a:rPr lang="en-US" baseline="0" dirty="0" err="1"/>
              <a:t>không</a:t>
            </a:r>
            <a:r>
              <a:rPr lang="en-US" baseline="0" dirty="0"/>
              <a:t> </a:t>
            </a:r>
            <a:r>
              <a:rPr lang="en-US" baseline="0" dirty="0" err="1"/>
              <a:t>bị</a:t>
            </a:r>
            <a:r>
              <a:rPr lang="en-US" baseline="0" dirty="0"/>
              <a:t> </a:t>
            </a:r>
            <a:r>
              <a:rPr lang="en-US" baseline="0" dirty="0" err="1"/>
              <a:t>xác</a:t>
            </a:r>
            <a:r>
              <a:rPr lang="en-US" baseline="0" dirty="0"/>
              <a:t> </a:t>
            </a:r>
            <a:r>
              <a:rPr lang="en-US" baseline="0" dirty="0" err="1"/>
              <a:t>thực</a:t>
            </a:r>
            <a:endParaRPr lang="en-US" baseline="0" dirty="0"/>
          </a:p>
          <a:p>
            <a:r>
              <a:rPr lang="en-US" baseline="0" dirty="0"/>
              <a:t>6, Form Login </a:t>
            </a:r>
            <a:r>
              <a:rPr lang="en-US" baseline="0" dirty="0" err="1"/>
              <a:t>sẽ</a:t>
            </a:r>
            <a:r>
              <a:rPr lang="en-US" baseline="0" dirty="0"/>
              <a:t> </a:t>
            </a:r>
            <a:r>
              <a:rPr lang="en-US" baseline="0" dirty="0" err="1"/>
              <a:t>được</a:t>
            </a:r>
            <a:r>
              <a:rPr lang="en-US" baseline="0" dirty="0"/>
              <a:t> </a:t>
            </a:r>
            <a:r>
              <a:rPr lang="en-US" baseline="0" dirty="0" err="1"/>
              <a:t>tạo</a:t>
            </a:r>
            <a:r>
              <a:rPr lang="en-US" baseline="0" dirty="0"/>
              <a:t> </a:t>
            </a:r>
            <a:r>
              <a:rPr lang="en-US" baseline="0" dirty="0" err="1"/>
              <a:t>tự</a:t>
            </a:r>
            <a:r>
              <a:rPr lang="en-US" baseline="0" dirty="0"/>
              <a:t> </a:t>
            </a:r>
            <a:r>
              <a:rPr lang="en-US" baseline="0" dirty="0" err="1"/>
              <a:t>động</a:t>
            </a:r>
            <a:r>
              <a:rPr lang="en-US" baseline="0" dirty="0"/>
              <a:t> </a:t>
            </a:r>
            <a:r>
              <a:rPr lang="en-US" baseline="0" dirty="0" err="1"/>
              <a:t>và</a:t>
            </a:r>
            <a:r>
              <a:rPr lang="en-US" baseline="0" dirty="0"/>
              <a:t> </a:t>
            </a:r>
            <a:r>
              <a:rPr lang="en-US" baseline="0" dirty="0" err="1"/>
              <a:t>không</a:t>
            </a:r>
            <a:r>
              <a:rPr lang="en-US" baseline="0" dirty="0"/>
              <a:t> </a:t>
            </a:r>
            <a:r>
              <a:rPr lang="en-US" baseline="0" dirty="0" err="1"/>
              <a:t>bị</a:t>
            </a:r>
            <a:r>
              <a:rPr lang="en-US" baseline="0" dirty="0"/>
              <a:t> </a:t>
            </a:r>
            <a:r>
              <a:rPr lang="en-US" baseline="0" dirty="0" err="1"/>
              <a:t>xác</a:t>
            </a:r>
            <a:r>
              <a:rPr lang="en-US" baseline="0" dirty="0"/>
              <a:t> </a:t>
            </a:r>
            <a:r>
              <a:rPr lang="en-US" baseline="0" dirty="0" err="1"/>
              <a:t>thực</a:t>
            </a:r>
            <a:endParaRPr lang="en-US" baseline="0" dirty="0"/>
          </a:p>
          <a:p>
            <a:r>
              <a:rPr lang="en-US" baseline="0" dirty="0"/>
              <a:t>7, Cho </a:t>
            </a:r>
            <a:r>
              <a:rPr lang="en-US" baseline="0" dirty="0" err="1"/>
              <a:t>phép</a:t>
            </a:r>
            <a:r>
              <a:rPr lang="en-US" baseline="0" dirty="0"/>
              <a:t> Basic </a:t>
            </a:r>
            <a:r>
              <a:rPr lang="en-US" baseline="0" dirty="0" err="1"/>
              <a:t>Auth</a:t>
            </a:r>
            <a:r>
              <a:rPr lang="en-US" baseline="0" dirty="0"/>
              <a:t>, </a:t>
            </a:r>
            <a:r>
              <a:rPr lang="en-US" baseline="0" dirty="0" err="1"/>
              <a:t>có</a:t>
            </a:r>
            <a:r>
              <a:rPr lang="en-US" baseline="0" dirty="0"/>
              <a:t> </a:t>
            </a:r>
            <a:r>
              <a:rPr lang="en-US" baseline="0" dirty="0" err="1"/>
              <a:t>thể</a:t>
            </a:r>
            <a:r>
              <a:rPr lang="en-US" baseline="0" dirty="0"/>
              <a:t> </a:t>
            </a:r>
            <a:r>
              <a:rPr lang="en-US" baseline="0" dirty="0" err="1"/>
              <a:t>xác</a:t>
            </a:r>
            <a:r>
              <a:rPr lang="en-US" baseline="0" dirty="0"/>
              <a:t> </a:t>
            </a:r>
            <a:r>
              <a:rPr lang="en-US" baseline="0" dirty="0" err="1"/>
              <a:t>thực</a:t>
            </a:r>
            <a:r>
              <a:rPr lang="en-US" baseline="0" dirty="0"/>
              <a:t> </a:t>
            </a:r>
            <a:r>
              <a:rPr lang="en-US" baseline="0" dirty="0" err="1"/>
              <a:t>bằng</a:t>
            </a:r>
            <a:r>
              <a:rPr lang="en-US" baseline="0" dirty="0"/>
              <a:t> </a:t>
            </a:r>
            <a:r>
              <a:rPr lang="en-US" baseline="0" dirty="0" err="1"/>
              <a:t>một</a:t>
            </a:r>
            <a:r>
              <a:rPr lang="en-US" baseline="0" dirty="0"/>
              <a:t> HTTP </a:t>
            </a:r>
            <a:r>
              <a:rPr lang="en-US" baseline="0" dirty="0" err="1"/>
              <a:t>Auth</a:t>
            </a:r>
            <a:r>
              <a:rPr lang="en-US" baseline="0" dirty="0"/>
              <a:t> Header</a:t>
            </a:r>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66</a:t>
            </a:fld>
            <a:endParaRPr lang="en-US">
              <a:solidFill>
                <a:prstClr val="black"/>
              </a:solidFill>
            </a:endParaRPr>
          </a:p>
        </p:txBody>
      </p:sp>
    </p:spTree>
    <p:extLst>
      <p:ext uri="{BB962C8B-B14F-4D97-AF65-F5344CB8AC3E}">
        <p14:creationId xmlns:p14="http://schemas.microsoft.com/office/powerpoint/2010/main" val="3377379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550335" y="2160589"/>
            <a:ext cx="3399528"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135600" y="2160590"/>
            <a:ext cx="3399528"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solidFill>
                  <a:prstClr val="black">
                    <a:tint val="75000"/>
                  </a:prstClr>
                </a:solidFill>
              </a:rPr>
              <a:pPr/>
              <a:t>10/7/2026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098713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2026/10/8</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start.spring.io/"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localhost:8080/"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742950" y="2130425"/>
            <a:ext cx="7486650" cy="1470025"/>
          </a:xfrm>
        </p:spPr>
        <p:txBody>
          <a:bodyPr>
            <a:noAutofit/>
          </a:bodyPr>
          <a:lstStyle/>
          <a:p>
            <a:pPr algn="ctr" eaLnBrk="0" hangingPunct="0"/>
            <a:r>
              <a:rPr lang="ja-JP" altLang="ja-JP" dirty="0">
                <a:latin typeface="+mj-lt"/>
              </a:rPr>
              <a:t>Java</a:t>
            </a:r>
            <a:r>
              <a:rPr lang="en-US" altLang="ja-JP" dirty="0">
                <a:latin typeface="+mj-lt"/>
              </a:rPr>
              <a:t> Training</a:t>
            </a:r>
            <a:endParaRPr kumimoji="1" lang="ja-JP" altLang="en-US" dirty="0">
              <a:latin typeface="+mj-lt"/>
              <a:cs typeface="Times New Roman" panose="02020603050405020304" pitchFamily="18" charset="0"/>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Spring Boot chính là một Java framework siêu to và khổng lồ và có nhiều khả năng hữu ích"/>
          <p:cNvPicPr/>
          <p:nvPr/>
        </p:nvPicPr>
        <p:blipFill>
          <a:blip r:embed="rId2">
            <a:extLst>
              <a:ext uri="{28A0092B-C50C-407E-A947-70E740481C1C}">
                <a14:useLocalDpi xmlns:a14="http://schemas.microsoft.com/office/drawing/2010/main" val="0"/>
              </a:ext>
            </a:extLst>
          </a:blip>
          <a:srcRect/>
          <a:stretch>
            <a:fillRect/>
          </a:stretch>
        </p:blipFill>
        <p:spPr bwMode="auto">
          <a:xfrm>
            <a:off x="944763" y="961569"/>
            <a:ext cx="6619857" cy="3990348"/>
          </a:xfrm>
          <a:prstGeom prst="rect">
            <a:avLst/>
          </a:prstGeom>
          <a:noFill/>
          <a:ln>
            <a:noFill/>
          </a:ln>
        </p:spPr>
      </p:pic>
    </p:spTree>
    <p:extLst>
      <p:ext uri="{BB962C8B-B14F-4D97-AF65-F5344CB8AC3E}">
        <p14:creationId xmlns:p14="http://schemas.microsoft.com/office/powerpoint/2010/main" val="74595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Spring Boot chính là một Java framework siêu to và khổng lồ và có nhiều khả năng hữu ích"/>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470210"/>
            <a:ext cx="3350019" cy="2019340"/>
          </a:xfrm>
          <a:prstGeom prst="rect">
            <a:avLst/>
          </a:prstGeom>
          <a:noFill/>
          <a:ln>
            <a:noFill/>
          </a:ln>
        </p:spPr>
      </p:pic>
      <p:sp>
        <p:nvSpPr>
          <p:cNvPr id="2" name="Title 1">
            <a:extLst>
              <a:ext uri="{FF2B5EF4-FFF2-40B4-BE49-F238E27FC236}">
                <a16:creationId xmlns:a16="http://schemas.microsoft.com/office/drawing/2014/main" id="{EC250901-836B-6CA0-BA17-70FE1C1958D4}"/>
              </a:ext>
            </a:extLst>
          </p:cNvPr>
          <p:cNvSpPr>
            <a:spLocks noGrp="1"/>
          </p:cNvSpPr>
          <p:nvPr>
            <p:ph type="title"/>
          </p:nvPr>
        </p:nvSpPr>
        <p:spPr/>
        <p:txBody>
          <a:bodyPr>
            <a:normAutofit fontScale="90000"/>
          </a:bodyPr>
          <a:lstStyle/>
          <a:p>
            <a:r>
              <a:rPr lang="en-US" altLang="ja-JP" dirty="0" err="1"/>
              <a:t>Nội</a:t>
            </a:r>
            <a:r>
              <a:rPr lang="en-US" altLang="ja-JP" dirty="0"/>
              <a:t> dung</a:t>
            </a:r>
            <a:endParaRPr lang="ja-JP" altLang="en-US" dirty="0"/>
          </a:p>
        </p:txBody>
      </p:sp>
      <p:sp>
        <p:nvSpPr>
          <p:cNvPr id="3" name="コンテンツ プレースホルダー 2"/>
          <p:cNvSpPr>
            <a:spLocks noGrp="1"/>
          </p:cNvSpPr>
          <p:nvPr>
            <p:ph idx="1"/>
          </p:nvPr>
        </p:nvSpPr>
        <p:spPr>
          <a:xfrm>
            <a:off x="130727" y="1371600"/>
            <a:ext cx="9649072" cy="5328592"/>
          </a:xfrm>
        </p:spPr>
        <p:txBody>
          <a:bodyPr>
            <a:noAutofit/>
          </a:bodyPr>
          <a:lstStyle/>
          <a:p>
            <a:pPr>
              <a:buFont typeface="Wingdings 3" charset="2"/>
              <a:buChar char=""/>
            </a:pPr>
            <a:r>
              <a:rPr kumimoji="1" lang="en-US" dirty="0"/>
              <a:t>Spring Framework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err="1"/>
              <a:t>Kiến</a:t>
            </a:r>
            <a:r>
              <a:rPr kumimoji="1" lang="en-US" dirty="0"/>
              <a:t> </a:t>
            </a:r>
            <a:r>
              <a:rPr kumimoji="1" lang="en-US" dirty="0" err="1"/>
              <a:t>trúc</a:t>
            </a:r>
            <a:r>
              <a:rPr kumimoji="1" lang="en-US" dirty="0"/>
              <a:t>, </a:t>
            </a:r>
            <a:r>
              <a:rPr kumimoji="1" lang="en-US" dirty="0" err="1"/>
              <a:t>các</a:t>
            </a:r>
            <a:r>
              <a:rPr kumimoji="1" lang="en-US" dirty="0"/>
              <a:t> module </a:t>
            </a:r>
            <a:r>
              <a:rPr kumimoji="1" lang="en-US" dirty="0" err="1"/>
              <a:t>trong</a:t>
            </a:r>
            <a:r>
              <a:rPr kumimoji="1" lang="en-US" dirty="0"/>
              <a:t> Spring Framework.</a:t>
            </a:r>
          </a:p>
          <a:p>
            <a:pPr>
              <a:buFont typeface="Wingdings 3" charset="2"/>
              <a:buChar char=""/>
            </a:pPr>
            <a:r>
              <a:rPr kumimoji="1" lang="en-US" dirty="0"/>
              <a:t>Spring Boot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err="1"/>
              <a:t>Ưu</a:t>
            </a:r>
            <a:r>
              <a:rPr kumimoji="1" lang="en-US" dirty="0"/>
              <a:t> </a:t>
            </a:r>
            <a:r>
              <a:rPr kumimoji="1" lang="en-US" dirty="0" err="1"/>
              <a:t>điểm</a:t>
            </a:r>
            <a:r>
              <a:rPr kumimoji="1" lang="en-US" dirty="0"/>
              <a:t>, </a:t>
            </a:r>
            <a:r>
              <a:rPr kumimoji="1" lang="en-US" dirty="0" err="1"/>
              <a:t>nhược</a:t>
            </a:r>
            <a:r>
              <a:rPr kumimoji="1" lang="en-US" dirty="0"/>
              <a:t> </a:t>
            </a:r>
            <a:r>
              <a:rPr kumimoji="1" lang="en-US" dirty="0" err="1"/>
              <a:t>điểm</a:t>
            </a:r>
            <a:r>
              <a:rPr kumimoji="1" lang="en-US" dirty="0"/>
              <a:t> </a:t>
            </a:r>
            <a:r>
              <a:rPr kumimoji="1" lang="en-US" dirty="0" err="1"/>
              <a:t>của</a:t>
            </a:r>
            <a:r>
              <a:rPr kumimoji="1" lang="en-US" dirty="0"/>
              <a:t> Spring Boot</a:t>
            </a:r>
          </a:p>
          <a:p>
            <a:pPr>
              <a:buFont typeface="Wingdings 3" charset="2"/>
              <a:buChar char=""/>
            </a:pPr>
            <a:r>
              <a:rPr kumimoji="1" lang="en-US" dirty="0" err="1"/>
              <a:t>Thực</a:t>
            </a:r>
            <a:r>
              <a:rPr kumimoji="1" lang="en-US" dirty="0"/>
              <a:t> </a:t>
            </a:r>
            <a:r>
              <a:rPr kumimoji="1" lang="en-US" dirty="0" err="1"/>
              <a:t>hiện</a:t>
            </a:r>
            <a:r>
              <a:rPr kumimoji="1" lang="en-US" dirty="0"/>
              <a:t> </a:t>
            </a:r>
            <a:r>
              <a:rPr kumimoji="1" lang="en-US" dirty="0" err="1"/>
              <a:t>tạo</a:t>
            </a:r>
            <a:r>
              <a:rPr kumimoji="1" lang="en-US" dirty="0"/>
              <a:t> </a:t>
            </a:r>
            <a:r>
              <a:rPr kumimoji="1" lang="en-US" dirty="0" err="1"/>
              <a:t>chương</a:t>
            </a:r>
            <a:r>
              <a:rPr kumimoji="1" lang="en-US" dirty="0"/>
              <a:t> </a:t>
            </a:r>
            <a:r>
              <a:rPr kumimoji="1" lang="en-US" dirty="0" err="1"/>
              <a:t>trình</a:t>
            </a:r>
            <a:r>
              <a:rPr kumimoji="1" lang="en-US" dirty="0"/>
              <a:t> </a:t>
            </a:r>
            <a:r>
              <a:rPr kumimoji="1" lang="en-US" dirty="0" err="1"/>
              <a:t>đơn</a:t>
            </a:r>
            <a:r>
              <a:rPr kumimoji="1" lang="en-US" dirty="0"/>
              <a:t> </a:t>
            </a:r>
            <a:r>
              <a:rPr kumimoji="1" lang="en-US" dirty="0" err="1"/>
              <a:t>giản</a:t>
            </a:r>
            <a:r>
              <a:rPr kumimoji="1" lang="en-US" dirty="0"/>
              <a:t> </a:t>
            </a:r>
            <a:r>
              <a:rPr kumimoji="1" lang="en-US" dirty="0" err="1"/>
              <a:t>với</a:t>
            </a:r>
            <a:r>
              <a:rPr kumimoji="1" lang="en-US" dirty="0"/>
              <a:t> Spring Boot</a:t>
            </a:r>
          </a:p>
        </p:txBody>
      </p:sp>
    </p:spTree>
    <p:extLst>
      <p:ext uri="{BB962C8B-B14F-4D97-AF65-F5344CB8AC3E}">
        <p14:creationId xmlns:p14="http://schemas.microsoft.com/office/powerpoint/2010/main" val="3930633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What is Spring Framework? | Architecture &amp; Features of Spring Framework"/>
          <p:cNvPicPr/>
          <p:nvPr/>
        </p:nvPicPr>
        <p:blipFill>
          <a:blip r:embed="rId3">
            <a:extLst>
              <a:ext uri="{28A0092B-C50C-407E-A947-70E740481C1C}">
                <a14:useLocalDpi xmlns:a14="http://schemas.microsoft.com/office/drawing/2010/main" val="0"/>
              </a:ext>
            </a:extLst>
          </a:blip>
          <a:srcRect/>
          <a:stretch>
            <a:fillRect/>
          </a:stretch>
        </p:blipFill>
        <p:spPr bwMode="auto">
          <a:xfrm>
            <a:off x="0" y="642938"/>
            <a:ext cx="9947717" cy="5572125"/>
          </a:xfrm>
          <a:prstGeom prst="rect">
            <a:avLst/>
          </a:prstGeom>
          <a:noFill/>
          <a:ln>
            <a:noFill/>
          </a:ln>
        </p:spPr>
      </p:pic>
    </p:spTree>
    <p:extLst>
      <p:ext uri="{BB962C8B-B14F-4D97-AF65-F5344CB8AC3E}">
        <p14:creationId xmlns:p14="http://schemas.microsoft.com/office/powerpoint/2010/main" val="161616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title"/>
          </p:nvPr>
        </p:nvSpPr>
        <p:spPr/>
        <p:txBody>
          <a:bodyPr>
            <a:normAutofit/>
          </a:bodyPr>
          <a:lstStyle/>
          <a:p>
            <a:pPr lvl="0" algn="l"/>
            <a:r>
              <a:rPr lang="en-US" sz="2275" b="1" dirty="0">
                <a:solidFill>
                  <a:schemeClr val="tx1"/>
                </a:solidFill>
                <a:latin typeface="Arial" panose="020B0604020202020204" pitchFamily="34" charset="0"/>
                <a:cs typeface="Arial" panose="020B0604020202020204" pitchFamily="34" charset="0"/>
              </a:rPr>
              <a:t>1. Spring framework </a:t>
            </a:r>
            <a:r>
              <a:rPr lang="en-US" sz="2275" b="1" dirty="0" err="1">
                <a:solidFill>
                  <a:schemeClr val="tx1"/>
                </a:solidFill>
                <a:latin typeface="Arial" panose="020B0604020202020204" pitchFamily="34" charset="0"/>
                <a:cs typeface="Arial" panose="020B0604020202020204" pitchFamily="34" charset="0"/>
              </a:rPr>
              <a:t>là</a:t>
            </a:r>
            <a:r>
              <a:rPr lang="en-US" sz="2275" b="1" dirty="0">
                <a:solidFill>
                  <a:schemeClr val="tx1"/>
                </a:solidFill>
                <a:latin typeface="Arial" panose="020B0604020202020204" pitchFamily="34" charset="0"/>
                <a:cs typeface="Arial" panose="020B0604020202020204" pitchFamily="34" charset="0"/>
              </a:rPr>
              <a:t> </a:t>
            </a:r>
            <a:r>
              <a:rPr lang="en-US" sz="2275" b="1" dirty="0" err="1">
                <a:solidFill>
                  <a:schemeClr val="tx1"/>
                </a:solidFill>
                <a:latin typeface="Arial" panose="020B0604020202020204" pitchFamily="34" charset="0"/>
                <a:cs typeface="Arial" panose="020B0604020202020204" pitchFamily="34" charset="0"/>
              </a:rPr>
              <a:t>gì</a:t>
            </a:r>
            <a:r>
              <a:rPr lang="en-US" sz="2275" b="1" dirty="0">
                <a:solidFill>
                  <a:schemeClr val="tx1"/>
                </a:solidFill>
                <a:latin typeface="Arial" panose="020B0604020202020204" pitchFamily="34" charset="0"/>
                <a:cs typeface="Arial" panose="020B0604020202020204" pitchFamily="34" charset="0"/>
              </a:rPr>
              <a:t>?</a:t>
            </a:r>
          </a:p>
        </p:txBody>
      </p:sp>
      <p:sp>
        <p:nvSpPr>
          <p:cNvPr id="5" name="サブタイトル 4"/>
          <p:cNvSpPr>
            <a:spLocks noGrp="1"/>
          </p:cNvSpPr>
          <p:nvPr>
            <p:ph idx="1"/>
          </p:nvPr>
        </p:nvSpPr>
        <p:spPr/>
        <p:txBody>
          <a:bodyPr>
            <a:noAutofit/>
          </a:bodyPr>
          <a:lstStyle/>
          <a:p>
            <a:pPr marL="232172" indent="-232172" algn="just">
              <a:buFont typeface="Wingdings" panose="05000000000000000000" pitchFamily="2" charset="2"/>
              <a:buChar char="Ø"/>
            </a:pPr>
            <a:r>
              <a:rPr lang="en-US" sz="1625" dirty="0">
                <a:latin typeface="Arial" panose="020B0604020202020204" pitchFamily="34" charset="0"/>
                <a:cs typeface="Arial" panose="020B0604020202020204" pitchFamily="34" charset="0"/>
              </a:rPr>
              <a:t>Spring </a:t>
            </a:r>
            <a:r>
              <a:rPr lang="en-US" sz="1625" dirty="0" err="1">
                <a:latin typeface="Arial" panose="020B0604020202020204" pitchFamily="34" charset="0"/>
                <a:cs typeface="Arial" panose="020B0604020202020204" pitchFamily="34" charset="0"/>
              </a:rPr>
              <a:t>frameworklà</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một</a:t>
            </a:r>
            <a:r>
              <a:rPr lang="en-US" sz="1625" dirty="0">
                <a:latin typeface="Arial" panose="020B0604020202020204" pitchFamily="34" charset="0"/>
                <a:cs typeface="Arial" panose="020B0604020202020204" pitchFamily="34" charset="0"/>
              </a:rPr>
              <a:t> framework </a:t>
            </a:r>
            <a:r>
              <a:rPr lang="en-US" sz="1625" dirty="0" err="1">
                <a:latin typeface="Arial" panose="020B0604020202020204" pitchFamily="34" charset="0"/>
                <a:cs typeface="Arial" panose="020B0604020202020204" pitchFamily="34" charset="0"/>
              </a:rPr>
              <a:t>được</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ra</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đời</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để</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giúp</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các</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nhà</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phát</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triển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có</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thể</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xây</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dựng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hệ</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thống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và</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chạy</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ứng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dụng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trên</a:t>
            </a:r>
            <a:r>
              <a:rPr lang="en-US" sz="1625" dirty="0">
                <a:latin typeface="Arial" panose="020B0604020202020204" pitchFamily="34" charset="0"/>
                <a:cs typeface="Arial" panose="020B0604020202020204" pitchFamily="34" charset="0"/>
              </a:rPr>
              <a:t> JVM </a:t>
            </a:r>
            <a:r>
              <a:rPr lang="en-US" sz="1625" dirty="0" err="1">
                <a:latin typeface="Arial" panose="020B0604020202020204" pitchFamily="34" charset="0"/>
                <a:cs typeface="Arial" panose="020B0604020202020204" pitchFamily="34" charset="0"/>
              </a:rPr>
              <a:t>một</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cách</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thuận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tiện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đơn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giản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và</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nhanh</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chóng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Đây</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là</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một</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mã</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nguồn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mở</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được</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phát</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triển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và</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rất</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nhiều</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người</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sử</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dụng</a:t>
            </a:r>
            <a:r>
              <a:rPr lang="en-US" sz="1625" dirty="0">
                <a:latin typeface="Arial" panose="020B0604020202020204" pitchFamily="34" charset="0"/>
                <a:cs typeface="Arial" panose="020B0604020202020204" pitchFamily="34" charset="0"/>
              </a:rPr>
              <a:t>.</a:t>
            </a:r>
          </a:p>
          <a:p>
            <a:pPr marL="232172" indent="-232172" algn="just">
              <a:buFont typeface="Wingdings" panose="05000000000000000000" pitchFamily="2" charset="2"/>
              <a:buChar char="Ø"/>
            </a:pPr>
            <a:endParaRPr lang="en-US" sz="1625" dirty="0">
              <a:latin typeface="Arial" panose="020B0604020202020204" pitchFamily="34" charset="0"/>
              <a:cs typeface="Arial" panose="020B0604020202020204" pitchFamily="34" charset="0"/>
            </a:endParaRPr>
          </a:p>
          <a:p>
            <a:pPr marL="232172" indent="-232172" algn="just">
              <a:buFont typeface="Wingdings" panose="05000000000000000000" pitchFamily="2" charset="2"/>
              <a:buChar char="Ø"/>
            </a:pPr>
            <a:r>
              <a:rPr lang="en-US" altLang="ja-JP" sz="1625" dirty="0">
                <a:latin typeface="Arial" panose="020B0604020202020204" pitchFamily="34" charset="0"/>
                <a:cs typeface="Arial" panose="020B0604020202020204" pitchFamily="34" charset="0"/>
              </a:rPr>
              <a:t>Spring </a:t>
            </a:r>
            <a:r>
              <a:rPr lang="en-US" altLang="ja-JP" sz="1625" dirty="0" err="1">
                <a:latin typeface="Arial" panose="020B0604020202020204" pitchFamily="34" charset="0"/>
                <a:cs typeface="Arial" panose="020B0604020202020204" pitchFamily="34" charset="0"/>
              </a:rPr>
              <a:t>nhẹ</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và</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trong</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suốt</a:t>
            </a:r>
            <a:r>
              <a:rPr lang="en-US" altLang="ja-JP" sz="1625" dirty="0">
                <a:latin typeface="Arial" panose="020B0604020202020204" pitchFamily="34" charset="0"/>
                <a:cs typeface="Arial" panose="020B0604020202020204" pitchFamily="34" charset="0"/>
              </a:rPr>
              <a:t> </a:t>
            </a:r>
          </a:p>
          <a:p>
            <a:pPr marL="232172" indent="-232172" algn="just">
              <a:buFont typeface="Wingdings" panose="05000000000000000000" pitchFamily="2" charset="2"/>
              <a:buChar char="Ø"/>
            </a:pPr>
            <a:endParaRPr lang="en-US" altLang="ja-JP" sz="1625" dirty="0">
              <a:latin typeface="Arial" panose="020B0604020202020204" pitchFamily="34" charset="0"/>
              <a:cs typeface="Arial" panose="020B0604020202020204" pitchFamily="34" charset="0"/>
            </a:endParaRPr>
          </a:p>
          <a:p>
            <a:pPr marL="232172" indent="-232172" algn="just">
              <a:buFont typeface="Wingdings" panose="05000000000000000000" pitchFamily="2" charset="2"/>
              <a:buChar char="Ø"/>
            </a:pPr>
            <a:r>
              <a:rPr lang="en-US" altLang="ja-JP" sz="1625" dirty="0">
                <a:latin typeface="Arial" panose="020B0604020202020204" pitchFamily="34" charset="0"/>
                <a:cs typeface="Arial" panose="020B0604020202020204" pitchFamily="34" charset="0"/>
              </a:rPr>
              <a:t>Spring Framework </a:t>
            </a:r>
            <a:r>
              <a:rPr lang="en-US" altLang="ja-JP" sz="1625" dirty="0" err="1">
                <a:latin typeface="Arial" panose="020B0604020202020204" pitchFamily="34" charset="0"/>
                <a:cs typeface="Arial" panose="020B0604020202020204" pitchFamily="34" charset="0"/>
              </a:rPr>
              <a:t>được</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xây</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dựng</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dựa</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trên</a:t>
            </a:r>
            <a:r>
              <a:rPr lang="en-US" altLang="ja-JP" sz="1625" dirty="0">
                <a:latin typeface="Arial" panose="020B0604020202020204" pitchFamily="34" charset="0"/>
                <a:cs typeface="Arial" panose="020B0604020202020204" pitchFamily="34" charset="0"/>
              </a:rPr>
              <a:t> 2 </a:t>
            </a:r>
            <a:r>
              <a:rPr lang="en-US" altLang="ja-JP" sz="1625" dirty="0" err="1">
                <a:latin typeface="Arial" panose="020B0604020202020204" pitchFamily="34" charset="0"/>
                <a:cs typeface="Arial" panose="020B0604020202020204" pitchFamily="34" charset="0"/>
              </a:rPr>
              <a:t>nguyên</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tắc</a:t>
            </a:r>
            <a:r>
              <a:rPr lang="en-US" altLang="ja-JP" sz="1625" dirty="0">
                <a:latin typeface="Arial" panose="020B0604020202020204" pitchFamily="34" charset="0"/>
                <a:cs typeface="Arial" panose="020B0604020202020204" pitchFamily="34" charset="0"/>
              </a:rPr>
              <a:t> design </a:t>
            </a:r>
            <a:r>
              <a:rPr lang="en-US" altLang="ja-JP" sz="1625" dirty="0" err="1">
                <a:latin typeface="Arial" panose="020B0604020202020204" pitchFamily="34" charset="0"/>
                <a:cs typeface="Arial" panose="020B0604020202020204" pitchFamily="34" charset="0"/>
              </a:rPr>
              <a:t>chính</a:t>
            </a:r>
            <a:r>
              <a:rPr lang="en-US" altLang="ja-JP" sz="1625" dirty="0">
                <a:latin typeface="Arial" panose="020B0604020202020204" pitchFamily="34" charset="0"/>
                <a:cs typeface="Arial" panose="020B0604020202020204" pitchFamily="34" charset="0"/>
              </a:rPr>
              <a:t> </a:t>
            </a:r>
            <a:r>
              <a:rPr lang="en-US" altLang="ja-JP" sz="1625" dirty="0" err="1">
                <a:latin typeface="Arial" panose="020B0604020202020204" pitchFamily="34" charset="0"/>
                <a:cs typeface="Arial" panose="020B0604020202020204" pitchFamily="34" charset="0"/>
              </a:rPr>
              <a:t>là</a:t>
            </a:r>
            <a:r>
              <a:rPr lang="en-US" altLang="ja-JP" sz="1625" dirty="0">
                <a:latin typeface="Arial" panose="020B0604020202020204" pitchFamily="34" charset="0"/>
                <a:cs typeface="Arial" panose="020B0604020202020204" pitchFamily="34" charset="0"/>
              </a:rPr>
              <a:t>: Dependency Injection </a:t>
            </a:r>
            <a:r>
              <a:rPr lang="en-US" altLang="ja-JP" sz="1625" dirty="0" err="1">
                <a:latin typeface="Arial" panose="020B0604020202020204" pitchFamily="34" charset="0"/>
                <a:cs typeface="Arial" panose="020B0604020202020204" pitchFamily="34" charset="0"/>
              </a:rPr>
              <a:t>và</a:t>
            </a:r>
            <a:r>
              <a:rPr lang="en-US" altLang="ja-JP" sz="1625" dirty="0">
                <a:latin typeface="Arial" panose="020B0604020202020204" pitchFamily="34" charset="0"/>
                <a:cs typeface="Arial" panose="020B0604020202020204" pitchFamily="34" charset="0"/>
              </a:rPr>
              <a:t> Aspect Oriented Programming</a:t>
            </a:r>
          </a:p>
          <a:p>
            <a:pPr marL="232172" indent="-232172" algn="just">
              <a:buFont typeface="Wingdings" panose="05000000000000000000" pitchFamily="2" charset="2"/>
              <a:buChar char="Ø"/>
            </a:pPr>
            <a:endParaRPr lang="en-US" altLang="ja-JP" sz="1625" dirty="0">
              <a:latin typeface="Arial" panose="020B0604020202020204" pitchFamily="34" charset="0"/>
              <a:cs typeface="Arial" panose="020B0604020202020204" pitchFamily="34" charset="0"/>
            </a:endParaRPr>
          </a:p>
          <a:p>
            <a:pPr marL="232172" indent="-232172" algn="just">
              <a:buFont typeface="Wingdings" panose="05000000000000000000" pitchFamily="2" charset="2"/>
              <a:buChar char="Ø"/>
            </a:pPr>
            <a:endParaRPr lang="en-US" sz="1625" dirty="0">
              <a:latin typeface="Arial" panose="020B0604020202020204" pitchFamily="34" charset="0"/>
              <a:cs typeface="Arial" panose="020B0604020202020204" pitchFamily="34" charset="0"/>
            </a:endParaRPr>
          </a:p>
        </p:txBody>
      </p:sp>
      <p:sp>
        <p:nvSpPr>
          <p:cNvPr id="11" name="サブタイトル 4"/>
          <p:cNvSpPr txBox="1">
            <a:spLocks/>
          </p:cNvSpPr>
          <p:nvPr/>
        </p:nvSpPr>
        <p:spPr>
          <a:xfrm>
            <a:off x="853017" y="2227218"/>
            <a:ext cx="6310636" cy="322840"/>
          </a:xfrm>
          <a:prstGeom prst="rect">
            <a:avLst/>
          </a:prstGeom>
        </p:spPr>
        <p:txBody>
          <a:bodyPr vert="horz" lIns="74295" tIns="37148" rIns="74295" bIns="37148"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endParaRPr lang="en-US" sz="1463" dirty="0"/>
          </a:p>
        </p:txBody>
      </p:sp>
      <p:sp>
        <p:nvSpPr>
          <p:cNvPr id="12" name="サブタイトル 4"/>
          <p:cNvSpPr txBox="1">
            <a:spLocks/>
          </p:cNvSpPr>
          <p:nvPr/>
        </p:nvSpPr>
        <p:spPr>
          <a:xfrm>
            <a:off x="853017" y="2208429"/>
            <a:ext cx="6310636" cy="322840"/>
          </a:xfrm>
          <a:prstGeom prst="rect">
            <a:avLst/>
          </a:prstGeom>
        </p:spPr>
        <p:txBody>
          <a:bodyPr vert="horz" lIns="74295" tIns="37148" rIns="74295" bIns="37148"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endParaRPr lang="en-US" sz="1463" dirty="0"/>
          </a:p>
        </p:txBody>
      </p:sp>
      <p:sp>
        <p:nvSpPr>
          <p:cNvPr id="14" name="サブタイトル 4"/>
          <p:cNvSpPr txBox="1">
            <a:spLocks/>
          </p:cNvSpPr>
          <p:nvPr/>
        </p:nvSpPr>
        <p:spPr>
          <a:xfrm>
            <a:off x="853017" y="2482592"/>
            <a:ext cx="6878307" cy="322840"/>
          </a:xfrm>
          <a:prstGeom prst="rect">
            <a:avLst/>
          </a:prstGeom>
        </p:spPr>
        <p:txBody>
          <a:bodyPr vert="horz" lIns="74295" tIns="37148" rIns="74295" bIns="37148"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32172" indent="-232172" algn="just">
              <a:buFont typeface="Wingdings" panose="05000000000000000000" pitchFamily="2" charset="2"/>
              <a:buChar char="Ø"/>
            </a:pPr>
            <a:endParaRPr lang="en-US" sz="1625" dirty="0">
              <a:solidFill>
                <a:schemeClr val="tx1"/>
              </a:solidFill>
              <a:latin typeface="Arial" panose="020B0604020202020204" pitchFamily="34" charset="0"/>
              <a:cs typeface="Arial" panose="020B0604020202020204" pitchFamily="34" charset="0"/>
            </a:endParaRPr>
          </a:p>
        </p:txBody>
      </p:sp>
      <p:sp>
        <p:nvSpPr>
          <p:cNvPr id="15" name="サブタイトル 4"/>
          <p:cNvSpPr txBox="1">
            <a:spLocks/>
          </p:cNvSpPr>
          <p:nvPr/>
        </p:nvSpPr>
        <p:spPr>
          <a:xfrm>
            <a:off x="853017" y="3044181"/>
            <a:ext cx="6878307" cy="322840"/>
          </a:xfrm>
          <a:prstGeom prst="rect">
            <a:avLst/>
          </a:prstGeom>
        </p:spPr>
        <p:txBody>
          <a:bodyPr vert="horz" lIns="74295" tIns="37148" rIns="74295" bIns="37148"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32172" indent="-232172" algn="just">
              <a:buFont typeface="Wingdings" panose="05000000000000000000" pitchFamily="2" charset="2"/>
              <a:buChar char="Ø"/>
            </a:pPr>
            <a:endParaRPr lang="en-US" sz="1625"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15452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nodePh="1">
                                  <p:stCondLst>
                                    <p:cond delay="0"/>
                                  </p:stCondLst>
                                  <p:endCondLst>
                                    <p:cond evt="begin" delay="0">
                                      <p:tn val="20"/>
                                    </p:cond>
                                  </p:end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nodePh="1">
                                  <p:stCondLst>
                                    <p:cond delay="0"/>
                                  </p:stCondLst>
                                  <p:endCondLst>
                                    <p:cond evt="begin" delay="0">
                                      <p:tn val="25"/>
                                    </p:cond>
                                  </p:end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690496" y="813197"/>
            <a:ext cx="6746742" cy="342721"/>
          </a:xfrm>
          <a:prstGeom prst="rect">
            <a:avLst/>
          </a:prstGeom>
        </p:spPr>
        <p:txBody>
          <a:bodyPr vert="horz" lIns="74295" tIns="37148" rIns="74295" bIns="37148"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275" dirty="0">
                <a:solidFill>
                  <a:schemeClr val="tx1"/>
                </a:solidFill>
                <a:latin typeface="Arial" panose="020B0604020202020204" pitchFamily="34" charset="0"/>
                <a:cs typeface="Arial" panose="020B0604020202020204" pitchFamily="34" charset="0"/>
              </a:rPr>
              <a:t>2. </a:t>
            </a:r>
            <a:r>
              <a:rPr lang="en-US" sz="2275" dirty="0" err="1">
                <a:solidFill>
                  <a:schemeClr val="tx1"/>
                </a:solidFill>
                <a:latin typeface="Arial" panose="020B0604020202020204" pitchFamily="34" charset="0"/>
                <a:cs typeface="Arial" panose="020B0604020202020204" pitchFamily="34" charset="0"/>
              </a:rPr>
              <a:t>Kiến</a:t>
            </a:r>
            <a:r>
              <a:rPr lang="en-US" sz="2275" dirty="0">
                <a:solidFill>
                  <a:schemeClr val="tx1"/>
                </a:solidFill>
                <a:latin typeface="Arial" panose="020B0604020202020204" pitchFamily="34" charset="0"/>
                <a:cs typeface="Arial" panose="020B0604020202020204" pitchFamily="34" charset="0"/>
              </a:rPr>
              <a:t> </a:t>
            </a:r>
            <a:r>
              <a:rPr lang="en-US" sz="2275" dirty="0" err="1">
                <a:solidFill>
                  <a:schemeClr val="tx1"/>
                </a:solidFill>
                <a:latin typeface="Arial" panose="020B0604020202020204" pitchFamily="34" charset="0"/>
                <a:cs typeface="Arial" panose="020B0604020202020204" pitchFamily="34" charset="0"/>
              </a:rPr>
              <a:t>trúc</a:t>
            </a:r>
            <a:r>
              <a:rPr lang="en-US" sz="2275" dirty="0">
                <a:solidFill>
                  <a:schemeClr val="tx1"/>
                </a:solidFill>
                <a:latin typeface="Arial" panose="020B0604020202020204" pitchFamily="34" charset="0"/>
                <a:cs typeface="Arial" panose="020B0604020202020204" pitchFamily="34" charset="0"/>
              </a:rPr>
              <a:t>, </a:t>
            </a:r>
            <a:r>
              <a:rPr lang="en-US" sz="2275" dirty="0" err="1">
                <a:solidFill>
                  <a:schemeClr val="tx1"/>
                </a:solidFill>
                <a:latin typeface="Arial" panose="020B0604020202020204" pitchFamily="34" charset="0"/>
                <a:cs typeface="Arial" panose="020B0604020202020204" pitchFamily="34" charset="0"/>
              </a:rPr>
              <a:t>các</a:t>
            </a:r>
            <a:r>
              <a:rPr lang="en-US" sz="2275" dirty="0">
                <a:solidFill>
                  <a:schemeClr val="tx1"/>
                </a:solidFill>
                <a:latin typeface="Arial" panose="020B0604020202020204" pitchFamily="34" charset="0"/>
                <a:cs typeface="Arial" panose="020B0604020202020204" pitchFamily="34" charset="0"/>
              </a:rPr>
              <a:t> module </a:t>
            </a:r>
            <a:r>
              <a:rPr lang="en-US" sz="2275" dirty="0" err="1">
                <a:solidFill>
                  <a:schemeClr val="tx1"/>
                </a:solidFill>
                <a:latin typeface="Arial" panose="020B0604020202020204" pitchFamily="34" charset="0"/>
                <a:cs typeface="Arial" panose="020B0604020202020204" pitchFamily="34" charset="0"/>
              </a:rPr>
              <a:t>của</a:t>
            </a:r>
            <a:r>
              <a:rPr lang="en-US" sz="2275" dirty="0">
                <a:solidFill>
                  <a:schemeClr val="tx1"/>
                </a:solidFill>
                <a:latin typeface="Arial" panose="020B0604020202020204" pitchFamily="34" charset="0"/>
                <a:cs typeface="Arial" panose="020B0604020202020204" pitchFamily="34" charset="0"/>
              </a:rPr>
              <a:t> Spring Framework</a:t>
            </a:r>
          </a:p>
        </p:txBody>
      </p:sp>
      <p:pic>
        <p:nvPicPr>
          <p:cNvPr id="5" name="図 4" descr="Spring là gì? Giới thiệu Spring Framework trong Java"/>
          <p:cNvPicPr/>
          <p:nvPr/>
        </p:nvPicPr>
        <p:blipFill>
          <a:blip r:embed="rId3">
            <a:extLst>
              <a:ext uri="{28A0092B-C50C-407E-A947-70E740481C1C}">
                <a14:useLocalDpi xmlns:a14="http://schemas.microsoft.com/office/drawing/2010/main" val="0"/>
              </a:ext>
            </a:extLst>
          </a:blip>
          <a:srcRect/>
          <a:stretch>
            <a:fillRect/>
          </a:stretch>
        </p:blipFill>
        <p:spPr bwMode="auto">
          <a:xfrm>
            <a:off x="855166" y="1157213"/>
            <a:ext cx="6744593" cy="5057850"/>
          </a:xfrm>
          <a:prstGeom prst="rect">
            <a:avLst/>
          </a:prstGeom>
          <a:noFill/>
          <a:ln>
            <a:noFill/>
          </a:ln>
        </p:spPr>
      </p:pic>
    </p:spTree>
    <p:extLst>
      <p:ext uri="{BB962C8B-B14F-4D97-AF65-F5344CB8AC3E}">
        <p14:creationId xmlns:p14="http://schemas.microsoft.com/office/powerpoint/2010/main" val="3197484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post-image"/>
          <p:cNvPicPr/>
          <p:nvPr/>
        </p:nvPicPr>
        <p:blipFill>
          <a:blip r:embed="rId2">
            <a:extLst>
              <a:ext uri="{28A0092B-C50C-407E-A947-70E740481C1C}">
                <a14:useLocalDpi xmlns:a14="http://schemas.microsoft.com/office/drawing/2010/main" val="0"/>
              </a:ext>
            </a:extLst>
          </a:blip>
          <a:srcRect/>
          <a:stretch>
            <a:fillRect/>
          </a:stretch>
        </p:blipFill>
        <p:spPr bwMode="auto">
          <a:xfrm>
            <a:off x="646211" y="1620123"/>
            <a:ext cx="6977328" cy="3488253"/>
          </a:xfrm>
          <a:prstGeom prst="rect">
            <a:avLst/>
          </a:prstGeom>
          <a:noFill/>
          <a:ln>
            <a:noFill/>
          </a:ln>
        </p:spPr>
      </p:pic>
    </p:spTree>
    <p:extLst>
      <p:ext uri="{BB962C8B-B14F-4D97-AF65-F5344CB8AC3E}">
        <p14:creationId xmlns:p14="http://schemas.microsoft.com/office/powerpoint/2010/main" val="10875952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a:spLocks noGrp="1"/>
          </p:cNvSpPr>
          <p:nvPr>
            <p:ph type="ctrTitle"/>
          </p:nvPr>
        </p:nvSpPr>
        <p:spPr>
          <a:xfrm>
            <a:off x="690496" y="813197"/>
            <a:ext cx="6310636" cy="342721"/>
          </a:xfrm>
        </p:spPr>
        <p:txBody>
          <a:bodyPr>
            <a:normAutofit fontScale="90000"/>
          </a:bodyPr>
          <a:lstStyle/>
          <a:p>
            <a:pPr lvl="0" algn="l"/>
            <a:r>
              <a:rPr lang="en-US" sz="2275" b="1" dirty="0">
                <a:solidFill>
                  <a:schemeClr val="tx1"/>
                </a:solidFill>
                <a:latin typeface="Arial" panose="020B0604020202020204" pitchFamily="34" charset="0"/>
                <a:cs typeface="Arial" panose="020B0604020202020204" pitchFamily="34" charset="0"/>
              </a:rPr>
              <a:t>1. </a:t>
            </a:r>
            <a:r>
              <a:rPr lang="nl-NL" sz="2275" b="1" dirty="0">
                <a:solidFill>
                  <a:schemeClr val="tx1"/>
                </a:solidFill>
                <a:latin typeface="Arial" panose="020B0604020202020204" pitchFamily="34" charset="0"/>
                <a:cs typeface="Arial" panose="020B0604020202020204" pitchFamily="34" charset="0"/>
              </a:rPr>
              <a:t>Spring Boot là gì?</a:t>
            </a:r>
            <a:endParaRPr lang="en-US" sz="2275" b="1" dirty="0">
              <a:solidFill>
                <a:schemeClr val="tx1"/>
              </a:solidFill>
              <a:latin typeface="Arial" panose="020B0604020202020204" pitchFamily="34" charset="0"/>
              <a:cs typeface="Arial" panose="020B0604020202020204" pitchFamily="34" charset="0"/>
            </a:endParaRPr>
          </a:p>
        </p:txBody>
      </p:sp>
      <p:sp>
        <p:nvSpPr>
          <p:cNvPr id="5" name="サブタイトル 4"/>
          <p:cNvSpPr>
            <a:spLocks noGrp="1"/>
          </p:cNvSpPr>
          <p:nvPr>
            <p:ph type="subTitle" idx="1"/>
          </p:nvPr>
        </p:nvSpPr>
        <p:spPr>
          <a:xfrm>
            <a:off x="853017" y="1232208"/>
            <a:ext cx="6878307" cy="826978"/>
          </a:xfrm>
        </p:spPr>
        <p:txBody>
          <a:bodyPr>
            <a:noAutofit/>
          </a:bodyPr>
          <a:lstStyle/>
          <a:p>
            <a:pPr marL="232172" indent="-232172" algn="just">
              <a:buFont typeface="Wingdings" panose="05000000000000000000" pitchFamily="2" charset="2"/>
              <a:buChar char="Ø"/>
            </a:pPr>
            <a:r>
              <a:rPr lang="en-US" sz="1625" b="1" dirty="0">
                <a:latin typeface="Arial" panose="020B0604020202020204" pitchFamily="34" charset="0"/>
                <a:cs typeface="Arial" panose="020B0604020202020204" pitchFamily="34" charset="0"/>
              </a:rPr>
              <a:t>Spring Boot </a:t>
            </a:r>
            <a:r>
              <a:rPr lang="en-US" sz="1625" dirty="0" err="1">
                <a:latin typeface="Arial" panose="020B0604020202020204" pitchFamily="34" charset="0"/>
                <a:cs typeface="Arial" panose="020B0604020202020204" pitchFamily="34" charset="0"/>
              </a:rPr>
              <a:t>là</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một</a:t>
            </a:r>
            <a:r>
              <a:rPr lang="en-US" sz="1625" dirty="0">
                <a:latin typeface="Arial" panose="020B0604020202020204" pitchFamily="34" charset="0"/>
                <a:cs typeface="Arial" panose="020B0604020202020204" pitchFamily="34" charset="0"/>
              </a:rPr>
              <a:t> module </a:t>
            </a:r>
            <a:r>
              <a:rPr lang="en-US" sz="1625" dirty="0" err="1">
                <a:latin typeface="Arial" panose="020B0604020202020204" pitchFamily="34" charset="0"/>
                <a:cs typeface="Arial" panose="020B0604020202020204" pitchFamily="34" charset="0"/>
              </a:rPr>
              <a:t>của</a:t>
            </a:r>
            <a:r>
              <a:rPr lang="en-US" sz="1625" dirty="0">
                <a:latin typeface="Arial" panose="020B0604020202020204" pitchFamily="34" charset="0"/>
                <a:cs typeface="Arial" panose="020B0604020202020204" pitchFamily="34" charset="0"/>
              </a:rPr>
              <a:t> </a:t>
            </a:r>
            <a:r>
              <a:rPr lang="en-US" sz="1625" b="1" dirty="0">
                <a:latin typeface="Arial" panose="020B0604020202020204" pitchFamily="34" charset="0"/>
                <a:cs typeface="Arial" panose="020B0604020202020204" pitchFamily="34" charset="0"/>
              </a:rPr>
              <a:t>Spring Framework</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cung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cấp</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các</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tính</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năng</a:t>
            </a:r>
            <a:r>
              <a:rPr lang="en-US" sz="1625" dirty="0">
                <a:latin typeface="Arial" panose="020B0604020202020204" pitchFamily="34" charset="0"/>
                <a:cs typeface="Arial" panose="020B0604020202020204" pitchFamily="34" charset="0"/>
              </a:rPr>
              <a:t> RAD (Rapid Application Development) – </a:t>
            </a:r>
            <a:r>
              <a:rPr lang="en-US" sz="1625" dirty="0" err="1">
                <a:latin typeface="Arial" panose="020B0604020202020204" pitchFamily="34" charset="0"/>
                <a:cs typeface="Arial" panose="020B0604020202020204" pitchFamily="34" charset="0"/>
              </a:rPr>
              <a:t>phát</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triển</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ứng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dụng</a:t>
            </a:r>
            <a:r>
              <a:rPr lang="en-US" sz="1625" dirty="0">
                <a:latin typeface="Arial" panose="020B0604020202020204" pitchFamily="34" charset="0"/>
                <a:cs typeface="Arial" panose="020B0604020202020204" pitchFamily="34" charset="0"/>
              </a:rPr>
              <a:t> </a:t>
            </a:r>
            <a:r>
              <a:rPr lang="en-US" sz="1625" dirty="0" err="1">
                <a:latin typeface="Arial" panose="020B0604020202020204" pitchFamily="34" charset="0"/>
                <a:cs typeface="Arial" panose="020B0604020202020204" pitchFamily="34" charset="0"/>
              </a:rPr>
              <a:t>nhanh</a:t>
            </a:r>
            <a:endParaRPr lang="en-US" sz="1625" dirty="0">
              <a:latin typeface="Arial" panose="020B0604020202020204" pitchFamily="34" charset="0"/>
              <a:cs typeface="Arial" panose="020B0604020202020204" pitchFamily="34" charset="0"/>
            </a:endParaRPr>
          </a:p>
        </p:txBody>
      </p:sp>
      <p:sp>
        <p:nvSpPr>
          <p:cNvPr id="6" name="サブタイトル 4"/>
          <p:cNvSpPr txBox="1">
            <a:spLocks/>
          </p:cNvSpPr>
          <p:nvPr/>
        </p:nvSpPr>
        <p:spPr>
          <a:xfrm>
            <a:off x="853017" y="2184112"/>
            <a:ext cx="6878307" cy="873412"/>
          </a:xfrm>
          <a:prstGeom prst="rect">
            <a:avLst/>
          </a:prstGeom>
        </p:spPr>
        <p:txBody>
          <a:bodyPr vert="horz" lIns="74295" tIns="37148" rIns="74295" bIns="37148"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32172" indent="-232172" algn="just">
              <a:buFont typeface="Wingdings" panose="05000000000000000000" pitchFamily="2" charset="2"/>
              <a:buChar char="Ø"/>
            </a:pPr>
            <a:r>
              <a:rPr lang="en-US" sz="1625" dirty="0">
                <a:solidFill>
                  <a:schemeClr val="tx1"/>
                </a:solidFill>
                <a:latin typeface="Arial" panose="020B0604020202020204" pitchFamily="34" charset="0"/>
                <a:cs typeface="Arial" panose="020B0604020202020204" pitchFamily="34" charset="0"/>
              </a:rPr>
              <a:t>Spring Boot </a:t>
            </a:r>
            <a:r>
              <a:rPr lang="en-US" sz="1625" dirty="0" err="1">
                <a:solidFill>
                  <a:schemeClr val="tx1"/>
                </a:solidFill>
                <a:latin typeface="Arial" panose="020B0604020202020204" pitchFamily="34" charset="0"/>
                <a:cs typeface="Arial" panose="020B0604020202020204" pitchFamily="34" charset="0"/>
              </a:rPr>
              <a:t>cung</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cấp</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một</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nền</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tảng</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tốt</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cho</a:t>
            </a:r>
            <a:r>
              <a:rPr lang="en-US" sz="1625" dirty="0">
                <a:solidFill>
                  <a:schemeClr val="tx1"/>
                </a:solidFill>
                <a:latin typeface="Arial" panose="020B0604020202020204" pitchFamily="34" charset="0"/>
                <a:cs typeface="Arial" panose="020B0604020202020204" pitchFamily="34" charset="0"/>
              </a:rPr>
              <a:t> Java developers </a:t>
            </a:r>
            <a:r>
              <a:rPr lang="en-US" sz="1625" dirty="0" err="1">
                <a:solidFill>
                  <a:schemeClr val="tx1"/>
                </a:solidFill>
                <a:latin typeface="Arial" panose="020B0604020202020204" pitchFamily="34" charset="0"/>
                <a:cs typeface="Arial" panose="020B0604020202020204" pitchFamily="34" charset="0"/>
              </a:rPr>
              <a:t>để</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phát</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triển</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một</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ứng</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dụng</a:t>
            </a:r>
            <a:r>
              <a:rPr lang="en-US" sz="1625" dirty="0">
                <a:solidFill>
                  <a:schemeClr val="tx1"/>
                </a:solidFill>
                <a:latin typeface="Arial" panose="020B0604020202020204" pitchFamily="34" charset="0"/>
                <a:cs typeface="Arial" panose="020B0604020202020204" pitchFamily="34" charset="0"/>
              </a:rPr>
              <a:t> spring </a:t>
            </a:r>
            <a:r>
              <a:rPr lang="en-US" sz="1625" dirty="0" err="1">
                <a:solidFill>
                  <a:schemeClr val="tx1"/>
                </a:solidFill>
                <a:latin typeface="Arial" panose="020B0604020202020204" pitchFamily="34" charset="0"/>
                <a:cs typeface="Arial" panose="020B0604020202020204" pitchFamily="34" charset="0"/>
              </a:rPr>
              <a:t>độc</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lập</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Bạn</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có</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thể</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bắt</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đầu</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với</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các</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cấu</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hình</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tối</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thiểu</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mà</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không</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cần</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thiết</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lập</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toàn</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bộ</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cấu</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hình</a:t>
            </a:r>
            <a:r>
              <a:rPr lang="en-US" sz="1625" dirty="0">
                <a:solidFill>
                  <a:schemeClr val="tx1"/>
                </a:solidFill>
                <a:latin typeface="Arial" panose="020B0604020202020204" pitchFamily="34" charset="0"/>
                <a:cs typeface="Arial" panose="020B0604020202020204" pitchFamily="34" charset="0"/>
              </a:rPr>
              <a:t> Spring</a:t>
            </a:r>
          </a:p>
        </p:txBody>
      </p:sp>
      <p:sp>
        <p:nvSpPr>
          <p:cNvPr id="7" name="サブタイトル 4"/>
          <p:cNvSpPr txBox="1">
            <a:spLocks/>
          </p:cNvSpPr>
          <p:nvPr/>
        </p:nvSpPr>
        <p:spPr>
          <a:xfrm>
            <a:off x="853017" y="3182451"/>
            <a:ext cx="6878307" cy="1438365"/>
          </a:xfrm>
          <a:prstGeom prst="rect">
            <a:avLst/>
          </a:prstGeom>
        </p:spPr>
        <p:txBody>
          <a:bodyPr vert="horz" lIns="74295" tIns="37148" rIns="74295" bIns="37148"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32172" indent="-232172" algn="just">
              <a:buFont typeface="Wingdings" panose="05000000000000000000" pitchFamily="2" charset="2"/>
              <a:buChar char="Ø"/>
            </a:pPr>
            <a:r>
              <a:rPr lang="en-US" sz="1625" dirty="0">
                <a:solidFill>
                  <a:schemeClr val="tx1"/>
                </a:solidFill>
                <a:latin typeface="Arial" panose="020B0604020202020204" pitchFamily="34" charset="0"/>
                <a:cs typeface="Arial" panose="020B0604020202020204" pitchFamily="34" charset="0"/>
              </a:rPr>
              <a:t>Spring Boot </a:t>
            </a:r>
            <a:r>
              <a:rPr lang="en-US" sz="1625" dirty="0" err="1">
                <a:solidFill>
                  <a:schemeClr val="tx1"/>
                </a:solidFill>
                <a:latin typeface="Arial" panose="020B0604020202020204" pitchFamily="34" charset="0"/>
                <a:cs typeface="Arial" panose="020B0604020202020204" pitchFamily="34" charset="0"/>
              </a:rPr>
              <a:t>hỗ</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trợ</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lập</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trình</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viên</a:t>
            </a:r>
            <a:r>
              <a:rPr lang="en-US" sz="1625" dirty="0">
                <a:solidFill>
                  <a:schemeClr val="tx1"/>
                </a:solidFill>
                <a:latin typeface="Arial" panose="020B0604020202020204" pitchFamily="34" charset="0"/>
                <a:cs typeface="Arial" panose="020B0604020202020204" pitchFamily="34" charset="0"/>
              </a:rPr>
              <a:t>:</a:t>
            </a:r>
          </a:p>
          <a:p>
            <a:pPr marL="603647" lvl="1" indent="-232172" algn="just">
              <a:buFont typeface="Wingdings" panose="05000000000000000000" pitchFamily="2" charset="2"/>
              <a:buChar char="§"/>
            </a:pPr>
            <a:r>
              <a:rPr lang="en-US" sz="1300" dirty="0">
                <a:solidFill>
                  <a:schemeClr val="tx1"/>
                </a:solidFill>
              </a:rPr>
              <a:t>Auto </a:t>
            </a:r>
            <a:r>
              <a:rPr lang="en-US" sz="1300" dirty="0" err="1">
                <a:solidFill>
                  <a:schemeClr val="tx1"/>
                </a:solidFill>
              </a:rPr>
              <a:t>config</a:t>
            </a:r>
            <a:endParaRPr lang="en-US" sz="1300" dirty="0">
              <a:solidFill>
                <a:schemeClr val="tx1"/>
              </a:solidFill>
            </a:endParaRPr>
          </a:p>
          <a:p>
            <a:pPr marL="603647" lvl="1" indent="-232172" algn="just">
              <a:buFont typeface="Wingdings" panose="05000000000000000000" pitchFamily="2" charset="2"/>
              <a:buChar char="§"/>
            </a:pPr>
            <a:r>
              <a:rPr lang="en-US" sz="1300" dirty="0" err="1">
                <a:solidFill>
                  <a:schemeClr val="tx1"/>
                </a:solidFill>
                <a:latin typeface="Arial" panose="020B0604020202020204" pitchFamily="34" charset="0"/>
                <a:cs typeface="Arial" panose="020B0604020202020204" pitchFamily="34" charset="0"/>
              </a:rPr>
              <a:t>Không</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cần</a:t>
            </a:r>
            <a:r>
              <a:rPr lang="en-US" sz="1300" dirty="0">
                <a:solidFill>
                  <a:schemeClr val="tx1"/>
                </a:solidFill>
                <a:latin typeface="Arial" panose="020B0604020202020204" pitchFamily="34" charset="0"/>
                <a:cs typeface="Arial" panose="020B0604020202020204" pitchFamily="34" charset="0"/>
              </a:rPr>
              <a:t> XML </a:t>
            </a:r>
            <a:r>
              <a:rPr lang="en-US" sz="1300" dirty="0" err="1">
                <a:solidFill>
                  <a:schemeClr val="tx1"/>
                </a:solidFill>
                <a:latin typeface="Arial" panose="020B0604020202020204" pitchFamily="34" charset="0"/>
                <a:cs typeface="Arial" panose="020B0604020202020204" pitchFamily="34" charset="0"/>
              </a:rPr>
              <a:t>để</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cấu</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hình</a:t>
            </a:r>
            <a:endParaRPr lang="en-US" sz="1300" dirty="0">
              <a:solidFill>
                <a:schemeClr val="tx1"/>
              </a:solidFill>
              <a:latin typeface="Arial" panose="020B0604020202020204" pitchFamily="34" charset="0"/>
              <a:cs typeface="Arial" panose="020B0604020202020204" pitchFamily="34" charset="0"/>
            </a:endParaRPr>
          </a:p>
          <a:p>
            <a:pPr marL="603647" lvl="1" indent="-232172" algn="just">
              <a:buFont typeface="Wingdings" panose="05000000000000000000" pitchFamily="2" charset="2"/>
              <a:buChar char="§"/>
            </a:pPr>
            <a:r>
              <a:rPr lang="en-US" sz="1300" dirty="0" err="1">
                <a:solidFill>
                  <a:schemeClr val="tx1"/>
                </a:solidFill>
                <a:latin typeface="Arial" panose="020B0604020202020204" pitchFamily="34" charset="0"/>
                <a:cs typeface="Arial" panose="020B0604020202020204" pitchFamily="34" charset="0"/>
              </a:rPr>
              <a:t>Không</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cần</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cấu</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hình</a:t>
            </a:r>
            <a:r>
              <a:rPr lang="en-US" sz="1300" dirty="0">
                <a:solidFill>
                  <a:schemeClr val="tx1"/>
                </a:solidFill>
                <a:latin typeface="Arial" panose="020B0604020202020204" pitchFamily="34" charset="0"/>
                <a:cs typeface="Arial" panose="020B0604020202020204" pitchFamily="34" charset="0"/>
              </a:rPr>
              <a:t> Server Tomcat </a:t>
            </a:r>
          </a:p>
        </p:txBody>
      </p:sp>
    </p:spTree>
    <p:extLst>
      <p:ext uri="{BB962C8B-B14F-4D97-AF65-F5344CB8AC3E}">
        <p14:creationId xmlns:p14="http://schemas.microsoft.com/office/powerpoint/2010/main" val="3896593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690496" y="813197"/>
            <a:ext cx="6310636" cy="342721"/>
          </a:xfrm>
          <a:prstGeom prst="rect">
            <a:avLst/>
          </a:prstGeom>
        </p:spPr>
        <p:txBody>
          <a:bodyPr vert="horz" lIns="74295" tIns="37148" rIns="74295" bIns="37148"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275" dirty="0">
                <a:solidFill>
                  <a:schemeClr val="tx1"/>
                </a:solidFill>
                <a:latin typeface="Arial" panose="020B0604020202020204" pitchFamily="34" charset="0"/>
                <a:cs typeface="Arial" panose="020B0604020202020204" pitchFamily="34" charset="0"/>
              </a:rPr>
              <a:t>2. </a:t>
            </a:r>
            <a:r>
              <a:rPr lang="vi-VN" sz="2275" dirty="0">
                <a:solidFill>
                  <a:schemeClr val="tx1"/>
                </a:solidFill>
                <a:latin typeface="Arial" panose="020B0604020202020204" pitchFamily="34" charset="0"/>
                <a:cs typeface="Arial" panose="020B0604020202020204" pitchFamily="34" charset="0"/>
              </a:rPr>
              <a:t>Ưu điểm nổi bật của Spring Boot</a:t>
            </a:r>
            <a:endParaRPr lang="en-US" sz="2275" dirty="0">
              <a:solidFill>
                <a:schemeClr val="tx1"/>
              </a:solidFill>
              <a:latin typeface="Arial" panose="020B0604020202020204" pitchFamily="34" charset="0"/>
              <a:cs typeface="Arial" panose="020B0604020202020204" pitchFamily="34" charset="0"/>
            </a:endParaRPr>
          </a:p>
        </p:txBody>
      </p:sp>
      <p:sp>
        <p:nvSpPr>
          <p:cNvPr id="6" name="テキスト ボックス 5"/>
          <p:cNvSpPr txBox="1"/>
          <p:nvPr/>
        </p:nvSpPr>
        <p:spPr>
          <a:xfrm>
            <a:off x="920949" y="1285280"/>
            <a:ext cx="6013252" cy="292388"/>
          </a:xfrm>
          <a:prstGeom prst="rect">
            <a:avLst/>
          </a:prstGeom>
          <a:noFill/>
        </p:spPr>
        <p:txBody>
          <a:bodyPr wrap="square" rtlCol="0">
            <a:spAutoFit/>
          </a:bodyPr>
          <a:lstStyle/>
          <a:p>
            <a:pPr marL="232172" indent="-232172">
              <a:buFont typeface="Arial" panose="020B0604020202020204" pitchFamily="34" charset="0"/>
              <a:buChar char="•"/>
            </a:pPr>
            <a:r>
              <a:rPr lang="en-US" sz="1300" dirty="0" err="1"/>
              <a:t>Hội</a:t>
            </a:r>
            <a:r>
              <a:rPr lang="en-US" sz="1300" dirty="0"/>
              <a:t> </a:t>
            </a:r>
            <a:r>
              <a:rPr lang="en-US" sz="1300" dirty="0" err="1"/>
              <a:t>tụ</a:t>
            </a:r>
            <a:r>
              <a:rPr lang="en-US" sz="1300" dirty="0"/>
              <a:t> </a:t>
            </a:r>
            <a:r>
              <a:rPr lang="en-US" sz="1300" dirty="0" err="1"/>
              <a:t>đầy</a:t>
            </a:r>
            <a:r>
              <a:rPr lang="en-US" sz="1300" dirty="0"/>
              <a:t> </a:t>
            </a:r>
            <a:r>
              <a:rPr lang="en-US" sz="1300" dirty="0" err="1"/>
              <a:t>đủ</a:t>
            </a:r>
            <a:r>
              <a:rPr lang="en-US" sz="1300" dirty="0"/>
              <a:t> </a:t>
            </a:r>
            <a:r>
              <a:rPr lang="en-US" sz="1300" dirty="0" err="1"/>
              <a:t>các</a:t>
            </a:r>
            <a:r>
              <a:rPr lang="en-US" sz="1300" dirty="0"/>
              <a:t> </a:t>
            </a:r>
            <a:r>
              <a:rPr lang="en-US" sz="1300" dirty="0" err="1"/>
              <a:t>tính</a:t>
            </a:r>
            <a:r>
              <a:rPr lang="en-US" sz="1300" dirty="0"/>
              <a:t> </a:t>
            </a:r>
            <a:r>
              <a:rPr lang="en-US" sz="1300" dirty="0" err="1"/>
              <a:t>năng</a:t>
            </a:r>
            <a:r>
              <a:rPr lang="en-US" sz="1300" dirty="0"/>
              <a:t> </a:t>
            </a:r>
            <a:r>
              <a:rPr lang="en-US" sz="1300" dirty="0" err="1"/>
              <a:t>của</a:t>
            </a:r>
            <a:r>
              <a:rPr lang="en-US" sz="1300" dirty="0"/>
              <a:t> Spring framework.</a:t>
            </a:r>
          </a:p>
        </p:txBody>
      </p:sp>
      <p:sp>
        <p:nvSpPr>
          <p:cNvPr id="7" name="テキスト ボックス 6"/>
          <p:cNvSpPr txBox="1"/>
          <p:nvPr/>
        </p:nvSpPr>
        <p:spPr>
          <a:xfrm>
            <a:off x="920945" y="1559346"/>
            <a:ext cx="6013252" cy="492443"/>
          </a:xfrm>
          <a:prstGeom prst="rect">
            <a:avLst/>
          </a:prstGeom>
          <a:noFill/>
        </p:spPr>
        <p:txBody>
          <a:bodyPr wrap="square" rtlCol="0">
            <a:spAutoFit/>
          </a:bodyPr>
          <a:lstStyle/>
          <a:p>
            <a:pPr marL="232172" indent="-232172">
              <a:buFont typeface="Arial" panose="020B0604020202020204" pitchFamily="34" charset="0"/>
              <a:buChar char="•"/>
            </a:pPr>
            <a:r>
              <a:rPr lang="vi-VN" sz="1300" dirty="0"/>
              <a:t>Phát triển các ứng dụng dựa trên Spring một cách tiết kiệm thời gian và dễ dàng.</a:t>
            </a:r>
            <a:endParaRPr lang="en-US" sz="1300" dirty="0"/>
          </a:p>
        </p:txBody>
      </p:sp>
      <p:sp>
        <p:nvSpPr>
          <p:cNvPr id="8" name="テキスト ボックス 7"/>
          <p:cNvSpPr txBox="1"/>
          <p:nvPr/>
        </p:nvSpPr>
        <p:spPr>
          <a:xfrm>
            <a:off x="920939" y="2652293"/>
            <a:ext cx="6013252" cy="692497"/>
          </a:xfrm>
          <a:prstGeom prst="rect">
            <a:avLst/>
          </a:prstGeom>
          <a:noFill/>
        </p:spPr>
        <p:txBody>
          <a:bodyPr wrap="square" rtlCol="0">
            <a:spAutoFit/>
          </a:bodyPr>
          <a:lstStyle/>
          <a:p>
            <a:pPr marL="232172" indent="-232172">
              <a:buFont typeface="Arial" panose="020B0604020202020204" pitchFamily="34" charset="0"/>
              <a:buChar char="•"/>
            </a:pPr>
            <a:r>
              <a:rPr lang="vi-VN" sz="1300" dirty="0"/>
              <a:t>Các máy chủ nhúng được tạo sẵn (Tomcat, Jetty và Undertow), dẫn đến việc triển khai ứng dụng được tăng tốc và hiệu quả hơn.</a:t>
            </a:r>
            <a:endParaRPr lang="en-US" sz="1300" dirty="0"/>
          </a:p>
        </p:txBody>
      </p:sp>
      <p:sp>
        <p:nvSpPr>
          <p:cNvPr id="9" name="テキスト ボックス 8"/>
          <p:cNvSpPr txBox="1"/>
          <p:nvPr/>
        </p:nvSpPr>
        <p:spPr>
          <a:xfrm>
            <a:off x="920938" y="4167267"/>
            <a:ext cx="6013252" cy="292388"/>
          </a:xfrm>
          <a:prstGeom prst="rect">
            <a:avLst/>
          </a:prstGeom>
          <a:noFill/>
        </p:spPr>
        <p:txBody>
          <a:bodyPr wrap="square" rtlCol="0">
            <a:spAutoFit/>
          </a:bodyPr>
          <a:lstStyle/>
          <a:p>
            <a:pPr marL="232172" indent="-232172">
              <a:buFont typeface="Arial" panose="020B0604020202020204" pitchFamily="34" charset="0"/>
              <a:buChar char="•"/>
            </a:pPr>
            <a:r>
              <a:rPr lang="vi-VN" sz="1300" dirty="0"/>
              <a:t>Tích hợp trơn tru với hệ sinh thái Spring</a:t>
            </a:r>
            <a:endParaRPr lang="en-US" sz="1300" dirty="0"/>
          </a:p>
        </p:txBody>
      </p:sp>
      <p:sp>
        <p:nvSpPr>
          <p:cNvPr id="10" name="テキスト ボックス 9"/>
          <p:cNvSpPr txBox="1"/>
          <p:nvPr/>
        </p:nvSpPr>
        <p:spPr>
          <a:xfrm>
            <a:off x="920941" y="2085979"/>
            <a:ext cx="6013252" cy="492443"/>
          </a:xfrm>
          <a:prstGeom prst="rect">
            <a:avLst/>
          </a:prstGeom>
          <a:noFill/>
        </p:spPr>
        <p:txBody>
          <a:bodyPr wrap="square" rtlCol="0">
            <a:spAutoFit/>
          </a:bodyPr>
          <a:lstStyle/>
          <a:p>
            <a:pPr marL="232172" indent="-232172">
              <a:buFont typeface="Arial" panose="020B0604020202020204" pitchFamily="34" charset="0"/>
              <a:buChar char="•"/>
            </a:pPr>
            <a:r>
              <a:rPr lang="en-US" sz="1300" dirty="0" err="1"/>
              <a:t>Tự</a:t>
            </a:r>
            <a:r>
              <a:rPr lang="en-US" sz="1300" dirty="0"/>
              <a:t> </a:t>
            </a:r>
            <a:r>
              <a:rPr lang="en-US" sz="1300" dirty="0" err="1"/>
              <a:t>động</a:t>
            </a:r>
            <a:r>
              <a:rPr lang="en-US" sz="1300" dirty="0"/>
              <a:t> </a:t>
            </a:r>
            <a:r>
              <a:rPr lang="en-US" sz="1300" dirty="0" err="1"/>
              <a:t>cấu</a:t>
            </a:r>
            <a:r>
              <a:rPr lang="en-US" sz="1300" dirty="0"/>
              <a:t> </a:t>
            </a:r>
            <a:r>
              <a:rPr lang="en-US" sz="1300" dirty="0" err="1"/>
              <a:t>hình</a:t>
            </a:r>
            <a:r>
              <a:rPr lang="en-US" sz="1300" dirty="0"/>
              <a:t> </a:t>
            </a:r>
            <a:r>
              <a:rPr lang="en-US" sz="1300" dirty="0" err="1"/>
              <a:t>tất</a:t>
            </a:r>
            <a:r>
              <a:rPr lang="en-US" sz="1300" dirty="0"/>
              <a:t> </a:t>
            </a:r>
            <a:r>
              <a:rPr lang="en-US" sz="1300" dirty="0" err="1"/>
              <a:t>cả</a:t>
            </a:r>
            <a:r>
              <a:rPr lang="en-US" sz="1300" dirty="0"/>
              <a:t> </a:t>
            </a:r>
            <a:r>
              <a:rPr lang="en-US" sz="1300" dirty="0" err="1"/>
              <a:t>các</a:t>
            </a:r>
            <a:r>
              <a:rPr lang="en-US" sz="1300" dirty="0"/>
              <a:t> components </a:t>
            </a:r>
            <a:r>
              <a:rPr lang="en-US" sz="1300" dirty="0" err="1"/>
              <a:t>cho</a:t>
            </a:r>
            <a:r>
              <a:rPr lang="en-US" sz="1300" dirty="0"/>
              <a:t> </a:t>
            </a:r>
            <a:r>
              <a:rPr lang="en-US" sz="1300" dirty="0" err="1"/>
              <a:t>một</a:t>
            </a:r>
            <a:r>
              <a:rPr lang="en-US" sz="1300" dirty="0"/>
              <a:t> </a:t>
            </a:r>
            <a:r>
              <a:rPr lang="en-US" sz="1300" dirty="0" err="1"/>
              <a:t>ứng</a:t>
            </a:r>
            <a:r>
              <a:rPr lang="en-US" sz="1300" dirty="0"/>
              <a:t> </a:t>
            </a:r>
            <a:r>
              <a:rPr lang="en-US" sz="1300" dirty="0" err="1"/>
              <a:t>dụng</a:t>
            </a:r>
            <a:r>
              <a:rPr lang="en-US" sz="1300" dirty="0"/>
              <a:t> Spring </a:t>
            </a:r>
            <a:r>
              <a:rPr lang="en-US" sz="1300" dirty="0" err="1"/>
              <a:t>cấp</a:t>
            </a:r>
            <a:r>
              <a:rPr lang="en-US" sz="1300" dirty="0"/>
              <a:t> </a:t>
            </a:r>
            <a:r>
              <a:rPr lang="en-US" sz="1300" dirty="0" err="1"/>
              <a:t>sản</a:t>
            </a:r>
            <a:r>
              <a:rPr lang="en-US" sz="1300" dirty="0"/>
              <a:t> </a:t>
            </a:r>
            <a:r>
              <a:rPr lang="en-US" sz="1300" dirty="0" err="1"/>
              <a:t>xuất</a:t>
            </a:r>
            <a:r>
              <a:rPr lang="en-US" sz="1300" dirty="0"/>
              <a:t>.</a:t>
            </a:r>
          </a:p>
        </p:txBody>
      </p:sp>
      <p:sp>
        <p:nvSpPr>
          <p:cNvPr id="11" name="テキスト ボックス 10"/>
          <p:cNvSpPr txBox="1"/>
          <p:nvPr/>
        </p:nvSpPr>
        <p:spPr>
          <a:xfrm>
            <a:off x="920938" y="4516353"/>
            <a:ext cx="6013252" cy="292388"/>
          </a:xfrm>
          <a:prstGeom prst="rect">
            <a:avLst/>
          </a:prstGeom>
          <a:noFill/>
        </p:spPr>
        <p:txBody>
          <a:bodyPr wrap="square" rtlCol="0">
            <a:spAutoFit/>
          </a:bodyPr>
          <a:lstStyle/>
          <a:p>
            <a:pPr marL="232172" indent="-232172">
              <a:buFont typeface="Arial" panose="020B0604020202020204" pitchFamily="34" charset="0"/>
              <a:buChar char="•"/>
            </a:pPr>
            <a:r>
              <a:rPr lang="en-US" sz="1300" dirty="0" err="1"/>
              <a:t>Giúp</a:t>
            </a:r>
            <a:r>
              <a:rPr lang="en-US" sz="1300" dirty="0"/>
              <a:t> </a:t>
            </a:r>
            <a:r>
              <a:rPr lang="en-US" sz="1300" dirty="0" err="1"/>
              <a:t>cung</a:t>
            </a:r>
            <a:r>
              <a:rPr lang="en-US" sz="1300" dirty="0"/>
              <a:t> </a:t>
            </a:r>
            <a:r>
              <a:rPr lang="en-US" sz="1300" dirty="0" err="1"/>
              <a:t>cấp</a:t>
            </a:r>
            <a:r>
              <a:rPr lang="en-US" sz="1300" dirty="0"/>
              <a:t> </a:t>
            </a:r>
            <a:r>
              <a:rPr lang="en-US" sz="1300" dirty="0" err="1"/>
              <a:t>nhiều</a:t>
            </a:r>
            <a:r>
              <a:rPr lang="en-US" sz="1300" dirty="0"/>
              <a:t> plugin</a:t>
            </a:r>
          </a:p>
        </p:txBody>
      </p:sp>
      <p:sp>
        <p:nvSpPr>
          <p:cNvPr id="12" name="テキスト ボックス 11"/>
          <p:cNvSpPr txBox="1"/>
          <p:nvPr/>
        </p:nvSpPr>
        <p:spPr>
          <a:xfrm>
            <a:off x="920939" y="3642123"/>
            <a:ext cx="6013252" cy="492443"/>
          </a:xfrm>
          <a:prstGeom prst="rect">
            <a:avLst/>
          </a:prstGeom>
          <a:noFill/>
        </p:spPr>
        <p:txBody>
          <a:bodyPr wrap="square" rtlCol="0">
            <a:spAutoFit/>
          </a:bodyPr>
          <a:lstStyle/>
          <a:p>
            <a:pPr marL="232172" indent="-232172">
              <a:buFont typeface="Arial" panose="020B0604020202020204" pitchFamily="34" charset="0"/>
              <a:buChar char="•"/>
            </a:pPr>
            <a:r>
              <a:rPr lang="vi-VN" sz="1300" dirty="0"/>
              <a:t>Dễ dàng truy cập cơ sở dữ liệu và các dịch vụ hàng đợi như MySQL, Oracle, MongoDB, Redis, ActiveMQ và các dịch vụ khác</a:t>
            </a:r>
            <a:endParaRPr lang="en-US" sz="1300" dirty="0"/>
          </a:p>
        </p:txBody>
      </p:sp>
      <p:sp>
        <p:nvSpPr>
          <p:cNvPr id="13" name="テキスト ボックス 12"/>
          <p:cNvSpPr txBox="1"/>
          <p:nvPr/>
        </p:nvSpPr>
        <p:spPr>
          <a:xfrm>
            <a:off x="920939" y="3307807"/>
            <a:ext cx="6013252" cy="292388"/>
          </a:xfrm>
          <a:prstGeom prst="rect">
            <a:avLst/>
          </a:prstGeom>
          <a:noFill/>
        </p:spPr>
        <p:txBody>
          <a:bodyPr wrap="square" rtlCol="0">
            <a:spAutoFit/>
          </a:bodyPr>
          <a:lstStyle/>
          <a:p>
            <a:pPr marL="232172" indent="-232172">
              <a:buFont typeface="Arial" panose="020B0604020202020204" pitchFamily="34" charset="0"/>
              <a:buChar char="•"/>
            </a:pPr>
            <a:r>
              <a:rPr lang="en-US" sz="1300" dirty="0" err="1"/>
              <a:t>Không</a:t>
            </a:r>
            <a:r>
              <a:rPr lang="en-US" sz="1300" dirty="0"/>
              <a:t> </a:t>
            </a:r>
            <a:r>
              <a:rPr lang="en-US" sz="1300" dirty="0" err="1"/>
              <a:t>có</a:t>
            </a:r>
            <a:r>
              <a:rPr lang="en-US" sz="1300" dirty="0"/>
              <a:t> </a:t>
            </a:r>
            <a:r>
              <a:rPr lang="en-US" sz="1300" dirty="0" err="1"/>
              <a:t>cấu</a:t>
            </a:r>
            <a:r>
              <a:rPr lang="en-US" sz="1300" dirty="0"/>
              <a:t> </a:t>
            </a:r>
            <a:r>
              <a:rPr lang="en-US" sz="1300" dirty="0" err="1"/>
              <a:t>hình</a:t>
            </a:r>
            <a:r>
              <a:rPr lang="en-US" sz="1300" dirty="0"/>
              <a:t> XML</a:t>
            </a:r>
          </a:p>
        </p:txBody>
      </p:sp>
    </p:spTree>
    <p:extLst>
      <p:ext uri="{BB962C8B-B14F-4D97-AF65-F5344CB8AC3E}">
        <p14:creationId xmlns:p14="http://schemas.microsoft.com/office/powerpoint/2010/main" val="239222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6"/>
          <p:cNvSpPr txBox="1">
            <a:spLocks/>
          </p:cNvSpPr>
          <p:nvPr/>
        </p:nvSpPr>
        <p:spPr>
          <a:xfrm>
            <a:off x="690496" y="813197"/>
            <a:ext cx="6310636" cy="342721"/>
          </a:xfrm>
          <a:prstGeom prst="rect">
            <a:avLst/>
          </a:prstGeom>
        </p:spPr>
        <p:txBody>
          <a:bodyPr vert="horz" lIns="74295" tIns="37148" rIns="74295" bIns="37148"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275" dirty="0">
                <a:solidFill>
                  <a:schemeClr val="tx1"/>
                </a:solidFill>
                <a:latin typeface="Arial" panose="020B0604020202020204" pitchFamily="34" charset="0"/>
                <a:cs typeface="Arial" panose="020B0604020202020204" pitchFamily="34" charset="0"/>
              </a:rPr>
              <a:t>2. </a:t>
            </a:r>
            <a:r>
              <a:rPr lang="en-US" sz="2275" dirty="0" err="1">
                <a:solidFill>
                  <a:schemeClr val="tx1"/>
                </a:solidFill>
                <a:latin typeface="Arial" panose="020B0604020202020204" pitchFamily="34" charset="0"/>
                <a:cs typeface="Arial" panose="020B0604020202020204" pitchFamily="34" charset="0"/>
              </a:rPr>
              <a:t>Nhược</a:t>
            </a:r>
            <a:r>
              <a:rPr lang="en-US" sz="2275" dirty="0">
                <a:solidFill>
                  <a:schemeClr val="tx1"/>
                </a:solidFill>
                <a:latin typeface="Arial" panose="020B0604020202020204" pitchFamily="34" charset="0"/>
                <a:cs typeface="Arial" panose="020B0604020202020204" pitchFamily="34" charset="0"/>
              </a:rPr>
              <a:t> </a:t>
            </a:r>
            <a:r>
              <a:rPr lang="en-US" sz="2275" dirty="0" err="1">
                <a:solidFill>
                  <a:schemeClr val="tx1"/>
                </a:solidFill>
                <a:latin typeface="Arial" panose="020B0604020202020204" pitchFamily="34" charset="0"/>
                <a:cs typeface="Arial" panose="020B0604020202020204" pitchFamily="34" charset="0"/>
              </a:rPr>
              <a:t>điểm</a:t>
            </a:r>
            <a:r>
              <a:rPr lang="en-US" sz="2275" dirty="0">
                <a:solidFill>
                  <a:schemeClr val="tx1"/>
                </a:solidFill>
                <a:latin typeface="Arial" panose="020B0604020202020204" pitchFamily="34" charset="0"/>
                <a:cs typeface="Arial" panose="020B0604020202020204" pitchFamily="34" charset="0"/>
              </a:rPr>
              <a:t> </a:t>
            </a:r>
            <a:r>
              <a:rPr lang="en-US" sz="2275" dirty="0" err="1">
                <a:solidFill>
                  <a:schemeClr val="tx1"/>
                </a:solidFill>
                <a:latin typeface="Arial" panose="020B0604020202020204" pitchFamily="34" charset="0"/>
                <a:cs typeface="Arial" panose="020B0604020202020204" pitchFamily="34" charset="0"/>
              </a:rPr>
              <a:t>của</a:t>
            </a:r>
            <a:r>
              <a:rPr lang="en-US" sz="2275" dirty="0">
                <a:solidFill>
                  <a:schemeClr val="tx1"/>
                </a:solidFill>
                <a:latin typeface="Arial" panose="020B0604020202020204" pitchFamily="34" charset="0"/>
                <a:cs typeface="Arial" panose="020B0604020202020204" pitchFamily="34" charset="0"/>
              </a:rPr>
              <a:t> Spring Boot</a:t>
            </a:r>
          </a:p>
        </p:txBody>
      </p:sp>
      <p:sp>
        <p:nvSpPr>
          <p:cNvPr id="10" name="正方形/長方形 9"/>
          <p:cNvSpPr/>
          <p:nvPr/>
        </p:nvSpPr>
        <p:spPr>
          <a:xfrm>
            <a:off x="972233" y="1243586"/>
            <a:ext cx="1684115" cy="292388"/>
          </a:xfrm>
          <a:prstGeom prst="rect">
            <a:avLst/>
          </a:prstGeom>
        </p:spPr>
        <p:txBody>
          <a:bodyPr wrap="none">
            <a:spAutoFit/>
          </a:bodyPr>
          <a:lstStyle/>
          <a:p>
            <a:pPr marL="232172" indent="-232172">
              <a:buFont typeface="Arial" panose="020B0604020202020204" pitchFamily="34" charset="0"/>
              <a:buChar char="•"/>
            </a:pPr>
            <a:r>
              <a:rPr lang="en-US" sz="1300" dirty="0" err="1">
                <a:latin typeface="Arial" panose="020B0604020202020204" pitchFamily="34" charset="0"/>
                <a:cs typeface="Arial" panose="020B0604020202020204" pitchFamily="34" charset="0"/>
              </a:rPr>
              <a:t>Thiếu</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kiểm</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soát</a:t>
            </a:r>
            <a:endParaRPr lang="en-US" sz="1300" dirty="0">
              <a:latin typeface="Arial" panose="020B0604020202020204" pitchFamily="34" charset="0"/>
              <a:cs typeface="Arial" panose="020B0604020202020204" pitchFamily="34" charset="0"/>
            </a:endParaRPr>
          </a:p>
        </p:txBody>
      </p:sp>
      <p:sp>
        <p:nvSpPr>
          <p:cNvPr id="11" name="正方形/長方形 10"/>
          <p:cNvSpPr/>
          <p:nvPr/>
        </p:nvSpPr>
        <p:spPr>
          <a:xfrm>
            <a:off x="972233" y="1631336"/>
            <a:ext cx="4513415" cy="292388"/>
          </a:xfrm>
          <a:prstGeom prst="rect">
            <a:avLst/>
          </a:prstGeom>
        </p:spPr>
        <p:txBody>
          <a:bodyPr wrap="none">
            <a:spAutoFit/>
          </a:bodyPr>
          <a:lstStyle/>
          <a:p>
            <a:pPr marL="232172" indent="-232172">
              <a:buFont typeface="Arial" panose="020B0604020202020204" pitchFamily="34" charset="0"/>
              <a:buChar char="•"/>
            </a:pPr>
            <a:r>
              <a:rPr lang="en-US" sz="1300" dirty="0" err="1"/>
              <a:t>Không</a:t>
            </a:r>
            <a:r>
              <a:rPr lang="en-US" sz="1300" dirty="0"/>
              <a:t> </a:t>
            </a:r>
            <a:r>
              <a:rPr lang="en-US" sz="1300" dirty="0" err="1"/>
              <a:t>thích</a:t>
            </a:r>
            <a:r>
              <a:rPr lang="en-US" sz="1300" dirty="0"/>
              <a:t> </a:t>
            </a:r>
            <a:r>
              <a:rPr lang="en-US" sz="1300" dirty="0" err="1"/>
              <a:t>hợp</a:t>
            </a:r>
            <a:r>
              <a:rPr lang="en-US" sz="1300" dirty="0"/>
              <a:t> </a:t>
            </a:r>
            <a:r>
              <a:rPr lang="en-US" sz="1300" dirty="0" err="1"/>
              <a:t>cho</a:t>
            </a:r>
            <a:r>
              <a:rPr lang="en-US" sz="1300" dirty="0"/>
              <a:t> </a:t>
            </a:r>
            <a:r>
              <a:rPr lang="en-US" sz="1300" dirty="0" err="1"/>
              <a:t>các</a:t>
            </a:r>
            <a:r>
              <a:rPr lang="en-US" sz="1300" dirty="0"/>
              <a:t> </a:t>
            </a:r>
            <a:r>
              <a:rPr lang="en-US" sz="1300" dirty="0" err="1"/>
              <a:t>dự</a:t>
            </a:r>
            <a:r>
              <a:rPr lang="en-US" sz="1300" dirty="0"/>
              <a:t> </a:t>
            </a:r>
            <a:r>
              <a:rPr lang="en-US" sz="1300" dirty="0" err="1"/>
              <a:t>án</a:t>
            </a:r>
            <a:r>
              <a:rPr lang="en-US" sz="1300" dirty="0"/>
              <a:t> </a:t>
            </a:r>
            <a:r>
              <a:rPr lang="en-US" sz="1300" dirty="0" err="1"/>
              <a:t>quy</a:t>
            </a:r>
            <a:r>
              <a:rPr lang="en-US" sz="1300" dirty="0"/>
              <a:t> </a:t>
            </a:r>
            <a:r>
              <a:rPr lang="en-US" sz="1300" dirty="0" err="1"/>
              <a:t>mô</a:t>
            </a:r>
            <a:r>
              <a:rPr lang="en-US" sz="1300" dirty="0"/>
              <a:t> </a:t>
            </a:r>
            <a:r>
              <a:rPr lang="en-US" sz="1300" dirty="0" err="1"/>
              <a:t>lớn</a:t>
            </a:r>
            <a:endParaRPr lang="en-US" sz="1300" dirty="0">
              <a:solidFill>
                <a:srgbClr val="46464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23203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reating your first Spring boot Application | by Mohammed Rishard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42938"/>
            <a:ext cx="9898261" cy="5576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11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690496" y="813197"/>
            <a:ext cx="6310636" cy="342721"/>
          </a:xfrm>
          <a:prstGeom prst="rect">
            <a:avLst/>
          </a:prstGeom>
        </p:spPr>
        <p:txBody>
          <a:bodyPr vert="horz" lIns="74295" tIns="37148" rIns="74295" bIns="37148"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275" dirty="0">
                <a:solidFill>
                  <a:schemeClr val="tx1"/>
                </a:solidFill>
                <a:latin typeface="Arial" panose="020B0604020202020204" pitchFamily="34" charset="0"/>
                <a:cs typeface="Arial" panose="020B0604020202020204" pitchFamily="34" charset="0"/>
              </a:rPr>
              <a:t>1. Spring </a:t>
            </a:r>
            <a:r>
              <a:rPr lang="en-US" sz="2275" dirty="0" err="1">
                <a:solidFill>
                  <a:schemeClr val="tx1"/>
                </a:solidFill>
                <a:latin typeface="Arial" panose="020B0604020202020204" pitchFamily="34" charset="0"/>
                <a:cs typeface="Arial" panose="020B0604020202020204" pitchFamily="34" charset="0"/>
              </a:rPr>
              <a:t>initializr</a:t>
            </a:r>
            <a:r>
              <a:rPr lang="en-US" sz="2275" dirty="0">
                <a:solidFill>
                  <a:schemeClr val="tx1"/>
                </a:solidFill>
                <a:latin typeface="Arial" panose="020B0604020202020204" pitchFamily="34" charset="0"/>
                <a:cs typeface="Arial" panose="020B0604020202020204" pitchFamily="34" charset="0"/>
              </a:rPr>
              <a:t> </a:t>
            </a:r>
          </a:p>
        </p:txBody>
      </p:sp>
      <p:sp>
        <p:nvSpPr>
          <p:cNvPr id="5" name="正方形/長方形 4"/>
          <p:cNvSpPr/>
          <p:nvPr/>
        </p:nvSpPr>
        <p:spPr>
          <a:xfrm>
            <a:off x="433387" y="1155918"/>
            <a:ext cx="6647855" cy="509627"/>
          </a:xfrm>
          <a:prstGeom prst="rect">
            <a:avLst/>
          </a:prstGeom>
        </p:spPr>
        <p:txBody>
          <a:bodyPr wrap="square">
            <a:spAutoFit/>
          </a:bodyPr>
          <a:lstStyle/>
          <a:p>
            <a:pPr marL="603647" indent="-232172">
              <a:lnSpc>
                <a:spcPct val="107000"/>
              </a:lnSpc>
              <a:spcAft>
                <a:spcPts val="650"/>
              </a:spcAft>
              <a:buFont typeface="Arial" panose="020B0604020202020204" pitchFamily="34" charset="0"/>
              <a:buChar char="-"/>
            </a:pPr>
            <a:r>
              <a:rPr lang="en-US" sz="1300" dirty="0">
                <a:latin typeface="Arial" panose="020B0604020202020204" pitchFamily="34" charset="0"/>
                <a:ea typeface="ＭＳ 明朝" panose="02020609040205080304" pitchFamily="17" charset="-128"/>
                <a:cs typeface="Times New Roman" panose="02020603050405020304" pitchFamily="18" charset="0"/>
              </a:rPr>
              <a:t>Spring </a:t>
            </a:r>
            <a:r>
              <a:rPr lang="en-US" sz="1300" dirty="0" err="1">
                <a:latin typeface="Arial" panose="020B0604020202020204" pitchFamily="34" charset="0"/>
                <a:ea typeface="ＭＳ 明朝" panose="02020609040205080304" pitchFamily="17" charset="-128"/>
                <a:cs typeface="Times New Roman" panose="02020603050405020304" pitchFamily="18" charset="0"/>
              </a:rPr>
              <a:t>initializr</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là</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công</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cụ</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hỗ</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trợ</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nhanh</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chóng</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việc</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khởi</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tạo</a:t>
            </a:r>
            <a:r>
              <a:rPr lang="en-US" sz="1300" dirty="0">
                <a:latin typeface="Arial" panose="020B0604020202020204" pitchFamily="34" charset="0"/>
                <a:ea typeface="ＭＳ 明朝" panose="02020609040205080304" pitchFamily="17" charset="-128"/>
                <a:cs typeface="Times New Roman" panose="02020603050405020304" pitchFamily="18" charset="0"/>
              </a:rPr>
              <a:t> project. Spring </a:t>
            </a:r>
            <a:r>
              <a:rPr lang="en-US" sz="1300" dirty="0" err="1">
                <a:latin typeface="Arial" panose="020B0604020202020204" pitchFamily="34" charset="0"/>
                <a:ea typeface="ＭＳ 明朝" panose="02020609040205080304" pitchFamily="17" charset="-128"/>
                <a:cs typeface="Times New Roman" panose="02020603050405020304" pitchFamily="18" charset="0"/>
              </a:rPr>
              <a:t>initializr</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có</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thể</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truy</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cập</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trên</a:t>
            </a:r>
            <a:r>
              <a:rPr lang="en-US" sz="1300" dirty="0">
                <a:latin typeface="Arial" panose="020B0604020202020204" pitchFamily="34" charset="0"/>
                <a:ea typeface="ＭＳ 明朝" panose="02020609040205080304" pitchFamily="17" charset="-128"/>
                <a:cs typeface="Times New Roman" panose="02020603050405020304" pitchFamily="18" charset="0"/>
              </a:rPr>
              <a:t> web </a:t>
            </a:r>
            <a:r>
              <a:rPr lang="en-US" sz="1300" dirty="0" err="1">
                <a:latin typeface="Arial" panose="020B0604020202020204" pitchFamily="34" charset="0"/>
                <a:ea typeface="ＭＳ 明朝" panose="02020609040205080304" pitchFamily="17" charset="-128"/>
                <a:cs typeface="Times New Roman" panose="02020603050405020304" pitchFamily="18" charset="0"/>
              </a:rPr>
              <a:t>tại</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u="sng" dirty="0">
                <a:solidFill>
                  <a:srgbClr val="0563C1"/>
                </a:solidFill>
                <a:latin typeface="Arial" panose="020B0604020202020204" pitchFamily="34" charset="0"/>
                <a:ea typeface="ＭＳ 明朝" panose="02020609040205080304" pitchFamily="17" charset="-128"/>
                <a:cs typeface="Times New Roman" panose="02020603050405020304" pitchFamily="18" charset="0"/>
                <a:hlinkClick r:id="rId3"/>
              </a:rPr>
              <a:t>https://start.spring.io/</a:t>
            </a:r>
            <a:endParaRPr lang="en-US" sz="1138"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7" name="図 6"/>
          <p:cNvPicPr/>
          <p:nvPr/>
        </p:nvPicPr>
        <p:blipFill>
          <a:blip r:embed="rId4"/>
          <a:stretch>
            <a:fillRect/>
          </a:stretch>
        </p:blipFill>
        <p:spPr>
          <a:xfrm>
            <a:off x="607517" y="1792121"/>
            <a:ext cx="7054156" cy="3821105"/>
          </a:xfrm>
          <a:prstGeom prst="rect">
            <a:avLst/>
          </a:prstGeom>
        </p:spPr>
      </p:pic>
    </p:spTree>
    <p:extLst>
      <p:ext uri="{BB962C8B-B14F-4D97-AF65-F5344CB8AC3E}">
        <p14:creationId xmlns:p14="http://schemas.microsoft.com/office/powerpoint/2010/main" val="174022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10636" cy="342721"/>
          </a:xfrm>
          <a:prstGeom prst="rect">
            <a:avLst/>
          </a:prstGeom>
        </p:spPr>
        <p:txBody>
          <a:bodyPr vert="horz" lIns="74295" tIns="37148" rIns="74295" bIns="37148"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275" dirty="0">
                <a:solidFill>
                  <a:schemeClr val="tx1"/>
                </a:solidFill>
                <a:latin typeface="Arial" panose="020B0604020202020204" pitchFamily="34" charset="0"/>
                <a:cs typeface="Arial" panose="020B0604020202020204" pitchFamily="34" charset="0"/>
              </a:rPr>
              <a:t>2.	Generate project </a:t>
            </a:r>
          </a:p>
        </p:txBody>
      </p:sp>
      <p:grpSp>
        <p:nvGrpSpPr>
          <p:cNvPr id="9" name="グループ化 8"/>
          <p:cNvGrpSpPr/>
          <p:nvPr/>
        </p:nvGrpSpPr>
        <p:grpSpPr>
          <a:xfrm>
            <a:off x="533496" y="1155918"/>
            <a:ext cx="7166872" cy="3906025"/>
            <a:chOff x="656610" y="631360"/>
            <a:chExt cx="8820765" cy="4807415"/>
          </a:xfrm>
        </p:grpSpPr>
        <p:pic>
          <p:nvPicPr>
            <p:cNvPr id="8" name="図 7"/>
            <p:cNvPicPr>
              <a:picLocks noChangeAspect="1"/>
            </p:cNvPicPr>
            <p:nvPr/>
          </p:nvPicPr>
          <p:blipFill>
            <a:blip r:embed="rId3"/>
            <a:stretch>
              <a:fillRect/>
            </a:stretch>
          </p:blipFill>
          <p:spPr>
            <a:xfrm>
              <a:off x="762000" y="631360"/>
              <a:ext cx="8715375" cy="4720828"/>
            </a:xfrm>
            <a:prstGeom prst="rect">
              <a:avLst/>
            </a:prstGeom>
          </p:spPr>
        </p:pic>
        <p:grpSp>
          <p:nvGrpSpPr>
            <p:cNvPr id="7" name="グループ化 6"/>
            <p:cNvGrpSpPr/>
            <p:nvPr/>
          </p:nvGrpSpPr>
          <p:grpSpPr>
            <a:xfrm>
              <a:off x="656610" y="4743450"/>
              <a:ext cx="4038600" cy="695325"/>
              <a:chOff x="676275" y="4905375"/>
              <a:chExt cx="4038600" cy="695325"/>
            </a:xfrm>
          </p:grpSpPr>
          <p:sp>
            <p:nvSpPr>
              <p:cNvPr id="4" name="正方形/長方形 3"/>
              <p:cNvSpPr/>
              <p:nvPr/>
            </p:nvSpPr>
            <p:spPr>
              <a:xfrm>
                <a:off x="3733800" y="4905375"/>
                <a:ext cx="981075" cy="2381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6" name="正方形/長方形 5"/>
              <p:cNvSpPr/>
              <p:nvPr/>
            </p:nvSpPr>
            <p:spPr>
              <a:xfrm>
                <a:off x="676275" y="5248275"/>
                <a:ext cx="1171575" cy="3524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grpSp>
      </p:grpSp>
    </p:spTree>
    <p:extLst>
      <p:ext uri="{BB962C8B-B14F-4D97-AF65-F5344CB8AC3E}">
        <p14:creationId xmlns:p14="http://schemas.microsoft.com/office/powerpoint/2010/main" val="392398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10636" cy="342721"/>
          </a:xfrm>
          <a:prstGeom prst="rect">
            <a:avLst/>
          </a:prstGeom>
        </p:spPr>
        <p:txBody>
          <a:bodyPr vert="horz" lIns="74295" tIns="37148" rIns="74295" bIns="37148"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275" dirty="0">
                <a:solidFill>
                  <a:schemeClr val="tx1"/>
                </a:solidFill>
                <a:latin typeface="Arial" panose="020B0604020202020204" pitchFamily="34" charset="0"/>
                <a:cs typeface="Arial" panose="020B0604020202020204" pitchFamily="34" charset="0"/>
              </a:rPr>
              <a:t>3.	Import project</a:t>
            </a:r>
          </a:p>
        </p:txBody>
      </p:sp>
      <p:sp>
        <p:nvSpPr>
          <p:cNvPr id="3" name="テキスト ボックス 2"/>
          <p:cNvSpPr txBox="1"/>
          <p:nvPr/>
        </p:nvSpPr>
        <p:spPr>
          <a:xfrm>
            <a:off x="920949" y="1215629"/>
            <a:ext cx="6013252" cy="492443"/>
          </a:xfrm>
          <a:prstGeom prst="rect">
            <a:avLst/>
          </a:prstGeom>
          <a:noFill/>
        </p:spPr>
        <p:txBody>
          <a:bodyPr wrap="square" rtlCol="0">
            <a:spAutoFit/>
          </a:bodyPr>
          <a:lstStyle/>
          <a:p>
            <a:pPr marL="232172" indent="-232172">
              <a:buFont typeface="Arial" panose="020B0604020202020204" pitchFamily="34" charset="0"/>
              <a:buChar char="•"/>
            </a:pPr>
            <a:r>
              <a:rPr lang="en-US" sz="1300" dirty="0"/>
              <a:t>Import </a:t>
            </a:r>
            <a:r>
              <a:rPr lang="en-US" sz="1300" dirty="0" err="1"/>
              <a:t>trên</a:t>
            </a:r>
            <a:r>
              <a:rPr lang="en-US" sz="1300" dirty="0"/>
              <a:t> eclipse: File -&gt; Import -&gt; Existing </a:t>
            </a:r>
            <a:r>
              <a:rPr lang="en-US" sz="1300" dirty="0" err="1"/>
              <a:t>Gradle</a:t>
            </a:r>
            <a:r>
              <a:rPr lang="en-US" sz="1300" dirty="0"/>
              <a:t> Projects -&gt; Browse -&gt; </a:t>
            </a:r>
            <a:r>
              <a:rPr lang="en-US" sz="1300" dirty="0" err="1"/>
              <a:t>Chọn</a:t>
            </a:r>
            <a:r>
              <a:rPr lang="en-US" sz="1300" dirty="0"/>
              <a:t> </a:t>
            </a:r>
            <a:r>
              <a:rPr lang="en-US" sz="1300" dirty="0" err="1"/>
              <a:t>tên</a:t>
            </a:r>
            <a:r>
              <a:rPr lang="en-US" sz="1300" dirty="0"/>
              <a:t> </a:t>
            </a:r>
            <a:r>
              <a:rPr lang="en-US" sz="1300" dirty="0" err="1"/>
              <a:t>thư</a:t>
            </a:r>
            <a:r>
              <a:rPr lang="en-US" sz="1300" dirty="0"/>
              <a:t> </a:t>
            </a:r>
            <a:r>
              <a:rPr lang="en-US" sz="1300" dirty="0" err="1"/>
              <a:t>mục</a:t>
            </a:r>
            <a:r>
              <a:rPr lang="en-US" sz="1300" dirty="0"/>
              <a:t> </a:t>
            </a:r>
            <a:r>
              <a:rPr lang="en-US" sz="1300" dirty="0" err="1"/>
              <a:t>chứa</a:t>
            </a:r>
            <a:r>
              <a:rPr lang="en-US" sz="1300" dirty="0"/>
              <a:t> project -&gt; Finish</a:t>
            </a:r>
          </a:p>
        </p:txBody>
      </p:sp>
      <p:pic>
        <p:nvPicPr>
          <p:cNvPr id="5" name="図 4"/>
          <p:cNvPicPr>
            <a:picLocks noChangeAspect="1"/>
          </p:cNvPicPr>
          <p:nvPr/>
        </p:nvPicPr>
        <p:blipFill>
          <a:blip r:embed="rId3"/>
          <a:stretch>
            <a:fillRect/>
          </a:stretch>
        </p:blipFill>
        <p:spPr>
          <a:xfrm>
            <a:off x="1036867" y="1800482"/>
            <a:ext cx="3023253" cy="4252060"/>
          </a:xfrm>
          <a:prstGeom prst="rect">
            <a:avLst/>
          </a:prstGeom>
        </p:spPr>
      </p:pic>
    </p:spTree>
    <p:extLst>
      <p:ext uri="{BB962C8B-B14F-4D97-AF65-F5344CB8AC3E}">
        <p14:creationId xmlns:p14="http://schemas.microsoft.com/office/powerpoint/2010/main" val="937569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3.1 File </a:t>
            </a:r>
            <a:r>
              <a:rPr lang="en-US" sz="1625" dirty="0" err="1">
                <a:solidFill>
                  <a:schemeClr val="tx1"/>
                </a:solidFill>
                <a:latin typeface="Arial" panose="020B0604020202020204" pitchFamily="34" charset="0"/>
                <a:cs typeface="Arial" panose="020B0604020202020204" pitchFamily="34" charset="0"/>
              </a:rPr>
              <a:t>build.gradle.kts</a:t>
            </a:r>
            <a:endParaRPr lang="en-US" sz="1625" dirty="0">
              <a:solidFill>
                <a:schemeClr val="tx1"/>
              </a:solidFill>
              <a:latin typeface="Arial" panose="020B0604020202020204" pitchFamily="34" charset="0"/>
              <a:cs typeface="Arial" panose="020B0604020202020204" pitchFamily="34" charset="0"/>
            </a:endParaRPr>
          </a:p>
        </p:txBody>
      </p:sp>
      <p:grpSp>
        <p:nvGrpSpPr>
          <p:cNvPr id="8" name="グループ化 7"/>
          <p:cNvGrpSpPr/>
          <p:nvPr/>
        </p:nvGrpSpPr>
        <p:grpSpPr>
          <a:xfrm>
            <a:off x="854805" y="1130499"/>
            <a:ext cx="5178155" cy="4984652"/>
            <a:chOff x="1052068" y="600076"/>
            <a:chExt cx="6373114" cy="6134956"/>
          </a:xfrm>
        </p:grpSpPr>
        <p:pic>
          <p:nvPicPr>
            <p:cNvPr id="7" name="図 6"/>
            <p:cNvPicPr>
              <a:picLocks noChangeAspect="1"/>
            </p:cNvPicPr>
            <p:nvPr/>
          </p:nvPicPr>
          <p:blipFill>
            <a:blip r:embed="rId3"/>
            <a:stretch>
              <a:fillRect/>
            </a:stretch>
          </p:blipFill>
          <p:spPr>
            <a:xfrm>
              <a:off x="1052068" y="600076"/>
              <a:ext cx="6373114" cy="6134956"/>
            </a:xfrm>
            <a:prstGeom prst="rect">
              <a:avLst/>
            </a:prstGeom>
          </p:spPr>
        </p:pic>
        <p:sp>
          <p:nvSpPr>
            <p:cNvPr id="4" name="正方形/長方形 3"/>
            <p:cNvSpPr/>
            <p:nvPr/>
          </p:nvSpPr>
          <p:spPr>
            <a:xfrm>
              <a:off x="1238250" y="3600450"/>
              <a:ext cx="5514976" cy="10953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grpSp>
    </p:spTree>
    <p:extLst>
      <p:ext uri="{BB962C8B-B14F-4D97-AF65-F5344CB8AC3E}">
        <p14:creationId xmlns:p14="http://schemas.microsoft.com/office/powerpoint/2010/main" val="1692852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3.2 File </a:t>
            </a:r>
            <a:r>
              <a:rPr lang="en-US" sz="1625" dirty="0" err="1">
                <a:solidFill>
                  <a:schemeClr val="tx1"/>
                </a:solidFill>
                <a:latin typeface="Arial" panose="020B0604020202020204" pitchFamily="34" charset="0"/>
                <a:cs typeface="Arial" panose="020B0604020202020204" pitchFamily="34" charset="0"/>
              </a:rPr>
              <a:t>ApplicationTrainingApplication.kt</a:t>
            </a:r>
            <a:endParaRPr lang="en-US" sz="1625" dirty="0">
              <a:solidFill>
                <a:schemeClr val="tx1"/>
              </a:solidFill>
              <a:latin typeface="Arial" panose="020B0604020202020204" pitchFamily="34" charset="0"/>
              <a:cs typeface="Arial" panose="020B0604020202020204" pitchFamily="34" charset="0"/>
            </a:endParaRPr>
          </a:p>
        </p:txBody>
      </p:sp>
      <p:pic>
        <p:nvPicPr>
          <p:cNvPr id="5" name="図 4"/>
          <p:cNvPicPr>
            <a:picLocks noChangeAspect="1"/>
          </p:cNvPicPr>
          <p:nvPr/>
        </p:nvPicPr>
        <p:blipFill>
          <a:blip r:embed="rId3"/>
          <a:stretch>
            <a:fillRect/>
          </a:stretch>
        </p:blipFill>
        <p:spPr>
          <a:xfrm>
            <a:off x="626864" y="1424746"/>
            <a:ext cx="6771680" cy="3226741"/>
          </a:xfrm>
          <a:prstGeom prst="rect">
            <a:avLst/>
          </a:prstGeom>
        </p:spPr>
      </p:pic>
      <p:sp>
        <p:nvSpPr>
          <p:cNvPr id="6" name="四角形吹き出し 5"/>
          <p:cNvSpPr/>
          <p:nvPr/>
        </p:nvSpPr>
        <p:spPr>
          <a:xfrm>
            <a:off x="3242667" y="3831431"/>
            <a:ext cx="5618559" cy="557213"/>
          </a:xfrm>
          <a:prstGeom prst="wedgeRectCallout">
            <a:avLst>
              <a:gd name="adj1" fmla="val -45721"/>
              <a:gd name="adj2" fmla="val -98333"/>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dirty="0"/>
              <a:t>Trong Java:</a:t>
            </a:r>
          </a:p>
          <a:p>
            <a:pPr algn="ctr"/>
            <a:r>
              <a:rPr lang="en-US" sz="1300" dirty="0" err="1"/>
              <a:t>SpringApplication.</a:t>
            </a:r>
            <a:r>
              <a:rPr lang="en-US" sz="1300" i="1" dirty="0" err="1"/>
              <a:t>run</a:t>
            </a:r>
            <a:r>
              <a:rPr lang="en-US" sz="1300" i="1" dirty="0"/>
              <a:t>(</a:t>
            </a:r>
            <a:r>
              <a:rPr lang="en-US" sz="1300" i="1" dirty="0" err="1"/>
              <a:t>ApplicationTrainingApplication</a:t>
            </a:r>
            <a:r>
              <a:rPr lang="en-US" sz="1300" i="1" dirty="0"/>
              <a:t>, </a:t>
            </a:r>
            <a:r>
              <a:rPr lang="en-US" sz="1300" i="1" dirty="0" err="1"/>
              <a:t>args</a:t>
            </a:r>
            <a:r>
              <a:rPr lang="en-US" sz="1300" i="1" dirty="0"/>
              <a:t>);</a:t>
            </a:r>
            <a:endParaRPr lang="en-US" sz="1300" dirty="0"/>
          </a:p>
        </p:txBody>
      </p:sp>
      <p:sp>
        <p:nvSpPr>
          <p:cNvPr id="7" name="正方形/長方形 6"/>
          <p:cNvSpPr/>
          <p:nvPr/>
        </p:nvSpPr>
        <p:spPr>
          <a:xfrm>
            <a:off x="1261467" y="3165872"/>
            <a:ext cx="4844653" cy="2399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Tree>
    <p:extLst>
      <p:ext uri="{BB962C8B-B14F-4D97-AF65-F5344CB8AC3E}">
        <p14:creationId xmlns:p14="http://schemas.microsoft.com/office/powerpoint/2010/main" val="443261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4. </a:t>
            </a:r>
            <a:r>
              <a:rPr lang="en-US" sz="1625" dirty="0" err="1">
                <a:solidFill>
                  <a:schemeClr val="tx1"/>
                </a:solidFill>
                <a:latin typeface="Arial" panose="020B0604020202020204" pitchFamily="34" charset="0"/>
                <a:cs typeface="Arial" panose="020B0604020202020204" pitchFamily="34" charset="0"/>
              </a:rPr>
              <a:t>Thực</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hiện</a:t>
            </a:r>
            <a:r>
              <a:rPr lang="en-US" sz="1625" dirty="0">
                <a:solidFill>
                  <a:schemeClr val="tx1"/>
                </a:solidFill>
                <a:latin typeface="Arial" panose="020B0604020202020204" pitchFamily="34" charset="0"/>
                <a:cs typeface="Arial" panose="020B0604020202020204" pitchFamily="34" charset="0"/>
              </a:rPr>
              <a:t> code </a:t>
            </a:r>
            <a:r>
              <a:rPr lang="en-US" sz="1625" dirty="0" err="1">
                <a:solidFill>
                  <a:schemeClr val="tx1"/>
                </a:solidFill>
                <a:latin typeface="Arial" panose="020B0604020202020204" pitchFamily="34" charset="0"/>
                <a:cs typeface="Arial" panose="020B0604020202020204" pitchFamily="34" charset="0"/>
              </a:rPr>
              <a:t>chương</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trình</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đơn</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giản</a:t>
            </a:r>
            <a:endParaRPr lang="en-US" sz="1625" dirty="0">
              <a:solidFill>
                <a:schemeClr val="tx1"/>
              </a:solidFill>
              <a:latin typeface="Arial" panose="020B0604020202020204" pitchFamily="34" charset="0"/>
              <a:cs typeface="Arial" panose="020B0604020202020204" pitchFamily="34" charset="0"/>
            </a:endParaRPr>
          </a:p>
        </p:txBody>
      </p:sp>
      <p:grpSp>
        <p:nvGrpSpPr>
          <p:cNvPr id="9" name="グループ化 8"/>
          <p:cNvGrpSpPr/>
          <p:nvPr/>
        </p:nvGrpSpPr>
        <p:grpSpPr>
          <a:xfrm>
            <a:off x="434247" y="1130500"/>
            <a:ext cx="7482814" cy="3660565"/>
            <a:chOff x="534457" y="600076"/>
            <a:chExt cx="9209617" cy="4505311"/>
          </a:xfrm>
        </p:grpSpPr>
        <p:sp>
          <p:nvSpPr>
            <p:cNvPr id="5" name="正方形/長方形 4"/>
            <p:cNvSpPr/>
            <p:nvPr/>
          </p:nvSpPr>
          <p:spPr>
            <a:xfrm>
              <a:off x="534457" y="600076"/>
              <a:ext cx="9114368" cy="890659"/>
            </a:xfrm>
            <a:prstGeom prst="rect">
              <a:avLst/>
            </a:prstGeom>
          </p:spPr>
          <p:txBody>
            <a:bodyPr wrap="square">
              <a:spAutoFit/>
            </a:bodyPr>
            <a:lstStyle/>
            <a:p>
              <a:pPr marL="439063" algn="just">
                <a:lnSpc>
                  <a:spcPct val="107000"/>
                </a:lnSpc>
                <a:spcAft>
                  <a:spcPts val="650"/>
                </a:spcAft>
              </a:pPr>
              <a:r>
                <a:rPr lang="en-US" sz="1300" dirty="0" err="1">
                  <a:latin typeface="Arial" panose="020B0604020202020204" pitchFamily="34" charset="0"/>
                  <a:ea typeface="ＭＳ 明朝" panose="02020609040205080304" pitchFamily="17" charset="-128"/>
                  <a:cs typeface="Times New Roman" panose="02020603050405020304" pitchFamily="18" charset="0"/>
                </a:rPr>
                <a:t>Tạo</a:t>
              </a:r>
              <a:r>
                <a:rPr lang="en-US" sz="1300" dirty="0">
                  <a:latin typeface="Arial" panose="020B0604020202020204" pitchFamily="34" charset="0"/>
                  <a:ea typeface="ＭＳ 明朝" panose="02020609040205080304" pitchFamily="17" charset="-128"/>
                  <a:cs typeface="Times New Roman" panose="02020603050405020304" pitchFamily="18" charset="0"/>
                </a:rPr>
                <a:t> class </a:t>
              </a:r>
              <a:r>
                <a:rPr lang="en-US" sz="1300" dirty="0" err="1">
                  <a:latin typeface="Arial" panose="020B0604020202020204" pitchFamily="34" charset="0"/>
                  <a:ea typeface="ＭＳ 明朝" panose="02020609040205080304" pitchFamily="17" charset="-128"/>
                  <a:cs typeface="Times New Roman" panose="02020603050405020304" pitchFamily="18" charset="0"/>
                </a:rPr>
                <a:t>mới</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tại</a:t>
              </a:r>
              <a:r>
                <a:rPr lang="en-US" sz="1300" dirty="0">
                  <a:latin typeface="Arial" panose="020B0604020202020204" pitchFamily="34" charset="0"/>
                  <a:ea typeface="ＭＳ 明朝" panose="02020609040205080304" pitchFamily="17" charset="-128"/>
                  <a:cs typeface="Times New Roman" panose="02020603050405020304" pitchFamily="18" charset="0"/>
                </a:rPr>
                <a:t> package “</a:t>
              </a:r>
              <a:r>
                <a:rPr lang="en-US" sz="1300" dirty="0" err="1">
                  <a:latin typeface="Arial" panose="020B0604020202020204" pitchFamily="34" charset="0"/>
                  <a:ea typeface="ＭＳ 明朝" panose="02020609040205080304" pitchFamily="17" charset="-128"/>
                  <a:cs typeface="Times New Roman" panose="02020603050405020304" pitchFamily="18" charset="0"/>
                </a:rPr>
                <a:t>usolv.training.application</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bằng</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cách</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chuột</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phải</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vào</a:t>
              </a:r>
              <a:r>
                <a:rPr lang="en-US" sz="1300" dirty="0">
                  <a:latin typeface="Arial" panose="020B0604020202020204" pitchFamily="34" charset="0"/>
                  <a:ea typeface="ＭＳ 明朝" panose="02020609040205080304" pitchFamily="17" charset="-128"/>
                  <a:cs typeface="Times New Roman" panose="02020603050405020304" pitchFamily="18" charset="0"/>
                </a:rPr>
                <a:t> package “</a:t>
              </a:r>
              <a:r>
                <a:rPr lang="en-US" sz="1300" dirty="0" err="1">
                  <a:latin typeface="Arial" panose="020B0604020202020204" pitchFamily="34" charset="0"/>
                  <a:ea typeface="ＭＳ 明朝" panose="02020609040205080304" pitchFamily="17" charset="-128"/>
                  <a:cs typeface="Times New Roman" panose="02020603050405020304" pitchFamily="18" charset="0"/>
                </a:rPr>
                <a:t>usolv.training.application</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chọn</a:t>
              </a:r>
              <a:r>
                <a:rPr lang="en-US" sz="1300" dirty="0">
                  <a:latin typeface="Arial" panose="020B0604020202020204" pitchFamily="34" charset="0"/>
                  <a:ea typeface="ＭＳ 明朝" panose="02020609040205080304" pitchFamily="17" charset="-128"/>
                  <a:cs typeface="Times New Roman" panose="02020603050405020304" pitchFamily="18" charset="0"/>
                </a:rPr>
                <a:t> New -&gt; Class </a:t>
              </a:r>
              <a:r>
                <a:rPr lang="en-US" sz="1300" dirty="0" err="1">
                  <a:latin typeface="Arial" panose="020B0604020202020204" pitchFamily="34" charset="0"/>
                  <a:ea typeface="ＭＳ 明朝" panose="02020609040205080304" pitchFamily="17" charset="-128"/>
                  <a:cs typeface="Times New Roman" panose="02020603050405020304" pitchFamily="18" charset="0"/>
                </a:rPr>
                <a:t>đặt</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tên</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là</a:t>
              </a:r>
              <a:r>
                <a:rPr lang="en-US" sz="1300" dirty="0">
                  <a:latin typeface="Arial" panose="020B0604020202020204" pitchFamily="34" charset="0"/>
                  <a:ea typeface="ＭＳ 明朝" panose="02020609040205080304" pitchFamily="17" charset="-128"/>
                  <a:cs typeface="Times New Roman" panose="02020603050405020304" pitchFamily="18" charset="0"/>
                </a:rPr>
                <a:t> HomeController.java </a:t>
              </a:r>
              <a:r>
                <a:rPr lang="en-US" sz="1300" dirty="0" err="1">
                  <a:latin typeface="Arial" panose="020B0604020202020204" pitchFamily="34" charset="0"/>
                  <a:ea typeface="ＭＳ 明朝" panose="02020609040205080304" pitchFamily="17" charset="-128"/>
                  <a:cs typeface="Times New Roman" panose="02020603050405020304" pitchFamily="18" charset="0"/>
                </a:rPr>
                <a:t>như</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dưới</a:t>
              </a:r>
              <a:r>
                <a:rPr lang="en-US" sz="1300" dirty="0">
                  <a:latin typeface="Arial" panose="020B0604020202020204" pitchFamily="34" charset="0"/>
                  <a:ea typeface="ＭＳ 明朝" panose="02020609040205080304" pitchFamily="17" charset="-128"/>
                  <a:cs typeface="Times New Roman" panose="02020603050405020304" pitchFamily="18" charset="0"/>
                </a:rPr>
                <a:t>:</a:t>
              </a:r>
              <a:endParaRPr lang="en-US" sz="975" dirty="0">
                <a:latin typeface="Calibri" panose="020F0502020204030204" pitchFamily="34" charset="0"/>
                <a:ea typeface="ＭＳ 明朝" panose="02020609040205080304" pitchFamily="17" charset="-128"/>
                <a:cs typeface="Times New Roman" panose="02020603050405020304" pitchFamily="18" charset="0"/>
              </a:endParaRPr>
            </a:p>
          </p:txBody>
        </p:sp>
        <p:sp>
          <p:nvSpPr>
            <p:cNvPr id="6" name="正方形/長方形 5"/>
            <p:cNvSpPr/>
            <p:nvPr/>
          </p:nvSpPr>
          <p:spPr>
            <a:xfrm>
              <a:off x="4124523" y="1275803"/>
              <a:ext cx="5619551" cy="3346479"/>
            </a:xfrm>
            <a:prstGeom prst="rect">
              <a:avLst/>
            </a:prstGeom>
            <a:ln>
              <a:solidFill>
                <a:srgbClr val="FF0000"/>
              </a:solidFill>
            </a:ln>
          </p:spPr>
          <p:txBody>
            <a:bodyPr wrap="square">
              <a:spAutoFit/>
            </a:bodyPr>
            <a:lstStyle/>
            <a:p>
              <a:r>
                <a:rPr lang="en-US" sz="1138" dirty="0">
                  <a:solidFill>
                    <a:srgbClr val="7F0055"/>
                  </a:solidFill>
                  <a:latin typeface="Consolas" panose="020B0609020204030204" pitchFamily="49" charset="0"/>
                </a:rPr>
                <a:t>package</a:t>
              </a:r>
              <a:r>
                <a:rPr lang="en-US" sz="1138" dirty="0">
                  <a:solidFill>
                    <a:srgbClr val="000000"/>
                  </a:solidFill>
                  <a:latin typeface="Consolas" panose="020B0609020204030204" pitchFamily="49" charset="0"/>
                </a:rPr>
                <a:t> </a:t>
              </a:r>
              <a:r>
                <a:rPr lang="en-US" sz="1138" dirty="0" err="1">
                  <a:solidFill>
                    <a:srgbClr val="000000"/>
                  </a:solidFill>
                  <a:latin typeface="Consolas" panose="020B0609020204030204" pitchFamily="49" charset="0"/>
                </a:rPr>
                <a:t>usolv.training.application</a:t>
              </a:r>
              <a:endParaRPr lang="en-US" sz="1138" dirty="0">
                <a:solidFill>
                  <a:srgbClr val="000000"/>
                </a:solidFill>
                <a:latin typeface="Consolas" panose="020B0609020204030204" pitchFamily="49" charset="0"/>
              </a:endParaRPr>
            </a:p>
            <a:p>
              <a:endParaRPr lang="en-US" sz="1138" dirty="0">
                <a:latin typeface="Consolas" panose="020B0609020204030204" pitchFamily="49" charset="0"/>
              </a:endParaRPr>
            </a:p>
            <a:p>
              <a:r>
                <a:rPr lang="en-US" sz="1138" dirty="0">
                  <a:solidFill>
                    <a:srgbClr val="7F0055"/>
                  </a:solidFill>
                  <a:latin typeface="Consolas" panose="020B0609020204030204" pitchFamily="49" charset="0"/>
                </a:rPr>
                <a:t>import</a:t>
              </a:r>
              <a:r>
                <a:rPr lang="en-US" sz="1138" dirty="0">
                  <a:solidFill>
                    <a:srgbClr val="000000"/>
                  </a:solidFill>
                  <a:latin typeface="Consolas" panose="020B0609020204030204" pitchFamily="49" charset="0"/>
                </a:rPr>
                <a:t> </a:t>
              </a:r>
              <a:r>
                <a:rPr lang="en-US" sz="1138" dirty="0" err="1">
                  <a:solidFill>
                    <a:srgbClr val="000000"/>
                  </a:solidFill>
                  <a:latin typeface="Consolas" panose="020B0609020204030204" pitchFamily="49" charset="0"/>
                </a:rPr>
                <a:t>org.springframework.web.bind.annotation.</a:t>
              </a:r>
              <a:r>
                <a:rPr lang="en-US" sz="1138" dirty="0" err="1">
                  <a:solidFill>
                    <a:srgbClr val="646464"/>
                  </a:solidFill>
                  <a:latin typeface="Consolas" panose="020B0609020204030204" pitchFamily="49" charset="0"/>
                </a:rPr>
                <a:t>RestController</a:t>
              </a:r>
              <a:endParaRPr lang="en-US" sz="1138" dirty="0">
                <a:solidFill>
                  <a:srgbClr val="646464"/>
                </a:solidFill>
                <a:latin typeface="Consolas" panose="020B0609020204030204" pitchFamily="49" charset="0"/>
              </a:endParaRPr>
            </a:p>
            <a:p>
              <a:r>
                <a:rPr lang="en-US" sz="1138" dirty="0">
                  <a:solidFill>
                    <a:srgbClr val="7F0055"/>
                  </a:solidFill>
                  <a:latin typeface="Consolas" panose="020B0609020204030204" pitchFamily="49" charset="0"/>
                </a:rPr>
                <a:t>import</a:t>
              </a:r>
              <a:r>
                <a:rPr lang="en-US" sz="1138" dirty="0">
                  <a:solidFill>
                    <a:srgbClr val="000000"/>
                  </a:solidFill>
                  <a:latin typeface="Consolas" panose="020B0609020204030204" pitchFamily="49" charset="0"/>
                </a:rPr>
                <a:t> </a:t>
              </a:r>
              <a:r>
                <a:rPr lang="en-US" sz="1138" dirty="0" err="1">
                  <a:solidFill>
                    <a:srgbClr val="000000"/>
                  </a:solidFill>
                  <a:latin typeface="Consolas" panose="020B0609020204030204" pitchFamily="49" charset="0"/>
                </a:rPr>
                <a:t>org.springframework.web.bind.annotation.</a:t>
              </a:r>
              <a:r>
                <a:rPr lang="en-US" sz="1138" dirty="0" err="1">
                  <a:solidFill>
                    <a:srgbClr val="646464"/>
                  </a:solidFill>
                  <a:latin typeface="Consolas" panose="020B0609020204030204" pitchFamily="49" charset="0"/>
                </a:rPr>
                <a:t>GetMapping</a:t>
              </a:r>
              <a:endParaRPr lang="en-US" sz="1138" dirty="0">
                <a:solidFill>
                  <a:srgbClr val="646464"/>
                </a:solidFill>
                <a:latin typeface="Consolas" panose="020B0609020204030204" pitchFamily="49" charset="0"/>
              </a:endParaRPr>
            </a:p>
            <a:p>
              <a:endParaRPr lang="en-US" sz="1138" dirty="0">
                <a:latin typeface="Consolas" panose="020B0609020204030204" pitchFamily="49" charset="0"/>
              </a:endParaRPr>
            </a:p>
            <a:p>
              <a:r>
                <a:rPr lang="en-US" sz="1138" dirty="0">
                  <a:solidFill>
                    <a:srgbClr val="646464"/>
                  </a:solidFill>
                  <a:latin typeface="Consolas" panose="020B0609020204030204" pitchFamily="49" charset="0"/>
                </a:rPr>
                <a:t>@</a:t>
              </a:r>
              <a:r>
                <a:rPr lang="en-US" sz="1138" dirty="0" err="1">
                  <a:solidFill>
                    <a:srgbClr val="646464"/>
                  </a:solidFill>
                  <a:latin typeface="Consolas" panose="020B0609020204030204" pitchFamily="49" charset="0"/>
                </a:rPr>
                <a:t>RestController</a:t>
              </a:r>
              <a:endParaRPr lang="en-US" sz="1138" dirty="0">
                <a:solidFill>
                  <a:srgbClr val="646464"/>
                </a:solidFill>
                <a:latin typeface="Consolas" panose="020B0609020204030204" pitchFamily="49" charset="0"/>
              </a:endParaRPr>
            </a:p>
            <a:p>
              <a:r>
                <a:rPr lang="en-US" sz="1138" dirty="0">
                  <a:solidFill>
                    <a:srgbClr val="7F0055"/>
                  </a:solidFill>
                  <a:latin typeface="Consolas" panose="020B0609020204030204" pitchFamily="49" charset="0"/>
                </a:rPr>
                <a:t>class</a:t>
              </a:r>
              <a:r>
                <a:rPr lang="en-US" sz="1138" dirty="0">
                  <a:solidFill>
                    <a:srgbClr val="000000"/>
                  </a:solidFill>
                  <a:latin typeface="Consolas" panose="020B0609020204030204" pitchFamily="49" charset="0"/>
                </a:rPr>
                <a:t> </a:t>
              </a:r>
              <a:r>
                <a:rPr lang="en-US" sz="1138" dirty="0" err="1">
                  <a:solidFill>
                    <a:srgbClr val="000000"/>
                  </a:solidFill>
                  <a:latin typeface="Consolas" panose="020B0609020204030204" pitchFamily="49" charset="0"/>
                </a:rPr>
                <a:t>HomeController</a:t>
              </a:r>
              <a:r>
                <a:rPr lang="en-US" sz="1138" dirty="0">
                  <a:solidFill>
                    <a:srgbClr val="000000"/>
                  </a:solidFill>
                  <a:latin typeface="Consolas" panose="020B0609020204030204" pitchFamily="49" charset="0"/>
                </a:rPr>
                <a:t> {</a:t>
              </a:r>
            </a:p>
            <a:p>
              <a:r>
                <a:rPr lang="en-US" sz="1138" dirty="0">
                  <a:solidFill>
                    <a:srgbClr val="646464"/>
                  </a:solidFill>
                  <a:latin typeface="Consolas" panose="020B0609020204030204" pitchFamily="49" charset="0"/>
                </a:rPr>
                <a:t>@</a:t>
              </a:r>
              <a:r>
                <a:rPr lang="en-US" sz="1138" dirty="0" err="1">
                  <a:solidFill>
                    <a:srgbClr val="646464"/>
                  </a:solidFill>
                  <a:latin typeface="Consolas" panose="020B0609020204030204" pitchFamily="49" charset="0"/>
                </a:rPr>
                <a:t>GetMapping</a:t>
              </a:r>
              <a:r>
                <a:rPr lang="en-US" sz="1138" dirty="0">
                  <a:solidFill>
                    <a:srgbClr val="000000"/>
                  </a:solidFill>
                  <a:latin typeface="Consolas" panose="020B0609020204030204" pitchFamily="49" charset="0"/>
                </a:rPr>
                <a:t>(</a:t>
              </a:r>
              <a:r>
                <a:rPr lang="en-US" sz="1138" dirty="0">
                  <a:solidFill>
                    <a:srgbClr val="2A00FF"/>
                  </a:solidFill>
                  <a:latin typeface="Consolas" panose="020B0609020204030204" pitchFamily="49" charset="0"/>
                </a:rPr>
                <a:t>"/"</a:t>
              </a:r>
              <a:r>
                <a:rPr lang="en-US" sz="1138" dirty="0">
                  <a:solidFill>
                    <a:srgbClr val="000000"/>
                  </a:solidFill>
                  <a:latin typeface="Consolas" panose="020B0609020204030204" pitchFamily="49" charset="0"/>
                </a:rPr>
                <a:t>)</a:t>
              </a:r>
            </a:p>
            <a:p>
              <a:r>
                <a:rPr lang="en-US" sz="1138" dirty="0">
                  <a:solidFill>
                    <a:srgbClr val="7F0055"/>
                  </a:solidFill>
                  <a:latin typeface="Consolas" panose="020B0609020204030204" pitchFamily="49" charset="0"/>
                </a:rPr>
                <a:t>fun</a:t>
              </a:r>
              <a:r>
                <a:rPr lang="en-US" sz="1138" dirty="0">
                  <a:solidFill>
                    <a:srgbClr val="000000"/>
                  </a:solidFill>
                  <a:latin typeface="Consolas" panose="020B0609020204030204" pitchFamily="49" charset="0"/>
                </a:rPr>
                <a:t> Welcome(): String {</a:t>
              </a:r>
            </a:p>
            <a:p>
              <a:r>
                <a:rPr lang="en-US" sz="1138" dirty="0">
                  <a:solidFill>
                    <a:srgbClr val="7F0055"/>
                  </a:solidFill>
                  <a:latin typeface="Consolas" panose="020B0609020204030204" pitchFamily="49" charset="0"/>
                </a:rPr>
                <a:t>return</a:t>
              </a:r>
              <a:r>
                <a:rPr lang="en-US" sz="1138" dirty="0">
                  <a:solidFill>
                    <a:srgbClr val="000000"/>
                  </a:solidFill>
                  <a:latin typeface="Consolas" panose="020B0609020204030204" pitchFamily="49" charset="0"/>
                </a:rPr>
                <a:t> </a:t>
              </a:r>
              <a:r>
                <a:rPr lang="en-US" sz="1138" dirty="0">
                  <a:solidFill>
                    <a:srgbClr val="2A00FF"/>
                  </a:solidFill>
                  <a:latin typeface="Consolas" panose="020B0609020204030204" pitchFamily="49" charset="0"/>
                </a:rPr>
                <a:t>"Welcome to Spring Boot, </a:t>
              </a:r>
              <a:r>
                <a:rPr lang="en-US" sz="1138" dirty="0" err="1">
                  <a:solidFill>
                    <a:srgbClr val="2A00FF"/>
                  </a:solidFill>
                  <a:latin typeface="Consolas" panose="020B0609020204030204" pitchFamily="49" charset="0"/>
                </a:rPr>
                <a:t>TienHV</a:t>
              </a:r>
              <a:r>
                <a:rPr lang="en-US" sz="1138" dirty="0">
                  <a:solidFill>
                    <a:srgbClr val="2A00FF"/>
                  </a:solidFill>
                  <a:latin typeface="Consolas" panose="020B0609020204030204" pitchFamily="49" charset="0"/>
                </a:rPr>
                <a:t>"</a:t>
              </a:r>
              <a:r>
                <a:rPr lang="en-US" sz="1138" dirty="0">
                  <a:solidFill>
                    <a:srgbClr val="000000"/>
                  </a:solidFill>
                  <a:latin typeface="Consolas" panose="020B0609020204030204" pitchFamily="49" charset="0"/>
                </a:rPr>
                <a:t>;</a:t>
              </a:r>
            </a:p>
            <a:p>
              <a:r>
                <a:rPr lang="en-US" sz="1138" dirty="0">
                  <a:solidFill>
                    <a:srgbClr val="000000"/>
                  </a:solidFill>
                  <a:latin typeface="Consolas" panose="020B0609020204030204" pitchFamily="49" charset="0"/>
                </a:rPr>
                <a:t>}</a:t>
              </a:r>
            </a:p>
            <a:p>
              <a:endParaRPr lang="en-US" sz="1138" dirty="0">
                <a:latin typeface="Consolas" panose="020B0609020204030204" pitchFamily="49" charset="0"/>
              </a:endParaRPr>
            </a:p>
            <a:p>
              <a:r>
                <a:rPr lang="en-US" sz="1138" dirty="0">
                  <a:solidFill>
                    <a:srgbClr val="000000"/>
                  </a:solidFill>
                  <a:latin typeface="Consolas" panose="020B0609020204030204" pitchFamily="49" charset="0"/>
                </a:rPr>
                <a:t>}</a:t>
              </a:r>
              <a:endParaRPr lang="en-US" sz="1300"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2" name="図 1"/>
            <p:cNvPicPr>
              <a:picLocks noChangeAspect="1"/>
            </p:cNvPicPr>
            <p:nvPr/>
          </p:nvPicPr>
          <p:blipFill>
            <a:blip r:embed="rId3"/>
            <a:stretch>
              <a:fillRect/>
            </a:stretch>
          </p:blipFill>
          <p:spPr>
            <a:xfrm>
              <a:off x="1266625" y="1275803"/>
              <a:ext cx="2857899" cy="3829584"/>
            </a:xfrm>
            <a:prstGeom prst="rect">
              <a:avLst/>
            </a:prstGeom>
          </p:spPr>
        </p:pic>
        <p:sp>
          <p:nvSpPr>
            <p:cNvPr id="3" name="正方形/長方形 2"/>
            <p:cNvSpPr/>
            <p:nvPr/>
          </p:nvSpPr>
          <p:spPr>
            <a:xfrm>
              <a:off x="1809750" y="1943100"/>
              <a:ext cx="17907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cxnSp>
          <p:nvCxnSpPr>
            <p:cNvPr id="8" name="直線矢印コネクタ 7"/>
            <p:cNvCxnSpPr>
              <a:stCxn id="3" idx="3"/>
            </p:cNvCxnSpPr>
            <p:nvPr/>
          </p:nvCxnSpPr>
          <p:spPr>
            <a:xfrm>
              <a:off x="3600450" y="2028825"/>
              <a:ext cx="543125" cy="619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0356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5. Run application</a:t>
            </a:r>
          </a:p>
        </p:txBody>
      </p:sp>
      <p:sp>
        <p:nvSpPr>
          <p:cNvPr id="4" name="正方形/長方形 3"/>
          <p:cNvSpPr/>
          <p:nvPr/>
        </p:nvSpPr>
        <p:spPr>
          <a:xfrm>
            <a:off x="828079" y="1130500"/>
            <a:ext cx="7119938" cy="720454"/>
          </a:xfrm>
          <a:prstGeom prst="rect">
            <a:avLst/>
          </a:prstGeom>
        </p:spPr>
        <p:txBody>
          <a:bodyPr wrap="square">
            <a:spAutoFit/>
          </a:bodyPr>
          <a:lstStyle/>
          <a:p>
            <a:pPr>
              <a:lnSpc>
                <a:spcPct val="107000"/>
              </a:lnSpc>
              <a:spcAft>
                <a:spcPts val="0"/>
              </a:spcAft>
            </a:pPr>
            <a:r>
              <a:rPr lang="en-US" sz="1300" dirty="0">
                <a:latin typeface="Arial" panose="020B0604020202020204" pitchFamily="34" charset="0"/>
                <a:ea typeface="ＭＳ 明朝" panose="02020609040205080304" pitchFamily="17" charset="-128"/>
                <a:cs typeface="Times New Roman" panose="02020603050405020304" pitchFamily="18" charset="0"/>
              </a:rPr>
              <a:t>5.1 </a:t>
            </a:r>
            <a:r>
              <a:rPr lang="en-US" sz="1300" dirty="0" err="1">
                <a:latin typeface="Arial" panose="020B0604020202020204" pitchFamily="34" charset="0"/>
                <a:ea typeface="ＭＳ 明朝" panose="02020609040205080304" pitchFamily="17" charset="-128"/>
                <a:cs typeface="Times New Roman" panose="02020603050405020304" pitchFamily="18" charset="0"/>
              </a:rPr>
              <a:t>Chạy</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chương</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trình</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trên</a:t>
            </a:r>
            <a:r>
              <a:rPr lang="en-US" sz="1300" dirty="0">
                <a:latin typeface="Arial" panose="020B0604020202020204" pitchFamily="34" charset="0"/>
                <a:ea typeface="ＭＳ 明朝" panose="02020609040205080304" pitchFamily="17" charset="-128"/>
                <a:cs typeface="Times New Roman" panose="02020603050405020304" pitchFamily="18" charset="0"/>
              </a:rPr>
              <a:t> IDE (Eclipse</a:t>
            </a:r>
            <a:r>
              <a:rPr lang="en-US" sz="1138" dirty="0">
                <a:latin typeface="Calibri" panose="020F0502020204030204" pitchFamily="34" charset="0"/>
                <a:ea typeface="ＭＳ 明朝" panose="02020609040205080304" pitchFamily="17" charset="-128"/>
                <a:cs typeface="Times New Roman" panose="02020603050405020304" pitchFamily="18" charset="0"/>
              </a:rPr>
              <a:t>)</a:t>
            </a:r>
          </a:p>
          <a:p>
            <a:pPr>
              <a:lnSpc>
                <a:spcPct val="107000"/>
              </a:lnSpc>
              <a:spcAft>
                <a:spcPts val="0"/>
              </a:spcAft>
            </a:pPr>
            <a:r>
              <a:rPr lang="en-US" sz="1300" dirty="0" err="1">
                <a:latin typeface="Arial" panose="020B0604020202020204" pitchFamily="34" charset="0"/>
                <a:ea typeface="ＭＳ 明朝" panose="02020609040205080304" pitchFamily="17" charset="-128"/>
                <a:cs typeface="Times New Roman" panose="02020603050405020304" pitchFamily="18" charset="0"/>
              </a:rPr>
              <a:t>Thực</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hiện</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chạy</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chương</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trình</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theo</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thứ</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tự</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sau</a:t>
            </a:r>
            <a:r>
              <a:rPr lang="en-US" sz="1300" dirty="0">
                <a:latin typeface="Arial" panose="020B0604020202020204" pitchFamily="34" charset="0"/>
                <a:ea typeface="ＭＳ 明朝" panose="02020609040205080304" pitchFamily="17" charset="-128"/>
                <a:cs typeface="Times New Roman" panose="02020603050405020304" pitchFamily="18" charset="0"/>
              </a:rPr>
              <a:t>:</a:t>
            </a:r>
            <a:endParaRPr lang="en-US" sz="1138" dirty="0">
              <a:latin typeface="Calibri" panose="020F0502020204030204" pitchFamily="34" charset="0"/>
              <a:ea typeface="ＭＳ 明朝" panose="02020609040205080304" pitchFamily="17" charset="-128"/>
              <a:cs typeface="Times New Roman" panose="02020603050405020304" pitchFamily="18" charset="0"/>
            </a:endParaRPr>
          </a:p>
          <a:p>
            <a:r>
              <a:rPr lang="en-US" sz="1300" dirty="0" err="1">
                <a:latin typeface="Arial" panose="020B0604020202020204" pitchFamily="34" charset="0"/>
                <a:ea typeface="ＭＳ 明朝" panose="02020609040205080304" pitchFamily="17" charset="-128"/>
                <a:cs typeface="Times New Roman" panose="02020603050405020304" pitchFamily="18" charset="0"/>
              </a:rPr>
              <a:t>Tại</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Gradle</a:t>
            </a:r>
            <a:r>
              <a:rPr lang="en-US" sz="1300" dirty="0">
                <a:latin typeface="Arial" panose="020B0604020202020204" pitchFamily="34" charset="0"/>
                <a:ea typeface="ＭＳ 明朝" panose="02020609040205080304" pitchFamily="17" charset="-128"/>
                <a:cs typeface="Times New Roman" panose="02020603050405020304" pitchFamily="18" charset="0"/>
              </a:rPr>
              <a:t> Tasks </a:t>
            </a:r>
            <a:r>
              <a:rPr lang="en-US" sz="1300" dirty="0">
                <a:latin typeface="Arial" panose="020B0604020202020204" pitchFamily="34" charset="0"/>
                <a:ea typeface="ＭＳ 明朝" panose="02020609040205080304" pitchFamily="17" charset="-128"/>
              </a:rPr>
              <a:t>-&gt; application -&gt; </a:t>
            </a:r>
            <a:r>
              <a:rPr lang="en-US" sz="1300" dirty="0" err="1">
                <a:latin typeface="Arial" panose="020B0604020202020204" pitchFamily="34" charset="0"/>
                <a:ea typeface="ＭＳ 明朝" panose="02020609040205080304" pitchFamily="17" charset="-128"/>
              </a:rPr>
              <a:t>bootRun</a:t>
            </a:r>
            <a:endParaRPr lang="en-US" sz="1300" dirty="0"/>
          </a:p>
        </p:txBody>
      </p:sp>
      <p:grpSp>
        <p:nvGrpSpPr>
          <p:cNvPr id="10" name="グループ化 9"/>
          <p:cNvGrpSpPr/>
          <p:nvPr/>
        </p:nvGrpSpPr>
        <p:grpSpPr>
          <a:xfrm>
            <a:off x="897731" y="1912172"/>
            <a:ext cx="4760188" cy="4094535"/>
            <a:chOff x="1104899" y="1562135"/>
            <a:chExt cx="5858693" cy="5039428"/>
          </a:xfrm>
        </p:grpSpPr>
        <p:pic>
          <p:nvPicPr>
            <p:cNvPr id="8" name="図 7"/>
            <p:cNvPicPr>
              <a:picLocks noChangeAspect="1"/>
            </p:cNvPicPr>
            <p:nvPr/>
          </p:nvPicPr>
          <p:blipFill>
            <a:blip r:embed="rId3"/>
            <a:stretch>
              <a:fillRect/>
            </a:stretch>
          </p:blipFill>
          <p:spPr>
            <a:xfrm>
              <a:off x="1104899" y="1562135"/>
              <a:ext cx="5858693" cy="5039428"/>
            </a:xfrm>
            <a:prstGeom prst="rect">
              <a:avLst/>
            </a:prstGeom>
          </p:spPr>
        </p:pic>
        <p:sp>
          <p:nvSpPr>
            <p:cNvPr id="9" name="正方形/長方形 8"/>
            <p:cNvSpPr/>
            <p:nvPr/>
          </p:nvSpPr>
          <p:spPr>
            <a:xfrm>
              <a:off x="1562100" y="2676525"/>
              <a:ext cx="819150" cy="161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grpSp>
    </p:spTree>
    <p:extLst>
      <p:ext uri="{BB962C8B-B14F-4D97-AF65-F5344CB8AC3E}">
        <p14:creationId xmlns:p14="http://schemas.microsoft.com/office/powerpoint/2010/main" val="6252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88776" y="735808"/>
            <a:ext cx="7119938" cy="1351204"/>
          </a:xfrm>
          <a:prstGeom prst="rect">
            <a:avLst/>
          </a:prstGeom>
        </p:spPr>
        <p:txBody>
          <a:bodyPr wrap="square">
            <a:spAutoFit/>
          </a:bodyPr>
          <a:lstStyle/>
          <a:p>
            <a:pPr>
              <a:lnSpc>
                <a:spcPct val="107000"/>
              </a:lnSpc>
            </a:pPr>
            <a:r>
              <a:rPr lang="en-US" sz="1300" dirty="0">
                <a:latin typeface="Arial" panose="020B0604020202020204" pitchFamily="34" charset="0"/>
                <a:ea typeface="ＭＳ 明朝" panose="02020609040205080304" pitchFamily="17" charset="-128"/>
                <a:cs typeface="Times New Roman" panose="02020603050405020304" pitchFamily="18" charset="0"/>
              </a:rPr>
              <a:t>5.2 </a:t>
            </a:r>
            <a:r>
              <a:rPr lang="en-US" sz="1300" dirty="0" err="1"/>
              <a:t>Chạy</a:t>
            </a:r>
            <a:r>
              <a:rPr lang="en-US" sz="1300" dirty="0"/>
              <a:t> </a:t>
            </a:r>
            <a:r>
              <a:rPr lang="en-US" sz="1300" dirty="0" err="1"/>
              <a:t>chương</a:t>
            </a:r>
            <a:r>
              <a:rPr lang="en-US" sz="1300" dirty="0"/>
              <a:t> </a:t>
            </a:r>
            <a:r>
              <a:rPr lang="en-US" sz="1300" dirty="0" err="1"/>
              <a:t>trình</a:t>
            </a:r>
            <a:r>
              <a:rPr lang="en-US" sz="1300" dirty="0"/>
              <a:t> </a:t>
            </a:r>
            <a:r>
              <a:rPr lang="en-US" sz="1300" dirty="0" err="1"/>
              <a:t>bằng</a:t>
            </a:r>
            <a:r>
              <a:rPr lang="en-US" sz="1300" dirty="0"/>
              <a:t> file JAR</a:t>
            </a:r>
            <a:endParaRPr lang="en-US" sz="1138" dirty="0">
              <a:latin typeface="Calibri" panose="020F0502020204030204" pitchFamily="34" charset="0"/>
              <a:ea typeface="ＭＳ 明朝" panose="02020609040205080304" pitchFamily="17" charset="-128"/>
              <a:cs typeface="Times New Roman" panose="02020603050405020304" pitchFamily="18" charset="0"/>
            </a:endParaRPr>
          </a:p>
          <a:p>
            <a:pPr>
              <a:lnSpc>
                <a:spcPct val="107000"/>
              </a:lnSpc>
            </a:pPr>
            <a:r>
              <a:rPr lang="en-US" sz="1300" dirty="0" err="1">
                <a:latin typeface="Arial" panose="020B0604020202020204" pitchFamily="34" charset="0"/>
                <a:ea typeface="ＭＳ 明朝" panose="02020609040205080304" pitchFamily="17" charset="-128"/>
                <a:cs typeface="Times New Roman" panose="02020603050405020304" pitchFamily="18" charset="0"/>
              </a:rPr>
              <a:t>Thực</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hiện</a:t>
            </a:r>
            <a:r>
              <a:rPr lang="en-US" sz="1300" dirty="0">
                <a:latin typeface="Arial" panose="020B0604020202020204" pitchFamily="34" charset="0"/>
                <a:ea typeface="ＭＳ 明朝" panose="02020609040205080304" pitchFamily="17" charset="-128"/>
                <a:cs typeface="Times New Roman" panose="02020603050405020304" pitchFamily="18" charset="0"/>
              </a:rPr>
              <a:t> build file JAR </a:t>
            </a:r>
            <a:r>
              <a:rPr lang="en-US" sz="1300" dirty="0" err="1">
                <a:latin typeface="Arial" panose="020B0604020202020204" pitchFamily="34" charset="0"/>
                <a:ea typeface="ＭＳ 明朝" panose="02020609040205080304" pitchFamily="17" charset="-128"/>
                <a:cs typeface="Times New Roman" panose="02020603050405020304" pitchFamily="18" charset="0"/>
              </a:rPr>
              <a:t>và</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thực</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hiện</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chạy</a:t>
            </a:r>
            <a:r>
              <a:rPr lang="en-US" sz="1300" dirty="0">
                <a:latin typeface="Arial" panose="020B0604020202020204" pitchFamily="34" charset="0"/>
                <a:ea typeface="ＭＳ 明朝" panose="02020609040205080304" pitchFamily="17" charset="-128"/>
                <a:cs typeface="Times New Roman" panose="02020603050405020304" pitchFamily="18" charset="0"/>
              </a:rPr>
              <a:t> command </a:t>
            </a:r>
            <a:r>
              <a:rPr lang="en-US" sz="1300" dirty="0" err="1">
                <a:latin typeface="Arial" panose="020B0604020202020204" pitchFamily="34" charset="0"/>
                <a:ea typeface="ＭＳ 明朝" panose="02020609040205080304" pitchFamily="17" charset="-128"/>
                <a:cs typeface="Times New Roman" panose="02020603050405020304" pitchFamily="18" charset="0"/>
              </a:rPr>
              <a:t>với</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câu</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lệnh</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dưới</a:t>
            </a:r>
            <a:r>
              <a:rPr lang="en-US" sz="1300" dirty="0">
                <a:latin typeface="Arial" panose="020B0604020202020204" pitchFamily="34" charset="0"/>
                <a:ea typeface="ＭＳ 明朝" panose="02020609040205080304" pitchFamily="17" charset="-128"/>
                <a:cs typeface="Times New Roman" panose="02020603050405020304" pitchFamily="18" charset="0"/>
              </a:rPr>
              <a:t> </a:t>
            </a:r>
            <a:r>
              <a:rPr lang="en-US" sz="1300" dirty="0" err="1">
                <a:latin typeface="Arial" panose="020B0604020202020204" pitchFamily="34" charset="0"/>
                <a:ea typeface="ＭＳ 明朝" panose="02020609040205080304" pitchFamily="17" charset="-128"/>
                <a:cs typeface="Times New Roman" panose="02020603050405020304" pitchFamily="18" charset="0"/>
              </a:rPr>
              <a:t>tại</a:t>
            </a:r>
            <a:r>
              <a:rPr lang="en-US" sz="1300" dirty="0">
                <a:latin typeface="Arial" panose="020B0604020202020204" pitchFamily="34" charset="0"/>
                <a:ea typeface="ＭＳ 明朝" panose="02020609040205080304" pitchFamily="17" charset="-128"/>
                <a:cs typeface="Times New Roman" panose="02020603050405020304" pitchFamily="18" charset="0"/>
              </a:rPr>
              <a:t> folder </a:t>
            </a:r>
            <a:r>
              <a:rPr lang="en-US" sz="1300" dirty="0" err="1">
                <a:latin typeface="Arial" panose="020B0604020202020204" pitchFamily="34" charset="0"/>
                <a:ea typeface="ＭＳ 明朝" panose="02020609040205080304" pitchFamily="17" charset="-128"/>
                <a:cs typeface="Times New Roman" panose="02020603050405020304" pitchFamily="18" charset="0"/>
              </a:rPr>
              <a:t>chứa</a:t>
            </a:r>
            <a:r>
              <a:rPr lang="en-US" sz="1300" dirty="0">
                <a:latin typeface="Arial" panose="020B0604020202020204" pitchFamily="34" charset="0"/>
                <a:ea typeface="ＭＳ 明朝" panose="02020609040205080304" pitchFamily="17" charset="-128"/>
                <a:cs typeface="Times New Roman" panose="02020603050405020304" pitchFamily="18" charset="0"/>
              </a:rPr>
              <a:t> file JAR: </a:t>
            </a:r>
            <a:r>
              <a:rPr lang="en-US" sz="1300" dirty="0"/>
              <a:t>java -jar filename.jar</a:t>
            </a:r>
          </a:p>
          <a:p>
            <a:pPr>
              <a:lnSpc>
                <a:spcPct val="107000"/>
              </a:lnSpc>
            </a:pPr>
            <a:r>
              <a:rPr lang="en-US" sz="1300" dirty="0"/>
              <a:t>※ file name </a:t>
            </a:r>
            <a:r>
              <a:rPr lang="en-US" sz="1300" dirty="0" err="1"/>
              <a:t>là</a:t>
            </a:r>
            <a:r>
              <a:rPr lang="en-US" sz="1300" dirty="0"/>
              <a:t> </a:t>
            </a:r>
            <a:r>
              <a:rPr lang="en-US" sz="1300" dirty="0" err="1"/>
              <a:t>tên</a:t>
            </a:r>
            <a:r>
              <a:rPr lang="en-US" sz="1300" dirty="0"/>
              <a:t> file build</a:t>
            </a:r>
          </a:p>
          <a:p>
            <a:pPr>
              <a:lnSpc>
                <a:spcPct val="107000"/>
              </a:lnSpc>
            </a:pPr>
            <a:r>
              <a:rPr lang="en-US" sz="1300" dirty="0"/>
              <a:t>File jar </a:t>
            </a:r>
            <a:r>
              <a:rPr lang="en-US" sz="1300" dirty="0" err="1"/>
              <a:t>được</a:t>
            </a:r>
            <a:r>
              <a:rPr lang="en-US" sz="1300" dirty="0"/>
              <a:t> build </a:t>
            </a:r>
            <a:r>
              <a:rPr lang="en-US" sz="1300" dirty="0" err="1"/>
              <a:t>tại</a:t>
            </a:r>
            <a:r>
              <a:rPr lang="en-US" sz="1300" dirty="0"/>
              <a:t> “..\build\libs” </a:t>
            </a:r>
          </a:p>
          <a:p>
            <a:pPr>
              <a:lnSpc>
                <a:spcPct val="107000"/>
              </a:lnSpc>
              <a:spcAft>
                <a:spcPts val="0"/>
              </a:spcAft>
            </a:pPr>
            <a:endParaRPr lang="en-US" sz="1300" dirty="0"/>
          </a:p>
        </p:txBody>
      </p:sp>
      <p:grpSp>
        <p:nvGrpSpPr>
          <p:cNvPr id="5" name="グループ化 4"/>
          <p:cNvGrpSpPr/>
          <p:nvPr/>
        </p:nvGrpSpPr>
        <p:grpSpPr>
          <a:xfrm>
            <a:off x="744214" y="2114703"/>
            <a:ext cx="4071315" cy="2925774"/>
            <a:chOff x="976915" y="1491363"/>
            <a:chExt cx="5010849" cy="3600953"/>
          </a:xfrm>
        </p:grpSpPr>
        <p:pic>
          <p:nvPicPr>
            <p:cNvPr id="3" name="図 2"/>
            <p:cNvPicPr>
              <a:picLocks noChangeAspect="1"/>
            </p:cNvPicPr>
            <p:nvPr/>
          </p:nvPicPr>
          <p:blipFill>
            <a:blip r:embed="rId3"/>
            <a:stretch>
              <a:fillRect/>
            </a:stretch>
          </p:blipFill>
          <p:spPr>
            <a:xfrm>
              <a:off x="976915" y="1491363"/>
              <a:ext cx="5010849" cy="3600953"/>
            </a:xfrm>
            <a:prstGeom prst="rect">
              <a:avLst/>
            </a:prstGeom>
          </p:spPr>
        </p:pic>
        <p:sp>
          <p:nvSpPr>
            <p:cNvPr id="4" name="正方形/長方形 3"/>
            <p:cNvSpPr/>
            <p:nvPr/>
          </p:nvSpPr>
          <p:spPr>
            <a:xfrm>
              <a:off x="1432560" y="2331720"/>
              <a:ext cx="944880" cy="2133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grpSp>
      <p:sp>
        <p:nvSpPr>
          <p:cNvPr id="6" name="テキスト ボックス 5"/>
          <p:cNvSpPr txBox="1"/>
          <p:nvPr/>
        </p:nvSpPr>
        <p:spPr>
          <a:xfrm>
            <a:off x="2222659" y="2076422"/>
            <a:ext cx="1430179" cy="292388"/>
          </a:xfrm>
          <a:prstGeom prst="rect">
            <a:avLst/>
          </a:prstGeom>
          <a:noFill/>
          <a:ln>
            <a:solidFill>
              <a:srgbClr val="FF0000"/>
            </a:solidFill>
          </a:ln>
        </p:spPr>
        <p:txBody>
          <a:bodyPr wrap="square" rtlCol="0">
            <a:spAutoFit/>
          </a:bodyPr>
          <a:lstStyle/>
          <a:p>
            <a:r>
              <a:rPr lang="en-US" sz="1300" dirty="0" err="1"/>
              <a:t>Gradle</a:t>
            </a:r>
            <a:r>
              <a:rPr lang="en-US" sz="1300" dirty="0"/>
              <a:t> Tasks</a:t>
            </a:r>
          </a:p>
        </p:txBody>
      </p:sp>
    </p:spTree>
    <p:extLst>
      <p:ext uri="{BB962C8B-B14F-4D97-AF65-F5344CB8AC3E}">
        <p14:creationId xmlns:p14="http://schemas.microsoft.com/office/powerpoint/2010/main" val="63805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714349" y="642937"/>
            <a:ext cx="2496196" cy="293670"/>
          </a:xfrm>
          <a:prstGeom prst="rect">
            <a:avLst/>
          </a:prstGeom>
        </p:spPr>
        <p:txBody>
          <a:bodyPr wrap="none">
            <a:spAutoFit/>
          </a:bodyPr>
          <a:lstStyle/>
          <a:p>
            <a:pPr>
              <a:lnSpc>
                <a:spcPct val="107000"/>
              </a:lnSpc>
            </a:pPr>
            <a:r>
              <a:rPr lang="en-US" sz="1300" dirty="0">
                <a:latin typeface="Arial" panose="020B0604020202020204" pitchFamily="34" charset="0"/>
                <a:ea typeface="ＭＳ 明朝" panose="02020609040205080304" pitchFamily="17" charset="-128"/>
                <a:cs typeface="Times New Roman" panose="02020603050405020304" pitchFamily="18" charset="0"/>
              </a:rPr>
              <a:t>5.3 </a:t>
            </a:r>
            <a:r>
              <a:rPr lang="vi-VN" sz="1300" dirty="0">
                <a:ea typeface="ＭＳ 明朝" panose="02020609040205080304" pitchFamily="17" charset="-128"/>
                <a:cs typeface="Times New Roman" panose="02020603050405020304" pitchFamily="18" charset="0"/>
              </a:rPr>
              <a:t>Kiểm tra chương trình</a:t>
            </a:r>
            <a:r>
              <a:rPr lang="en-US" sz="1300" dirty="0">
                <a:latin typeface="Arial" panose="020B0604020202020204" pitchFamily="34" charset="0"/>
                <a:ea typeface="ＭＳ 明朝" panose="02020609040205080304" pitchFamily="17" charset="-128"/>
                <a:cs typeface="Times New Roman" panose="02020603050405020304" pitchFamily="18" charset="0"/>
              </a:rPr>
              <a:t> </a:t>
            </a:r>
            <a:endParaRPr lang="en-US" sz="1138" dirty="0">
              <a:latin typeface="Calibri" panose="020F0502020204030204" pitchFamily="34" charset="0"/>
              <a:ea typeface="ＭＳ 明朝" panose="02020609040205080304" pitchFamily="17" charset="-128"/>
              <a:cs typeface="Times New Roman" panose="02020603050405020304" pitchFamily="18" charset="0"/>
            </a:endParaRPr>
          </a:p>
        </p:txBody>
      </p:sp>
      <p:sp>
        <p:nvSpPr>
          <p:cNvPr id="3" name="正方形/長方形 2"/>
          <p:cNvSpPr/>
          <p:nvPr/>
        </p:nvSpPr>
        <p:spPr>
          <a:xfrm>
            <a:off x="866775" y="958753"/>
            <a:ext cx="5801201" cy="692497"/>
          </a:xfrm>
          <a:prstGeom prst="rect">
            <a:avLst/>
          </a:prstGeom>
        </p:spPr>
        <p:txBody>
          <a:bodyPr wrap="square">
            <a:spAutoFit/>
          </a:bodyPr>
          <a:lstStyle/>
          <a:p>
            <a:r>
              <a:rPr lang="en-US" sz="1300" dirty="0" err="1"/>
              <a:t>Kiểm</a:t>
            </a:r>
            <a:r>
              <a:rPr lang="en-US" sz="1300" dirty="0"/>
              <a:t> </a:t>
            </a:r>
            <a:r>
              <a:rPr lang="en-US" sz="1300" dirty="0" err="1"/>
              <a:t>tra</a:t>
            </a:r>
            <a:r>
              <a:rPr lang="en-US" sz="1300" dirty="0"/>
              <a:t> </a:t>
            </a:r>
            <a:r>
              <a:rPr lang="en-US" sz="1300" dirty="0" err="1"/>
              <a:t>chương</a:t>
            </a:r>
            <a:r>
              <a:rPr lang="en-US" sz="1300" dirty="0"/>
              <a:t> </a:t>
            </a:r>
            <a:r>
              <a:rPr lang="en-US" sz="1300" dirty="0" err="1"/>
              <a:t>trình</a:t>
            </a:r>
            <a:r>
              <a:rPr lang="en-US" sz="1300" dirty="0"/>
              <a:t> </a:t>
            </a:r>
            <a:r>
              <a:rPr lang="en-US" sz="1300" dirty="0" err="1"/>
              <a:t>bằng</a:t>
            </a:r>
            <a:r>
              <a:rPr lang="en-US" sz="1300" dirty="0"/>
              <a:t> </a:t>
            </a:r>
            <a:r>
              <a:rPr lang="en-US" sz="1300" dirty="0" err="1"/>
              <a:t>cách</a:t>
            </a:r>
            <a:r>
              <a:rPr lang="en-US" sz="1300" dirty="0"/>
              <a:t> </a:t>
            </a:r>
            <a:r>
              <a:rPr lang="en-US" sz="1300" dirty="0" err="1"/>
              <a:t>truy</a:t>
            </a:r>
            <a:r>
              <a:rPr lang="en-US" sz="1300" dirty="0"/>
              <a:t> </a:t>
            </a:r>
            <a:r>
              <a:rPr lang="en-US" sz="1300" dirty="0" err="1"/>
              <a:t>cập</a:t>
            </a:r>
            <a:r>
              <a:rPr lang="en-US" sz="1300" dirty="0"/>
              <a:t> </a:t>
            </a:r>
            <a:r>
              <a:rPr lang="en-US" sz="1300" dirty="0" err="1"/>
              <a:t>vào</a:t>
            </a:r>
            <a:r>
              <a:rPr lang="en-US" sz="1300" dirty="0"/>
              <a:t> </a:t>
            </a:r>
            <a:r>
              <a:rPr lang="en-US" sz="1300" dirty="0" err="1"/>
              <a:t>đường</a:t>
            </a:r>
            <a:r>
              <a:rPr lang="en-US" sz="1300" dirty="0"/>
              <a:t> </a:t>
            </a:r>
            <a:r>
              <a:rPr lang="en-US" sz="1300" dirty="0" err="1"/>
              <a:t>dẫn</a:t>
            </a:r>
            <a:r>
              <a:rPr lang="en-US" sz="1300" dirty="0"/>
              <a:t> </a:t>
            </a:r>
            <a:r>
              <a:rPr lang="en-US" sz="1300" u="sng" dirty="0">
                <a:hlinkClick r:id="rId3"/>
              </a:rPr>
              <a:t>http://localhost:8080/</a:t>
            </a:r>
            <a:r>
              <a:rPr lang="en-US" sz="1300" dirty="0"/>
              <a:t> </a:t>
            </a:r>
            <a:r>
              <a:rPr lang="en-US" sz="1300" dirty="0" err="1"/>
              <a:t>bằng</a:t>
            </a:r>
            <a:r>
              <a:rPr lang="en-US" sz="1300" dirty="0"/>
              <a:t> </a:t>
            </a:r>
            <a:r>
              <a:rPr lang="en-US" sz="1300" dirty="0" err="1"/>
              <a:t>trình</a:t>
            </a:r>
            <a:r>
              <a:rPr lang="en-US" sz="1300" dirty="0"/>
              <a:t> </a:t>
            </a:r>
            <a:r>
              <a:rPr lang="en-US" sz="1300" dirty="0" err="1"/>
              <a:t>duyệt</a:t>
            </a:r>
            <a:r>
              <a:rPr lang="en-US" sz="1300" dirty="0"/>
              <a:t> </a:t>
            </a:r>
            <a:r>
              <a:rPr lang="en-US" sz="1300" dirty="0" err="1"/>
              <a:t>hoặc</a:t>
            </a:r>
            <a:r>
              <a:rPr lang="en-US" sz="1300" dirty="0"/>
              <a:t> </a:t>
            </a:r>
            <a:r>
              <a:rPr lang="en-US" sz="1300" dirty="0" err="1"/>
              <a:t>bằng</a:t>
            </a:r>
            <a:r>
              <a:rPr lang="en-US" sz="1300" dirty="0"/>
              <a:t> </a:t>
            </a:r>
            <a:r>
              <a:rPr lang="en-US" sz="1300" dirty="0" err="1"/>
              <a:t>ứng</a:t>
            </a:r>
            <a:r>
              <a:rPr lang="en-US" sz="1300" dirty="0"/>
              <a:t> </a:t>
            </a:r>
            <a:r>
              <a:rPr lang="en-US" sz="1300" dirty="0" err="1"/>
              <a:t>dụng</a:t>
            </a:r>
            <a:r>
              <a:rPr lang="en-US" sz="1300" dirty="0"/>
              <a:t> Rest API </a:t>
            </a:r>
            <a:r>
              <a:rPr lang="en-US" sz="1300" dirty="0" err="1"/>
              <a:t>nào</a:t>
            </a:r>
            <a:r>
              <a:rPr lang="en-US" sz="1300" dirty="0"/>
              <a:t> </a:t>
            </a:r>
            <a:r>
              <a:rPr lang="en-US" sz="1300" dirty="0" err="1"/>
              <a:t>đó</a:t>
            </a:r>
            <a:r>
              <a:rPr lang="en-US" sz="1300" dirty="0"/>
              <a:t> </a:t>
            </a:r>
            <a:r>
              <a:rPr lang="en-US" sz="1300" dirty="0" err="1"/>
              <a:t>ví</a:t>
            </a:r>
            <a:r>
              <a:rPr lang="en-US" sz="1300" dirty="0"/>
              <a:t> </a:t>
            </a:r>
            <a:r>
              <a:rPr lang="en-US" sz="1300" dirty="0" err="1"/>
              <a:t>dụ</a:t>
            </a:r>
            <a:r>
              <a:rPr lang="en-US" sz="1300" dirty="0"/>
              <a:t> </a:t>
            </a:r>
            <a:r>
              <a:rPr lang="en-US" sz="1300" dirty="0" err="1"/>
              <a:t>như</a:t>
            </a:r>
            <a:r>
              <a:rPr lang="en-US" sz="1300" dirty="0"/>
              <a:t> “</a:t>
            </a:r>
            <a:r>
              <a:rPr lang="en-US" sz="1300" dirty="0" err="1"/>
              <a:t>PostMan</a:t>
            </a:r>
            <a:r>
              <a:rPr lang="en-US" sz="1300" dirty="0"/>
              <a:t>”</a:t>
            </a:r>
          </a:p>
        </p:txBody>
      </p:sp>
      <p:grpSp>
        <p:nvGrpSpPr>
          <p:cNvPr id="6" name="グループ化 5"/>
          <p:cNvGrpSpPr/>
          <p:nvPr/>
        </p:nvGrpSpPr>
        <p:grpSpPr>
          <a:xfrm>
            <a:off x="944906" y="1708959"/>
            <a:ext cx="5875496" cy="4354033"/>
            <a:chOff x="1162961" y="1312026"/>
            <a:chExt cx="7231380" cy="5358810"/>
          </a:xfrm>
        </p:grpSpPr>
        <p:pic>
          <p:nvPicPr>
            <p:cNvPr id="4" name="図 3"/>
            <p:cNvPicPr/>
            <p:nvPr/>
          </p:nvPicPr>
          <p:blipFill>
            <a:blip r:embed="rId4"/>
            <a:stretch>
              <a:fillRect/>
            </a:stretch>
          </p:blipFill>
          <p:spPr>
            <a:xfrm>
              <a:off x="1162961" y="1312026"/>
              <a:ext cx="7231380" cy="5358810"/>
            </a:xfrm>
            <a:prstGeom prst="rect">
              <a:avLst/>
            </a:prstGeom>
          </p:spPr>
        </p:pic>
        <p:sp>
          <p:nvSpPr>
            <p:cNvPr id="5" name="正方形/長方形 4"/>
            <p:cNvSpPr/>
            <p:nvPr/>
          </p:nvSpPr>
          <p:spPr>
            <a:xfrm>
              <a:off x="1219200" y="1950720"/>
              <a:ext cx="1729740" cy="1905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grpSp>
    </p:spTree>
    <p:extLst>
      <p:ext uri="{BB962C8B-B14F-4D97-AF65-F5344CB8AC3E}">
        <p14:creationId xmlns:p14="http://schemas.microsoft.com/office/powerpoint/2010/main" val="231958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ata paging and sorting using spring data JPA | Develop Pa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700" y="1293019"/>
            <a:ext cx="6191250" cy="4171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396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982060" y="3071716"/>
            <a:ext cx="6984793" cy="1696142"/>
          </a:xfrm>
        </p:spPr>
        <p:txBody>
          <a:bodyPr>
            <a:noAutofit/>
          </a:bodyPr>
          <a:lstStyle/>
          <a:p>
            <a:pPr>
              <a:buFont typeface="Wingdings 3" charset="2"/>
              <a:buChar char=""/>
            </a:pPr>
            <a:r>
              <a:rPr kumimoji="1" lang="en-US" dirty="0"/>
              <a:t>Spring Data JPA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a:t>JPA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a:t>ORM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err="1"/>
              <a:t>Thực</a:t>
            </a:r>
            <a:r>
              <a:rPr kumimoji="1" lang="en-US" dirty="0"/>
              <a:t> </a:t>
            </a:r>
            <a:r>
              <a:rPr kumimoji="1" lang="en-US" dirty="0" err="1"/>
              <a:t>hiện</a:t>
            </a:r>
            <a:r>
              <a:rPr kumimoji="1" lang="en-US" dirty="0"/>
              <a:t> </a:t>
            </a:r>
            <a:r>
              <a:rPr kumimoji="1" lang="en-US" dirty="0" err="1"/>
              <a:t>tạo</a:t>
            </a:r>
            <a:r>
              <a:rPr kumimoji="1" lang="en-US" dirty="0"/>
              <a:t> </a:t>
            </a:r>
            <a:r>
              <a:rPr kumimoji="1" lang="en-US" dirty="0" err="1"/>
              <a:t>chương</a:t>
            </a:r>
            <a:r>
              <a:rPr kumimoji="1" lang="en-US" dirty="0"/>
              <a:t> </a:t>
            </a:r>
            <a:r>
              <a:rPr kumimoji="1" lang="en-US" dirty="0" err="1"/>
              <a:t>trình</a:t>
            </a:r>
            <a:r>
              <a:rPr kumimoji="1" lang="en-US" dirty="0"/>
              <a:t> Spring Data JPA </a:t>
            </a:r>
            <a:r>
              <a:rPr kumimoji="1" lang="en-US" dirty="0" err="1"/>
              <a:t>đơn</a:t>
            </a:r>
            <a:r>
              <a:rPr kumimoji="1" lang="en-US" dirty="0"/>
              <a:t> </a:t>
            </a:r>
            <a:r>
              <a:rPr kumimoji="1" lang="en-US" dirty="0" err="1"/>
              <a:t>giản</a:t>
            </a:r>
            <a:endParaRPr kumimoji="1" lang="en-US" dirty="0"/>
          </a:p>
        </p:txBody>
      </p:sp>
      <p:sp>
        <p:nvSpPr>
          <p:cNvPr id="6" name="コンテンツ プレースホルダー 2"/>
          <p:cNvSpPr txBox="1">
            <a:spLocks/>
          </p:cNvSpPr>
          <p:nvPr/>
        </p:nvSpPr>
        <p:spPr>
          <a:xfrm>
            <a:off x="1587368" y="2540302"/>
            <a:ext cx="6984793" cy="439833"/>
          </a:xfrm>
          <a:prstGeom prst="rect">
            <a:avLst/>
          </a:prstGeom>
        </p:spPr>
        <p:txBody>
          <a:bodyPr vert="horz" lIns="74295" tIns="37148" rIns="74295" bIns="37148"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1950" dirty="0" err="1"/>
              <a:t>Các</a:t>
            </a:r>
            <a:r>
              <a:rPr lang="en-US" sz="1950" dirty="0"/>
              <a:t> </a:t>
            </a:r>
            <a:r>
              <a:rPr lang="en-US" sz="1950" dirty="0" err="1"/>
              <a:t>mục</a:t>
            </a:r>
            <a:r>
              <a:rPr lang="en-US" sz="1950" dirty="0"/>
              <a:t> </a:t>
            </a:r>
            <a:r>
              <a:rPr lang="en-US" sz="1950" dirty="0" err="1"/>
              <a:t>trình</a:t>
            </a:r>
            <a:r>
              <a:rPr lang="en-US" sz="1950" dirty="0"/>
              <a:t> </a:t>
            </a:r>
            <a:r>
              <a:rPr lang="en-US" sz="1950" dirty="0" err="1"/>
              <a:t>bày</a:t>
            </a:r>
            <a:r>
              <a:rPr lang="en-US" sz="1950" dirty="0"/>
              <a:t> </a:t>
            </a:r>
            <a:r>
              <a:rPr lang="en-US" sz="1950" dirty="0" err="1"/>
              <a:t>trong</a:t>
            </a:r>
            <a:r>
              <a:rPr lang="en-US" sz="1950" dirty="0"/>
              <a:t> </a:t>
            </a:r>
            <a:r>
              <a:rPr lang="en-US" sz="2600" dirty="0"/>
              <a:t>Spring Data JPA</a:t>
            </a:r>
          </a:p>
        </p:txBody>
      </p:sp>
      <p:pic>
        <p:nvPicPr>
          <p:cNvPr id="3076" name="Picture 4" descr="Giới thiệu về Spring Data JPA - Tại sao cần sử dụng nó? - Học Spring Bo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7775" y="827392"/>
            <a:ext cx="3394869" cy="1697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683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1. Spring Data JPA </a:t>
            </a:r>
            <a:r>
              <a:rPr lang="en-US" sz="1625" dirty="0" err="1">
                <a:solidFill>
                  <a:schemeClr val="tx1"/>
                </a:solidFill>
                <a:latin typeface="Arial" panose="020B0604020202020204" pitchFamily="34" charset="0"/>
                <a:cs typeface="Arial" panose="020B0604020202020204" pitchFamily="34" charset="0"/>
              </a:rPr>
              <a:t>là</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gì</a:t>
            </a:r>
            <a:r>
              <a:rPr lang="en-US" sz="1625" dirty="0">
                <a:solidFill>
                  <a:schemeClr val="tx1"/>
                </a:solidFill>
                <a:latin typeface="Arial" panose="020B0604020202020204" pitchFamily="34" charset="0"/>
                <a:cs typeface="Arial" panose="020B0604020202020204" pitchFamily="34" charset="0"/>
              </a:rPr>
              <a:t>?</a:t>
            </a:r>
          </a:p>
        </p:txBody>
      </p:sp>
      <p:sp>
        <p:nvSpPr>
          <p:cNvPr id="3" name="正方形/長方形 2"/>
          <p:cNvSpPr/>
          <p:nvPr/>
        </p:nvSpPr>
        <p:spPr>
          <a:xfrm>
            <a:off x="781645" y="1191710"/>
            <a:ext cx="7050286" cy="892552"/>
          </a:xfrm>
          <a:prstGeom prst="rect">
            <a:avLst/>
          </a:prstGeom>
        </p:spPr>
        <p:txBody>
          <a:bodyPr wrap="square">
            <a:spAutoFit/>
          </a:bodyPr>
          <a:lstStyle/>
          <a:p>
            <a:pPr algn="just"/>
            <a:r>
              <a:rPr lang="vi-VN" sz="1300" dirty="0">
                <a:solidFill>
                  <a:srgbClr val="333333"/>
                </a:solidFill>
              </a:rPr>
              <a:t>Spring Data JPA</a:t>
            </a:r>
            <a:r>
              <a:rPr lang="en-US" sz="1300" dirty="0">
                <a:solidFill>
                  <a:srgbClr val="333333"/>
                </a:solidFill>
              </a:rPr>
              <a:t> </a:t>
            </a:r>
            <a:r>
              <a:rPr lang="en-US" sz="1300" dirty="0" err="1">
                <a:solidFill>
                  <a:srgbClr val="333333"/>
                </a:solidFill>
              </a:rPr>
              <a:t>là</a:t>
            </a:r>
            <a:r>
              <a:rPr lang="vi-VN" sz="1300" dirty="0">
                <a:solidFill>
                  <a:srgbClr val="333333"/>
                </a:solidFill>
              </a:rPr>
              <a:t> một phần của dòng Spring Data, giúp dễ dàng triển khai các kho lưu trữ dựa trên JPA. Mô-đun này đề cập đến hỗ trợ nâng cao cho các lớp truy cập dữ liệu dựa trên JPA. Nó làm cho việc xây dựng các ứng dụng dựa trên Spring sử dụng công nghệ truy cập dữ liệu trở nên dễ dàng hơn</a:t>
            </a:r>
            <a:endParaRPr lang="en-US" sz="1300" dirty="0"/>
          </a:p>
        </p:txBody>
      </p:sp>
      <p:pic>
        <p:nvPicPr>
          <p:cNvPr id="4098" name="Picture 2" descr="https://miro.medium.com/max/1400/1*beI5EsSh45USmgJnKk2v9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118" y="2228187"/>
            <a:ext cx="5951339" cy="3124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696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3404920" y="1870450"/>
            <a:ext cx="2789546" cy="1530291"/>
          </a:xfrm>
          <a:prstGeom prst="rect">
            <a:avLst/>
          </a:prstGeom>
        </p:spPr>
        <p:txBody>
          <a:bodyPr wrap="none">
            <a:spAutoFit/>
          </a:bodyPr>
          <a:lstStyle/>
          <a:p>
            <a:r>
              <a:rPr lang="en-US" sz="9344" dirty="0"/>
              <a:t>JPA</a:t>
            </a:r>
          </a:p>
        </p:txBody>
      </p:sp>
      <p:sp>
        <p:nvSpPr>
          <p:cNvPr id="4" name="正方形/長方形 3"/>
          <p:cNvSpPr/>
          <p:nvPr/>
        </p:nvSpPr>
        <p:spPr>
          <a:xfrm>
            <a:off x="2046319" y="3383364"/>
            <a:ext cx="5537093" cy="692497"/>
          </a:xfrm>
          <a:prstGeom prst="rect">
            <a:avLst/>
          </a:prstGeom>
        </p:spPr>
        <p:txBody>
          <a:bodyPr wrap="none">
            <a:spAutoFit/>
          </a:bodyPr>
          <a:lstStyle/>
          <a:p>
            <a:r>
              <a:rPr lang="en-US" sz="3900" dirty="0"/>
              <a:t>Java Persistence API</a:t>
            </a:r>
          </a:p>
        </p:txBody>
      </p:sp>
    </p:spTree>
    <p:extLst>
      <p:ext uri="{BB962C8B-B14F-4D97-AF65-F5344CB8AC3E}">
        <p14:creationId xmlns:p14="http://schemas.microsoft.com/office/powerpoint/2010/main" val="40772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2. JPA </a:t>
            </a:r>
            <a:r>
              <a:rPr lang="en-US" sz="1625" dirty="0" err="1">
                <a:solidFill>
                  <a:schemeClr val="tx1"/>
                </a:solidFill>
                <a:latin typeface="Arial" panose="020B0604020202020204" pitchFamily="34" charset="0"/>
                <a:cs typeface="Arial" panose="020B0604020202020204" pitchFamily="34" charset="0"/>
              </a:rPr>
              <a:t>là</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gì</a:t>
            </a:r>
            <a:r>
              <a:rPr lang="en-US" sz="1625" dirty="0">
                <a:solidFill>
                  <a:schemeClr val="tx1"/>
                </a:solidFill>
                <a:latin typeface="Arial" panose="020B0604020202020204" pitchFamily="34" charset="0"/>
                <a:cs typeface="Arial" panose="020B0604020202020204" pitchFamily="34" charset="0"/>
              </a:rPr>
              <a:t>?</a:t>
            </a:r>
          </a:p>
        </p:txBody>
      </p:sp>
      <p:sp>
        <p:nvSpPr>
          <p:cNvPr id="3" name="正方形/長方形 2"/>
          <p:cNvSpPr/>
          <p:nvPr/>
        </p:nvSpPr>
        <p:spPr>
          <a:xfrm>
            <a:off x="789384" y="1130500"/>
            <a:ext cx="6895505" cy="692497"/>
          </a:xfrm>
          <a:prstGeom prst="rect">
            <a:avLst/>
          </a:prstGeom>
        </p:spPr>
        <p:txBody>
          <a:bodyPr wrap="square">
            <a:spAutoFit/>
          </a:bodyPr>
          <a:lstStyle/>
          <a:p>
            <a:pPr marL="232172" indent="-232172" algn="just">
              <a:spcAft>
                <a:spcPts val="1463"/>
              </a:spcAft>
              <a:buFont typeface="Wingdings" panose="05000000000000000000" pitchFamily="2" charset="2"/>
              <a:buChar char="Ø"/>
            </a:pPr>
            <a:r>
              <a:rPr lang="en-US" sz="1300" dirty="0">
                <a:latin typeface="Arial" panose="020B0604020202020204" pitchFamily="34" charset="0"/>
                <a:ea typeface="Times New Roman" panose="02020603050405020304" pitchFamily="18" charset="0"/>
              </a:rPr>
              <a:t>JPA (Java Persistence API) </a:t>
            </a:r>
            <a:r>
              <a:rPr lang="en-US" sz="1300" dirty="0" err="1">
                <a:latin typeface="Arial" panose="020B0604020202020204" pitchFamily="34" charset="0"/>
                <a:ea typeface="Times New Roman" panose="02020603050405020304" pitchFamily="18" charset="0"/>
              </a:rPr>
              <a:t>là</a:t>
            </a:r>
            <a:r>
              <a:rPr lang="en-US" sz="1300" dirty="0">
                <a:latin typeface="Arial" panose="020B0604020202020204" pitchFamily="34" charset="0"/>
                <a:ea typeface="Times New Roman" panose="02020603050405020304" pitchFamily="18" charset="0"/>
              </a:rPr>
              <a:t> 1 </a:t>
            </a:r>
            <a:r>
              <a:rPr lang="en-US" sz="1300" dirty="0" err="1">
                <a:latin typeface="Arial" panose="020B0604020202020204" pitchFamily="34" charset="0"/>
                <a:ea typeface="Times New Roman" panose="02020603050405020304" pitchFamily="18" charset="0"/>
              </a:rPr>
              <a:t>giao</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diện</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lập</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trình</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ứng</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dụng</a:t>
            </a:r>
            <a:r>
              <a:rPr lang="en-US" sz="1300" dirty="0">
                <a:latin typeface="Arial" panose="020B0604020202020204" pitchFamily="34" charset="0"/>
                <a:ea typeface="Times New Roman" panose="02020603050405020304" pitchFamily="18" charset="0"/>
              </a:rPr>
              <a:t> Java, </a:t>
            </a:r>
            <a:r>
              <a:rPr lang="en-US" sz="1300" dirty="0" err="1">
                <a:latin typeface="Arial" panose="020B0604020202020204" pitchFamily="34" charset="0"/>
                <a:ea typeface="Times New Roman" panose="02020603050405020304" pitchFamily="18" charset="0"/>
              </a:rPr>
              <a:t>mô</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tả</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cho</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việc</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ánh</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xạ</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giữa</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các</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đối</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tượng</a:t>
            </a:r>
            <a:r>
              <a:rPr lang="en-US" sz="1300" dirty="0">
                <a:latin typeface="Arial" panose="020B0604020202020204" pitchFamily="34" charset="0"/>
                <a:ea typeface="Times New Roman" panose="02020603050405020304" pitchFamily="18" charset="0"/>
              </a:rPr>
              <a:t> Java </a:t>
            </a:r>
            <a:r>
              <a:rPr lang="en-US" sz="1300" dirty="0" err="1">
                <a:latin typeface="Arial" panose="020B0604020202020204" pitchFamily="34" charset="0"/>
                <a:ea typeface="Times New Roman" panose="02020603050405020304" pitchFamily="18" charset="0"/>
              </a:rPr>
              <a:t>với</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cơ</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sở</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dữ</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liệu</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quan</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hệ</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sử</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dụng</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công</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nghệ</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phổ</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biến</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là</a:t>
            </a:r>
            <a:r>
              <a:rPr lang="en-US" sz="1300" dirty="0">
                <a:latin typeface="Arial" panose="020B0604020202020204" pitchFamily="34" charset="0"/>
                <a:ea typeface="Times New Roman" panose="02020603050405020304" pitchFamily="18" charset="0"/>
              </a:rPr>
              <a:t> ORM (Object Relational Mapping).</a:t>
            </a:r>
            <a:endParaRPr lang="en-US" sz="1300" dirty="0">
              <a:latin typeface="Times New Roman" panose="02020603050405020304" pitchFamily="18" charset="0"/>
              <a:ea typeface="Times New Roman" panose="02020603050405020304" pitchFamily="18" charset="0"/>
            </a:endParaRPr>
          </a:p>
        </p:txBody>
      </p:sp>
      <p:sp>
        <p:nvSpPr>
          <p:cNvPr id="4" name="正方形/長方形 3"/>
          <p:cNvSpPr/>
          <p:nvPr/>
        </p:nvSpPr>
        <p:spPr>
          <a:xfrm>
            <a:off x="789383" y="2005014"/>
            <a:ext cx="6895505" cy="692497"/>
          </a:xfrm>
          <a:prstGeom prst="rect">
            <a:avLst/>
          </a:prstGeom>
        </p:spPr>
        <p:txBody>
          <a:bodyPr wrap="square">
            <a:spAutoFit/>
          </a:bodyPr>
          <a:lstStyle/>
          <a:p>
            <a:pPr marL="232172" indent="-232172" algn="just">
              <a:spcAft>
                <a:spcPts val="1463"/>
              </a:spcAft>
              <a:buFont typeface="Wingdings" panose="05000000000000000000" pitchFamily="2" charset="2"/>
              <a:buChar char="Ø"/>
            </a:pPr>
            <a:r>
              <a:rPr lang="en-US" sz="1300" dirty="0">
                <a:latin typeface="Arial" panose="020B0604020202020204" pitchFamily="34" charset="0"/>
                <a:ea typeface="Times New Roman" panose="02020603050405020304" pitchFamily="18" charset="0"/>
              </a:rPr>
              <a:t>JPA </a:t>
            </a:r>
            <a:r>
              <a:rPr lang="en-US" sz="1300" dirty="0" err="1">
                <a:latin typeface="Arial" panose="020B0604020202020204" pitchFamily="34" charset="0"/>
                <a:ea typeface="Times New Roman" panose="02020603050405020304" pitchFamily="18" charset="0"/>
              </a:rPr>
              <a:t>cung</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cấp</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một</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mô</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hình</a:t>
            </a:r>
            <a:r>
              <a:rPr lang="en-US" sz="1300" dirty="0">
                <a:latin typeface="Arial" panose="020B0604020202020204" pitchFamily="34" charset="0"/>
                <a:ea typeface="Times New Roman" panose="02020603050405020304" pitchFamily="18" charset="0"/>
              </a:rPr>
              <a:t> POJO (Plain Old Java Object) persistence </a:t>
            </a:r>
            <a:r>
              <a:rPr lang="en-US" sz="1300" dirty="0" err="1">
                <a:latin typeface="Arial" panose="020B0604020202020204" pitchFamily="34" charset="0"/>
                <a:ea typeface="Times New Roman" panose="02020603050405020304" pitchFamily="18" charset="0"/>
              </a:rPr>
              <a:t>cho</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phép</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ánh</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xạ</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các</a:t>
            </a:r>
            <a:r>
              <a:rPr lang="en-US" sz="1300" dirty="0">
                <a:latin typeface="Arial" panose="020B0604020202020204" pitchFamily="34" charset="0"/>
                <a:ea typeface="Times New Roman" panose="02020603050405020304" pitchFamily="18" charset="0"/>
              </a:rPr>
              <a:t> table/</a:t>
            </a:r>
            <a:r>
              <a:rPr lang="en-US" sz="1300" dirty="0" err="1">
                <a:latin typeface="Arial" panose="020B0604020202020204" pitchFamily="34" charset="0"/>
                <a:ea typeface="Times New Roman" panose="02020603050405020304" pitchFamily="18" charset="0"/>
              </a:rPr>
              <a:t>các</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mối</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quan</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hệ</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giữa</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các</a:t>
            </a:r>
            <a:r>
              <a:rPr lang="en-US" sz="1300" dirty="0">
                <a:latin typeface="Arial" panose="020B0604020202020204" pitchFamily="34" charset="0"/>
                <a:ea typeface="Times New Roman" panose="02020603050405020304" pitchFamily="18" charset="0"/>
              </a:rPr>
              <a:t> table </a:t>
            </a:r>
            <a:r>
              <a:rPr lang="en-US" sz="1300" dirty="0" err="1">
                <a:latin typeface="Arial" panose="020B0604020202020204" pitchFamily="34" charset="0"/>
                <a:ea typeface="Times New Roman" panose="02020603050405020304" pitchFamily="18" charset="0"/>
              </a:rPr>
              <a:t>trong</a:t>
            </a:r>
            <a:r>
              <a:rPr lang="en-US" sz="1300" dirty="0">
                <a:latin typeface="Arial" panose="020B0604020202020204" pitchFamily="34" charset="0"/>
                <a:ea typeface="Times New Roman" panose="02020603050405020304" pitchFamily="18" charset="0"/>
              </a:rPr>
              <a:t> database sang </a:t>
            </a:r>
            <a:r>
              <a:rPr lang="en-US" sz="1300" dirty="0" err="1">
                <a:latin typeface="Arial" panose="020B0604020202020204" pitchFamily="34" charset="0"/>
                <a:ea typeface="Times New Roman" panose="02020603050405020304" pitchFamily="18" charset="0"/>
              </a:rPr>
              <a:t>các</a:t>
            </a:r>
            <a:r>
              <a:rPr lang="en-US" sz="1300" dirty="0">
                <a:latin typeface="Arial" panose="020B0604020202020204" pitchFamily="34" charset="0"/>
                <a:ea typeface="Times New Roman" panose="02020603050405020304" pitchFamily="18" charset="0"/>
              </a:rPr>
              <a:t> class/</a:t>
            </a:r>
            <a:r>
              <a:rPr lang="en-US" sz="1300" dirty="0" err="1">
                <a:latin typeface="Arial" panose="020B0604020202020204" pitchFamily="34" charset="0"/>
                <a:ea typeface="Times New Roman" panose="02020603050405020304" pitchFamily="18" charset="0"/>
              </a:rPr>
              <a:t>mối</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quan</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hệ</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giữa</a:t>
            </a:r>
            <a:r>
              <a:rPr lang="en-US" sz="1300" dirty="0">
                <a:latin typeface="Arial" panose="020B0604020202020204" pitchFamily="34" charset="0"/>
                <a:ea typeface="Times New Roman" panose="02020603050405020304" pitchFamily="18" charset="0"/>
              </a:rPr>
              <a:t> </a:t>
            </a:r>
            <a:r>
              <a:rPr lang="en-US" sz="1300" dirty="0" err="1">
                <a:latin typeface="Arial" panose="020B0604020202020204" pitchFamily="34" charset="0"/>
                <a:ea typeface="Times New Roman" panose="02020603050405020304" pitchFamily="18" charset="0"/>
              </a:rPr>
              <a:t>các</a:t>
            </a:r>
            <a:r>
              <a:rPr lang="en-US" sz="1300" dirty="0">
                <a:latin typeface="Arial" panose="020B0604020202020204" pitchFamily="34" charset="0"/>
                <a:ea typeface="Times New Roman" panose="02020603050405020304" pitchFamily="18" charset="0"/>
              </a:rPr>
              <a:t> object.</a:t>
            </a:r>
            <a:endParaRPr lang="en-US" sz="1300" dirty="0">
              <a:latin typeface="Times New Roman" panose="02020603050405020304" pitchFamily="18" charset="0"/>
              <a:ea typeface="Times New Roman" panose="02020603050405020304" pitchFamily="18" charset="0"/>
            </a:endParaRPr>
          </a:p>
        </p:txBody>
      </p:sp>
      <p:pic>
        <p:nvPicPr>
          <p:cNvPr id="6" name="Picture 2" descr="https://i.imgur.com/M5WVUa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6988" y="2879528"/>
            <a:ext cx="6160294" cy="2685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262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3. ORM </a:t>
            </a:r>
            <a:r>
              <a:rPr lang="en-US" sz="1625" dirty="0" err="1">
                <a:solidFill>
                  <a:schemeClr val="tx1"/>
                </a:solidFill>
                <a:latin typeface="Arial" panose="020B0604020202020204" pitchFamily="34" charset="0"/>
                <a:cs typeface="Arial" panose="020B0604020202020204" pitchFamily="34" charset="0"/>
              </a:rPr>
              <a:t>là</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gì</a:t>
            </a:r>
            <a:r>
              <a:rPr lang="en-US" sz="1625" dirty="0">
                <a:solidFill>
                  <a:schemeClr val="tx1"/>
                </a:solidFill>
                <a:latin typeface="Arial" panose="020B0604020202020204" pitchFamily="34" charset="0"/>
                <a:cs typeface="Arial" panose="020B0604020202020204" pitchFamily="34" charset="0"/>
              </a:rPr>
              <a:t>?</a:t>
            </a:r>
          </a:p>
        </p:txBody>
      </p:sp>
      <p:sp>
        <p:nvSpPr>
          <p:cNvPr id="6" name="正方形/長方形 5"/>
          <p:cNvSpPr/>
          <p:nvPr/>
        </p:nvSpPr>
        <p:spPr>
          <a:xfrm>
            <a:off x="789384" y="1130500"/>
            <a:ext cx="6895505" cy="692497"/>
          </a:xfrm>
          <a:prstGeom prst="rect">
            <a:avLst/>
          </a:prstGeom>
        </p:spPr>
        <p:txBody>
          <a:bodyPr wrap="square">
            <a:spAutoFit/>
          </a:bodyPr>
          <a:lstStyle/>
          <a:p>
            <a:pPr marL="232172" indent="-232172" algn="just">
              <a:spcAft>
                <a:spcPts val="1463"/>
              </a:spcAft>
              <a:buFont typeface="Wingdings" panose="05000000000000000000" pitchFamily="2" charset="2"/>
              <a:buChar char="Ø"/>
            </a:pPr>
            <a:r>
              <a:rPr lang="vi-VN" sz="1300" dirty="0">
                <a:ea typeface="Times New Roman" panose="02020603050405020304" pitchFamily="18" charset="0"/>
              </a:rPr>
              <a:t>ORM là viết tắt của Object Relational Mapping, là một công nghệ/ khái niệm/ quá trình chuyển đổi dữ liệu từ ngôn ngữ hướng đối tượng sang Database quan hệ và ngược lại</a:t>
            </a:r>
            <a:endParaRPr lang="en-US" sz="1300" dirty="0">
              <a:latin typeface="Times New Roman" panose="02020603050405020304" pitchFamily="18" charset="0"/>
              <a:ea typeface="Times New Roman" panose="02020603050405020304" pitchFamily="18" charset="0"/>
            </a:endParaRPr>
          </a:p>
        </p:txBody>
      </p:sp>
      <p:sp>
        <p:nvSpPr>
          <p:cNvPr id="7" name="正方形/長方形 6"/>
          <p:cNvSpPr/>
          <p:nvPr/>
        </p:nvSpPr>
        <p:spPr>
          <a:xfrm>
            <a:off x="789383" y="2020009"/>
            <a:ext cx="6895505" cy="692497"/>
          </a:xfrm>
          <a:prstGeom prst="rect">
            <a:avLst/>
          </a:prstGeom>
        </p:spPr>
        <p:txBody>
          <a:bodyPr wrap="square">
            <a:spAutoFit/>
          </a:bodyPr>
          <a:lstStyle/>
          <a:p>
            <a:pPr marL="232172" indent="-232172" algn="just">
              <a:spcAft>
                <a:spcPts val="1463"/>
              </a:spcAft>
              <a:buFont typeface="Wingdings" panose="05000000000000000000" pitchFamily="2" charset="2"/>
              <a:buChar char="Ø"/>
            </a:pPr>
            <a:r>
              <a:rPr lang="vi-VN" sz="1300" dirty="0">
                <a:ea typeface="Times New Roman" panose="02020603050405020304" pitchFamily="18" charset="0"/>
              </a:rPr>
              <a:t>ORM có khả năng xử lý các thao tác của nhiều loại cơ sở dữ liệu khác nhau một cách dễ dàng mà không quan tâm đến loại database sử dụng hay loại thao tác sử dụng</a:t>
            </a:r>
            <a:endParaRPr lang="en-US" sz="1300" dirty="0">
              <a:latin typeface="Times New Roman" panose="02020603050405020304" pitchFamily="18" charset="0"/>
              <a:ea typeface="Times New Roman" panose="02020603050405020304" pitchFamily="18" charset="0"/>
            </a:endParaRPr>
          </a:p>
        </p:txBody>
      </p:sp>
      <p:pic>
        <p:nvPicPr>
          <p:cNvPr id="8" name="図 7" descr="https://static.javatpoint.com/springboot/images/spring-boot-jpa3.png"/>
          <p:cNvPicPr/>
          <p:nvPr/>
        </p:nvPicPr>
        <p:blipFill>
          <a:blip r:embed="rId3">
            <a:extLst>
              <a:ext uri="{28A0092B-C50C-407E-A947-70E740481C1C}">
                <a14:useLocalDpi xmlns:a14="http://schemas.microsoft.com/office/drawing/2010/main" val="0"/>
              </a:ext>
            </a:extLst>
          </a:blip>
          <a:srcRect/>
          <a:stretch>
            <a:fillRect/>
          </a:stretch>
        </p:blipFill>
        <p:spPr bwMode="auto">
          <a:xfrm>
            <a:off x="2139851" y="3220045"/>
            <a:ext cx="4388048" cy="2925366"/>
          </a:xfrm>
          <a:prstGeom prst="rect">
            <a:avLst/>
          </a:prstGeom>
          <a:noFill/>
          <a:ln>
            <a:noFill/>
          </a:ln>
        </p:spPr>
      </p:pic>
    </p:spTree>
    <p:extLst>
      <p:ext uri="{BB962C8B-B14F-4D97-AF65-F5344CB8AC3E}">
        <p14:creationId xmlns:p14="http://schemas.microsoft.com/office/powerpoint/2010/main" val="276212788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4. </a:t>
            </a:r>
            <a:r>
              <a:rPr lang="en-US" sz="1625" dirty="0" err="1">
                <a:solidFill>
                  <a:schemeClr val="tx1"/>
                </a:solidFill>
                <a:latin typeface="Arial" panose="020B0604020202020204" pitchFamily="34" charset="0"/>
                <a:cs typeface="Arial" panose="020B0604020202020204" pitchFamily="34" charset="0"/>
              </a:rPr>
              <a:t>Triển</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khai</a:t>
            </a:r>
            <a:r>
              <a:rPr lang="en-US" sz="1625" dirty="0">
                <a:solidFill>
                  <a:schemeClr val="tx1"/>
                </a:solidFill>
                <a:latin typeface="Arial" panose="020B0604020202020204" pitchFamily="34" charset="0"/>
                <a:cs typeface="Arial" panose="020B0604020202020204" pitchFamily="34" charset="0"/>
              </a:rPr>
              <a:t> Spring Data JPA</a:t>
            </a:r>
          </a:p>
        </p:txBody>
      </p:sp>
      <p:sp>
        <p:nvSpPr>
          <p:cNvPr id="3" name="正方形/長方形 2"/>
          <p:cNvSpPr/>
          <p:nvPr/>
        </p:nvSpPr>
        <p:spPr>
          <a:xfrm>
            <a:off x="872611" y="1130499"/>
            <a:ext cx="1800493" cy="292388"/>
          </a:xfrm>
          <a:prstGeom prst="rect">
            <a:avLst/>
          </a:prstGeom>
        </p:spPr>
        <p:txBody>
          <a:bodyPr wrap="none">
            <a:spAutoFit/>
          </a:bodyPr>
          <a:lstStyle/>
          <a:p>
            <a:r>
              <a:rPr lang="en-US" sz="1300" dirty="0">
                <a:latin typeface="Arial" panose="020B0604020202020204" pitchFamily="34" charset="0"/>
                <a:ea typeface="ＭＳ 明朝" panose="02020609040205080304" pitchFamily="17" charset="-128"/>
              </a:rPr>
              <a:t>4.1 Generate Project</a:t>
            </a:r>
            <a:endParaRPr lang="en-US" sz="1300" dirty="0"/>
          </a:p>
        </p:txBody>
      </p:sp>
      <p:pic>
        <p:nvPicPr>
          <p:cNvPr id="6" name="図 5"/>
          <p:cNvPicPr>
            <a:picLocks noChangeAspect="1"/>
          </p:cNvPicPr>
          <p:nvPr/>
        </p:nvPicPr>
        <p:blipFill>
          <a:blip r:embed="rId3"/>
          <a:stretch>
            <a:fillRect/>
          </a:stretch>
        </p:blipFill>
        <p:spPr>
          <a:xfrm>
            <a:off x="690496" y="1618382"/>
            <a:ext cx="6895505" cy="3735065"/>
          </a:xfrm>
          <a:prstGeom prst="rect">
            <a:avLst/>
          </a:prstGeom>
        </p:spPr>
      </p:pic>
    </p:spTree>
    <p:extLst>
      <p:ext uri="{BB962C8B-B14F-4D97-AF65-F5344CB8AC3E}">
        <p14:creationId xmlns:p14="http://schemas.microsoft.com/office/powerpoint/2010/main" val="2936571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748786" y="720329"/>
            <a:ext cx="1595309" cy="292388"/>
          </a:xfrm>
          <a:prstGeom prst="rect">
            <a:avLst/>
          </a:prstGeom>
        </p:spPr>
        <p:txBody>
          <a:bodyPr wrap="none">
            <a:spAutoFit/>
          </a:bodyPr>
          <a:lstStyle/>
          <a:p>
            <a:r>
              <a:rPr lang="en-US" sz="1300" dirty="0">
                <a:latin typeface="Arial" panose="020B0604020202020204" pitchFamily="34" charset="0"/>
                <a:ea typeface="ＭＳ 明朝" panose="02020609040205080304" pitchFamily="17" charset="-128"/>
              </a:rPr>
              <a:t>4.2 Import Project</a:t>
            </a:r>
            <a:endParaRPr lang="en-US" sz="1300" dirty="0"/>
          </a:p>
        </p:txBody>
      </p:sp>
      <p:sp>
        <p:nvSpPr>
          <p:cNvPr id="4" name="テキスト ボックス 3"/>
          <p:cNvSpPr txBox="1"/>
          <p:nvPr/>
        </p:nvSpPr>
        <p:spPr>
          <a:xfrm>
            <a:off x="920949" y="1215629"/>
            <a:ext cx="6013252" cy="492443"/>
          </a:xfrm>
          <a:prstGeom prst="rect">
            <a:avLst/>
          </a:prstGeom>
          <a:noFill/>
        </p:spPr>
        <p:txBody>
          <a:bodyPr wrap="square" rtlCol="0">
            <a:spAutoFit/>
          </a:bodyPr>
          <a:lstStyle/>
          <a:p>
            <a:pPr marL="232172" indent="-232172">
              <a:buFont typeface="Arial" panose="020B0604020202020204" pitchFamily="34" charset="0"/>
              <a:buChar char="•"/>
            </a:pPr>
            <a:r>
              <a:rPr lang="en-US" sz="1300" dirty="0"/>
              <a:t>Import </a:t>
            </a:r>
            <a:r>
              <a:rPr lang="en-US" sz="1300" dirty="0" err="1"/>
              <a:t>trên</a:t>
            </a:r>
            <a:r>
              <a:rPr lang="en-US" sz="1300" dirty="0"/>
              <a:t> eclipse: File -&gt; Import -&gt; Existing </a:t>
            </a:r>
            <a:r>
              <a:rPr lang="en-US" sz="1300" dirty="0" err="1"/>
              <a:t>Gradle</a:t>
            </a:r>
            <a:r>
              <a:rPr lang="en-US" sz="1300" dirty="0"/>
              <a:t> Projects -&gt; Browse -&gt; </a:t>
            </a:r>
            <a:r>
              <a:rPr lang="en-US" sz="1300" dirty="0" err="1"/>
              <a:t>Chọn</a:t>
            </a:r>
            <a:r>
              <a:rPr lang="en-US" sz="1300" dirty="0"/>
              <a:t> </a:t>
            </a:r>
            <a:r>
              <a:rPr lang="en-US" sz="1300" dirty="0" err="1"/>
              <a:t>tên</a:t>
            </a:r>
            <a:r>
              <a:rPr lang="en-US" sz="1300" dirty="0"/>
              <a:t> </a:t>
            </a:r>
            <a:r>
              <a:rPr lang="en-US" sz="1300" dirty="0" err="1"/>
              <a:t>thư</a:t>
            </a:r>
            <a:r>
              <a:rPr lang="en-US" sz="1300" dirty="0"/>
              <a:t> </a:t>
            </a:r>
            <a:r>
              <a:rPr lang="en-US" sz="1300" dirty="0" err="1"/>
              <a:t>mục</a:t>
            </a:r>
            <a:r>
              <a:rPr lang="en-US" sz="1300" dirty="0"/>
              <a:t> </a:t>
            </a:r>
            <a:r>
              <a:rPr lang="en-US" sz="1300" dirty="0" err="1"/>
              <a:t>chứa</a:t>
            </a:r>
            <a:r>
              <a:rPr lang="en-US" sz="1300" dirty="0"/>
              <a:t> project -&gt; Finish</a:t>
            </a:r>
          </a:p>
        </p:txBody>
      </p:sp>
      <p:pic>
        <p:nvPicPr>
          <p:cNvPr id="6" name="図 5"/>
          <p:cNvPicPr>
            <a:picLocks noChangeAspect="1"/>
          </p:cNvPicPr>
          <p:nvPr/>
        </p:nvPicPr>
        <p:blipFill>
          <a:blip r:embed="rId3"/>
          <a:stretch>
            <a:fillRect/>
          </a:stretch>
        </p:blipFill>
        <p:spPr>
          <a:xfrm>
            <a:off x="1071696" y="1811341"/>
            <a:ext cx="3478872" cy="4156276"/>
          </a:xfrm>
          <a:prstGeom prst="rect">
            <a:avLst/>
          </a:prstGeom>
        </p:spPr>
      </p:pic>
    </p:spTree>
    <p:extLst>
      <p:ext uri="{BB962C8B-B14F-4D97-AF65-F5344CB8AC3E}">
        <p14:creationId xmlns:p14="http://schemas.microsoft.com/office/powerpoint/2010/main" val="3355607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4.3 File </a:t>
            </a:r>
            <a:r>
              <a:rPr lang="en-US" sz="1625" dirty="0" err="1">
                <a:solidFill>
                  <a:schemeClr val="tx1"/>
                </a:solidFill>
                <a:latin typeface="Arial" panose="020B0604020202020204" pitchFamily="34" charset="0"/>
                <a:cs typeface="Arial" panose="020B0604020202020204" pitchFamily="34" charset="0"/>
              </a:rPr>
              <a:t>build.gradle.kts</a:t>
            </a:r>
            <a:endParaRPr lang="en-US" sz="1625" dirty="0">
              <a:solidFill>
                <a:schemeClr val="tx1"/>
              </a:solidFill>
              <a:latin typeface="Arial" panose="020B0604020202020204" pitchFamily="34" charset="0"/>
              <a:cs typeface="Arial" panose="020B0604020202020204" pitchFamily="34" charset="0"/>
            </a:endParaRPr>
          </a:p>
        </p:txBody>
      </p:sp>
      <p:pic>
        <p:nvPicPr>
          <p:cNvPr id="5" name="図 4"/>
          <p:cNvPicPr>
            <a:picLocks noChangeAspect="1"/>
          </p:cNvPicPr>
          <p:nvPr/>
        </p:nvPicPr>
        <p:blipFill>
          <a:blip r:embed="rId3"/>
          <a:stretch>
            <a:fillRect/>
          </a:stretch>
        </p:blipFill>
        <p:spPr>
          <a:xfrm>
            <a:off x="1184034" y="1249692"/>
            <a:ext cx="4511916" cy="4524414"/>
          </a:xfrm>
          <a:prstGeom prst="rect">
            <a:avLst/>
          </a:prstGeom>
        </p:spPr>
      </p:pic>
    </p:spTree>
    <p:extLst>
      <p:ext uri="{BB962C8B-B14F-4D97-AF65-F5344CB8AC3E}">
        <p14:creationId xmlns:p14="http://schemas.microsoft.com/office/powerpoint/2010/main" val="3240016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4.4 </a:t>
            </a:r>
            <a:r>
              <a:rPr lang="en-US" sz="1625" dirty="0" err="1">
                <a:solidFill>
                  <a:schemeClr val="tx1"/>
                </a:solidFill>
                <a:latin typeface="Arial" panose="020B0604020202020204" pitchFamily="34" charset="0"/>
                <a:cs typeface="Arial" panose="020B0604020202020204" pitchFamily="34" charset="0"/>
              </a:rPr>
              <a:t>Thực</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hiện</a:t>
            </a:r>
            <a:r>
              <a:rPr lang="en-US" sz="1625" dirty="0">
                <a:solidFill>
                  <a:schemeClr val="tx1"/>
                </a:solidFill>
                <a:latin typeface="Arial" panose="020B0604020202020204" pitchFamily="34" charset="0"/>
                <a:cs typeface="Arial" panose="020B0604020202020204" pitchFamily="34" charset="0"/>
              </a:rPr>
              <a:t> code </a:t>
            </a:r>
          </a:p>
        </p:txBody>
      </p:sp>
      <p:sp>
        <p:nvSpPr>
          <p:cNvPr id="3" name="正方形/長方形 2"/>
          <p:cNvSpPr/>
          <p:nvPr/>
        </p:nvSpPr>
        <p:spPr>
          <a:xfrm>
            <a:off x="464343" y="1207521"/>
            <a:ext cx="6647855" cy="270267"/>
          </a:xfrm>
          <a:prstGeom prst="rect">
            <a:avLst/>
          </a:prstGeom>
        </p:spPr>
        <p:txBody>
          <a:bodyPr wrap="square">
            <a:spAutoFit/>
          </a:bodyPr>
          <a:lstStyle/>
          <a:p>
            <a:pPr lvl="1">
              <a:lnSpc>
                <a:spcPct val="107000"/>
              </a:lnSpc>
              <a:spcAft>
                <a:spcPts val="650"/>
              </a:spcAft>
            </a:pPr>
            <a:r>
              <a:rPr lang="en-US" sz="1138" dirty="0">
                <a:latin typeface="Arial" panose="020B0604020202020204" pitchFamily="34" charset="0"/>
                <a:ea typeface="ＭＳ 明朝" panose="02020609040205080304" pitchFamily="17" charset="-128"/>
                <a:cs typeface="Times New Roman" panose="02020603050405020304" pitchFamily="18" charset="0"/>
              </a:rPr>
              <a:t>a. </a:t>
            </a:r>
            <a:r>
              <a:rPr lang="en-US" sz="1138" dirty="0" err="1">
                <a:latin typeface="Arial" panose="020B0604020202020204" pitchFamily="34" charset="0"/>
                <a:ea typeface="ＭＳ 明朝" panose="02020609040205080304" pitchFamily="17" charset="-128"/>
                <a:cs typeface="Times New Roman" panose="02020603050405020304" pitchFamily="18" charset="0"/>
              </a:rPr>
              <a:t>Cấu</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trúc</a:t>
            </a:r>
            <a:r>
              <a:rPr lang="en-US" sz="1138" dirty="0">
                <a:latin typeface="Arial" panose="020B0604020202020204" pitchFamily="34" charset="0"/>
                <a:ea typeface="ＭＳ 明朝" panose="02020609040205080304" pitchFamily="17" charset="-128"/>
                <a:cs typeface="Times New Roman" panose="02020603050405020304" pitchFamily="18" charset="0"/>
              </a:rPr>
              <a:t> folder </a:t>
            </a:r>
            <a:r>
              <a:rPr lang="en-US" sz="1138" dirty="0" err="1">
                <a:latin typeface="Arial" panose="020B0604020202020204" pitchFamily="34" charset="0"/>
                <a:ea typeface="ＭＳ 明朝" panose="02020609040205080304" pitchFamily="17" charset="-128"/>
                <a:cs typeface="Times New Roman" panose="02020603050405020304" pitchFamily="18" charset="0"/>
              </a:rPr>
              <a:t>của</a:t>
            </a:r>
            <a:r>
              <a:rPr lang="en-US" sz="1138" dirty="0">
                <a:latin typeface="Arial" panose="020B0604020202020204" pitchFamily="34" charset="0"/>
                <a:ea typeface="ＭＳ 明朝" panose="02020609040205080304" pitchFamily="17" charset="-128"/>
                <a:cs typeface="Times New Roman" panose="02020603050405020304" pitchFamily="18" charset="0"/>
              </a:rPr>
              <a:t> project</a:t>
            </a:r>
            <a:endParaRPr lang="en-US" sz="894"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4" name="図 3"/>
          <p:cNvPicPr>
            <a:picLocks noChangeAspect="1"/>
          </p:cNvPicPr>
          <p:nvPr/>
        </p:nvPicPr>
        <p:blipFill>
          <a:blip r:embed="rId3"/>
          <a:stretch>
            <a:fillRect/>
          </a:stretch>
        </p:blipFill>
        <p:spPr>
          <a:xfrm>
            <a:off x="971252" y="1546855"/>
            <a:ext cx="2205633" cy="4186833"/>
          </a:xfrm>
          <a:prstGeom prst="rect">
            <a:avLst/>
          </a:prstGeom>
        </p:spPr>
      </p:pic>
      <p:sp>
        <p:nvSpPr>
          <p:cNvPr id="5" name="テキスト ボックス 4"/>
          <p:cNvSpPr txBox="1"/>
          <p:nvPr/>
        </p:nvSpPr>
        <p:spPr>
          <a:xfrm>
            <a:off x="3281362" y="1546854"/>
            <a:ext cx="4821437" cy="2018566"/>
          </a:xfrm>
          <a:prstGeom prst="rect">
            <a:avLst/>
          </a:prstGeom>
          <a:noFill/>
        </p:spPr>
        <p:txBody>
          <a:bodyPr wrap="square" rtlCol="0">
            <a:spAutoFit/>
          </a:bodyPr>
          <a:lstStyle/>
          <a:p>
            <a:pPr marL="278606" indent="-278606">
              <a:buAutoNum type="arabicPeriod"/>
            </a:pPr>
            <a:r>
              <a:rPr lang="en-US" sz="1138" dirty="0">
                <a:latin typeface="Arial" panose="020B0604020202020204" pitchFamily="34" charset="0"/>
                <a:cs typeface="Arial" panose="020B0604020202020204" pitchFamily="34" charset="0"/>
              </a:rPr>
              <a:t>Entity </a:t>
            </a:r>
            <a:r>
              <a:rPr lang="en-US" sz="1138" dirty="0" err="1">
                <a:latin typeface="Arial" panose="020B0604020202020204" pitchFamily="34" charset="0"/>
                <a:cs typeface="Arial" panose="020B0604020202020204" pitchFamily="34" charset="0"/>
              </a:rPr>
              <a:t>Customer.kt</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Khai</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báo</a:t>
            </a:r>
            <a:r>
              <a:rPr lang="en-US" sz="1138" dirty="0">
                <a:latin typeface="Arial" panose="020B0604020202020204" pitchFamily="34" charset="0"/>
                <a:cs typeface="Arial" panose="020B0604020202020204" pitchFamily="34" charset="0"/>
              </a:rPr>
              <a:t> class entity </a:t>
            </a:r>
            <a:r>
              <a:rPr lang="en-US" sz="1138" dirty="0" err="1">
                <a:latin typeface="Arial" panose="020B0604020202020204" pitchFamily="34" charset="0"/>
                <a:cs typeface="Arial" panose="020B0604020202020204" pitchFamily="34" charset="0"/>
              </a:rPr>
              <a:t>tương</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ứng</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với</a:t>
            </a:r>
            <a:r>
              <a:rPr lang="en-US" sz="1138" dirty="0">
                <a:latin typeface="Arial" panose="020B0604020202020204" pitchFamily="34" charset="0"/>
                <a:cs typeface="Arial" panose="020B0604020202020204" pitchFamily="34" charset="0"/>
              </a:rPr>
              <a:t> table </a:t>
            </a:r>
            <a:r>
              <a:rPr lang="en-US" sz="1138" dirty="0" err="1">
                <a:latin typeface="Arial" panose="020B0604020202020204" pitchFamily="34" charset="0"/>
                <a:cs typeface="Arial" panose="020B0604020202020204" pitchFamily="34" charset="0"/>
              </a:rPr>
              <a:t>trong</a:t>
            </a:r>
            <a:r>
              <a:rPr lang="en-US" sz="1138" dirty="0">
                <a:latin typeface="Arial" panose="020B0604020202020204" pitchFamily="34" charset="0"/>
                <a:cs typeface="Arial" panose="020B0604020202020204" pitchFamily="34" charset="0"/>
              </a:rPr>
              <a:t> database.</a:t>
            </a:r>
          </a:p>
          <a:p>
            <a:pPr marL="278606" indent="-278606">
              <a:buAutoNum type="arabicPeriod"/>
            </a:pPr>
            <a:r>
              <a:rPr lang="en-US" sz="1138" dirty="0">
                <a:latin typeface="Arial" panose="020B0604020202020204" pitchFamily="34" charset="0"/>
                <a:cs typeface="Arial" panose="020B0604020202020204" pitchFamily="34" charset="0"/>
              </a:rPr>
              <a:t>Repository </a:t>
            </a:r>
            <a:r>
              <a:rPr lang="en-US" sz="1138" dirty="0" err="1">
                <a:latin typeface="Arial" panose="020B0604020202020204" pitchFamily="34" charset="0"/>
                <a:cs typeface="Arial" panose="020B0604020202020204" pitchFamily="34" charset="0"/>
              </a:rPr>
              <a:t>CustomerRepository.kt</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Kế</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thừa</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CrudRepository</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thực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hiện</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truy</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vấn</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thao</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tác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với</a:t>
            </a:r>
            <a:r>
              <a:rPr lang="en-US" sz="1138" dirty="0">
                <a:latin typeface="Arial" panose="020B0604020202020204" pitchFamily="34" charset="0"/>
                <a:cs typeface="Arial" panose="020B0604020202020204" pitchFamily="34" charset="0"/>
              </a:rPr>
              <a:t> entity(</a:t>
            </a:r>
            <a:r>
              <a:rPr lang="en-US" sz="1138" dirty="0" err="1">
                <a:latin typeface="Arial" panose="020B0604020202020204" pitchFamily="34" charset="0"/>
                <a:cs typeface="Arial" panose="020B0604020202020204" pitchFamily="34" charset="0"/>
              </a:rPr>
              <a:t>tương</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ứng</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với</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thao</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tác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với</a:t>
            </a:r>
            <a:r>
              <a:rPr lang="en-US" sz="1138" dirty="0">
                <a:latin typeface="Arial" panose="020B0604020202020204" pitchFamily="34" charset="0"/>
                <a:cs typeface="Arial" panose="020B0604020202020204" pitchFamily="34" charset="0"/>
              </a:rPr>
              <a:t> DB)</a:t>
            </a:r>
          </a:p>
          <a:p>
            <a:pPr marL="278606" indent="-278606">
              <a:buAutoNum type="arabicPeriod"/>
            </a:pPr>
            <a:r>
              <a:rPr lang="en-US" sz="1138" dirty="0">
                <a:latin typeface="Arial" panose="020B0604020202020204" pitchFamily="34" charset="0"/>
                <a:cs typeface="Arial" panose="020B0604020202020204" pitchFamily="34" charset="0"/>
              </a:rPr>
              <a:t>Configuration </a:t>
            </a:r>
            <a:r>
              <a:rPr lang="en-US" sz="1138" dirty="0" err="1">
                <a:latin typeface="Arial" panose="020B0604020202020204" pitchFamily="34" charset="0"/>
                <a:cs typeface="Arial" panose="020B0604020202020204" pitchFamily="34" charset="0"/>
              </a:rPr>
              <a:t>CustomerConfiguration.kt</a:t>
            </a:r>
            <a:r>
              <a:rPr lang="en-US" sz="1138" dirty="0">
                <a:latin typeface="Arial" panose="020B0604020202020204" pitchFamily="34" charset="0"/>
                <a:cs typeface="Arial" panose="020B0604020202020204" pitchFamily="34" charset="0"/>
              </a:rPr>
              <a:t>: Class </a:t>
            </a:r>
            <a:r>
              <a:rPr lang="en-US" sz="1138" dirty="0" err="1">
                <a:latin typeface="Arial" panose="020B0604020202020204" pitchFamily="34" charset="0"/>
                <a:cs typeface="Arial" panose="020B0604020202020204" pitchFamily="34" charset="0"/>
              </a:rPr>
              <a:t>này</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thực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hiện</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config</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các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điều</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kiện</a:t>
            </a:r>
            <a:r>
              <a:rPr lang="en-US" sz="1138" dirty="0">
                <a:latin typeface="Arial" panose="020B0604020202020204" pitchFamily="34" charset="0"/>
                <a:cs typeface="Arial" panose="020B0604020202020204" pitchFamily="34" charset="0"/>
              </a:rPr>
              <a:t> hay insert data dummy </a:t>
            </a:r>
            <a:r>
              <a:rPr lang="en-US" sz="1138" dirty="0" err="1">
                <a:latin typeface="Arial" panose="020B0604020202020204" pitchFamily="34" charset="0"/>
                <a:cs typeface="Arial" panose="020B0604020202020204" pitchFamily="34" charset="0"/>
              </a:rPr>
              <a:t>khi</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chạy</a:t>
            </a:r>
            <a:r>
              <a:rPr lang="en-US" sz="1138" dirty="0">
                <a:latin typeface="Arial" panose="020B0604020202020204" pitchFamily="34" charset="0"/>
                <a:cs typeface="Arial" panose="020B0604020202020204" pitchFamily="34" charset="0"/>
              </a:rPr>
              <a:t> application</a:t>
            </a:r>
          </a:p>
          <a:p>
            <a:pPr marL="278606" indent="-278606">
              <a:buAutoNum type="arabicPeriod"/>
            </a:pPr>
            <a:r>
              <a:rPr lang="en-US" sz="1138" dirty="0">
                <a:latin typeface="Arial" panose="020B0604020202020204" pitchFamily="34" charset="0"/>
                <a:cs typeface="Arial" panose="020B0604020202020204" pitchFamily="34" charset="0"/>
              </a:rPr>
              <a:t>Controller </a:t>
            </a:r>
            <a:r>
              <a:rPr lang="en-US" sz="1138" dirty="0" err="1">
                <a:latin typeface="Arial" panose="020B0604020202020204" pitchFamily="34" charset="0"/>
                <a:cs typeface="Arial" panose="020B0604020202020204" pitchFamily="34" charset="0"/>
              </a:rPr>
              <a:t>CustomerController.kt</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Khai</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báo</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các</a:t>
            </a:r>
            <a:r>
              <a:rPr lang="en-US" sz="1138" dirty="0">
                <a:latin typeface="Arial" panose="020B0604020202020204" pitchFamily="34" charset="0"/>
                <a:cs typeface="Arial" panose="020B0604020202020204" pitchFamily="34" charset="0"/>
              </a:rPr>
              <a:t> request mapping </a:t>
            </a:r>
            <a:r>
              <a:rPr lang="en-US" sz="1138" dirty="0" err="1">
                <a:latin typeface="Arial" panose="020B0604020202020204" pitchFamily="34" charset="0"/>
                <a:cs typeface="Arial" panose="020B0604020202020204" pitchFamily="34" charset="0"/>
              </a:rPr>
              <a:t>thực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hiện</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các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tác</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vụ</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riêng</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biệt</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như</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Hiển</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thị</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danh</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sách</a:t>
            </a:r>
            <a:r>
              <a:rPr lang="en-US" sz="1138" dirty="0">
                <a:latin typeface="Arial" panose="020B0604020202020204" pitchFamily="34" charset="0"/>
                <a:cs typeface="Arial" panose="020B0604020202020204" pitchFamily="34" charset="0"/>
              </a:rPr>
              <a:t>, </a:t>
            </a:r>
            <a:r>
              <a:rPr lang="en-US" sz="1138" dirty="0" err="1">
                <a:latin typeface="Arial" panose="020B0604020202020204" pitchFamily="34" charset="0"/>
                <a:cs typeface="Arial" panose="020B0604020202020204" pitchFamily="34" charset="0"/>
              </a:rPr>
              <a:t>thêm</a:t>
            </a:r>
            <a:r>
              <a:rPr lang="en-US" sz="1138" dirty="0">
                <a:latin typeface="Arial" panose="020B0604020202020204" pitchFamily="34" charset="0"/>
                <a:cs typeface="Arial" panose="020B0604020202020204" pitchFamily="34" charset="0"/>
              </a:rPr>
              <a:t> customer…</a:t>
            </a:r>
          </a:p>
        </p:txBody>
      </p:sp>
      <p:sp>
        <p:nvSpPr>
          <p:cNvPr id="6" name="テキスト ボックス 5"/>
          <p:cNvSpPr txBox="1"/>
          <p:nvPr/>
        </p:nvSpPr>
        <p:spPr>
          <a:xfrm>
            <a:off x="2252068" y="2709267"/>
            <a:ext cx="294084" cy="292388"/>
          </a:xfrm>
          <a:prstGeom prst="rect">
            <a:avLst/>
          </a:prstGeom>
          <a:noFill/>
        </p:spPr>
        <p:txBody>
          <a:bodyPr wrap="square" rtlCol="0">
            <a:spAutoFit/>
          </a:bodyPr>
          <a:lstStyle/>
          <a:p>
            <a:r>
              <a:rPr lang="en-US" sz="1300" dirty="0">
                <a:solidFill>
                  <a:srgbClr val="FF0000"/>
                </a:solidFill>
                <a:latin typeface="Arial" panose="020B0604020202020204" pitchFamily="34" charset="0"/>
                <a:cs typeface="Arial" panose="020B0604020202020204" pitchFamily="34" charset="0"/>
              </a:rPr>
              <a:t>1</a:t>
            </a:r>
          </a:p>
        </p:txBody>
      </p:sp>
      <p:sp>
        <p:nvSpPr>
          <p:cNvPr id="8" name="テキスト ボックス 7"/>
          <p:cNvSpPr txBox="1"/>
          <p:nvPr/>
        </p:nvSpPr>
        <p:spPr>
          <a:xfrm>
            <a:off x="2787997" y="3096220"/>
            <a:ext cx="294084" cy="292388"/>
          </a:xfrm>
          <a:prstGeom prst="rect">
            <a:avLst/>
          </a:prstGeom>
          <a:noFill/>
        </p:spPr>
        <p:txBody>
          <a:bodyPr wrap="square" rtlCol="0">
            <a:spAutoFit/>
          </a:bodyPr>
          <a:lstStyle/>
          <a:p>
            <a:r>
              <a:rPr lang="en-US" sz="1300" dirty="0">
                <a:solidFill>
                  <a:srgbClr val="FF0000"/>
                </a:solidFill>
                <a:latin typeface="Arial" panose="020B0604020202020204" pitchFamily="34" charset="0"/>
                <a:cs typeface="Arial" panose="020B0604020202020204" pitchFamily="34" charset="0"/>
              </a:rPr>
              <a:t>2</a:t>
            </a:r>
          </a:p>
        </p:txBody>
      </p:sp>
      <p:sp>
        <p:nvSpPr>
          <p:cNvPr id="9" name="テキスト ボックス 8"/>
          <p:cNvSpPr txBox="1"/>
          <p:nvPr/>
        </p:nvSpPr>
        <p:spPr>
          <a:xfrm>
            <a:off x="2192089" y="1912144"/>
            <a:ext cx="294084" cy="292388"/>
          </a:xfrm>
          <a:prstGeom prst="rect">
            <a:avLst/>
          </a:prstGeom>
          <a:noFill/>
        </p:spPr>
        <p:txBody>
          <a:bodyPr wrap="square" rtlCol="0">
            <a:spAutoFit/>
          </a:bodyPr>
          <a:lstStyle/>
          <a:p>
            <a:r>
              <a:rPr lang="en-US" sz="1300" dirty="0">
                <a:solidFill>
                  <a:srgbClr val="FF0000"/>
                </a:solidFill>
                <a:latin typeface="Arial" panose="020B0604020202020204" pitchFamily="34" charset="0"/>
                <a:cs typeface="Arial" panose="020B0604020202020204" pitchFamily="34" charset="0"/>
              </a:rPr>
              <a:t>3</a:t>
            </a:r>
          </a:p>
        </p:txBody>
      </p:sp>
      <p:sp>
        <p:nvSpPr>
          <p:cNvPr id="10" name="テキスト ボックス 9"/>
          <p:cNvSpPr txBox="1"/>
          <p:nvPr/>
        </p:nvSpPr>
        <p:spPr>
          <a:xfrm>
            <a:off x="2640955" y="2250362"/>
            <a:ext cx="294084" cy="292388"/>
          </a:xfrm>
          <a:prstGeom prst="rect">
            <a:avLst/>
          </a:prstGeom>
          <a:noFill/>
        </p:spPr>
        <p:txBody>
          <a:bodyPr wrap="square" rtlCol="0">
            <a:spAutoFit/>
          </a:bodyPr>
          <a:lstStyle/>
          <a:p>
            <a:r>
              <a:rPr lang="en-US" sz="1300" dirty="0">
                <a:solidFill>
                  <a:srgbClr val="FF0000"/>
                </a:solidFill>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172982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a:blip r:embed="rId3"/>
          <a:stretch>
            <a:fillRect/>
          </a:stretch>
        </p:blipFill>
        <p:spPr>
          <a:xfrm>
            <a:off x="860756" y="1546855"/>
            <a:ext cx="6861305" cy="3256012"/>
          </a:xfrm>
          <a:prstGeom prst="rect">
            <a:avLst/>
          </a:prstGeom>
        </p:spPr>
      </p:pic>
      <p:sp>
        <p:nvSpPr>
          <p:cNvPr id="2" name="タイトル 6"/>
          <p:cNvSpPr txBox="1">
            <a:spLocks/>
          </p:cNvSpPr>
          <p:nvPr/>
        </p:nvSpPr>
        <p:spPr>
          <a:xfrm>
            <a:off x="690496" y="813197"/>
            <a:ext cx="6328833" cy="317302"/>
          </a:xfrm>
          <a:prstGeom prst="rect">
            <a:avLst/>
          </a:prstGeom>
        </p:spPr>
        <p:txBody>
          <a:bodyPr vert="horz" lIns="74295" tIns="37148" rIns="74295" bIns="37148"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25" dirty="0">
                <a:solidFill>
                  <a:schemeClr val="tx1"/>
                </a:solidFill>
                <a:latin typeface="Arial" panose="020B0604020202020204" pitchFamily="34" charset="0"/>
                <a:cs typeface="Arial" panose="020B0604020202020204" pitchFamily="34" charset="0"/>
              </a:rPr>
              <a:t>4.4 </a:t>
            </a:r>
            <a:r>
              <a:rPr lang="en-US" sz="1625" dirty="0" err="1">
                <a:solidFill>
                  <a:schemeClr val="tx1"/>
                </a:solidFill>
                <a:latin typeface="Arial" panose="020B0604020202020204" pitchFamily="34" charset="0"/>
                <a:cs typeface="Arial" panose="020B0604020202020204" pitchFamily="34" charset="0"/>
              </a:rPr>
              <a:t>Thực</a:t>
            </a:r>
            <a:r>
              <a:rPr lang="en-US" sz="1625" dirty="0">
                <a:solidFill>
                  <a:schemeClr val="tx1"/>
                </a:solidFill>
                <a:latin typeface="Arial" panose="020B0604020202020204" pitchFamily="34" charset="0"/>
                <a:cs typeface="Arial" panose="020B0604020202020204" pitchFamily="34" charset="0"/>
              </a:rPr>
              <a:t> </a:t>
            </a:r>
            <a:r>
              <a:rPr lang="en-US" sz="1625" dirty="0" err="1">
                <a:solidFill>
                  <a:schemeClr val="tx1"/>
                </a:solidFill>
                <a:latin typeface="Arial" panose="020B0604020202020204" pitchFamily="34" charset="0"/>
                <a:cs typeface="Arial" panose="020B0604020202020204" pitchFamily="34" charset="0"/>
              </a:rPr>
              <a:t>hiện</a:t>
            </a:r>
            <a:r>
              <a:rPr lang="en-US" sz="1625" dirty="0">
                <a:solidFill>
                  <a:schemeClr val="tx1"/>
                </a:solidFill>
                <a:latin typeface="Arial" panose="020B0604020202020204" pitchFamily="34" charset="0"/>
                <a:cs typeface="Arial" panose="020B0604020202020204" pitchFamily="34" charset="0"/>
              </a:rPr>
              <a:t> code </a:t>
            </a:r>
          </a:p>
        </p:txBody>
      </p:sp>
      <p:sp>
        <p:nvSpPr>
          <p:cNvPr id="3" name="正方形/長方形 2"/>
          <p:cNvSpPr/>
          <p:nvPr/>
        </p:nvSpPr>
        <p:spPr>
          <a:xfrm>
            <a:off x="433388" y="1207521"/>
            <a:ext cx="6678810" cy="270267"/>
          </a:xfrm>
          <a:prstGeom prst="rect">
            <a:avLst/>
          </a:prstGeom>
        </p:spPr>
        <p:txBody>
          <a:bodyPr wrap="square">
            <a:spAutoFit/>
          </a:bodyPr>
          <a:lstStyle/>
          <a:p>
            <a:pPr lvl="1">
              <a:lnSpc>
                <a:spcPct val="107000"/>
              </a:lnSpc>
              <a:spcAft>
                <a:spcPts val="650"/>
              </a:spcAft>
            </a:pPr>
            <a:r>
              <a:rPr lang="en-US" sz="1138" dirty="0">
                <a:latin typeface="Arial" panose="020B0604020202020204" pitchFamily="34" charset="0"/>
                <a:ea typeface="ＭＳ 明朝" panose="02020609040205080304" pitchFamily="17" charset="-128"/>
                <a:cs typeface="Times New Roman" panose="02020603050405020304" pitchFamily="18" charset="0"/>
              </a:rPr>
              <a:t>a. </a:t>
            </a:r>
            <a:r>
              <a:rPr lang="en-US" sz="1138" dirty="0" err="1">
                <a:latin typeface="Arial" panose="020B0604020202020204" pitchFamily="34" charset="0"/>
                <a:ea typeface="ＭＳ 明朝" panose="02020609040205080304" pitchFamily="17" charset="-128"/>
                <a:cs typeface="Times New Roman" panose="02020603050405020304" pitchFamily="18" charset="0"/>
              </a:rPr>
              <a:t>Tạo</a:t>
            </a:r>
            <a:r>
              <a:rPr lang="en-US" sz="1138" dirty="0">
                <a:latin typeface="Arial" panose="020B0604020202020204" pitchFamily="34" charset="0"/>
                <a:ea typeface="ＭＳ 明朝" panose="02020609040205080304" pitchFamily="17" charset="-128"/>
                <a:cs typeface="Times New Roman" panose="02020603050405020304" pitchFamily="18" charset="0"/>
              </a:rPr>
              <a:t> class Entity </a:t>
            </a:r>
            <a:r>
              <a:rPr lang="en-US" sz="1138" dirty="0" err="1">
                <a:latin typeface="Arial" panose="020B0604020202020204" pitchFamily="34" charset="0"/>
                <a:ea typeface="ＭＳ 明朝" panose="02020609040205080304" pitchFamily="17" charset="-128"/>
                <a:cs typeface="Times New Roman" panose="02020603050405020304" pitchFamily="18" charset="0"/>
              </a:rPr>
              <a:t>Customer.kt</a:t>
            </a:r>
            <a:endParaRPr lang="en-US" sz="894" dirty="0">
              <a:latin typeface="Calibri" panose="020F0502020204030204" pitchFamily="34" charset="0"/>
              <a:ea typeface="ＭＳ 明朝" panose="02020609040205080304" pitchFamily="17" charset="-128"/>
              <a:cs typeface="Times New Roman" panose="02020603050405020304" pitchFamily="18" charset="0"/>
            </a:endParaRPr>
          </a:p>
        </p:txBody>
      </p:sp>
      <p:sp>
        <p:nvSpPr>
          <p:cNvPr id="6" name="正方形/長方形 5"/>
          <p:cNvSpPr/>
          <p:nvPr/>
        </p:nvSpPr>
        <p:spPr>
          <a:xfrm>
            <a:off x="1168598" y="3243263"/>
            <a:ext cx="742950" cy="1702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8" name="正方形/長方形 7"/>
          <p:cNvSpPr/>
          <p:nvPr/>
        </p:nvSpPr>
        <p:spPr>
          <a:xfrm>
            <a:off x="2515196" y="3421261"/>
            <a:ext cx="294084" cy="1857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9" name="正方形/長方形 8"/>
          <p:cNvSpPr/>
          <p:nvPr/>
        </p:nvSpPr>
        <p:spPr>
          <a:xfrm>
            <a:off x="1540073" y="3599259"/>
            <a:ext cx="1362075" cy="1857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10" name="テキスト ボックス 9"/>
          <p:cNvSpPr txBox="1"/>
          <p:nvPr/>
        </p:nvSpPr>
        <p:spPr>
          <a:xfrm>
            <a:off x="860756" y="4984552"/>
            <a:ext cx="6861305" cy="692497"/>
          </a:xfrm>
          <a:prstGeom prst="rect">
            <a:avLst/>
          </a:prstGeom>
          <a:noFill/>
        </p:spPr>
        <p:txBody>
          <a:bodyPr wrap="square" rtlCol="0">
            <a:spAutoFit/>
          </a:bodyPr>
          <a:lstStyle/>
          <a:p>
            <a:r>
              <a:rPr lang="en-US" sz="1300" dirty="0"/>
              <a:t>@Entity: annotation </a:t>
            </a:r>
            <a:r>
              <a:rPr lang="en-US" sz="1300" dirty="0" err="1"/>
              <a:t>xác</a:t>
            </a:r>
            <a:r>
              <a:rPr lang="en-US" sz="1300" dirty="0"/>
              <a:t> </a:t>
            </a:r>
            <a:r>
              <a:rPr lang="en-US" sz="1300" dirty="0" err="1"/>
              <a:t>định</a:t>
            </a:r>
            <a:r>
              <a:rPr lang="en-US" sz="1300" dirty="0"/>
              <a:t> class </a:t>
            </a:r>
            <a:r>
              <a:rPr lang="en-US" sz="1300" dirty="0" err="1"/>
              <a:t>là</a:t>
            </a:r>
            <a:r>
              <a:rPr lang="en-US" sz="1300" dirty="0"/>
              <a:t> </a:t>
            </a:r>
            <a:r>
              <a:rPr lang="en-US" sz="1300" dirty="0" err="1"/>
              <a:t>một</a:t>
            </a:r>
            <a:r>
              <a:rPr lang="en-US" sz="1300" dirty="0"/>
              <a:t> entity </a:t>
            </a:r>
            <a:r>
              <a:rPr lang="en-US" sz="1300" dirty="0" err="1"/>
              <a:t>để</a:t>
            </a:r>
            <a:r>
              <a:rPr lang="en-US" sz="1300" dirty="0"/>
              <a:t> </a:t>
            </a:r>
            <a:r>
              <a:rPr lang="en-US" sz="1300" dirty="0" err="1"/>
              <a:t>có</a:t>
            </a:r>
            <a:r>
              <a:rPr lang="en-US" sz="1300" dirty="0"/>
              <a:t> </a:t>
            </a:r>
            <a:r>
              <a:rPr lang="en-US" sz="1300" dirty="0" err="1"/>
              <a:t>thể</a:t>
            </a:r>
            <a:r>
              <a:rPr lang="en-US" sz="1300" dirty="0"/>
              <a:t> </a:t>
            </a:r>
            <a:r>
              <a:rPr lang="en-US" sz="1300" dirty="0" err="1"/>
              <a:t>thao</a:t>
            </a:r>
            <a:r>
              <a:rPr lang="en-US" sz="1300" dirty="0"/>
              <a:t> </a:t>
            </a:r>
            <a:r>
              <a:rPr lang="en-US" sz="1300" dirty="0" err="1"/>
              <a:t>tác</a:t>
            </a:r>
            <a:r>
              <a:rPr lang="en-US" sz="1300" dirty="0"/>
              <a:t> </a:t>
            </a:r>
            <a:r>
              <a:rPr lang="en-US" sz="1300" dirty="0" err="1"/>
              <a:t>với</a:t>
            </a:r>
            <a:r>
              <a:rPr lang="en-US" sz="1300" dirty="0"/>
              <a:t> table</a:t>
            </a:r>
          </a:p>
          <a:p>
            <a:r>
              <a:rPr lang="en-US" sz="1300" dirty="0"/>
              <a:t>@Id: annotation </a:t>
            </a:r>
            <a:r>
              <a:rPr lang="en-US" sz="1300" dirty="0" err="1"/>
              <a:t>xác</a:t>
            </a:r>
            <a:r>
              <a:rPr lang="en-US" sz="1300" dirty="0"/>
              <a:t> </a:t>
            </a:r>
            <a:r>
              <a:rPr lang="en-US" sz="1300" dirty="0" err="1"/>
              <a:t>định</a:t>
            </a:r>
            <a:r>
              <a:rPr lang="en-US" sz="1300" dirty="0"/>
              <a:t> </a:t>
            </a:r>
            <a:r>
              <a:rPr lang="en-US" sz="1300" dirty="0" err="1"/>
              <a:t>khóa</a:t>
            </a:r>
            <a:r>
              <a:rPr lang="en-US" sz="1300" dirty="0"/>
              <a:t> </a:t>
            </a:r>
            <a:r>
              <a:rPr lang="en-US" sz="1300" dirty="0" err="1"/>
              <a:t>chính</a:t>
            </a:r>
            <a:r>
              <a:rPr lang="en-US" sz="1300" dirty="0"/>
              <a:t> </a:t>
            </a:r>
            <a:r>
              <a:rPr lang="en-US" sz="1300" dirty="0" err="1"/>
              <a:t>tương</a:t>
            </a:r>
            <a:r>
              <a:rPr lang="en-US" sz="1300" dirty="0"/>
              <a:t> </a:t>
            </a:r>
            <a:r>
              <a:rPr lang="en-US" sz="1300" dirty="0" err="1"/>
              <a:t>ứng</a:t>
            </a:r>
            <a:r>
              <a:rPr lang="en-US" sz="1300" dirty="0"/>
              <a:t> </a:t>
            </a:r>
            <a:r>
              <a:rPr lang="en-US" sz="1300" dirty="0" err="1"/>
              <a:t>với</a:t>
            </a:r>
            <a:r>
              <a:rPr lang="en-US" sz="1300" dirty="0"/>
              <a:t> table.</a:t>
            </a:r>
          </a:p>
          <a:p>
            <a:r>
              <a:rPr lang="en-US" sz="1300" dirty="0"/>
              <a:t>@</a:t>
            </a:r>
            <a:r>
              <a:rPr lang="en-US" sz="1300" dirty="0" err="1"/>
              <a:t>GenneratedValues</a:t>
            </a:r>
            <a:r>
              <a:rPr lang="en-US" sz="1300" dirty="0"/>
              <a:t>: annotation </a:t>
            </a:r>
            <a:r>
              <a:rPr lang="en-US" sz="1300" dirty="0" err="1"/>
              <a:t>xác</a:t>
            </a:r>
            <a:r>
              <a:rPr lang="en-US" sz="1300" dirty="0"/>
              <a:t> </a:t>
            </a:r>
            <a:r>
              <a:rPr lang="en-US" sz="1300" dirty="0" err="1"/>
              <a:t>định</a:t>
            </a:r>
            <a:r>
              <a:rPr lang="en-US" sz="1300" dirty="0"/>
              <a:t> </a:t>
            </a:r>
            <a:r>
              <a:rPr lang="en-US" sz="1300" dirty="0" err="1"/>
              <a:t>giá</a:t>
            </a:r>
            <a:r>
              <a:rPr lang="en-US" sz="1300" dirty="0"/>
              <a:t> </a:t>
            </a:r>
            <a:r>
              <a:rPr lang="en-US" sz="1300" dirty="0" err="1"/>
              <a:t>trị</a:t>
            </a:r>
            <a:r>
              <a:rPr lang="en-US" sz="1300" dirty="0"/>
              <a:t> </a:t>
            </a:r>
            <a:r>
              <a:rPr lang="en-US" sz="1300" dirty="0" err="1"/>
              <a:t>được</a:t>
            </a:r>
            <a:r>
              <a:rPr lang="en-US" sz="1300" dirty="0"/>
              <a:t> </a:t>
            </a:r>
            <a:r>
              <a:rPr lang="en-US" sz="1300" dirty="0" err="1"/>
              <a:t>tự</a:t>
            </a:r>
            <a:r>
              <a:rPr lang="en-US" sz="1300" dirty="0"/>
              <a:t> </a:t>
            </a:r>
            <a:r>
              <a:rPr lang="en-US" sz="1300" dirty="0" err="1"/>
              <a:t>động</a:t>
            </a:r>
            <a:r>
              <a:rPr lang="en-US" sz="1300" dirty="0"/>
              <a:t> generate  </a:t>
            </a:r>
          </a:p>
        </p:txBody>
      </p:sp>
    </p:spTree>
    <p:extLst>
      <p:ext uri="{BB962C8B-B14F-4D97-AF65-F5344CB8AC3E}">
        <p14:creationId xmlns:p14="http://schemas.microsoft.com/office/powerpoint/2010/main" val="320667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305485" y="642938"/>
            <a:ext cx="2351926" cy="270267"/>
          </a:xfrm>
          <a:prstGeom prst="rect">
            <a:avLst/>
          </a:prstGeom>
        </p:spPr>
        <p:txBody>
          <a:bodyPr wrap="none">
            <a:spAutoFit/>
          </a:bodyPr>
          <a:lstStyle/>
          <a:p>
            <a:pPr lvl="1">
              <a:lnSpc>
                <a:spcPct val="107000"/>
              </a:lnSpc>
              <a:spcAft>
                <a:spcPts val="650"/>
              </a:spcAft>
            </a:pPr>
            <a:r>
              <a:rPr lang="en-US" sz="1138" dirty="0">
                <a:latin typeface="Arial" panose="020B0604020202020204" pitchFamily="34" charset="0"/>
                <a:ea typeface="ＭＳ 明朝" panose="02020609040205080304" pitchFamily="17" charset="-128"/>
                <a:cs typeface="Times New Roman" panose="02020603050405020304" pitchFamily="18" charset="0"/>
              </a:rPr>
              <a:t>b. </a:t>
            </a:r>
            <a:r>
              <a:rPr lang="en-US" sz="1138" dirty="0" err="1">
                <a:latin typeface="Arial" panose="020B0604020202020204" pitchFamily="34" charset="0"/>
                <a:ea typeface="ＭＳ 明朝" panose="02020609040205080304" pitchFamily="17" charset="-128"/>
                <a:cs typeface="Times New Roman" panose="02020603050405020304" pitchFamily="18" charset="0"/>
              </a:rPr>
              <a:t>Tạo</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truy</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vấn</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đơn</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giản</a:t>
            </a:r>
            <a:endParaRPr lang="en-US" sz="894"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5" name="図 4"/>
          <p:cNvPicPr>
            <a:picLocks noChangeAspect="1"/>
          </p:cNvPicPr>
          <p:nvPr/>
        </p:nvPicPr>
        <p:blipFill>
          <a:blip r:embed="rId3"/>
          <a:stretch>
            <a:fillRect/>
          </a:stretch>
        </p:blipFill>
        <p:spPr>
          <a:xfrm>
            <a:off x="793318" y="1132885"/>
            <a:ext cx="6759633" cy="4494008"/>
          </a:xfrm>
          <a:prstGeom prst="rect">
            <a:avLst/>
          </a:prstGeom>
        </p:spPr>
      </p:pic>
      <p:sp>
        <p:nvSpPr>
          <p:cNvPr id="3" name="正方形/長方形 2"/>
          <p:cNvSpPr/>
          <p:nvPr/>
        </p:nvSpPr>
        <p:spPr>
          <a:xfrm>
            <a:off x="2081808" y="2237184"/>
            <a:ext cx="4767263" cy="2321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7" name="角丸四角形吹き出し 6"/>
          <p:cNvSpPr/>
          <p:nvPr/>
        </p:nvSpPr>
        <p:spPr>
          <a:xfrm>
            <a:off x="4713089" y="895819"/>
            <a:ext cx="4163615" cy="1256236"/>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300" dirty="0" err="1">
                <a:solidFill>
                  <a:schemeClr val="bg1"/>
                </a:solidFill>
              </a:rPr>
              <a:t>Ineterface</a:t>
            </a:r>
            <a:r>
              <a:rPr lang="en-US" sz="1300" dirty="0">
                <a:solidFill>
                  <a:schemeClr val="bg1"/>
                </a:solidFill>
              </a:rPr>
              <a:t> </a:t>
            </a:r>
            <a:r>
              <a:rPr lang="en-US" sz="1300" dirty="0" err="1">
                <a:solidFill>
                  <a:schemeClr val="tx1"/>
                </a:solidFill>
              </a:rPr>
              <a:t>CustomerRepository</a:t>
            </a:r>
            <a:r>
              <a:rPr lang="en-US" sz="1300" dirty="0">
                <a:solidFill>
                  <a:schemeClr val="bg1"/>
                </a:solidFill>
              </a:rPr>
              <a:t> </a:t>
            </a:r>
            <a:r>
              <a:rPr lang="en-US" sz="1300" dirty="0" err="1">
                <a:solidFill>
                  <a:schemeClr val="bg1"/>
                </a:solidFill>
              </a:rPr>
              <a:t>kế</a:t>
            </a:r>
            <a:r>
              <a:rPr lang="en-US" sz="1300" dirty="0">
                <a:solidFill>
                  <a:schemeClr val="bg1"/>
                </a:solidFill>
              </a:rPr>
              <a:t> </a:t>
            </a:r>
            <a:r>
              <a:rPr lang="en-US" sz="1300" dirty="0" err="1">
                <a:solidFill>
                  <a:schemeClr val="bg1"/>
                </a:solidFill>
              </a:rPr>
              <a:t>thừa</a:t>
            </a:r>
            <a:r>
              <a:rPr lang="en-US" sz="1300" dirty="0">
                <a:solidFill>
                  <a:schemeClr val="bg1"/>
                </a:solidFill>
              </a:rPr>
              <a:t> </a:t>
            </a:r>
            <a:r>
              <a:rPr lang="en-US" sz="1300" dirty="0" err="1">
                <a:solidFill>
                  <a:schemeClr val="tx1"/>
                </a:solidFill>
              </a:rPr>
              <a:t>CrudRepository</a:t>
            </a:r>
            <a:r>
              <a:rPr lang="en-US" sz="1300" dirty="0">
                <a:solidFill>
                  <a:schemeClr val="tx1"/>
                </a:solidFill>
              </a:rPr>
              <a:t> </a:t>
            </a:r>
            <a:r>
              <a:rPr lang="en-US" sz="1300" dirty="0" err="1">
                <a:solidFill>
                  <a:schemeClr val="bg1"/>
                </a:solidFill>
              </a:rPr>
              <a:t>của</a:t>
            </a:r>
            <a:r>
              <a:rPr lang="en-US" sz="1300" dirty="0">
                <a:solidFill>
                  <a:schemeClr val="bg1"/>
                </a:solidFill>
              </a:rPr>
              <a:t> spring data </a:t>
            </a:r>
            <a:r>
              <a:rPr lang="en-US" sz="1300" dirty="0" err="1">
                <a:solidFill>
                  <a:schemeClr val="bg1"/>
                </a:solidFill>
              </a:rPr>
              <a:t>jpa</a:t>
            </a:r>
            <a:endParaRPr lang="en-US" sz="1300" dirty="0">
              <a:solidFill>
                <a:schemeClr val="bg1"/>
              </a:solidFill>
            </a:endParaRPr>
          </a:p>
          <a:p>
            <a:r>
              <a:rPr lang="en-US" sz="1300" dirty="0"/>
              <a:t>Trong </a:t>
            </a:r>
            <a:r>
              <a:rPr lang="en-US" sz="1300" dirty="0" err="1">
                <a:solidFill>
                  <a:schemeClr val="tx1"/>
                </a:solidFill>
              </a:rPr>
              <a:t>CrudRepository</a:t>
            </a:r>
            <a:r>
              <a:rPr lang="en-US" sz="1300" dirty="0"/>
              <a:t> </a:t>
            </a:r>
            <a:r>
              <a:rPr lang="en-US" sz="1300" dirty="0" err="1"/>
              <a:t>cần</a:t>
            </a:r>
            <a:r>
              <a:rPr lang="en-US" sz="1300" dirty="0"/>
              <a:t> </a:t>
            </a:r>
            <a:r>
              <a:rPr lang="en-US" sz="1300" dirty="0" err="1"/>
              <a:t>truyền</a:t>
            </a:r>
            <a:r>
              <a:rPr lang="en-US" sz="1300" dirty="0"/>
              <a:t> </a:t>
            </a:r>
            <a:r>
              <a:rPr lang="en-US" sz="1300" dirty="0" err="1"/>
              <a:t>vào</a:t>
            </a:r>
            <a:r>
              <a:rPr lang="en-US" sz="1300" dirty="0"/>
              <a:t> </a:t>
            </a:r>
            <a:r>
              <a:rPr lang="en-US" sz="1300" dirty="0" err="1"/>
              <a:t>loại</a:t>
            </a:r>
            <a:r>
              <a:rPr lang="en-US" sz="1300" dirty="0"/>
              <a:t> entity </a:t>
            </a:r>
            <a:r>
              <a:rPr lang="en-US" sz="1300" dirty="0" err="1"/>
              <a:t>và</a:t>
            </a:r>
            <a:r>
              <a:rPr lang="en-US" sz="1300" dirty="0"/>
              <a:t> </a:t>
            </a:r>
            <a:r>
              <a:rPr lang="en-US" sz="1300" dirty="0" err="1"/>
              <a:t>kiểu</a:t>
            </a:r>
            <a:r>
              <a:rPr lang="en-US" sz="1300" dirty="0"/>
              <a:t> </a:t>
            </a:r>
            <a:r>
              <a:rPr lang="en-US" sz="1300" dirty="0" err="1"/>
              <a:t>dữ</a:t>
            </a:r>
            <a:r>
              <a:rPr lang="en-US" sz="1300" dirty="0"/>
              <a:t> </a:t>
            </a:r>
            <a:r>
              <a:rPr lang="en-US" sz="1300" dirty="0" err="1"/>
              <a:t>liệu</a:t>
            </a:r>
            <a:r>
              <a:rPr lang="en-US" sz="1300" dirty="0"/>
              <a:t> ID </a:t>
            </a:r>
            <a:r>
              <a:rPr lang="en-US" sz="1300" dirty="0" err="1"/>
              <a:t>của</a:t>
            </a:r>
            <a:r>
              <a:rPr lang="en-US" sz="1300" dirty="0"/>
              <a:t> Entity </a:t>
            </a:r>
            <a:r>
              <a:rPr lang="en-US" sz="1300" dirty="0" err="1"/>
              <a:t>đó</a:t>
            </a:r>
            <a:endParaRPr lang="en-US" sz="1300" dirty="0"/>
          </a:p>
          <a:p>
            <a:endParaRPr lang="en-US" sz="1300" dirty="0">
              <a:solidFill>
                <a:schemeClr val="tx1"/>
              </a:solidFill>
            </a:endParaRPr>
          </a:p>
        </p:txBody>
      </p:sp>
      <p:sp>
        <p:nvSpPr>
          <p:cNvPr id="9" name="テキスト ボックス 8"/>
          <p:cNvSpPr txBox="1"/>
          <p:nvPr/>
        </p:nvSpPr>
        <p:spPr>
          <a:xfrm>
            <a:off x="1037035" y="3692128"/>
            <a:ext cx="6106120" cy="1492716"/>
          </a:xfrm>
          <a:prstGeom prst="rect">
            <a:avLst/>
          </a:prstGeom>
          <a:noFill/>
          <a:ln>
            <a:solidFill>
              <a:srgbClr val="FF0000"/>
            </a:solidFill>
          </a:ln>
        </p:spPr>
        <p:txBody>
          <a:bodyPr wrap="square" rtlCol="0">
            <a:spAutoFit/>
          </a:bodyPr>
          <a:lstStyle/>
          <a:p>
            <a:r>
              <a:rPr lang="en-US" sz="1300" dirty="0"/>
              <a:t>Spring Data JPA </a:t>
            </a:r>
            <a:r>
              <a:rPr lang="en-US" sz="1300" dirty="0" err="1"/>
              <a:t>cũng</a:t>
            </a:r>
            <a:r>
              <a:rPr lang="en-US" sz="1300" dirty="0"/>
              <a:t> </a:t>
            </a:r>
            <a:r>
              <a:rPr lang="en-US" sz="1300" dirty="0" err="1"/>
              <a:t>cho</a:t>
            </a:r>
            <a:r>
              <a:rPr lang="en-US" sz="1300" dirty="0"/>
              <a:t> </a:t>
            </a:r>
            <a:r>
              <a:rPr lang="en-US" sz="1300" dirty="0" err="1"/>
              <a:t>phép</a:t>
            </a:r>
            <a:r>
              <a:rPr lang="en-US" sz="1300" dirty="0"/>
              <a:t> </a:t>
            </a:r>
            <a:r>
              <a:rPr lang="en-US" sz="1300" dirty="0" err="1"/>
              <a:t>bạn</a:t>
            </a:r>
            <a:r>
              <a:rPr lang="en-US" sz="1300" dirty="0"/>
              <a:t> </a:t>
            </a:r>
            <a:r>
              <a:rPr lang="en-US" sz="1300" dirty="0" err="1"/>
              <a:t>xác</a:t>
            </a:r>
            <a:r>
              <a:rPr lang="en-US" sz="1300" dirty="0"/>
              <a:t> </a:t>
            </a:r>
            <a:r>
              <a:rPr lang="en-US" sz="1300" dirty="0" err="1"/>
              <a:t>định</a:t>
            </a:r>
            <a:r>
              <a:rPr lang="en-US" sz="1300" dirty="0"/>
              <a:t> </a:t>
            </a:r>
            <a:r>
              <a:rPr lang="en-US" sz="1300" dirty="0" err="1"/>
              <a:t>các</a:t>
            </a:r>
            <a:r>
              <a:rPr lang="en-US" sz="1300" dirty="0"/>
              <a:t> method </a:t>
            </a:r>
            <a:r>
              <a:rPr lang="en-US" sz="1300" dirty="0" err="1"/>
              <a:t>truy</a:t>
            </a:r>
            <a:r>
              <a:rPr lang="en-US" sz="1300" dirty="0"/>
              <a:t> </a:t>
            </a:r>
            <a:r>
              <a:rPr lang="en-US" sz="1300" dirty="0" err="1"/>
              <a:t>vấn</a:t>
            </a:r>
            <a:r>
              <a:rPr lang="en-US" sz="1300" dirty="0"/>
              <a:t> </a:t>
            </a:r>
            <a:r>
              <a:rPr lang="en-US" sz="1300" dirty="0" err="1"/>
              <a:t>khác</a:t>
            </a:r>
            <a:r>
              <a:rPr lang="en-US" sz="1300" dirty="0"/>
              <a:t> </a:t>
            </a:r>
            <a:r>
              <a:rPr lang="en-US" sz="1300" dirty="0" err="1"/>
              <a:t>bằng</a:t>
            </a:r>
            <a:r>
              <a:rPr lang="en-US" sz="1300" dirty="0"/>
              <a:t> </a:t>
            </a:r>
            <a:r>
              <a:rPr lang="en-US" sz="1300" dirty="0" err="1"/>
              <a:t>cách</a:t>
            </a:r>
            <a:r>
              <a:rPr lang="en-US" sz="1300" dirty="0"/>
              <a:t> </a:t>
            </a:r>
            <a:r>
              <a:rPr lang="en-US" sz="1300" dirty="0" err="1"/>
              <a:t>khai</a:t>
            </a:r>
            <a:r>
              <a:rPr lang="en-US" sz="1300" dirty="0"/>
              <a:t> </a:t>
            </a:r>
            <a:r>
              <a:rPr lang="en-US" sz="1300" dirty="0" err="1"/>
              <a:t>báo</a:t>
            </a:r>
            <a:r>
              <a:rPr lang="en-US" sz="1300" dirty="0"/>
              <a:t> method signature </a:t>
            </a:r>
            <a:r>
              <a:rPr lang="en-US" sz="1300" dirty="0" err="1"/>
              <a:t>của</a:t>
            </a:r>
            <a:r>
              <a:rPr lang="en-US" sz="1300" dirty="0"/>
              <a:t> </a:t>
            </a:r>
            <a:r>
              <a:rPr lang="en-US" sz="1300" dirty="0" err="1"/>
              <a:t>chúng</a:t>
            </a:r>
            <a:r>
              <a:rPr lang="en-US" sz="1300" dirty="0"/>
              <a:t>.</a:t>
            </a:r>
          </a:p>
          <a:p>
            <a:r>
              <a:rPr lang="en-US" sz="1300" dirty="0" err="1"/>
              <a:t>Ví</a:t>
            </a:r>
            <a:r>
              <a:rPr lang="en-US" sz="1300" dirty="0"/>
              <a:t> </a:t>
            </a:r>
            <a:r>
              <a:rPr lang="en-US" sz="1300" dirty="0" err="1"/>
              <a:t>dụ</a:t>
            </a:r>
            <a:r>
              <a:rPr lang="en-US" sz="1300" dirty="0"/>
              <a:t>, </a:t>
            </a:r>
            <a:r>
              <a:rPr lang="en-US" sz="1300" dirty="0" err="1"/>
              <a:t>CustomerRepository</a:t>
            </a:r>
            <a:r>
              <a:rPr lang="en-US" sz="1300" dirty="0"/>
              <a:t> </a:t>
            </a:r>
            <a:r>
              <a:rPr lang="en-US" sz="1300" dirty="0" err="1"/>
              <a:t>bao</a:t>
            </a:r>
            <a:r>
              <a:rPr lang="en-US" sz="1300" dirty="0"/>
              <a:t> </a:t>
            </a:r>
            <a:r>
              <a:rPr lang="en-US" sz="1300" dirty="0" err="1"/>
              <a:t>gồm</a:t>
            </a:r>
            <a:r>
              <a:rPr lang="en-US" sz="1300" dirty="0"/>
              <a:t>:</a:t>
            </a:r>
          </a:p>
          <a:p>
            <a:r>
              <a:rPr lang="en-US" sz="1300" dirty="0" err="1"/>
              <a:t>findByFirstName</a:t>
            </a:r>
            <a:r>
              <a:rPr lang="en-US" sz="1300" dirty="0"/>
              <a:t>() </a:t>
            </a:r>
            <a:r>
              <a:rPr lang="en-US" sz="1300" dirty="0" err="1"/>
              <a:t>sẽ</a:t>
            </a:r>
            <a:r>
              <a:rPr lang="en-US" sz="1300" dirty="0"/>
              <a:t> </a:t>
            </a:r>
            <a:r>
              <a:rPr lang="en-US" sz="1300" dirty="0" err="1"/>
              <a:t>tìm</a:t>
            </a:r>
            <a:r>
              <a:rPr lang="en-US" sz="1300" dirty="0"/>
              <a:t> </a:t>
            </a:r>
            <a:r>
              <a:rPr lang="en-US" sz="1300" dirty="0" err="1"/>
              <a:t>kiếm</a:t>
            </a:r>
            <a:r>
              <a:rPr lang="en-US" sz="1300" dirty="0"/>
              <a:t> </a:t>
            </a:r>
            <a:r>
              <a:rPr lang="en-US" sz="1300" dirty="0" err="1"/>
              <a:t>theo</a:t>
            </a:r>
            <a:r>
              <a:rPr lang="en-US" sz="1300" dirty="0"/>
              <a:t> </a:t>
            </a:r>
            <a:r>
              <a:rPr lang="en-US" sz="1300" dirty="0" err="1"/>
              <a:t>FirstName</a:t>
            </a:r>
            <a:r>
              <a:rPr lang="en-US" sz="1300" dirty="0"/>
              <a:t>.</a:t>
            </a:r>
          </a:p>
          <a:p>
            <a:r>
              <a:rPr lang="en-US" sz="1300" dirty="0" err="1"/>
              <a:t>findAllByOrderByFirstNameDesc</a:t>
            </a:r>
            <a:r>
              <a:rPr lang="en-US" sz="1300" dirty="0"/>
              <a:t>(): </a:t>
            </a:r>
            <a:r>
              <a:rPr lang="en-US" sz="1300" dirty="0" err="1"/>
              <a:t>Tìm</a:t>
            </a:r>
            <a:r>
              <a:rPr lang="en-US" sz="1300" dirty="0"/>
              <a:t> </a:t>
            </a:r>
            <a:r>
              <a:rPr lang="en-US" sz="1300" dirty="0" err="1"/>
              <a:t>kiếm</a:t>
            </a:r>
            <a:r>
              <a:rPr lang="en-US" sz="1300" dirty="0"/>
              <a:t> </a:t>
            </a:r>
            <a:r>
              <a:rPr lang="en-US" sz="1300" dirty="0" err="1"/>
              <a:t>tất</a:t>
            </a:r>
            <a:r>
              <a:rPr lang="en-US" sz="1300" dirty="0"/>
              <a:t> </a:t>
            </a:r>
            <a:r>
              <a:rPr lang="en-US" sz="1300" dirty="0" err="1"/>
              <a:t>cả</a:t>
            </a:r>
            <a:r>
              <a:rPr lang="en-US" sz="1300" dirty="0"/>
              <a:t>, </a:t>
            </a:r>
            <a:r>
              <a:rPr lang="en-US" sz="1300" dirty="0" err="1"/>
              <a:t>sắp</a:t>
            </a:r>
            <a:r>
              <a:rPr lang="en-US" sz="1300" dirty="0"/>
              <a:t> </a:t>
            </a:r>
            <a:r>
              <a:rPr lang="en-US" sz="1300" dirty="0" err="1"/>
              <a:t>xếp</a:t>
            </a:r>
            <a:r>
              <a:rPr lang="en-US" sz="1300" dirty="0"/>
              <a:t> </a:t>
            </a:r>
            <a:r>
              <a:rPr lang="en-US" sz="1300" dirty="0" err="1"/>
              <a:t>theo</a:t>
            </a:r>
            <a:r>
              <a:rPr lang="en-US" sz="1300" dirty="0"/>
              <a:t> </a:t>
            </a:r>
            <a:r>
              <a:rPr lang="en-US" sz="1300" dirty="0" err="1"/>
              <a:t>chiều</a:t>
            </a:r>
            <a:r>
              <a:rPr lang="en-US" sz="1300" dirty="0"/>
              <a:t> </a:t>
            </a:r>
            <a:r>
              <a:rPr lang="en-US" sz="1300" dirty="0" err="1"/>
              <a:t>giảm</a:t>
            </a:r>
            <a:r>
              <a:rPr lang="en-US" sz="1300" dirty="0"/>
              <a:t> </a:t>
            </a:r>
            <a:r>
              <a:rPr lang="en-US" sz="1300" dirty="0" err="1"/>
              <a:t>dần</a:t>
            </a:r>
            <a:r>
              <a:rPr lang="en-US" sz="1300" dirty="0"/>
              <a:t> </a:t>
            </a:r>
            <a:r>
              <a:rPr lang="en-US" sz="1300" dirty="0" err="1"/>
              <a:t>của</a:t>
            </a:r>
            <a:r>
              <a:rPr lang="en-US" sz="1300" dirty="0"/>
              <a:t> </a:t>
            </a:r>
            <a:r>
              <a:rPr lang="en-US" sz="1300" dirty="0" err="1"/>
              <a:t>FirstName</a:t>
            </a:r>
            <a:endParaRPr lang="en-US" sz="1300" dirty="0"/>
          </a:p>
          <a:p>
            <a:endParaRPr lang="en-US" sz="1300" dirty="0"/>
          </a:p>
        </p:txBody>
      </p:sp>
    </p:spTree>
    <p:extLst>
      <p:ext uri="{BB962C8B-B14F-4D97-AF65-F5344CB8AC3E}">
        <p14:creationId xmlns:p14="http://schemas.microsoft.com/office/powerpoint/2010/main" val="346682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05485" y="642937"/>
            <a:ext cx="3390672" cy="266098"/>
          </a:xfrm>
          <a:prstGeom prst="rect">
            <a:avLst/>
          </a:prstGeom>
        </p:spPr>
        <p:txBody>
          <a:bodyPr wrap="none">
            <a:spAutoFit/>
          </a:bodyPr>
          <a:lstStyle/>
          <a:p>
            <a:pPr lvl="1">
              <a:lnSpc>
                <a:spcPct val="107000"/>
              </a:lnSpc>
              <a:spcAft>
                <a:spcPts val="650"/>
              </a:spcAft>
            </a:pPr>
            <a:r>
              <a:rPr lang="en-US" sz="1138" dirty="0">
                <a:latin typeface="Arial" panose="020B0604020202020204" pitchFamily="34" charset="0"/>
                <a:ea typeface="ＭＳ 明朝" panose="02020609040205080304" pitchFamily="17" charset="-128"/>
                <a:cs typeface="Times New Roman" panose="02020603050405020304" pitchFamily="18" charset="0"/>
              </a:rPr>
              <a:t>c. </a:t>
            </a:r>
            <a:r>
              <a:rPr lang="en-US" sz="1138" dirty="0" err="1">
                <a:latin typeface="Arial" panose="020B0604020202020204" pitchFamily="34" charset="0"/>
                <a:ea typeface="ＭＳ 明朝" panose="02020609040205080304" pitchFamily="17" charset="-128"/>
                <a:cs typeface="Times New Roman" panose="02020603050405020304" pitchFamily="18" charset="0"/>
              </a:rPr>
              <a:t>Tạo</a:t>
            </a:r>
            <a:r>
              <a:rPr lang="en-US" sz="1138" dirty="0">
                <a:latin typeface="Arial" panose="020B0604020202020204" pitchFamily="34" charset="0"/>
                <a:ea typeface="ＭＳ 明朝" panose="02020609040205080304" pitchFamily="17" charset="-128"/>
                <a:cs typeface="Times New Roman" panose="02020603050405020304" pitchFamily="18" charset="0"/>
              </a:rPr>
              <a:t> data common </a:t>
            </a:r>
            <a:r>
              <a:rPr lang="en-US" sz="1138" dirty="0" err="1">
                <a:latin typeface="Arial" panose="020B0604020202020204" pitchFamily="34" charset="0"/>
                <a:ea typeface="ＭＳ 明朝" panose="02020609040205080304" pitchFamily="17" charset="-128"/>
                <a:cs typeface="Times New Roman" panose="02020603050405020304" pitchFamily="18" charset="0"/>
              </a:rPr>
              <a:t>bằng</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894" dirty="0"/>
              <a:t>@Configuration</a:t>
            </a:r>
            <a:endParaRPr lang="en-US" sz="894"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4" name="図 3"/>
          <p:cNvPicPr>
            <a:picLocks noChangeAspect="1"/>
          </p:cNvPicPr>
          <p:nvPr/>
        </p:nvPicPr>
        <p:blipFill>
          <a:blip r:embed="rId3"/>
          <a:stretch>
            <a:fillRect/>
          </a:stretch>
        </p:blipFill>
        <p:spPr>
          <a:xfrm>
            <a:off x="773907" y="1146722"/>
            <a:ext cx="6771498" cy="3087141"/>
          </a:xfrm>
          <a:prstGeom prst="rect">
            <a:avLst/>
          </a:prstGeom>
        </p:spPr>
      </p:pic>
      <p:sp>
        <p:nvSpPr>
          <p:cNvPr id="2" name="テキスト ボックス 1"/>
          <p:cNvSpPr txBox="1"/>
          <p:nvPr/>
        </p:nvSpPr>
        <p:spPr>
          <a:xfrm>
            <a:off x="773906" y="4791075"/>
            <a:ext cx="7336631" cy="1092607"/>
          </a:xfrm>
          <a:prstGeom prst="rect">
            <a:avLst/>
          </a:prstGeom>
          <a:noFill/>
        </p:spPr>
        <p:txBody>
          <a:bodyPr wrap="square" rtlCol="0">
            <a:spAutoFit/>
          </a:bodyPr>
          <a:lstStyle/>
          <a:p>
            <a:r>
              <a:rPr lang="en-US" sz="1300" dirty="0"/>
              <a:t>@Configuration: </a:t>
            </a:r>
            <a:r>
              <a:rPr lang="en-US" sz="1300" dirty="0" err="1"/>
              <a:t>là</a:t>
            </a:r>
            <a:r>
              <a:rPr lang="en-US" sz="1300" dirty="0"/>
              <a:t> </a:t>
            </a:r>
            <a:r>
              <a:rPr lang="en-US" sz="1300" dirty="0" err="1"/>
              <a:t>một</a:t>
            </a:r>
            <a:r>
              <a:rPr lang="en-US" sz="1300" dirty="0"/>
              <a:t> annotation </a:t>
            </a:r>
            <a:r>
              <a:rPr lang="en-US" sz="1300" dirty="0" err="1"/>
              <a:t>đánh</a:t>
            </a:r>
            <a:r>
              <a:rPr lang="en-US" sz="1300" dirty="0"/>
              <a:t> </a:t>
            </a:r>
            <a:r>
              <a:rPr lang="en-US" sz="1300" dirty="0" err="1"/>
              <a:t>dấu</a:t>
            </a:r>
            <a:r>
              <a:rPr lang="en-US" sz="1300" dirty="0"/>
              <a:t> </a:t>
            </a:r>
            <a:r>
              <a:rPr lang="en-US" sz="1300" dirty="0" err="1"/>
              <a:t>trên</a:t>
            </a:r>
            <a:r>
              <a:rPr lang="en-US" sz="1300" dirty="0"/>
              <a:t> </a:t>
            </a:r>
            <a:r>
              <a:rPr lang="en-US" sz="1300" dirty="0" err="1"/>
              <a:t>một</a:t>
            </a:r>
            <a:r>
              <a:rPr lang="en-US" sz="1300" dirty="0"/>
              <a:t> Class </a:t>
            </a:r>
            <a:r>
              <a:rPr lang="en-US" sz="1300" dirty="0" err="1"/>
              <a:t>cho</a:t>
            </a:r>
            <a:r>
              <a:rPr lang="en-US" sz="1300" dirty="0"/>
              <a:t> </a:t>
            </a:r>
            <a:r>
              <a:rPr lang="en-US" sz="1300" dirty="0" err="1"/>
              <a:t>phép</a:t>
            </a:r>
            <a:r>
              <a:rPr lang="en-US" sz="1300" dirty="0"/>
              <a:t> Spring Boot </a:t>
            </a:r>
            <a:r>
              <a:rPr lang="en-US" sz="1300" dirty="0" err="1"/>
              <a:t>nhận</a:t>
            </a:r>
            <a:r>
              <a:rPr lang="en-US" sz="1300" dirty="0"/>
              <a:t> </a:t>
            </a:r>
            <a:r>
              <a:rPr lang="en-US" sz="1300" dirty="0" err="1"/>
              <a:t>biết</a:t>
            </a:r>
            <a:r>
              <a:rPr lang="en-US" sz="1300" dirty="0"/>
              <a:t> </a:t>
            </a:r>
            <a:r>
              <a:rPr lang="en-US" sz="1300" dirty="0" err="1"/>
              <a:t>đây</a:t>
            </a:r>
            <a:r>
              <a:rPr lang="en-US" sz="1300" dirty="0"/>
              <a:t> </a:t>
            </a:r>
            <a:r>
              <a:rPr lang="en-US" sz="1300" dirty="0" err="1"/>
              <a:t>là</a:t>
            </a:r>
            <a:r>
              <a:rPr lang="en-US" sz="1300" dirty="0"/>
              <a:t> </a:t>
            </a:r>
            <a:r>
              <a:rPr lang="en-US" sz="1300" dirty="0" err="1"/>
              <a:t>nơi</a:t>
            </a:r>
            <a:r>
              <a:rPr lang="en-US" sz="1300" dirty="0"/>
              <a:t> </a:t>
            </a:r>
            <a:r>
              <a:rPr lang="en-US" sz="1300" dirty="0" err="1"/>
              <a:t>định</a:t>
            </a:r>
            <a:r>
              <a:rPr lang="en-US" sz="1300" dirty="0"/>
              <a:t> </a:t>
            </a:r>
            <a:r>
              <a:rPr lang="en-US" sz="1300" dirty="0" err="1"/>
              <a:t>nghĩa</a:t>
            </a:r>
            <a:r>
              <a:rPr lang="en-US" sz="1300" dirty="0"/>
              <a:t> </a:t>
            </a:r>
            <a:r>
              <a:rPr lang="en-US" sz="1300" dirty="0" err="1"/>
              <a:t>các</a:t>
            </a:r>
            <a:r>
              <a:rPr lang="en-US" sz="1300" dirty="0"/>
              <a:t> bean </a:t>
            </a:r>
            <a:r>
              <a:rPr lang="en-US" sz="1300" dirty="0" err="1"/>
              <a:t>và</a:t>
            </a:r>
            <a:r>
              <a:rPr lang="en-US" sz="1300" dirty="0"/>
              <a:t> </a:t>
            </a:r>
            <a:r>
              <a:rPr lang="en-US" sz="1300" dirty="0" err="1"/>
              <a:t>khởi</a:t>
            </a:r>
            <a:r>
              <a:rPr lang="en-US" sz="1300" dirty="0"/>
              <a:t> </a:t>
            </a:r>
            <a:r>
              <a:rPr lang="en-US" sz="1300" dirty="0" err="1"/>
              <a:t>tạo</a:t>
            </a:r>
            <a:r>
              <a:rPr lang="en-US" sz="1300" dirty="0"/>
              <a:t> </a:t>
            </a:r>
            <a:r>
              <a:rPr lang="en-US" sz="1300" dirty="0" err="1"/>
              <a:t>chạy</a:t>
            </a:r>
            <a:r>
              <a:rPr lang="en-US" sz="1300" dirty="0"/>
              <a:t> </a:t>
            </a:r>
            <a:r>
              <a:rPr lang="en-US" sz="1300" dirty="0" err="1"/>
              <a:t>cho</a:t>
            </a:r>
            <a:r>
              <a:rPr lang="en-US" sz="1300" dirty="0"/>
              <a:t> </a:t>
            </a:r>
            <a:r>
              <a:rPr lang="en-US" sz="1300" dirty="0" err="1"/>
              <a:t>toàn</a:t>
            </a:r>
            <a:r>
              <a:rPr lang="en-US" sz="1300" dirty="0"/>
              <a:t> </a:t>
            </a:r>
            <a:r>
              <a:rPr lang="en-US" sz="1300" dirty="0" err="1"/>
              <a:t>bộ</a:t>
            </a:r>
            <a:r>
              <a:rPr lang="en-US" sz="1300" dirty="0"/>
              <a:t> </a:t>
            </a:r>
            <a:r>
              <a:rPr lang="en-US" sz="1300" dirty="0" err="1"/>
              <a:t>chương</a:t>
            </a:r>
            <a:r>
              <a:rPr lang="en-US" sz="1300" dirty="0"/>
              <a:t> </a:t>
            </a:r>
            <a:r>
              <a:rPr lang="en-US" sz="1300" dirty="0" err="1"/>
              <a:t>trình</a:t>
            </a:r>
            <a:endParaRPr lang="en-US" sz="1300" dirty="0"/>
          </a:p>
          <a:p>
            <a:r>
              <a:rPr lang="en-US" sz="1300" dirty="0"/>
              <a:t>@Bean: Cho </a:t>
            </a:r>
            <a:r>
              <a:rPr lang="en-US" sz="1300" dirty="0" err="1"/>
              <a:t>phép</a:t>
            </a:r>
            <a:r>
              <a:rPr lang="en-US" sz="1300" dirty="0"/>
              <a:t> Spring Boot </a:t>
            </a:r>
            <a:r>
              <a:rPr lang="en-US" sz="1300" dirty="0" err="1"/>
              <a:t>biết</a:t>
            </a:r>
            <a:r>
              <a:rPr lang="en-US" sz="1300" dirty="0"/>
              <a:t> </a:t>
            </a:r>
            <a:r>
              <a:rPr lang="en-US" sz="1300" dirty="0" err="1"/>
              <a:t>được</a:t>
            </a:r>
            <a:r>
              <a:rPr lang="en-US" sz="1300" dirty="0"/>
              <a:t> </a:t>
            </a:r>
            <a:r>
              <a:rPr lang="en-US" sz="1300" dirty="0" err="1"/>
              <a:t>đây</a:t>
            </a:r>
            <a:r>
              <a:rPr lang="en-US" sz="1300" dirty="0"/>
              <a:t> </a:t>
            </a:r>
            <a:r>
              <a:rPr lang="en-US" sz="1300" dirty="0" err="1"/>
              <a:t>là</a:t>
            </a:r>
            <a:r>
              <a:rPr lang="en-US" sz="1300" dirty="0"/>
              <a:t> Bean </a:t>
            </a:r>
            <a:r>
              <a:rPr lang="en-US" sz="1300" dirty="0" err="1"/>
              <a:t>và</a:t>
            </a:r>
            <a:r>
              <a:rPr lang="en-US" sz="1300" dirty="0"/>
              <a:t> </a:t>
            </a:r>
            <a:r>
              <a:rPr lang="en-US" sz="1300" dirty="0" err="1"/>
              <a:t>thực</a:t>
            </a:r>
            <a:r>
              <a:rPr lang="en-US" sz="1300" dirty="0"/>
              <a:t> </a:t>
            </a:r>
            <a:r>
              <a:rPr lang="en-US" sz="1300" dirty="0" err="1"/>
              <a:t>hiện</a:t>
            </a:r>
            <a:r>
              <a:rPr lang="en-US" sz="1300" dirty="0"/>
              <a:t> </a:t>
            </a:r>
            <a:r>
              <a:rPr lang="en-US" sz="1300" dirty="0" err="1"/>
              <a:t>đưa</a:t>
            </a:r>
            <a:r>
              <a:rPr lang="en-US" sz="1300" dirty="0"/>
              <a:t> bean </a:t>
            </a:r>
            <a:r>
              <a:rPr lang="en-US" sz="1300" dirty="0" err="1"/>
              <a:t>vào</a:t>
            </a:r>
            <a:r>
              <a:rPr lang="en-US" sz="1300" dirty="0"/>
              <a:t> Context.</a:t>
            </a:r>
          </a:p>
        </p:txBody>
      </p:sp>
      <p:sp>
        <p:nvSpPr>
          <p:cNvPr id="5" name="正方形/長方形 4"/>
          <p:cNvSpPr/>
          <p:nvPr/>
        </p:nvSpPr>
        <p:spPr>
          <a:xfrm>
            <a:off x="1021556" y="1989535"/>
            <a:ext cx="1006078" cy="1702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6" name="正方形/長方形 5"/>
          <p:cNvSpPr/>
          <p:nvPr/>
        </p:nvSpPr>
        <p:spPr>
          <a:xfrm>
            <a:off x="1245989" y="2414865"/>
            <a:ext cx="448866" cy="2321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Tree>
    <p:extLst>
      <p:ext uri="{BB962C8B-B14F-4D97-AF65-F5344CB8AC3E}">
        <p14:creationId xmlns:p14="http://schemas.microsoft.com/office/powerpoint/2010/main" val="4083967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05486" y="642938"/>
            <a:ext cx="3058851" cy="270267"/>
          </a:xfrm>
          <a:prstGeom prst="rect">
            <a:avLst/>
          </a:prstGeom>
        </p:spPr>
        <p:txBody>
          <a:bodyPr wrap="none">
            <a:spAutoFit/>
          </a:bodyPr>
          <a:lstStyle/>
          <a:p>
            <a:pPr lvl="1">
              <a:lnSpc>
                <a:spcPct val="107000"/>
              </a:lnSpc>
              <a:spcAft>
                <a:spcPts val="650"/>
              </a:spcAft>
            </a:pPr>
            <a:r>
              <a:rPr lang="en-US" sz="1138" dirty="0">
                <a:latin typeface="Arial" panose="020B0604020202020204" pitchFamily="34" charset="0"/>
                <a:ea typeface="ＭＳ 明朝" panose="02020609040205080304" pitchFamily="17" charset="-128"/>
                <a:cs typeface="Times New Roman" panose="02020603050405020304" pitchFamily="18" charset="0"/>
              </a:rPr>
              <a:t>c. </a:t>
            </a:r>
            <a:r>
              <a:rPr lang="en-US" sz="1138" dirty="0" err="1">
                <a:latin typeface="Arial" panose="020B0604020202020204" pitchFamily="34" charset="0"/>
                <a:ea typeface="ＭＳ 明朝" panose="02020609040205080304" pitchFamily="17" charset="-128"/>
                <a:cs typeface="Times New Roman" panose="02020603050405020304" pitchFamily="18" charset="0"/>
              </a:rPr>
              <a:t>Tạo</a:t>
            </a:r>
            <a:r>
              <a:rPr lang="en-US" sz="1138" dirty="0">
                <a:latin typeface="Arial" panose="020B0604020202020204" pitchFamily="34" charset="0"/>
                <a:ea typeface="ＭＳ 明朝" panose="02020609040205080304" pitchFamily="17" charset="-128"/>
                <a:cs typeface="Times New Roman" panose="02020603050405020304" pitchFamily="18" charset="0"/>
              </a:rPr>
              <a:t> controller </a:t>
            </a:r>
            <a:r>
              <a:rPr lang="en-US" sz="1138" dirty="0" err="1">
                <a:latin typeface="Arial" panose="020B0604020202020204" pitchFamily="34" charset="0"/>
                <a:ea typeface="ＭＳ 明朝" panose="02020609040205080304" pitchFamily="17" charset="-128"/>
                <a:cs typeface="Times New Roman" panose="02020603050405020304" pitchFamily="18" charset="0"/>
              </a:rPr>
              <a:t>thực</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hiện</a:t>
            </a:r>
            <a:r>
              <a:rPr lang="en-US" sz="1138" dirty="0">
                <a:latin typeface="Arial" panose="020B0604020202020204" pitchFamily="34" charset="0"/>
                <a:ea typeface="ＭＳ 明朝" panose="02020609040205080304" pitchFamily="17" charset="-128"/>
                <a:cs typeface="Times New Roman" panose="02020603050405020304" pitchFamily="18" charset="0"/>
              </a:rPr>
              <a:t> request</a:t>
            </a:r>
            <a:endParaRPr lang="en-US" sz="894"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2" name="図 1"/>
          <p:cNvPicPr>
            <a:picLocks noChangeAspect="1"/>
          </p:cNvPicPr>
          <p:nvPr/>
        </p:nvPicPr>
        <p:blipFill>
          <a:blip r:embed="rId3"/>
          <a:stretch>
            <a:fillRect/>
          </a:stretch>
        </p:blipFill>
        <p:spPr>
          <a:xfrm>
            <a:off x="688777" y="1072132"/>
            <a:ext cx="7003852" cy="3793753"/>
          </a:xfrm>
          <a:prstGeom prst="rect">
            <a:avLst/>
          </a:prstGeom>
        </p:spPr>
      </p:pic>
      <p:sp>
        <p:nvSpPr>
          <p:cNvPr id="4" name="テキスト ボックス 3"/>
          <p:cNvSpPr txBox="1"/>
          <p:nvPr/>
        </p:nvSpPr>
        <p:spPr>
          <a:xfrm>
            <a:off x="688777" y="5023247"/>
            <a:ext cx="7003852" cy="1292662"/>
          </a:xfrm>
          <a:prstGeom prst="rect">
            <a:avLst/>
          </a:prstGeom>
          <a:noFill/>
        </p:spPr>
        <p:txBody>
          <a:bodyPr wrap="square" rtlCol="0">
            <a:spAutoFit/>
          </a:bodyPr>
          <a:lstStyle/>
          <a:p>
            <a:r>
              <a:rPr lang="en-US" sz="1300" dirty="0" err="1"/>
              <a:t>Thực</a:t>
            </a:r>
            <a:r>
              <a:rPr lang="en-US" sz="1300" dirty="0"/>
              <a:t> </a:t>
            </a:r>
            <a:r>
              <a:rPr lang="en-US" sz="1300" dirty="0" err="1"/>
              <a:t>hiện</a:t>
            </a:r>
            <a:r>
              <a:rPr lang="en-US" sz="1300" dirty="0"/>
              <a:t> </a:t>
            </a:r>
            <a:r>
              <a:rPr lang="en-US" sz="1300" dirty="0" err="1"/>
              <a:t>các</a:t>
            </a:r>
            <a:r>
              <a:rPr lang="en-US" sz="1300" dirty="0"/>
              <a:t> request </a:t>
            </a:r>
            <a:r>
              <a:rPr lang="en-US" sz="1300" dirty="0" err="1"/>
              <a:t>được</a:t>
            </a:r>
            <a:r>
              <a:rPr lang="en-US" sz="1300" dirty="0"/>
              <a:t> </a:t>
            </a:r>
            <a:r>
              <a:rPr lang="en-US" sz="1300" dirty="0" err="1"/>
              <a:t>tạo</a:t>
            </a:r>
            <a:r>
              <a:rPr lang="en-US" sz="1300" dirty="0"/>
              <a:t> </a:t>
            </a:r>
            <a:r>
              <a:rPr lang="en-US" sz="1300" dirty="0" err="1"/>
              <a:t>bằng</a:t>
            </a:r>
            <a:r>
              <a:rPr lang="en-US" sz="1300" dirty="0"/>
              <a:t> @</a:t>
            </a:r>
            <a:r>
              <a:rPr lang="en-US" sz="1300" dirty="0" err="1"/>
              <a:t>RequestMapping</a:t>
            </a:r>
            <a:endParaRPr lang="en-US" sz="1300" dirty="0"/>
          </a:p>
          <a:p>
            <a:r>
              <a:rPr lang="en-US" sz="1300" dirty="0"/>
              <a:t>@</a:t>
            </a:r>
            <a:r>
              <a:rPr lang="en-US" sz="1300" dirty="0" err="1"/>
              <a:t>GetMapping</a:t>
            </a:r>
            <a:r>
              <a:rPr lang="en-US" sz="1300" dirty="0"/>
              <a:t>: </a:t>
            </a:r>
            <a:r>
              <a:rPr lang="en-US" sz="1300" dirty="0" err="1"/>
              <a:t>cho</a:t>
            </a:r>
            <a:r>
              <a:rPr lang="en-US" sz="1300" dirty="0"/>
              <a:t> </a:t>
            </a:r>
            <a:r>
              <a:rPr lang="en-US" sz="1300" dirty="0" err="1"/>
              <a:t>phép</a:t>
            </a:r>
            <a:r>
              <a:rPr lang="en-US" sz="1300" dirty="0"/>
              <a:t> </a:t>
            </a:r>
            <a:r>
              <a:rPr lang="en-US" sz="1300" dirty="0" err="1"/>
              <a:t>thực</a:t>
            </a:r>
            <a:r>
              <a:rPr lang="en-US" sz="1300" dirty="0"/>
              <a:t> </a:t>
            </a:r>
            <a:r>
              <a:rPr lang="en-US" sz="1300" dirty="0" err="1"/>
              <a:t>hiện</a:t>
            </a:r>
            <a:r>
              <a:rPr lang="en-US" sz="1300" dirty="0"/>
              <a:t> mapping </a:t>
            </a:r>
            <a:r>
              <a:rPr lang="en-US" sz="1300" dirty="0" err="1"/>
              <a:t>và</a:t>
            </a:r>
            <a:r>
              <a:rPr lang="en-US" sz="1300" dirty="0"/>
              <a:t> </a:t>
            </a:r>
            <a:r>
              <a:rPr lang="en-US" sz="1300" dirty="0" err="1"/>
              <a:t>phương</a:t>
            </a:r>
            <a:r>
              <a:rPr lang="en-US" sz="1300" dirty="0"/>
              <a:t> </a:t>
            </a:r>
            <a:r>
              <a:rPr lang="en-US" sz="1300" dirty="0" err="1"/>
              <a:t>thức</a:t>
            </a:r>
            <a:r>
              <a:rPr lang="en-US" sz="1300" dirty="0"/>
              <a:t> </a:t>
            </a:r>
            <a:r>
              <a:rPr lang="en-US" sz="1300" dirty="0" err="1"/>
              <a:t>của</a:t>
            </a:r>
            <a:r>
              <a:rPr lang="en-US" sz="1300" dirty="0"/>
              <a:t> request </a:t>
            </a:r>
            <a:r>
              <a:rPr lang="en-US" sz="1300" dirty="0" err="1"/>
              <a:t>là</a:t>
            </a:r>
            <a:r>
              <a:rPr lang="en-US" sz="1300" dirty="0"/>
              <a:t> Get.</a:t>
            </a:r>
          </a:p>
          <a:p>
            <a:r>
              <a:rPr lang="en-US" sz="1300" dirty="0" err="1"/>
              <a:t>Là</a:t>
            </a:r>
            <a:r>
              <a:rPr lang="en-US" sz="1300" dirty="0"/>
              <a:t> </a:t>
            </a:r>
            <a:r>
              <a:rPr lang="en-US" sz="1300" dirty="0" err="1"/>
              <a:t>cách</a:t>
            </a:r>
            <a:r>
              <a:rPr lang="en-US" sz="1300" dirty="0"/>
              <a:t> </a:t>
            </a:r>
            <a:r>
              <a:rPr lang="en-US" sz="1300" dirty="0" err="1"/>
              <a:t>viết</a:t>
            </a:r>
            <a:r>
              <a:rPr lang="en-US" sz="1300" dirty="0"/>
              <a:t> </a:t>
            </a:r>
            <a:r>
              <a:rPr lang="en-US" sz="1300" dirty="0" err="1"/>
              <a:t>ngắn</a:t>
            </a:r>
            <a:r>
              <a:rPr lang="en-US" sz="1300" dirty="0"/>
              <a:t> </a:t>
            </a:r>
            <a:r>
              <a:rPr lang="en-US" sz="1300" dirty="0" err="1"/>
              <a:t>gọn</a:t>
            </a:r>
            <a:r>
              <a:rPr lang="en-US" sz="1300" dirty="0"/>
              <a:t> </a:t>
            </a:r>
            <a:r>
              <a:rPr lang="en-US" sz="1300" dirty="0" err="1"/>
              <a:t>cho</a:t>
            </a:r>
            <a:r>
              <a:rPr lang="en-US" sz="1300" dirty="0"/>
              <a:t> @</a:t>
            </a:r>
            <a:r>
              <a:rPr lang="en-US" sz="1300" dirty="0" err="1"/>
              <a:t>RequestMapping</a:t>
            </a:r>
            <a:r>
              <a:rPr lang="en-US" sz="1300" dirty="0"/>
              <a:t>(method = </a:t>
            </a:r>
            <a:r>
              <a:rPr lang="en-US" sz="1300" dirty="0" err="1"/>
              <a:t>RequestMethod.GET</a:t>
            </a:r>
            <a:r>
              <a:rPr lang="en-US" sz="1300" dirty="0"/>
              <a:t>)</a:t>
            </a:r>
          </a:p>
          <a:p>
            <a:r>
              <a:rPr lang="en-US" sz="1300" dirty="0" err="1"/>
              <a:t>Tương</a:t>
            </a:r>
            <a:r>
              <a:rPr lang="en-US" sz="1300" dirty="0"/>
              <a:t> </a:t>
            </a:r>
            <a:r>
              <a:rPr lang="en-US" sz="1300" dirty="0" err="1"/>
              <a:t>tự</a:t>
            </a:r>
            <a:r>
              <a:rPr lang="en-US" sz="1300" dirty="0"/>
              <a:t> </a:t>
            </a:r>
            <a:r>
              <a:rPr lang="en-US" sz="1300" dirty="0" err="1"/>
              <a:t>với</a:t>
            </a:r>
            <a:r>
              <a:rPr lang="en-US" sz="1300" dirty="0"/>
              <a:t> </a:t>
            </a:r>
            <a:r>
              <a:rPr lang="en-US" sz="1300" dirty="0" err="1"/>
              <a:t>các</a:t>
            </a:r>
            <a:r>
              <a:rPr lang="en-US" sz="1300" dirty="0"/>
              <a:t> </a:t>
            </a:r>
            <a:r>
              <a:rPr lang="en-US" sz="1300" dirty="0" err="1"/>
              <a:t>phương</a:t>
            </a:r>
            <a:r>
              <a:rPr lang="en-US" sz="1300" dirty="0"/>
              <a:t> </a:t>
            </a:r>
            <a:r>
              <a:rPr lang="en-US" sz="1300" dirty="0" err="1"/>
              <a:t>thức</a:t>
            </a:r>
            <a:r>
              <a:rPr lang="en-US" sz="1300" dirty="0"/>
              <a:t> </a:t>
            </a:r>
            <a:r>
              <a:rPr lang="en-US" sz="1300" dirty="0" err="1"/>
              <a:t>còn</a:t>
            </a:r>
            <a:r>
              <a:rPr lang="en-US" sz="1300" dirty="0"/>
              <a:t> </a:t>
            </a:r>
            <a:r>
              <a:rPr lang="en-US" sz="1300" dirty="0" err="1"/>
              <a:t>lại</a:t>
            </a:r>
            <a:r>
              <a:rPr lang="en-US" sz="1300" dirty="0"/>
              <a:t> </a:t>
            </a:r>
            <a:r>
              <a:rPr lang="en-US" sz="1300" dirty="0" err="1"/>
              <a:t>là</a:t>
            </a:r>
            <a:r>
              <a:rPr lang="en-US" sz="1300" dirty="0"/>
              <a:t>: @</a:t>
            </a:r>
            <a:r>
              <a:rPr lang="en-US" sz="1300" dirty="0" err="1"/>
              <a:t>PostMapping</a:t>
            </a:r>
            <a:r>
              <a:rPr lang="en-US" sz="1300" dirty="0"/>
              <a:t>, @</a:t>
            </a:r>
            <a:r>
              <a:rPr lang="en-US" sz="1300" dirty="0" err="1"/>
              <a:t>PutMapping</a:t>
            </a:r>
            <a:r>
              <a:rPr lang="en-US" sz="1300" dirty="0"/>
              <a:t>, @</a:t>
            </a:r>
            <a:r>
              <a:rPr lang="en-US" sz="1300" dirty="0" err="1"/>
              <a:t>DeleteMapping</a:t>
            </a:r>
            <a:endParaRPr lang="en-US" sz="1300" dirty="0"/>
          </a:p>
        </p:txBody>
      </p:sp>
    </p:spTree>
    <p:extLst>
      <p:ext uri="{BB962C8B-B14F-4D97-AF65-F5344CB8AC3E}">
        <p14:creationId xmlns:p14="http://schemas.microsoft.com/office/powerpoint/2010/main" val="241144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305486" y="642938"/>
            <a:ext cx="6884104" cy="270267"/>
          </a:xfrm>
          <a:prstGeom prst="rect">
            <a:avLst/>
          </a:prstGeom>
        </p:spPr>
        <p:txBody>
          <a:bodyPr wrap="square">
            <a:spAutoFit/>
          </a:bodyPr>
          <a:lstStyle/>
          <a:p>
            <a:pPr lvl="1">
              <a:lnSpc>
                <a:spcPct val="107000"/>
              </a:lnSpc>
              <a:spcAft>
                <a:spcPts val="650"/>
              </a:spcAft>
            </a:pPr>
            <a:r>
              <a:rPr lang="en-US" sz="1138" dirty="0">
                <a:latin typeface="Arial" panose="020B0604020202020204" pitchFamily="34" charset="0"/>
                <a:ea typeface="ＭＳ 明朝" panose="02020609040205080304" pitchFamily="17" charset="-128"/>
                <a:cs typeface="Times New Roman" panose="02020603050405020304" pitchFamily="18" charset="0"/>
              </a:rPr>
              <a:t>d. </a:t>
            </a:r>
            <a:r>
              <a:rPr lang="en-US" sz="1138" dirty="0" err="1">
                <a:latin typeface="Arial" panose="020B0604020202020204" pitchFamily="34" charset="0"/>
                <a:ea typeface="ＭＳ 明朝" panose="02020609040205080304" pitchFamily="17" charset="-128"/>
                <a:cs typeface="Times New Roman" panose="02020603050405020304" pitchFamily="18" charset="0"/>
              </a:rPr>
              <a:t>Kết</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quả</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trả</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về</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khi</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tìm</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kiếm</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tất</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cả</a:t>
            </a:r>
            <a:r>
              <a:rPr lang="en-US" sz="1138" dirty="0">
                <a:latin typeface="Arial" panose="020B0604020202020204" pitchFamily="34" charset="0"/>
                <a:ea typeface="ＭＳ 明朝" panose="02020609040205080304" pitchFamily="17" charset="-128"/>
                <a:cs typeface="Times New Roman" panose="02020603050405020304" pitchFamily="18" charset="0"/>
              </a:rPr>
              <a:t> customer </a:t>
            </a:r>
            <a:r>
              <a:rPr lang="en-US" sz="1138" dirty="0" err="1">
                <a:latin typeface="Arial" panose="020B0604020202020204" pitchFamily="34" charset="0"/>
                <a:ea typeface="ＭＳ 明朝" panose="02020609040205080304" pitchFamily="17" charset="-128"/>
                <a:cs typeface="Times New Roman" panose="02020603050405020304" pitchFamily="18" charset="0"/>
              </a:rPr>
              <a:t>được</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sắp</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xếp</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theo</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tên</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giảm</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dần</a:t>
            </a:r>
            <a:endParaRPr lang="en-US" sz="894"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4" name="図 3"/>
          <p:cNvPicPr>
            <a:picLocks noChangeAspect="1"/>
          </p:cNvPicPr>
          <p:nvPr/>
        </p:nvPicPr>
        <p:blipFill>
          <a:blip r:embed="rId3"/>
          <a:stretch>
            <a:fillRect/>
          </a:stretch>
        </p:blipFill>
        <p:spPr>
          <a:xfrm>
            <a:off x="758428" y="905249"/>
            <a:ext cx="6895505" cy="4915510"/>
          </a:xfrm>
          <a:prstGeom prst="rect">
            <a:avLst/>
          </a:prstGeom>
        </p:spPr>
      </p:pic>
      <p:sp>
        <p:nvSpPr>
          <p:cNvPr id="3" name="正方形/長方形 2"/>
          <p:cNvSpPr/>
          <p:nvPr/>
        </p:nvSpPr>
        <p:spPr>
          <a:xfrm>
            <a:off x="2267546" y="1927622"/>
            <a:ext cx="1903809" cy="2089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5" name="正方形/長方形 4"/>
          <p:cNvSpPr/>
          <p:nvPr/>
        </p:nvSpPr>
        <p:spPr>
          <a:xfrm>
            <a:off x="2267546" y="3158950"/>
            <a:ext cx="1903809" cy="19494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p>
        </p:txBody>
      </p:sp>
    </p:spTree>
    <p:extLst>
      <p:ext uri="{BB962C8B-B14F-4D97-AF65-F5344CB8AC3E}">
        <p14:creationId xmlns:p14="http://schemas.microsoft.com/office/powerpoint/2010/main" val="423373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05486" y="642938"/>
            <a:ext cx="3267241" cy="270267"/>
          </a:xfrm>
          <a:prstGeom prst="rect">
            <a:avLst/>
          </a:prstGeom>
        </p:spPr>
        <p:txBody>
          <a:bodyPr wrap="none">
            <a:spAutoFit/>
          </a:bodyPr>
          <a:lstStyle/>
          <a:p>
            <a:pPr lvl="1">
              <a:lnSpc>
                <a:spcPct val="107000"/>
              </a:lnSpc>
              <a:spcAft>
                <a:spcPts val="650"/>
              </a:spcAft>
            </a:pPr>
            <a:r>
              <a:rPr lang="en-US" sz="1138" dirty="0">
                <a:latin typeface="Arial" panose="020B0604020202020204" pitchFamily="34" charset="0"/>
                <a:ea typeface="ＭＳ 明朝" panose="02020609040205080304" pitchFamily="17" charset="-128"/>
                <a:cs typeface="Times New Roman" panose="02020603050405020304" pitchFamily="18" charset="0"/>
              </a:rPr>
              <a:t>e. </a:t>
            </a:r>
            <a:r>
              <a:rPr lang="en-US" sz="1138" dirty="0" err="1">
                <a:latin typeface="Arial" panose="020B0604020202020204" pitchFamily="34" charset="0"/>
                <a:ea typeface="ＭＳ 明朝" panose="02020609040205080304" pitchFamily="17" charset="-128"/>
                <a:cs typeface="Times New Roman" panose="02020603050405020304" pitchFamily="18" charset="0"/>
              </a:rPr>
              <a:t>Kết</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quả</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trả</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về</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khi</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tìm</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kiếm</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theo</a:t>
            </a:r>
            <a:r>
              <a:rPr lang="en-US" sz="1138" dirty="0">
                <a:latin typeface="Arial" panose="020B0604020202020204" pitchFamily="34" charset="0"/>
                <a:ea typeface="ＭＳ 明朝" panose="02020609040205080304" pitchFamily="17" charset="-128"/>
                <a:cs typeface="Times New Roman" panose="02020603050405020304" pitchFamily="18" charset="0"/>
              </a:rPr>
              <a:t> </a:t>
            </a:r>
            <a:r>
              <a:rPr lang="en-US" sz="1138" dirty="0" err="1">
                <a:latin typeface="Arial" panose="020B0604020202020204" pitchFamily="34" charset="0"/>
                <a:ea typeface="ＭＳ 明朝" panose="02020609040205080304" pitchFamily="17" charset="-128"/>
                <a:cs typeface="Times New Roman" panose="02020603050405020304" pitchFamily="18" charset="0"/>
              </a:rPr>
              <a:t>tên</a:t>
            </a:r>
            <a:endParaRPr lang="en-US" sz="894" dirty="0">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6" name="図 5"/>
          <p:cNvPicPr>
            <a:picLocks noChangeAspect="1"/>
          </p:cNvPicPr>
          <p:nvPr/>
        </p:nvPicPr>
        <p:blipFill>
          <a:blip r:embed="rId3"/>
          <a:stretch>
            <a:fillRect/>
          </a:stretch>
        </p:blipFill>
        <p:spPr>
          <a:xfrm>
            <a:off x="781569" y="833829"/>
            <a:ext cx="6547324" cy="4667306"/>
          </a:xfrm>
          <a:prstGeom prst="rect">
            <a:avLst/>
          </a:prstGeom>
        </p:spPr>
      </p:pic>
    </p:spTree>
    <p:extLst>
      <p:ext uri="{BB962C8B-B14F-4D97-AF65-F5344CB8AC3E}">
        <p14:creationId xmlns:p14="http://schemas.microsoft.com/office/powerpoint/2010/main" val="250305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685455" y="1115020"/>
            <a:ext cx="3859073" cy="683240"/>
          </a:xfrm>
        </p:spPr>
        <p:txBody>
          <a:bodyPr/>
          <a:lstStyle/>
          <a:p>
            <a:pPr algn="ctr"/>
            <a:r>
              <a:rPr lang="en-US" b="1" dirty="0"/>
              <a:t>Spring Batch</a:t>
            </a:r>
          </a:p>
        </p:txBody>
      </p:sp>
      <p:sp>
        <p:nvSpPr>
          <p:cNvPr id="3" name="サブタイトル 2"/>
          <p:cNvSpPr>
            <a:spLocks noGrp="1"/>
          </p:cNvSpPr>
          <p:nvPr>
            <p:ph type="subTitle" idx="1"/>
          </p:nvPr>
        </p:nvSpPr>
        <p:spPr>
          <a:xfrm>
            <a:off x="1459673" y="2626338"/>
            <a:ext cx="6310636" cy="1646220"/>
          </a:xfrm>
        </p:spPr>
        <p:txBody>
          <a:bodyPr>
            <a:normAutofit fontScale="47500" lnSpcReduction="20000"/>
          </a:bodyPr>
          <a:lstStyle/>
          <a:p>
            <a:pPr algn="l">
              <a:buFont typeface="Wingdings 3" charset="2"/>
              <a:buChar char=""/>
            </a:pPr>
            <a:r>
              <a:rPr kumimoji="1" lang="en-US" dirty="0"/>
              <a:t>Batch </a:t>
            </a:r>
            <a:r>
              <a:rPr kumimoji="1" lang="en-US" dirty="0" err="1"/>
              <a:t>là</a:t>
            </a:r>
            <a:r>
              <a:rPr kumimoji="1" lang="en-US" dirty="0"/>
              <a:t> </a:t>
            </a:r>
            <a:r>
              <a:rPr kumimoji="1" lang="en-US" dirty="0" err="1"/>
              <a:t>gì</a:t>
            </a:r>
            <a:r>
              <a:rPr kumimoji="1" lang="en-US" dirty="0"/>
              <a:t>?</a:t>
            </a:r>
          </a:p>
          <a:p>
            <a:pPr algn="l">
              <a:buFont typeface="Wingdings 3" charset="2"/>
              <a:buChar char=""/>
            </a:pPr>
            <a:r>
              <a:rPr kumimoji="1" lang="en-US" dirty="0"/>
              <a:t>Spring Batch </a:t>
            </a:r>
            <a:r>
              <a:rPr kumimoji="1" lang="en-US" dirty="0" err="1"/>
              <a:t>là</a:t>
            </a:r>
            <a:r>
              <a:rPr kumimoji="1" lang="en-US" dirty="0"/>
              <a:t> </a:t>
            </a:r>
            <a:r>
              <a:rPr kumimoji="1" lang="en-US" dirty="0" err="1"/>
              <a:t>gì</a:t>
            </a:r>
            <a:r>
              <a:rPr kumimoji="1" lang="en-US" dirty="0"/>
              <a:t>?</a:t>
            </a:r>
          </a:p>
          <a:p>
            <a:pPr algn="l">
              <a:buFont typeface="Wingdings 3" charset="2"/>
              <a:buChar char=""/>
            </a:pPr>
            <a:r>
              <a:rPr kumimoji="1" lang="en-US" dirty="0" err="1"/>
              <a:t>Các</a:t>
            </a:r>
            <a:r>
              <a:rPr kumimoji="1" lang="en-US" dirty="0"/>
              <a:t> </a:t>
            </a:r>
            <a:r>
              <a:rPr kumimoji="1" lang="en-US" dirty="0" err="1"/>
              <a:t>tính</a:t>
            </a:r>
            <a:r>
              <a:rPr kumimoji="1" lang="en-US" dirty="0"/>
              <a:t> </a:t>
            </a:r>
            <a:r>
              <a:rPr kumimoji="1" lang="en-US" dirty="0" err="1"/>
              <a:t>năng</a:t>
            </a:r>
            <a:r>
              <a:rPr kumimoji="1" lang="en-US" dirty="0"/>
              <a:t>, </a:t>
            </a:r>
            <a:r>
              <a:rPr kumimoji="1" lang="en-US" dirty="0" err="1"/>
              <a:t>đặc</a:t>
            </a:r>
            <a:r>
              <a:rPr kumimoji="1" lang="en-US" dirty="0"/>
              <a:t> </a:t>
            </a:r>
            <a:r>
              <a:rPr kumimoji="1" lang="en-US" dirty="0" err="1"/>
              <a:t>điểm</a:t>
            </a:r>
            <a:r>
              <a:rPr kumimoji="1" lang="en-US" dirty="0"/>
              <a:t> </a:t>
            </a:r>
            <a:r>
              <a:rPr kumimoji="1" lang="en-US" dirty="0" err="1"/>
              <a:t>của</a:t>
            </a:r>
            <a:r>
              <a:rPr kumimoji="1" lang="en-US" dirty="0"/>
              <a:t> Spring Batch</a:t>
            </a:r>
          </a:p>
          <a:p>
            <a:pPr algn="l">
              <a:buFont typeface="Wingdings 3" charset="2"/>
              <a:buChar char=""/>
            </a:pPr>
            <a:r>
              <a:rPr kumimoji="1" lang="en-US" dirty="0"/>
              <a:t> </a:t>
            </a:r>
            <a:r>
              <a:rPr kumimoji="1" lang="en-US" dirty="0" err="1"/>
              <a:t>Kiến</a:t>
            </a:r>
            <a:r>
              <a:rPr kumimoji="1" lang="en-US" dirty="0"/>
              <a:t> </a:t>
            </a:r>
            <a:r>
              <a:rPr kumimoji="1" lang="en-US" dirty="0" err="1"/>
              <a:t>trúc</a:t>
            </a:r>
            <a:r>
              <a:rPr kumimoji="1" lang="en-US" dirty="0"/>
              <a:t> </a:t>
            </a:r>
            <a:r>
              <a:rPr kumimoji="1" lang="en-US" dirty="0" err="1"/>
              <a:t>của</a:t>
            </a:r>
            <a:r>
              <a:rPr kumimoji="1" lang="en-US" dirty="0"/>
              <a:t> Spring Batch</a:t>
            </a:r>
          </a:p>
          <a:p>
            <a:pPr algn="l">
              <a:buFont typeface="Wingdings 3" charset="2"/>
              <a:buChar char=""/>
            </a:pP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Spring Batch</a:t>
            </a:r>
          </a:p>
          <a:p>
            <a:pPr algn="l">
              <a:buFont typeface="Wingdings 3" charset="2"/>
              <a:buChar char=""/>
            </a:pPr>
            <a:r>
              <a:rPr lang="en-US" dirty="0" err="1"/>
              <a:t>Các</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cấu</a:t>
            </a:r>
            <a:r>
              <a:rPr lang="en-US" dirty="0"/>
              <a:t> </a:t>
            </a:r>
            <a:r>
              <a:rPr lang="en-US" dirty="0" err="1"/>
              <a:t>hình</a:t>
            </a:r>
            <a:r>
              <a:rPr lang="en-US" dirty="0"/>
              <a:t> Spring Batch</a:t>
            </a:r>
          </a:p>
        </p:txBody>
      </p:sp>
      <p:sp>
        <p:nvSpPr>
          <p:cNvPr id="4" name="コンテンツ プレースホルダー 2"/>
          <p:cNvSpPr txBox="1">
            <a:spLocks/>
          </p:cNvSpPr>
          <p:nvPr/>
        </p:nvSpPr>
        <p:spPr>
          <a:xfrm>
            <a:off x="1122595" y="2014045"/>
            <a:ext cx="6984793" cy="548180"/>
          </a:xfrm>
          <a:prstGeom prst="rect">
            <a:avLst/>
          </a:prstGeom>
        </p:spPr>
        <p:txBody>
          <a:bodyPr vert="horz" lIns="74295" tIns="37148" rIns="74295" bIns="37148"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1950" dirty="0" err="1"/>
              <a:t>Các</a:t>
            </a:r>
            <a:r>
              <a:rPr lang="en-US" sz="1950" dirty="0"/>
              <a:t> </a:t>
            </a:r>
            <a:r>
              <a:rPr lang="en-US" sz="1950" dirty="0" err="1"/>
              <a:t>mục</a:t>
            </a:r>
            <a:r>
              <a:rPr lang="en-US" sz="1950" dirty="0"/>
              <a:t> </a:t>
            </a:r>
            <a:r>
              <a:rPr lang="en-US" sz="1950" dirty="0" err="1"/>
              <a:t>trình</a:t>
            </a:r>
            <a:r>
              <a:rPr lang="en-US" sz="1950" dirty="0"/>
              <a:t> </a:t>
            </a:r>
            <a:r>
              <a:rPr lang="en-US" sz="1950" dirty="0" err="1"/>
              <a:t>bày</a:t>
            </a:r>
            <a:r>
              <a:rPr lang="en-US" sz="1950" dirty="0"/>
              <a:t> </a:t>
            </a:r>
            <a:r>
              <a:rPr lang="en-US" sz="1950" dirty="0" err="1"/>
              <a:t>trong</a:t>
            </a:r>
            <a:r>
              <a:rPr lang="en-US" sz="1950" dirty="0"/>
              <a:t> </a:t>
            </a:r>
            <a:r>
              <a:rPr lang="en-US" sz="2600" dirty="0"/>
              <a:t>Spring Batch</a:t>
            </a:r>
          </a:p>
          <a:p>
            <a:pPr marL="0" indent="0">
              <a:buNone/>
            </a:pPr>
            <a:endParaRPr lang="en-US" sz="1463" dirty="0"/>
          </a:p>
        </p:txBody>
      </p:sp>
    </p:spTree>
    <p:extLst>
      <p:ext uri="{BB962C8B-B14F-4D97-AF65-F5344CB8AC3E}">
        <p14:creationId xmlns:p14="http://schemas.microsoft.com/office/powerpoint/2010/main" val="721177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a:t>Batch </a:t>
            </a:r>
            <a:r>
              <a:rPr lang="en-US" b="1" dirty="0" err="1"/>
              <a:t>là</a:t>
            </a:r>
            <a:r>
              <a:rPr lang="en-US" b="1" dirty="0"/>
              <a:t> </a:t>
            </a:r>
            <a:r>
              <a:rPr lang="en-US" b="1" dirty="0" err="1"/>
              <a:t>gì</a:t>
            </a:r>
            <a:r>
              <a:rPr lang="en-US" b="1" dirty="0"/>
              <a:t>?</a:t>
            </a:r>
          </a:p>
        </p:txBody>
      </p:sp>
      <p:sp>
        <p:nvSpPr>
          <p:cNvPr id="3" name="コンテンツ プレースホルダー 2"/>
          <p:cNvSpPr>
            <a:spLocks noGrp="1"/>
          </p:cNvSpPr>
          <p:nvPr>
            <p:ph idx="1"/>
          </p:nvPr>
        </p:nvSpPr>
        <p:spPr/>
        <p:txBody>
          <a:bodyPr>
            <a:normAutofit fontScale="77500" lnSpcReduction="20000"/>
          </a:bodyPr>
          <a:lstStyle/>
          <a:p>
            <a:pPr algn="just"/>
            <a:r>
              <a:rPr lang="en-US" dirty="0"/>
              <a:t>Batch </a:t>
            </a:r>
            <a:r>
              <a:rPr lang="en-US" dirty="0" err="1"/>
              <a:t>là</a:t>
            </a:r>
            <a:r>
              <a:rPr lang="en-US" dirty="0"/>
              <a:t> </a:t>
            </a:r>
            <a:r>
              <a:rPr lang="en-US" dirty="0" err="1"/>
              <a:t>một</a:t>
            </a:r>
            <a:r>
              <a:rPr lang="en-US" dirty="0"/>
              <a:t> </a:t>
            </a:r>
            <a:r>
              <a:rPr lang="en-US" dirty="0" err="1"/>
              <a:t>chế</a:t>
            </a:r>
            <a:r>
              <a:rPr lang="en-US" dirty="0"/>
              <a:t> </a:t>
            </a:r>
            <a:r>
              <a:rPr lang="en-US" dirty="0" err="1"/>
              <a:t>độ</a:t>
            </a:r>
            <a:r>
              <a:rPr lang="en-US" dirty="0"/>
              <a:t> </a:t>
            </a:r>
            <a:r>
              <a:rPr lang="en-US" dirty="0" err="1"/>
              <a:t>xử</a:t>
            </a:r>
            <a:r>
              <a:rPr lang="en-US" dirty="0"/>
              <a:t> </a:t>
            </a:r>
            <a:r>
              <a:rPr lang="en-US" dirty="0" err="1"/>
              <a:t>lý</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việc</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loạt</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phức</a:t>
            </a:r>
            <a:r>
              <a:rPr lang="en-US" dirty="0"/>
              <a:t> </a:t>
            </a:r>
            <a:r>
              <a:rPr lang="en-US" dirty="0" err="1"/>
              <a:t>tạp</a:t>
            </a:r>
            <a:r>
              <a:rPr lang="en-US" dirty="0"/>
              <a:t> </a:t>
            </a:r>
            <a:r>
              <a:rPr lang="en-US" dirty="0" err="1"/>
              <a:t>tự</a:t>
            </a:r>
            <a:r>
              <a:rPr lang="en-US" dirty="0"/>
              <a:t> </a:t>
            </a:r>
            <a:r>
              <a:rPr lang="en-US" dirty="0" err="1"/>
              <a:t>động</a:t>
            </a:r>
            <a:r>
              <a:rPr lang="en-US" dirty="0"/>
              <a:t> </a:t>
            </a:r>
            <a:r>
              <a:rPr lang="en-US" dirty="0" err="1"/>
              <a:t>mà</a:t>
            </a:r>
            <a:r>
              <a:rPr lang="en-US" dirty="0"/>
              <a:t> </a:t>
            </a:r>
            <a:r>
              <a:rPr lang="en-US" dirty="0" err="1"/>
              <a:t>không</a:t>
            </a:r>
            <a:r>
              <a:rPr lang="en-US" dirty="0"/>
              <a:t> </a:t>
            </a:r>
            <a:r>
              <a:rPr lang="en-US" dirty="0" err="1"/>
              <a:t>cần</a:t>
            </a:r>
            <a:r>
              <a:rPr lang="en-US" dirty="0"/>
              <a:t> </a:t>
            </a:r>
            <a:r>
              <a:rPr lang="en-US" dirty="0" err="1"/>
              <a:t>sự</a:t>
            </a:r>
            <a:r>
              <a:rPr lang="en-US" dirty="0"/>
              <a:t> </a:t>
            </a:r>
            <a:r>
              <a:rPr lang="en-US" dirty="0" err="1"/>
              <a:t>tương</a:t>
            </a:r>
            <a:r>
              <a:rPr lang="en-US" dirty="0"/>
              <a:t> </a:t>
            </a:r>
            <a:r>
              <a:rPr lang="en-US" dirty="0" err="1"/>
              <a:t>tác</a:t>
            </a:r>
            <a:r>
              <a:rPr lang="en-US" dirty="0"/>
              <a:t> </a:t>
            </a:r>
            <a:r>
              <a:rPr lang="en-US" dirty="0" err="1"/>
              <a:t>từ</a:t>
            </a:r>
            <a:r>
              <a:rPr lang="en-US" dirty="0"/>
              <a:t> </a:t>
            </a:r>
            <a:r>
              <a:rPr lang="en-US" dirty="0" err="1"/>
              <a:t>người</a:t>
            </a:r>
            <a:r>
              <a:rPr lang="en-US" dirty="0"/>
              <a:t> </a:t>
            </a:r>
            <a:r>
              <a:rPr lang="en-US" dirty="0" err="1"/>
              <a:t>dùng</a:t>
            </a:r>
            <a:r>
              <a:rPr lang="en-US" dirty="0"/>
              <a:t>.</a:t>
            </a:r>
          </a:p>
          <a:p>
            <a:pPr algn="just"/>
            <a:r>
              <a:rPr lang="en-US" dirty="0" err="1"/>
              <a:t>Một</a:t>
            </a:r>
            <a:r>
              <a:rPr lang="en-US" dirty="0"/>
              <a:t> </a:t>
            </a:r>
            <a:r>
              <a:rPr lang="en-US" dirty="0" err="1"/>
              <a:t>số</a:t>
            </a:r>
            <a:r>
              <a:rPr lang="en-US" dirty="0"/>
              <a:t> </a:t>
            </a:r>
            <a:r>
              <a:rPr lang="en-US" dirty="0" err="1"/>
              <a:t>ứng</a:t>
            </a:r>
            <a:r>
              <a:rPr lang="en-US" dirty="0"/>
              <a:t> </a:t>
            </a:r>
            <a:r>
              <a:rPr lang="en-US" dirty="0" err="1"/>
              <a:t>dụng</a:t>
            </a:r>
            <a:r>
              <a:rPr lang="en-US" dirty="0"/>
              <a:t> </a:t>
            </a:r>
            <a:r>
              <a:rPr lang="en-US" dirty="0" err="1"/>
              <a:t>Doanh</a:t>
            </a:r>
            <a:r>
              <a:rPr lang="en-US" dirty="0"/>
              <a:t> </a:t>
            </a:r>
            <a:r>
              <a:rPr lang="en-US" dirty="0" err="1"/>
              <a:t>nghiệp</a:t>
            </a:r>
            <a:r>
              <a:rPr lang="en-US" dirty="0"/>
              <a:t> </a:t>
            </a:r>
            <a:r>
              <a:rPr lang="en-US" dirty="0" err="1"/>
              <a:t>yêu</a:t>
            </a:r>
            <a:r>
              <a:rPr lang="en-US" dirty="0"/>
              <a:t> </a:t>
            </a:r>
            <a:r>
              <a:rPr lang="en-US" dirty="0" err="1"/>
              <a:t>cầu</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rất</a:t>
            </a:r>
            <a:r>
              <a:rPr lang="en-US" dirty="0"/>
              <a:t> </a:t>
            </a:r>
            <a:r>
              <a:rPr lang="en-US" dirty="0" err="1"/>
              <a:t>lớn</a:t>
            </a:r>
            <a:r>
              <a:rPr lang="en-US" dirty="0"/>
              <a:t> </a:t>
            </a:r>
            <a:r>
              <a:rPr lang="en-US" dirty="0" err="1"/>
              <a:t>để</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liên</a:t>
            </a:r>
            <a:r>
              <a:rPr lang="en-US" dirty="0"/>
              <a:t> </a:t>
            </a:r>
            <a:r>
              <a:rPr lang="en-US" dirty="0" err="1"/>
              <a:t>quan</a:t>
            </a:r>
            <a:r>
              <a:rPr lang="en-US" dirty="0"/>
              <a:t> </a:t>
            </a:r>
            <a:r>
              <a:rPr lang="en-US" dirty="0" err="1"/>
              <a:t>đến</a:t>
            </a:r>
            <a:r>
              <a:rPr lang="en-US" dirty="0"/>
              <a:t>:</a:t>
            </a:r>
          </a:p>
          <a:p>
            <a:pPr lvl="1" algn="just"/>
            <a:r>
              <a:rPr lang="en-US" dirty="0" err="1"/>
              <a:t>Các</a:t>
            </a:r>
            <a:r>
              <a:rPr lang="en-US" dirty="0"/>
              <a:t> </a:t>
            </a:r>
            <a:r>
              <a:rPr lang="en-US" dirty="0" err="1"/>
              <a:t>sự</a:t>
            </a:r>
            <a:r>
              <a:rPr lang="en-US" dirty="0"/>
              <a:t> </a:t>
            </a:r>
            <a:r>
              <a:rPr lang="en-US" dirty="0" err="1"/>
              <a:t>kiện</a:t>
            </a:r>
            <a:r>
              <a:rPr lang="en-US" dirty="0"/>
              <a:t> </a:t>
            </a:r>
            <a:r>
              <a:rPr lang="en-US" dirty="0" err="1"/>
              <a:t>dựa</a:t>
            </a:r>
            <a:r>
              <a:rPr lang="en-US" dirty="0"/>
              <a:t> </a:t>
            </a:r>
            <a:r>
              <a:rPr lang="en-US" dirty="0" err="1"/>
              <a:t>trên</a:t>
            </a:r>
            <a:r>
              <a:rPr lang="en-US" dirty="0"/>
              <a:t> </a:t>
            </a:r>
            <a:r>
              <a:rPr lang="en-US" dirty="0" err="1"/>
              <a:t>thời</a:t>
            </a:r>
            <a:r>
              <a:rPr lang="en-US" dirty="0"/>
              <a:t> </a:t>
            </a:r>
            <a:r>
              <a:rPr lang="en-US" dirty="0" err="1"/>
              <a:t>gian</a:t>
            </a:r>
            <a:r>
              <a:rPr lang="en-US" dirty="0"/>
              <a:t> </a:t>
            </a:r>
            <a:r>
              <a:rPr lang="en-US" dirty="0" err="1"/>
              <a:t>như</a:t>
            </a:r>
            <a:r>
              <a:rPr lang="en-US" dirty="0"/>
              <a:t> </a:t>
            </a:r>
            <a:r>
              <a:rPr lang="en-US" dirty="0" err="1"/>
              <a:t>tính</a:t>
            </a:r>
            <a:r>
              <a:rPr lang="en-US" dirty="0"/>
              <a:t> </a:t>
            </a:r>
            <a:r>
              <a:rPr lang="en-US" dirty="0" err="1"/>
              <a:t>toán</a:t>
            </a:r>
            <a:r>
              <a:rPr lang="en-US" dirty="0"/>
              <a:t> </a:t>
            </a:r>
            <a:r>
              <a:rPr lang="en-US" dirty="0" err="1"/>
              <a:t>định</a:t>
            </a:r>
            <a:r>
              <a:rPr lang="en-US" dirty="0"/>
              <a:t> </a:t>
            </a:r>
            <a:r>
              <a:rPr lang="en-US" dirty="0" err="1"/>
              <a:t>kỳ</a:t>
            </a:r>
            <a:r>
              <a:rPr lang="en-US" dirty="0"/>
              <a:t>.</a:t>
            </a:r>
          </a:p>
          <a:p>
            <a:pPr lvl="1" algn="just"/>
            <a:r>
              <a:rPr lang="en-US" dirty="0" err="1"/>
              <a:t>Các</a:t>
            </a:r>
            <a:r>
              <a:rPr lang="en-US" dirty="0"/>
              <a:t> </a:t>
            </a:r>
            <a:r>
              <a:rPr lang="en-US" dirty="0" err="1"/>
              <a:t>ứng</a:t>
            </a:r>
            <a:r>
              <a:rPr lang="en-US" dirty="0"/>
              <a:t> </a:t>
            </a:r>
            <a:r>
              <a:rPr lang="en-US" dirty="0" err="1"/>
              <a:t>dụng</a:t>
            </a:r>
            <a:r>
              <a:rPr lang="en-US" dirty="0"/>
              <a:t> </a:t>
            </a:r>
            <a:r>
              <a:rPr lang="en-US" dirty="0" err="1"/>
              <a:t>định</a:t>
            </a:r>
            <a:r>
              <a:rPr lang="en-US" dirty="0"/>
              <a:t> </a:t>
            </a:r>
            <a:r>
              <a:rPr lang="en-US" dirty="0" err="1"/>
              <a:t>kỳ</a:t>
            </a:r>
            <a:r>
              <a:rPr lang="en-US" dirty="0"/>
              <a:t> </a:t>
            </a:r>
            <a:r>
              <a:rPr lang="en-US" dirty="0" err="1"/>
              <a:t>được</a:t>
            </a:r>
            <a:r>
              <a:rPr lang="en-US" dirty="0"/>
              <a:t> </a:t>
            </a:r>
            <a:r>
              <a:rPr lang="en-US" dirty="0" err="1"/>
              <a:t>xử</a:t>
            </a:r>
            <a:r>
              <a:rPr lang="en-US" dirty="0"/>
              <a:t> </a:t>
            </a:r>
            <a:r>
              <a:rPr lang="en-US" dirty="0" err="1"/>
              <a:t>lý</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r>
              <a:rPr lang="en-US" dirty="0"/>
              <a:t> </a:t>
            </a:r>
            <a:r>
              <a:rPr lang="en-US" dirty="0" err="1"/>
              <a:t>trên</a:t>
            </a:r>
            <a:r>
              <a:rPr lang="en-US" dirty="0"/>
              <a:t> </a:t>
            </a:r>
            <a:r>
              <a:rPr lang="en-US" dirty="0" err="1"/>
              <a:t>các</a:t>
            </a:r>
            <a:r>
              <a:rPr lang="en-US" dirty="0"/>
              <a:t> </a:t>
            </a:r>
            <a:r>
              <a:rPr lang="en-US" dirty="0" err="1"/>
              <a:t>tập</a:t>
            </a:r>
            <a:r>
              <a:rPr lang="en-US" dirty="0"/>
              <a:t> </a:t>
            </a:r>
            <a:r>
              <a:rPr lang="en-US" dirty="0" err="1"/>
              <a:t>dữ</a:t>
            </a:r>
            <a:r>
              <a:rPr lang="en-US" dirty="0"/>
              <a:t> </a:t>
            </a:r>
            <a:r>
              <a:rPr lang="en-US" dirty="0" err="1"/>
              <a:t>liệu</a:t>
            </a:r>
            <a:r>
              <a:rPr lang="en-US" dirty="0"/>
              <a:t> </a:t>
            </a:r>
            <a:r>
              <a:rPr lang="en-US" dirty="0" err="1"/>
              <a:t>lớn</a:t>
            </a:r>
            <a:endParaRPr lang="en-US" dirty="0"/>
          </a:p>
          <a:p>
            <a:pPr lvl="1" algn="just"/>
            <a:r>
              <a:rPr lang="en-US" dirty="0" err="1"/>
              <a:t>Các</a:t>
            </a:r>
            <a:r>
              <a:rPr lang="en-US" dirty="0"/>
              <a:t> </a:t>
            </a:r>
            <a:r>
              <a:rPr lang="en-US" dirty="0" err="1"/>
              <a:t>ứng</a:t>
            </a:r>
            <a:r>
              <a:rPr lang="en-US" dirty="0"/>
              <a:t> </a:t>
            </a:r>
            <a:r>
              <a:rPr lang="en-US" dirty="0" err="1"/>
              <a:t>dụng</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xác</a:t>
            </a:r>
            <a:r>
              <a:rPr lang="en-US" dirty="0"/>
              <a:t> </a:t>
            </a:r>
            <a:r>
              <a:rPr lang="en-US" dirty="0" err="1"/>
              <a:t>thực</a:t>
            </a:r>
            <a:r>
              <a:rPr lang="en-US" dirty="0"/>
              <a:t> </a:t>
            </a:r>
            <a:r>
              <a:rPr lang="en-US" dirty="0" err="1"/>
              <a:t>dữ</a:t>
            </a:r>
            <a:r>
              <a:rPr lang="en-US" dirty="0"/>
              <a:t> </a:t>
            </a:r>
            <a:r>
              <a:rPr lang="en-US" dirty="0" err="1"/>
              <a:t>liệu</a:t>
            </a:r>
            <a:r>
              <a:rPr lang="en-US" dirty="0"/>
              <a:t> </a:t>
            </a:r>
            <a:r>
              <a:rPr lang="en-US" dirty="0" err="1"/>
              <a:t>có</a:t>
            </a:r>
            <a:r>
              <a:rPr lang="en-US" dirty="0"/>
              <a:t> </a:t>
            </a:r>
            <a:r>
              <a:rPr lang="en-US" dirty="0" err="1"/>
              <a:t>sẵn</a:t>
            </a:r>
            <a:r>
              <a:rPr lang="en-US" dirty="0"/>
              <a:t> </a:t>
            </a:r>
            <a:r>
              <a:rPr lang="en-US" dirty="0" err="1"/>
              <a:t>theo</a:t>
            </a:r>
            <a:r>
              <a:rPr lang="en-US" dirty="0"/>
              <a:t> </a:t>
            </a:r>
            <a:r>
              <a:rPr lang="en-US" dirty="0" err="1"/>
              <a:t>cách</a:t>
            </a:r>
            <a:r>
              <a:rPr lang="en-US" dirty="0"/>
              <a:t> </a:t>
            </a:r>
            <a:r>
              <a:rPr lang="en-US" dirty="0" err="1"/>
              <a:t>thức</a:t>
            </a:r>
            <a:r>
              <a:rPr lang="en-US" dirty="0"/>
              <a:t> </a:t>
            </a:r>
            <a:r>
              <a:rPr lang="en-US" dirty="0" err="1"/>
              <a:t>giao</a:t>
            </a:r>
            <a:r>
              <a:rPr lang="en-US" dirty="0"/>
              <a:t> </a:t>
            </a:r>
            <a:r>
              <a:rPr lang="en-US" dirty="0" err="1"/>
              <a:t>dịch</a:t>
            </a:r>
            <a:r>
              <a:rPr lang="en-US" dirty="0"/>
              <a:t>.</a:t>
            </a:r>
          </a:p>
          <a:p>
            <a:pPr algn="just"/>
            <a:r>
              <a:rPr lang="en-US" dirty="0"/>
              <a:t>VD: </a:t>
            </a:r>
            <a:r>
              <a:rPr lang="en-US" dirty="0" err="1"/>
              <a:t>Thống</a:t>
            </a:r>
            <a:r>
              <a:rPr lang="en-US" dirty="0"/>
              <a:t> </a:t>
            </a:r>
            <a:r>
              <a:rPr lang="en-US" dirty="0" err="1"/>
              <a:t>kê</a:t>
            </a:r>
            <a:r>
              <a:rPr lang="en-US" dirty="0"/>
              <a:t> </a:t>
            </a:r>
            <a:r>
              <a:rPr lang="en-US" dirty="0" err="1"/>
              <a:t>dữ</a:t>
            </a:r>
            <a:r>
              <a:rPr lang="en-US" dirty="0"/>
              <a:t> </a:t>
            </a:r>
            <a:r>
              <a:rPr lang="en-US" dirty="0" err="1"/>
              <a:t>liệu</a:t>
            </a:r>
            <a:r>
              <a:rPr lang="en-US" dirty="0"/>
              <a:t> </a:t>
            </a:r>
            <a:r>
              <a:rPr lang="en-US" dirty="0" err="1"/>
              <a:t>bán</a:t>
            </a:r>
            <a:r>
              <a:rPr lang="en-US" dirty="0"/>
              <a:t> </a:t>
            </a:r>
            <a:r>
              <a:rPr lang="en-US" dirty="0" err="1"/>
              <a:t>hàng</a:t>
            </a:r>
            <a:r>
              <a:rPr lang="en-US" dirty="0"/>
              <a:t> </a:t>
            </a:r>
            <a:r>
              <a:rPr lang="en-US" dirty="0" err="1"/>
              <a:t>hàng</a:t>
            </a:r>
            <a:r>
              <a:rPr lang="en-US" dirty="0"/>
              <a:t> </a:t>
            </a:r>
            <a:r>
              <a:rPr lang="en-US" dirty="0" err="1"/>
              <a:t>tháng</a:t>
            </a:r>
            <a:r>
              <a:rPr lang="en-US" dirty="0"/>
              <a:t> </a:t>
            </a:r>
            <a:r>
              <a:rPr lang="en-US" dirty="0" err="1"/>
              <a:t>và</a:t>
            </a:r>
            <a:r>
              <a:rPr lang="en-US" dirty="0"/>
              <a:t> </a:t>
            </a:r>
            <a:r>
              <a:rPr lang="en-US" dirty="0" err="1"/>
              <a:t>xuất</a:t>
            </a:r>
            <a:r>
              <a:rPr lang="en-US" dirty="0"/>
              <a:t> file excel</a:t>
            </a:r>
          </a:p>
          <a:p>
            <a:pPr lvl="1" algn="just"/>
            <a:r>
              <a:rPr lang="en-US" dirty="0" err="1"/>
              <a:t>Tìm</a:t>
            </a:r>
            <a:r>
              <a:rPr lang="en-US" dirty="0"/>
              <a:t> </a:t>
            </a:r>
            <a:r>
              <a:rPr lang="en-US" dirty="0" err="1"/>
              <a:t>kiếm</a:t>
            </a:r>
            <a:r>
              <a:rPr lang="en-US" dirty="0"/>
              <a:t> data </a:t>
            </a:r>
            <a:r>
              <a:rPr lang="en-US" dirty="0" err="1"/>
              <a:t>cần</a:t>
            </a:r>
            <a:r>
              <a:rPr lang="en-US" dirty="0"/>
              <a:t> </a:t>
            </a:r>
            <a:r>
              <a:rPr lang="en-US" dirty="0" err="1"/>
              <a:t>xử</a:t>
            </a:r>
            <a:r>
              <a:rPr lang="en-US" dirty="0"/>
              <a:t> </a:t>
            </a:r>
            <a:r>
              <a:rPr lang="en-US" dirty="0" err="1"/>
              <a:t>lý</a:t>
            </a:r>
            <a:r>
              <a:rPr lang="en-US" dirty="0"/>
              <a:t> </a:t>
            </a:r>
            <a:r>
              <a:rPr lang="en-US" dirty="0" err="1"/>
              <a:t>trong</a:t>
            </a:r>
            <a:r>
              <a:rPr lang="en-US" dirty="0"/>
              <a:t> database</a:t>
            </a:r>
          </a:p>
          <a:p>
            <a:pPr lvl="1" algn="just"/>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convert, </a:t>
            </a:r>
            <a:r>
              <a:rPr lang="en-US" dirty="0" err="1"/>
              <a:t>tìm</a:t>
            </a:r>
            <a:r>
              <a:rPr lang="en-US" dirty="0"/>
              <a:t> </a:t>
            </a:r>
            <a:r>
              <a:rPr lang="en-US" dirty="0" err="1"/>
              <a:t>kiếm</a:t>
            </a:r>
            <a:r>
              <a:rPr lang="en-US" dirty="0"/>
              <a:t>, …</a:t>
            </a:r>
          </a:p>
          <a:p>
            <a:pPr lvl="1" algn="just"/>
            <a:r>
              <a:rPr lang="en-US" dirty="0" err="1"/>
              <a:t>Ghi</a:t>
            </a:r>
            <a:r>
              <a:rPr lang="en-US" dirty="0"/>
              <a:t> file, log.</a:t>
            </a:r>
          </a:p>
          <a:p>
            <a:pPr algn="just"/>
            <a:endParaRPr lang="en-US" dirty="0"/>
          </a:p>
        </p:txBody>
      </p:sp>
    </p:spTree>
    <p:extLst>
      <p:ext uri="{BB962C8B-B14F-4D97-AF65-F5344CB8AC3E}">
        <p14:creationId xmlns:p14="http://schemas.microsoft.com/office/powerpoint/2010/main" val="18109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a:t>Spring Batch </a:t>
            </a:r>
            <a:r>
              <a:rPr lang="en-US" b="1" dirty="0" err="1"/>
              <a:t>là</a:t>
            </a:r>
            <a:r>
              <a:rPr lang="en-US" b="1" dirty="0"/>
              <a:t> </a:t>
            </a:r>
            <a:r>
              <a:rPr lang="en-US" b="1" dirty="0" err="1"/>
              <a:t>gì</a:t>
            </a:r>
            <a:r>
              <a:rPr lang="en-US" b="1" dirty="0"/>
              <a:t>?</a:t>
            </a:r>
          </a:p>
        </p:txBody>
      </p:sp>
      <p:sp>
        <p:nvSpPr>
          <p:cNvPr id="3" name="コンテンツ プレースホルダー 2"/>
          <p:cNvSpPr>
            <a:spLocks noGrp="1"/>
          </p:cNvSpPr>
          <p:nvPr>
            <p:ph idx="1"/>
          </p:nvPr>
        </p:nvSpPr>
        <p:spPr/>
        <p:txBody>
          <a:bodyPr>
            <a:normAutofit fontScale="85000" lnSpcReduction="10000"/>
          </a:bodyPr>
          <a:lstStyle/>
          <a:p>
            <a:pPr algn="just"/>
            <a:r>
              <a:rPr lang="en-US" dirty="0"/>
              <a:t>Spring Batch </a:t>
            </a:r>
            <a:r>
              <a:rPr lang="en-US" dirty="0" err="1"/>
              <a:t>là</a:t>
            </a:r>
            <a:r>
              <a:rPr lang="en-US" dirty="0"/>
              <a:t> </a:t>
            </a:r>
            <a:r>
              <a:rPr lang="en-US" dirty="0" err="1"/>
              <a:t>một</a:t>
            </a:r>
            <a:r>
              <a:rPr lang="en-US" dirty="0"/>
              <a:t> framework </a:t>
            </a:r>
            <a:r>
              <a:rPr lang="en-US" dirty="0" err="1"/>
              <a:t>xử</a:t>
            </a:r>
            <a:r>
              <a:rPr lang="en-US" dirty="0"/>
              <a:t> </a:t>
            </a:r>
            <a:r>
              <a:rPr lang="en-US" dirty="0" err="1"/>
              <a:t>lý</a:t>
            </a:r>
            <a:r>
              <a:rPr lang="en-US" dirty="0"/>
              <a:t> batch </a:t>
            </a:r>
            <a:r>
              <a:rPr lang="en-US" dirty="0" err="1"/>
              <a:t>được</a:t>
            </a:r>
            <a:r>
              <a:rPr lang="en-US" dirty="0"/>
              <a:t> </a:t>
            </a:r>
            <a:r>
              <a:rPr lang="en-US" dirty="0" err="1"/>
              <a:t>xây</a:t>
            </a:r>
            <a:r>
              <a:rPr lang="en-US" dirty="0"/>
              <a:t> </a:t>
            </a:r>
            <a:r>
              <a:rPr lang="en-US" dirty="0" err="1"/>
              <a:t>dựng</a:t>
            </a:r>
            <a:r>
              <a:rPr lang="en-US" dirty="0"/>
              <a:t> </a:t>
            </a:r>
            <a:r>
              <a:rPr lang="en-US" dirty="0" err="1"/>
              <a:t>dựa</a:t>
            </a:r>
            <a:r>
              <a:rPr lang="en-US" dirty="0"/>
              <a:t> </a:t>
            </a:r>
            <a:r>
              <a:rPr lang="en-US" dirty="0" err="1"/>
              <a:t>trên</a:t>
            </a:r>
            <a:r>
              <a:rPr lang="en-US" dirty="0"/>
              <a:t> Spring Framework.</a:t>
            </a:r>
          </a:p>
          <a:p>
            <a:pPr algn="just"/>
            <a:r>
              <a:rPr lang="en-US" dirty="0" err="1"/>
              <a:t>Nó</a:t>
            </a:r>
            <a:r>
              <a:rPr lang="en-US" dirty="0"/>
              <a:t> </a:t>
            </a:r>
            <a:r>
              <a:rPr lang="en-US" dirty="0" err="1"/>
              <a:t>cung</a:t>
            </a:r>
            <a:r>
              <a:rPr lang="en-US" dirty="0"/>
              <a:t> </a:t>
            </a:r>
            <a:r>
              <a:rPr lang="en-US" dirty="0" err="1"/>
              <a:t>cấp</a:t>
            </a:r>
            <a:r>
              <a:rPr lang="en-US" dirty="0"/>
              <a:t> </a:t>
            </a:r>
            <a:r>
              <a:rPr lang="en-US" dirty="0" err="1"/>
              <a:t>nhiều</a:t>
            </a:r>
            <a:r>
              <a:rPr lang="en-US" dirty="0"/>
              <a:t> </a:t>
            </a:r>
            <a:r>
              <a:rPr lang="en-US" dirty="0" err="1"/>
              <a:t>tính</a:t>
            </a:r>
            <a:r>
              <a:rPr lang="en-US" dirty="0"/>
              <a:t> </a:t>
            </a:r>
            <a:r>
              <a:rPr lang="en-US" dirty="0" err="1"/>
              <a:t>năng</a:t>
            </a:r>
            <a:r>
              <a:rPr lang="en-US" dirty="0"/>
              <a:t> </a:t>
            </a:r>
            <a:r>
              <a:rPr lang="en-US" dirty="0" err="1"/>
              <a:t>và</a:t>
            </a:r>
            <a:r>
              <a:rPr lang="en-US" dirty="0"/>
              <a:t> </a:t>
            </a:r>
            <a:r>
              <a:rPr lang="en-US" dirty="0" err="1"/>
              <a:t>dịch</a:t>
            </a:r>
            <a:r>
              <a:rPr lang="en-US" dirty="0"/>
              <a:t> </a:t>
            </a:r>
            <a:r>
              <a:rPr lang="en-US" dirty="0" err="1"/>
              <a:t>vụ</a:t>
            </a:r>
            <a:r>
              <a:rPr lang="en-US" dirty="0"/>
              <a:t> </a:t>
            </a:r>
            <a:r>
              <a:rPr lang="en-US" dirty="0" err="1"/>
              <a:t>kĩ</a:t>
            </a:r>
            <a:r>
              <a:rPr lang="en-US" dirty="0"/>
              <a:t> </a:t>
            </a:r>
            <a:r>
              <a:rPr lang="en-US" dirty="0" err="1"/>
              <a:t>thuật</a:t>
            </a:r>
            <a:r>
              <a:rPr lang="en-US" dirty="0"/>
              <a:t> </a:t>
            </a:r>
            <a:r>
              <a:rPr lang="en-US" dirty="0" err="1"/>
              <a:t>tiên</a:t>
            </a:r>
            <a:r>
              <a:rPr lang="en-US" dirty="0"/>
              <a:t> </a:t>
            </a:r>
            <a:r>
              <a:rPr lang="en-US" dirty="0" err="1"/>
              <a:t>tiến</a:t>
            </a:r>
            <a:r>
              <a:rPr lang="en-US" dirty="0"/>
              <a:t> </a:t>
            </a:r>
            <a:r>
              <a:rPr lang="en-US" dirty="0" err="1"/>
              <a:t>mà</a:t>
            </a:r>
            <a:r>
              <a:rPr lang="en-US" dirty="0"/>
              <a:t> </a:t>
            </a:r>
            <a:r>
              <a:rPr lang="en-US" dirty="0" err="1"/>
              <a:t>cho</a:t>
            </a:r>
            <a:r>
              <a:rPr lang="en-US" dirty="0"/>
              <a:t> </a:t>
            </a:r>
            <a:r>
              <a:rPr lang="en-US" dirty="0" err="1"/>
              <a:t>phép</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hàng</a:t>
            </a:r>
            <a:r>
              <a:rPr lang="en-US" dirty="0"/>
              <a:t> </a:t>
            </a:r>
            <a:r>
              <a:rPr lang="en-US" dirty="0" err="1"/>
              <a:t>loạt</a:t>
            </a:r>
            <a:r>
              <a:rPr lang="en-US" dirty="0"/>
              <a:t> </a:t>
            </a:r>
            <a:r>
              <a:rPr lang="en-US" dirty="0" err="1"/>
              <a:t>với</a:t>
            </a:r>
            <a:r>
              <a:rPr lang="en-US" dirty="0"/>
              <a:t> </a:t>
            </a:r>
            <a:r>
              <a:rPr lang="en-US" dirty="0" err="1"/>
              <a:t>khối</a:t>
            </a:r>
            <a:r>
              <a:rPr lang="en-US" dirty="0"/>
              <a:t> </a:t>
            </a:r>
            <a:r>
              <a:rPr lang="en-US" dirty="0" err="1"/>
              <a:t>lượng</a:t>
            </a:r>
            <a:r>
              <a:rPr lang="en-US" dirty="0"/>
              <a:t> </a:t>
            </a:r>
            <a:r>
              <a:rPr lang="en-US" dirty="0" err="1"/>
              <a:t>cực</a:t>
            </a:r>
            <a:r>
              <a:rPr lang="en-US" dirty="0"/>
              <a:t> </a:t>
            </a:r>
            <a:r>
              <a:rPr lang="en-US" dirty="0" err="1"/>
              <a:t>lớn</a:t>
            </a:r>
            <a:r>
              <a:rPr lang="en-US" dirty="0"/>
              <a:t> </a:t>
            </a:r>
            <a:r>
              <a:rPr lang="en-US" dirty="0" err="1"/>
              <a:t>và</a:t>
            </a:r>
            <a:r>
              <a:rPr lang="en-US" dirty="0"/>
              <a:t> </a:t>
            </a:r>
            <a:r>
              <a:rPr lang="en-US" dirty="0" err="1"/>
              <a:t>hiệu</a:t>
            </a:r>
            <a:r>
              <a:rPr lang="en-US" dirty="0"/>
              <a:t> </a:t>
            </a:r>
            <a:r>
              <a:rPr lang="en-US" dirty="0" err="1"/>
              <a:t>suất</a:t>
            </a:r>
            <a:r>
              <a:rPr lang="en-US" dirty="0"/>
              <a:t> </a:t>
            </a:r>
            <a:r>
              <a:rPr lang="en-US" dirty="0" err="1"/>
              <a:t>cao</a:t>
            </a:r>
            <a:r>
              <a:rPr lang="en-US" dirty="0"/>
              <a:t> </a:t>
            </a:r>
            <a:r>
              <a:rPr lang="en-US" dirty="0" err="1"/>
              <a:t>thông</a:t>
            </a:r>
            <a:r>
              <a:rPr lang="en-US" dirty="0"/>
              <a:t> qua </a:t>
            </a:r>
            <a:r>
              <a:rPr lang="en-US" dirty="0" err="1"/>
              <a:t>kĩ</a:t>
            </a:r>
            <a:r>
              <a:rPr lang="en-US" dirty="0"/>
              <a:t>  </a:t>
            </a:r>
            <a:r>
              <a:rPr lang="en-US" dirty="0" err="1"/>
              <a:t>thuật</a:t>
            </a:r>
            <a:r>
              <a:rPr lang="en-US" dirty="0"/>
              <a:t> </a:t>
            </a:r>
            <a:r>
              <a:rPr lang="en-US" dirty="0" err="1"/>
              <a:t>tối</a:t>
            </a:r>
            <a:r>
              <a:rPr lang="en-US" dirty="0"/>
              <a:t> </a:t>
            </a:r>
            <a:r>
              <a:rPr lang="en-US" dirty="0" err="1"/>
              <a:t>ưu</a:t>
            </a:r>
            <a:r>
              <a:rPr lang="en-US" dirty="0"/>
              <a:t> </a:t>
            </a:r>
            <a:r>
              <a:rPr lang="en-US" dirty="0" err="1"/>
              <a:t>hóa</a:t>
            </a:r>
            <a:r>
              <a:rPr lang="en-US" dirty="0"/>
              <a:t> </a:t>
            </a:r>
            <a:r>
              <a:rPr lang="en-US" dirty="0" err="1"/>
              <a:t>và</a:t>
            </a:r>
            <a:r>
              <a:rPr lang="en-US" dirty="0"/>
              <a:t> </a:t>
            </a:r>
            <a:r>
              <a:rPr lang="en-US" dirty="0" err="1"/>
              <a:t>phân</a:t>
            </a:r>
            <a:r>
              <a:rPr lang="en-US" dirty="0"/>
              <a:t> </a:t>
            </a:r>
            <a:r>
              <a:rPr lang="en-US" dirty="0" err="1"/>
              <a:t>vùng</a:t>
            </a:r>
            <a:r>
              <a:rPr lang="en-US" dirty="0"/>
              <a:t>. </a:t>
            </a:r>
          </a:p>
          <a:p>
            <a:pPr algn="just"/>
            <a:r>
              <a:rPr lang="en-US" dirty="0"/>
              <a:t>Spring Batch </a:t>
            </a:r>
            <a:r>
              <a:rPr lang="en-US" dirty="0" err="1"/>
              <a:t>cung</a:t>
            </a:r>
            <a:r>
              <a:rPr lang="en-US" dirty="0"/>
              <a:t> </a:t>
            </a:r>
            <a:r>
              <a:rPr lang="en-US" dirty="0" err="1"/>
              <a:t>cấp</a:t>
            </a:r>
            <a:r>
              <a:rPr lang="en-US" dirty="0"/>
              <a:t> </a:t>
            </a:r>
            <a:r>
              <a:rPr lang="en-US" dirty="0" err="1"/>
              <a:t>những</a:t>
            </a:r>
            <a:r>
              <a:rPr lang="en-US" dirty="0"/>
              <a:t> </a:t>
            </a:r>
            <a:r>
              <a:rPr lang="en-US" dirty="0" err="1"/>
              <a:t>chức</a:t>
            </a:r>
            <a:r>
              <a:rPr lang="en-US" dirty="0"/>
              <a:t> </a:t>
            </a:r>
            <a:r>
              <a:rPr lang="en-US" dirty="0" err="1"/>
              <a:t>năng</a:t>
            </a:r>
            <a:r>
              <a:rPr lang="en-US" dirty="0"/>
              <a:t> </a:t>
            </a:r>
            <a:r>
              <a:rPr lang="en-US" dirty="0" err="1"/>
              <a:t>có</a:t>
            </a:r>
            <a:r>
              <a:rPr lang="en-US" dirty="0"/>
              <a:t> </a:t>
            </a:r>
            <a:r>
              <a:rPr lang="en-US" dirty="0" err="1"/>
              <a:t>thể</a:t>
            </a:r>
            <a:r>
              <a:rPr lang="en-US" dirty="0"/>
              <a:t> </a:t>
            </a:r>
            <a:r>
              <a:rPr lang="en-US" dirty="0" err="1"/>
              <a:t>tái</a:t>
            </a:r>
            <a:r>
              <a:rPr lang="en-US" dirty="0"/>
              <a:t> </a:t>
            </a:r>
            <a:r>
              <a:rPr lang="en-US" dirty="0" err="1"/>
              <a:t>sử</a:t>
            </a:r>
            <a:r>
              <a:rPr lang="en-US" dirty="0"/>
              <a:t> </a:t>
            </a:r>
            <a:r>
              <a:rPr lang="en-US" dirty="0" err="1"/>
              <a:t>dụng</a:t>
            </a:r>
            <a:r>
              <a:rPr lang="en-US" dirty="0"/>
              <a:t> </a:t>
            </a:r>
            <a:r>
              <a:rPr lang="en-US" dirty="0" err="1"/>
              <a:t>cần</a:t>
            </a:r>
            <a:r>
              <a:rPr lang="en-US" dirty="0"/>
              <a:t> </a:t>
            </a:r>
            <a:r>
              <a:rPr lang="en-US" dirty="0" err="1"/>
              <a:t>thiết</a:t>
            </a:r>
            <a:r>
              <a:rPr lang="en-US" dirty="0"/>
              <a:t> </a:t>
            </a:r>
            <a:r>
              <a:rPr lang="en-US" dirty="0" err="1"/>
              <a:t>trong</a:t>
            </a:r>
            <a:r>
              <a:rPr lang="en-US" dirty="0"/>
              <a:t> </a:t>
            </a:r>
            <a:r>
              <a:rPr lang="en-US" dirty="0" err="1"/>
              <a:t>những</a:t>
            </a:r>
            <a:r>
              <a:rPr lang="en-US" dirty="0"/>
              <a:t> </a:t>
            </a:r>
            <a:r>
              <a:rPr lang="en-US" dirty="0" err="1"/>
              <a:t>xử</a:t>
            </a:r>
            <a:r>
              <a:rPr lang="en-US" dirty="0"/>
              <a:t> </a:t>
            </a:r>
            <a:r>
              <a:rPr lang="en-US" dirty="0" err="1"/>
              <a:t>lý</a:t>
            </a:r>
            <a:r>
              <a:rPr lang="en-US" dirty="0"/>
              <a:t> </a:t>
            </a:r>
            <a:r>
              <a:rPr lang="en-US" dirty="0" err="1"/>
              <a:t>khối</a:t>
            </a:r>
            <a:r>
              <a:rPr lang="en-US" dirty="0"/>
              <a:t> </a:t>
            </a:r>
            <a:r>
              <a:rPr lang="en-US" dirty="0" err="1"/>
              <a:t>lượng</a:t>
            </a:r>
            <a:r>
              <a:rPr lang="en-US" dirty="0"/>
              <a:t> data </a:t>
            </a:r>
            <a:r>
              <a:rPr lang="en-US" dirty="0" err="1"/>
              <a:t>lớn</a:t>
            </a:r>
            <a:r>
              <a:rPr lang="en-US" dirty="0"/>
              <a:t>, </a:t>
            </a:r>
            <a:r>
              <a:rPr lang="en-US" dirty="0" err="1"/>
              <a:t>bao</a:t>
            </a:r>
            <a:r>
              <a:rPr lang="en-US" dirty="0"/>
              <a:t> </a:t>
            </a:r>
            <a:r>
              <a:rPr lang="en-US" dirty="0" err="1"/>
              <a:t>gồm</a:t>
            </a:r>
            <a:r>
              <a:rPr lang="en-US" dirty="0"/>
              <a:t>  logging/tracing, </a:t>
            </a:r>
            <a:r>
              <a:rPr lang="en-US" dirty="0" err="1"/>
              <a:t>quản</a:t>
            </a:r>
            <a:r>
              <a:rPr lang="en-US" dirty="0"/>
              <a:t> </a:t>
            </a:r>
            <a:r>
              <a:rPr lang="en-US" dirty="0" err="1"/>
              <a:t>lý</a:t>
            </a:r>
            <a:r>
              <a:rPr lang="en-US" dirty="0"/>
              <a:t> </a:t>
            </a:r>
            <a:r>
              <a:rPr lang="en-US" dirty="0" err="1"/>
              <a:t>giao</a:t>
            </a:r>
            <a:r>
              <a:rPr lang="en-US" dirty="0"/>
              <a:t> </a:t>
            </a:r>
            <a:r>
              <a:rPr lang="en-US" dirty="0" err="1"/>
              <a:t>dịch</a:t>
            </a:r>
            <a:r>
              <a:rPr lang="en-US" dirty="0"/>
              <a:t>, </a:t>
            </a:r>
            <a:r>
              <a:rPr lang="en-US" dirty="0" err="1"/>
              <a:t>thống</a:t>
            </a:r>
            <a:r>
              <a:rPr lang="en-US" dirty="0"/>
              <a:t> </a:t>
            </a:r>
            <a:r>
              <a:rPr lang="en-US" dirty="0" err="1"/>
              <a:t>kê</a:t>
            </a:r>
            <a:r>
              <a:rPr lang="en-US" dirty="0"/>
              <a:t> </a:t>
            </a:r>
            <a:r>
              <a:rPr lang="en-US" dirty="0" err="1"/>
              <a:t>xử</a:t>
            </a:r>
            <a:r>
              <a:rPr lang="en-US" dirty="0"/>
              <a:t> </a:t>
            </a:r>
            <a:r>
              <a:rPr lang="en-US" dirty="0" err="1"/>
              <a:t>lý</a:t>
            </a:r>
            <a:r>
              <a:rPr lang="en-US" dirty="0"/>
              <a:t> job, </a:t>
            </a:r>
            <a:r>
              <a:rPr lang="en-US" dirty="0" err="1"/>
              <a:t>khởi</a:t>
            </a:r>
            <a:r>
              <a:rPr lang="en-US" dirty="0"/>
              <a:t> </a:t>
            </a:r>
            <a:r>
              <a:rPr lang="en-US" dirty="0" err="1"/>
              <a:t>động</a:t>
            </a:r>
            <a:r>
              <a:rPr lang="en-US" dirty="0"/>
              <a:t> </a:t>
            </a:r>
            <a:r>
              <a:rPr lang="en-US" dirty="0" err="1"/>
              <a:t>lại</a:t>
            </a:r>
            <a:r>
              <a:rPr lang="en-US" dirty="0"/>
              <a:t>, </a:t>
            </a:r>
            <a:r>
              <a:rPr lang="en-US" dirty="0" err="1"/>
              <a:t>bỏ</a:t>
            </a:r>
            <a:r>
              <a:rPr lang="en-US" dirty="0"/>
              <a:t> qua jobs </a:t>
            </a:r>
            <a:r>
              <a:rPr lang="en-US" dirty="0" err="1"/>
              <a:t>và</a:t>
            </a:r>
            <a:r>
              <a:rPr lang="en-US" dirty="0"/>
              <a:t> </a:t>
            </a:r>
            <a:r>
              <a:rPr lang="en-US" dirty="0" err="1"/>
              <a:t>quản</a:t>
            </a:r>
            <a:r>
              <a:rPr lang="en-US" dirty="0"/>
              <a:t> </a:t>
            </a:r>
            <a:r>
              <a:rPr lang="en-US" dirty="0" err="1"/>
              <a:t>lý</a:t>
            </a:r>
            <a:r>
              <a:rPr lang="en-US" dirty="0"/>
              <a:t> </a:t>
            </a:r>
            <a:r>
              <a:rPr lang="en-US" dirty="0" err="1"/>
              <a:t>tài</a:t>
            </a:r>
            <a:r>
              <a:rPr lang="en-US" dirty="0"/>
              <a:t> </a:t>
            </a:r>
            <a:r>
              <a:rPr lang="en-US" dirty="0" err="1"/>
              <a:t>nguyên</a:t>
            </a:r>
            <a:r>
              <a:rPr lang="en-US" dirty="0"/>
              <a:t>. </a:t>
            </a:r>
          </a:p>
          <a:p>
            <a:pPr algn="just"/>
            <a:r>
              <a:rPr lang="en-US" dirty="0" err="1"/>
              <a:t>Các</a:t>
            </a:r>
            <a:r>
              <a:rPr lang="en-US" dirty="0"/>
              <a:t> </a:t>
            </a:r>
            <a:r>
              <a:rPr lang="en-US" dirty="0" err="1"/>
              <a:t>công</a:t>
            </a:r>
            <a:r>
              <a:rPr lang="en-US" dirty="0"/>
              <a:t> </a:t>
            </a:r>
            <a:r>
              <a:rPr lang="en-US" dirty="0" err="1"/>
              <a:t>việc</a:t>
            </a:r>
            <a:r>
              <a:rPr lang="en-US" dirty="0"/>
              <a:t> </a:t>
            </a:r>
            <a:r>
              <a:rPr lang="en-US" dirty="0" err="1"/>
              <a:t>hàng</a:t>
            </a:r>
            <a:r>
              <a:rPr lang="en-US" dirty="0"/>
              <a:t> </a:t>
            </a:r>
            <a:r>
              <a:rPr lang="en-US" dirty="0" err="1"/>
              <a:t>loạt</a:t>
            </a:r>
            <a:r>
              <a:rPr lang="en-US" dirty="0"/>
              <a:t> </a:t>
            </a:r>
            <a:r>
              <a:rPr lang="en-US" dirty="0" err="1"/>
              <a:t>đơn</a:t>
            </a:r>
            <a:r>
              <a:rPr lang="en-US" dirty="0"/>
              <a:t> </a:t>
            </a:r>
            <a:r>
              <a:rPr lang="en-US" dirty="0" err="1"/>
              <a:t>giản</a:t>
            </a:r>
            <a:r>
              <a:rPr lang="en-US" dirty="0"/>
              <a:t> </a:t>
            </a:r>
            <a:r>
              <a:rPr lang="en-US" dirty="0" err="1"/>
              <a:t>cũng</a:t>
            </a:r>
            <a:r>
              <a:rPr lang="en-US" dirty="0"/>
              <a:t> </a:t>
            </a:r>
            <a:r>
              <a:rPr lang="en-US" dirty="0" err="1"/>
              <a:t>như</a:t>
            </a:r>
            <a:r>
              <a:rPr lang="en-US" dirty="0"/>
              <a:t> </a:t>
            </a:r>
            <a:r>
              <a:rPr lang="en-US" dirty="0" err="1"/>
              <a:t>phức</a:t>
            </a:r>
            <a:r>
              <a:rPr lang="en-US" dirty="0"/>
              <a:t> </a:t>
            </a:r>
            <a:r>
              <a:rPr lang="en-US" dirty="0" err="1"/>
              <a:t>tạp</a:t>
            </a:r>
            <a:r>
              <a:rPr lang="en-US" dirty="0"/>
              <a:t>, </a:t>
            </a:r>
            <a:r>
              <a:rPr lang="en-US" dirty="0" err="1"/>
              <a:t>khối</a:t>
            </a:r>
            <a:r>
              <a:rPr lang="en-US" dirty="0"/>
              <a:t> </a:t>
            </a:r>
            <a:r>
              <a:rPr lang="en-US" dirty="0" err="1"/>
              <a:t>lượng</a:t>
            </a:r>
            <a:r>
              <a:rPr lang="en-US" dirty="0"/>
              <a:t> </a:t>
            </a:r>
            <a:r>
              <a:rPr lang="en-US" dirty="0" err="1"/>
              <a:t>lớn</a:t>
            </a:r>
            <a:r>
              <a:rPr lang="en-US" dirty="0"/>
              <a:t> </a:t>
            </a:r>
            <a:r>
              <a:rPr lang="en-US" dirty="0" err="1"/>
              <a:t>có</a:t>
            </a:r>
            <a:r>
              <a:rPr lang="en-US" dirty="0"/>
              <a:t> </a:t>
            </a:r>
            <a:r>
              <a:rPr lang="en-US" dirty="0" err="1"/>
              <a:t>thể</a:t>
            </a:r>
            <a:r>
              <a:rPr lang="en-US" dirty="0"/>
              <a:t> </a:t>
            </a:r>
            <a:r>
              <a:rPr lang="en-US" dirty="0" err="1"/>
              <a:t>tận</a:t>
            </a:r>
            <a:r>
              <a:rPr lang="en-US" dirty="0"/>
              <a:t> </a:t>
            </a:r>
            <a:r>
              <a:rPr lang="en-US" dirty="0" err="1"/>
              <a:t>dụng</a:t>
            </a:r>
            <a:r>
              <a:rPr lang="en-US" dirty="0"/>
              <a:t> framework </a:t>
            </a:r>
            <a:r>
              <a:rPr lang="en-US" dirty="0" err="1"/>
              <a:t>có</a:t>
            </a:r>
            <a:r>
              <a:rPr lang="en-US" dirty="0"/>
              <a:t> </a:t>
            </a:r>
            <a:r>
              <a:rPr lang="en-US" dirty="0" err="1"/>
              <a:t>khả</a:t>
            </a:r>
            <a:r>
              <a:rPr lang="en-US" dirty="0"/>
              <a:t> </a:t>
            </a:r>
            <a:r>
              <a:rPr lang="en-US" dirty="0" err="1"/>
              <a:t>năng</a:t>
            </a:r>
            <a:r>
              <a:rPr lang="en-US" dirty="0"/>
              <a:t> </a:t>
            </a:r>
            <a:r>
              <a:rPr lang="en-US" dirty="0" err="1"/>
              <a:t>mở</a:t>
            </a:r>
            <a:r>
              <a:rPr lang="en-US" dirty="0"/>
              <a:t> </a:t>
            </a:r>
            <a:r>
              <a:rPr lang="en-US" dirty="0" err="1"/>
              <a:t>rộng</a:t>
            </a:r>
            <a:r>
              <a:rPr lang="en-US" dirty="0"/>
              <a:t> </a:t>
            </a:r>
            <a:r>
              <a:rPr lang="en-US" dirty="0" err="1"/>
              <a:t>cao</a:t>
            </a:r>
            <a:r>
              <a:rPr lang="en-US" dirty="0"/>
              <a:t> </a:t>
            </a:r>
            <a:r>
              <a:rPr lang="en-US" dirty="0" err="1"/>
              <a:t>để</a:t>
            </a:r>
            <a:r>
              <a:rPr lang="en-US" dirty="0"/>
              <a:t> </a:t>
            </a:r>
            <a:r>
              <a:rPr lang="en-US" dirty="0" err="1"/>
              <a:t>xử</a:t>
            </a:r>
            <a:r>
              <a:rPr lang="en-US" dirty="0"/>
              <a:t> </a:t>
            </a:r>
            <a:r>
              <a:rPr lang="en-US" dirty="0" err="1"/>
              <a:t>lý</a:t>
            </a:r>
            <a:r>
              <a:rPr lang="en-US" dirty="0"/>
              <a:t> </a:t>
            </a:r>
            <a:r>
              <a:rPr lang="en-US" dirty="0" err="1"/>
              <a:t>khối</a:t>
            </a:r>
            <a:r>
              <a:rPr lang="en-US" dirty="0"/>
              <a:t> </a:t>
            </a:r>
            <a:r>
              <a:rPr lang="en-US" dirty="0" err="1"/>
              <a:t>lượng</a:t>
            </a:r>
            <a:r>
              <a:rPr lang="en-US" dirty="0"/>
              <a:t> </a:t>
            </a:r>
            <a:r>
              <a:rPr lang="en-US" dirty="0" err="1"/>
              <a:t>thông</a:t>
            </a:r>
            <a:r>
              <a:rPr lang="en-US" dirty="0"/>
              <a:t> tin </a:t>
            </a:r>
            <a:r>
              <a:rPr lang="en-US" dirty="0" err="1"/>
              <a:t>đáng</a:t>
            </a:r>
            <a:r>
              <a:rPr lang="en-US" dirty="0"/>
              <a:t> </a:t>
            </a:r>
            <a:r>
              <a:rPr lang="en-US" dirty="0" err="1"/>
              <a:t>kể</a:t>
            </a:r>
            <a:r>
              <a:rPr lang="en-US" dirty="0"/>
              <a:t>.</a:t>
            </a:r>
          </a:p>
        </p:txBody>
      </p:sp>
    </p:spTree>
    <p:extLst>
      <p:ext uri="{BB962C8B-B14F-4D97-AF65-F5344CB8AC3E}">
        <p14:creationId xmlns:p14="http://schemas.microsoft.com/office/powerpoint/2010/main" val="55263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Các</a:t>
            </a:r>
            <a:r>
              <a:rPr lang="en-US" b="1" dirty="0"/>
              <a:t> </a:t>
            </a:r>
            <a:r>
              <a:rPr lang="en-US" b="1" dirty="0" err="1"/>
              <a:t>tính</a:t>
            </a:r>
            <a:r>
              <a:rPr lang="en-US" b="1" dirty="0"/>
              <a:t> </a:t>
            </a:r>
            <a:r>
              <a:rPr lang="en-US" b="1" dirty="0" err="1"/>
              <a:t>năng</a:t>
            </a:r>
            <a:endParaRPr lang="en-US" b="1" dirty="0"/>
          </a:p>
        </p:txBody>
      </p:sp>
      <p:sp>
        <p:nvSpPr>
          <p:cNvPr id="3" name="コンテンツ プレースホルダー 2"/>
          <p:cNvSpPr>
            <a:spLocks noGrp="1"/>
          </p:cNvSpPr>
          <p:nvPr>
            <p:ph idx="1"/>
          </p:nvPr>
        </p:nvSpPr>
        <p:spPr/>
        <p:txBody>
          <a:bodyPr/>
          <a:lstStyle/>
          <a:p>
            <a:r>
              <a:rPr lang="en-US" dirty="0" err="1"/>
              <a:t>Quản</a:t>
            </a:r>
            <a:r>
              <a:rPr lang="en-US" dirty="0"/>
              <a:t> </a:t>
            </a:r>
            <a:r>
              <a:rPr lang="en-US" dirty="0" err="1"/>
              <a:t>lý</a:t>
            </a:r>
            <a:r>
              <a:rPr lang="en-US" dirty="0"/>
              <a:t> </a:t>
            </a:r>
            <a:r>
              <a:rPr lang="en-US" dirty="0" err="1"/>
              <a:t>giao</a:t>
            </a:r>
            <a:r>
              <a:rPr lang="en-US" dirty="0"/>
              <a:t> </a:t>
            </a:r>
            <a:r>
              <a:rPr lang="en-US" dirty="0" err="1"/>
              <a:t>dịch</a:t>
            </a:r>
            <a:endParaRPr lang="en-US" dirty="0"/>
          </a:p>
          <a:p>
            <a:r>
              <a:rPr lang="en-US" dirty="0" err="1"/>
              <a:t>Xử</a:t>
            </a:r>
            <a:r>
              <a:rPr lang="en-US" dirty="0"/>
              <a:t> </a:t>
            </a:r>
            <a:r>
              <a:rPr lang="en-US" dirty="0" err="1"/>
              <a:t>lý</a:t>
            </a:r>
            <a:r>
              <a:rPr lang="en-US" dirty="0"/>
              <a:t> </a:t>
            </a:r>
            <a:r>
              <a:rPr lang="en-US" dirty="0" err="1"/>
              <a:t>dựa</a:t>
            </a:r>
            <a:r>
              <a:rPr lang="en-US" dirty="0"/>
              <a:t> </a:t>
            </a:r>
            <a:r>
              <a:rPr lang="en-US" dirty="0" err="1"/>
              <a:t>trên</a:t>
            </a:r>
            <a:r>
              <a:rPr lang="en-US" dirty="0"/>
              <a:t> </a:t>
            </a:r>
            <a:r>
              <a:rPr lang="en-US" dirty="0" err="1"/>
              <a:t>phân</a:t>
            </a:r>
            <a:r>
              <a:rPr lang="en-US" dirty="0"/>
              <a:t> </a:t>
            </a:r>
            <a:r>
              <a:rPr lang="en-US" dirty="0" err="1"/>
              <a:t>đoạn</a:t>
            </a:r>
            <a:endParaRPr lang="en-US" dirty="0"/>
          </a:p>
          <a:p>
            <a:r>
              <a:rPr lang="en-US" dirty="0" err="1"/>
              <a:t>Ghi</a:t>
            </a:r>
            <a:r>
              <a:rPr lang="en-US" dirty="0"/>
              <a:t> log </a:t>
            </a:r>
            <a:r>
              <a:rPr lang="en-US" dirty="0" err="1"/>
              <a:t>và</a:t>
            </a:r>
            <a:r>
              <a:rPr lang="en-US" dirty="0"/>
              <a:t> </a:t>
            </a:r>
            <a:r>
              <a:rPr lang="en-US" dirty="0" err="1"/>
              <a:t>truy</a:t>
            </a:r>
            <a:r>
              <a:rPr lang="en-US" dirty="0"/>
              <a:t> </a:t>
            </a:r>
            <a:r>
              <a:rPr lang="en-US" dirty="0" err="1"/>
              <a:t>vết</a:t>
            </a:r>
            <a:endParaRPr lang="en-US" dirty="0"/>
          </a:p>
          <a:p>
            <a:r>
              <a:rPr lang="en-US" dirty="0"/>
              <a:t>Start/Stop/Restart/Skip Job</a:t>
            </a:r>
          </a:p>
          <a:p>
            <a:r>
              <a:rPr lang="en-US" dirty="0" err="1"/>
              <a:t>Quản</a:t>
            </a:r>
            <a:r>
              <a:rPr lang="en-US" dirty="0"/>
              <a:t> </a:t>
            </a:r>
            <a:r>
              <a:rPr lang="en-US" dirty="0" err="1"/>
              <a:t>lý</a:t>
            </a:r>
            <a:r>
              <a:rPr lang="en-US" dirty="0"/>
              <a:t> </a:t>
            </a:r>
            <a:r>
              <a:rPr lang="en-US" dirty="0" err="1"/>
              <a:t>tài</a:t>
            </a:r>
            <a:r>
              <a:rPr lang="en-US" dirty="0"/>
              <a:t> </a:t>
            </a:r>
            <a:r>
              <a:rPr lang="en-US" dirty="0" err="1"/>
              <a:t>nguyên</a:t>
            </a:r>
            <a:endParaRPr lang="en-US" dirty="0"/>
          </a:p>
          <a:p>
            <a:r>
              <a:rPr lang="en-US" dirty="0" err="1"/>
              <a:t>Giao</a:t>
            </a:r>
            <a:r>
              <a:rPr lang="en-US" dirty="0"/>
              <a:t> </a:t>
            </a:r>
            <a:r>
              <a:rPr lang="en-US" dirty="0" err="1"/>
              <a:t>diện</a:t>
            </a:r>
            <a:r>
              <a:rPr lang="en-US" dirty="0"/>
              <a:t> </a:t>
            </a:r>
            <a:r>
              <a:rPr lang="en-US" dirty="0" err="1"/>
              <a:t>quản</a:t>
            </a:r>
            <a:r>
              <a:rPr lang="en-US" dirty="0"/>
              <a:t> </a:t>
            </a:r>
            <a:r>
              <a:rPr lang="en-US" dirty="0" err="1"/>
              <a:t>trị</a:t>
            </a:r>
            <a:r>
              <a:rPr lang="en-US" dirty="0"/>
              <a:t> </a:t>
            </a:r>
            <a:r>
              <a:rPr lang="en-US" dirty="0" err="1"/>
              <a:t>dựa</a:t>
            </a:r>
            <a:r>
              <a:rPr lang="en-US" dirty="0"/>
              <a:t> </a:t>
            </a:r>
            <a:r>
              <a:rPr lang="en-US" dirty="0" err="1"/>
              <a:t>trên</a:t>
            </a:r>
            <a:r>
              <a:rPr lang="en-US" dirty="0"/>
              <a:t> web (Spring Batch Admin)</a:t>
            </a:r>
          </a:p>
          <a:p>
            <a:pPr marL="0" indent="0">
              <a:buNone/>
            </a:pPr>
            <a:endParaRPr lang="en-US" dirty="0"/>
          </a:p>
        </p:txBody>
      </p:sp>
    </p:spTree>
    <p:extLst>
      <p:ext uri="{BB962C8B-B14F-4D97-AF65-F5344CB8AC3E}">
        <p14:creationId xmlns:p14="http://schemas.microsoft.com/office/powerpoint/2010/main" val="3218942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Các</a:t>
            </a:r>
            <a:r>
              <a:rPr lang="en-US" b="1" dirty="0"/>
              <a:t> </a:t>
            </a:r>
            <a:r>
              <a:rPr lang="en-US" b="1" dirty="0" err="1"/>
              <a:t>đặc</a:t>
            </a:r>
            <a:r>
              <a:rPr lang="en-US" b="1" dirty="0"/>
              <a:t> </a:t>
            </a:r>
            <a:r>
              <a:rPr lang="en-US" b="1" dirty="0" err="1"/>
              <a:t>điểm</a:t>
            </a:r>
            <a:endParaRPr lang="en-US" b="1" dirty="0"/>
          </a:p>
        </p:txBody>
      </p:sp>
      <p:sp>
        <p:nvSpPr>
          <p:cNvPr id="3" name="コンテンツ プレースホルダー 2"/>
          <p:cNvSpPr>
            <a:spLocks noGrp="1"/>
          </p:cNvSpPr>
          <p:nvPr>
            <p:ph idx="1"/>
          </p:nvPr>
        </p:nvSpPr>
        <p:spPr/>
        <p:txBody>
          <a:bodyPr>
            <a:normAutofit fontScale="77500" lnSpcReduction="20000"/>
          </a:bodyPr>
          <a:lstStyle/>
          <a:p>
            <a:r>
              <a:rPr lang="en-US" dirty="0" err="1"/>
              <a:t>Tính</a:t>
            </a:r>
            <a:r>
              <a:rPr lang="en-US" dirty="0"/>
              <a:t> </a:t>
            </a:r>
            <a:r>
              <a:rPr lang="en-US" dirty="0" err="1"/>
              <a:t>linh</a:t>
            </a:r>
            <a:r>
              <a:rPr lang="en-US" dirty="0"/>
              <a:t> </a:t>
            </a:r>
            <a:r>
              <a:rPr lang="en-US" dirty="0" err="1"/>
              <a:t>hoạt</a:t>
            </a:r>
            <a:endParaRPr lang="en-US" dirty="0"/>
          </a:p>
          <a:p>
            <a:pPr lvl="1"/>
            <a:r>
              <a:rPr lang="en-US" dirty="0" err="1"/>
              <a:t>Chỉ</a:t>
            </a:r>
            <a:r>
              <a:rPr lang="en-US" dirty="0"/>
              <a:t> </a:t>
            </a:r>
            <a:r>
              <a:rPr lang="en-US" dirty="0" err="1"/>
              <a:t>cần</a:t>
            </a:r>
            <a:r>
              <a:rPr lang="en-US" dirty="0"/>
              <a:t> </a:t>
            </a:r>
            <a:r>
              <a:rPr lang="en-US" dirty="0" err="1"/>
              <a:t>thay</a:t>
            </a:r>
            <a:r>
              <a:rPr lang="en-US" dirty="0"/>
              <a:t> </a:t>
            </a:r>
            <a:r>
              <a:rPr lang="en-US" dirty="0" err="1"/>
              <a:t>đổi</a:t>
            </a:r>
            <a:r>
              <a:rPr lang="en-US" dirty="0"/>
              <a:t> file XML </a:t>
            </a:r>
            <a:r>
              <a:rPr lang="en-US" dirty="0" err="1"/>
              <a:t>để</a:t>
            </a:r>
            <a:r>
              <a:rPr lang="en-US" dirty="0"/>
              <a:t> </a:t>
            </a:r>
            <a:r>
              <a:rPr lang="en-US" dirty="0" err="1"/>
              <a:t>thay</a:t>
            </a:r>
            <a:r>
              <a:rPr lang="en-US" dirty="0"/>
              <a:t> </a:t>
            </a:r>
            <a:r>
              <a:rPr lang="en-US" dirty="0" err="1"/>
              <a:t>đổi</a:t>
            </a:r>
            <a:r>
              <a:rPr lang="en-US" dirty="0"/>
              <a:t> </a:t>
            </a:r>
            <a:r>
              <a:rPr lang="en-US" dirty="0" err="1"/>
              <a:t>thứ</a:t>
            </a:r>
            <a:r>
              <a:rPr lang="en-US" dirty="0"/>
              <a:t> </a:t>
            </a:r>
            <a:r>
              <a:rPr lang="en-US" dirty="0" err="1"/>
              <a:t>tự</a:t>
            </a:r>
            <a:r>
              <a:rPr lang="en-US" dirty="0"/>
              <a:t> </a:t>
            </a:r>
            <a:r>
              <a:rPr lang="en-US" dirty="0" err="1"/>
              <a:t>xử</a:t>
            </a:r>
            <a:r>
              <a:rPr lang="en-US" dirty="0"/>
              <a:t> </a:t>
            </a:r>
            <a:r>
              <a:rPr lang="en-US" dirty="0" err="1"/>
              <a:t>lý</a:t>
            </a:r>
            <a:r>
              <a:rPr lang="en-US" dirty="0"/>
              <a:t> </a:t>
            </a:r>
            <a:r>
              <a:rPr lang="en-US" dirty="0" err="1"/>
              <a:t>trong</a:t>
            </a:r>
            <a:r>
              <a:rPr lang="en-US" dirty="0"/>
              <a:t> </a:t>
            </a:r>
            <a:r>
              <a:rPr lang="en-US" dirty="0" err="1"/>
              <a:t>một</a:t>
            </a:r>
            <a:r>
              <a:rPr lang="en-US" dirty="0"/>
              <a:t> </a:t>
            </a:r>
            <a:r>
              <a:rPr lang="en-US" dirty="0" err="1"/>
              <a:t>ứng</a:t>
            </a:r>
            <a:r>
              <a:rPr lang="en-US" dirty="0"/>
              <a:t> </a:t>
            </a:r>
            <a:r>
              <a:rPr lang="en-US" dirty="0" err="1"/>
              <a:t>dụng</a:t>
            </a:r>
            <a:endParaRPr lang="en-US" dirty="0"/>
          </a:p>
          <a:p>
            <a:r>
              <a:rPr lang="en-US" dirty="0" err="1"/>
              <a:t>Khả</a:t>
            </a:r>
            <a:r>
              <a:rPr lang="en-US" dirty="0"/>
              <a:t> </a:t>
            </a:r>
            <a:r>
              <a:rPr lang="en-US" dirty="0" err="1"/>
              <a:t>năng</a:t>
            </a:r>
            <a:r>
              <a:rPr lang="en-US" dirty="0"/>
              <a:t> </a:t>
            </a:r>
            <a:r>
              <a:rPr lang="en-US" dirty="0" err="1"/>
              <a:t>bảo</a:t>
            </a:r>
            <a:r>
              <a:rPr lang="en-US" dirty="0"/>
              <a:t> </a:t>
            </a:r>
            <a:r>
              <a:rPr lang="en-US" dirty="0" err="1"/>
              <a:t>trì</a:t>
            </a:r>
            <a:endParaRPr lang="en-US" dirty="0"/>
          </a:p>
          <a:p>
            <a:pPr lvl="1"/>
            <a:r>
              <a:rPr lang="en-US" dirty="0"/>
              <a:t>Spring Batch Job </a:t>
            </a:r>
            <a:r>
              <a:rPr lang="en-US" dirty="0" err="1"/>
              <a:t>bao</a:t>
            </a:r>
            <a:r>
              <a:rPr lang="en-US" dirty="0"/>
              <a:t> </a:t>
            </a:r>
            <a:r>
              <a:rPr lang="en-US" dirty="0" err="1"/>
              <a:t>gồm</a:t>
            </a:r>
            <a:r>
              <a:rPr lang="en-US" dirty="0"/>
              <a:t> </a:t>
            </a:r>
            <a:r>
              <a:rPr lang="en-US" dirty="0" err="1"/>
              <a:t>các</a:t>
            </a:r>
            <a:r>
              <a:rPr lang="en-US" dirty="0"/>
              <a:t> Step, </a:t>
            </a:r>
            <a:r>
              <a:rPr lang="en-US" dirty="0" err="1"/>
              <a:t>mỗi</a:t>
            </a:r>
            <a:r>
              <a:rPr lang="en-US" dirty="0"/>
              <a:t> Step </a:t>
            </a:r>
            <a:r>
              <a:rPr lang="en-US" dirty="0" err="1"/>
              <a:t>có</a:t>
            </a:r>
            <a:r>
              <a:rPr lang="en-US" dirty="0"/>
              <a:t> </a:t>
            </a:r>
            <a:r>
              <a:rPr lang="en-US" dirty="0" err="1"/>
              <a:t>thể</a:t>
            </a:r>
            <a:r>
              <a:rPr lang="en-US" dirty="0"/>
              <a:t> </a:t>
            </a:r>
            <a:r>
              <a:rPr lang="en-US" dirty="0" err="1"/>
              <a:t>được</a:t>
            </a:r>
            <a:r>
              <a:rPr lang="en-US" dirty="0"/>
              <a:t> </a:t>
            </a:r>
            <a:r>
              <a:rPr lang="en-US" dirty="0" err="1"/>
              <a:t>tách</a:t>
            </a:r>
            <a:r>
              <a:rPr lang="en-US" dirty="0"/>
              <a:t> </a:t>
            </a:r>
            <a:r>
              <a:rPr lang="en-US" dirty="0" err="1"/>
              <a:t>riêng</a:t>
            </a:r>
            <a:r>
              <a:rPr lang="en-US" dirty="0"/>
              <a:t>, </a:t>
            </a:r>
            <a:r>
              <a:rPr lang="en-US" dirty="0" err="1"/>
              <a:t>kiểm</a:t>
            </a:r>
            <a:r>
              <a:rPr lang="en-US" dirty="0"/>
              <a:t> </a:t>
            </a:r>
            <a:r>
              <a:rPr lang="en-US" dirty="0" err="1"/>
              <a:t>tra</a:t>
            </a:r>
            <a:r>
              <a:rPr lang="en-US" dirty="0"/>
              <a:t>, </a:t>
            </a:r>
            <a:r>
              <a:rPr lang="en-US" dirty="0" err="1"/>
              <a:t>cập</a:t>
            </a:r>
            <a:r>
              <a:rPr lang="en-US" dirty="0"/>
              <a:t> </a:t>
            </a:r>
            <a:r>
              <a:rPr lang="en-US" dirty="0" err="1"/>
              <a:t>nhật</a:t>
            </a:r>
            <a:r>
              <a:rPr lang="en-US" dirty="0"/>
              <a:t> </a:t>
            </a:r>
            <a:r>
              <a:rPr lang="en-US" dirty="0" err="1"/>
              <a:t>mà</a:t>
            </a:r>
            <a:r>
              <a:rPr lang="en-US" dirty="0"/>
              <a:t> </a:t>
            </a:r>
            <a:r>
              <a:rPr lang="en-US" dirty="0" err="1"/>
              <a:t>không</a:t>
            </a:r>
            <a:r>
              <a:rPr lang="en-US" dirty="0"/>
              <a:t> </a:t>
            </a:r>
            <a:r>
              <a:rPr lang="en-US" dirty="0" err="1"/>
              <a:t>ảnh</a:t>
            </a:r>
            <a:r>
              <a:rPr lang="en-US" dirty="0"/>
              <a:t> </a:t>
            </a:r>
            <a:r>
              <a:rPr lang="en-US" dirty="0" err="1"/>
              <a:t>hưởng</a:t>
            </a:r>
            <a:r>
              <a:rPr lang="en-US" dirty="0"/>
              <a:t> </a:t>
            </a:r>
            <a:r>
              <a:rPr lang="en-US" dirty="0" err="1"/>
              <a:t>đến</a:t>
            </a:r>
            <a:r>
              <a:rPr lang="en-US" dirty="0"/>
              <a:t> Step </a:t>
            </a:r>
            <a:r>
              <a:rPr lang="en-US" dirty="0" err="1"/>
              <a:t>khác</a:t>
            </a:r>
            <a:endParaRPr lang="en-US" dirty="0"/>
          </a:p>
          <a:p>
            <a:r>
              <a:rPr lang="en-US" dirty="0" err="1"/>
              <a:t>Khả</a:t>
            </a:r>
            <a:r>
              <a:rPr lang="en-US" dirty="0"/>
              <a:t> </a:t>
            </a:r>
            <a:r>
              <a:rPr lang="en-US" dirty="0" err="1"/>
              <a:t>năng</a:t>
            </a:r>
            <a:r>
              <a:rPr lang="en-US" dirty="0"/>
              <a:t> </a:t>
            </a:r>
            <a:r>
              <a:rPr lang="en-US" dirty="0" err="1"/>
              <a:t>mở</a:t>
            </a:r>
            <a:r>
              <a:rPr lang="en-US" dirty="0"/>
              <a:t> </a:t>
            </a:r>
            <a:r>
              <a:rPr lang="en-US" dirty="0" err="1"/>
              <a:t>rộng</a:t>
            </a:r>
            <a:endParaRPr lang="en-US" dirty="0"/>
          </a:p>
          <a:p>
            <a:r>
              <a:rPr lang="en-US" dirty="0" err="1"/>
              <a:t>Độ</a:t>
            </a:r>
            <a:r>
              <a:rPr lang="en-US" dirty="0"/>
              <a:t> tin </a:t>
            </a:r>
            <a:r>
              <a:rPr lang="en-US" dirty="0" err="1"/>
              <a:t>cậy</a:t>
            </a:r>
            <a:endParaRPr lang="en-US" dirty="0"/>
          </a:p>
          <a:p>
            <a:pPr lvl="1"/>
            <a:r>
              <a:rPr lang="en-US" dirty="0" err="1"/>
              <a:t>Trong</a:t>
            </a:r>
            <a:r>
              <a:rPr lang="en-US" dirty="0"/>
              <a:t> </a:t>
            </a:r>
            <a:r>
              <a:rPr lang="en-US" dirty="0" err="1"/>
              <a:t>trường</a:t>
            </a:r>
            <a:r>
              <a:rPr lang="en-US" dirty="0"/>
              <a:t> </a:t>
            </a:r>
            <a:r>
              <a:rPr lang="en-US" dirty="0" err="1"/>
              <a:t>hợp</a:t>
            </a:r>
            <a:r>
              <a:rPr lang="en-US" dirty="0"/>
              <a:t> </a:t>
            </a:r>
            <a:r>
              <a:rPr lang="en-US" dirty="0" err="1"/>
              <a:t>xảy</a:t>
            </a:r>
            <a:r>
              <a:rPr lang="en-US" dirty="0"/>
              <a:t> </a:t>
            </a:r>
            <a:r>
              <a:rPr lang="en-US" dirty="0" err="1"/>
              <a:t>ra</a:t>
            </a:r>
            <a:r>
              <a:rPr lang="en-US" dirty="0"/>
              <a:t> </a:t>
            </a:r>
            <a:r>
              <a:rPr lang="en-US" dirty="0" err="1"/>
              <a:t>lỗi</a:t>
            </a:r>
            <a:r>
              <a:rPr lang="en-US" dirty="0"/>
              <a:t>, </a:t>
            </a:r>
            <a:r>
              <a:rPr lang="en-US" dirty="0" err="1"/>
              <a:t>có</a:t>
            </a:r>
            <a:r>
              <a:rPr lang="en-US" dirty="0"/>
              <a:t> </a:t>
            </a:r>
            <a:r>
              <a:rPr lang="en-US" dirty="0" err="1"/>
              <a:t>thể</a:t>
            </a:r>
            <a:r>
              <a:rPr lang="en-US" dirty="0"/>
              <a:t> </a:t>
            </a:r>
            <a:r>
              <a:rPr lang="en-US" dirty="0" err="1"/>
              <a:t>bắt</a:t>
            </a:r>
            <a:r>
              <a:rPr lang="en-US" dirty="0"/>
              <a:t> </a:t>
            </a:r>
            <a:r>
              <a:rPr lang="en-US" dirty="0" err="1"/>
              <a:t>đầu</a:t>
            </a:r>
            <a:r>
              <a:rPr lang="en-US" dirty="0"/>
              <a:t> </a:t>
            </a:r>
            <a:r>
              <a:rPr lang="en-US" dirty="0" err="1"/>
              <a:t>lại</a:t>
            </a:r>
            <a:r>
              <a:rPr lang="en-US" dirty="0"/>
              <a:t> </a:t>
            </a:r>
            <a:r>
              <a:rPr lang="en-US" dirty="0" err="1"/>
              <a:t>công</a:t>
            </a:r>
            <a:r>
              <a:rPr lang="en-US" dirty="0"/>
              <a:t> </a:t>
            </a:r>
            <a:r>
              <a:rPr lang="en-US" dirty="0" err="1"/>
              <a:t>việc</a:t>
            </a:r>
            <a:r>
              <a:rPr lang="en-US" dirty="0"/>
              <a:t> </a:t>
            </a:r>
            <a:r>
              <a:rPr lang="en-US" dirty="0" err="1"/>
              <a:t>từ</a:t>
            </a:r>
            <a:r>
              <a:rPr lang="en-US" dirty="0"/>
              <a:t> </a:t>
            </a:r>
            <a:r>
              <a:rPr lang="en-US" dirty="0" err="1"/>
              <a:t>chính</a:t>
            </a:r>
            <a:r>
              <a:rPr lang="en-US" dirty="0"/>
              <a:t> </a:t>
            </a:r>
            <a:r>
              <a:rPr lang="en-US" dirty="0" err="1"/>
              <a:t>xác</a:t>
            </a:r>
            <a:r>
              <a:rPr lang="en-US" dirty="0"/>
              <a:t> </a:t>
            </a:r>
            <a:r>
              <a:rPr lang="en-US" dirty="0" err="1"/>
              <a:t>ví</a:t>
            </a:r>
            <a:r>
              <a:rPr lang="en-US" dirty="0"/>
              <a:t> </a:t>
            </a:r>
            <a:r>
              <a:rPr lang="en-US" dirty="0" err="1"/>
              <a:t>trí</a:t>
            </a:r>
            <a:r>
              <a:rPr lang="en-US" dirty="0"/>
              <a:t> </a:t>
            </a:r>
            <a:r>
              <a:rPr lang="en-US" dirty="0" err="1"/>
              <a:t>đã</a:t>
            </a:r>
            <a:r>
              <a:rPr lang="en-US" dirty="0"/>
              <a:t> </a:t>
            </a:r>
            <a:r>
              <a:rPr lang="en-US" dirty="0" err="1"/>
              <a:t>dừng</a:t>
            </a:r>
            <a:r>
              <a:rPr lang="en-US" dirty="0"/>
              <a:t>, </a:t>
            </a:r>
            <a:r>
              <a:rPr lang="en-US" dirty="0" err="1"/>
              <a:t>bằng</a:t>
            </a:r>
            <a:r>
              <a:rPr lang="en-US" dirty="0"/>
              <a:t> </a:t>
            </a:r>
            <a:r>
              <a:rPr lang="en-US" dirty="0" err="1"/>
              <a:t>cách</a:t>
            </a:r>
            <a:r>
              <a:rPr lang="en-US" dirty="0"/>
              <a:t> </a:t>
            </a:r>
            <a:r>
              <a:rPr lang="en-US" dirty="0" err="1"/>
              <a:t>tách</a:t>
            </a:r>
            <a:r>
              <a:rPr lang="en-US" dirty="0"/>
              <a:t> </a:t>
            </a:r>
            <a:r>
              <a:rPr lang="en-US" dirty="0" err="1"/>
              <a:t>các</a:t>
            </a:r>
            <a:r>
              <a:rPr lang="en-US" dirty="0"/>
              <a:t> Step </a:t>
            </a:r>
            <a:r>
              <a:rPr lang="en-US" dirty="0" err="1"/>
              <a:t>riêng</a:t>
            </a:r>
            <a:r>
              <a:rPr lang="en-US" dirty="0"/>
              <a:t> </a:t>
            </a:r>
            <a:r>
              <a:rPr lang="en-US" dirty="0" err="1"/>
              <a:t>rẽ</a:t>
            </a:r>
            <a:r>
              <a:rPr lang="en-US" dirty="0"/>
              <a:t>.</a:t>
            </a:r>
          </a:p>
          <a:p>
            <a:r>
              <a:rPr lang="en-US" dirty="0" err="1"/>
              <a:t>Hỗ</a:t>
            </a:r>
            <a:r>
              <a:rPr lang="en-US" dirty="0"/>
              <a:t> </a:t>
            </a:r>
            <a:r>
              <a:rPr lang="en-US" dirty="0" err="1"/>
              <a:t>trợ</a:t>
            </a:r>
            <a:r>
              <a:rPr lang="en-US" dirty="0"/>
              <a:t> </a:t>
            </a:r>
            <a:r>
              <a:rPr lang="en-US" dirty="0" err="1"/>
              <a:t>nhiều</a:t>
            </a:r>
            <a:r>
              <a:rPr lang="en-US" dirty="0"/>
              <a:t> </a:t>
            </a:r>
            <a:r>
              <a:rPr lang="en-US" dirty="0" err="1"/>
              <a:t>định</a:t>
            </a:r>
            <a:r>
              <a:rPr lang="en-US" dirty="0"/>
              <a:t> </a:t>
            </a:r>
            <a:r>
              <a:rPr lang="en-US" dirty="0" err="1"/>
              <a:t>dạng</a:t>
            </a:r>
            <a:r>
              <a:rPr lang="en-US" dirty="0"/>
              <a:t> </a:t>
            </a:r>
            <a:r>
              <a:rPr lang="en-US" dirty="0" err="1"/>
              <a:t>tệp</a:t>
            </a:r>
            <a:endParaRPr lang="en-US" dirty="0"/>
          </a:p>
          <a:p>
            <a:pPr lvl="1"/>
            <a:r>
              <a:rPr lang="en-US" dirty="0"/>
              <a:t>Spring Batch </a:t>
            </a:r>
            <a:r>
              <a:rPr lang="en-US" dirty="0" err="1"/>
              <a:t>cung</a:t>
            </a:r>
            <a:r>
              <a:rPr lang="en-US" dirty="0"/>
              <a:t> </a:t>
            </a:r>
            <a:r>
              <a:rPr lang="en-US" dirty="0" err="1"/>
              <a:t>cấp</a:t>
            </a:r>
            <a:r>
              <a:rPr lang="en-US" dirty="0"/>
              <a:t> </a:t>
            </a:r>
            <a:r>
              <a:rPr lang="en-US" dirty="0" err="1"/>
              <a:t>một</a:t>
            </a:r>
            <a:r>
              <a:rPr lang="en-US" dirty="0"/>
              <a:t> </a:t>
            </a:r>
            <a:r>
              <a:rPr lang="en-US" dirty="0" err="1"/>
              <a:t>lượng</a:t>
            </a:r>
            <a:r>
              <a:rPr lang="en-US" dirty="0"/>
              <a:t> </a:t>
            </a:r>
            <a:r>
              <a:rPr lang="en-US" dirty="0" err="1"/>
              <a:t>lớn</a:t>
            </a:r>
            <a:r>
              <a:rPr lang="en-US" dirty="0"/>
              <a:t> </a:t>
            </a:r>
            <a:r>
              <a:rPr lang="en-US" dirty="0" err="1"/>
              <a:t>trình</a:t>
            </a:r>
            <a:r>
              <a:rPr lang="en-US" dirty="0"/>
              <a:t> </a:t>
            </a:r>
            <a:r>
              <a:rPr lang="en-US" dirty="0" err="1"/>
              <a:t>đọc</a:t>
            </a:r>
            <a:r>
              <a:rPr lang="en-US" dirty="0"/>
              <a:t> </a:t>
            </a:r>
            <a:r>
              <a:rPr lang="en-US" dirty="0" err="1"/>
              <a:t>ghi</a:t>
            </a:r>
            <a:r>
              <a:rPr lang="en-US" dirty="0"/>
              <a:t> </a:t>
            </a:r>
            <a:r>
              <a:rPr lang="en-US" dirty="0" err="1"/>
              <a:t>như</a:t>
            </a:r>
            <a:r>
              <a:rPr lang="en-US" dirty="0"/>
              <a:t>: XML, CSV, MYSQL, Hibernate, JDBC, …</a:t>
            </a:r>
          </a:p>
          <a:p>
            <a:r>
              <a:rPr lang="en-US" dirty="0" err="1"/>
              <a:t>Có</a:t>
            </a:r>
            <a:r>
              <a:rPr lang="en-US" dirty="0"/>
              <a:t> </a:t>
            </a:r>
            <a:r>
              <a:rPr lang="en-US" dirty="0" err="1"/>
              <a:t>nhiều</a:t>
            </a:r>
            <a:r>
              <a:rPr lang="en-US" dirty="0"/>
              <a:t> </a:t>
            </a:r>
            <a:r>
              <a:rPr lang="en-US" dirty="0" err="1"/>
              <a:t>cách</a:t>
            </a:r>
            <a:r>
              <a:rPr lang="en-US" dirty="0"/>
              <a:t> </a:t>
            </a:r>
            <a:r>
              <a:rPr lang="en-US" dirty="0" err="1"/>
              <a:t>để</a:t>
            </a:r>
            <a:r>
              <a:rPr lang="en-US" dirty="0"/>
              <a:t> </a:t>
            </a:r>
            <a:r>
              <a:rPr lang="en-US" dirty="0" err="1"/>
              <a:t>khởi</a:t>
            </a:r>
            <a:r>
              <a:rPr lang="en-US" dirty="0"/>
              <a:t> </a:t>
            </a:r>
            <a:r>
              <a:rPr lang="en-US" dirty="0" err="1"/>
              <a:t>chạy</a:t>
            </a:r>
            <a:endParaRPr lang="en-US" dirty="0"/>
          </a:p>
          <a:p>
            <a:pPr lvl="1"/>
            <a:r>
              <a:rPr lang="en-US" dirty="0" err="1"/>
              <a:t>Có</a:t>
            </a:r>
            <a:r>
              <a:rPr lang="en-US" dirty="0"/>
              <a:t> </a:t>
            </a:r>
            <a:r>
              <a:rPr lang="en-US" dirty="0" err="1"/>
              <a:t>thể</a:t>
            </a:r>
            <a:r>
              <a:rPr lang="en-US" dirty="0"/>
              <a:t> </a:t>
            </a:r>
            <a:r>
              <a:rPr lang="en-US" dirty="0" err="1"/>
              <a:t>khởi</a:t>
            </a:r>
            <a:r>
              <a:rPr lang="en-US" dirty="0"/>
              <a:t> </a:t>
            </a:r>
            <a:r>
              <a:rPr lang="en-US" dirty="0" err="1"/>
              <a:t>chạy</a:t>
            </a:r>
            <a:r>
              <a:rPr lang="en-US" dirty="0"/>
              <a:t> Spring Batch </a:t>
            </a:r>
            <a:r>
              <a:rPr lang="en-US" dirty="0" err="1"/>
              <a:t>bằng</a:t>
            </a:r>
            <a:r>
              <a:rPr lang="en-US" dirty="0"/>
              <a:t> </a:t>
            </a:r>
            <a:r>
              <a:rPr lang="en-US" dirty="0" err="1"/>
              <a:t>các</a:t>
            </a:r>
            <a:r>
              <a:rPr lang="en-US" dirty="0"/>
              <a:t> </a:t>
            </a:r>
            <a:r>
              <a:rPr lang="en-US" dirty="0" err="1"/>
              <a:t>ứng</a:t>
            </a:r>
            <a:r>
              <a:rPr lang="en-US" dirty="0"/>
              <a:t> </a:t>
            </a:r>
            <a:r>
              <a:rPr lang="en-US" dirty="0" err="1"/>
              <a:t>dụng</a:t>
            </a:r>
            <a:r>
              <a:rPr lang="en-US" dirty="0"/>
              <a:t> web, </a:t>
            </a:r>
            <a:r>
              <a:rPr lang="en-US" dirty="0" err="1"/>
              <a:t>chương</a:t>
            </a:r>
            <a:r>
              <a:rPr lang="en-US" dirty="0"/>
              <a:t> </a:t>
            </a:r>
            <a:r>
              <a:rPr lang="en-US" dirty="0" err="1"/>
              <a:t>trình</a:t>
            </a:r>
            <a:r>
              <a:rPr lang="en-US" dirty="0"/>
              <a:t> Java hay </a:t>
            </a:r>
            <a:r>
              <a:rPr lang="en-US" dirty="0" err="1"/>
              <a:t>dòng</a:t>
            </a:r>
            <a:r>
              <a:rPr lang="en-US" dirty="0"/>
              <a:t> </a:t>
            </a:r>
            <a:r>
              <a:rPr lang="en-US" dirty="0" err="1"/>
              <a:t>lệnh</a:t>
            </a:r>
            <a:r>
              <a:rPr lang="en-US" dirty="0"/>
              <a:t>, …</a:t>
            </a:r>
          </a:p>
        </p:txBody>
      </p:sp>
    </p:spTree>
    <p:extLst>
      <p:ext uri="{BB962C8B-B14F-4D97-AF65-F5344CB8AC3E}">
        <p14:creationId xmlns:p14="http://schemas.microsoft.com/office/powerpoint/2010/main" val="2905796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343025" y="2157783"/>
            <a:ext cx="6753225" cy="3962276"/>
          </a:xfrm>
          <a:prstGeom prst="rect">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sp>
        <p:nvSpPr>
          <p:cNvPr id="2" name="タイトル 1"/>
          <p:cNvSpPr>
            <a:spLocks noGrp="1"/>
          </p:cNvSpPr>
          <p:nvPr>
            <p:ph type="title"/>
          </p:nvPr>
        </p:nvSpPr>
        <p:spPr/>
        <p:txBody>
          <a:bodyPr>
            <a:normAutofit fontScale="90000"/>
          </a:bodyPr>
          <a:lstStyle/>
          <a:p>
            <a:r>
              <a:rPr lang="en-US" b="1" dirty="0" err="1"/>
              <a:t>Kiến</a:t>
            </a:r>
            <a:r>
              <a:rPr lang="en-US" b="1" dirty="0"/>
              <a:t> </a:t>
            </a:r>
            <a:r>
              <a:rPr lang="en-US" b="1" dirty="0" err="1"/>
              <a:t>trúc</a:t>
            </a:r>
            <a:r>
              <a:rPr lang="en-US" b="1" dirty="0"/>
              <a:t> </a:t>
            </a:r>
            <a:r>
              <a:rPr lang="en-US" b="1" dirty="0" err="1"/>
              <a:t>của</a:t>
            </a:r>
            <a:r>
              <a:rPr lang="en-US" b="1" dirty="0"/>
              <a:t> Spring Batch</a:t>
            </a:r>
          </a:p>
        </p:txBody>
      </p:sp>
      <p:pic>
        <p:nvPicPr>
          <p:cNvPr id="1026" name="Picture 2" descr="Hình 1.1: Kiến trúc phân lớp hàng loạt mùa xuâ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025" y="2211426"/>
            <a:ext cx="3705225" cy="3889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641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Các</a:t>
            </a:r>
            <a:r>
              <a:rPr lang="en-US" b="1" dirty="0"/>
              <a:t> </a:t>
            </a:r>
            <a:r>
              <a:rPr lang="en-US" b="1" dirty="0" err="1"/>
              <a:t>thành</a:t>
            </a:r>
            <a:r>
              <a:rPr lang="en-US" b="1" dirty="0"/>
              <a:t> </a:t>
            </a:r>
            <a:r>
              <a:rPr lang="en-US" b="1" dirty="0" err="1"/>
              <a:t>phần</a:t>
            </a:r>
            <a:r>
              <a:rPr lang="en-US" b="1" dirty="0"/>
              <a:t> </a:t>
            </a:r>
            <a:r>
              <a:rPr lang="en-US" b="1" dirty="0" err="1"/>
              <a:t>của</a:t>
            </a:r>
            <a:r>
              <a:rPr lang="en-US" b="1" dirty="0"/>
              <a:t> spring batch</a:t>
            </a:r>
          </a:p>
        </p:txBody>
      </p:sp>
      <p:sp>
        <p:nvSpPr>
          <p:cNvPr id="3" name="コンテンツ プレースホルダー 2"/>
          <p:cNvSpPr>
            <a:spLocks noGrp="1"/>
          </p:cNvSpPr>
          <p:nvPr>
            <p:ph idx="1"/>
          </p:nvPr>
        </p:nvSpPr>
        <p:spPr/>
        <p:txBody>
          <a:bodyPr/>
          <a:lstStyle/>
          <a:p>
            <a:endParaRPr lang="en-US"/>
          </a:p>
        </p:txBody>
      </p:sp>
      <p:pic>
        <p:nvPicPr>
          <p:cNvPr id="5" name="コンテンツ プレースホルダ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664" y="2530432"/>
            <a:ext cx="8199089" cy="3266304"/>
          </a:xfrm>
          <a:prstGeom prst="rect">
            <a:avLst/>
          </a:prstGeom>
        </p:spPr>
      </p:pic>
    </p:spTree>
    <p:extLst>
      <p:ext uri="{BB962C8B-B14F-4D97-AF65-F5344CB8AC3E}">
        <p14:creationId xmlns:p14="http://schemas.microsoft.com/office/powerpoint/2010/main" val="2482999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160795" y="2277428"/>
            <a:ext cx="7949565" cy="380176"/>
          </a:xfrm>
        </p:spPr>
        <p:txBody>
          <a:bodyPr>
            <a:normAutofit lnSpcReduction="10000"/>
          </a:bodyPr>
          <a:lstStyle/>
          <a:p>
            <a:pPr marL="0" indent="0">
              <a:buNone/>
            </a:pPr>
            <a:r>
              <a:rPr lang="en-US" sz="1950" b="1" dirty="0" err="1"/>
              <a:t>Gradle</a:t>
            </a:r>
            <a:r>
              <a:rPr lang="en-US" sz="1950" b="1" dirty="0"/>
              <a:t> Dependencies: </a:t>
            </a:r>
            <a:r>
              <a:rPr lang="en-US" sz="1950" b="1" dirty="0" err="1"/>
              <a:t>Thêm</a:t>
            </a:r>
            <a:r>
              <a:rPr lang="en-US" sz="1950" b="1" dirty="0"/>
              <a:t> dependency </a:t>
            </a:r>
            <a:r>
              <a:rPr lang="en-US" sz="1950" b="1" dirty="0" err="1"/>
              <a:t>của</a:t>
            </a:r>
            <a:r>
              <a:rPr lang="en-US" sz="1950" b="1" dirty="0"/>
              <a:t> spring batch</a:t>
            </a:r>
            <a:endParaRPr lang="en-US" b="1" dirty="0"/>
          </a:p>
        </p:txBody>
      </p:sp>
      <p:grpSp>
        <p:nvGrpSpPr>
          <p:cNvPr id="7" name="グループ化 6"/>
          <p:cNvGrpSpPr/>
          <p:nvPr/>
        </p:nvGrpSpPr>
        <p:grpSpPr>
          <a:xfrm>
            <a:off x="106825" y="3021621"/>
            <a:ext cx="9690658" cy="2662609"/>
            <a:chOff x="131477" y="2927610"/>
            <a:chExt cx="11926964" cy="3277057"/>
          </a:xfrm>
        </p:grpSpPr>
        <p:pic>
          <p:nvPicPr>
            <p:cNvPr id="5" name="図 4"/>
            <p:cNvPicPr>
              <a:picLocks noChangeAspect="1"/>
            </p:cNvPicPr>
            <p:nvPr/>
          </p:nvPicPr>
          <p:blipFill>
            <a:blip r:embed="rId2"/>
            <a:stretch>
              <a:fillRect/>
            </a:stretch>
          </p:blipFill>
          <p:spPr>
            <a:xfrm>
              <a:off x="131477" y="2927610"/>
              <a:ext cx="11926964" cy="3277057"/>
            </a:xfrm>
            <a:prstGeom prst="rect">
              <a:avLst/>
            </a:prstGeom>
          </p:spPr>
        </p:pic>
        <p:sp>
          <p:nvSpPr>
            <p:cNvPr id="6" name="正方形/長方形 5"/>
            <p:cNvSpPr/>
            <p:nvPr/>
          </p:nvSpPr>
          <p:spPr>
            <a:xfrm>
              <a:off x="1202919" y="3810000"/>
              <a:ext cx="9910558" cy="3282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Tree>
    <p:extLst>
      <p:ext uri="{BB962C8B-B14F-4D97-AF65-F5344CB8AC3E}">
        <p14:creationId xmlns:p14="http://schemas.microsoft.com/office/powerpoint/2010/main" val="10812600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2232553" cy="3417570"/>
          </a:xfrm>
        </p:spPr>
        <p:txBody>
          <a:bodyPr/>
          <a:lstStyle/>
          <a:p>
            <a:r>
              <a:rPr lang="en-US" dirty="0"/>
              <a:t>Refresh </a:t>
            </a:r>
            <a:r>
              <a:rPr lang="en-US" dirty="0" err="1"/>
              <a:t>Gradle</a:t>
            </a:r>
            <a:r>
              <a:rPr lang="en-US" dirty="0"/>
              <a:t> </a:t>
            </a:r>
            <a:r>
              <a:rPr lang="en-US" dirty="0" err="1"/>
              <a:t>để</a:t>
            </a:r>
            <a:r>
              <a:rPr lang="en-US" dirty="0"/>
              <a:t> </a:t>
            </a:r>
            <a:r>
              <a:rPr lang="en-US" dirty="0" err="1"/>
              <a:t>lấy</a:t>
            </a:r>
            <a:r>
              <a:rPr lang="en-US" dirty="0"/>
              <a:t> </a:t>
            </a:r>
            <a:r>
              <a:rPr lang="en-US" dirty="0" err="1"/>
              <a:t>thư</a:t>
            </a:r>
            <a:r>
              <a:rPr lang="en-US" dirty="0"/>
              <a:t> </a:t>
            </a:r>
            <a:r>
              <a:rPr lang="en-US" dirty="0" err="1"/>
              <a:t>viện</a:t>
            </a:r>
            <a:r>
              <a:rPr lang="en-US" dirty="0"/>
              <a:t> </a:t>
            </a:r>
            <a:r>
              <a:rPr lang="en-US" dirty="0" err="1"/>
              <a:t>vừa</a:t>
            </a:r>
            <a:r>
              <a:rPr lang="en-US" dirty="0"/>
              <a:t> </a:t>
            </a:r>
            <a:r>
              <a:rPr lang="en-US" dirty="0" err="1"/>
              <a:t>thêm</a:t>
            </a:r>
            <a:endParaRPr lang="en-US" dirty="0"/>
          </a:p>
        </p:txBody>
      </p:sp>
      <p:pic>
        <p:nvPicPr>
          <p:cNvPr id="6" name="図 5"/>
          <p:cNvPicPr>
            <a:picLocks noChangeAspect="1"/>
          </p:cNvPicPr>
          <p:nvPr/>
        </p:nvPicPr>
        <p:blipFill>
          <a:blip r:embed="rId2"/>
          <a:stretch>
            <a:fillRect/>
          </a:stretch>
        </p:blipFill>
        <p:spPr>
          <a:xfrm>
            <a:off x="3514725" y="2277428"/>
            <a:ext cx="6141955" cy="3725317"/>
          </a:xfrm>
          <a:prstGeom prst="rect">
            <a:avLst/>
          </a:prstGeom>
        </p:spPr>
      </p:pic>
    </p:spTree>
    <p:extLst>
      <p:ext uri="{BB962C8B-B14F-4D97-AF65-F5344CB8AC3E}">
        <p14:creationId xmlns:p14="http://schemas.microsoft.com/office/powerpoint/2010/main" val="658425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2708432" cy="3417570"/>
          </a:xfrm>
        </p:spPr>
        <p:txBody>
          <a:bodyPr/>
          <a:lstStyle/>
          <a:p>
            <a:r>
              <a:rPr lang="en-US" dirty="0" err="1"/>
              <a:t>Tạo</a:t>
            </a:r>
            <a:r>
              <a:rPr lang="en-US" dirty="0"/>
              <a:t> file Batch Configure</a:t>
            </a:r>
          </a:p>
          <a:p>
            <a:r>
              <a:rPr lang="en-US" dirty="0" err="1"/>
              <a:t>Với</a:t>
            </a:r>
            <a:r>
              <a:rPr lang="en-US" dirty="0"/>
              <a:t> Job </a:t>
            </a:r>
            <a:r>
              <a:rPr lang="en-US" dirty="0" err="1"/>
              <a:t>và</a:t>
            </a:r>
            <a:r>
              <a:rPr lang="en-US" dirty="0"/>
              <a:t> </a:t>
            </a:r>
            <a:r>
              <a:rPr lang="en-US" dirty="0" err="1"/>
              <a:t>các</a:t>
            </a:r>
            <a:r>
              <a:rPr lang="en-US" dirty="0"/>
              <a:t> Step</a:t>
            </a:r>
          </a:p>
        </p:txBody>
      </p:sp>
      <p:pic>
        <p:nvPicPr>
          <p:cNvPr id="4" name="図 3"/>
          <p:cNvPicPr>
            <a:picLocks noChangeAspect="1"/>
          </p:cNvPicPr>
          <p:nvPr/>
        </p:nvPicPr>
        <p:blipFill rotWithShape="1">
          <a:blip r:embed="rId2"/>
          <a:srcRect r="25452"/>
          <a:stretch/>
        </p:blipFill>
        <p:spPr>
          <a:xfrm>
            <a:off x="4124325" y="2277428"/>
            <a:ext cx="5400675" cy="3683093"/>
          </a:xfrm>
          <a:prstGeom prst="rect">
            <a:avLst/>
          </a:prstGeom>
        </p:spPr>
      </p:pic>
    </p:spTree>
    <p:extLst>
      <p:ext uri="{BB962C8B-B14F-4D97-AF65-F5344CB8AC3E}">
        <p14:creationId xmlns:p14="http://schemas.microsoft.com/office/powerpoint/2010/main" val="42852081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2137303" cy="3417570"/>
          </a:xfrm>
        </p:spPr>
        <p:txBody>
          <a:bodyPr/>
          <a:lstStyle/>
          <a:p>
            <a:r>
              <a:rPr lang="en-US" dirty="0" err="1"/>
              <a:t>Tạo</a:t>
            </a:r>
            <a:r>
              <a:rPr lang="en-US" dirty="0"/>
              <a:t> Reader </a:t>
            </a:r>
            <a:r>
              <a:rPr lang="en-US" dirty="0" err="1"/>
              <a:t>đọc</a:t>
            </a:r>
            <a:r>
              <a:rPr lang="en-US" dirty="0"/>
              <a:t> </a:t>
            </a:r>
            <a:r>
              <a:rPr lang="en-US" dirty="0" err="1"/>
              <a:t>các</a:t>
            </a:r>
            <a:r>
              <a:rPr lang="en-US" dirty="0"/>
              <a:t> input</a:t>
            </a:r>
          </a:p>
        </p:txBody>
      </p:sp>
      <p:pic>
        <p:nvPicPr>
          <p:cNvPr id="6" name="図 5"/>
          <p:cNvPicPr>
            <a:picLocks noChangeAspect="1"/>
          </p:cNvPicPr>
          <p:nvPr/>
        </p:nvPicPr>
        <p:blipFill>
          <a:blip r:embed="rId2"/>
          <a:stretch>
            <a:fillRect/>
          </a:stretch>
        </p:blipFill>
        <p:spPr>
          <a:xfrm>
            <a:off x="3630220" y="2211387"/>
            <a:ext cx="5998610" cy="3606907"/>
          </a:xfrm>
          <a:prstGeom prst="rect">
            <a:avLst/>
          </a:prstGeom>
        </p:spPr>
      </p:pic>
    </p:spTree>
    <p:extLst>
      <p:ext uri="{BB962C8B-B14F-4D97-AF65-F5344CB8AC3E}">
        <p14:creationId xmlns:p14="http://schemas.microsoft.com/office/powerpoint/2010/main" val="6229696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2137303" cy="3417570"/>
          </a:xfrm>
        </p:spPr>
        <p:txBody>
          <a:bodyPr/>
          <a:lstStyle/>
          <a:p>
            <a:r>
              <a:rPr lang="en-US" dirty="0" err="1"/>
              <a:t>Tạo</a:t>
            </a:r>
            <a:r>
              <a:rPr lang="en-US" dirty="0"/>
              <a:t> Processor </a:t>
            </a:r>
            <a:r>
              <a:rPr lang="en-US" dirty="0" err="1"/>
              <a:t>xử</a:t>
            </a:r>
            <a:r>
              <a:rPr lang="en-US" dirty="0"/>
              <a:t> </a:t>
            </a:r>
            <a:r>
              <a:rPr lang="en-US" dirty="0" err="1"/>
              <a:t>lý</a:t>
            </a:r>
            <a:r>
              <a:rPr lang="en-US" dirty="0"/>
              <a:t> data</a:t>
            </a:r>
          </a:p>
        </p:txBody>
      </p:sp>
      <p:pic>
        <p:nvPicPr>
          <p:cNvPr id="4" name="図 3"/>
          <p:cNvPicPr>
            <a:picLocks noChangeAspect="1"/>
          </p:cNvPicPr>
          <p:nvPr/>
        </p:nvPicPr>
        <p:blipFill>
          <a:blip r:embed="rId2"/>
          <a:stretch>
            <a:fillRect/>
          </a:stretch>
        </p:blipFill>
        <p:spPr>
          <a:xfrm>
            <a:off x="3686233" y="2277428"/>
            <a:ext cx="5923163" cy="3255900"/>
          </a:xfrm>
          <a:prstGeom prst="rect">
            <a:avLst/>
          </a:prstGeom>
        </p:spPr>
      </p:pic>
    </p:spTree>
    <p:extLst>
      <p:ext uri="{BB962C8B-B14F-4D97-AF65-F5344CB8AC3E}">
        <p14:creationId xmlns:p14="http://schemas.microsoft.com/office/powerpoint/2010/main" val="26096196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2137303" cy="3417570"/>
          </a:xfrm>
        </p:spPr>
        <p:txBody>
          <a:bodyPr/>
          <a:lstStyle/>
          <a:p>
            <a:r>
              <a:rPr lang="en-US" dirty="0" err="1"/>
              <a:t>Tạo</a:t>
            </a:r>
            <a:r>
              <a:rPr lang="en-US" dirty="0"/>
              <a:t> Writer output data</a:t>
            </a:r>
          </a:p>
        </p:txBody>
      </p:sp>
      <p:pic>
        <p:nvPicPr>
          <p:cNvPr id="5" name="図 4"/>
          <p:cNvPicPr>
            <a:picLocks noChangeAspect="1"/>
          </p:cNvPicPr>
          <p:nvPr/>
        </p:nvPicPr>
        <p:blipFill>
          <a:blip r:embed="rId3"/>
          <a:stretch>
            <a:fillRect/>
          </a:stretch>
        </p:blipFill>
        <p:spPr>
          <a:xfrm>
            <a:off x="3114675" y="2437960"/>
            <a:ext cx="6547315" cy="2952138"/>
          </a:xfrm>
          <a:prstGeom prst="rect">
            <a:avLst/>
          </a:prstGeom>
        </p:spPr>
      </p:pic>
    </p:spTree>
    <p:extLst>
      <p:ext uri="{BB962C8B-B14F-4D97-AF65-F5344CB8AC3E}">
        <p14:creationId xmlns:p14="http://schemas.microsoft.com/office/powerpoint/2010/main" val="11747005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2137303" cy="3417570"/>
          </a:xfrm>
        </p:spPr>
        <p:txBody>
          <a:bodyPr>
            <a:normAutofit lnSpcReduction="10000"/>
          </a:bodyPr>
          <a:lstStyle/>
          <a:p>
            <a:r>
              <a:rPr lang="en-US" dirty="0" err="1"/>
              <a:t>Tạo</a:t>
            </a:r>
            <a:r>
              <a:rPr lang="en-US" dirty="0"/>
              <a:t> Controller </a:t>
            </a:r>
            <a:r>
              <a:rPr lang="en-US" dirty="0" err="1"/>
              <a:t>để</a:t>
            </a:r>
            <a:r>
              <a:rPr lang="en-US" dirty="0"/>
              <a:t> </a:t>
            </a:r>
            <a:r>
              <a:rPr lang="en-US" dirty="0" err="1"/>
              <a:t>thực</a:t>
            </a:r>
            <a:r>
              <a:rPr lang="en-US" dirty="0"/>
              <a:t> thi batch qua Http Request</a:t>
            </a:r>
          </a:p>
        </p:txBody>
      </p:sp>
      <p:pic>
        <p:nvPicPr>
          <p:cNvPr id="4" name="図 3"/>
          <p:cNvPicPr>
            <a:picLocks noChangeAspect="1"/>
          </p:cNvPicPr>
          <p:nvPr/>
        </p:nvPicPr>
        <p:blipFill>
          <a:blip r:embed="rId3"/>
          <a:stretch>
            <a:fillRect/>
          </a:stretch>
        </p:blipFill>
        <p:spPr>
          <a:xfrm>
            <a:off x="3212894" y="2277428"/>
            <a:ext cx="6392291" cy="3179412"/>
          </a:xfrm>
          <a:prstGeom prst="rect">
            <a:avLst/>
          </a:prstGeom>
        </p:spPr>
      </p:pic>
    </p:spTree>
    <p:extLst>
      <p:ext uri="{BB962C8B-B14F-4D97-AF65-F5344CB8AC3E}">
        <p14:creationId xmlns:p14="http://schemas.microsoft.com/office/powerpoint/2010/main" val="22851957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2997893" cy="3417570"/>
          </a:xfrm>
        </p:spPr>
        <p:txBody>
          <a:bodyPr>
            <a:normAutofit fontScale="85000" lnSpcReduction="20000"/>
          </a:bodyPr>
          <a:lstStyle/>
          <a:p>
            <a:r>
              <a:rPr lang="en-US" dirty="0" err="1"/>
              <a:t>Thêm</a:t>
            </a:r>
            <a:r>
              <a:rPr lang="en-US" dirty="0"/>
              <a:t> Annotation</a:t>
            </a:r>
          </a:p>
          <a:p>
            <a:r>
              <a:rPr lang="en-US" dirty="0"/>
              <a:t>@</a:t>
            </a:r>
            <a:r>
              <a:rPr lang="en-US" dirty="0" err="1"/>
              <a:t>EnableBatch</a:t>
            </a:r>
            <a:r>
              <a:rPr lang="en-US" dirty="0"/>
              <a:t> Processing</a:t>
            </a:r>
          </a:p>
          <a:p>
            <a:r>
              <a:rPr lang="en-US" dirty="0" err="1"/>
              <a:t>Để</a:t>
            </a:r>
            <a:r>
              <a:rPr lang="en-US" dirty="0"/>
              <a:t> </a:t>
            </a:r>
            <a:r>
              <a:rPr lang="en-US" dirty="0" err="1"/>
              <a:t>tự</a:t>
            </a:r>
            <a:r>
              <a:rPr lang="en-US" dirty="0"/>
              <a:t> </a:t>
            </a:r>
            <a:r>
              <a:rPr lang="en-US" dirty="0" err="1"/>
              <a:t>động</a:t>
            </a:r>
            <a:r>
              <a:rPr lang="en-US" dirty="0"/>
              <a:t> </a:t>
            </a:r>
            <a:r>
              <a:rPr lang="en-US" dirty="0" err="1"/>
              <a:t>tạo</a:t>
            </a:r>
            <a:r>
              <a:rPr lang="en-US" dirty="0"/>
              <a:t> </a:t>
            </a:r>
            <a:r>
              <a:rPr lang="en-US" dirty="0" err="1"/>
              <a:t>ra</a:t>
            </a:r>
            <a:r>
              <a:rPr lang="en-US" dirty="0"/>
              <a:t> </a:t>
            </a:r>
            <a:r>
              <a:rPr lang="en-US" dirty="0" err="1"/>
              <a:t>các</a:t>
            </a:r>
            <a:r>
              <a:rPr lang="en-US" dirty="0"/>
              <a:t> bean </a:t>
            </a:r>
            <a:r>
              <a:rPr lang="en-US" dirty="0" err="1"/>
              <a:t>như</a:t>
            </a:r>
            <a:r>
              <a:rPr lang="en-US" dirty="0"/>
              <a:t> </a:t>
            </a:r>
            <a:r>
              <a:rPr lang="en-US" dirty="0" err="1"/>
              <a:t>JobLaucher</a:t>
            </a:r>
            <a:r>
              <a:rPr lang="en-US" dirty="0"/>
              <a:t>, Job ,..</a:t>
            </a:r>
          </a:p>
        </p:txBody>
      </p:sp>
      <p:pic>
        <p:nvPicPr>
          <p:cNvPr id="5" name="図 4"/>
          <p:cNvPicPr>
            <a:picLocks noChangeAspect="1"/>
          </p:cNvPicPr>
          <p:nvPr/>
        </p:nvPicPr>
        <p:blipFill>
          <a:blip r:embed="rId3"/>
          <a:stretch>
            <a:fillRect/>
          </a:stretch>
        </p:blipFill>
        <p:spPr>
          <a:xfrm>
            <a:off x="3892798" y="2211388"/>
            <a:ext cx="5861581" cy="3160311"/>
          </a:xfrm>
          <a:prstGeom prst="rect">
            <a:avLst/>
          </a:prstGeom>
        </p:spPr>
      </p:pic>
    </p:spTree>
    <p:extLst>
      <p:ext uri="{BB962C8B-B14F-4D97-AF65-F5344CB8AC3E}">
        <p14:creationId xmlns:p14="http://schemas.microsoft.com/office/powerpoint/2010/main" val="1475587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3318404" cy="3417570"/>
          </a:xfrm>
        </p:spPr>
        <p:txBody>
          <a:bodyPr/>
          <a:lstStyle/>
          <a:p>
            <a:r>
              <a:rPr lang="en-US" dirty="0" err="1"/>
              <a:t>Khởi</a:t>
            </a:r>
            <a:r>
              <a:rPr lang="en-US" dirty="0"/>
              <a:t> </a:t>
            </a:r>
            <a:r>
              <a:rPr lang="en-US" dirty="0" err="1"/>
              <a:t>chạy</a:t>
            </a:r>
            <a:r>
              <a:rPr lang="en-US" dirty="0"/>
              <a:t> project </a:t>
            </a:r>
            <a:r>
              <a:rPr lang="en-US" dirty="0" err="1"/>
              <a:t>bằng</a:t>
            </a:r>
            <a:r>
              <a:rPr lang="en-US" dirty="0"/>
              <a:t> </a:t>
            </a:r>
            <a:r>
              <a:rPr lang="en-US" dirty="0" err="1"/>
              <a:t>Gradle</a:t>
            </a:r>
            <a:r>
              <a:rPr lang="en-US" dirty="0"/>
              <a:t> Task: </a:t>
            </a:r>
            <a:r>
              <a:rPr lang="en-US" dirty="0" err="1"/>
              <a:t>bootRun</a:t>
            </a:r>
            <a:endParaRPr lang="en-US" dirty="0"/>
          </a:p>
          <a:p>
            <a:pPr marL="0" indent="0">
              <a:buNone/>
            </a:pPr>
            <a:endParaRPr lang="en-US" dirty="0"/>
          </a:p>
        </p:txBody>
      </p:sp>
      <p:pic>
        <p:nvPicPr>
          <p:cNvPr id="4" name="図 3"/>
          <p:cNvPicPr>
            <a:picLocks noChangeAspect="1"/>
          </p:cNvPicPr>
          <p:nvPr/>
        </p:nvPicPr>
        <p:blipFill>
          <a:blip r:embed="rId2"/>
          <a:stretch>
            <a:fillRect/>
          </a:stretch>
        </p:blipFill>
        <p:spPr>
          <a:xfrm>
            <a:off x="4295775" y="2211388"/>
            <a:ext cx="5404705" cy="2962936"/>
          </a:xfrm>
          <a:prstGeom prst="rect">
            <a:avLst/>
          </a:prstGeom>
        </p:spPr>
      </p:pic>
    </p:spTree>
    <p:extLst>
      <p:ext uri="{BB962C8B-B14F-4D97-AF65-F5344CB8AC3E}">
        <p14:creationId xmlns:p14="http://schemas.microsoft.com/office/powerpoint/2010/main" val="2808188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3318404" cy="3417570"/>
          </a:xfrm>
        </p:spPr>
        <p:txBody>
          <a:bodyPr/>
          <a:lstStyle/>
          <a:p>
            <a:r>
              <a:rPr lang="en-US" dirty="0" err="1"/>
              <a:t>Chạy</a:t>
            </a:r>
            <a:r>
              <a:rPr lang="en-US" dirty="0"/>
              <a:t> </a:t>
            </a:r>
            <a:r>
              <a:rPr lang="en-US" dirty="0" err="1"/>
              <a:t>thử</a:t>
            </a:r>
            <a:r>
              <a:rPr lang="en-US" dirty="0"/>
              <a:t> request /batch</a:t>
            </a:r>
          </a:p>
          <a:p>
            <a:r>
              <a:rPr lang="en-US" dirty="0" err="1"/>
              <a:t>Để</a:t>
            </a:r>
            <a:r>
              <a:rPr lang="en-US" dirty="0"/>
              <a:t> </a:t>
            </a:r>
            <a:r>
              <a:rPr lang="en-US" dirty="0" err="1"/>
              <a:t>thực</a:t>
            </a:r>
            <a:r>
              <a:rPr lang="en-US" dirty="0"/>
              <a:t> thi batch</a:t>
            </a:r>
          </a:p>
        </p:txBody>
      </p:sp>
      <p:pic>
        <p:nvPicPr>
          <p:cNvPr id="5" name="図 4"/>
          <p:cNvPicPr>
            <a:picLocks noChangeAspect="1"/>
          </p:cNvPicPr>
          <p:nvPr/>
        </p:nvPicPr>
        <p:blipFill rotWithShape="1">
          <a:blip r:embed="rId2"/>
          <a:srcRect r="16438"/>
          <a:stretch/>
        </p:blipFill>
        <p:spPr>
          <a:xfrm>
            <a:off x="4215775" y="2277428"/>
            <a:ext cx="5280650" cy="3233593"/>
          </a:xfrm>
          <a:prstGeom prst="rect">
            <a:avLst/>
          </a:prstGeom>
        </p:spPr>
      </p:pic>
    </p:spTree>
    <p:extLst>
      <p:ext uri="{BB962C8B-B14F-4D97-AF65-F5344CB8AC3E}">
        <p14:creationId xmlns:p14="http://schemas.microsoft.com/office/powerpoint/2010/main" val="36652815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8"/>
            <a:ext cx="3318404" cy="3417570"/>
          </a:xfrm>
        </p:spPr>
        <p:txBody>
          <a:bodyPr/>
          <a:lstStyle/>
          <a:p>
            <a:r>
              <a:rPr lang="en-US" dirty="0"/>
              <a:t>Log output</a:t>
            </a:r>
          </a:p>
        </p:txBody>
      </p:sp>
      <p:grpSp>
        <p:nvGrpSpPr>
          <p:cNvPr id="8" name="グループ化 7"/>
          <p:cNvGrpSpPr/>
          <p:nvPr/>
        </p:nvGrpSpPr>
        <p:grpSpPr>
          <a:xfrm>
            <a:off x="3318137" y="2459618"/>
            <a:ext cx="6184374" cy="3235380"/>
            <a:chOff x="4083861" y="2235914"/>
            <a:chExt cx="7611537" cy="3982006"/>
          </a:xfrm>
        </p:grpSpPr>
        <p:pic>
          <p:nvPicPr>
            <p:cNvPr id="6" name="図 5"/>
            <p:cNvPicPr>
              <a:picLocks noChangeAspect="1"/>
            </p:cNvPicPr>
            <p:nvPr/>
          </p:nvPicPr>
          <p:blipFill>
            <a:blip r:embed="rId2"/>
            <a:stretch>
              <a:fillRect/>
            </a:stretch>
          </p:blipFill>
          <p:spPr>
            <a:xfrm>
              <a:off x="4083861" y="2235914"/>
              <a:ext cx="7611537" cy="3982006"/>
            </a:xfrm>
            <a:prstGeom prst="rect">
              <a:avLst/>
            </a:prstGeom>
          </p:spPr>
        </p:pic>
        <p:sp>
          <p:nvSpPr>
            <p:cNvPr id="7" name="正方形/長方形 6"/>
            <p:cNvSpPr/>
            <p:nvPr/>
          </p:nvSpPr>
          <p:spPr>
            <a:xfrm>
              <a:off x="4083862" y="2555631"/>
              <a:ext cx="7486816" cy="3540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Tree>
    <p:extLst>
      <p:ext uri="{BB962C8B-B14F-4D97-AF65-F5344CB8AC3E}">
        <p14:creationId xmlns:p14="http://schemas.microsoft.com/office/powerpoint/2010/main" val="2615366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a:xfrm>
            <a:off x="110067" y="697111"/>
            <a:ext cx="6310636" cy="959644"/>
          </a:xfrm>
        </p:spPr>
        <p:txBody>
          <a:bodyPr/>
          <a:lstStyle/>
          <a:p>
            <a:r>
              <a:rPr lang="en-US" b="1" dirty="0"/>
              <a:t>Spring Security</a:t>
            </a:r>
          </a:p>
        </p:txBody>
      </p:sp>
      <p:sp>
        <p:nvSpPr>
          <p:cNvPr id="6" name="サブタイトル 2"/>
          <p:cNvSpPr txBox="1">
            <a:spLocks/>
          </p:cNvSpPr>
          <p:nvPr/>
        </p:nvSpPr>
        <p:spPr>
          <a:xfrm>
            <a:off x="1459673" y="2626338"/>
            <a:ext cx="6310636" cy="1646220"/>
          </a:xfrm>
          <a:prstGeom prst="rect">
            <a:avLst/>
          </a:prstGeom>
        </p:spPr>
        <p:txBody>
          <a:bodyPr vert="horz" lIns="74295" tIns="37148" rIns="74295" bIns="37148" rtlCol="0" anchor="t">
            <a:normAutofit lnSpcReduction="10000"/>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buFont typeface="Wingdings 3" charset="2"/>
              <a:buChar char=""/>
            </a:pPr>
            <a:r>
              <a:rPr lang="en-US" sz="1463" dirty="0"/>
              <a:t>Spring Security </a:t>
            </a:r>
            <a:r>
              <a:rPr lang="en-US" sz="1463" dirty="0" err="1"/>
              <a:t>là</a:t>
            </a:r>
            <a:r>
              <a:rPr lang="en-US" sz="1463" dirty="0"/>
              <a:t> </a:t>
            </a:r>
            <a:r>
              <a:rPr lang="en-US" sz="1463" dirty="0" err="1"/>
              <a:t>gì</a:t>
            </a:r>
            <a:r>
              <a:rPr lang="en-US" sz="1463" dirty="0"/>
              <a:t>?</a:t>
            </a:r>
          </a:p>
          <a:p>
            <a:pPr algn="l">
              <a:buFont typeface="Wingdings 3" charset="2"/>
              <a:buChar char=""/>
            </a:pPr>
            <a:r>
              <a:rPr lang="en-US" sz="1463" dirty="0"/>
              <a:t>Quy </a:t>
            </a:r>
            <a:r>
              <a:rPr lang="en-US" sz="1463" dirty="0" err="1"/>
              <a:t>trình</a:t>
            </a:r>
            <a:r>
              <a:rPr lang="en-US" sz="1463" dirty="0"/>
              <a:t> </a:t>
            </a:r>
            <a:r>
              <a:rPr lang="en-US" sz="1463" dirty="0" err="1"/>
              <a:t>hoạt</a:t>
            </a:r>
            <a:r>
              <a:rPr lang="en-US" sz="1463" dirty="0"/>
              <a:t> </a:t>
            </a:r>
            <a:r>
              <a:rPr lang="en-US" sz="1463" dirty="0" err="1"/>
              <a:t>động</a:t>
            </a:r>
            <a:r>
              <a:rPr lang="en-US" sz="1463" dirty="0"/>
              <a:t> </a:t>
            </a:r>
            <a:r>
              <a:rPr lang="en-US" sz="1463" dirty="0" err="1"/>
              <a:t>của</a:t>
            </a:r>
            <a:r>
              <a:rPr lang="en-US" sz="1463" dirty="0"/>
              <a:t> Spring security</a:t>
            </a:r>
          </a:p>
          <a:p>
            <a:pPr algn="l">
              <a:buFont typeface="Wingdings 3" charset="2"/>
              <a:buChar char=""/>
            </a:pPr>
            <a:r>
              <a:rPr lang="en-US" sz="1463" dirty="0" err="1"/>
              <a:t>Kiến</a:t>
            </a:r>
            <a:r>
              <a:rPr lang="en-US" sz="1463" dirty="0"/>
              <a:t> </a:t>
            </a:r>
            <a:r>
              <a:rPr lang="en-US" sz="1463" dirty="0" err="1"/>
              <a:t>trúc</a:t>
            </a:r>
            <a:r>
              <a:rPr lang="en-US" sz="1463" dirty="0"/>
              <a:t> </a:t>
            </a:r>
            <a:r>
              <a:rPr lang="en-US" sz="1463" dirty="0" err="1"/>
              <a:t>của</a:t>
            </a:r>
            <a:r>
              <a:rPr lang="en-US" sz="1463" dirty="0"/>
              <a:t> Spring Security</a:t>
            </a:r>
          </a:p>
          <a:p>
            <a:pPr algn="l">
              <a:buFont typeface="Wingdings 3" charset="2"/>
              <a:buChar char=""/>
            </a:pPr>
            <a:r>
              <a:rPr lang="en-US" sz="1463" dirty="0" err="1"/>
              <a:t>Các</a:t>
            </a:r>
            <a:r>
              <a:rPr lang="en-US" sz="1463" dirty="0"/>
              <a:t> </a:t>
            </a:r>
            <a:r>
              <a:rPr lang="en-US" sz="1463" dirty="0" err="1"/>
              <a:t>thành</a:t>
            </a:r>
            <a:r>
              <a:rPr lang="en-US" sz="1463" dirty="0"/>
              <a:t> </a:t>
            </a:r>
            <a:r>
              <a:rPr lang="en-US" sz="1463" dirty="0" err="1"/>
              <a:t>phần</a:t>
            </a:r>
            <a:r>
              <a:rPr lang="en-US" sz="1463" dirty="0"/>
              <a:t> </a:t>
            </a:r>
            <a:r>
              <a:rPr lang="en-US" sz="1463" dirty="0" err="1"/>
              <a:t>của</a:t>
            </a:r>
            <a:r>
              <a:rPr lang="en-US" sz="1463" dirty="0"/>
              <a:t> Spring Security</a:t>
            </a:r>
          </a:p>
          <a:p>
            <a:pPr algn="l">
              <a:buFont typeface="Wingdings 3" charset="2"/>
              <a:buChar char=""/>
            </a:pPr>
            <a:r>
              <a:rPr lang="en-US" sz="1463" dirty="0" err="1"/>
              <a:t>Các</a:t>
            </a:r>
            <a:r>
              <a:rPr lang="en-US" sz="1463" dirty="0"/>
              <a:t> </a:t>
            </a:r>
            <a:r>
              <a:rPr lang="en-US" sz="1463" dirty="0" err="1"/>
              <a:t>cài</a:t>
            </a:r>
            <a:r>
              <a:rPr lang="en-US" sz="1463" dirty="0"/>
              <a:t> </a:t>
            </a:r>
            <a:r>
              <a:rPr lang="en-US" sz="1463" dirty="0" err="1"/>
              <a:t>đặt</a:t>
            </a:r>
            <a:r>
              <a:rPr lang="en-US" sz="1463" dirty="0"/>
              <a:t> </a:t>
            </a:r>
            <a:r>
              <a:rPr lang="en-US" sz="1463" dirty="0" err="1"/>
              <a:t>và</a:t>
            </a:r>
            <a:r>
              <a:rPr lang="en-US" sz="1463" dirty="0"/>
              <a:t> </a:t>
            </a:r>
            <a:r>
              <a:rPr lang="en-US" sz="1463" dirty="0" err="1"/>
              <a:t>cấu</a:t>
            </a:r>
            <a:r>
              <a:rPr lang="en-US" sz="1463" dirty="0"/>
              <a:t> </a:t>
            </a:r>
            <a:r>
              <a:rPr lang="en-US" sz="1463" dirty="0" err="1"/>
              <a:t>hình</a:t>
            </a:r>
            <a:r>
              <a:rPr lang="en-US" sz="1463" dirty="0"/>
              <a:t> Spring Security</a:t>
            </a:r>
          </a:p>
        </p:txBody>
      </p:sp>
      <p:sp>
        <p:nvSpPr>
          <p:cNvPr id="7" name="コンテンツ プレースホルダー 2"/>
          <p:cNvSpPr txBox="1">
            <a:spLocks/>
          </p:cNvSpPr>
          <p:nvPr/>
        </p:nvSpPr>
        <p:spPr>
          <a:xfrm>
            <a:off x="1122595" y="2014046"/>
            <a:ext cx="6984793" cy="494007"/>
          </a:xfrm>
          <a:prstGeom prst="rect">
            <a:avLst/>
          </a:prstGeom>
        </p:spPr>
        <p:txBody>
          <a:bodyPr vert="horz" lIns="74295" tIns="37148" rIns="74295" bIns="37148"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1950" dirty="0" err="1"/>
              <a:t>Các</a:t>
            </a:r>
            <a:r>
              <a:rPr lang="en-US" sz="1950" dirty="0"/>
              <a:t> </a:t>
            </a:r>
            <a:r>
              <a:rPr lang="en-US" sz="1950" dirty="0" err="1"/>
              <a:t>mục</a:t>
            </a:r>
            <a:r>
              <a:rPr lang="en-US" sz="1950" dirty="0"/>
              <a:t> </a:t>
            </a:r>
            <a:r>
              <a:rPr lang="en-US" sz="1950" dirty="0" err="1"/>
              <a:t>trình</a:t>
            </a:r>
            <a:r>
              <a:rPr lang="en-US" sz="1950" dirty="0"/>
              <a:t> </a:t>
            </a:r>
            <a:r>
              <a:rPr lang="en-US" sz="1950" dirty="0" err="1"/>
              <a:t>bày</a:t>
            </a:r>
            <a:r>
              <a:rPr lang="en-US" sz="1950" dirty="0"/>
              <a:t> </a:t>
            </a:r>
            <a:r>
              <a:rPr lang="en-US" sz="1950" dirty="0" err="1"/>
              <a:t>trong</a:t>
            </a:r>
            <a:r>
              <a:rPr lang="en-US" sz="1950" dirty="0"/>
              <a:t> </a:t>
            </a:r>
            <a:r>
              <a:rPr lang="en-US" sz="2600" dirty="0"/>
              <a:t>Spring Security</a:t>
            </a:r>
          </a:p>
          <a:p>
            <a:pPr marL="0" indent="0">
              <a:buNone/>
            </a:pPr>
            <a:endParaRPr lang="en-US" sz="1463" dirty="0"/>
          </a:p>
        </p:txBody>
      </p:sp>
    </p:spTree>
    <p:extLst>
      <p:ext uri="{BB962C8B-B14F-4D97-AF65-F5344CB8AC3E}">
        <p14:creationId xmlns:p14="http://schemas.microsoft.com/office/powerpoint/2010/main" val="9657382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a:t>Spring Security </a:t>
            </a:r>
            <a:r>
              <a:rPr lang="en-US" b="1" dirty="0" err="1"/>
              <a:t>là</a:t>
            </a:r>
            <a:r>
              <a:rPr lang="en-US" b="1" dirty="0"/>
              <a:t> </a:t>
            </a:r>
            <a:r>
              <a:rPr lang="en-US" b="1" dirty="0" err="1"/>
              <a:t>gì</a:t>
            </a:r>
            <a:r>
              <a:rPr lang="en-US" b="1" dirty="0"/>
              <a:t>?</a:t>
            </a:r>
          </a:p>
        </p:txBody>
      </p:sp>
      <p:sp>
        <p:nvSpPr>
          <p:cNvPr id="3" name="コンテンツ プレースホルダー 2"/>
          <p:cNvSpPr>
            <a:spLocks noGrp="1"/>
          </p:cNvSpPr>
          <p:nvPr>
            <p:ph idx="1"/>
          </p:nvPr>
        </p:nvSpPr>
        <p:spPr/>
        <p:txBody>
          <a:bodyPr>
            <a:normAutofit fontScale="85000" lnSpcReduction="20000"/>
          </a:bodyPr>
          <a:lstStyle/>
          <a:p>
            <a:r>
              <a:rPr lang="en-US" dirty="0"/>
              <a:t>Spring Security </a:t>
            </a:r>
            <a:r>
              <a:rPr lang="en-US" dirty="0" err="1"/>
              <a:t>là</a:t>
            </a:r>
            <a:r>
              <a:rPr lang="en-US" dirty="0"/>
              <a:t> framework </a:t>
            </a:r>
            <a:r>
              <a:rPr lang="en-US" dirty="0" err="1"/>
              <a:t>mà</a:t>
            </a:r>
            <a:r>
              <a:rPr lang="en-US" dirty="0"/>
              <a:t> </a:t>
            </a:r>
            <a:r>
              <a:rPr lang="en-US" dirty="0" err="1"/>
              <a:t>tập</a:t>
            </a:r>
            <a:r>
              <a:rPr lang="en-US" dirty="0"/>
              <a:t> </a:t>
            </a:r>
            <a:r>
              <a:rPr lang="en-US" dirty="0" err="1"/>
              <a:t>trung</a:t>
            </a:r>
            <a:r>
              <a:rPr lang="en-US" dirty="0"/>
              <a:t> </a:t>
            </a:r>
            <a:r>
              <a:rPr lang="en-US" dirty="0" err="1"/>
              <a:t>vào</a:t>
            </a:r>
            <a:r>
              <a:rPr lang="en-US" dirty="0"/>
              <a:t> </a:t>
            </a:r>
            <a:r>
              <a:rPr lang="en-US" dirty="0" err="1"/>
              <a:t>việc</a:t>
            </a:r>
            <a:r>
              <a:rPr lang="en-US" dirty="0"/>
              <a:t> </a:t>
            </a:r>
            <a:r>
              <a:rPr lang="en-US" dirty="0" err="1"/>
              <a:t>cung</a:t>
            </a:r>
            <a:r>
              <a:rPr lang="en-US" dirty="0"/>
              <a:t> </a:t>
            </a:r>
            <a:r>
              <a:rPr lang="en-US" dirty="0" err="1"/>
              <a:t>cấp</a:t>
            </a:r>
            <a:r>
              <a:rPr lang="en-US" dirty="0"/>
              <a:t> </a:t>
            </a:r>
            <a:r>
              <a:rPr lang="en-US" dirty="0" err="1"/>
              <a:t>cả</a:t>
            </a:r>
            <a:r>
              <a:rPr lang="en-US" dirty="0"/>
              <a:t> </a:t>
            </a:r>
            <a:r>
              <a:rPr lang="en-US" dirty="0" err="1"/>
              <a:t>xác</a:t>
            </a:r>
            <a:r>
              <a:rPr lang="en-US" dirty="0"/>
              <a:t> </a:t>
            </a:r>
            <a:r>
              <a:rPr lang="en-US" dirty="0" err="1"/>
              <a:t>thực</a:t>
            </a:r>
            <a:r>
              <a:rPr lang="en-US" dirty="0"/>
              <a:t> </a:t>
            </a:r>
            <a:r>
              <a:rPr lang="en-US" dirty="0" err="1"/>
              <a:t>và</a:t>
            </a:r>
            <a:r>
              <a:rPr lang="en-US" dirty="0"/>
              <a:t> </a:t>
            </a:r>
            <a:r>
              <a:rPr lang="en-US" dirty="0" err="1"/>
              <a:t>phân</a:t>
            </a:r>
            <a:r>
              <a:rPr lang="en-US" dirty="0"/>
              <a:t> </a:t>
            </a:r>
            <a:r>
              <a:rPr lang="en-US" dirty="0" err="1"/>
              <a:t>quyền</a:t>
            </a:r>
            <a:r>
              <a:rPr lang="en-US" dirty="0"/>
              <a:t> (</a:t>
            </a:r>
            <a:r>
              <a:rPr lang="en-US" dirty="0" err="1"/>
              <a:t>hoặc</a:t>
            </a:r>
            <a:r>
              <a:rPr lang="en-US" dirty="0"/>
              <a:t> </a:t>
            </a:r>
            <a:r>
              <a:rPr lang="en-US" dirty="0" err="1"/>
              <a:t>kiểm</a:t>
            </a:r>
            <a:r>
              <a:rPr lang="en-US" dirty="0"/>
              <a:t> </a:t>
            </a:r>
            <a:r>
              <a:rPr lang="en-US" dirty="0" err="1"/>
              <a:t>soát</a:t>
            </a:r>
            <a:r>
              <a:rPr lang="en-US" dirty="0"/>
              <a:t> </a:t>
            </a:r>
            <a:r>
              <a:rPr lang="en-US" dirty="0" err="1"/>
              <a:t>truy</a:t>
            </a:r>
            <a:r>
              <a:rPr lang="en-US" dirty="0"/>
              <a:t> </a:t>
            </a:r>
            <a:r>
              <a:rPr lang="en-US" dirty="0" err="1"/>
              <a:t>cập</a:t>
            </a:r>
            <a:r>
              <a:rPr lang="en-US" dirty="0"/>
              <a:t>) </a:t>
            </a:r>
            <a:r>
              <a:rPr lang="en-US" dirty="0" err="1"/>
              <a:t>đối</a:t>
            </a:r>
            <a:r>
              <a:rPr lang="en-US" dirty="0"/>
              <a:t> </a:t>
            </a:r>
            <a:r>
              <a:rPr lang="en-US" dirty="0" err="1"/>
              <a:t>với</a:t>
            </a:r>
            <a:r>
              <a:rPr lang="en-US" dirty="0"/>
              <a:t> </a:t>
            </a:r>
            <a:r>
              <a:rPr lang="en-US" dirty="0" err="1"/>
              <a:t>ứng</a:t>
            </a:r>
            <a:r>
              <a:rPr lang="en-US" dirty="0"/>
              <a:t> </a:t>
            </a:r>
            <a:r>
              <a:rPr lang="en-US" dirty="0" err="1"/>
              <a:t>dụng</a:t>
            </a:r>
            <a:r>
              <a:rPr lang="en-US" dirty="0"/>
              <a:t> Java web </a:t>
            </a:r>
            <a:r>
              <a:rPr lang="en-US" dirty="0" err="1"/>
              <a:t>và</a:t>
            </a:r>
            <a:r>
              <a:rPr lang="en-US" dirty="0"/>
              <a:t> SOAP/RESTful </a:t>
            </a:r>
            <a:r>
              <a:rPr lang="en-US" dirty="0" err="1"/>
              <a:t>webservice</a:t>
            </a:r>
            <a:r>
              <a:rPr lang="en-US" dirty="0"/>
              <a:t>.</a:t>
            </a:r>
          </a:p>
          <a:p>
            <a:r>
              <a:rPr lang="en-US" dirty="0"/>
              <a:t>Spring Security </a:t>
            </a:r>
            <a:r>
              <a:rPr lang="en-US" dirty="0" err="1"/>
              <a:t>hiện</a:t>
            </a:r>
            <a:r>
              <a:rPr lang="en-US" dirty="0"/>
              <a:t> </a:t>
            </a:r>
            <a:r>
              <a:rPr lang="en-US" dirty="0" err="1"/>
              <a:t>tại</a:t>
            </a:r>
            <a:r>
              <a:rPr lang="en-US" dirty="0"/>
              <a:t> </a:t>
            </a:r>
            <a:r>
              <a:rPr lang="en-US" dirty="0" err="1"/>
              <a:t>hỗ</a:t>
            </a:r>
            <a:r>
              <a:rPr lang="en-US" dirty="0"/>
              <a:t> </a:t>
            </a:r>
            <a:r>
              <a:rPr lang="en-US" dirty="0" err="1"/>
              <a:t>trợ</a:t>
            </a:r>
            <a:r>
              <a:rPr lang="en-US" dirty="0"/>
              <a:t> </a:t>
            </a:r>
            <a:r>
              <a:rPr lang="en-US" dirty="0" err="1"/>
              <a:t>tích</a:t>
            </a:r>
            <a:r>
              <a:rPr lang="en-US" dirty="0"/>
              <a:t> </a:t>
            </a:r>
            <a:r>
              <a:rPr lang="en-US" dirty="0" err="1"/>
              <a:t>hợp</a:t>
            </a:r>
            <a:r>
              <a:rPr lang="en-US" dirty="0"/>
              <a:t> </a:t>
            </a:r>
            <a:r>
              <a:rPr lang="en-US" dirty="0" err="1"/>
              <a:t>với</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công</a:t>
            </a:r>
            <a:r>
              <a:rPr lang="en-US" dirty="0"/>
              <a:t> </a:t>
            </a:r>
            <a:r>
              <a:rPr lang="en-US" dirty="0" err="1"/>
              <a:t>nghệ</a:t>
            </a:r>
            <a:r>
              <a:rPr lang="en-US" dirty="0"/>
              <a:t> </a:t>
            </a:r>
            <a:r>
              <a:rPr lang="en-US" dirty="0" err="1"/>
              <a:t>dưới</a:t>
            </a:r>
            <a:r>
              <a:rPr lang="en-US" dirty="0"/>
              <a:t>:</a:t>
            </a:r>
          </a:p>
          <a:p>
            <a:pPr lvl="1"/>
            <a:r>
              <a:rPr lang="en-US" dirty="0"/>
              <a:t>HTTP basic access authentication</a:t>
            </a:r>
          </a:p>
          <a:p>
            <a:pPr lvl="1"/>
            <a:r>
              <a:rPr lang="en-US" dirty="0"/>
              <a:t>LDAP system</a:t>
            </a:r>
          </a:p>
          <a:p>
            <a:pPr lvl="1"/>
            <a:r>
              <a:rPr lang="en-US" dirty="0"/>
              <a:t>OpenID identity providers</a:t>
            </a:r>
          </a:p>
          <a:p>
            <a:pPr lvl="1"/>
            <a:r>
              <a:rPr lang="en-US" dirty="0"/>
              <a:t>JAAS API</a:t>
            </a:r>
          </a:p>
          <a:p>
            <a:pPr lvl="1"/>
            <a:r>
              <a:rPr lang="en-US" dirty="0"/>
              <a:t>CAS Server</a:t>
            </a:r>
          </a:p>
          <a:p>
            <a:pPr lvl="1"/>
            <a:r>
              <a:rPr lang="en-US" dirty="0"/>
              <a:t>ESB Platform</a:t>
            </a:r>
          </a:p>
          <a:p>
            <a:pPr lvl="1"/>
            <a:r>
              <a:rPr lang="en-US" dirty="0"/>
              <a:t>…</a:t>
            </a:r>
          </a:p>
          <a:p>
            <a:pPr lvl="1"/>
            <a:r>
              <a:rPr lang="en-US" dirty="0" err="1"/>
              <a:t>Các</a:t>
            </a:r>
            <a:r>
              <a:rPr lang="en-US" dirty="0"/>
              <a:t> </a:t>
            </a:r>
            <a:r>
              <a:rPr lang="en-US" dirty="0" err="1"/>
              <a:t>hệ</a:t>
            </a:r>
            <a:r>
              <a:rPr lang="en-US" dirty="0"/>
              <a:t> </a:t>
            </a:r>
            <a:r>
              <a:rPr lang="en-US" dirty="0" err="1"/>
              <a:t>thống</a:t>
            </a:r>
            <a:r>
              <a:rPr lang="en-US" dirty="0"/>
              <a:t> </a:t>
            </a:r>
            <a:r>
              <a:rPr lang="en-US" dirty="0" err="1"/>
              <a:t>xác</a:t>
            </a:r>
            <a:r>
              <a:rPr lang="en-US" dirty="0"/>
              <a:t> </a:t>
            </a:r>
            <a:r>
              <a:rPr lang="en-US" dirty="0" err="1"/>
              <a:t>thực</a:t>
            </a:r>
            <a:r>
              <a:rPr lang="en-US" dirty="0"/>
              <a:t> </a:t>
            </a:r>
            <a:r>
              <a:rPr lang="en-US" dirty="0" err="1"/>
              <a:t>của</a:t>
            </a:r>
            <a:r>
              <a:rPr lang="en-US" dirty="0"/>
              <a:t> </a:t>
            </a:r>
            <a:r>
              <a:rPr lang="en-US" dirty="0" err="1"/>
              <a:t>riêng</a:t>
            </a:r>
            <a:r>
              <a:rPr lang="en-US" dirty="0"/>
              <a:t> </a:t>
            </a:r>
            <a:r>
              <a:rPr lang="en-US" dirty="0" err="1"/>
              <a:t>bạn</a:t>
            </a:r>
            <a:r>
              <a:rPr lang="en-US" dirty="0"/>
              <a:t>.</a:t>
            </a:r>
          </a:p>
          <a:p>
            <a:r>
              <a:rPr lang="en-US" dirty="0" err="1"/>
              <a:t>Được</a:t>
            </a:r>
            <a:r>
              <a:rPr lang="en-US" dirty="0"/>
              <a:t> </a:t>
            </a:r>
            <a:r>
              <a:rPr lang="en-US" dirty="0" err="1"/>
              <a:t>xây</a:t>
            </a:r>
            <a:r>
              <a:rPr lang="en-US" dirty="0"/>
              <a:t> </a:t>
            </a:r>
            <a:r>
              <a:rPr lang="en-US" dirty="0" err="1"/>
              <a:t>dựng</a:t>
            </a:r>
            <a:r>
              <a:rPr lang="en-US" dirty="0"/>
              <a:t> </a:t>
            </a:r>
            <a:r>
              <a:rPr lang="en-US" dirty="0" err="1"/>
              <a:t>dựa</a:t>
            </a:r>
            <a:r>
              <a:rPr lang="en-US" dirty="0"/>
              <a:t> </a:t>
            </a:r>
            <a:r>
              <a:rPr lang="en-US" dirty="0" err="1"/>
              <a:t>trên</a:t>
            </a:r>
            <a:r>
              <a:rPr lang="en-US" dirty="0"/>
              <a:t> Spring Framework</a:t>
            </a:r>
          </a:p>
          <a:p>
            <a:pPr lvl="1"/>
            <a:endParaRPr lang="en-US" dirty="0"/>
          </a:p>
        </p:txBody>
      </p:sp>
    </p:spTree>
    <p:extLst>
      <p:ext uri="{BB962C8B-B14F-4D97-AF65-F5344CB8AC3E}">
        <p14:creationId xmlns:p14="http://schemas.microsoft.com/office/powerpoint/2010/main" val="169050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プレースホルダー 11"/>
          <p:cNvPicPr>
            <a:picLocks noGrp="1" noChangeAspect="1"/>
          </p:cNvPicPr>
          <p:nvPr>
            <p:ph type="pic" idx="4294967295"/>
          </p:nvPr>
        </p:nvPicPr>
        <p:blipFill rotWithShape="1">
          <a:blip r:embed="rId2"/>
          <a:srcRect t="11424" b="9893"/>
          <a:stretch/>
        </p:blipFill>
        <p:spPr>
          <a:xfrm>
            <a:off x="612677" y="1440061"/>
            <a:ext cx="8680648" cy="4644728"/>
          </a:xfrm>
          <a:prstGeom prst="rect">
            <a:avLst/>
          </a:prstGeom>
        </p:spPr>
      </p:pic>
      <p:sp>
        <p:nvSpPr>
          <p:cNvPr id="4" name="タイトル 1"/>
          <p:cNvSpPr txBox="1">
            <a:spLocks/>
          </p:cNvSpPr>
          <p:nvPr/>
        </p:nvSpPr>
        <p:spPr>
          <a:xfrm>
            <a:off x="1460604" y="806999"/>
            <a:ext cx="6984793" cy="107315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925" dirty="0">
                <a:solidFill>
                  <a:srgbClr val="90C226"/>
                </a:solidFill>
              </a:rPr>
              <a:t>Spring Security Common Workflow</a:t>
            </a:r>
          </a:p>
        </p:txBody>
      </p:sp>
    </p:spTree>
    <p:extLst>
      <p:ext uri="{BB962C8B-B14F-4D97-AF65-F5344CB8AC3E}">
        <p14:creationId xmlns:p14="http://schemas.microsoft.com/office/powerpoint/2010/main" val="13074842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3"/>
          <a:srcRect t="14125"/>
          <a:stretch/>
        </p:blipFill>
        <p:spPr>
          <a:xfrm>
            <a:off x="1215840" y="1439433"/>
            <a:ext cx="7474321" cy="4620705"/>
          </a:xfrm>
          <a:prstGeom prst="rect">
            <a:avLst/>
          </a:prstGeom>
        </p:spPr>
      </p:pic>
      <p:sp>
        <p:nvSpPr>
          <p:cNvPr id="4" name="タイトル 1"/>
          <p:cNvSpPr txBox="1">
            <a:spLocks/>
          </p:cNvSpPr>
          <p:nvPr/>
        </p:nvSpPr>
        <p:spPr>
          <a:xfrm>
            <a:off x="1460604" y="796722"/>
            <a:ext cx="6984793" cy="107315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925" dirty="0">
                <a:solidFill>
                  <a:srgbClr val="90C226"/>
                </a:solidFill>
              </a:rPr>
              <a:t>Spring Security Architecture</a:t>
            </a:r>
          </a:p>
        </p:txBody>
      </p:sp>
    </p:spTree>
    <p:extLst>
      <p:ext uri="{BB962C8B-B14F-4D97-AF65-F5344CB8AC3E}">
        <p14:creationId xmlns:p14="http://schemas.microsoft.com/office/powerpoint/2010/main" val="1226160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Các</a:t>
            </a:r>
            <a:r>
              <a:rPr lang="en-US" b="1" dirty="0"/>
              <a:t> </a:t>
            </a:r>
            <a:r>
              <a:rPr lang="en-US" b="1" dirty="0" err="1"/>
              <a:t>thành</a:t>
            </a:r>
            <a:r>
              <a:rPr lang="en-US" b="1" dirty="0"/>
              <a:t> </a:t>
            </a:r>
            <a:r>
              <a:rPr lang="en-US" b="1" dirty="0" err="1"/>
              <a:t>phần</a:t>
            </a:r>
            <a:r>
              <a:rPr lang="en-US" b="1" dirty="0"/>
              <a:t> </a:t>
            </a:r>
            <a:r>
              <a:rPr lang="en-US" b="1" dirty="0" err="1"/>
              <a:t>của</a:t>
            </a:r>
            <a:r>
              <a:rPr lang="en-US" b="1" dirty="0"/>
              <a:t> Spring Security</a:t>
            </a:r>
          </a:p>
        </p:txBody>
      </p:sp>
      <p:sp>
        <p:nvSpPr>
          <p:cNvPr id="3" name="コンテンツ プレースホルダー 2"/>
          <p:cNvSpPr>
            <a:spLocks noGrp="1"/>
          </p:cNvSpPr>
          <p:nvPr>
            <p:ph sz="half" idx="1"/>
          </p:nvPr>
        </p:nvSpPr>
        <p:spPr/>
        <p:txBody>
          <a:bodyPr>
            <a:normAutofit fontScale="85000" lnSpcReduction="20000"/>
          </a:bodyPr>
          <a:lstStyle/>
          <a:p>
            <a:r>
              <a:rPr lang="en-US" dirty="0" err="1"/>
              <a:t>AuthenticationFilter</a:t>
            </a:r>
            <a:endParaRPr lang="en-US" dirty="0"/>
          </a:p>
          <a:p>
            <a:r>
              <a:rPr lang="en-US" dirty="0" err="1"/>
              <a:t>AuthenticationManager</a:t>
            </a:r>
            <a:endParaRPr lang="en-US" dirty="0"/>
          </a:p>
          <a:p>
            <a:r>
              <a:rPr lang="en-US" dirty="0" err="1"/>
              <a:t>AuthenticationProvider</a:t>
            </a:r>
            <a:endParaRPr lang="en-US" dirty="0"/>
          </a:p>
          <a:p>
            <a:r>
              <a:rPr lang="en-US" dirty="0" err="1"/>
              <a:t>UserDetailsService</a:t>
            </a:r>
            <a:endParaRPr lang="en-US" dirty="0"/>
          </a:p>
          <a:p>
            <a:r>
              <a:rPr lang="en-US" dirty="0"/>
              <a:t>Spring Security Context</a:t>
            </a:r>
          </a:p>
          <a:p>
            <a:endParaRPr lang="en-US" dirty="0"/>
          </a:p>
        </p:txBody>
      </p:sp>
      <p:sp>
        <p:nvSpPr>
          <p:cNvPr id="6" name="コンテンツ プレースホルダー 5"/>
          <p:cNvSpPr>
            <a:spLocks noGrp="1"/>
          </p:cNvSpPr>
          <p:nvPr>
            <p:ph sz="half" idx="2"/>
          </p:nvPr>
        </p:nvSpPr>
        <p:spPr/>
        <p:txBody>
          <a:bodyPr>
            <a:normAutofit fontScale="85000" lnSpcReduction="20000"/>
          </a:bodyPr>
          <a:lstStyle/>
          <a:p>
            <a:r>
              <a:rPr lang="en-US" dirty="0" err="1"/>
              <a:t>PasswordEncoder</a:t>
            </a:r>
            <a:r>
              <a:rPr lang="en-US" dirty="0"/>
              <a:t> </a:t>
            </a:r>
          </a:p>
          <a:p>
            <a:r>
              <a:rPr lang="en-US" dirty="0"/>
              <a:t>Form Login</a:t>
            </a:r>
          </a:p>
          <a:p>
            <a:r>
              <a:rPr lang="en-US" dirty="0"/>
              <a:t>Login with a Database</a:t>
            </a:r>
          </a:p>
          <a:p>
            <a:r>
              <a:rPr lang="en-US" dirty="0"/>
              <a:t>Login Attempts Limit</a:t>
            </a:r>
          </a:p>
        </p:txBody>
      </p:sp>
    </p:spTree>
    <p:extLst>
      <p:ext uri="{BB962C8B-B14F-4D97-AF65-F5344CB8AC3E}">
        <p14:creationId xmlns:p14="http://schemas.microsoft.com/office/powerpoint/2010/main" val="13614880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PasswordEncoder</a:t>
            </a:r>
            <a:endParaRPr lang="en-US" b="1" dirty="0"/>
          </a:p>
        </p:txBody>
      </p:sp>
      <p:sp>
        <p:nvSpPr>
          <p:cNvPr id="3" name="コンテンツ プレースホルダー 2"/>
          <p:cNvSpPr>
            <a:spLocks noGrp="1"/>
          </p:cNvSpPr>
          <p:nvPr>
            <p:ph idx="1"/>
          </p:nvPr>
        </p:nvSpPr>
        <p:spPr/>
        <p:txBody>
          <a:bodyPr/>
          <a:lstStyle/>
          <a:p>
            <a:r>
              <a:rPr lang="en-US" dirty="0" err="1"/>
              <a:t>PasswordEncoder</a:t>
            </a:r>
            <a:r>
              <a:rPr lang="en-US" dirty="0"/>
              <a:t> </a:t>
            </a:r>
            <a:r>
              <a:rPr lang="en-US" dirty="0" err="1"/>
              <a:t>là</a:t>
            </a:r>
            <a:r>
              <a:rPr lang="en-US" dirty="0"/>
              <a:t> </a:t>
            </a:r>
            <a:r>
              <a:rPr lang="en-US" dirty="0" err="1"/>
              <a:t>một</a:t>
            </a:r>
            <a:r>
              <a:rPr lang="en-US" dirty="0"/>
              <a:t> interface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lưu</a:t>
            </a:r>
            <a:r>
              <a:rPr lang="en-US" dirty="0"/>
              <a:t> </a:t>
            </a:r>
            <a:r>
              <a:rPr lang="en-US" dirty="0" err="1"/>
              <a:t>trữ</a:t>
            </a:r>
            <a:r>
              <a:rPr lang="en-US" dirty="0"/>
              <a:t> </a:t>
            </a:r>
            <a:r>
              <a:rPr lang="en-US" dirty="0" err="1"/>
              <a:t>và</a:t>
            </a:r>
            <a:r>
              <a:rPr lang="en-US" dirty="0"/>
              <a:t> </a:t>
            </a:r>
            <a:r>
              <a:rPr lang="en-US" dirty="0" err="1"/>
              <a:t>mã</a:t>
            </a:r>
            <a:r>
              <a:rPr lang="en-US" dirty="0"/>
              <a:t> </a:t>
            </a:r>
            <a:r>
              <a:rPr lang="en-US" dirty="0" err="1"/>
              <a:t>hóa</a:t>
            </a:r>
            <a:r>
              <a:rPr lang="en-US" dirty="0"/>
              <a:t> </a:t>
            </a:r>
            <a:r>
              <a:rPr lang="en-US" dirty="0" err="1"/>
              <a:t>mật</a:t>
            </a:r>
            <a:r>
              <a:rPr lang="en-US" dirty="0"/>
              <a:t> </a:t>
            </a:r>
            <a:r>
              <a:rPr lang="en-US" dirty="0" err="1"/>
              <a:t>khẩu</a:t>
            </a:r>
            <a:r>
              <a:rPr lang="en-US" dirty="0"/>
              <a:t>.</a:t>
            </a:r>
          </a:p>
          <a:p>
            <a:r>
              <a:rPr lang="en-US" dirty="0" err="1"/>
              <a:t>Lớp</a:t>
            </a:r>
            <a:r>
              <a:rPr lang="en-US" dirty="0"/>
              <a:t> implement </a:t>
            </a:r>
            <a:r>
              <a:rPr lang="en-US" dirty="0" err="1"/>
              <a:t>phổ</a:t>
            </a:r>
            <a:r>
              <a:rPr lang="en-US" dirty="0"/>
              <a:t> </a:t>
            </a:r>
            <a:r>
              <a:rPr lang="en-US" dirty="0" err="1"/>
              <a:t>biến</a:t>
            </a:r>
            <a:r>
              <a:rPr lang="en-US" dirty="0"/>
              <a:t> </a:t>
            </a:r>
            <a:r>
              <a:rPr lang="en-US" dirty="0" err="1"/>
              <a:t>nhất</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là</a:t>
            </a:r>
            <a:r>
              <a:rPr lang="en-US" dirty="0"/>
              <a:t> </a:t>
            </a:r>
            <a:r>
              <a:rPr lang="en-US" dirty="0" err="1"/>
              <a:t>BCryptPasswordEncoder</a:t>
            </a:r>
            <a:endParaRPr lang="en-US" dirty="0"/>
          </a:p>
          <a:p>
            <a:r>
              <a:rPr lang="en-US" dirty="0" err="1"/>
              <a:t>Một</a:t>
            </a:r>
            <a:r>
              <a:rPr lang="en-US" dirty="0"/>
              <a:t> </a:t>
            </a:r>
            <a:r>
              <a:rPr lang="en-US" dirty="0" err="1"/>
              <a:t>phiên</a:t>
            </a:r>
            <a:r>
              <a:rPr lang="en-US" dirty="0"/>
              <a:t> </a:t>
            </a:r>
            <a:r>
              <a:rPr lang="en-US" dirty="0" err="1"/>
              <a:t>bản</a:t>
            </a:r>
            <a:r>
              <a:rPr lang="en-US" dirty="0"/>
              <a:t> </a:t>
            </a:r>
            <a:r>
              <a:rPr lang="en-US" dirty="0" err="1"/>
              <a:t>khác</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lưu</a:t>
            </a:r>
            <a:r>
              <a:rPr lang="en-US" dirty="0"/>
              <a:t> </a:t>
            </a:r>
            <a:r>
              <a:rPr lang="en-US" dirty="0" err="1"/>
              <a:t>trữ</a:t>
            </a:r>
            <a:r>
              <a:rPr lang="en-US" dirty="0"/>
              <a:t> </a:t>
            </a:r>
            <a:r>
              <a:rPr lang="en-US" dirty="0" err="1"/>
              <a:t>mật</a:t>
            </a:r>
            <a:r>
              <a:rPr lang="en-US" dirty="0"/>
              <a:t> </a:t>
            </a:r>
            <a:r>
              <a:rPr lang="en-US" dirty="0" err="1"/>
              <a:t>khẩu</a:t>
            </a:r>
            <a:r>
              <a:rPr lang="en-US" dirty="0"/>
              <a:t> </a:t>
            </a:r>
            <a:r>
              <a:rPr lang="en-US" dirty="0" err="1"/>
              <a:t>dưới</a:t>
            </a:r>
            <a:r>
              <a:rPr lang="en-US" dirty="0"/>
              <a:t> </a:t>
            </a:r>
            <a:r>
              <a:rPr lang="en-US" dirty="0" err="1"/>
              <a:t>dạng</a:t>
            </a:r>
            <a:r>
              <a:rPr lang="en-US" dirty="0"/>
              <a:t> </a:t>
            </a:r>
            <a:r>
              <a:rPr lang="en-US" dirty="0" err="1"/>
              <a:t>văn</a:t>
            </a:r>
            <a:r>
              <a:rPr lang="en-US" dirty="0"/>
              <a:t> </a:t>
            </a:r>
            <a:r>
              <a:rPr lang="en-US" dirty="0" err="1"/>
              <a:t>bản</a:t>
            </a:r>
            <a:r>
              <a:rPr lang="en-US" dirty="0"/>
              <a:t> </a:t>
            </a:r>
            <a:r>
              <a:rPr lang="en-US" dirty="0" err="1"/>
              <a:t>thuần</a:t>
            </a:r>
            <a:r>
              <a:rPr lang="en-US" dirty="0"/>
              <a:t> </a:t>
            </a:r>
            <a:r>
              <a:rPr lang="en-US" dirty="0" err="1"/>
              <a:t>túy</a:t>
            </a:r>
            <a:r>
              <a:rPr lang="en-US" dirty="0"/>
              <a:t> </a:t>
            </a:r>
            <a:r>
              <a:rPr lang="en-US" dirty="0" err="1"/>
              <a:t>đó</a:t>
            </a:r>
            <a:r>
              <a:rPr lang="en-US" dirty="0"/>
              <a:t> </a:t>
            </a:r>
            <a:r>
              <a:rPr lang="en-US" dirty="0" err="1"/>
              <a:t>là</a:t>
            </a:r>
            <a:r>
              <a:rPr lang="en-US" dirty="0"/>
              <a:t> </a:t>
            </a:r>
            <a:r>
              <a:rPr lang="en-US" dirty="0" err="1"/>
              <a:t>NoOpPasswordEncoder</a:t>
            </a:r>
            <a:endParaRPr lang="en-US" dirty="0"/>
          </a:p>
        </p:txBody>
      </p:sp>
    </p:spTree>
    <p:extLst>
      <p:ext uri="{BB962C8B-B14F-4D97-AF65-F5344CB8AC3E}">
        <p14:creationId xmlns:p14="http://schemas.microsoft.com/office/powerpoint/2010/main" val="9516077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a:t>Form Login</a:t>
            </a:r>
          </a:p>
        </p:txBody>
      </p:sp>
      <p:sp>
        <p:nvSpPr>
          <p:cNvPr id="3" name="コンテンツ プレースホルダー 2"/>
          <p:cNvSpPr>
            <a:spLocks noGrp="1"/>
          </p:cNvSpPr>
          <p:nvPr>
            <p:ph idx="1"/>
          </p:nvPr>
        </p:nvSpPr>
        <p:spPr/>
        <p:txBody>
          <a:bodyPr/>
          <a:lstStyle/>
          <a:p>
            <a:r>
              <a:rPr lang="en-US" dirty="0" err="1"/>
              <a:t>Khi</a:t>
            </a:r>
            <a:r>
              <a:rPr lang="en-US" dirty="0"/>
              <a:t> </a:t>
            </a:r>
            <a:r>
              <a:rPr lang="en-US" dirty="0" err="1"/>
              <a:t>thêm</a:t>
            </a:r>
            <a:r>
              <a:rPr lang="en-US" dirty="0"/>
              <a:t> Spring Security </a:t>
            </a:r>
            <a:r>
              <a:rPr lang="en-US" dirty="0" err="1"/>
              <a:t>vào</a:t>
            </a:r>
            <a:r>
              <a:rPr lang="en-US" dirty="0"/>
              <a:t> </a:t>
            </a:r>
            <a:r>
              <a:rPr lang="en-US" dirty="0" err="1"/>
              <a:t>ứng</a:t>
            </a:r>
            <a:r>
              <a:rPr lang="en-US" dirty="0"/>
              <a:t> </a:t>
            </a:r>
            <a:r>
              <a:rPr lang="en-US" dirty="0" err="1"/>
              <a:t>dụng</a:t>
            </a:r>
            <a:r>
              <a:rPr lang="en-US" dirty="0"/>
              <a:t>, </a:t>
            </a:r>
            <a:r>
              <a:rPr lang="en-US" dirty="0" err="1"/>
              <a:t>nó</a:t>
            </a:r>
            <a:r>
              <a:rPr lang="en-US" dirty="0"/>
              <a:t> </a:t>
            </a:r>
            <a:r>
              <a:rPr lang="en-US" dirty="0" err="1"/>
              <a:t>tự</a:t>
            </a:r>
            <a:r>
              <a:rPr lang="en-US" dirty="0"/>
              <a:t> </a:t>
            </a:r>
            <a:r>
              <a:rPr lang="en-US" dirty="0" err="1"/>
              <a:t>động</a:t>
            </a:r>
            <a:r>
              <a:rPr lang="en-US" dirty="0"/>
              <a:t> </a:t>
            </a:r>
            <a:r>
              <a:rPr lang="en-US" dirty="0" err="1"/>
              <a:t>thêm</a:t>
            </a:r>
            <a:r>
              <a:rPr lang="en-US" dirty="0"/>
              <a:t> </a:t>
            </a:r>
            <a:r>
              <a:rPr lang="en-US" dirty="0" err="1"/>
              <a:t>một</a:t>
            </a:r>
            <a:r>
              <a:rPr lang="en-US" dirty="0"/>
              <a:t> form </a:t>
            </a:r>
            <a:r>
              <a:rPr lang="en-US" dirty="0" err="1"/>
              <a:t>đăng</a:t>
            </a:r>
            <a:r>
              <a:rPr lang="en-US" dirty="0"/>
              <a:t> </a:t>
            </a:r>
            <a:r>
              <a:rPr lang="en-US" dirty="0" err="1"/>
              <a:t>nhập</a:t>
            </a:r>
            <a:r>
              <a:rPr lang="en-US" dirty="0"/>
              <a:t> </a:t>
            </a:r>
            <a:r>
              <a:rPr lang="en-US" dirty="0" err="1"/>
              <a:t>và</a:t>
            </a:r>
            <a:r>
              <a:rPr lang="en-US" dirty="0"/>
              <a:t> </a:t>
            </a:r>
            <a:r>
              <a:rPr lang="en-US" dirty="0" err="1"/>
              <a:t>tạo</a:t>
            </a:r>
            <a:r>
              <a:rPr lang="en-US" dirty="0"/>
              <a:t> user dummy.</a:t>
            </a:r>
          </a:p>
          <a:p>
            <a:r>
              <a:rPr lang="en-US" dirty="0"/>
              <a:t>Ở </a:t>
            </a:r>
            <a:r>
              <a:rPr lang="en-US" dirty="0" err="1"/>
              <a:t>chế</a:t>
            </a:r>
            <a:r>
              <a:rPr lang="en-US" dirty="0"/>
              <a:t> </a:t>
            </a:r>
            <a:r>
              <a:rPr lang="en-US" dirty="0" err="1"/>
              <a:t>độ</a:t>
            </a:r>
            <a:r>
              <a:rPr lang="en-US" dirty="0"/>
              <a:t> </a:t>
            </a:r>
            <a:r>
              <a:rPr lang="en-US" dirty="0" err="1"/>
              <a:t>tự</a:t>
            </a:r>
            <a:r>
              <a:rPr lang="en-US" dirty="0"/>
              <a:t> </a:t>
            </a:r>
            <a:r>
              <a:rPr lang="en-US" dirty="0" err="1"/>
              <a:t>động</a:t>
            </a:r>
            <a:r>
              <a:rPr lang="en-US" dirty="0"/>
              <a:t> </a:t>
            </a:r>
            <a:r>
              <a:rPr lang="en-US" dirty="0" err="1"/>
              <a:t>config</a:t>
            </a:r>
            <a:r>
              <a:rPr lang="en-US" dirty="0"/>
              <a:t> </a:t>
            </a:r>
            <a:r>
              <a:rPr lang="en-US" dirty="0" err="1"/>
              <a:t>nó</a:t>
            </a:r>
            <a:r>
              <a:rPr lang="en-US" dirty="0"/>
              <a:t> </a:t>
            </a:r>
            <a:r>
              <a:rPr lang="en-US" dirty="0" err="1"/>
              <a:t>tự</a:t>
            </a:r>
            <a:r>
              <a:rPr lang="en-US" dirty="0"/>
              <a:t> </a:t>
            </a:r>
            <a:r>
              <a:rPr lang="en-US" dirty="0" err="1"/>
              <a:t>động</a:t>
            </a:r>
            <a:r>
              <a:rPr lang="en-US" dirty="0"/>
              <a:t> </a:t>
            </a:r>
            <a:r>
              <a:rPr lang="en-US" dirty="0" err="1"/>
              <a:t>cài</a:t>
            </a:r>
            <a:r>
              <a:rPr lang="en-US" dirty="0"/>
              <a:t> </a:t>
            </a:r>
            <a:r>
              <a:rPr lang="en-US" dirty="0" err="1"/>
              <a:t>đặt</a:t>
            </a:r>
            <a:r>
              <a:rPr lang="en-US" dirty="0"/>
              <a:t> </a:t>
            </a:r>
            <a:r>
              <a:rPr lang="en-US" dirty="0" err="1"/>
              <a:t>các</a:t>
            </a:r>
            <a:r>
              <a:rPr lang="en-US" dirty="0"/>
              <a:t> filter </a:t>
            </a:r>
            <a:r>
              <a:rPr lang="en-US" dirty="0" err="1"/>
              <a:t>mặc</a:t>
            </a:r>
            <a:r>
              <a:rPr lang="en-US" dirty="0"/>
              <a:t> </a:t>
            </a:r>
            <a:r>
              <a:rPr lang="en-US" dirty="0" err="1"/>
              <a:t>định</a:t>
            </a:r>
            <a:r>
              <a:rPr lang="en-US" dirty="0"/>
              <a:t>, </a:t>
            </a:r>
            <a:r>
              <a:rPr lang="en-US" dirty="0" err="1"/>
              <a:t>các</a:t>
            </a:r>
            <a:r>
              <a:rPr lang="en-US" dirty="0"/>
              <a:t> </a:t>
            </a:r>
            <a:r>
              <a:rPr lang="en-US" dirty="0" err="1"/>
              <a:t>AuthenticationManager</a:t>
            </a:r>
            <a:r>
              <a:rPr lang="en-US" dirty="0"/>
              <a:t>, </a:t>
            </a:r>
            <a:r>
              <a:rPr lang="en-US" dirty="0" err="1"/>
              <a:t>AuthenticationProvider</a:t>
            </a:r>
            <a:r>
              <a:rPr lang="en-US" dirty="0"/>
              <a:t>, ...</a:t>
            </a:r>
          </a:p>
          <a:p>
            <a:r>
              <a:rPr lang="en-US" dirty="0" err="1"/>
              <a:t>Chúng</a:t>
            </a:r>
            <a:r>
              <a:rPr lang="en-US" dirty="0"/>
              <a:t> ta </a:t>
            </a:r>
            <a:r>
              <a:rPr lang="en-US" dirty="0" err="1"/>
              <a:t>có</a:t>
            </a:r>
            <a:r>
              <a:rPr lang="en-US" dirty="0"/>
              <a:t> </a:t>
            </a:r>
            <a:r>
              <a:rPr lang="en-US" dirty="0" err="1"/>
              <a:t>thể</a:t>
            </a:r>
            <a:r>
              <a:rPr lang="en-US" dirty="0"/>
              <a:t> </a:t>
            </a:r>
            <a:r>
              <a:rPr lang="en-US" dirty="0" err="1"/>
              <a:t>ghi</a:t>
            </a:r>
            <a:r>
              <a:rPr lang="en-US" dirty="0"/>
              <a:t> </a:t>
            </a:r>
            <a:r>
              <a:rPr lang="en-US" dirty="0" err="1"/>
              <a:t>đè</a:t>
            </a:r>
            <a:r>
              <a:rPr lang="en-US" dirty="0"/>
              <a:t> </a:t>
            </a:r>
            <a:r>
              <a:rPr lang="en-US" dirty="0" err="1"/>
              <a:t>config</a:t>
            </a:r>
            <a:r>
              <a:rPr lang="en-US" dirty="0"/>
              <a:t> </a:t>
            </a:r>
            <a:r>
              <a:rPr lang="en-US" dirty="0" err="1"/>
              <a:t>tự</a:t>
            </a:r>
            <a:r>
              <a:rPr lang="en-US" dirty="0"/>
              <a:t> </a:t>
            </a:r>
            <a:r>
              <a:rPr lang="en-US" dirty="0" err="1"/>
              <a:t>động</a:t>
            </a:r>
            <a:r>
              <a:rPr lang="en-US" dirty="0"/>
              <a:t> </a:t>
            </a:r>
            <a:r>
              <a:rPr lang="en-US" dirty="0" err="1"/>
              <a:t>này</a:t>
            </a:r>
            <a:r>
              <a:rPr lang="en-US" dirty="0"/>
              <a:t> </a:t>
            </a:r>
            <a:r>
              <a:rPr lang="en-US" dirty="0" err="1"/>
              <a:t>để</a:t>
            </a:r>
            <a:r>
              <a:rPr lang="en-US" dirty="0"/>
              <a:t> </a:t>
            </a:r>
            <a:r>
              <a:rPr lang="en-US" dirty="0" err="1"/>
              <a:t>thiết</a:t>
            </a:r>
            <a:r>
              <a:rPr lang="en-US" dirty="0"/>
              <a:t> </a:t>
            </a:r>
            <a:r>
              <a:rPr lang="en-US" dirty="0" err="1"/>
              <a:t>lập</a:t>
            </a:r>
            <a:r>
              <a:rPr lang="en-US" dirty="0"/>
              <a:t> </a:t>
            </a:r>
            <a:r>
              <a:rPr lang="en-US" dirty="0" err="1"/>
              <a:t>các</a:t>
            </a:r>
            <a:r>
              <a:rPr lang="en-US" dirty="0"/>
              <a:t> user </a:t>
            </a:r>
            <a:r>
              <a:rPr lang="en-US" dirty="0" err="1"/>
              <a:t>riêng</a:t>
            </a:r>
            <a:r>
              <a:rPr lang="en-US" dirty="0"/>
              <a:t> </a:t>
            </a:r>
            <a:r>
              <a:rPr lang="en-US" dirty="0" err="1"/>
              <a:t>và</a:t>
            </a:r>
            <a:r>
              <a:rPr lang="en-US" dirty="0"/>
              <a:t> </a:t>
            </a:r>
            <a:r>
              <a:rPr lang="en-US" dirty="0" err="1"/>
              <a:t>tùy</a:t>
            </a:r>
            <a:r>
              <a:rPr lang="en-US" dirty="0"/>
              <a:t> </a:t>
            </a:r>
            <a:r>
              <a:rPr lang="en-US" dirty="0" err="1"/>
              <a:t>chỉnh</a:t>
            </a:r>
            <a:r>
              <a:rPr lang="en-US" dirty="0"/>
              <a:t> </a:t>
            </a:r>
            <a:r>
              <a:rPr lang="en-US" dirty="0" err="1"/>
              <a:t>các</a:t>
            </a:r>
            <a:r>
              <a:rPr lang="en-US" dirty="0"/>
              <a:t> </a:t>
            </a:r>
            <a:r>
              <a:rPr lang="en-US" dirty="0" err="1"/>
              <a:t>xử</a:t>
            </a:r>
            <a:r>
              <a:rPr lang="en-US" dirty="0"/>
              <a:t> </a:t>
            </a:r>
            <a:r>
              <a:rPr lang="en-US" dirty="0" err="1"/>
              <a:t>lý</a:t>
            </a:r>
            <a:r>
              <a:rPr lang="en-US" dirty="0"/>
              <a:t> </a:t>
            </a:r>
            <a:r>
              <a:rPr lang="en-US" dirty="0" err="1"/>
              <a:t>xác</a:t>
            </a:r>
            <a:r>
              <a:rPr lang="en-US" dirty="0"/>
              <a:t> </a:t>
            </a:r>
            <a:r>
              <a:rPr lang="en-US" dirty="0" err="1"/>
              <a:t>thực</a:t>
            </a:r>
            <a:r>
              <a:rPr lang="en-US" dirty="0"/>
              <a:t>.</a:t>
            </a:r>
          </a:p>
          <a:p>
            <a:r>
              <a:rPr lang="en-US" dirty="0" err="1"/>
              <a:t>Đây</a:t>
            </a:r>
            <a:r>
              <a:rPr lang="en-US" dirty="0"/>
              <a:t> </a:t>
            </a:r>
            <a:r>
              <a:rPr lang="en-US" dirty="0" err="1"/>
              <a:t>là</a:t>
            </a:r>
            <a:r>
              <a:rPr lang="en-US" dirty="0"/>
              <a:t> </a:t>
            </a:r>
            <a:r>
              <a:rPr lang="en-US" dirty="0" err="1"/>
              <a:t>một</a:t>
            </a:r>
            <a:r>
              <a:rPr lang="en-US" dirty="0"/>
              <a:t> </a:t>
            </a:r>
            <a:r>
              <a:rPr lang="en-US" dirty="0" err="1"/>
              <a:t>thiết</a:t>
            </a:r>
            <a:r>
              <a:rPr lang="en-US" dirty="0"/>
              <a:t> </a:t>
            </a:r>
            <a:r>
              <a:rPr lang="en-US" dirty="0" err="1"/>
              <a:t>lập</a:t>
            </a:r>
            <a:r>
              <a:rPr lang="en-US" dirty="0"/>
              <a:t> </a:t>
            </a:r>
            <a:r>
              <a:rPr lang="en-US" dirty="0" err="1"/>
              <a:t>xác</a:t>
            </a:r>
            <a:r>
              <a:rPr lang="en-US" dirty="0"/>
              <a:t> </a:t>
            </a:r>
            <a:r>
              <a:rPr lang="en-US" dirty="0" err="1"/>
              <a:t>thực</a:t>
            </a:r>
            <a:r>
              <a:rPr lang="en-US" dirty="0"/>
              <a:t> </a:t>
            </a:r>
            <a:r>
              <a:rPr lang="en-US" dirty="0" err="1"/>
              <a:t>trong</a:t>
            </a:r>
            <a:r>
              <a:rPr lang="en-US" dirty="0"/>
              <a:t> </a:t>
            </a:r>
            <a:r>
              <a:rPr lang="en-US" dirty="0" err="1"/>
              <a:t>bộ</a:t>
            </a:r>
            <a:r>
              <a:rPr lang="en-US" dirty="0"/>
              <a:t> </a:t>
            </a:r>
            <a:r>
              <a:rPr lang="en-US" dirty="0" err="1"/>
              <a:t>nhớ</a:t>
            </a:r>
            <a:r>
              <a:rPr lang="en-US" dirty="0"/>
              <a:t>.</a:t>
            </a:r>
          </a:p>
          <a:p>
            <a:endParaRPr lang="en-US" dirty="0"/>
          </a:p>
        </p:txBody>
      </p:sp>
    </p:spTree>
    <p:extLst>
      <p:ext uri="{BB962C8B-B14F-4D97-AF65-F5344CB8AC3E}">
        <p14:creationId xmlns:p14="http://schemas.microsoft.com/office/powerpoint/2010/main" val="16039412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a:t>Login with a database</a:t>
            </a:r>
          </a:p>
        </p:txBody>
      </p:sp>
      <p:sp>
        <p:nvSpPr>
          <p:cNvPr id="3" name="コンテンツ プレースホルダー 2"/>
          <p:cNvSpPr>
            <a:spLocks noGrp="1"/>
          </p:cNvSpPr>
          <p:nvPr>
            <p:ph idx="1"/>
          </p:nvPr>
        </p:nvSpPr>
        <p:spPr/>
        <p:txBody>
          <a:bodyPr/>
          <a:lstStyle/>
          <a:p>
            <a:r>
              <a:rPr lang="en-US" dirty="0"/>
              <a:t>Ở </a:t>
            </a:r>
            <a:r>
              <a:rPr lang="en-US" dirty="0" err="1"/>
              <a:t>mục</a:t>
            </a:r>
            <a:r>
              <a:rPr lang="en-US" dirty="0"/>
              <a:t> </a:t>
            </a:r>
            <a:r>
              <a:rPr lang="en-US" dirty="0" err="1"/>
              <a:t>trên</a:t>
            </a:r>
            <a:r>
              <a:rPr lang="en-US" dirty="0"/>
              <a:t>, Spring Security </a:t>
            </a:r>
            <a:r>
              <a:rPr lang="en-US" dirty="0" err="1"/>
              <a:t>mặc</a:t>
            </a:r>
            <a:r>
              <a:rPr lang="en-US" dirty="0"/>
              <a:t> </a:t>
            </a:r>
            <a:r>
              <a:rPr lang="en-US" dirty="0" err="1"/>
              <a:t>định</a:t>
            </a:r>
            <a:r>
              <a:rPr lang="en-US" dirty="0"/>
              <a:t> </a:t>
            </a:r>
            <a:r>
              <a:rPr lang="en-US" dirty="0" err="1"/>
              <a:t>cung</a:t>
            </a:r>
            <a:r>
              <a:rPr lang="en-US" dirty="0"/>
              <a:t> </a:t>
            </a:r>
            <a:r>
              <a:rPr lang="en-US" dirty="0" err="1"/>
              <a:t>cấp</a:t>
            </a:r>
            <a:r>
              <a:rPr lang="en-US" dirty="0"/>
              <a:t> </a:t>
            </a:r>
            <a:r>
              <a:rPr lang="en-US" dirty="0" err="1"/>
              <a:t>một</a:t>
            </a:r>
            <a:r>
              <a:rPr lang="en-US" dirty="0"/>
              <a:t> </a:t>
            </a:r>
            <a:r>
              <a:rPr lang="en-US" dirty="0" err="1"/>
              <a:t>triển</a:t>
            </a:r>
            <a:r>
              <a:rPr lang="en-US" dirty="0"/>
              <a:t> </a:t>
            </a:r>
            <a:r>
              <a:rPr lang="en-US" dirty="0" err="1"/>
              <a:t>khai</a:t>
            </a:r>
            <a:r>
              <a:rPr lang="en-US" dirty="0"/>
              <a:t> </a:t>
            </a:r>
            <a:r>
              <a:rPr lang="en-US" dirty="0" err="1"/>
              <a:t>xác</a:t>
            </a:r>
            <a:r>
              <a:rPr lang="en-US" dirty="0"/>
              <a:t> </a:t>
            </a:r>
            <a:r>
              <a:rPr lang="en-US" dirty="0" err="1"/>
              <a:t>thực</a:t>
            </a:r>
            <a:r>
              <a:rPr lang="en-US" dirty="0"/>
              <a:t> </a:t>
            </a:r>
            <a:r>
              <a:rPr lang="en-US" dirty="0" err="1"/>
              <a:t>trong</a:t>
            </a:r>
            <a:r>
              <a:rPr lang="en-US" dirty="0"/>
              <a:t> </a:t>
            </a:r>
            <a:r>
              <a:rPr lang="en-US" dirty="0" err="1"/>
              <a:t>bộ</a:t>
            </a:r>
            <a:r>
              <a:rPr lang="en-US" dirty="0"/>
              <a:t> </a:t>
            </a:r>
            <a:r>
              <a:rPr lang="en-US" dirty="0" err="1"/>
              <a:t>nhớ</a:t>
            </a:r>
            <a:r>
              <a:rPr lang="en-US" dirty="0"/>
              <a:t>.</a:t>
            </a:r>
          </a:p>
          <a:p>
            <a:r>
              <a:rPr lang="en-US" dirty="0" err="1"/>
              <a:t>Chúng</a:t>
            </a:r>
            <a:r>
              <a:rPr lang="en-US" dirty="0"/>
              <a:t> ta </a:t>
            </a:r>
            <a:r>
              <a:rPr lang="en-US" dirty="0" err="1"/>
              <a:t>có</a:t>
            </a:r>
            <a:r>
              <a:rPr lang="en-US" dirty="0"/>
              <a:t> </a:t>
            </a:r>
            <a:r>
              <a:rPr lang="en-US" dirty="0" err="1"/>
              <a:t>thể</a:t>
            </a:r>
            <a:r>
              <a:rPr lang="en-US" dirty="0"/>
              <a:t> </a:t>
            </a:r>
            <a:r>
              <a:rPr lang="en-US" dirty="0" err="1"/>
              <a:t>ghi</a:t>
            </a:r>
            <a:r>
              <a:rPr lang="en-US" dirty="0"/>
              <a:t> </a:t>
            </a:r>
            <a:r>
              <a:rPr lang="en-US" dirty="0" err="1"/>
              <a:t>đè</a:t>
            </a:r>
            <a:r>
              <a:rPr lang="en-US" dirty="0"/>
              <a:t> </a:t>
            </a:r>
            <a:r>
              <a:rPr lang="en-US" dirty="0" err="1"/>
              <a:t>điều</a:t>
            </a:r>
            <a:r>
              <a:rPr lang="en-US" dirty="0"/>
              <a:t> </a:t>
            </a:r>
            <a:r>
              <a:rPr lang="en-US" dirty="0" err="1"/>
              <a:t>này</a:t>
            </a:r>
            <a:r>
              <a:rPr lang="en-US" dirty="0"/>
              <a:t> </a:t>
            </a:r>
            <a:r>
              <a:rPr lang="en-US" dirty="0" err="1"/>
              <a:t>bằng</a:t>
            </a:r>
            <a:r>
              <a:rPr lang="en-US" dirty="0"/>
              <a:t> </a:t>
            </a:r>
            <a:r>
              <a:rPr lang="en-US" dirty="0" err="1"/>
              <a:t>cách</a:t>
            </a:r>
            <a:r>
              <a:rPr lang="en-US" dirty="0"/>
              <a:t> </a:t>
            </a:r>
            <a:r>
              <a:rPr lang="en-US" dirty="0" err="1"/>
              <a:t>xác</a:t>
            </a:r>
            <a:r>
              <a:rPr lang="en-US" dirty="0"/>
              <a:t> </a:t>
            </a:r>
            <a:r>
              <a:rPr lang="en-US" dirty="0" err="1"/>
              <a:t>thực</a:t>
            </a:r>
            <a:r>
              <a:rPr lang="en-US" dirty="0"/>
              <a:t> user </a:t>
            </a:r>
            <a:r>
              <a:rPr lang="en-US" dirty="0" err="1"/>
              <a:t>mà</a:t>
            </a:r>
            <a:r>
              <a:rPr lang="en-US" dirty="0"/>
              <a:t> </a:t>
            </a:r>
            <a:r>
              <a:rPr lang="en-US" dirty="0" err="1"/>
              <a:t>có</a:t>
            </a:r>
            <a:r>
              <a:rPr lang="en-US" dirty="0"/>
              <a:t> </a:t>
            </a:r>
            <a:r>
              <a:rPr lang="en-US" dirty="0" err="1"/>
              <a:t>thông</a:t>
            </a:r>
            <a:r>
              <a:rPr lang="en-US" dirty="0"/>
              <a:t> tin </a:t>
            </a:r>
            <a:r>
              <a:rPr lang="en-US" dirty="0" err="1"/>
              <a:t>được</a:t>
            </a:r>
            <a:r>
              <a:rPr lang="en-US" dirty="0"/>
              <a:t> </a:t>
            </a:r>
            <a:r>
              <a:rPr lang="en-US" dirty="0" err="1"/>
              <a:t>lưu</a:t>
            </a:r>
            <a:r>
              <a:rPr lang="en-US" dirty="0"/>
              <a:t> </a:t>
            </a:r>
            <a:r>
              <a:rPr lang="en-US" dirty="0" err="1"/>
              <a:t>trữ</a:t>
            </a:r>
            <a:r>
              <a:rPr lang="en-US" dirty="0"/>
              <a:t> </a:t>
            </a:r>
            <a:r>
              <a:rPr lang="en-US" dirty="0" err="1"/>
              <a:t>trong</a:t>
            </a:r>
            <a:r>
              <a:rPr lang="en-US" dirty="0"/>
              <a:t> database.</a:t>
            </a:r>
          </a:p>
          <a:p>
            <a:r>
              <a:rPr lang="en-US" dirty="0" err="1"/>
              <a:t>Điều</a:t>
            </a:r>
            <a:r>
              <a:rPr lang="en-US" dirty="0"/>
              <a:t> </a:t>
            </a:r>
            <a:r>
              <a:rPr lang="en-US" dirty="0" err="1"/>
              <a:t>này</a:t>
            </a:r>
            <a:r>
              <a:rPr lang="en-US" dirty="0"/>
              <a:t> </a:t>
            </a:r>
            <a:r>
              <a:rPr lang="en-US" dirty="0" err="1"/>
              <a:t>cho</a:t>
            </a:r>
            <a:r>
              <a:rPr lang="en-US" dirty="0"/>
              <a:t> </a:t>
            </a:r>
            <a:r>
              <a:rPr lang="en-US" dirty="0" err="1"/>
              <a:t>phép</a:t>
            </a:r>
            <a:r>
              <a:rPr lang="en-US" dirty="0"/>
              <a:t> </a:t>
            </a:r>
            <a:r>
              <a:rPr lang="en-US" dirty="0" err="1"/>
              <a:t>các</a:t>
            </a:r>
            <a:r>
              <a:rPr lang="en-US" dirty="0"/>
              <a:t> user </a:t>
            </a:r>
            <a:r>
              <a:rPr lang="en-US" dirty="0" err="1"/>
              <a:t>có</a:t>
            </a:r>
            <a:r>
              <a:rPr lang="en-US" dirty="0"/>
              <a:t> </a:t>
            </a:r>
            <a:r>
              <a:rPr lang="en-US" dirty="0" err="1"/>
              <a:t>thể</a:t>
            </a:r>
            <a:r>
              <a:rPr lang="en-US" dirty="0"/>
              <a:t> </a:t>
            </a:r>
            <a:r>
              <a:rPr lang="en-US" dirty="0" err="1"/>
              <a:t>đăng</a:t>
            </a:r>
            <a:r>
              <a:rPr lang="en-US" dirty="0"/>
              <a:t> </a:t>
            </a:r>
            <a:r>
              <a:rPr lang="en-US" dirty="0" err="1"/>
              <a:t>ký</a:t>
            </a:r>
            <a:r>
              <a:rPr lang="en-US" dirty="0"/>
              <a:t>, </a:t>
            </a:r>
            <a:r>
              <a:rPr lang="en-US" dirty="0" err="1"/>
              <a:t>thay</a:t>
            </a:r>
            <a:r>
              <a:rPr lang="en-US" dirty="0"/>
              <a:t> </a:t>
            </a:r>
            <a:r>
              <a:rPr lang="en-US" dirty="0" err="1"/>
              <a:t>đổi</a:t>
            </a:r>
            <a:r>
              <a:rPr lang="en-US" dirty="0"/>
              <a:t> </a:t>
            </a:r>
            <a:r>
              <a:rPr lang="en-US" dirty="0" err="1"/>
              <a:t>và</a:t>
            </a:r>
            <a:r>
              <a:rPr lang="en-US" dirty="0"/>
              <a:t> update </a:t>
            </a:r>
            <a:r>
              <a:rPr lang="en-US" dirty="0" err="1"/>
              <a:t>mật</a:t>
            </a:r>
            <a:r>
              <a:rPr lang="en-US" dirty="0"/>
              <a:t> </a:t>
            </a:r>
            <a:r>
              <a:rPr lang="en-US" dirty="0" err="1"/>
              <a:t>khẩu</a:t>
            </a:r>
            <a:r>
              <a:rPr lang="en-US" dirty="0"/>
              <a:t>, </a:t>
            </a:r>
            <a:r>
              <a:rPr lang="en-US" dirty="0" err="1"/>
              <a:t>quyền</a:t>
            </a:r>
            <a:r>
              <a:rPr lang="en-US" dirty="0"/>
              <a:t> </a:t>
            </a:r>
            <a:r>
              <a:rPr lang="en-US" dirty="0" err="1"/>
              <a:t>hạn</a:t>
            </a:r>
            <a:r>
              <a:rPr lang="en-US" dirty="0"/>
              <a:t> </a:t>
            </a:r>
            <a:r>
              <a:rPr lang="en-US" dirty="0" err="1"/>
              <a:t>trong</a:t>
            </a:r>
            <a:r>
              <a:rPr lang="en-US" dirty="0"/>
              <a:t> database.</a:t>
            </a:r>
          </a:p>
          <a:p>
            <a:endParaRPr lang="en-US" dirty="0"/>
          </a:p>
        </p:txBody>
      </p:sp>
    </p:spTree>
    <p:extLst>
      <p:ext uri="{BB962C8B-B14F-4D97-AF65-F5344CB8AC3E}">
        <p14:creationId xmlns:p14="http://schemas.microsoft.com/office/powerpoint/2010/main" val="18292847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a:t>Login attempts limit</a:t>
            </a:r>
          </a:p>
        </p:txBody>
      </p:sp>
      <p:sp>
        <p:nvSpPr>
          <p:cNvPr id="3" name="コンテンツ プレースホルダー 2"/>
          <p:cNvSpPr>
            <a:spLocks noGrp="1"/>
          </p:cNvSpPr>
          <p:nvPr>
            <p:ph idx="1"/>
          </p:nvPr>
        </p:nvSpPr>
        <p:spPr/>
        <p:txBody>
          <a:bodyPr>
            <a:normAutofit fontScale="85000" lnSpcReduction="10000"/>
          </a:bodyPr>
          <a:lstStyle/>
          <a:p>
            <a:r>
              <a:rPr lang="en-US" dirty="0" err="1"/>
              <a:t>Để</a:t>
            </a:r>
            <a:r>
              <a:rPr lang="en-US" dirty="0"/>
              <a:t> </a:t>
            </a:r>
            <a:r>
              <a:rPr lang="en-US" dirty="0" err="1"/>
              <a:t>giới</a:t>
            </a:r>
            <a:r>
              <a:rPr lang="en-US" dirty="0"/>
              <a:t> </a:t>
            </a:r>
            <a:r>
              <a:rPr lang="en-US" dirty="0" err="1"/>
              <a:t>hạn</a:t>
            </a:r>
            <a:r>
              <a:rPr lang="en-US" dirty="0"/>
              <a:t> </a:t>
            </a:r>
            <a:r>
              <a:rPr lang="en-US" dirty="0" err="1"/>
              <a:t>việc</a:t>
            </a:r>
            <a:r>
              <a:rPr lang="en-US" dirty="0"/>
              <a:t> </a:t>
            </a:r>
            <a:r>
              <a:rPr lang="en-US" dirty="0" err="1"/>
              <a:t>cố</a:t>
            </a:r>
            <a:r>
              <a:rPr lang="en-US" dirty="0"/>
              <a:t> </a:t>
            </a:r>
            <a:r>
              <a:rPr lang="en-US" dirty="0" err="1"/>
              <a:t>gắng</a:t>
            </a:r>
            <a:r>
              <a:rPr lang="en-US" dirty="0"/>
              <a:t> </a:t>
            </a:r>
            <a:r>
              <a:rPr lang="en-US" dirty="0" err="1"/>
              <a:t>đăng</a:t>
            </a:r>
            <a:r>
              <a:rPr lang="en-US" dirty="0"/>
              <a:t> </a:t>
            </a:r>
            <a:r>
              <a:rPr lang="en-US" dirty="0" err="1"/>
              <a:t>nhập</a:t>
            </a:r>
            <a:r>
              <a:rPr lang="en-US" dirty="0"/>
              <a:t> </a:t>
            </a:r>
            <a:r>
              <a:rPr lang="en-US" dirty="0" err="1"/>
              <a:t>vào</a:t>
            </a:r>
            <a:r>
              <a:rPr lang="en-US" dirty="0"/>
              <a:t> </a:t>
            </a:r>
            <a:r>
              <a:rPr lang="en-US" dirty="0" err="1"/>
              <a:t>ứng</a:t>
            </a:r>
            <a:r>
              <a:rPr lang="en-US" dirty="0"/>
              <a:t> </a:t>
            </a:r>
            <a:r>
              <a:rPr lang="en-US" dirty="0" err="1"/>
              <a:t>dụng</a:t>
            </a:r>
            <a:r>
              <a:rPr lang="en-US" dirty="0"/>
              <a:t>, ở Spring </a:t>
            </a:r>
            <a:r>
              <a:rPr lang="en-US" dirty="0" err="1"/>
              <a:t>Securiry</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thuộc</a:t>
            </a:r>
            <a:r>
              <a:rPr lang="en-US" dirty="0"/>
              <a:t> </a:t>
            </a:r>
            <a:r>
              <a:rPr lang="en-US" dirty="0" err="1"/>
              <a:t>tính</a:t>
            </a:r>
            <a:r>
              <a:rPr lang="en-US" dirty="0"/>
              <a:t> </a:t>
            </a:r>
            <a:r>
              <a:rPr lang="en-US" dirty="0" err="1"/>
              <a:t>isAccountNonLocked</a:t>
            </a:r>
            <a:r>
              <a:rPr lang="en-US" dirty="0"/>
              <a:t>.</a:t>
            </a:r>
          </a:p>
          <a:p>
            <a:r>
              <a:rPr lang="en-US" dirty="0" err="1"/>
              <a:t>Chúng</a:t>
            </a:r>
            <a:r>
              <a:rPr lang="en-US" dirty="0"/>
              <a:t> ta </a:t>
            </a:r>
            <a:r>
              <a:rPr lang="en-US" dirty="0" err="1"/>
              <a:t>có</a:t>
            </a:r>
            <a:r>
              <a:rPr lang="en-US" dirty="0"/>
              <a:t> </a:t>
            </a:r>
            <a:r>
              <a:rPr lang="en-US" dirty="0" err="1"/>
              <a:t>thể</a:t>
            </a:r>
            <a:r>
              <a:rPr lang="en-US" dirty="0"/>
              <a:t> </a:t>
            </a:r>
            <a:r>
              <a:rPr lang="en-US" dirty="0" err="1"/>
              <a:t>thiết</a:t>
            </a:r>
            <a:r>
              <a:rPr lang="en-US" dirty="0"/>
              <a:t> </a:t>
            </a:r>
            <a:r>
              <a:rPr lang="en-US" dirty="0" err="1"/>
              <a:t>lập</a:t>
            </a:r>
            <a:r>
              <a:rPr lang="en-US" dirty="0"/>
              <a:t> </a:t>
            </a:r>
            <a:r>
              <a:rPr lang="en-US" dirty="0" err="1"/>
              <a:t>một</a:t>
            </a:r>
            <a:r>
              <a:rPr lang="en-US" dirty="0"/>
              <a:t> </a:t>
            </a:r>
            <a:r>
              <a:rPr lang="en-US" dirty="0" err="1"/>
              <a:t>xác</a:t>
            </a:r>
            <a:r>
              <a:rPr lang="en-US" dirty="0"/>
              <a:t> </a:t>
            </a:r>
            <a:r>
              <a:rPr lang="en-US" dirty="0" err="1"/>
              <a:t>thực</a:t>
            </a:r>
            <a:r>
              <a:rPr lang="en-US" dirty="0"/>
              <a:t>, </a:t>
            </a:r>
            <a:r>
              <a:rPr lang="en-US" dirty="0" err="1"/>
              <a:t>mà</a:t>
            </a:r>
            <a:r>
              <a:rPr lang="en-US" dirty="0"/>
              <a:t> </a:t>
            </a:r>
            <a:r>
              <a:rPr lang="en-US" dirty="0" err="1"/>
              <a:t>trong</a:t>
            </a:r>
            <a:r>
              <a:rPr lang="en-US" dirty="0"/>
              <a:t> </a:t>
            </a:r>
            <a:r>
              <a:rPr lang="en-US" dirty="0" err="1"/>
              <a:t>đó</a:t>
            </a:r>
            <a:r>
              <a:rPr lang="en-US" dirty="0"/>
              <a:t>, </a:t>
            </a:r>
            <a:r>
              <a:rPr lang="en-US" dirty="0" err="1"/>
              <a:t>người</a:t>
            </a:r>
            <a:r>
              <a:rPr lang="en-US" dirty="0"/>
              <a:t> </a:t>
            </a:r>
            <a:r>
              <a:rPr lang="en-US" dirty="0" err="1"/>
              <a:t>dùng</a:t>
            </a:r>
            <a:r>
              <a:rPr lang="en-US" dirty="0"/>
              <a:t> </a:t>
            </a:r>
            <a:r>
              <a:rPr lang="en-US" dirty="0" err="1"/>
              <a:t>cung</a:t>
            </a:r>
            <a:r>
              <a:rPr lang="en-US" dirty="0"/>
              <a:t> </a:t>
            </a:r>
            <a:r>
              <a:rPr lang="en-US" dirty="0" err="1"/>
              <a:t>cấp</a:t>
            </a:r>
            <a:r>
              <a:rPr lang="en-US" dirty="0"/>
              <a:t> </a:t>
            </a:r>
            <a:r>
              <a:rPr lang="en-US" dirty="0" err="1"/>
              <a:t>thông</a:t>
            </a:r>
            <a:r>
              <a:rPr lang="en-US" dirty="0"/>
              <a:t> tin </a:t>
            </a:r>
            <a:r>
              <a:rPr lang="en-US" dirty="0" err="1"/>
              <a:t>đăng</a:t>
            </a:r>
            <a:r>
              <a:rPr lang="en-US" dirty="0"/>
              <a:t> </a:t>
            </a:r>
            <a:r>
              <a:rPr lang="en-US" dirty="0" err="1"/>
              <a:t>nhập</a:t>
            </a:r>
            <a:r>
              <a:rPr lang="en-US" dirty="0"/>
              <a:t> </a:t>
            </a:r>
            <a:r>
              <a:rPr lang="en-US" dirty="0" err="1"/>
              <a:t>không</a:t>
            </a:r>
            <a:r>
              <a:rPr lang="en-US" dirty="0"/>
              <a:t> </a:t>
            </a:r>
            <a:r>
              <a:rPr lang="en-US" dirty="0" err="1"/>
              <a:t>đúng</a:t>
            </a:r>
            <a:r>
              <a:rPr lang="en-US" dirty="0"/>
              <a:t> </a:t>
            </a:r>
            <a:r>
              <a:rPr lang="en-US" dirty="0" err="1"/>
              <a:t>trong</a:t>
            </a:r>
            <a:r>
              <a:rPr lang="en-US" dirty="0"/>
              <a:t> </a:t>
            </a:r>
            <a:r>
              <a:rPr lang="en-US" dirty="0" err="1"/>
              <a:t>một</a:t>
            </a:r>
            <a:r>
              <a:rPr lang="en-US" dirty="0"/>
              <a:t> </a:t>
            </a:r>
            <a:r>
              <a:rPr lang="en-US" dirty="0" err="1"/>
              <a:t>số</a:t>
            </a:r>
            <a:r>
              <a:rPr lang="en-US" dirty="0"/>
              <a:t> </a:t>
            </a:r>
            <a:r>
              <a:rPr lang="en-US" dirty="0" err="1"/>
              <a:t>lần</a:t>
            </a:r>
            <a:r>
              <a:rPr lang="en-US" dirty="0"/>
              <a:t> </a:t>
            </a:r>
            <a:r>
              <a:rPr lang="en-US" dirty="0" err="1"/>
              <a:t>nhất</a:t>
            </a:r>
            <a:r>
              <a:rPr lang="en-US" dirty="0"/>
              <a:t> </a:t>
            </a:r>
            <a:r>
              <a:rPr lang="en-US" dirty="0" err="1"/>
              <a:t>định</a:t>
            </a:r>
            <a:r>
              <a:rPr lang="en-US" dirty="0"/>
              <a:t>, </a:t>
            </a:r>
            <a:r>
              <a:rPr lang="en-US" dirty="0" err="1"/>
              <a:t>tài</a:t>
            </a:r>
            <a:r>
              <a:rPr lang="en-US" dirty="0"/>
              <a:t> </a:t>
            </a:r>
            <a:r>
              <a:rPr lang="en-US" dirty="0" err="1"/>
              <a:t>khoản</a:t>
            </a:r>
            <a:r>
              <a:rPr lang="en-US" dirty="0"/>
              <a:t> </a:t>
            </a:r>
            <a:r>
              <a:rPr lang="en-US" dirty="0" err="1"/>
              <a:t>của</a:t>
            </a:r>
            <a:r>
              <a:rPr lang="en-US" dirty="0"/>
              <a:t> </a:t>
            </a:r>
            <a:r>
              <a:rPr lang="en-US" dirty="0" err="1"/>
              <a:t>họ</a:t>
            </a:r>
            <a:r>
              <a:rPr lang="en-US" dirty="0"/>
              <a:t> </a:t>
            </a:r>
            <a:r>
              <a:rPr lang="en-US" dirty="0" err="1"/>
              <a:t>sẽ</a:t>
            </a:r>
            <a:r>
              <a:rPr lang="en-US" dirty="0"/>
              <a:t> </a:t>
            </a:r>
            <a:r>
              <a:rPr lang="en-US" dirty="0" err="1"/>
              <a:t>bị</a:t>
            </a:r>
            <a:r>
              <a:rPr lang="en-US" dirty="0"/>
              <a:t> </a:t>
            </a:r>
            <a:r>
              <a:rPr lang="en-US" dirty="0" err="1"/>
              <a:t>khóa</a:t>
            </a:r>
            <a:r>
              <a:rPr lang="en-US" dirty="0"/>
              <a:t>.</a:t>
            </a:r>
          </a:p>
          <a:p>
            <a:r>
              <a:rPr lang="en-US" dirty="0" err="1"/>
              <a:t>Số</a:t>
            </a:r>
            <a:r>
              <a:rPr lang="en-US" dirty="0"/>
              <a:t> </a:t>
            </a:r>
            <a:r>
              <a:rPr lang="en-US" dirty="0" err="1"/>
              <a:t>lần</a:t>
            </a:r>
            <a:r>
              <a:rPr lang="en-US" dirty="0"/>
              <a:t> </a:t>
            </a:r>
            <a:r>
              <a:rPr lang="en-US" dirty="0" err="1"/>
              <a:t>đăng</a:t>
            </a:r>
            <a:r>
              <a:rPr lang="en-US" dirty="0"/>
              <a:t> </a:t>
            </a:r>
            <a:r>
              <a:rPr lang="en-US" dirty="0" err="1"/>
              <a:t>nhập</a:t>
            </a:r>
            <a:r>
              <a:rPr lang="en-US" dirty="0"/>
              <a:t> </a:t>
            </a:r>
            <a:r>
              <a:rPr lang="en-US" dirty="0" err="1"/>
              <a:t>không</a:t>
            </a:r>
            <a:r>
              <a:rPr lang="en-US" dirty="0"/>
              <a:t> </a:t>
            </a:r>
            <a:r>
              <a:rPr lang="en-US" dirty="0" err="1"/>
              <a:t>đúng</a:t>
            </a:r>
            <a:r>
              <a:rPr lang="en-US" dirty="0"/>
              <a:t> </a:t>
            </a:r>
            <a:r>
              <a:rPr lang="en-US" dirty="0" err="1"/>
              <a:t>được</a:t>
            </a:r>
            <a:r>
              <a:rPr lang="en-US" dirty="0"/>
              <a:t> </a:t>
            </a:r>
            <a:r>
              <a:rPr lang="en-US" dirty="0" err="1"/>
              <a:t>lưu</a:t>
            </a:r>
            <a:r>
              <a:rPr lang="en-US" dirty="0"/>
              <a:t> </a:t>
            </a:r>
            <a:r>
              <a:rPr lang="en-US" dirty="0" err="1"/>
              <a:t>trữ</a:t>
            </a:r>
            <a:r>
              <a:rPr lang="en-US" dirty="0"/>
              <a:t> </a:t>
            </a:r>
            <a:r>
              <a:rPr lang="en-US" dirty="0" err="1"/>
              <a:t>trong</a:t>
            </a:r>
            <a:r>
              <a:rPr lang="en-US" dirty="0"/>
              <a:t> database, </a:t>
            </a:r>
            <a:r>
              <a:rPr lang="en-US" dirty="0" err="1"/>
              <a:t>mỗi</a:t>
            </a:r>
            <a:r>
              <a:rPr lang="en-US" dirty="0"/>
              <a:t> </a:t>
            </a:r>
            <a:r>
              <a:rPr lang="en-US" dirty="0" err="1"/>
              <a:t>lần</a:t>
            </a:r>
            <a:r>
              <a:rPr lang="en-US" dirty="0"/>
              <a:t> </a:t>
            </a:r>
            <a:r>
              <a:rPr lang="en-US" dirty="0" err="1"/>
              <a:t>đăng</a:t>
            </a:r>
            <a:r>
              <a:rPr lang="en-US" dirty="0"/>
              <a:t> </a:t>
            </a:r>
            <a:r>
              <a:rPr lang="en-US" dirty="0" err="1"/>
              <a:t>nhập</a:t>
            </a:r>
            <a:r>
              <a:rPr lang="en-US" dirty="0"/>
              <a:t> </a:t>
            </a:r>
            <a:r>
              <a:rPr lang="en-US" dirty="0" err="1"/>
              <a:t>không</a:t>
            </a:r>
            <a:r>
              <a:rPr lang="en-US" dirty="0"/>
              <a:t> </a:t>
            </a:r>
            <a:r>
              <a:rPr lang="en-US" dirty="0" err="1"/>
              <a:t>đúng</a:t>
            </a:r>
            <a:r>
              <a:rPr lang="en-US" dirty="0"/>
              <a:t> </a:t>
            </a:r>
            <a:r>
              <a:rPr lang="en-US" dirty="0" err="1"/>
              <a:t>số</a:t>
            </a:r>
            <a:r>
              <a:rPr lang="en-US" dirty="0"/>
              <a:t> </a:t>
            </a:r>
            <a:r>
              <a:rPr lang="en-US" dirty="0" err="1"/>
              <a:t>lần</a:t>
            </a:r>
            <a:r>
              <a:rPr lang="en-US" dirty="0"/>
              <a:t> </a:t>
            </a:r>
            <a:r>
              <a:rPr lang="en-US" dirty="0" err="1"/>
              <a:t>đăng</a:t>
            </a:r>
            <a:r>
              <a:rPr lang="en-US" dirty="0"/>
              <a:t> </a:t>
            </a:r>
            <a:r>
              <a:rPr lang="en-US" dirty="0" err="1"/>
              <a:t>nhập</a:t>
            </a:r>
            <a:r>
              <a:rPr lang="en-US" dirty="0"/>
              <a:t> </a:t>
            </a:r>
            <a:r>
              <a:rPr lang="en-US" dirty="0" err="1"/>
              <a:t>sẽ</a:t>
            </a:r>
            <a:r>
              <a:rPr lang="en-US" dirty="0"/>
              <a:t> </a:t>
            </a:r>
            <a:r>
              <a:rPr lang="en-US" dirty="0" err="1"/>
              <a:t>được</a:t>
            </a:r>
            <a:r>
              <a:rPr lang="en-US" dirty="0"/>
              <a:t> </a:t>
            </a:r>
            <a:r>
              <a:rPr lang="en-US" dirty="0" err="1"/>
              <a:t>tăng</a:t>
            </a:r>
            <a:r>
              <a:rPr lang="en-US" dirty="0"/>
              <a:t> </a:t>
            </a:r>
            <a:r>
              <a:rPr lang="en-US" dirty="0" err="1"/>
              <a:t>lên</a:t>
            </a:r>
            <a:r>
              <a:rPr lang="en-US" dirty="0"/>
              <a:t> </a:t>
            </a:r>
            <a:r>
              <a:rPr lang="en-US" dirty="0" err="1"/>
              <a:t>và</a:t>
            </a:r>
            <a:r>
              <a:rPr lang="en-US" dirty="0"/>
              <a:t> </a:t>
            </a:r>
            <a:r>
              <a:rPr lang="en-US" dirty="0" err="1"/>
              <a:t>kiểm</a:t>
            </a:r>
            <a:r>
              <a:rPr lang="en-US" dirty="0"/>
              <a:t> </a:t>
            </a:r>
            <a:r>
              <a:rPr lang="en-US" dirty="0" err="1"/>
              <a:t>tra</a:t>
            </a:r>
            <a:r>
              <a:rPr lang="en-US" dirty="0"/>
              <a:t> </a:t>
            </a:r>
            <a:r>
              <a:rPr lang="en-US" dirty="0" err="1"/>
              <a:t>nếu</a:t>
            </a:r>
            <a:r>
              <a:rPr lang="en-US" dirty="0"/>
              <a:t> </a:t>
            </a:r>
            <a:r>
              <a:rPr lang="en-US" dirty="0" err="1"/>
              <a:t>vượt</a:t>
            </a:r>
            <a:r>
              <a:rPr lang="en-US" dirty="0"/>
              <a:t> </a:t>
            </a:r>
            <a:r>
              <a:rPr lang="en-US" dirty="0" err="1"/>
              <a:t>quá</a:t>
            </a:r>
            <a:r>
              <a:rPr lang="en-US" dirty="0"/>
              <a:t> </a:t>
            </a:r>
            <a:r>
              <a:rPr lang="en-US" dirty="0" err="1"/>
              <a:t>giá</a:t>
            </a:r>
            <a:r>
              <a:rPr lang="en-US" dirty="0"/>
              <a:t> </a:t>
            </a:r>
            <a:r>
              <a:rPr lang="en-US" dirty="0" err="1"/>
              <a:t>trị</a:t>
            </a:r>
            <a:r>
              <a:rPr lang="en-US" dirty="0"/>
              <a:t> </a:t>
            </a:r>
            <a:r>
              <a:rPr lang="en-US" dirty="0" err="1"/>
              <a:t>giới</a:t>
            </a:r>
            <a:r>
              <a:rPr lang="en-US" dirty="0"/>
              <a:t> </a:t>
            </a:r>
            <a:r>
              <a:rPr lang="en-US" dirty="0" err="1"/>
              <a:t>hạn</a:t>
            </a:r>
            <a:r>
              <a:rPr lang="en-US" dirty="0"/>
              <a:t>, </a:t>
            </a:r>
            <a:r>
              <a:rPr lang="en-US" dirty="0" err="1"/>
              <a:t>tài</a:t>
            </a:r>
            <a:r>
              <a:rPr lang="en-US" dirty="0"/>
              <a:t> </a:t>
            </a:r>
            <a:r>
              <a:rPr lang="en-US" dirty="0" err="1"/>
              <a:t>khoản</a:t>
            </a:r>
            <a:r>
              <a:rPr lang="en-US" dirty="0"/>
              <a:t> </a:t>
            </a:r>
            <a:r>
              <a:rPr lang="en-US" dirty="0" err="1"/>
              <a:t>đó</a:t>
            </a:r>
            <a:r>
              <a:rPr lang="en-US" dirty="0"/>
              <a:t> </a:t>
            </a:r>
            <a:r>
              <a:rPr lang="en-US" dirty="0" err="1"/>
              <a:t>sẽ</a:t>
            </a:r>
            <a:r>
              <a:rPr lang="en-US" dirty="0"/>
              <a:t> </a:t>
            </a:r>
            <a:r>
              <a:rPr lang="en-US" dirty="0" err="1"/>
              <a:t>bị</a:t>
            </a:r>
            <a:r>
              <a:rPr lang="en-US" dirty="0"/>
              <a:t> </a:t>
            </a:r>
            <a:r>
              <a:rPr lang="en-US" dirty="0" err="1"/>
              <a:t>khóa</a:t>
            </a:r>
            <a:r>
              <a:rPr lang="en-US" dirty="0"/>
              <a:t>.</a:t>
            </a:r>
          </a:p>
          <a:p>
            <a:r>
              <a:rPr lang="en-US" dirty="0"/>
              <a:t>Spring Security </a:t>
            </a:r>
            <a:r>
              <a:rPr lang="en-US" dirty="0" err="1"/>
              <a:t>vô</a:t>
            </a:r>
            <a:r>
              <a:rPr lang="en-US" dirty="0"/>
              <a:t> </a:t>
            </a:r>
            <a:r>
              <a:rPr lang="en-US" dirty="0" err="1"/>
              <a:t>hiệu</a:t>
            </a:r>
            <a:r>
              <a:rPr lang="en-US" dirty="0"/>
              <a:t> </a:t>
            </a:r>
            <a:r>
              <a:rPr lang="en-US" dirty="0" err="1"/>
              <a:t>hóa</a:t>
            </a:r>
            <a:r>
              <a:rPr lang="en-US" dirty="0"/>
              <a:t> </a:t>
            </a:r>
            <a:r>
              <a:rPr lang="en-US" dirty="0" err="1"/>
              <a:t>việc</a:t>
            </a:r>
            <a:r>
              <a:rPr lang="en-US" dirty="0"/>
              <a:t> </a:t>
            </a:r>
            <a:r>
              <a:rPr lang="en-US" dirty="0" err="1"/>
              <a:t>xác</a:t>
            </a:r>
            <a:r>
              <a:rPr lang="en-US" dirty="0"/>
              <a:t> </a:t>
            </a:r>
            <a:r>
              <a:rPr lang="en-US" dirty="0" err="1"/>
              <a:t>thực</a:t>
            </a:r>
            <a:r>
              <a:rPr lang="en-US" dirty="0"/>
              <a:t> </a:t>
            </a:r>
            <a:r>
              <a:rPr lang="en-US" dirty="0" err="1"/>
              <a:t>cho</a:t>
            </a:r>
            <a:r>
              <a:rPr lang="en-US" dirty="0"/>
              <a:t> user </a:t>
            </a:r>
            <a:r>
              <a:rPr lang="en-US" dirty="0" err="1"/>
              <a:t>đã</a:t>
            </a:r>
            <a:r>
              <a:rPr lang="en-US" dirty="0"/>
              <a:t> </a:t>
            </a:r>
            <a:r>
              <a:rPr lang="en-US" dirty="0" err="1"/>
              <a:t>bị</a:t>
            </a:r>
            <a:r>
              <a:rPr lang="en-US" dirty="0"/>
              <a:t> </a:t>
            </a:r>
            <a:r>
              <a:rPr lang="en-US" dirty="0" err="1"/>
              <a:t>khóa</a:t>
            </a:r>
            <a:r>
              <a:rPr lang="en-US" dirty="0"/>
              <a:t>, </a:t>
            </a:r>
            <a:r>
              <a:rPr lang="en-US" dirty="0" err="1"/>
              <a:t>cho</a:t>
            </a:r>
            <a:r>
              <a:rPr lang="en-US" dirty="0"/>
              <a:t> </a:t>
            </a:r>
            <a:r>
              <a:rPr lang="en-US" dirty="0" err="1"/>
              <a:t>dù</a:t>
            </a:r>
            <a:r>
              <a:rPr lang="en-US" dirty="0"/>
              <a:t> user </a:t>
            </a:r>
            <a:r>
              <a:rPr lang="en-US" dirty="0" err="1"/>
              <a:t>có</a:t>
            </a:r>
            <a:r>
              <a:rPr lang="en-US" dirty="0"/>
              <a:t> </a:t>
            </a:r>
            <a:r>
              <a:rPr lang="en-US" dirty="0" err="1"/>
              <a:t>cung</a:t>
            </a:r>
            <a:r>
              <a:rPr lang="en-US" dirty="0"/>
              <a:t> </a:t>
            </a:r>
            <a:r>
              <a:rPr lang="en-US" dirty="0" err="1"/>
              <a:t>cấp</a:t>
            </a:r>
            <a:r>
              <a:rPr lang="en-US" dirty="0"/>
              <a:t> </a:t>
            </a:r>
            <a:r>
              <a:rPr lang="en-US" dirty="0" err="1"/>
              <a:t>thông</a:t>
            </a:r>
            <a:r>
              <a:rPr lang="en-US" dirty="0"/>
              <a:t> tin </a:t>
            </a:r>
            <a:r>
              <a:rPr lang="en-US" dirty="0" err="1"/>
              <a:t>đăng</a:t>
            </a:r>
            <a:r>
              <a:rPr lang="en-US" dirty="0"/>
              <a:t> </a:t>
            </a:r>
            <a:r>
              <a:rPr lang="en-US" dirty="0" err="1"/>
              <a:t>nhập</a:t>
            </a:r>
            <a:r>
              <a:rPr lang="en-US" dirty="0"/>
              <a:t> </a:t>
            </a:r>
            <a:r>
              <a:rPr lang="en-US" dirty="0" err="1"/>
              <a:t>đúng</a:t>
            </a:r>
            <a:r>
              <a:rPr lang="en-US" dirty="0"/>
              <a:t>.</a:t>
            </a:r>
          </a:p>
        </p:txBody>
      </p:sp>
    </p:spTree>
    <p:extLst>
      <p:ext uri="{BB962C8B-B14F-4D97-AF65-F5344CB8AC3E}">
        <p14:creationId xmlns:p14="http://schemas.microsoft.com/office/powerpoint/2010/main" val="3221355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361593" y="2250655"/>
            <a:ext cx="7949565" cy="373483"/>
          </a:xfrm>
        </p:spPr>
        <p:txBody>
          <a:bodyPr>
            <a:normAutofit fontScale="70000" lnSpcReduction="20000"/>
          </a:bodyPr>
          <a:lstStyle/>
          <a:p>
            <a:r>
              <a:rPr lang="en-US" dirty="0" err="1"/>
              <a:t>Config</a:t>
            </a:r>
            <a:r>
              <a:rPr lang="en-US" dirty="0"/>
              <a:t> </a:t>
            </a:r>
            <a:r>
              <a:rPr lang="en-US" dirty="0" err="1"/>
              <a:t>Gradle</a:t>
            </a:r>
            <a:r>
              <a:rPr lang="en-US" dirty="0"/>
              <a:t> dependencies</a:t>
            </a:r>
          </a:p>
        </p:txBody>
      </p:sp>
      <p:grpSp>
        <p:nvGrpSpPr>
          <p:cNvPr id="7" name="グループ化 6"/>
          <p:cNvGrpSpPr/>
          <p:nvPr/>
        </p:nvGrpSpPr>
        <p:grpSpPr>
          <a:xfrm>
            <a:off x="365694" y="2775095"/>
            <a:ext cx="8561243" cy="2271211"/>
            <a:chOff x="98134" y="2517101"/>
            <a:chExt cx="11993649" cy="3181794"/>
          </a:xfrm>
        </p:grpSpPr>
        <p:pic>
          <p:nvPicPr>
            <p:cNvPr id="5" name="図 4"/>
            <p:cNvPicPr>
              <a:picLocks noChangeAspect="1"/>
            </p:cNvPicPr>
            <p:nvPr/>
          </p:nvPicPr>
          <p:blipFill>
            <a:blip r:embed="rId2"/>
            <a:stretch>
              <a:fillRect/>
            </a:stretch>
          </p:blipFill>
          <p:spPr>
            <a:xfrm>
              <a:off x="98134" y="2517101"/>
              <a:ext cx="11993649" cy="3181794"/>
            </a:xfrm>
            <a:prstGeom prst="rect">
              <a:avLst/>
            </a:prstGeom>
          </p:spPr>
        </p:pic>
        <p:sp>
          <p:nvSpPr>
            <p:cNvPr id="6" name="正方形/長方形 5"/>
            <p:cNvSpPr/>
            <p:nvPr/>
          </p:nvSpPr>
          <p:spPr>
            <a:xfrm>
              <a:off x="1202919" y="3410466"/>
              <a:ext cx="10536195" cy="2553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Tree>
    <p:extLst>
      <p:ext uri="{BB962C8B-B14F-4D97-AF65-F5344CB8AC3E}">
        <p14:creationId xmlns:p14="http://schemas.microsoft.com/office/powerpoint/2010/main" val="13634594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1" y="2277428"/>
            <a:ext cx="8099953" cy="3417570"/>
          </a:xfrm>
        </p:spPr>
        <p:txBody>
          <a:bodyPr/>
          <a:lstStyle/>
          <a:p>
            <a:r>
              <a:rPr lang="en-US" dirty="0"/>
              <a:t>Refresh </a:t>
            </a:r>
            <a:r>
              <a:rPr lang="en-US" dirty="0" err="1"/>
              <a:t>Gradle</a:t>
            </a:r>
            <a:r>
              <a:rPr lang="en-US" dirty="0"/>
              <a:t> </a:t>
            </a:r>
            <a:r>
              <a:rPr lang="en-US" dirty="0" err="1"/>
              <a:t>để</a:t>
            </a:r>
            <a:r>
              <a:rPr lang="en-US" dirty="0"/>
              <a:t> </a:t>
            </a:r>
            <a:r>
              <a:rPr lang="en-US" dirty="0" err="1"/>
              <a:t>lấy</a:t>
            </a:r>
            <a:r>
              <a:rPr lang="en-US" dirty="0"/>
              <a:t> </a:t>
            </a:r>
            <a:r>
              <a:rPr lang="en-US" dirty="0" err="1"/>
              <a:t>thư</a:t>
            </a:r>
            <a:r>
              <a:rPr lang="en-US" dirty="0"/>
              <a:t> </a:t>
            </a:r>
            <a:r>
              <a:rPr lang="en-US" dirty="0" err="1"/>
              <a:t>viện</a:t>
            </a:r>
            <a:r>
              <a:rPr lang="en-US" dirty="0"/>
              <a:t> </a:t>
            </a:r>
            <a:r>
              <a:rPr lang="en-US" dirty="0" err="1"/>
              <a:t>vừa</a:t>
            </a:r>
            <a:r>
              <a:rPr lang="en-US" dirty="0"/>
              <a:t> </a:t>
            </a:r>
            <a:r>
              <a:rPr lang="en-US" dirty="0" err="1"/>
              <a:t>thêm</a:t>
            </a:r>
            <a:endParaRPr lang="en-US" dirty="0"/>
          </a:p>
        </p:txBody>
      </p:sp>
      <p:pic>
        <p:nvPicPr>
          <p:cNvPr id="6" name="図 5"/>
          <p:cNvPicPr>
            <a:picLocks noChangeAspect="1"/>
          </p:cNvPicPr>
          <p:nvPr/>
        </p:nvPicPr>
        <p:blipFill>
          <a:blip r:embed="rId2"/>
          <a:stretch>
            <a:fillRect/>
          </a:stretch>
        </p:blipFill>
        <p:spPr>
          <a:xfrm>
            <a:off x="1103049" y="2662237"/>
            <a:ext cx="5523220" cy="3350032"/>
          </a:xfrm>
          <a:prstGeom prst="rect">
            <a:avLst/>
          </a:prstGeom>
        </p:spPr>
      </p:pic>
    </p:spTree>
    <p:extLst>
      <p:ext uri="{BB962C8B-B14F-4D97-AF65-F5344CB8AC3E}">
        <p14:creationId xmlns:p14="http://schemas.microsoft.com/office/powerpoint/2010/main" val="10320992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977372" y="2277427"/>
            <a:ext cx="7949565" cy="394170"/>
          </a:xfrm>
        </p:spPr>
        <p:txBody>
          <a:bodyPr>
            <a:normAutofit fontScale="55000" lnSpcReduction="20000"/>
          </a:bodyPr>
          <a:lstStyle/>
          <a:p>
            <a:r>
              <a:rPr lang="en-US" dirty="0" err="1"/>
              <a:t>Tạo</a:t>
            </a:r>
            <a:r>
              <a:rPr lang="en-US" dirty="0"/>
              <a:t> class </a:t>
            </a:r>
            <a:r>
              <a:rPr lang="en-US" dirty="0" err="1"/>
              <a:t>WebSecurityConfig</a:t>
            </a:r>
            <a:r>
              <a:rPr lang="en-US" dirty="0"/>
              <a:t> implement </a:t>
            </a:r>
            <a:r>
              <a:rPr lang="en-US" dirty="0" err="1"/>
              <a:t>WebSecurityConfigurerAdapter</a:t>
            </a:r>
            <a:endParaRPr lang="en-US" dirty="0"/>
          </a:p>
        </p:txBody>
      </p:sp>
      <p:grpSp>
        <p:nvGrpSpPr>
          <p:cNvPr id="6" name="グループ化 5"/>
          <p:cNvGrpSpPr/>
          <p:nvPr/>
        </p:nvGrpSpPr>
        <p:grpSpPr>
          <a:xfrm>
            <a:off x="977372" y="2671597"/>
            <a:ext cx="6083752" cy="3281821"/>
            <a:chOff x="1202919" y="2496812"/>
            <a:chExt cx="7487695" cy="4039164"/>
          </a:xfrm>
        </p:grpSpPr>
        <p:pic>
          <p:nvPicPr>
            <p:cNvPr id="4" name="図 3"/>
            <p:cNvPicPr>
              <a:picLocks noChangeAspect="1"/>
            </p:cNvPicPr>
            <p:nvPr/>
          </p:nvPicPr>
          <p:blipFill>
            <a:blip r:embed="rId3"/>
            <a:stretch>
              <a:fillRect/>
            </a:stretch>
          </p:blipFill>
          <p:spPr>
            <a:xfrm>
              <a:off x="1202919" y="2496812"/>
              <a:ext cx="7487695" cy="4039164"/>
            </a:xfrm>
            <a:prstGeom prst="rect">
              <a:avLst/>
            </a:prstGeom>
          </p:spPr>
        </p:pic>
        <p:sp>
          <p:nvSpPr>
            <p:cNvPr id="5" name="正方形/長方形 4"/>
            <p:cNvSpPr/>
            <p:nvPr/>
          </p:nvSpPr>
          <p:spPr>
            <a:xfrm>
              <a:off x="1565189" y="3476367"/>
              <a:ext cx="1342768" cy="3295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Tree>
    <p:extLst>
      <p:ext uri="{BB962C8B-B14F-4D97-AF65-F5344CB8AC3E}">
        <p14:creationId xmlns:p14="http://schemas.microsoft.com/office/powerpoint/2010/main" val="20349209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p:txBody>
          <a:bodyPr/>
          <a:lstStyle/>
          <a:p>
            <a:r>
              <a:rPr lang="en-US" dirty="0" err="1"/>
              <a:t>Khởi</a:t>
            </a:r>
            <a:r>
              <a:rPr lang="en-US" dirty="0"/>
              <a:t> </a:t>
            </a:r>
            <a:r>
              <a:rPr lang="en-US" dirty="0" err="1"/>
              <a:t>chạy</a:t>
            </a:r>
            <a:r>
              <a:rPr lang="en-US" dirty="0"/>
              <a:t> project </a:t>
            </a:r>
            <a:r>
              <a:rPr lang="en-US" dirty="0" err="1"/>
              <a:t>bằng</a:t>
            </a:r>
            <a:r>
              <a:rPr lang="en-US" dirty="0"/>
              <a:t> </a:t>
            </a:r>
            <a:r>
              <a:rPr lang="en-US" dirty="0" err="1"/>
              <a:t>Gradle</a:t>
            </a:r>
            <a:r>
              <a:rPr lang="en-US" dirty="0"/>
              <a:t> Task: </a:t>
            </a:r>
            <a:r>
              <a:rPr lang="en-US" dirty="0" err="1"/>
              <a:t>bootRun</a:t>
            </a:r>
            <a:endParaRPr lang="en-US" dirty="0"/>
          </a:p>
        </p:txBody>
      </p:sp>
      <p:pic>
        <p:nvPicPr>
          <p:cNvPr id="6" name="図 5"/>
          <p:cNvPicPr>
            <a:picLocks noChangeAspect="1"/>
          </p:cNvPicPr>
          <p:nvPr/>
        </p:nvPicPr>
        <p:blipFill>
          <a:blip r:embed="rId2"/>
          <a:stretch>
            <a:fillRect/>
          </a:stretch>
        </p:blipFill>
        <p:spPr>
          <a:xfrm>
            <a:off x="977372" y="2715901"/>
            <a:ext cx="7120931" cy="2825152"/>
          </a:xfrm>
          <a:prstGeom prst="rect">
            <a:avLst/>
          </a:prstGeom>
        </p:spPr>
      </p:pic>
    </p:spTree>
    <p:extLst>
      <p:ext uri="{BB962C8B-B14F-4D97-AF65-F5344CB8AC3E}">
        <p14:creationId xmlns:p14="http://schemas.microsoft.com/office/powerpoint/2010/main" val="21286617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p:txBody>
          <a:bodyPr/>
          <a:lstStyle/>
          <a:p>
            <a:r>
              <a:rPr lang="en-US" dirty="0"/>
              <a:t>Password </a:t>
            </a:r>
            <a:r>
              <a:rPr lang="en-US" dirty="0" err="1"/>
              <a:t>được</a:t>
            </a:r>
            <a:r>
              <a:rPr lang="en-US" dirty="0"/>
              <a:t> </a:t>
            </a:r>
            <a:r>
              <a:rPr lang="en-US" dirty="0" err="1"/>
              <a:t>sinh</a:t>
            </a:r>
            <a:r>
              <a:rPr lang="en-US" dirty="0"/>
              <a:t> </a:t>
            </a:r>
            <a:r>
              <a:rPr lang="en-US" dirty="0" err="1"/>
              <a:t>ra</a:t>
            </a:r>
            <a:r>
              <a:rPr lang="en-US" dirty="0"/>
              <a:t> ở log, username </a:t>
            </a:r>
            <a:r>
              <a:rPr lang="en-US" dirty="0" err="1"/>
              <a:t>mặc</a:t>
            </a:r>
            <a:r>
              <a:rPr lang="en-US" dirty="0"/>
              <a:t> </a:t>
            </a:r>
            <a:r>
              <a:rPr lang="en-US" dirty="0" err="1"/>
              <a:t>định</a:t>
            </a:r>
            <a:r>
              <a:rPr lang="en-US" dirty="0"/>
              <a:t> </a:t>
            </a:r>
            <a:r>
              <a:rPr lang="en-US" dirty="0" err="1"/>
              <a:t>là</a:t>
            </a:r>
            <a:r>
              <a:rPr lang="en-US" dirty="0"/>
              <a:t> ‘user’: </a:t>
            </a:r>
          </a:p>
        </p:txBody>
      </p:sp>
      <p:grpSp>
        <p:nvGrpSpPr>
          <p:cNvPr id="7" name="グループ化 6"/>
          <p:cNvGrpSpPr/>
          <p:nvPr/>
        </p:nvGrpSpPr>
        <p:grpSpPr>
          <a:xfrm>
            <a:off x="977372" y="2720005"/>
            <a:ext cx="5350126" cy="3432796"/>
            <a:chOff x="1202919" y="2556390"/>
            <a:chExt cx="6584770" cy="4224980"/>
          </a:xfrm>
        </p:grpSpPr>
        <p:pic>
          <p:nvPicPr>
            <p:cNvPr id="5" name="図 4"/>
            <p:cNvPicPr>
              <a:picLocks noChangeAspect="1"/>
            </p:cNvPicPr>
            <p:nvPr/>
          </p:nvPicPr>
          <p:blipFill>
            <a:blip r:embed="rId2"/>
            <a:stretch>
              <a:fillRect/>
            </a:stretch>
          </p:blipFill>
          <p:spPr>
            <a:xfrm>
              <a:off x="1202919" y="2556390"/>
              <a:ext cx="6584770" cy="4224980"/>
            </a:xfrm>
            <a:prstGeom prst="rect">
              <a:avLst/>
            </a:prstGeom>
          </p:spPr>
        </p:pic>
        <p:sp>
          <p:nvSpPr>
            <p:cNvPr id="6" name="正方形/長方形 5"/>
            <p:cNvSpPr/>
            <p:nvPr/>
          </p:nvSpPr>
          <p:spPr>
            <a:xfrm>
              <a:off x="1202919" y="5609968"/>
              <a:ext cx="6071092" cy="3542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Tree>
    <p:extLst>
      <p:ext uri="{BB962C8B-B14F-4D97-AF65-F5344CB8AC3E}">
        <p14:creationId xmlns:p14="http://schemas.microsoft.com/office/powerpoint/2010/main" val="12001361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p:txBody>
          <a:bodyPr/>
          <a:lstStyle/>
          <a:p>
            <a:r>
              <a:rPr lang="en-US" dirty="0" err="1"/>
              <a:t>Chạy</a:t>
            </a:r>
            <a:r>
              <a:rPr lang="en-US" dirty="0"/>
              <a:t> </a:t>
            </a:r>
            <a:r>
              <a:rPr lang="en-US" dirty="0" err="1"/>
              <a:t>thử</a:t>
            </a:r>
            <a:r>
              <a:rPr lang="en-US" dirty="0"/>
              <a:t> request /</a:t>
            </a:r>
            <a:r>
              <a:rPr lang="en-US" dirty="0" err="1"/>
              <a:t>getAll</a:t>
            </a:r>
            <a:r>
              <a:rPr lang="en-US" dirty="0"/>
              <a:t> </a:t>
            </a:r>
            <a:r>
              <a:rPr lang="en-US" dirty="0" err="1"/>
              <a:t>không</a:t>
            </a:r>
            <a:r>
              <a:rPr lang="en-US" dirty="0"/>
              <a:t> </a:t>
            </a:r>
            <a:r>
              <a:rPr lang="en-US" dirty="0" err="1"/>
              <a:t>bị</a:t>
            </a:r>
            <a:r>
              <a:rPr lang="en-US" dirty="0"/>
              <a:t> </a:t>
            </a:r>
            <a:r>
              <a:rPr lang="en-US" dirty="0" err="1"/>
              <a:t>xác</a:t>
            </a:r>
            <a:r>
              <a:rPr lang="en-US" dirty="0"/>
              <a:t> </a:t>
            </a:r>
            <a:r>
              <a:rPr lang="en-US" dirty="0" err="1"/>
              <a:t>thực</a:t>
            </a:r>
            <a:endParaRPr lang="en-US" dirty="0"/>
          </a:p>
        </p:txBody>
      </p:sp>
      <p:pic>
        <p:nvPicPr>
          <p:cNvPr id="5" name="図 4"/>
          <p:cNvPicPr>
            <a:picLocks noChangeAspect="1"/>
          </p:cNvPicPr>
          <p:nvPr/>
        </p:nvPicPr>
        <p:blipFill>
          <a:blip r:embed="rId2"/>
          <a:stretch>
            <a:fillRect/>
          </a:stretch>
        </p:blipFill>
        <p:spPr>
          <a:xfrm>
            <a:off x="977372" y="2844979"/>
            <a:ext cx="6416578" cy="2662609"/>
          </a:xfrm>
          <a:prstGeom prst="rect">
            <a:avLst/>
          </a:prstGeom>
        </p:spPr>
      </p:pic>
    </p:spTree>
    <p:extLst>
      <p:ext uri="{BB962C8B-B14F-4D97-AF65-F5344CB8AC3E}">
        <p14:creationId xmlns:p14="http://schemas.microsoft.com/office/powerpoint/2010/main" val="2993186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p:txBody>
          <a:bodyPr/>
          <a:lstStyle/>
          <a:p>
            <a:r>
              <a:rPr lang="en-US" dirty="0" err="1"/>
              <a:t>Chạy</a:t>
            </a:r>
            <a:r>
              <a:rPr lang="en-US" dirty="0"/>
              <a:t> </a:t>
            </a:r>
            <a:r>
              <a:rPr lang="en-US" dirty="0" err="1"/>
              <a:t>thử</a:t>
            </a:r>
            <a:r>
              <a:rPr lang="en-US" dirty="0"/>
              <a:t> request </a:t>
            </a:r>
            <a:r>
              <a:rPr lang="en-US" dirty="0" err="1"/>
              <a:t>khác</a:t>
            </a:r>
            <a:r>
              <a:rPr lang="en-US" dirty="0"/>
              <a:t>: /id/001, </a:t>
            </a:r>
            <a:r>
              <a:rPr lang="en-US" dirty="0" err="1"/>
              <a:t>màn</a:t>
            </a:r>
            <a:r>
              <a:rPr lang="en-US" dirty="0"/>
              <a:t> </a:t>
            </a:r>
            <a:r>
              <a:rPr lang="en-US" dirty="0" err="1"/>
              <a:t>hình</a:t>
            </a:r>
            <a:r>
              <a:rPr lang="en-US" dirty="0"/>
              <a:t> login </a:t>
            </a:r>
            <a:r>
              <a:rPr lang="en-US" dirty="0" err="1"/>
              <a:t>được</a:t>
            </a:r>
            <a:r>
              <a:rPr lang="en-US" dirty="0"/>
              <a:t> </a:t>
            </a:r>
            <a:r>
              <a:rPr lang="en-US" dirty="0" err="1"/>
              <a:t>hiển</a:t>
            </a:r>
            <a:r>
              <a:rPr lang="en-US" dirty="0"/>
              <a:t> </a:t>
            </a:r>
            <a:r>
              <a:rPr lang="en-US" dirty="0" err="1"/>
              <a:t>thị</a:t>
            </a:r>
            <a:endParaRPr lang="en-US" dirty="0"/>
          </a:p>
        </p:txBody>
      </p:sp>
      <p:pic>
        <p:nvPicPr>
          <p:cNvPr id="4" name="図 3"/>
          <p:cNvPicPr>
            <a:picLocks noChangeAspect="1"/>
          </p:cNvPicPr>
          <p:nvPr/>
        </p:nvPicPr>
        <p:blipFill rotWithShape="1">
          <a:blip r:embed="rId2"/>
          <a:srcRect b="51753"/>
          <a:stretch/>
        </p:blipFill>
        <p:spPr>
          <a:xfrm>
            <a:off x="1171916" y="2923803"/>
            <a:ext cx="6424318" cy="2625282"/>
          </a:xfrm>
          <a:prstGeom prst="rect">
            <a:avLst/>
          </a:prstGeom>
        </p:spPr>
      </p:pic>
    </p:spTree>
    <p:extLst>
      <p:ext uri="{BB962C8B-B14F-4D97-AF65-F5344CB8AC3E}">
        <p14:creationId xmlns:p14="http://schemas.microsoft.com/office/powerpoint/2010/main" val="17766477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977372" y="2277427"/>
            <a:ext cx="7949565" cy="487687"/>
          </a:xfrm>
        </p:spPr>
        <p:txBody>
          <a:bodyPr>
            <a:normAutofit fontScale="62500" lnSpcReduction="20000"/>
          </a:bodyPr>
          <a:lstStyle/>
          <a:p>
            <a:r>
              <a:rPr lang="en-US" dirty="0" err="1"/>
              <a:t>Nhập</a:t>
            </a:r>
            <a:r>
              <a:rPr lang="en-US" dirty="0"/>
              <a:t> username, password </a:t>
            </a:r>
            <a:r>
              <a:rPr lang="en-US" dirty="0" err="1"/>
              <a:t>được</a:t>
            </a:r>
            <a:r>
              <a:rPr lang="en-US" dirty="0"/>
              <a:t> </a:t>
            </a:r>
            <a:r>
              <a:rPr lang="en-US" dirty="0" err="1"/>
              <a:t>sinh</a:t>
            </a:r>
            <a:r>
              <a:rPr lang="en-US" dirty="0"/>
              <a:t> </a:t>
            </a:r>
            <a:r>
              <a:rPr lang="en-US" dirty="0" err="1"/>
              <a:t>ra</a:t>
            </a:r>
            <a:r>
              <a:rPr lang="en-US" dirty="0"/>
              <a:t> ở log </a:t>
            </a:r>
            <a:r>
              <a:rPr lang="en-US" dirty="0" err="1"/>
              <a:t>và</a:t>
            </a:r>
            <a:r>
              <a:rPr lang="en-US" dirty="0"/>
              <a:t> </a:t>
            </a:r>
            <a:r>
              <a:rPr lang="en-US" dirty="0" err="1"/>
              <a:t>đăng</a:t>
            </a:r>
            <a:r>
              <a:rPr lang="en-US" dirty="0"/>
              <a:t> </a:t>
            </a:r>
            <a:r>
              <a:rPr lang="en-US" dirty="0" err="1"/>
              <a:t>nhập</a:t>
            </a:r>
            <a:endParaRPr lang="en-US" dirty="0"/>
          </a:p>
        </p:txBody>
      </p:sp>
      <p:pic>
        <p:nvPicPr>
          <p:cNvPr id="5" name="図 4"/>
          <p:cNvPicPr>
            <a:picLocks noChangeAspect="1"/>
          </p:cNvPicPr>
          <p:nvPr/>
        </p:nvPicPr>
        <p:blipFill>
          <a:blip r:embed="rId2"/>
          <a:stretch>
            <a:fillRect/>
          </a:stretch>
        </p:blipFill>
        <p:spPr>
          <a:xfrm>
            <a:off x="977372" y="2851809"/>
            <a:ext cx="7469238" cy="3041876"/>
          </a:xfrm>
          <a:prstGeom prst="rect">
            <a:avLst/>
          </a:prstGeom>
        </p:spPr>
      </p:pic>
    </p:spTree>
    <p:extLst>
      <p:ext uri="{BB962C8B-B14F-4D97-AF65-F5344CB8AC3E}">
        <p14:creationId xmlns:p14="http://schemas.microsoft.com/office/powerpoint/2010/main" val="1242365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548747" y="2363152"/>
            <a:ext cx="2625676" cy="975360"/>
          </a:xfrm>
        </p:spPr>
        <p:txBody>
          <a:bodyPr>
            <a:normAutofit fontScale="40000" lnSpcReduction="20000"/>
          </a:bodyPr>
          <a:lstStyle/>
          <a:p>
            <a:r>
              <a:rPr lang="en-US" dirty="0" err="1"/>
              <a:t>Trường</a:t>
            </a:r>
            <a:r>
              <a:rPr lang="en-US" dirty="0"/>
              <a:t> </a:t>
            </a:r>
            <a:r>
              <a:rPr lang="en-US" dirty="0" err="1"/>
              <a:t>hợp</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trình</a:t>
            </a:r>
            <a:r>
              <a:rPr lang="en-US" dirty="0"/>
              <a:t> </a:t>
            </a:r>
            <a:r>
              <a:rPr lang="en-US" dirty="0" err="1"/>
              <a:t>duyệt</a:t>
            </a:r>
            <a:r>
              <a:rPr lang="en-US" dirty="0"/>
              <a:t>, </a:t>
            </a:r>
            <a:r>
              <a:rPr lang="en-US" dirty="0" err="1"/>
              <a:t>chưa</a:t>
            </a:r>
            <a:r>
              <a:rPr lang="en-US" dirty="0"/>
              <a:t> </a:t>
            </a:r>
            <a:r>
              <a:rPr lang="en-US" dirty="0" err="1"/>
              <a:t>có</a:t>
            </a:r>
            <a:r>
              <a:rPr lang="en-US" dirty="0"/>
              <a:t> </a:t>
            </a:r>
            <a:r>
              <a:rPr lang="en-US" dirty="0" err="1"/>
              <a:t>thông</a:t>
            </a:r>
            <a:r>
              <a:rPr lang="en-US" dirty="0"/>
              <a:t> tin </a:t>
            </a:r>
            <a:r>
              <a:rPr lang="en-US" dirty="0" err="1"/>
              <a:t>xác</a:t>
            </a:r>
            <a:r>
              <a:rPr lang="en-US" dirty="0"/>
              <a:t> </a:t>
            </a:r>
            <a:r>
              <a:rPr lang="en-US" dirty="0" err="1"/>
              <a:t>thực</a:t>
            </a:r>
            <a:endParaRPr lang="en-US" dirty="0"/>
          </a:p>
          <a:p>
            <a:r>
              <a:rPr lang="en-US" dirty="0" err="1"/>
              <a:t>Lỗi</a:t>
            </a:r>
            <a:r>
              <a:rPr lang="en-US" dirty="0"/>
              <a:t> 401 Unauthorized </a:t>
            </a:r>
            <a:r>
              <a:rPr lang="en-US" dirty="0" err="1"/>
              <a:t>được</a:t>
            </a:r>
            <a:r>
              <a:rPr lang="en-US" dirty="0"/>
              <a:t> </a:t>
            </a:r>
            <a:r>
              <a:rPr lang="en-US" dirty="0" err="1"/>
              <a:t>trả</a:t>
            </a:r>
            <a:r>
              <a:rPr lang="en-US" dirty="0"/>
              <a:t> </a:t>
            </a:r>
            <a:r>
              <a:rPr lang="en-US" dirty="0" err="1"/>
              <a:t>về</a:t>
            </a:r>
            <a:endParaRPr lang="en-US" dirty="0"/>
          </a:p>
        </p:txBody>
      </p:sp>
      <p:grpSp>
        <p:nvGrpSpPr>
          <p:cNvPr id="7" name="グループ化 6"/>
          <p:cNvGrpSpPr/>
          <p:nvPr/>
        </p:nvGrpSpPr>
        <p:grpSpPr>
          <a:xfrm>
            <a:off x="3283908" y="2277428"/>
            <a:ext cx="6176634" cy="3738489"/>
            <a:chOff x="4041732" y="2011680"/>
            <a:chExt cx="7602011" cy="4601217"/>
          </a:xfrm>
        </p:grpSpPr>
        <p:pic>
          <p:nvPicPr>
            <p:cNvPr id="4" name="図 3"/>
            <p:cNvPicPr>
              <a:picLocks noChangeAspect="1"/>
            </p:cNvPicPr>
            <p:nvPr/>
          </p:nvPicPr>
          <p:blipFill>
            <a:blip r:embed="rId2"/>
            <a:stretch>
              <a:fillRect/>
            </a:stretch>
          </p:blipFill>
          <p:spPr>
            <a:xfrm>
              <a:off x="4041732" y="2011680"/>
              <a:ext cx="7602011" cy="4601217"/>
            </a:xfrm>
            <a:prstGeom prst="rect">
              <a:avLst/>
            </a:prstGeom>
          </p:spPr>
        </p:pic>
        <p:sp>
          <p:nvSpPr>
            <p:cNvPr id="6" name="正方形/長方形 5"/>
            <p:cNvSpPr/>
            <p:nvPr/>
          </p:nvSpPr>
          <p:spPr>
            <a:xfrm>
              <a:off x="4196862" y="4630615"/>
              <a:ext cx="1723292"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Tree>
    <p:extLst>
      <p:ext uri="{BB962C8B-B14F-4D97-AF65-F5344CB8AC3E}">
        <p14:creationId xmlns:p14="http://schemas.microsoft.com/office/powerpoint/2010/main" val="12677802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548747" y="2363152"/>
            <a:ext cx="2394478" cy="975360"/>
          </a:xfrm>
        </p:spPr>
        <p:txBody>
          <a:bodyPr>
            <a:normAutofit fontScale="40000" lnSpcReduction="20000"/>
          </a:bodyPr>
          <a:lstStyle/>
          <a:p>
            <a:r>
              <a:rPr lang="en-US" dirty="0" err="1"/>
              <a:t>Trường</a:t>
            </a:r>
            <a:r>
              <a:rPr lang="en-US" dirty="0"/>
              <a:t> </a:t>
            </a:r>
            <a:r>
              <a:rPr lang="en-US" dirty="0" err="1"/>
              <a:t>hợp</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trình</a:t>
            </a:r>
            <a:r>
              <a:rPr lang="en-US" dirty="0"/>
              <a:t> </a:t>
            </a:r>
            <a:r>
              <a:rPr lang="en-US" dirty="0" err="1"/>
              <a:t>duyệt</a:t>
            </a:r>
            <a:r>
              <a:rPr lang="en-US" dirty="0"/>
              <a:t> </a:t>
            </a:r>
            <a:r>
              <a:rPr lang="en-US" dirty="0" err="1"/>
              <a:t>và</a:t>
            </a:r>
            <a:r>
              <a:rPr lang="en-US" dirty="0"/>
              <a:t> </a:t>
            </a:r>
            <a:r>
              <a:rPr lang="en-US" dirty="0" err="1"/>
              <a:t>thêm</a:t>
            </a:r>
            <a:r>
              <a:rPr lang="en-US" dirty="0"/>
              <a:t> </a:t>
            </a:r>
            <a:r>
              <a:rPr lang="en-US" dirty="0" err="1"/>
              <a:t>thông</a:t>
            </a:r>
            <a:r>
              <a:rPr lang="en-US" dirty="0"/>
              <a:t> tin Basic Authentication</a:t>
            </a:r>
          </a:p>
          <a:p>
            <a:r>
              <a:rPr lang="en-US" dirty="0" err="1"/>
              <a:t>Thông</a:t>
            </a:r>
            <a:r>
              <a:rPr lang="en-US" dirty="0"/>
              <a:t> tin </a:t>
            </a:r>
            <a:r>
              <a:rPr lang="en-US" dirty="0" err="1"/>
              <a:t>trả</a:t>
            </a:r>
            <a:r>
              <a:rPr lang="en-US" dirty="0"/>
              <a:t> </a:t>
            </a:r>
            <a:r>
              <a:rPr lang="en-US" dirty="0" err="1"/>
              <a:t>về</a:t>
            </a:r>
            <a:r>
              <a:rPr lang="en-US" dirty="0"/>
              <a:t> normal</a:t>
            </a:r>
          </a:p>
        </p:txBody>
      </p:sp>
      <p:grpSp>
        <p:nvGrpSpPr>
          <p:cNvPr id="9" name="グループ化 8"/>
          <p:cNvGrpSpPr/>
          <p:nvPr/>
        </p:nvGrpSpPr>
        <p:grpSpPr>
          <a:xfrm>
            <a:off x="3076575" y="2240991"/>
            <a:ext cx="6702530" cy="3768376"/>
            <a:chOff x="3786554" y="1966835"/>
            <a:chExt cx="8249268" cy="4638001"/>
          </a:xfrm>
        </p:grpSpPr>
        <p:grpSp>
          <p:nvGrpSpPr>
            <p:cNvPr id="7" name="グループ化 6"/>
            <p:cNvGrpSpPr/>
            <p:nvPr/>
          </p:nvGrpSpPr>
          <p:grpSpPr>
            <a:xfrm>
              <a:off x="3786554" y="1966835"/>
              <a:ext cx="8249268" cy="4638001"/>
              <a:chOff x="3786554" y="1966835"/>
              <a:chExt cx="8249268" cy="4638001"/>
            </a:xfrm>
          </p:grpSpPr>
          <p:pic>
            <p:nvPicPr>
              <p:cNvPr id="5" name="図 4"/>
              <p:cNvPicPr>
                <a:picLocks noChangeAspect="1"/>
              </p:cNvPicPr>
              <p:nvPr/>
            </p:nvPicPr>
            <p:blipFill>
              <a:blip r:embed="rId2"/>
              <a:stretch>
                <a:fillRect/>
              </a:stretch>
            </p:blipFill>
            <p:spPr>
              <a:xfrm>
                <a:off x="3786554" y="1966835"/>
                <a:ext cx="8249268" cy="4638001"/>
              </a:xfrm>
              <a:prstGeom prst="rect">
                <a:avLst/>
              </a:prstGeom>
            </p:spPr>
          </p:pic>
          <p:sp>
            <p:nvSpPr>
              <p:cNvPr id="6" name="正方形/長方形 5"/>
              <p:cNvSpPr/>
              <p:nvPr/>
            </p:nvSpPr>
            <p:spPr>
              <a:xfrm>
                <a:off x="3915508" y="3774831"/>
                <a:ext cx="3938954" cy="8909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
          <p:nvSpPr>
            <p:cNvPr id="8" name="正方形/長方形 7"/>
            <p:cNvSpPr/>
            <p:nvPr/>
          </p:nvSpPr>
          <p:spPr>
            <a:xfrm>
              <a:off x="8217877" y="2117187"/>
              <a:ext cx="961292" cy="2508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a:solidFill>
                  <a:prstClr val="white"/>
                </a:solidFill>
              </a:endParaRPr>
            </a:p>
          </p:txBody>
        </p:sp>
      </p:grpSp>
    </p:spTree>
    <p:extLst>
      <p:ext uri="{BB962C8B-B14F-4D97-AF65-F5344CB8AC3E}">
        <p14:creationId xmlns:p14="http://schemas.microsoft.com/office/powerpoint/2010/main" val="1630457607"/>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22092</TotalTime>
  <Words>4902</Words>
  <Application>Microsoft Office PowerPoint</Application>
  <PresentationFormat>A4 Paper (210x297 mm)</PresentationFormat>
  <Paragraphs>407</Paragraphs>
  <Slides>73</Slides>
  <Notes>37</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73</vt:i4>
      </vt:variant>
    </vt:vector>
  </HeadingPairs>
  <TitlesOfParts>
    <vt:vector size="87" baseType="lpstr">
      <vt:lpstr>HG丸ｺﾞｼｯｸM-PRO</vt:lpstr>
      <vt:lpstr>Meiryo UI</vt:lpstr>
      <vt:lpstr>ＭＳ Ｐゴシック</vt:lpstr>
      <vt:lpstr>ＭＳ 明朝</vt:lpstr>
      <vt:lpstr>ADLaM Display</vt:lpstr>
      <vt:lpstr>Arial</vt:lpstr>
      <vt:lpstr>Calibri</vt:lpstr>
      <vt:lpstr>Consolas</vt:lpstr>
      <vt:lpstr>Segoe Script</vt:lpstr>
      <vt:lpstr>Times New Roman</vt:lpstr>
      <vt:lpstr>Wingdings</vt:lpstr>
      <vt:lpstr>Wingdings 3</vt:lpstr>
      <vt:lpstr>標準デザイン</vt:lpstr>
      <vt:lpstr>デザインの設定</vt:lpstr>
      <vt:lpstr>Java Training</vt:lpstr>
      <vt:lpstr>PowerPoint Presentation</vt:lpstr>
      <vt:lpstr>Nội dung</vt:lpstr>
      <vt:lpstr>PowerPoint Presentation</vt:lpstr>
      <vt:lpstr>1. Spring framework là gì?</vt:lpstr>
      <vt:lpstr>PowerPoint Presentation</vt:lpstr>
      <vt:lpstr>PowerPoint Presentation</vt:lpstr>
      <vt:lpstr>1. Spring Boot là gì?</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Spring Batch</vt:lpstr>
      <vt:lpstr>Batch là gì?</vt:lpstr>
      <vt:lpstr>Spring Batch là gì?</vt:lpstr>
      <vt:lpstr>Các tính năng</vt:lpstr>
      <vt:lpstr>Các đặc điểm</vt:lpstr>
      <vt:lpstr>Kiến trúc của Spring Batch</vt:lpstr>
      <vt:lpstr>Các thành phần của spring batch</vt:lpstr>
      <vt:lpstr>Cấu hình</vt:lpstr>
      <vt:lpstr>Cấu hình</vt:lpstr>
      <vt:lpstr>Cấu hình</vt:lpstr>
      <vt:lpstr>Cấu hình</vt:lpstr>
      <vt:lpstr>Cấu hình</vt:lpstr>
      <vt:lpstr>Cấu hình</vt:lpstr>
      <vt:lpstr>Cấu hình</vt:lpstr>
      <vt:lpstr>Cấu hình</vt:lpstr>
      <vt:lpstr>Cấu hình</vt:lpstr>
      <vt:lpstr>Cấu hình</vt:lpstr>
      <vt:lpstr>Cấu hình</vt:lpstr>
      <vt:lpstr>Spring Security</vt:lpstr>
      <vt:lpstr>Spring Security là gì?</vt:lpstr>
      <vt:lpstr>PowerPoint Presentation</vt:lpstr>
      <vt:lpstr>PowerPoint Presentation</vt:lpstr>
      <vt:lpstr>Các thành phần của Spring Security</vt:lpstr>
      <vt:lpstr>PasswordEncoder</vt:lpstr>
      <vt:lpstr>Form Login</vt:lpstr>
      <vt:lpstr>Login with a database</vt:lpstr>
      <vt:lpstr>Login attempts limit</vt:lpstr>
      <vt:lpstr>Cấu hình</vt:lpstr>
      <vt:lpstr>Cấu hình</vt:lpstr>
      <vt:lpstr>Cấu hình</vt:lpstr>
      <vt:lpstr>Cấu hình</vt:lpstr>
      <vt:lpstr>Cấu hình</vt:lpstr>
      <vt:lpstr>Cấu hình</vt:lpstr>
      <vt:lpstr>Cấu hình</vt:lpstr>
      <vt:lpstr>Cấu hình</vt:lpstr>
      <vt:lpstr>Cấu hình</vt:lpstr>
      <vt:lpstr>Cấu hình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414</cp:revision>
  <cp:lastPrinted>2018-04-10T08:59:30Z</cp:lastPrinted>
  <dcterms:created xsi:type="dcterms:W3CDTF">2025-05-21T02:38:07Z</dcterms:created>
  <dcterms:modified xsi:type="dcterms:W3CDTF">2026-10-08T07:28:03Z</dcterms:modified>
</cp:coreProperties>
</file>