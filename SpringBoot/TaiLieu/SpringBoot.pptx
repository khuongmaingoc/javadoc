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120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9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16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5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37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2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7613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38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9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9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80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0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11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0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10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61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9498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9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7338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60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896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11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991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05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909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153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0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0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kumimoji="1"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rPr dirty="0"/>
              <a:t>JAVA SPRING REST APIs • FUNDAMENTAL-DRIVEN VIBE CODING</a:t>
            </a:r>
          </a:p>
          <a:p>
            <a:pPr>
              <a:spcAft>
                <a:spcPts val="1800"/>
              </a:spcAft>
              <a:defRPr sz="3600" b="1">
                <a:solidFill>
                  <a:srgbClr val="F8FAFC"/>
                </a:solidFill>
                <a:latin typeface="Georgia"/>
              </a:defRPr>
            </a:pP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Quản Lý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Sự</a:t>
            </a:r>
            <a:br>
              <a:rPr dirty="0"/>
            </a:br>
            <a:r>
              <a:rPr dirty="0"/>
              <a:t>(HR Management System)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backend </a:t>
            </a:r>
            <a:r>
              <a:rPr dirty="0" err="1"/>
              <a:t>chuẩn</a:t>
            </a:r>
            <a:r>
              <a:rPr dirty="0"/>
              <a:t> Doanh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Java 21, Spring Boot 3/4, Spring Security, JWT Rotation &amp; Automated Testing</a:t>
            </a:r>
          </a:p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rPr dirty="0"/>
              <a:t>Tech Stack: Java 21/25  |  Spring Boot 3/4  |  Spring Security JWT  |  MySQL &amp; JPA  |  JUnit 6 &amp; Mockito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SPRING REST WITH AI • HR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5 Trụ Cột Kỹ Thuật Trong Thiết Kế System Spring 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9659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8FAF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691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Cấu Trúc Feature-Based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Tối ưu hóa Context Window cho AI Agent, gom nhóm theo nghiệp vụ.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936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16936" y="1645920"/>
            <a:ext cx="196596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8FAF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2468880"/>
            <a:ext cx="1691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Domain Model &amp; Entities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Mô hình 4 thực thể cốt lõi: User, Company, Role và Permission.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02352" y="1645920"/>
            <a:ext cx="19659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8FAFC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2468880"/>
            <a:ext cx="1691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Chuẩn Hóa REST APIs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Đồng bộ ApiResponse&lt;T&gt;, Phân trang Pageable &amp; Exception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87768" y="1645920"/>
            <a:ext cx="196596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8FAF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2468880"/>
            <a:ext cx="1691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Bảo Mật JWT Rotation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Spring Security 3/4, OAuth2 Resource Server &amp; Cookie HTTP-Only.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4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473184" y="1645920"/>
            <a:ext cx="19659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8FAF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0344" y="2468880"/>
            <a:ext cx="1691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Automated Testing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Unit Test Service &amp; Integration Test Controller với JUnit 6, Mockito.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ADC8C4-00FB-3D21-C770-96A1F7228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789920" cy="1143000"/>
          </a:xfrm>
        </p:spPr>
        <p:txBody>
          <a:bodyPr/>
          <a:lstStyle/>
          <a:p>
            <a:r>
              <a:rPr lang="en-US" altLang="ja-JP" dirty="0" err="1"/>
              <a:t>Cấu</a:t>
            </a:r>
            <a:r>
              <a:rPr lang="en-US" altLang="ja-JP" dirty="0"/>
              <a:t> Trúc </a:t>
            </a:r>
            <a:r>
              <a:rPr lang="en-US" altLang="ja-JP" dirty="0" err="1"/>
              <a:t>Dự</a:t>
            </a:r>
            <a:r>
              <a:rPr lang="en-US" altLang="ja-JP" dirty="0"/>
              <a:t> </a:t>
            </a:r>
            <a:r>
              <a:rPr lang="en-US" altLang="ja-JP" dirty="0" err="1"/>
              <a:t>Án</a:t>
            </a:r>
            <a:r>
              <a:rPr lang="en-US" altLang="ja-JP" dirty="0"/>
              <a:t> Spring Boot</a:t>
            </a:r>
            <a:endParaRPr lang="ja-JP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058756-86FE-778A-21F5-FE0205BB6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247120" cy="4525963"/>
          </a:xfrm>
        </p:spPr>
        <p:txBody>
          <a:bodyPr>
            <a:normAutofit/>
          </a:bodyPr>
          <a:lstStyle/>
          <a:p>
            <a:r>
              <a:rPr lang="en-US" altLang="ja-JP" b="1" dirty="0" err="1"/>
              <a:t>Mục</a:t>
            </a:r>
            <a:r>
              <a:rPr lang="en-US" altLang="ja-JP" b="1" dirty="0"/>
              <a:t> </a:t>
            </a:r>
            <a:r>
              <a:rPr lang="en-US" altLang="ja-JP" b="1" dirty="0" err="1"/>
              <a:t>tiêu</a:t>
            </a:r>
            <a:r>
              <a:rPr lang="en-US" altLang="ja-JP" b="1" dirty="0"/>
              <a:t>:</a:t>
            </a:r>
            <a:endParaRPr lang="ja-JP" altLang="ja-JP" b="1" dirty="0"/>
          </a:p>
          <a:p>
            <a:pPr lvl="1"/>
            <a:r>
              <a:rPr lang="en-US" altLang="ja-JP" dirty="0" err="1"/>
              <a:t>Hiểu</a:t>
            </a:r>
            <a:r>
              <a:rPr lang="en-US" altLang="ja-JP" dirty="0"/>
              <a:t> </a:t>
            </a:r>
            <a:r>
              <a:rPr lang="en-US" altLang="ja-JP" dirty="0" err="1"/>
              <a:t>cấu</a:t>
            </a:r>
            <a:r>
              <a:rPr lang="en-US" altLang="ja-JP" dirty="0"/>
              <a:t> </a:t>
            </a:r>
            <a:r>
              <a:rPr lang="en-US" altLang="ja-JP" dirty="0" err="1"/>
              <a:t>trúc</a:t>
            </a:r>
            <a:r>
              <a:rPr lang="en-US" altLang="ja-JP" dirty="0"/>
              <a:t> </a:t>
            </a:r>
            <a:r>
              <a:rPr lang="en-US" altLang="ja-JP" dirty="0" err="1"/>
              <a:t>thư</a:t>
            </a:r>
            <a:r>
              <a:rPr lang="en-US" altLang="ja-JP" dirty="0"/>
              <a:t> </a:t>
            </a:r>
            <a:r>
              <a:rPr lang="en-US" altLang="ja-JP" dirty="0" err="1"/>
              <a:t>mục</a:t>
            </a:r>
            <a:r>
              <a:rPr lang="en-US" altLang="ja-JP" dirty="0"/>
              <a:t> </a:t>
            </a:r>
            <a:r>
              <a:rPr lang="en-US" altLang="ja-JP" dirty="0" err="1"/>
              <a:t>chuẩn</a:t>
            </a:r>
            <a:r>
              <a:rPr lang="en-US" altLang="ja-JP" dirty="0"/>
              <a:t> </a:t>
            </a:r>
            <a:r>
              <a:rPr lang="en-US" altLang="ja-JP" dirty="0" err="1"/>
              <a:t>của</a:t>
            </a:r>
            <a:r>
              <a:rPr lang="en-US" altLang="ja-JP" dirty="0"/>
              <a:t> Spring Boot project</a:t>
            </a:r>
            <a:endParaRPr lang="ja-JP" altLang="ja-JP" dirty="0"/>
          </a:p>
          <a:p>
            <a:pPr lvl="1"/>
            <a:r>
              <a:rPr lang="en-US" altLang="ja-JP" dirty="0" err="1"/>
              <a:t>Biết</a:t>
            </a:r>
            <a:r>
              <a:rPr lang="en-US" altLang="ja-JP" dirty="0"/>
              <a:t> </a:t>
            </a:r>
            <a:r>
              <a:rPr lang="en-US" altLang="ja-JP" dirty="0" err="1"/>
              <a:t>mỗi</a:t>
            </a:r>
            <a:r>
              <a:rPr lang="en-US" altLang="ja-JP" dirty="0"/>
              <a:t> ﬁle, </a:t>
            </a:r>
            <a:r>
              <a:rPr lang="en-US" altLang="ja-JP" dirty="0" err="1"/>
              <a:t>mỗi</a:t>
            </a:r>
            <a:r>
              <a:rPr lang="en-US" altLang="ja-JP" dirty="0"/>
              <a:t> folder </a:t>
            </a:r>
            <a:r>
              <a:rPr lang="en-US" altLang="ja-JP" dirty="0" err="1"/>
              <a:t>có</a:t>
            </a:r>
            <a:r>
              <a:rPr lang="en-US" altLang="ja-JP" dirty="0"/>
              <a:t> </a:t>
            </a:r>
            <a:r>
              <a:rPr lang="en-US" altLang="ja-JP" dirty="0" err="1"/>
              <a:t>vai</a:t>
            </a:r>
            <a:r>
              <a:rPr lang="en-US" altLang="ja-JP" dirty="0"/>
              <a:t> </a:t>
            </a:r>
            <a:r>
              <a:rPr lang="en-US" altLang="ja-JP" dirty="0" err="1"/>
              <a:t>trò</a:t>
            </a:r>
            <a:r>
              <a:rPr lang="en-US" altLang="ja-JP" dirty="0"/>
              <a:t> </a:t>
            </a:r>
            <a:r>
              <a:rPr lang="en-US" altLang="ja-JP" dirty="0" err="1"/>
              <a:t>gì</a:t>
            </a:r>
            <a:endParaRPr lang="en-US" altLang="ja-JP" dirty="0"/>
          </a:p>
          <a:p>
            <a:r>
              <a:rPr lang="en-US" altLang="ja-JP" b="1" dirty="0" err="1"/>
              <a:t>Thứ</a:t>
            </a:r>
            <a:r>
              <a:rPr lang="en-US" altLang="ja-JP" b="1" dirty="0"/>
              <a:t> </a:t>
            </a:r>
            <a:r>
              <a:rPr lang="en-US" altLang="ja-JP" b="1" dirty="0" err="1"/>
              <a:t>nhất</a:t>
            </a:r>
            <a:r>
              <a:rPr lang="en-US" altLang="ja-JP" b="1" dirty="0"/>
              <a:t>: pom.xml</a:t>
            </a:r>
            <a:endParaRPr lang="ja-JP" altLang="ja-JP" b="1" dirty="0"/>
          </a:p>
          <a:p>
            <a:pPr lvl="1"/>
            <a:r>
              <a:rPr lang="en-US" altLang="ja-JP" dirty="0"/>
              <a:t>File </a:t>
            </a:r>
            <a:r>
              <a:rPr lang="en-US" altLang="ja-JP" dirty="0" err="1"/>
              <a:t>này</a:t>
            </a:r>
            <a:r>
              <a:rPr lang="en-US" altLang="ja-JP" dirty="0"/>
              <a:t> </a:t>
            </a:r>
            <a:r>
              <a:rPr lang="en-US" altLang="ja-JP" dirty="0" err="1"/>
              <a:t>nằm</a:t>
            </a:r>
            <a:r>
              <a:rPr lang="en-US" altLang="ja-JP" dirty="0"/>
              <a:t> ở </a:t>
            </a:r>
            <a:r>
              <a:rPr lang="en-US" altLang="ja-JP" dirty="0" err="1"/>
              <a:t>gốc</a:t>
            </a:r>
            <a:r>
              <a:rPr lang="en-US" altLang="ja-JP" dirty="0"/>
              <a:t> project :"</a:t>
            </a:r>
            <a:r>
              <a:rPr lang="en-US" altLang="ja-JP" dirty="0" err="1"/>
              <a:t>danh</a:t>
            </a:r>
            <a:r>
              <a:rPr lang="en-US" altLang="ja-JP" dirty="0"/>
              <a:t> </a:t>
            </a:r>
            <a:r>
              <a:rPr lang="en-US" altLang="ja-JP" dirty="0" err="1"/>
              <a:t>sách</a:t>
            </a:r>
            <a:r>
              <a:rPr lang="en-US" altLang="ja-JP" dirty="0"/>
              <a:t> </a:t>
            </a:r>
            <a:r>
              <a:rPr lang="en-US" altLang="ja-JP" dirty="0" err="1"/>
              <a:t>nguyên</a:t>
            </a:r>
            <a:r>
              <a:rPr lang="en-US" altLang="ja-JP" dirty="0"/>
              <a:t> </a:t>
            </a:r>
            <a:r>
              <a:rPr lang="en-US" altLang="ja-JP" dirty="0" err="1"/>
              <a:t>liệu</a:t>
            </a:r>
            <a:r>
              <a:rPr lang="en-US" altLang="ja-JP" dirty="0"/>
              <a:t>" </a:t>
            </a:r>
            <a:r>
              <a:rPr lang="en-US" altLang="ja-JP" dirty="0" err="1"/>
              <a:t>của</a:t>
            </a:r>
            <a:r>
              <a:rPr lang="en-US" altLang="ja-JP" dirty="0"/>
              <a:t> project, </a:t>
            </a:r>
            <a:r>
              <a:rPr lang="en-US" altLang="ja-JP" dirty="0" err="1"/>
              <a:t>khai</a:t>
            </a:r>
            <a:r>
              <a:rPr lang="en-US" altLang="ja-JP" dirty="0"/>
              <a:t> </a:t>
            </a:r>
            <a:r>
              <a:rPr lang="en-US" altLang="ja-JP" dirty="0" err="1"/>
              <a:t>báo</a:t>
            </a:r>
            <a:r>
              <a:rPr lang="en-US" altLang="ja-JP" dirty="0"/>
              <a:t> </a:t>
            </a:r>
            <a:r>
              <a:rPr lang="en-US" altLang="ja-JP" dirty="0" err="1"/>
              <a:t>thư</a:t>
            </a:r>
            <a:r>
              <a:rPr lang="en-US" altLang="ja-JP" dirty="0"/>
              <a:t> </a:t>
            </a:r>
            <a:r>
              <a:rPr lang="en-US" altLang="ja-JP" dirty="0" err="1"/>
              <a:t>viện</a:t>
            </a:r>
            <a:r>
              <a:rPr lang="en-US" altLang="ja-JP" dirty="0"/>
              <a:t>, version Spring Boot, Java version.</a:t>
            </a:r>
            <a:endParaRPr lang="ja-JP" altLang="ja-JP" dirty="0"/>
          </a:p>
          <a:p>
            <a:pPr lvl="1"/>
            <a:r>
              <a:rPr lang="en-US" altLang="ja-JP" dirty="0"/>
              <a:t>Khi AI generate code </a:t>
            </a:r>
            <a:r>
              <a:rPr lang="en-US" altLang="ja-JP" dirty="0" err="1"/>
              <a:t>thiếu</a:t>
            </a:r>
            <a:r>
              <a:rPr lang="en-US" altLang="ja-JP" dirty="0"/>
              <a:t> dependency </a:t>
            </a:r>
            <a:r>
              <a:rPr lang="en-US" altLang="ja-JP" dirty="0">
                <a:sym typeface="Wingdings" panose="05000000000000000000" pitchFamily="2" charset="2"/>
              </a:rPr>
              <a:t> </a:t>
            </a:r>
            <a:r>
              <a:rPr lang="en-US" altLang="ja-JP" dirty="0" err="1"/>
              <a:t>thêm</a:t>
            </a:r>
            <a:r>
              <a:rPr lang="en-US" altLang="ja-JP" dirty="0"/>
              <a:t> </a:t>
            </a:r>
            <a:r>
              <a:rPr lang="en-US" altLang="ja-JP" dirty="0" err="1"/>
              <a:t>vào</a:t>
            </a:r>
            <a:r>
              <a:rPr lang="en-US" altLang="ja-JP" dirty="0"/>
              <a:t> ﬁle </a:t>
            </a:r>
            <a:r>
              <a:rPr lang="en-US" altLang="ja-JP" dirty="0" err="1"/>
              <a:t>này</a:t>
            </a:r>
            <a:endParaRPr lang="en-US" altLang="ja-JP" dirty="0"/>
          </a:p>
          <a:p>
            <a:r>
              <a:rPr lang="en-US" altLang="ja-JP" b="1" dirty="0" err="1"/>
              <a:t>Thứ</a:t>
            </a:r>
            <a:r>
              <a:rPr lang="en-US" altLang="ja-JP" b="1" dirty="0"/>
              <a:t> </a:t>
            </a:r>
            <a:r>
              <a:rPr lang="en-US" altLang="ja-JP" b="1" dirty="0" err="1"/>
              <a:t>hai</a:t>
            </a:r>
            <a:r>
              <a:rPr lang="en-US" altLang="ja-JP" b="1" dirty="0"/>
              <a:t>: </a:t>
            </a:r>
            <a:r>
              <a:rPr lang="en-US" altLang="ja-JP" b="1" dirty="0" err="1"/>
              <a:t>src</a:t>
            </a:r>
            <a:r>
              <a:rPr lang="en-US" altLang="ja-JP" b="1" dirty="0"/>
              <a:t>/main/java</a:t>
            </a:r>
          </a:p>
          <a:p>
            <a:pPr lvl="1"/>
            <a:r>
              <a:rPr lang="en-US" altLang="ja-JP" dirty="0" err="1"/>
              <a:t>Đây</a:t>
            </a:r>
            <a:r>
              <a:rPr lang="en-US" altLang="ja-JP" dirty="0"/>
              <a:t> </a:t>
            </a:r>
            <a:r>
              <a:rPr lang="en-US" altLang="ja-JP" dirty="0" err="1"/>
              <a:t>là</a:t>
            </a:r>
            <a:r>
              <a:rPr lang="en-US" altLang="ja-JP" dirty="0"/>
              <a:t> </a:t>
            </a:r>
            <a:r>
              <a:rPr lang="en-US" altLang="ja-JP" dirty="0" err="1"/>
              <a:t>nơi</a:t>
            </a:r>
            <a:r>
              <a:rPr lang="en-US" altLang="ja-JP" dirty="0"/>
              <a:t> </a:t>
            </a:r>
            <a:r>
              <a:rPr lang="en-US" altLang="ja-JP" dirty="0" err="1"/>
              <a:t>chứa</a:t>
            </a:r>
            <a:r>
              <a:rPr lang="en-US" altLang="ja-JP" dirty="0"/>
              <a:t> code Java </a:t>
            </a:r>
            <a:r>
              <a:rPr lang="en-US" altLang="ja-JP" dirty="0" err="1"/>
              <a:t>chứa</a:t>
            </a:r>
            <a:r>
              <a:rPr lang="en-US" altLang="ja-JP" dirty="0"/>
              <a:t> </a:t>
            </a:r>
            <a:r>
              <a:rPr lang="en-US" altLang="ja-JP" dirty="0" err="1"/>
              <a:t>Tất</a:t>
            </a:r>
            <a:r>
              <a:rPr lang="en-US" altLang="ja-JP" dirty="0"/>
              <a:t> </a:t>
            </a:r>
            <a:r>
              <a:rPr lang="en-US" altLang="ja-JP" dirty="0" err="1"/>
              <a:t>cả</a:t>
            </a:r>
            <a:r>
              <a:rPr lang="en-US" altLang="ja-JP" dirty="0"/>
              <a:t> Controller, Service, Repository, Entity</a:t>
            </a:r>
          </a:p>
          <a:p>
            <a:r>
              <a:rPr lang="en-US" altLang="ja-JP" b="1" dirty="0" err="1"/>
              <a:t>Thứ</a:t>
            </a:r>
            <a:r>
              <a:rPr lang="en-US" altLang="ja-JP" b="1" dirty="0"/>
              <a:t> </a:t>
            </a:r>
            <a:r>
              <a:rPr lang="en-US" altLang="ja-JP" b="1" dirty="0" err="1"/>
              <a:t>ba</a:t>
            </a:r>
            <a:r>
              <a:rPr lang="en-US" altLang="ja-JP" b="1" dirty="0"/>
              <a:t>: </a:t>
            </a:r>
            <a:r>
              <a:rPr lang="en-US" altLang="ja-JP" b="1" dirty="0" err="1"/>
              <a:t>src</a:t>
            </a:r>
            <a:r>
              <a:rPr lang="en-US" altLang="ja-JP" b="1" dirty="0"/>
              <a:t>/main/resources</a:t>
            </a:r>
            <a:endParaRPr lang="ja-JP" altLang="ja-JP" b="1" dirty="0"/>
          </a:p>
          <a:p>
            <a:pPr lvl="1"/>
            <a:r>
              <a:rPr lang="en-US" altLang="ja-JP" dirty="0" err="1"/>
              <a:t>Đây</a:t>
            </a:r>
            <a:r>
              <a:rPr lang="en-US" altLang="ja-JP" dirty="0"/>
              <a:t> </a:t>
            </a:r>
            <a:r>
              <a:rPr lang="en-US" altLang="ja-JP" dirty="0" err="1"/>
              <a:t>là</a:t>
            </a:r>
            <a:r>
              <a:rPr lang="en-US" altLang="ja-JP" dirty="0"/>
              <a:t> </a:t>
            </a:r>
            <a:r>
              <a:rPr lang="en-US" altLang="ja-JP" dirty="0" err="1"/>
              <a:t>nơi</a:t>
            </a:r>
            <a:r>
              <a:rPr lang="en-US" altLang="ja-JP" dirty="0"/>
              <a:t> </a:t>
            </a:r>
            <a:r>
              <a:rPr lang="en-US" altLang="ja-JP" dirty="0" err="1"/>
              <a:t>chứa</a:t>
            </a:r>
            <a:r>
              <a:rPr lang="en-US" altLang="ja-JP" dirty="0"/>
              <a:t> </a:t>
            </a:r>
            <a:r>
              <a:rPr lang="en-US" altLang="ja-JP" dirty="0" err="1"/>
              <a:t>cấu</a:t>
            </a:r>
            <a:r>
              <a:rPr lang="en-US" altLang="ja-JP" dirty="0"/>
              <a:t> </a:t>
            </a:r>
            <a:r>
              <a:rPr lang="en-US" altLang="ja-JP" dirty="0" err="1"/>
              <a:t>hình</a:t>
            </a:r>
            <a:r>
              <a:rPr lang="en-US" altLang="ja-JP" dirty="0"/>
              <a:t>: </a:t>
            </a:r>
            <a:r>
              <a:rPr lang="en-US" altLang="ja-JP" dirty="0" err="1"/>
              <a:t>application.properties</a:t>
            </a:r>
            <a:r>
              <a:rPr lang="en-US" altLang="ja-JP" dirty="0"/>
              <a:t> </a:t>
            </a:r>
            <a:r>
              <a:rPr lang="en-US" altLang="ja-JP" dirty="0" err="1"/>
              <a:t>hoặc</a:t>
            </a:r>
            <a:r>
              <a:rPr lang="en-US" altLang="ja-JP" dirty="0"/>
              <a:t> </a:t>
            </a:r>
            <a:r>
              <a:rPr lang="en-US" altLang="ja-JP" dirty="0" err="1"/>
              <a:t>application.yml</a:t>
            </a:r>
            <a:r>
              <a:rPr lang="en-US" altLang="ja-JP" dirty="0"/>
              <a:t>. </a:t>
            </a:r>
            <a:r>
              <a:rPr lang="en-US" altLang="ja-JP" dirty="0" err="1"/>
              <a:t>Cấu</a:t>
            </a:r>
            <a:r>
              <a:rPr lang="en-US" altLang="ja-JP" dirty="0"/>
              <a:t> </a:t>
            </a:r>
            <a:r>
              <a:rPr lang="en-US" altLang="ja-JP" dirty="0" err="1"/>
              <a:t>hình</a:t>
            </a:r>
            <a:r>
              <a:rPr lang="en-US" altLang="ja-JP" dirty="0"/>
              <a:t>: port, database</a:t>
            </a:r>
          </a:p>
          <a:p>
            <a:r>
              <a:rPr lang="en-US" altLang="ja-JP" b="1" dirty="0" err="1"/>
              <a:t>Thứ</a:t>
            </a:r>
            <a:r>
              <a:rPr lang="en-US" altLang="ja-JP" b="1" dirty="0"/>
              <a:t> </a:t>
            </a:r>
            <a:r>
              <a:rPr lang="en-US" altLang="ja-JP" b="1" dirty="0" err="1"/>
              <a:t>tư</a:t>
            </a:r>
            <a:r>
              <a:rPr lang="en-US" altLang="ja-JP" b="1" dirty="0"/>
              <a:t>: folder </a:t>
            </a:r>
            <a:r>
              <a:rPr lang="en-US" altLang="ja-JP" b="1" dirty="0" err="1"/>
              <a:t>src</a:t>
            </a:r>
            <a:r>
              <a:rPr lang="en-US" altLang="ja-JP" b="1" dirty="0"/>
              <a:t>/test </a:t>
            </a:r>
            <a:r>
              <a:rPr lang="en-US" altLang="ja-JP" dirty="0"/>
              <a:t>: </a:t>
            </a:r>
            <a:r>
              <a:rPr lang="en-US" altLang="ja-JP" dirty="0" err="1"/>
              <a:t>chứa</a:t>
            </a:r>
            <a:r>
              <a:rPr lang="en-US" altLang="ja-JP" dirty="0"/>
              <a:t> code test</a:t>
            </a:r>
            <a:endParaRPr lang="en-US" altLang="ja-JP" b="1" dirty="0"/>
          </a:p>
          <a:p>
            <a:endParaRPr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94936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SPRING REST WITH AI • HR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Cấu Trúc Feature-Based Tối Ưu Cho AI Agent Giữ Context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284C7"/>
                </a:solidFill>
              </a:defRPr>
            </a:pPr>
            <a:r>
              <a:t>Ưu Điểm Của Feature-Based Package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Gom nhóm theo nghiệp vụ: </a:t>
            </a:r>
            <a:r>
              <a:rPr b="0">
                <a:solidFill>
                  <a:srgbClr val="64748B"/>
                </a:solidFill>
              </a:rPr>
              <a:t>Tất cả Controller, Service, DTO, Repository của 'User' nằm chung package 'user/'.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Tối ưu cho AI Agent: </a:t>
            </a:r>
            <a:r>
              <a:rPr b="0">
                <a:solidFill>
                  <a:srgbClr val="64748B"/>
                </a:solidFill>
              </a:rPr>
              <a:t>Giúp Cursor, Claude Code đọc trọn vẹn bối cảnh 1 feature mà không cần load toàn bộ project.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Constructor Injection: </a:t>
            </a:r>
            <a:r>
              <a:rPr b="0">
                <a:solidFill>
                  <a:srgbClr val="64748B"/>
                </a:solidFill>
              </a:rPr>
              <a:t>Bắt buộc dùng Constructor Injection thay cho @Autowired trên field để dễ Unit Test.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Tách biệt DTOs: </a:t>
            </a:r>
            <a:r>
              <a:rPr b="0">
                <a:solidFill>
                  <a:srgbClr val="64748B"/>
                </a:solidFill>
              </a:rPr>
              <a:t>Không bao giờ trả Entity trực tiếp ra Controller; dùng Request/Response DTOs chuyên biệt.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rPr dirty="0"/>
              <a:t>Directory Layout Pattern</a:t>
            </a:r>
          </a:p>
          <a:p>
            <a:pPr>
              <a:defRPr sz="110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com.</a:t>
            </a:r>
            <a:r>
              <a:rPr lang="en-US" dirty="0" err="1"/>
              <a:t>usol</a:t>
            </a:r>
            <a:r>
              <a:rPr dirty="0" err="1"/>
              <a:t>.jobhunter</a:t>
            </a:r>
            <a:br>
              <a:rPr dirty="0"/>
            </a:br>
            <a:r>
              <a:rPr dirty="0"/>
              <a:t>├── domain/                  (Shared JPA Entities)</a:t>
            </a:r>
            <a:br>
              <a:rPr dirty="0"/>
            </a:br>
            <a:r>
              <a:rPr dirty="0"/>
              <a:t>│   ├── User.java, Company.java</a:t>
            </a:r>
            <a:br>
              <a:rPr dirty="0"/>
            </a:br>
            <a:r>
              <a:rPr dirty="0"/>
              <a:t>├── module/</a:t>
            </a:r>
            <a:br>
              <a:rPr dirty="0"/>
            </a:br>
            <a:r>
              <a:rPr dirty="0"/>
              <a:t>│   ├── user/                (Feature Package)</a:t>
            </a:r>
            <a:br>
              <a:rPr dirty="0"/>
            </a:br>
            <a:r>
              <a:rPr dirty="0"/>
              <a:t>│   │   ├── UserController.java</a:t>
            </a:r>
            <a:br>
              <a:rPr dirty="0"/>
            </a:br>
            <a:r>
              <a:rPr dirty="0"/>
              <a:t>│   │   ├── UserService.java</a:t>
            </a:r>
            <a:br>
              <a:rPr dirty="0"/>
            </a:br>
            <a:r>
              <a:rPr dirty="0"/>
              <a:t>│   │   ├── </a:t>
            </a:r>
            <a:r>
              <a:rPr dirty="0" err="1"/>
              <a:t>dto</a:t>
            </a:r>
            <a:r>
              <a:rPr dirty="0"/>
              <a:t>/ (</a:t>
            </a:r>
            <a:r>
              <a:rPr dirty="0" err="1"/>
              <a:t>ReqUserDTO</a:t>
            </a:r>
            <a:r>
              <a:rPr dirty="0"/>
              <a:t>, </a:t>
            </a:r>
            <a:r>
              <a:rPr dirty="0" err="1"/>
              <a:t>ResUserDTO</a:t>
            </a:r>
            <a:r>
              <a:rPr dirty="0"/>
              <a:t>)</a:t>
            </a:r>
            <a:br>
              <a:rPr dirty="0"/>
            </a:br>
            <a:r>
              <a:rPr dirty="0"/>
              <a:t>│   ├── company/             (Feature Package)</a:t>
            </a:r>
            <a:br>
              <a:rPr dirty="0"/>
            </a:br>
            <a:r>
              <a:rPr dirty="0"/>
              <a:t>│   ├── role/ &amp; permission/  (RBAC Modules)</a:t>
            </a:r>
            <a:br>
              <a:rPr dirty="0"/>
            </a:br>
            <a:r>
              <a:rPr dirty="0"/>
              <a:t>├── config/                  (Security &amp; </a:t>
            </a:r>
            <a:r>
              <a:rPr dirty="0" err="1"/>
              <a:t>OpenAPI</a:t>
            </a:r>
            <a:r>
              <a:rPr dirty="0"/>
              <a:t>)</a:t>
            </a:r>
            <a:br>
              <a:rPr dirty="0"/>
            </a:br>
            <a:r>
              <a:rPr dirty="0"/>
              <a:t>└── util/                    (Global Handlers &amp; Format)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SPRING REST WITH AI • HR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Mô Hình Thực Thể (Domain Model) &amp; Quan Hệ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USER — Tài khoản người dùng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• Quản lý email, password mã hóa BCrypt, tuổi, địa chỉ, avatar.</a:t>
            </a:r>
            <a:br/>
            <a:r>
              <a:t>• Khóa ngoại company_id kết nối Công ty.</a:t>
            </a:r>
            <a:br/>
            <a:r>
              <a:t>• Liên kết N-N với danh sách Role.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137160" cy="2057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COMPANY — Doanh nghiệp / Công ty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• Quản lý thông tin công ty, địa chỉ, mô tả, logo.</a:t>
            </a:r>
            <a:br/>
            <a:r>
              <a:t>• Quan hệ One-to-Many với danh sách User nhân viên.</a:t>
            </a:r>
            <a:br/>
            <a:r>
              <a:t>• Tự động ghi nhận createdAt / updatedAt.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977639"/>
            <a:ext cx="137160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79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ROLE — Vai trò Hệ thống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• Các vai trò như SUPER_ADMIN, HR, USER.</a:t>
            </a:r>
            <a:br/>
            <a:r>
              <a:t>• Quan hệ Many-to-Many với bảng Permission.</a:t>
            </a:r>
            <a:br/>
            <a:r>
              <a:t>• Quyết định nhóm quyền hạn truy cập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977639"/>
            <a:ext cx="137160" cy="2057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79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PERMISSION — Quyền hạn Chi tiết API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• Định nghĩa endpoint cụ thể: apiPath, method (GET, POST, PUT, DELETE).</a:t>
            </a:r>
            <a:br/>
            <a:r>
              <a:t>• Thuộc module nghiệp vụ cụ thể.</a:t>
            </a:r>
            <a:br/>
            <a:r>
              <a:t>• Kiểm soát truy cập phân quyền siêu mịn.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SPRING REST WITH AI • HR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Chuẩn Hóa RESTful APIs, ApiResponse Wrapper &amp; Global Exception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Georgia"/>
              </a:defRPr>
            </a:pPr>
            <a:r>
              <a:t>1. Quy Chuẩn URI &amp; Phân Trang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URI Danh từ số nhiều:</a:t>
            </a:r>
            <a:br/>
            <a:r>
              <a:t>  /api/v1/users, /api/v1/companies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HTTP Methods:</a:t>
            </a:r>
            <a:br/>
            <a:r>
              <a:t>  GET (Read), POST (Create), PUT (Update), DELETE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Phân trang Pageable:</a:t>
            </a:r>
            <a:br/>
            <a:r>
              <a:t>  Trả về metadata tiêu chuẩn gồm page, pageSize, total, pages.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Georgia"/>
              </a:defRPr>
            </a:pPr>
            <a:r>
              <a:t>2. Structure ApiResponse&lt;T&gt;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37744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Đồng bộ JSON Response:</a:t>
            </a:r>
            <a:br/>
            <a:r>
              <a:t>  Mọi API đều bọc qua class ApiResponse&lt;T&gt;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Trường dữ liệu:</a:t>
            </a:r>
            <a:br/>
            <a:r>
              <a:t>  statusCode, message, data, error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Lợi ích Client:</a:t>
            </a:r>
            <a:br/>
            <a:r>
              <a:t>  Mobile &amp; Web Frontend dễ dàng intercept và parse lỗi nhất quán.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19872" y="1645920"/>
            <a:ext cx="3328416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Georgia"/>
              </a:defRPr>
            </a:pPr>
            <a:r>
              <a:t>3. Global Exception Handler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37744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Annotation:</a:t>
            </a:r>
            <a:br/>
            <a:r>
              <a:t>  @RestControllerAdvice xử lý lỗi tập trung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Validation Rules:</a:t>
            </a:r>
            <a:br/>
            <a:r>
              <a:t>  @Valid, @NotBlank, @Email, @Size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Bảo mật Stack trace:</a:t>
            </a:r>
            <a:br/>
            <a:r>
              <a:t>  Không để lộ thông tin nhạy cảm của hệ thống ra bên ngoài.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SPRING REST WITH AI • HR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Georgia"/>
              </a:defRPr>
            </a:pPr>
            <a:r>
              <a:t>Bảo Mật Hệ Thống Với Spring Security, JWT &amp; Refresh Token Rotation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Georgia"/>
              </a:defRPr>
            </a:pPr>
            <a:r>
              <a:t>01. Spring Security 3/4</a:t>
            </a:r>
          </a:p>
          <a:p>
            <a:pPr>
              <a:defRPr sz="1300">
                <a:solidFill>
                  <a:srgbClr val="CDD5E1"/>
                </a:solidFill>
                <a:latin typeface="Arial"/>
              </a:defRPr>
            </a:pPr>
            <a:r>
              <a:t>Cấu hình SecurityFilterChain bean linh hoạt. Mã hóa mật khẩu 1 chiều bằng BCryptPasswordEncoder.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02. OAuth2 Resource Server</a:t>
            </a:r>
          </a:p>
          <a:p>
            <a:pPr>
              <a:defRPr sz="1300">
                <a:solidFill>
                  <a:srgbClr val="CDD5E1"/>
                </a:solidFill>
                <a:latin typeface="Arial"/>
              </a:defRPr>
            </a:pPr>
            <a:r>
              <a:t>Sử dụng mã hóa HMAC-SHA256 cấp accessToken thời hạn ngắn (15 phút) để xác thực từng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Georgia"/>
              </a:defRPr>
            </a:pPr>
            <a:r>
              <a:t>03. Refresh Token Rotation</a:t>
            </a:r>
          </a:p>
          <a:p>
            <a:pPr>
              <a:defRPr sz="1300">
                <a:solidFill>
                  <a:srgbClr val="CDD5E1"/>
                </a:solidFill>
                <a:latin typeface="Arial"/>
              </a:defRPr>
            </a:pPr>
            <a:r>
              <a:t>Cấp refreshToken lưu trong Cookie HTTP-Only an toàn chống XSS, hỗ trợ cấp mới token khi hết hạn.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04. Phân Quyền RBAC &amp; Permission</a:t>
            </a:r>
          </a:p>
          <a:p>
            <a:pPr>
              <a:defRPr sz="1300">
                <a:solidFill>
                  <a:srgbClr val="CDD5E1"/>
                </a:solidFill>
                <a:latin typeface="Arial"/>
              </a:defRPr>
            </a:pPr>
            <a:r>
              <a:t>Tích hợp Custom AuthorizationManager kiểm tra động apiPath + method với quyền trong 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SPRING REST WITH AI • HR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Automated Testing Vời JUnit 6 &amp; Documentation API Swagger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284C7"/>
                </a:solidFill>
                <a:latin typeface="Georgia"/>
              </a:defRPr>
            </a:pPr>
            <a:r>
              <a:t>Chiến Lược Automated Testing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Unit Test Service Layer: </a:t>
            </a:r>
            <a:r>
              <a:rPr b="0">
                <a:solidFill>
                  <a:srgbClr val="64748B"/>
                </a:solidFill>
              </a:rPr>
              <a:t>Sử dụng @ExtendWith(MockitoExtension.class) &amp; @Mock để cô lập hoàn toàn database.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Integration Test Controller: </a:t>
            </a:r>
            <a:r>
              <a:rPr b="0">
                <a:solidFill>
                  <a:srgbClr val="64748B"/>
                </a:solidFill>
              </a:rPr>
              <a:t>Sử dụng @SpringBootTest &amp; MockMvc giả lập HTTP Request kiểm thử toàn bộ luồng REST API.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Data Rollback Tự Động: </a:t>
            </a:r>
            <a:r>
              <a:rPr b="0">
                <a:solidFill>
                  <a:srgbClr val="64748B"/>
                </a:solidFill>
              </a:rPr>
              <a:t>Gắn annotation @Transactional trên Test Class giúp tự động khôi phục dữ liệu sau khi chạy xong.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Tự Tin Refactor Code: </a:t>
            </a:r>
            <a:r>
              <a:rPr b="0">
                <a:solidFill>
                  <a:srgbClr val="64748B"/>
                </a:solidFill>
              </a:rPr>
              <a:t>Bộ test tự động đóng vai trò như lá chắn giúp phát hiện bug ngay lập tức khi nâng cấp.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Georgia"/>
              </a:defRPr>
            </a:pPr>
            <a:r>
              <a:t>Tích Hợp OpenAPI / Swagger UI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Tự Động Sinh Document: </a:t>
            </a:r>
            <a:r>
              <a:rPr b="0">
                <a:solidFill>
                  <a:srgbClr val="64748B"/>
                </a:solidFill>
              </a:rPr>
              <a:t>Thêm thư viện springdoc-openapi-starter-webmvc-ui vào file pom.xml / build.gradle.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Đường Dẫn Truy Cập: </a:t>
            </a:r>
            <a:r>
              <a:rPr b="0">
                <a:solidFill>
                  <a:srgbClr val="64748B"/>
                </a:solidFill>
              </a:rPr>
              <a:t>Tài liệu API hiển thị trực quan tại: /swagger-ui/index.html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Thử Nghiệm API Trực Tiếp: </a:t>
            </a:r>
            <a:r>
              <a:rPr b="0">
                <a:solidFill>
                  <a:srgbClr val="64748B"/>
                </a:solidFill>
              </a:rPr>
              <a:t>Frontend Dev có thể gửi thử Request, xem Schema DTO và ApiResponse trực quan.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• Đồng Bộ Bản Thiết Kế: </a:t>
            </a:r>
            <a:r>
              <a:rPr b="0">
                <a:solidFill>
                  <a:srgbClr val="64748B"/>
                </a:solidFill>
              </a:rPr>
              <a:t>Giúp toàn bộ team nắm rõ contract mà không cần viết file Excel / Word thủ công.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28</TotalTime>
  <Words>1264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Oswald SemiBold</vt:lpstr>
      <vt:lpstr>Univers Condensed Light</vt:lpstr>
      <vt:lpstr>Wingdings</vt:lpstr>
      <vt:lpstr>Orange Experience</vt:lpstr>
      <vt:lpstr>PowerPoint Presentation</vt:lpstr>
      <vt:lpstr>PowerPoint Presentation</vt:lpstr>
      <vt:lpstr>Cấu Trúc Dự Án Spring Boot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Mai Ngoc Khuong</dc:creator>
  <cp:keywords/>
  <dc:description>generated using python-pptx</dc:description>
  <cp:lastModifiedBy>Mai Ngoc Khuong</cp:lastModifiedBy>
  <cp:revision>14</cp:revision>
  <dcterms:created xsi:type="dcterms:W3CDTF">2013-01-27T09:14:16Z</dcterms:created>
  <dcterms:modified xsi:type="dcterms:W3CDTF">2026-10-21T08:22:40Z</dcterms:modified>
  <cp:category/>
</cp:coreProperties>
</file>