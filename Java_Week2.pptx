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43"/>
  </p:notesMasterIdLst>
  <p:handoutMasterIdLst>
    <p:handoutMasterId r:id="rId44"/>
  </p:handoutMasterIdLst>
  <p:sldIdLst>
    <p:sldId id="689" r:id="rId3"/>
    <p:sldId id="334" r:id="rId4"/>
    <p:sldId id="512" r:id="rId5"/>
    <p:sldId id="528" r:id="rId6"/>
    <p:sldId id="539" r:id="rId7"/>
    <p:sldId id="537" r:id="rId8"/>
    <p:sldId id="541" r:id="rId9"/>
    <p:sldId id="534" r:id="rId10"/>
    <p:sldId id="543" r:id="rId11"/>
    <p:sldId id="536" r:id="rId12"/>
    <p:sldId id="544" r:id="rId13"/>
    <p:sldId id="690" r:id="rId14"/>
    <p:sldId id="511" r:id="rId15"/>
    <p:sldId id="519" r:id="rId16"/>
    <p:sldId id="514" r:id="rId17"/>
    <p:sldId id="515" r:id="rId18"/>
    <p:sldId id="516" r:id="rId19"/>
    <p:sldId id="691" r:id="rId20"/>
    <p:sldId id="693" r:id="rId21"/>
    <p:sldId id="518" r:id="rId22"/>
    <p:sldId id="694" r:id="rId23"/>
    <p:sldId id="520" r:id="rId24"/>
    <p:sldId id="695" r:id="rId25"/>
    <p:sldId id="522" r:id="rId26"/>
    <p:sldId id="696" r:id="rId27"/>
    <p:sldId id="526" r:id="rId28"/>
    <p:sldId id="525" r:id="rId29"/>
    <p:sldId id="697" r:id="rId30"/>
    <p:sldId id="538" r:id="rId31"/>
    <p:sldId id="530" r:id="rId32"/>
    <p:sldId id="698" r:id="rId33"/>
    <p:sldId id="699" r:id="rId34"/>
    <p:sldId id="701" r:id="rId35"/>
    <p:sldId id="702" r:id="rId36"/>
    <p:sldId id="704" r:id="rId37"/>
    <p:sldId id="706" r:id="rId38"/>
    <p:sldId id="542" r:id="rId39"/>
    <p:sldId id="708" r:id="rId40"/>
    <p:sldId id="546" r:id="rId41"/>
    <p:sldId id="548" r:id="rId42"/>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6247" autoAdjust="0"/>
  </p:normalViewPr>
  <p:slideViewPr>
    <p:cSldViewPr>
      <p:cViewPr varScale="1">
        <p:scale>
          <a:sx n="106" d="100"/>
          <a:sy n="106" d="100"/>
        </p:scale>
        <p:origin x="1548" y="198"/>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notesMaster" Target="notesMasters/notesMaster1.xml"/><Relationship Id="rId48"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EDD1C869-B469-A365-FE10-D449F115B266}"/>
              </a:ext>
            </a:extLst>
          </p:cNvPr>
          <p:cNvSpPr>
            <a:spLocks noRot="1" noChangeAspect="1" noChangeArrowheads="1" noTextEdit="1"/>
          </p:cNvSpPr>
          <p:nvPr>
            <p:ph type="sldImg"/>
          </p:nvPr>
        </p:nvSpPr>
        <p:spPr>
          <a:xfrm>
            <a:off x="785813" y="766763"/>
            <a:ext cx="5541962" cy="3836987"/>
          </a:xfrm>
          <a:ln/>
        </p:spPr>
      </p:sp>
      <p:sp>
        <p:nvSpPr>
          <p:cNvPr id="257029" name="Rectangle 5">
            <a:extLst>
              <a:ext uri="{FF2B5EF4-FFF2-40B4-BE49-F238E27FC236}">
                <a16:creationId xmlns:a16="http://schemas.microsoft.com/office/drawing/2014/main" id="{25BEA037-0C4E-9FB0-3E49-80FA28FEDB17}"/>
              </a:ext>
            </a:extLst>
          </p:cNvPr>
          <p:cNvSpPr>
            <a:spLocks noGrp="1" noChangeArrowheads="1"/>
          </p:cNvSpPr>
          <p:nvPr>
            <p:ph type="body" idx="1"/>
          </p:nvPr>
        </p:nvSpPr>
        <p:spPr/>
        <p:txBody>
          <a:bodyPr/>
          <a:lstStyle/>
          <a:p>
            <a:r>
              <a:rPr lang="en-US" altLang="ja-JP">
                <a:latin typeface="Arial" panose="020B0604020202020204" pitchFamily="34" charset="0"/>
              </a:rPr>
              <a:t>Ở chương 5 sẽ có các nội dung sau.</a:t>
            </a:r>
          </a:p>
          <a:p>
            <a:endParaRPr lang="en-US" altLang="ja-JP">
              <a:latin typeface="Arial" panose="020B0604020202020204" pitchFamily="34" charset="0"/>
            </a:endParaRPr>
          </a:p>
          <a:p>
            <a:r>
              <a:rPr lang="en-US" altLang="ja-JP">
                <a:latin typeface="Arial" panose="020B0604020202020204" pitchFamily="34" charset="0"/>
              </a:rPr>
              <a:t>5.1</a:t>
            </a:r>
            <a:r>
              <a:rPr lang="ja-JP" altLang="en-US">
                <a:latin typeface="Arial" panose="020B0604020202020204" pitchFamily="34" charset="0"/>
              </a:rPr>
              <a:t>　</a:t>
            </a:r>
            <a:r>
              <a:rPr lang="en-US" altLang="ja-JP">
                <a:latin typeface="Arial" panose="020B0604020202020204" pitchFamily="34" charset="0"/>
              </a:rPr>
              <a:t>Convert kiểu là gì</a:t>
            </a:r>
          </a:p>
          <a:p>
            <a:r>
              <a:rPr lang="en-US" altLang="ja-JP">
                <a:latin typeface="Arial" panose="020B0604020202020204" pitchFamily="34" charset="0"/>
              </a:rPr>
              <a:t>5.2</a:t>
            </a:r>
            <a:r>
              <a:rPr lang="ja-JP" altLang="en-US">
                <a:latin typeface="Arial" panose="020B0604020202020204" pitchFamily="34" charset="0"/>
              </a:rPr>
              <a:t>　</a:t>
            </a:r>
            <a:r>
              <a:rPr lang="en-US" altLang="ja-JP">
                <a:latin typeface="Arial" panose="020B0604020202020204" pitchFamily="34" charset="0"/>
              </a:rPr>
              <a:t>Convert kiểu không tường minh (chuyển kiểu tự động)</a:t>
            </a:r>
          </a:p>
          <a:p>
            <a:r>
              <a:rPr lang="en-US" altLang="ja-JP">
                <a:latin typeface="Arial" panose="020B0604020202020204" pitchFamily="34" charset="0"/>
              </a:rPr>
              <a:t>5.3</a:t>
            </a:r>
            <a:r>
              <a:rPr lang="ja-JP" altLang="en-US">
                <a:latin typeface="Arial" panose="020B0604020202020204" pitchFamily="34" charset="0"/>
              </a:rPr>
              <a:t>　</a:t>
            </a:r>
            <a:r>
              <a:rPr lang="en-US" altLang="ja-JP">
                <a:latin typeface="Arial" panose="020B0604020202020204" pitchFamily="34" charset="0"/>
              </a:rPr>
              <a:t>Convert kiểu tường minh</a:t>
            </a:r>
            <a:r>
              <a:rPr lang="ja-JP" altLang="en-US">
                <a:latin typeface="Arial" panose="020B0604020202020204" pitchFamily="34" charset="0"/>
              </a:rPr>
              <a:t>（</a:t>
            </a:r>
            <a:r>
              <a:rPr lang="en-US" altLang="ja-JP">
                <a:latin typeface="Arial" panose="020B0604020202020204" pitchFamily="34" charset="0"/>
              </a:rPr>
              <a:t>cast</a:t>
            </a:r>
            <a:r>
              <a:rPr lang="ja-JP" altLang="en-US">
                <a:latin typeface="Arial" panose="020B0604020202020204" pitchFamily="34" charset="0"/>
              </a:rPr>
              <a:t>）</a:t>
            </a:r>
          </a:p>
          <a:p>
            <a:r>
              <a:rPr lang="en-US" altLang="ja-JP">
                <a:latin typeface="Arial" panose="020B0604020202020204" pitchFamily="34" charset="0"/>
              </a:rPr>
              <a:t>5.4</a:t>
            </a:r>
            <a:r>
              <a:rPr lang="ja-JP" altLang="en-US">
                <a:latin typeface="Arial" panose="020B0604020202020204" pitchFamily="34" charset="0"/>
              </a:rPr>
              <a:t>　</a:t>
            </a:r>
            <a:r>
              <a:rPr lang="en-US" altLang="ja-JP">
                <a:latin typeface="Arial" panose="020B0604020202020204" pitchFamily="34" charset="0"/>
              </a:rPr>
              <a:t>Convert từ chuỗi ký tự thành giá trị số</a:t>
            </a:r>
          </a:p>
          <a:p>
            <a:r>
              <a:rPr lang="en-US" altLang="ja-JP">
                <a:latin typeface="Arial" panose="020B0604020202020204" pitchFamily="34" charset="0"/>
              </a:rPr>
              <a:t>5.5</a:t>
            </a:r>
            <a:r>
              <a:rPr lang="ja-JP" altLang="en-US">
                <a:latin typeface="Arial" panose="020B0604020202020204" pitchFamily="34" charset="0"/>
              </a:rPr>
              <a:t>　</a:t>
            </a:r>
            <a:r>
              <a:rPr lang="en-US" altLang="ja-JP">
                <a:latin typeface="Arial" panose="020B0604020202020204" pitchFamily="34" charset="0"/>
              </a:rPr>
              <a:t>Convert từ giá trị số thành chuỗi ký tự</a:t>
            </a:r>
          </a:p>
          <a:p>
            <a:endParaRPr lang="en-US" altLang="ja-JP">
              <a:latin typeface="Arial" panose="020B0604020202020204"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3250" name="Rectangle 2">
            <a:extLst>
              <a:ext uri="{FF2B5EF4-FFF2-40B4-BE49-F238E27FC236}">
                <a16:creationId xmlns:a16="http://schemas.microsoft.com/office/drawing/2014/main" id="{C6B08F24-9860-1E7F-E13C-AADA1B3282B5}"/>
              </a:ext>
            </a:extLst>
          </p:cNvPr>
          <p:cNvSpPr>
            <a:spLocks noRot="1" noChangeAspect="1" noChangeArrowheads="1" noTextEdit="1"/>
          </p:cNvSpPr>
          <p:nvPr>
            <p:ph type="sldImg"/>
          </p:nvPr>
        </p:nvSpPr>
        <p:spPr>
          <a:ln/>
        </p:spPr>
      </p:sp>
      <p:sp>
        <p:nvSpPr>
          <p:cNvPr id="693251" name="Rectangle 3">
            <a:extLst>
              <a:ext uri="{FF2B5EF4-FFF2-40B4-BE49-F238E27FC236}">
                <a16:creationId xmlns:a16="http://schemas.microsoft.com/office/drawing/2014/main" id="{80FF2F5E-134F-70B6-0EE4-F8E6379223C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Convert kiểu là gì</a:t>
            </a:r>
          </a:p>
          <a:p>
            <a:pPr marL="0" indent="0"/>
            <a:r>
              <a:rPr lang="ja-JP" altLang="en-US">
                <a:latin typeface="Arial" panose="020B0604020202020204" pitchFamily="34" charset="0"/>
              </a:rPr>
              <a:t>　</a:t>
            </a:r>
            <a:r>
              <a:rPr lang="en-US" altLang="ja-JP">
                <a:latin typeface="Arial" panose="020B0604020202020204" pitchFamily="34" charset="0"/>
              </a:rPr>
              <a:t>Convert kiểu là việc convert một kiểu data thành một kiểu data khác.</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Ở Java, các biến số và literal được sử dụng ở program thì đã được chỉ định kiểu data.</a:t>
            </a:r>
          </a:p>
          <a:p>
            <a:pPr marL="0" indent="0"/>
            <a:r>
              <a:rPr lang="ja-JP" altLang="en-US">
                <a:latin typeface="Arial" panose="020B0604020202020204" pitchFamily="34" charset="0"/>
              </a:rPr>
              <a:t>　</a:t>
            </a:r>
            <a:r>
              <a:rPr lang="en-US" altLang="ja-JP">
                <a:latin typeface="Arial" panose="020B0604020202020204" pitchFamily="34" charset="0"/>
              </a:rPr>
              <a:t>Và cũng có khi cần tính toán sử dụng giá trị có kiểu data khác nhau và gán thành kiểu data khác.</a:t>
            </a:r>
            <a:r>
              <a:rPr lang="ja-JP" altLang="en-US">
                <a:latin typeface="Arial" panose="020B0604020202020204" pitchFamily="34" charset="0"/>
              </a:rPr>
              <a:t>　</a:t>
            </a:r>
            <a:r>
              <a:rPr lang="en-US" altLang="ja-JP">
                <a:latin typeface="Arial" panose="020B0604020202020204" pitchFamily="34" charset="0"/>
              </a:rPr>
              <a:t>Ở những trường hợp như thế thì việc convert kiểu data là cần thiết.</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Ví dụ)</a:t>
            </a:r>
          </a:p>
          <a:p>
            <a:pPr marL="0" indent="0"/>
            <a:r>
              <a:rPr lang="ja-JP" altLang="en-US">
                <a:latin typeface="Arial" panose="020B0604020202020204" pitchFamily="34" charset="0"/>
              </a:rPr>
              <a:t>　・　</a:t>
            </a:r>
            <a:r>
              <a:rPr lang="en-US" altLang="ja-JP">
                <a:latin typeface="Arial" panose="020B0604020202020204" pitchFamily="34" charset="0"/>
              </a:rPr>
              <a:t>Xử lý để tính ra số tiền đề nghị thanh toán khi số lượng nhận đặt hàng là kiểu </a:t>
            </a:r>
            <a:r>
              <a:rPr lang="en-US" altLang="ja-JP">
                <a:latin typeface="Arial" panose="020B0604020202020204" pitchFamily="34" charset="0"/>
                <a:ea typeface="ＭＳ ゴシック" panose="020B0609070205080204" pitchFamily="49" charset="-128"/>
              </a:rPr>
              <a:t>int, tỉ lệ thuế có kiểu là double.</a:t>
            </a:r>
            <a:endParaRPr lang="en-US" altLang="ja-JP">
              <a:latin typeface="Arial" panose="020B0604020202020204" pitchFamily="34" charset="0"/>
            </a:endParaRPr>
          </a:p>
          <a:p>
            <a:pPr marL="0" indent="0"/>
            <a:r>
              <a:rPr lang="ja-JP" altLang="en-US">
                <a:latin typeface="Arial" panose="020B0604020202020204" pitchFamily="34" charset="0"/>
              </a:rPr>
              <a:t>　・　</a:t>
            </a:r>
            <a:r>
              <a:rPr lang="en-US" altLang="ja-JP">
                <a:latin typeface="Arial" panose="020B0604020202020204" pitchFamily="34" charset="0"/>
              </a:rPr>
              <a:t>Convert chuỗi ký tự mà user đã input thành kiểu int để sử dụng ở việc tính toán thuật toán.v.v…</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Việc convert kiểu data có trường hợp được tiến hành tự động, có trường hợp thì không được tiến hành tự động.</a:t>
            </a:r>
          </a:p>
          <a:p>
            <a:pPr marL="0" indent="0"/>
            <a:r>
              <a:rPr lang="ja-JP" altLang="en-US">
                <a:latin typeface="Arial" panose="020B0604020202020204" pitchFamily="34" charset="0"/>
              </a:rPr>
              <a:t>　</a:t>
            </a:r>
            <a:r>
              <a:rPr lang="en-US" altLang="ja-JP">
                <a:latin typeface="Arial" panose="020B0604020202020204" pitchFamily="34" charset="0"/>
              </a:rPr>
              <a:t>Đối với những trường hợp không được tiến hành tự động thì progammer cần phải mô tả xử lý convert tường minh.</a:t>
            </a:r>
          </a:p>
          <a:p>
            <a:pPr marL="0" indent="0"/>
            <a:r>
              <a:rPr lang="ja-JP" altLang="en-US">
                <a:latin typeface="Arial" panose="020B0604020202020204" pitchFamily="34" charset="0"/>
              </a:rPr>
              <a:t>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1138" name="Rectangle 2">
            <a:extLst>
              <a:ext uri="{FF2B5EF4-FFF2-40B4-BE49-F238E27FC236}">
                <a16:creationId xmlns:a16="http://schemas.microsoft.com/office/drawing/2014/main" id="{3EBC4770-1BAB-2632-24CA-2FC8DA82AB8D}"/>
              </a:ext>
            </a:extLst>
          </p:cNvPr>
          <p:cNvSpPr>
            <a:spLocks noRot="1" noChangeAspect="1" noChangeArrowheads="1" noTextEdit="1"/>
          </p:cNvSpPr>
          <p:nvPr>
            <p:ph type="sldImg"/>
          </p:nvPr>
        </p:nvSpPr>
        <p:spPr>
          <a:ln/>
        </p:spPr>
      </p:sp>
      <p:sp>
        <p:nvSpPr>
          <p:cNvPr id="731139" name="Rectangle 3">
            <a:extLst>
              <a:ext uri="{FF2B5EF4-FFF2-40B4-BE49-F238E27FC236}">
                <a16:creationId xmlns:a16="http://schemas.microsoft.com/office/drawing/2014/main" id="{85FC77F7-11B5-B3D5-9114-1E0F6A54B0CC}"/>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Convert kiểu không tường minh là gì</a:t>
            </a:r>
          </a:p>
          <a:p>
            <a:pPr marL="0" indent="0"/>
            <a:r>
              <a:rPr lang="ja-JP" altLang="en-US">
                <a:latin typeface="Arial" panose="020B0604020202020204" pitchFamily="34" charset="0"/>
              </a:rPr>
              <a:t>　</a:t>
            </a:r>
            <a:r>
              <a:rPr lang="en-US" altLang="ja-JP">
                <a:latin typeface="Arial" panose="020B0604020202020204" pitchFamily="34" charset="0"/>
              </a:rPr>
              <a:t>Ở Java khi tính toán và gán giá trị, việc convert kiểu được tiến hành tự động.</a:t>
            </a:r>
          </a:p>
          <a:p>
            <a:pPr marL="0" indent="0"/>
            <a:r>
              <a:rPr lang="ja-JP" altLang="en-US">
                <a:latin typeface="Arial" panose="020B0604020202020204" pitchFamily="34" charset="0"/>
              </a:rPr>
              <a:t>　</a:t>
            </a:r>
            <a:r>
              <a:rPr lang="en-US" altLang="ja-JP">
                <a:latin typeface="Arial" panose="020B0604020202020204" pitchFamily="34" charset="0"/>
              </a:rPr>
              <a:t>Đây gọi là convert kiểu không tường minh.</a:t>
            </a:r>
          </a:p>
          <a:p>
            <a:pPr marL="0" indent="0"/>
            <a:r>
              <a:rPr lang="ja-JP" altLang="en-US">
                <a:latin typeface="Arial" panose="020B0604020202020204" pitchFamily="34" charset="0"/>
              </a:rPr>
              <a:t>　</a:t>
            </a:r>
            <a:r>
              <a:rPr lang="en-US" altLang="ja-JP">
                <a:latin typeface="Arial" panose="020B0604020202020204" pitchFamily="34" charset="0"/>
              </a:rPr>
              <a:t>Convert kiểu không tường minh được tiến hành trong các trường hợp như phạm vi có thể sử dụng được của kiểu data sẽ ép kiểu lớn hơn phạm vi của kiểu data gốc.</a:t>
            </a:r>
          </a:p>
          <a:p>
            <a:pPr marL="0" indent="0"/>
            <a:r>
              <a:rPr lang="ja-JP" altLang="en-US">
                <a:latin typeface="Arial" panose="020B0604020202020204" pitchFamily="34" charset="0"/>
              </a:rPr>
              <a:t>　</a:t>
            </a:r>
            <a:r>
              <a:rPr lang="en-US" altLang="ja-JP">
                <a:latin typeface="Arial" panose="020B0604020202020204" pitchFamily="34" charset="0"/>
              </a:rPr>
              <a:t>Có thể convert giữa các kiểu data cơ bản nhưng không thể convert kiểu của data kiểu </a:t>
            </a:r>
            <a:r>
              <a:rPr lang="en-US" altLang="ja-JP">
                <a:latin typeface="Arial" panose="020B0604020202020204" pitchFamily="34" charset="0"/>
                <a:ea typeface="ＭＳ ゴシック" panose="020B0609070205080204" pitchFamily="49" charset="-128"/>
              </a:rPr>
              <a:t>boolean.</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Convert kiểu không tường minh khi gán.</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 Việc convert từ kiểu </a:t>
            </a:r>
            <a:r>
              <a:rPr lang="en-US" altLang="ja-JP">
                <a:latin typeface="Arial" panose="020B0604020202020204" pitchFamily="34" charset="0"/>
                <a:ea typeface="ＭＳ ゴシック" panose="020B0609070205080204" pitchFamily="49" charset="-128"/>
              </a:rPr>
              <a:t>int</a:t>
            </a:r>
            <a:r>
              <a:rPr lang="en-US" altLang="ja-JP">
                <a:latin typeface="Arial" panose="020B0604020202020204" pitchFamily="34" charset="0"/>
              </a:rPr>
              <a:t>, </a:t>
            </a:r>
            <a:r>
              <a:rPr lang="en-US" altLang="ja-JP">
                <a:latin typeface="Arial" panose="020B0604020202020204" pitchFamily="34" charset="0"/>
                <a:ea typeface="ＭＳ ゴシック" panose="020B0609070205080204" pitchFamily="49" charset="-128"/>
              </a:rPr>
              <a:t>long sang kiểu float có thể sẽ làm giảm độ chính xác.</a:t>
            </a:r>
            <a:endParaRPr lang="en-US" altLang="ja-JP">
              <a:latin typeface="Arial" panose="020B0604020202020204" pitchFamily="34" charset="0"/>
            </a:endParaRPr>
          </a:p>
          <a:p>
            <a:pPr marL="0" indent="0"/>
            <a:r>
              <a:rPr lang="en-US" altLang="ja-JP">
                <a:latin typeface="Arial" panose="020B0604020202020204" pitchFamily="34" charset="0"/>
              </a:rPr>
              <a:t>※ Việc convert từ kiểu </a:t>
            </a:r>
            <a:r>
              <a:rPr lang="en-US" altLang="ja-JP">
                <a:latin typeface="Arial" panose="020B0604020202020204" pitchFamily="34" charset="0"/>
                <a:ea typeface="ＭＳ ゴシック" panose="020B0609070205080204" pitchFamily="49" charset="-128"/>
              </a:rPr>
              <a:t>long sang kiểu double có thể làm giảm độ chính xác.</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graphicFrame>
        <p:nvGraphicFramePr>
          <p:cNvPr id="731175" name="Group 39">
            <a:extLst>
              <a:ext uri="{FF2B5EF4-FFF2-40B4-BE49-F238E27FC236}">
                <a16:creationId xmlns:a16="http://schemas.microsoft.com/office/drawing/2014/main" id="{87CE4442-FB8D-7501-EC2B-22057CD421C1}"/>
              </a:ext>
            </a:extLst>
          </p:cNvPr>
          <p:cNvGraphicFramePr>
            <a:graphicFrameLocks noGrp="1"/>
          </p:cNvGraphicFramePr>
          <p:nvPr/>
        </p:nvGraphicFramePr>
        <p:xfrm>
          <a:off x="701675" y="6513513"/>
          <a:ext cx="5719763" cy="2271712"/>
        </p:xfrm>
        <a:graphic>
          <a:graphicData uri="http://schemas.openxmlformats.org/drawingml/2006/table">
            <a:tbl>
              <a:tblPr/>
              <a:tblGrid>
                <a:gridCol w="1831975">
                  <a:extLst>
                    <a:ext uri="{9D8B030D-6E8A-4147-A177-3AD203B41FA5}">
                      <a16:colId xmlns:a16="http://schemas.microsoft.com/office/drawing/2014/main" val="1306917046"/>
                    </a:ext>
                  </a:extLst>
                </a:gridCol>
                <a:gridCol w="3887788">
                  <a:extLst>
                    <a:ext uri="{9D8B030D-6E8A-4147-A177-3AD203B41FA5}">
                      <a16:colId xmlns:a16="http://schemas.microsoft.com/office/drawing/2014/main" val="63909268"/>
                    </a:ext>
                  </a:extLst>
                </a:gridCol>
              </a:tblGrid>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Kiểu data gốc</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Kiểu data có thể convert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3504891884"/>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byte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short, int, long, float, 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20601236"/>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short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long, float, 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385332590"/>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long, float, 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4116042265"/>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long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float, 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609021823"/>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float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604467730"/>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Không có</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4128269581"/>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char</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long, float, 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440858660"/>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Không có</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934138112"/>
                  </a:ext>
                </a:extLst>
              </a:tr>
            </a:tbl>
          </a:graphicData>
        </a:graphic>
      </p:graphicFrame>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5714" name="Rectangle 2">
            <a:extLst>
              <a:ext uri="{FF2B5EF4-FFF2-40B4-BE49-F238E27FC236}">
                <a16:creationId xmlns:a16="http://schemas.microsoft.com/office/drawing/2014/main" id="{36547FB3-C09E-62F4-90D7-B143A6128F21}"/>
              </a:ext>
            </a:extLst>
          </p:cNvPr>
          <p:cNvSpPr>
            <a:spLocks noRot="1" noChangeAspect="1" noChangeArrowheads="1" noTextEdit="1"/>
          </p:cNvSpPr>
          <p:nvPr>
            <p:ph type="sldImg"/>
          </p:nvPr>
        </p:nvSpPr>
        <p:spPr>
          <a:ln/>
        </p:spPr>
      </p:sp>
      <p:sp>
        <p:nvSpPr>
          <p:cNvPr id="755715" name="Rectangle 3">
            <a:extLst>
              <a:ext uri="{FF2B5EF4-FFF2-40B4-BE49-F238E27FC236}">
                <a16:creationId xmlns:a16="http://schemas.microsoft.com/office/drawing/2014/main" id="{7EBCF8E6-DCE4-7B79-82F2-10CA12420B21}"/>
              </a:ext>
            </a:extLst>
          </p:cNvPr>
          <p:cNvSpPr>
            <a:spLocks noGrp="1" noChangeArrowheads="1"/>
          </p:cNvSpPr>
          <p:nvPr>
            <p:ph type="body" idx="1"/>
          </p:nvPr>
        </p:nvSpPr>
        <p:spPr/>
        <p:txBody>
          <a:bodyPr/>
          <a:lstStyle/>
          <a:p>
            <a:pPr marL="0" indent="0"/>
            <a:r>
              <a:rPr lang="en-US" altLang="ja-JP">
                <a:latin typeface="Arial" panose="020B0604020202020204" pitchFamily="34" charset="0"/>
              </a:rPr>
              <a:t>●Ví dụ</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●Ví dụ thực hiện</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755719" name="Text Box 7">
            <a:extLst>
              <a:ext uri="{FF2B5EF4-FFF2-40B4-BE49-F238E27FC236}">
                <a16:creationId xmlns:a16="http://schemas.microsoft.com/office/drawing/2014/main" id="{BF4B36C2-8E04-D8E2-FCF2-0C073B48F6FA}"/>
              </a:ext>
            </a:extLst>
          </p:cNvPr>
          <p:cNvSpPr txBox="1">
            <a:spLocks noChangeArrowheads="1"/>
          </p:cNvSpPr>
          <p:nvPr/>
        </p:nvSpPr>
        <p:spPr bwMode="auto">
          <a:xfrm>
            <a:off x="719138" y="5527675"/>
            <a:ext cx="5770562" cy="313848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6950" indent="-357188" defTabSz="447675">
              <a:defRPr kumimoji="1">
                <a:solidFill>
                  <a:schemeClr val="tx1"/>
                </a:solidFill>
                <a:latin typeface="Arial" panose="020B0604020202020204" pitchFamily="34" charset="0"/>
                <a:ea typeface="ＭＳ Ｐゴシック" panose="020B0600070205080204" pitchFamily="50" charset="-128"/>
              </a:defRPr>
            </a:lvl5pPr>
            <a:lvl6pPr marL="27241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813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85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57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Cast1.java</a:t>
            </a:r>
          </a:p>
          <a:p>
            <a:pPr lvl="1" algn="just">
              <a:spcBef>
                <a:spcPct val="10000"/>
              </a:spcBef>
              <a:buFontTx/>
              <a:buAutoNum type="arabicPeriod"/>
            </a:pPr>
            <a:r>
              <a:rPr lang="ja-JP" altLang="en-US"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public class Cast1 {</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public static void main(String[] args) {</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int valInt = 4;</a:t>
            </a:r>
          </a:p>
          <a:p>
            <a:pPr lvl="1" algn="just">
              <a:spcBef>
                <a:spcPct val="10000"/>
              </a:spcBef>
              <a:buFontTx/>
              <a:buAutoNum type="arabicPeriod"/>
            </a:pPr>
            <a:r>
              <a:rPr lang="ja-JP" altLang="en-US"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 byte valByte = valInt;   // Compile error</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 short valShort = valInt; // Compile error</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long  valLong = valInt;</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float valFloat = valInt;</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double valDouble = valInt;</a:t>
            </a:r>
          </a:p>
          <a:p>
            <a:pPr lvl="1" algn="just">
              <a:spcBef>
                <a:spcPct val="10000"/>
              </a:spcBef>
              <a:buFontTx/>
              <a:buAutoNum type="arabicPeriod"/>
            </a:pPr>
            <a:r>
              <a:rPr lang="ja-JP" altLang="en-US"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System.out.println("valInt : " + valInt);</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System.out.println("valLong : " + valLong);</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System.out.println("valFloat : " + valFloat);</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System.out.println("valDouble : " + valDouble);</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a:t>
            </a:r>
            <a:endParaRPr lang="ja-JP" altLang="ja-JP" b="0">
              <a:latin typeface="ＭＳ ゴシック" panose="020B0609070205080204" pitchFamily="49" charset="-128"/>
              <a:ea typeface="ＭＳ ゴシック" panose="020B0609070205080204" pitchFamily="49" charset="-128"/>
            </a:endParaRPr>
          </a:p>
        </p:txBody>
      </p:sp>
      <p:sp>
        <p:nvSpPr>
          <p:cNvPr id="755720" name="Text Box 8">
            <a:extLst>
              <a:ext uri="{FF2B5EF4-FFF2-40B4-BE49-F238E27FC236}">
                <a16:creationId xmlns:a16="http://schemas.microsoft.com/office/drawing/2014/main" id="{6D89079E-AF10-64C0-B020-A4C18940C81A}"/>
              </a:ext>
            </a:extLst>
          </p:cNvPr>
          <p:cNvSpPr txBox="1">
            <a:spLocks noChangeArrowheads="1"/>
          </p:cNvSpPr>
          <p:nvPr/>
        </p:nvSpPr>
        <p:spPr bwMode="auto">
          <a:xfrm>
            <a:off x="719138" y="9074150"/>
            <a:ext cx="5772150" cy="82867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nSpc>
                <a:spcPct val="70000"/>
              </a:lnSpc>
              <a:spcAft>
                <a:spcPct val="50000"/>
              </a:spcAft>
            </a:pPr>
            <a:r>
              <a:rPr lang="ja-JP" altLang="ja-JP" b="0">
                <a:latin typeface="ＭＳ ゴシック" panose="020B0609070205080204" pitchFamily="49" charset="-128"/>
                <a:ea typeface="ＭＳ ゴシック" panose="020B0609070205080204" pitchFamily="49" charset="-128"/>
              </a:rPr>
              <a:t>valInt : 4</a:t>
            </a:r>
          </a:p>
          <a:p>
            <a:pPr lvl="1">
              <a:lnSpc>
                <a:spcPct val="70000"/>
              </a:lnSpc>
              <a:spcAft>
                <a:spcPct val="50000"/>
              </a:spcAft>
            </a:pPr>
            <a:r>
              <a:rPr lang="ja-JP" altLang="ja-JP" b="0">
                <a:latin typeface="ＭＳ ゴシック" panose="020B0609070205080204" pitchFamily="49" charset="-128"/>
                <a:ea typeface="ＭＳ ゴシック" panose="020B0609070205080204" pitchFamily="49" charset="-128"/>
              </a:rPr>
              <a:t>valLong : 4</a:t>
            </a:r>
          </a:p>
          <a:p>
            <a:pPr lvl="1">
              <a:lnSpc>
                <a:spcPct val="70000"/>
              </a:lnSpc>
              <a:spcAft>
                <a:spcPct val="50000"/>
              </a:spcAft>
            </a:pPr>
            <a:r>
              <a:rPr lang="ja-JP" altLang="ja-JP" b="0">
                <a:latin typeface="ＭＳ ゴシック" panose="020B0609070205080204" pitchFamily="49" charset="-128"/>
                <a:ea typeface="ＭＳ ゴシック" panose="020B0609070205080204" pitchFamily="49" charset="-128"/>
              </a:rPr>
              <a:t>valFloat : 4.0</a:t>
            </a:r>
          </a:p>
          <a:p>
            <a:pPr lvl="1">
              <a:lnSpc>
                <a:spcPct val="70000"/>
              </a:lnSpc>
              <a:spcAft>
                <a:spcPct val="50000"/>
              </a:spcAft>
            </a:pPr>
            <a:r>
              <a:rPr lang="ja-JP" altLang="ja-JP" b="0">
                <a:latin typeface="ＭＳ ゴシック" panose="020B0609070205080204" pitchFamily="49" charset="-128"/>
                <a:ea typeface="ＭＳ ゴシック" panose="020B0609070205080204" pitchFamily="49" charset="-128"/>
              </a:rPr>
              <a:t>valDouble : 4.0</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1618" name="Rectangle 2">
            <a:extLst>
              <a:ext uri="{FF2B5EF4-FFF2-40B4-BE49-F238E27FC236}">
                <a16:creationId xmlns:a16="http://schemas.microsoft.com/office/drawing/2014/main" id="{84EADD06-961B-6DDF-F205-88FCCB0E7819}"/>
              </a:ext>
            </a:extLst>
          </p:cNvPr>
          <p:cNvSpPr>
            <a:spLocks noRot="1" noChangeAspect="1" noChangeArrowheads="1" noTextEdit="1"/>
          </p:cNvSpPr>
          <p:nvPr>
            <p:ph type="sldImg"/>
          </p:nvPr>
        </p:nvSpPr>
        <p:spPr>
          <a:ln/>
        </p:spPr>
      </p:sp>
      <p:sp>
        <p:nvSpPr>
          <p:cNvPr id="751619" name="Rectangle 3">
            <a:extLst>
              <a:ext uri="{FF2B5EF4-FFF2-40B4-BE49-F238E27FC236}">
                <a16:creationId xmlns:a16="http://schemas.microsoft.com/office/drawing/2014/main" id="{F0D6919C-1293-0354-7F4B-448BBA179B6B}"/>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Convert kiểu tường minh</a:t>
            </a:r>
            <a:r>
              <a:rPr lang="ja-JP" altLang="en-US">
                <a:latin typeface="Arial" panose="020B0604020202020204" pitchFamily="34" charset="0"/>
              </a:rPr>
              <a:t>（</a:t>
            </a:r>
            <a:r>
              <a:rPr lang="en-US" altLang="ja-JP">
                <a:latin typeface="Arial" panose="020B0604020202020204" pitchFamily="34" charset="0"/>
              </a:rPr>
              <a:t>Cast</a:t>
            </a:r>
            <a:r>
              <a:rPr lang="ja-JP" altLang="en-US">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Ở Java, khi định gán một kiểu data có phạm vi sử dụng lớn hơn thành một kiểu data có phạm vi sử dụng nhỏ hơn  thì sẽ bị compile error </a:t>
            </a:r>
            <a:r>
              <a:rPr lang="ja-JP" altLang="en-US">
                <a:latin typeface="Arial" panose="020B0604020202020204" pitchFamily="34" charset="0"/>
              </a:rPr>
              <a:t>「</a:t>
            </a:r>
            <a:r>
              <a:rPr lang="en-US" altLang="ja-JP">
                <a:latin typeface="Arial" panose="020B0604020202020204" pitchFamily="34" charset="0"/>
              </a:rPr>
              <a:t>Có thể độ chính xác sẽ bị giảm</a:t>
            </a:r>
            <a:r>
              <a:rPr lang="ja-JP" altLang="en-US">
                <a:latin typeface="Arial" panose="020B0604020202020204" pitchFamily="34" charset="0"/>
              </a:rPr>
              <a:t>」</a:t>
            </a:r>
            <a:r>
              <a:rPr lang="en-US" altLang="ja-JP">
                <a:latin typeface="Arial" panose="020B0604020202020204" pitchFamily="34" charset="0"/>
              </a:rPr>
              <a:t>và việc convert không tường minh sẽ không được tiến hành nữa.</a:t>
            </a:r>
          </a:p>
          <a:p>
            <a:pPr marL="0" indent="0"/>
            <a:r>
              <a:rPr lang="ja-JP" altLang="en-US">
                <a:latin typeface="Arial" panose="020B0604020202020204" pitchFamily="34" charset="0"/>
              </a:rPr>
              <a:t>　</a:t>
            </a:r>
            <a:r>
              <a:rPr lang="en-US" altLang="ja-JP">
                <a:latin typeface="Arial" panose="020B0604020202020204" pitchFamily="34" charset="0"/>
              </a:rPr>
              <a:t>Trường hợp muốn tiến hành việc gán kiểu như thế này thì phải tiến hành chỉ định convert kiểu tường minh (cast).</a:t>
            </a:r>
          </a:p>
          <a:p>
            <a:pPr marL="0" indent="0"/>
            <a:r>
              <a:rPr lang="ja-JP" altLang="en-US">
                <a:latin typeface="Arial" panose="020B0604020202020204" pitchFamily="34" charset="0"/>
              </a:rPr>
              <a:t>　</a:t>
            </a:r>
            <a:r>
              <a:rPr lang="en-US" altLang="ja-JP">
                <a:latin typeface="Arial" panose="020B0604020202020204" pitchFamily="34" charset="0"/>
              </a:rPr>
              <a:t>Không thể cast </a:t>
            </a:r>
            <a:r>
              <a:rPr lang="en-US" altLang="ja-JP">
                <a:latin typeface="Arial" panose="020B0604020202020204" pitchFamily="34" charset="0"/>
                <a:ea typeface="ＭＳ ゴシック" panose="020B0609070205080204" pitchFamily="49" charset="-128"/>
              </a:rPr>
              <a:t>các kiểu data khác với </a:t>
            </a:r>
            <a:r>
              <a:rPr lang="en-US" altLang="ja-JP">
                <a:latin typeface="Arial" panose="020B0604020202020204" pitchFamily="34" charset="0"/>
              </a:rPr>
              <a:t>kiểu </a:t>
            </a:r>
            <a:r>
              <a:rPr lang="en-US" altLang="ja-JP">
                <a:latin typeface="Arial" panose="020B0604020202020204" pitchFamily="34" charset="0"/>
                <a:ea typeface="ＭＳ ゴシック" panose="020B0609070205080204" pitchFamily="49" charset="-128"/>
              </a:rPr>
              <a:t>boolean .</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Chỉ định convert kiểu tường minh trong trường hợp có thể convert không tường minh cũng không sao.</a:t>
            </a:r>
          </a:p>
          <a:p>
            <a:pPr marL="0" indent="0"/>
            <a:endParaRPr lang="en-US" altLang="ja-JP">
              <a:latin typeface="Arial" panose="020B0604020202020204" pitchFamily="34"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9810" name="Rectangle 2">
            <a:extLst>
              <a:ext uri="{FF2B5EF4-FFF2-40B4-BE49-F238E27FC236}">
                <a16:creationId xmlns:a16="http://schemas.microsoft.com/office/drawing/2014/main" id="{12169B4F-E725-2865-288B-12AC4D9E5716}"/>
              </a:ext>
            </a:extLst>
          </p:cNvPr>
          <p:cNvSpPr>
            <a:spLocks noRot="1" noChangeAspect="1" noChangeArrowheads="1" noTextEdit="1"/>
          </p:cNvSpPr>
          <p:nvPr>
            <p:ph type="sldImg"/>
          </p:nvPr>
        </p:nvSpPr>
        <p:spPr>
          <a:xfrm>
            <a:off x="531813" y="835025"/>
            <a:ext cx="6024562" cy="4170363"/>
          </a:xfrm>
          <a:ln/>
        </p:spPr>
      </p:sp>
      <p:sp>
        <p:nvSpPr>
          <p:cNvPr id="759811" name="Rectangle 3">
            <a:extLst>
              <a:ext uri="{FF2B5EF4-FFF2-40B4-BE49-F238E27FC236}">
                <a16:creationId xmlns:a16="http://schemas.microsoft.com/office/drawing/2014/main" id="{F1FE55F9-CB61-70C6-475E-7715D118963D}"/>
              </a:ext>
            </a:extLst>
          </p:cNvPr>
          <p:cNvSpPr>
            <a:spLocks noGrp="1" noChangeArrowheads="1"/>
          </p:cNvSpPr>
          <p:nvPr>
            <p:ph type="body" idx="1"/>
          </p:nvPr>
        </p:nvSpPr>
        <p:spPr/>
        <p:txBody>
          <a:bodyPr/>
          <a:lstStyle/>
          <a:p>
            <a:pPr marL="0" indent="0"/>
            <a:r>
              <a:rPr lang="zh-TW" altLang="en-US">
                <a:latin typeface="Arial" panose="020B0604020202020204" pitchFamily="34" charset="0"/>
              </a:rPr>
              <a:t>●　</a:t>
            </a:r>
            <a:r>
              <a:rPr lang="en-US" altLang="ja-JP">
                <a:latin typeface="Arial" panose="020B0604020202020204" pitchFamily="34" charset="0"/>
              </a:rPr>
              <a:t>Ví dụ</a:t>
            </a:r>
            <a:endParaRPr lang="en-US" altLang="zh-TW">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r>
              <a:rPr lang="zh-TW" altLang="en-US">
                <a:latin typeface="Arial" panose="020B0604020202020204" pitchFamily="34" charset="0"/>
              </a:rPr>
              <a:t>●　</a:t>
            </a:r>
            <a:r>
              <a:rPr lang="en-US" altLang="ja-JP">
                <a:latin typeface="Arial" panose="020B0604020202020204" pitchFamily="34" charset="0"/>
              </a:rPr>
              <a:t>Kết quả thực hiện</a:t>
            </a:r>
            <a:endParaRPr lang="zh-TW" altLang="ja-JP">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endParaRPr lang="zh-TW" altLang="en-US">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Convert kiểu tường minh</a:t>
            </a:r>
            <a:r>
              <a:rPr lang="ja-JP" altLang="en-US">
                <a:latin typeface="Arial" panose="020B0604020202020204" pitchFamily="34" charset="0"/>
              </a:rPr>
              <a:t>（</a:t>
            </a:r>
            <a:r>
              <a:rPr lang="en-US" altLang="ja-JP">
                <a:latin typeface="Arial" panose="020B0604020202020204" pitchFamily="34" charset="0"/>
              </a:rPr>
              <a:t>cast</a:t>
            </a:r>
            <a:r>
              <a:rPr lang="ja-JP" altLang="en-US">
                <a:latin typeface="Arial" panose="020B0604020202020204" pitchFamily="34" charset="0"/>
              </a:rPr>
              <a:t>）</a:t>
            </a:r>
            <a:r>
              <a:rPr lang="en-US" altLang="ja-JP">
                <a:latin typeface="Arial" panose="020B0604020202020204" pitchFamily="34" charset="0"/>
              </a:rPr>
              <a:t>và giá trị</a:t>
            </a:r>
          </a:p>
          <a:p>
            <a:pPr marL="0" indent="0"/>
            <a:r>
              <a:rPr lang="ja-JP" altLang="en-US">
                <a:latin typeface="Arial" panose="020B0604020202020204" pitchFamily="34" charset="0"/>
              </a:rPr>
              <a:t>　</a:t>
            </a:r>
            <a:r>
              <a:rPr lang="en-US" altLang="ja-JP">
                <a:latin typeface="Arial" panose="020B0604020202020204" pitchFamily="34" charset="0"/>
              </a:rPr>
              <a:t>Nếu tiến hành convert kiểu tường minh, cũng có trường hợp data bị thiếu và biến đổi thành một giá trị hoàn toàn khác.</a:t>
            </a:r>
          </a:p>
          <a:p>
            <a:pPr marL="0" indent="0"/>
            <a:r>
              <a:rPr lang="ja-JP" altLang="en-US">
                <a:latin typeface="Arial" panose="020B0604020202020204" pitchFamily="34" charset="0"/>
              </a:rPr>
              <a:t>　</a:t>
            </a:r>
            <a:r>
              <a:rPr lang="en-US" altLang="ja-JP">
                <a:latin typeface="Arial" panose="020B0604020202020204" pitchFamily="34" charset="0"/>
              </a:rPr>
              <a:t>Ví dụ, Khi cast </a:t>
            </a:r>
            <a:r>
              <a:rPr lang="ja-JP" altLang="en-US">
                <a:latin typeface="Arial" panose="020B0604020202020204" pitchFamily="34" charset="0"/>
              </a:rPr>
              <a:t>「</a:t>
            </a:r>
            <a:r>
              <a:rPr lang="en-US" altLang="ja-JP">
                <a:latin typeface="Arial" panose="020B0604020202020204" pitchFamily="34" charset="0"/>
              </a:rPr>
              <a:t>1234567</a:t>
            </a:r>
            <a:r>
              <a:rPr lang="ja-JP" altLang="en-US">
                <a:latin typeface="Arial" panose="020B0604020202020204" pitchFamily="34" charset="0"/>
              </a:rPr>
              <a:t>」 </a:t>
            </a:r>
            <a:r>
              <a:rPr lang="en-US" altLang="ja-JP">
                <a:latin typeface="Arial" panose="020B0604020202020204" pitchFamily="34" charset="0"/>
              </a:rPr>
              <a:t>của kiểu </a:t>
            </a:r>
            <a:r>
              <a:rPr lang="en-US" altLang="ja-JP">
                <a:latin typeface="Arial" panose="020B0604020202020204" pitchFamily="34" charset="0"/>
                <a:ea typeface="ＭＳ ゴシック" panose="020B0609070205080204" pitchFamily="49" charset="-128"/>
              </a:rPr>
              <a:t>int thành kiểu byte thì chỉ có mỗi thông tin của 1 byte ở vị trí thấp nhất được ép kiểu mà thôi.</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Giá trị đã cast bị biến đổi thành </a:t>
            </a:r>
            <a:r>
              <a:rPr lang="ja-JP" altLang="en-US">
                <a:latin typeface="Arial" panose="020B0604020202020204" pitchFamily="34" charset="0"/>
              </a:rPr>
              <a:t>「</a:t>
            </a:r>
            <a:r>
              <a:rPr lang="en-US" altLang="ja-JP">
                <a:latin typeface="Arial" panose="020B0604020202020204" pitchFamily="34" charset="0"/>
              </a:rPr>
              <a:t>-121</a:t>
            </a:r>
            <a:r>
              <a:rPr lang="ja-JP" altLang="en-US">
                <a:latin typeface="Arial" panose="020B0604020202020204" pitchFamily="34" charset="0"/>
              </a:rPr>
              <a:t>」</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Việc convert kiểu tường minh sẽ không bị compile error nhưng giá trị có nguy cơ bị hư hại nên hãy thật chú ý khi sử dụng.</a:t>
            </a:r>
          </a:p>
          <a:p>
            <a:pPr marL="0" indent="0"/>
            <a:endParaRPr lang="en-US" altLang="ja-JP">
              <a:latin typeface="Arial" panose="020B0604020202020204" pitchFamily="34" charset="0"/>
            </a:endParaRPr>
          </a:p>
          <a:p>
            <a:pPr marL="0" indent="0"/>
            <a:r>
              <a:rPr lang="en-US" altLang="ja-JP">
                <a:latin typeface="Arial" panose="020B0604020202020204" pitchFamily="34" charset="0"/>
                <a:ea typeface="ＭＳ ゴシック" panose="020B0609070205080204" pitchFamily="49" charset="-128"/>
              </a:rPr>
              <a:t>Ví dụ) int val1 = 1234567;</a:t>
            </a:r>
          </a:p>
          <a:p>
            <a:pPr marL="0" indent="0"/>
            <a:r>
              <a:rPr lang="en-US" altLang="ja-JP">
                <a:latin typeface="Arial" panose="020B0604020202020204" pitchFamily="34" charset="0"/>
                <a:ea typeface="ＭＳ ゴシック" panose="020B0609070205080204" pitchFamily="49" charset="-128"/>
              </a:rPr>
              <a:t>    byte val2 = (byte)val1;</a:t>
            </a:r>
          </a:p>
          <a:p>
            <a:pPr marL="0" indent="0"/>
            <a:r>
              <a:rPr lang="en-US" altLang="ja-JP">
                <a:latin typeface="Arial" panose="020B0604020202020204" pitchFamily="34" charset="0"/>
                <a:ea typeface="ＭＳ ゴシック" panose="020B0609070205080204" pitchFamily="49" charset="-128"/>
              </a:rPr>
              <a:t>    System.out.println(val2);</a:t>
            </a:r>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 Hiển thị là</a:t>
            </a:r>
            <a:r>
              <a:rPr lang="ja-JP" altLang="en-US">
                <a:latin typeface="Arial" panose="020B0604020202020204" pitchFamily="34" charset="0"/>
                <a:ea typeface="ＭＳ ゴシック" panose="020B0609070205080204" pitchFamily="49" charset="-128"/>
              </a:rPr>
              <a:t>「</a:t>
            </a:r>
            <a:r>
              <a:rPr lang="en-US" altLang="ja-JP">
                <a:latin typeface="Arial" panose="020B0604020202020204" pitchFamily="34" charset="0"/>
                <a:ea typeface="ＭＳ ゴシック" panose="020B0609070205080204" pitchFamily="49" charset="-128"/>
              </a:rPr>
              <a:t>-121</a:t>
            </a:r>
            <a:r>
              <a:rPr lang="ja-JP" altLang="en-US">
                <a:latin typeface="Arial" panose="020B0604020202020204" pitchFamily="34" charset="0"/>
                <a:ea typeface="ＭＳ ゴシック" panose="020B0609070205080204" pitchFamily="49" charset="-128"/>
              </a:rPr>
              <a:t>」</a:t>
            </a:r>
          </a:p>
          <a:p>
            <a:pPr marL="0" indent="0"/>
            <a:endParaRPr lang="ja-JP" altLang="en-US">
              <a:latin typeface="Arial" panose="020B0604020202020204" pitchFamily="34" charset="0"/>
              <a:ea typeface="ＭＳ ゴシック" panose="020B0609070205080204" pitchFamily="49" charset="-128"/>
            </a:endParaRPr>
          </a:p>
          <a:p>
            <a:pPr marL="0" indent="0"/>
            <a:endParaRPr lang="zh-TW" altLang="en-US">
              <a:latin typeface="Arial" panose="020B0604020202020204" pitchFamily="34" charset="0"/>
            </a:endParaRPr>
          </a:p>
          <a:p>
            <a:pPr marL="0" indent="0"/>
            <a:endParaRPr lang="en-US" altLang="ja-JP">
              <a:latin typeface="Arial" panose="020B0604020202020204" pitchFamily="34" charset="0"/>
            </a:endParaRPr>
          </a:p>
        </p:txBody>
      </p:sp>
      <p:sp>
        <p:nvSpPr>
          <p:cNvPr id="759842" name="Text Box 34">
            <a:extLst>
              <a:ext uri="{FF2B5EF4-FFF2-40B4-BE49-F238E27FC236}">
                <a16:creationId xmlns:a16="http://schemas.microsoft.com/office/drawing/2014/main" id="{A185C2DB-1FFE-651E-D53C-5EB60932CA8A}"/>
              </a:ext>
            </a:extLst>
          </p:cNvPr>
          <p:cNvSpPr txBox="1">
            <a:spLocks noChangeArrowheads="1"/>
          </p:cNvSpPr>
          <p:nvPr/>
        </p:nvSpPr>
        <p:spPr bwMode="auto">
          <a:xfrm>
            <a:off x="719138" y="5537200"/>
            <a:ext cx="5770562" cy="98583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6950" indent="-357188" defTabSz="447675">
              <a:defRPr kumimoji="1">
                <a:solidFill>
                  <a:schemeClr val="tx1"/>
                </a:solidFill>
                <a:latin typeface="Arial" panose="020B0604020202020204" pitchFamily="34" charset="0"/>
                <a:ea typeface="ＭＳ Ｐゴシック" panose="020B0600070205080204" pitchFamily="50" charset="-128"/>
              </a:defRPr>
            </a:lvl5pPr>
            <a:lvl6pPr marL="27241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813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85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57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buFontTx/>
              <a:buAutoNum type="arabicPeriod"/>
            </a:pPr>
            <a:r>
              <a:rPr lang="en-US" altLang="en-US" b="0">
                <a:latin typeface="ＭＳ ゴシック" panose="020B0609070205080204" pitchFamily="49" charset="-128"/>
                <a:ea typeface="ＭＳ ゴシック" panose="020B0609070205080204" pitchFamily="49" charset="-128"/>
              </a:rPr>
              <a:t>double valDouble = 1.6;</a:t>
            </a:r>
          </a:p>
          <a:p>
            <a:pPr lvl="1" algn="just">
              <a:spcBef>
                <a:spcPct val="10000"/>
              </a:spcBef>
              <a:buFontTx/>
              <a:buAutoNum type="arabicPeriod"/>
            </a:pPr>
            <a:r>
              <a:rPr lang="en-US" altLang="en-US" b="0">
                <a:latin typeface="ＭＳ ゴシック" panose="020B0609070205080204" pitchFamily="49" charset="-128"/>
                <a:ea typeface="ＭＳ ゴシック" panose="020B0609070205080204" pitchFamily="49" charset="-128"/>
              </a:rPr>
              <a:t>int valInt1 = (int)valDouble;</a:t>
            </a:r>
          </a:p>
          <a:p>
            <a:pPr lvl="1" algn="just">
              <a:spcBef>
                <a:spcPct val="10000"/>
              </a:spcBef>
              <a:buFontTx/>
              <a:buAutoNum type="arabicPeriod"/>
            </a:pPr>
            <a:r>
              <a:rPr lang="en-US" altLang="en-US" b="0">
                <a:latin typeface="ＭＳ ゴシック" panose="020B0609070205080204" pitchFamily="49" charset="-128"/>
                <a:ea typeface="ＭＳ ゴシック" panose="020B0609070205080204" pitchFamily="49" charset="-128"/>
              </a:rPr>
              <a:t>System.out.println("valInt1 : " + valInt1);</a:t>
            </a:r>
            <a:endParaRPr lang="en-US" altLang="ja-JP" b="0">
              <a:latin typeface="ＭＳ ゴシック" panose="020B0609070205080204" pitchFamily="49" charset="-128"/>
              <a:ea typeface="ＭＳ ゴシック" panose="020B0609070205080204" pitchFamily="49" charset="-128"/>
            </a:endParaRPr>
          </a:p>
          <a:p>
            <a:pPr lvl="1" algn="just">
              <a:spcBef>
                <a:spcPct val="10000"/>
              </a:spcBef>
              <a:buFontTx/>
              <a:buAutoNum type="arabicPeriod"/>
            </a:pPr>
            <a:r>
              <a:rPr lang="en-US" altLang="en-US" b="0">
                <a:latin typeface="ＭＳ ゴシック" panose="020B0609070205080204" pitchFamily="49" charset="-128"/>
                <a:ea typeface="ＭＳ ゴシック" panose="020B0609070205080204" pitchFamily="49" charset="-128"/>
              </a:rPr>
              <a:t>int valInt2 = (int)(2 * 1.6);</a:t>
            </a:r>
          </a:p>
          <a:p>
            <a:pPr lvl="1" algn="just">
              <a:spcBef>
                <a:spcPct val="10000"/>
              </a:spcBef>
              <a:buFontTx/>
              <a:buAutoNum type="arabicPeriod"/>
            </a:pPr>
            <a:r>
              <a:rPr lang="en-US" altLang="en-US" b="0">
                <a:latin typeface="ＭＳ ゴシック" panose="020B0609070205080204" pitchFamily="49" charset="-128"/>
                <a:ea typeface="ＭＳ ゴシック" panose="020B0609070205080204" pitchFamily="49" charset="-128"/>
              </a:rPr>
              <a:t>System.out.println("valInt2 : " + valInt2);</a:t>
            </a:r>
          </a:p>
        </p:txBody>
      </p:sp>
      <p:sp>
        <p:nvSpPr>
          <p:cNvPr id="759843" name="Text Box 35">
            <a:extLst>
              <a:ext uri="{FF2B5EF4-FFF2-40B4-BE49-F238E27FC236}">
                <a16:creationId xmlns:a16="http://schemas.microsoft.com/office/drawing/2014/main" id="{042564B5-4EAC-37E5-4B77-DFAFFB9F4546}"/>
              </a:ext>
            </a:extLst>
          </p:cNvPr>
          <p:cNvSpPr txBox="1">
            <a:spLocks noChangeArrowheads="1"/>
          </p:cNvSpPr>
          <p:nvPr/>
        </p:nvSpPr>
        <p:spPr bwMode="auto">
          <a:xfrm>
            <a:off x="719138" y="6931025"/>
            <a:ext cx="5772150" cy="4286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spcBef>
                <a:spcPct val="10000"/>
              </a:spcBef>
              <a:spcAft>
                <a:spcPct val="10000"/>
              </a:spcAft>
            </a:pPr>
            <a:r>
              <a:rPr lang="en-US" altLang="ja-JP" b="0">
                <a:latin typeface="ＭＳ ゴシック" panose="020B0609070205080204" pitchFamily="49" charset="-128"/>
                <a:ea typeface="ＭＳ ゴシック" panose="020B0609070205080204" pitchFamily="49" charset="-128"/>
              </a:rPr>
              <a:t>valInt1 : 1</a:t>
            </a:r>
          </a:p>
          <a:p>
            <a:pPr lvl="1">
              <a:spcBef>
                <a:spcPct val="10000"/>
              </a:spcBef>
              <a:spcAft>
                <a:spcPct val="10000"/>
              </a:spcAft>
            </a:pPr>
            <a:r>
              <a:rPr lang="en-US" altLang="ja-JP" b="0">
                <a:latin typeface="ＭＳ ゴシック" panose="020B0609070205080204" pitchFamily="49" charset="-128"/>
                <a:ea typeface="ＭＳ ゴシック" panose="020B0609070205080204" pitchFamily="49" charset="-128"/>
              </a:rPr>
              <a:t>valInt2 : 3</a:t>
            </a:r>
            <a:endParaRPr lang="ja-JP" altLang="ja-JP" b="0">
              <a:latin typeface="ＭＳ ゴシック" panose="020B0609070205080204" pitchFamily="49" charset="-128"/>
              <a:ea typeface="ＭＳ ゴシック" panose="020B0609070205080204" pitchFamily="49" charset="-128"/>
            </a:endParaRPr>
          </a:p>
        </p:txBody>
      </p:sp>
      <p:sp>
        <p:nvSpPr>
          <p:cNvPr id="759847" name="AutoShape 39">
            <a:extLst>
              <a:ext uri="{FF2B5EF4-FFF2-40B4-BE49-F238E27FC236}">
                <a16:creationId xmlns:a16="http://schemas.microsoft.com/office/drawing/2014/main" id="{CF194613-A38E-3CE0-96CE-A21820F1CA37}"/>
              </a:ext>
            </a:extLst>
          </p:cNvPr>
          <p:cNvSpPr>
            <a:spLocks noChangeArrowheads="1"/>
          </p:cNvSpPr>
          <p:nvPr/>
        </p:nvSpPr>
        <p:spPr bwMode="auto">
          <a:xfrm>
            <a:off x="747713" y="9536113"/>
            <a:ext cx="5789612" cy="517525"/>
          </a:xfrm>
          <a:prstGeom prst="wedgeRoundRectCallout">
            <a:avLst>
              <a:gd name="adj1" fmla="val 153"/>
              <a:gd name="adj2" fmla="val -88037"/>
              <a:gd name="adj3" fmla="val 16667"/>
            </a:avLst>
          </a:prstGeom>
          <a:solidFill>
            <a:srgbClr val="FFCC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1" tIns="45707" rIns="91411" bIns="45707" anchor="ctr"/>
          <a:lstStyle/>
          <a:p>
            <a:r>
              <a:rPr lang="en-US" altLang="ja-JP" sz="800" b="0"/>
              <a:t>【Tham khảo】</a:t>
            </a:r>
          </a:p>
          <a:p>
            <a:r>
              <a:rPr lang="en-US" altLang="ja-JP" sz="800" b="0"/>
              <a:t>1 byte thấp nhất của 1234567 trong hệ cơ số 10 </a:t>
            </a:r>
            <a:r>
              <a:rPr lang="ja-JP" altLang="en-US" sz="800" b="0"/>
              <a:t>（</a:t>
            </a:r>
            <a:r>
              <a:rPr lang="en-US" altLang="ja-JP" sz="800" b="0"/>
              <a:t>hệ cơ số 2là 100101101011010000111</a:t>
            </a:r>
            <a:r>
              <a:rPr lang="ja-JP" altLang="en-US" sz="800" b="0"/>
              <a:t>）</a:t>
            </a:r>
            <a:r>
              <a:rPr lang="en-US" altLang="ja-JP" sz="800" b="0"/>
              <a:t>là </a:t>
            </a:r>
            <a:r>
              <a:rPr lang="en-US" altLang="en-US" sz="800" b="0"/>
              <a:t>10000111</a:t>
            </a:r>
            <a:r>
              <a:rPr lang="en-US" altLang="ja-JP" sz="800" b="0"/>
              <a:t>.</a:t>
            </a:r>
            <a:br>
              <a:rPr lang="en-US" altLang="ja-JP" sz="800" b="0"/>
            </a:br>
            <a:r>
              <a:rPr lang="en-US" altLang="ja-JP" sz="800" b="0"/>
              <a:t>Số này là phần bù 2 của 01111001</a:t>
            </a:r>
            <a:r>
              <a:rPr lang="ja-JP" altLang="en-US" sz="800" b="0"/>
              <a:t>（ </a:t>
            </a:r>
            <a:r>
              <a:rPr lang="en-US" altLang="ja-JP" sz="800" b="0"/>
              <a:t>121 của hệ cơ số 10 </a:t>
            </a:r>
            <a:r>
              <a:rPr lang="ja-JP" altLang="en-US" sz="800" b="0"/>
              <a:t>） </a:t>
            </a:r>
            <a:r>
              <a:rPr lang="en-US" altLang="ja-JP" sz="800" b="0"/>
              <a:t>và hiển thị giá trị âm của 121 của hệ cơ số 10 </a:t>
            </a:r>
            <a:r>
              <a:rPr lang="ja-JP" altLang="en-US" sz="800" b="0"/>
              <a:t>（</a:t>
            </a:r>
            <a:r>
              <a:rPr lang="en-US" altLang="ja-JP" sz="800" b="0"/>
              <a:t>-121</a:t>
            </a:r>
            <a:r>
              <a:rPr lang="ja-JP" altLang="en-US" sz="800" b="0"/>
              <a:t>）</a:t>
            </a:r>
            <a:r>
              <a:rPr lang="en-US" altLang="ja-JP" sz="800" b="0"/>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3426" name="Rectangle 2">
            <a:extLst>
              <a:ext uri="{FF2B5EF4-FFF2-40B4-BE49-F238E27FC236}">
                <a16:creationId xmlns:a16="http://schemas.microsoft.com/office/drawing/2014/main" id="{EEEE755C-53ED-2A37-2F18-C4ABE85A674F}"/>
              </a:ext>
            </a:extLst>
          </p:cNvPr>
          <p:cNvSpPr>
            <a:spLocks noRot="1" noChangeAspect="1" noChangeArrowheads="1" noTextEdit="1"/>
          </p:cNvSpPr>
          <p:nvPr>
            <p:ph type="sldImg"/>
          </p:nvPr>
        </p:nvSpPr>
        <p:spPr>
          <a:ln/>
        </p:spPr>
      </p:sp>
      <p:sp>
        <p:nvSpPr>
          <p:cNvPr id="743427" name="Rectangle 3">
            <a:extLst>
              <a:ext uri="{FF2B5EF4-FFF2-40B4-BE49-F238E27FC236}">
                <a16:creationId xmlns:a16="http://schemas.microsoft.com/office/drawing/2014/main" id="{B317E05D-8AD5-5019-0411-60A77AA88C5E}"/>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Convert qua lại giữa chuỗi ký tự và giá trị số</a:t>
            </a:r>
          </a:p>
          <a:p>
            <a:pPr marL="0" indent="0"/>
            <a:r>
              <a:rPr lang="ja-JP" altLang="en-US">
                <a:latin typeface="Arial" panose="020B0604020202020204" pitchFamily="34" charset="0"/>
              </a:rPr>
              <a:t>　</a:t>
            </a:r>
            <a:r>
              <a:rPr lang="en-US" altLang="ja-JP">
                <a:latin typeface="Arial" panose="020B0604020202020204" pitchFamily="34" charset="0"/>
              </a:rPr>
              <a:t>Ở Java, ngay cả convert giữa chuỗi ký tự và kiểu data cơ bản, thông thường cũng không được tiến hành tự động.</a:t>
            </a:r>
          </a:p>
          <a:p>
            <a:pPr marL="0" indent="0"/>
            <a:r>
              <a:rPr lang="ja-JP" altLang="en-US">
                <a:latin typeface="Arial" panose="020B0604020202020204" pitchFamily="34" charset="0"/>
              </a:rPr>
              <a:t>　</a:t>
            </a:r>
            <a:r>
              <a:rPr lang="en-US" altLang="ja-JP">
                <a:latin typeface="Arial" panose="020B0604020202020204" pitchFamily="34" charset="0"/>
              </a:rPr>
              <a:t>Chính vì thế cần phải tiến hành convert tường minh.</a:t>
            </a:r>
          </a:p>
          <a:p>
            <a:pPr marL="0" indent="0"/>
            <a:r>
              <a:rPr lang="ja-JP" altLang="en-US">
                <a:latin typeface="Arial" panose="020B0604020202020204" pitchFamily="34" charset="0"/>
              </a:rPr>
              <a:t>　</a:t>
            </a:r>
            <a:r>
              <a:rPr lang="en-US" altLang="ja-JP">
                <a:latin typeface="Arial" panose="020B0604020202020204" pitchFamily="34" charset="0"/>
              </a:rPr>
              <a:t>Ở đây, sẽ lấy convert giữa chuỗi ký tự và giá trị số làm ví dụ để giải thích.</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Convert từ chuỗi ký tự thành giá trị số</a:t>
            </a:r>
          </a:p>
          <a:p>
            <a:pPr marL="0" indent="0"/>
            <a:r>
              <a:rPr lang="ja-JP" altLang="en-US">
                <a:latin typeface="Arial" panose="020B0604020202020204" pitchFamily="34" charset="0"/>
              </a:rPr>
              <a:t>　</a:t>
            </a:r>
            <a:r>
              <a:rPr lang="en-US" altLang="ja-JP">
                <a:latin typeface="Arial" panose="020B0604020202020204" pitchFamily="34" charset="0"/>
              </a:rPr>
              <a:t>Ở Java có trang bị những class dùng để sử dụng các giá trị của các kiểu data cơ bản như là một object.</a:t>
            </a:r>
          </a:p>
          <a:p>
            <a:pPr marL="0" indent="0"/>
            <a:r>
              <a:rPr lang="ja-JP" altLang="en-US">
                <a:latin typeface="Arial" panose="020B0604020202020204" pitchFamily="34" charset="0"/>
              </a:rPr>
              <a:t>　</a:t>
            </a:r>
            <a:r>
              <a:rPr lang="en-US" altLang="ja-JP">
                <a:latin typeface="Arial" panose="020B0604020202020204" pitchFamily="34" charset="0"/>
              </a:rPr>
              <a:t>Những class này gọi là wrapper class.</a:t>
            </a:r>
          </a:p>
          <a:p>
            <a:pPr marL="0" indent="0"/>
            <a:r>
              <a:rPr lang="ja-JP" altLang="en-US">
                <a:latin typeface="Arial" panose="020B0604020202020204" pitchFamily="34" charset="0"/>
              </a:rPr>
              <a:t>　</a:t>
            </a:r>
            <a:r>
              <a:rPr lang="en-US" altLang="ja-JP">
                <a:latin typeface="Arial" panose="020B0604020202020204" pitchFamily="34" charset="0"/>
              </a:rPr>
              <a:t>Nếu sử dụng wrapper class thì có thể convert từ chuỗi ký tự thành kiểu data cơ bản.</a:t>
            </a:r>
          </a:p>
          <a:p>
            <a:pPr marL="0" indent="0"/>
            <a:endParaRPr lang="en-US" altLang="ja-JP">
              <a:latin typeface="Arial" panose="020B0604020202020204" pitchFamily="34" charset="0"/>
            </a:endParaRPr>
          </a:p>
          <a:p>
            <a:pPr marL="0" indent="0"/>
            <a:r>
              <a:rPr lang="en-US" altLang="ja-JP">
                <a:latin typeface="Arial" panose="020B0604020202020204" pitchFamily="34" charset="0"/>
              </a:rPr>
              <a:t>【Tham khảo】</a:t>
            </a:r>
            <a:r>
              <a:rPr lang="ja-JP" altLang="en-US">
                <a:latin typeface="Arial" panose="020B0604020202020204" pitchFamily="34" charset="0"/>
              </a:rPr>
              <a:t>　 </a:t>
            </a:r>
            <a:r>
              <a:rPr lang="en-US" altLang="ja-JP">
                <a:latin typeface="Arial" panose="020B0604020202020204" pitchFamily="34" charset="0"/>
              </a:rPr>
              <a:t>Wrapper class là gì</a:t>
            </a:r>
          </a:p>
          <a:p>
            <a:pPr marL="0" indent="0"/>
            <a:r>
              <a:rPr lang="ja-JP" altLang="en-US">
                <a:latin typeface="Arial" panose="020B0604020202020204" pitchFamily="34" charset="0"/>
              </a:rPr>
              <a:t>　</a:t>
            </a:r>
            <a:r>
              <a:rPr lang="en-US" altLang="ja-JP">
                <a:latin typeface="Arial" panose="020B0604020202020204" pitchFamily="34" charset="0"/>
              </a:rPr>
              <a:t>Wrapper class, bọc các giá trị kiểu data cơ bản như là một object (gói, bọc).</a:t>
            </a:r>
          </a:p>
          <a:p>
            <a:pPr marL="0" indent="0"/>
            <a:r>
              <a:rPr lang="ja-JP" altLang="en-US">
                <a:latin typeface="Arial" panose="020B0604020202020204" pitchFamily="34" charset="0"/>
              </a:rPr>
              <a:t>　</a:t>
            </a:r>
            <a:r>
              <a:rPr lang="en-US" altLang="ja-JP">
                <a:latin typeface="Arial" panose="020B0604020202020204" pitchFamily="34" charset="0"/>
              </a:rPr>
              <a:t>Các wrapper class, có các kiểu data cơ bản.</a:t>
            </a:r>
          </a:p>
          <a:p>
            <a:pPr marL="0" indent="0"/>
            <a:r>
              <a:rPr lang="ja-JP" altLang="en-US">
                <a:latin typeface="Arial" panose="020B0604020202020204" pitchFamily="34" charset="0"/>
              </a:rPr>
              <a:t>　</a:t>
            </a:r>
            <a:r>
              <a:rPr lang="en-US" altLang="ja-JP">
                <a:latin typeface="Arial" panose="020B0604020202020204" pitchFamily="34" charset="0"/>
              </a:rPr>
              <a:t>Ví dụ, wrapper class ứng với kiểu int là Integer class.</a:t>
            </a:r>
          </a:p>
          <a:p>
            <a:pPr marL="0" indent="0"/>
            <a:r>
              <a:rPr lang="ja-JP" altLang="en-US">
                <a:latin typeface="Arial" panose="020B0604020202020204" pitchFamily="34" charset="0"/>
              </a:rPr>
              <a:t>　</a:t>
            </a:r>
            <a:r>
              <a:rPr lang="en-US" altLang="ja-JP">
                <a:latin typeface="Arial" panose="020B0604020202020204" pitchFamily="34" charset="0"/>
              </a:rPr>
              <a:t>Ở Object của kiểu này sẽ có field có kiểu data là kiểu int.</a:t>
            </a:r>
          </a:p>
          <a:p>
            <a:pPr marL="0" indent="0"/>
            <a:r>
              <a:rPr lang="ja-JP" altLang="en-US">
                <a:latin typeface="Arial" panose="020B0604020202020204" pitchFamily="34" charset="0"/>
              </a:rPr>
              <a:t>　</a:t>
            </a:r>
            <a:r>
              <a:rPr lang="en-US" altLang="ja-JP">
                <a:latin typeface="Arial" panose="020B0604020202020204" pitchFamily="34" charset="0"/>
              </a:rPr>
              <a:t>Wrapper class có method để convert từ kiểu data cơ bản thành kiểu </a:t>
            </a:r>
            <a:r>
              <a:rPr lang="en-US" altLang="ja-JP">
                <a:latin typeface="Arial" panose="020B0604020202020204" pitchFamily="34" charset="0"/>
                <a:ea typeface="ＭＳ ゴシック" panose="020B0609070205080204" pitchFamily="49" charset="-128"/>
              </a:rPr>
              <a:t>String, và convert từ kiểu String thành kiểu data cơ bản.</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Về chi tiết của class, object, wrapper class sẽ học ở </a:t>
            </a:r>
            <a:r>
              <a:rPr lang="ja-JP" altLang="en-US">
                <a:latin typeface="Arial" panose="020B0604020202020204" pitchFamily="34" charset="0"/>
              </a:rPr>
              <a:t>「</a:t>
            </a:r>
            <a:r>
              <a:rPr lang="en-US" altLang="ja-JP">
                <a:latin typeface="Arial" panose="020B0604020202020204" pitchFamily="34" charset="0"/>
              </a:rPr>
              <a:t>Lập trình Java hướng đối tượng)</a:t>
            </a:r>
            <a:r>
              <a:rPr lang="ja-JP" altLang="en-US">
                <a:latin typeface="Arial" panose="020B0604020202020204" pitchFamily="34" charset="0"/>
              </a:rPr>
              <a:t>」</a:t>
            </a:r>
            <a:r>
              <a:rPr lang="en-US" altLang="ja-JP">
                <a:latin typeface="Arial" panose="020B0604020202020204" pitchFamily="34" charset="0"/>
              </a:rPr>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3906" name="Rectangle 2">
            <a:extLst>
              <a:ext uri="{FF2B5EF4-FFF2-40B4-BE49-F238E27FC236}">
                <a16:creationId xmlns:a16="http://schemas.microsoft.com/office/drawing/2014/main" id="{5BE0E3E4-96DE-A34D-5E26-0C045CAA08BA}"/>
              </a:ext>
            </a:extLst>
          </p:cNvPr>
          <p:cNvSpPr>
            <a:spLocks noRot="1" noChangeAspect="1" noChangeArrowheads="1" noTextEdit="1"/>
          </p:cNvSpPr>
          <p:nvPr>
            <p:ph type="sldImg"/>
          </p:nvPr>
        </p:nvSpPr>
        <p:spPr>
          <a:xfrm>
            <a:off x="531813" y="835025"/>
            <a:ext cx="6024562" cy="4170363"/>
          </a:xfrm>
          <a:ln/>
        </p:spPr>
      </p:sp>
      <p:sp>
        <p:nvSpPr>
          <p:cNvPr id="763907" name="Rectangle 3">
            <a:extLst>
              <a:ext uri="{FF2B5EF4-FFF2-40B4-BE49-F238E27FC236}">
                <a16:creationId xmlns:a16="http://schemas.microsoft.com/office/drawing/2014/main" id="{46666F3C-CB55-F91A-A320-2B3A7D062B27}"/>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 của việc convert từ kiểu </a:t>
            </a:r>
            <a:r>
              <a:rPr lang="en-US" altLang="ja-JP">
                <a:latin typeface="Arial" panose="020B0604020202020204" pitchFamily="34" charset="0"/>
                <a:ea typeface="ＭＳ ゴシック" panose="020B0609070205080204" pitchFamily="49" charset="-128"/>
              </a:rPr>
              <a:t>String thành kiểu data cơ bản</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【Tham khảo】</a:t>
            </a:r>
            <a:r>
              <a:rPr lang="ja-JP" altLang="en-US">
                <a:latin typeface="Arial" panose="020B0604020202020204" pitchFamily="34" charset="0"/>
              </a:rPr>
              <a:t>　</a:t>
            </a:r>
            <a:r>
              <a:rPr lang="en-US" altLang="ja-JP">
                <a:latin typeface="Arial" panose="020B0604020202020204" pitchFamily="34" charset="0"/>
              </a:rPr>
              <a:t>Phương pháp lấy ra ký tự có trong </a:t>
            </a:r>
            <a:r>
              <a:rPr lang="en-US" altLang="ja-JP">
                <a:latin typeface="Arial" panose="020B0604020202020204" pitchFamily="34" charset="0"/>
                <a:ea typeface="ＭＳ ゴシック" panose="020B0609070205080204" pitchFamily="49" charset="-128"/>
              </a:rPr>
              <a:t>String như một char</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Để convert </a:t>
            </a:r>
            <a:r>
              <a:rPr lang="en-US" altLang="ja-JP">
                <a:latin typeface="Arial" panose="020B0604020202020204" pitchFamily="34" charset="0"/>
                <a:ea typeface="ＭＳ ゴシック" panose="020B0609070205080204" pitchFamily="49" charset="-128"/>
              </a:rPr>
              <a:t>String thành char có các phương pháp sau:</a:t>
            </a:r>
            <a:endParaRPr lang="en-US" altLang="ja-JP">
              <a:latin typeface="Arial" panose="020B0604020202020204" pitchFamily="34" charset="0"/>
            </a:endParaRPr>
          </a:p>
          <a:p>
            <a:pPr marL="0" indent="0"/>
            <a:r>
              <a:rPr lang="ja-JP" altLang="en-US">
                <a:latin typeface="Arial" panose="020B0604020202020204" pitchFamily="34" charset="0"/>
              </a:rPr>
              <a:t>　・　</a:t>
            </a:r>
            <a:r>
              <a:rPr lang="en-US" altLang="ja-JP">
                <a:latin typeface="Arial" panose="020B0604020202020204" pitchFamily="34" charset="0"/>
              </a:rPr>
              <a:t>Sử dụng  method </a:t>
            </a:r>
            <a:r>
              <a:rPr lang="en-US" altLang="ja-JP">
                <a:latin typeface="Arial" panose="020B0604020202020204" pitchFamily="34" charset="0"/>
                <a:ea typeface="ＭＳ ゴシック" panose="020B0609070205080204" pitchFamily="49" charset="-128"/>
              </a:rPr>
              <a:t>charAt của String class để chỉ định 1 ký tự.</a:t>
            </a:r>
            <a:endParaRPr lang="en-US" altLang="ja-JP">
              <a:latin typeface="Arial" panose="020B0604020202020204" pitchFamily="34" charset="0"/>
            </a:endParaRPr>
          </a:p>
          <a:p>
            <a:pPr marL="0" indent="0"/>
            <a:r>
              <a:rPr lang="ja-JP" altLang="en-US">
                <a:latin typeface="Arial" panose="020B0604020202020204" pitchFamily="34" charset="0"/>
              </a:rPr>
              <a:t>　・　</a:t>
            </a:r>
            <a:r>
              <a:rPr lang="en-US" altLang="ja-JP">
                <a:latin typeface="Arial" panose="020B0604020202020204" pitchFamily="34" charset="0"/>
              </a:rPr>
              <a:t>Sử dụng method </a:t>
            </a:r>
            <a:r>
              <a:rPr lang="en-US" altLang="ja-JP">
                <a:latin typeface="Arial" panose="020B0604020202020204" pitchFamily="34" charset="0"/>
                <a:ea typeface="ＭＳ ゴシック" panose="020B0609070205080204" pitchFamily="49" charset="-128"/>
              </a:rPr>
              <a:t>toCharArray của String class để tạo mảng kiểu char.</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graphicFrame>
        <p:nvGraphicFramePr>
          <p:cNvPr id="763969" name="Group 65">
            <a:extLst>
              <a:ext uri="{FF2B5EF4-FFF2-40B4-BE49-F238E27FC236}">
                <a16:creationId xmlns:a16="http://schemas.microsoft.com/office/drawing/2014/main" id="{B6A9C2B3-23AF-B28E-F9E8-2DDC22471844}"/>
              </a:ext>
            </a:extLst>
          </p:cNvPr>
          <p:cNvGraphicFramePr>
            <a:graphicFrameLocks noGrp="1"/>
          </p:cNvGraphicFramePr>
          <p:nvPr/>
        </p:nvGraphicFramePr>
        <p:xfrm>
          <a:off x="596900" y="5665788"/>
          <a:ext cx="5851525" cy="2019300"/>
        </p:xfrm>
        <a:graphic>
          <a:graphicData uri="http://schemas.openxmlformats.org/drawingml/2006/table">
            <a:tbl>
              <a:tblPr/>
              <a:tblGrid>
                <a:gridCol w="1308100">
                  <a:extLst>
                    <a:ext uri="{9D8B030D-6E8A-4147-A177-3AD203B41FA5}">
                      <a16:colId xmlns:a16="http://schemas.microsoft.com/office/drawing/2014/main" val="3082317905"/>
                    </a:ext>
                  </a:extLst>
                </a:gridCol>
                <a:gridCol w="1666875">
                  <a:extLst>
                    <a:ext uri="{9D8B030D-6E8A-4147-A177-3AD203B41FA5}">
                      <a16:colId xmlns:a16="http://schemas.microsoft.com/office/drawing/2014/main" val="3944626724"/>
                    </a:ext>
                  </a:extLst>
                </a:gridCol>
                <a:gridCol w="2876550">
                  <a:extLst>
                    <a:ext uri="{9D8B030D-6E8A-4147-A177-3AD203B41FA5}">
                      <a16:colId xmlns:a16="http://schemas.microsoft.com/office/drawing/2014/main" val="491447982"/>
                    </a:ext>
                  </a:extLst>
                </a:gridCol>
              </a:tblGrid>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Các loại convert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wrapper class sử dụng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Cú pháp </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16051573"/>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 byte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Byte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Byte.parseByte(</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Chuỗi ký tự</a:t>
                      </a: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408438253"/>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 short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Short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Short.parseShort(</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Chuỗi ký tự</a:t>
                      </a: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67968814"/>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 int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Integer</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Integer.parseInt(Chuỗi ký tự)</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080164493"/>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 long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Long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Long.parseLong(Chuỗi ký tự)</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791278473"/>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 float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Float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Float.parseFloat(Chuỗi ký tự)</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729771332"/>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 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Double.parseDouble(Chuỗi ký tự)</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23853405"/>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 boolean</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Boolean.parseBoolean(Chuỗi ký tự)</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81789977"/>
                  </a:ext>
                </a:extLst>
              </a:tr>
            </a:tbl>
          </a:graphicData>
        </a:graphic>
      </p:graphicFrame>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22" name="Rectangle 2">
            <a:extLst>
              <a:ext uri="{FF2B5EF4-FFF2-40B4-BE49-F238E27FC236}">
                <a16:creationId xmlns:a16="http://schemas.microsoft.com/office/drawing/2014/main" id="{D5E819B9-FE35-9FD6-D140-7C492010D29D}"/>
              </a:ext>
            </a:extLst>
          </p:cNvPr>
          <p:cNvSpPr>
            <a:spLocks noRot="1" noChangeAspect="1" noChangeArrowheads="1" noTextEdit="1"/>
          </p:cNvSpPr>
          <p:nvPr>
            <p:ph type="sldImg"/>
          </p:nvPr>
        </p:nvSpPr>
        <p:spPr>
          <a:ln/>
        </p:spPr>
      </p:sp>
      <p:sp>
        <p:nvSpPr>
          <p:cNvPr id="747523" name="Rectangle 3">
            <a:extLst>
              <a:ext uri="{FF2B5EF4-FFF2-40B4-BE49-F238E27FC236}">
                <a16:creationId xmlns:a16="http://schemas.microsoft.com/office/drawing/2014/main" id="{0E0A061F-A289-6C01-3974-CBC62B1188C1}"/>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Convert từ giá trị số thành chuỗi ký tự</a:t>
            </a:r>
          </a:p>
          <a:p>
            <a:pPr marL="0" indent="0"/>
            <a:r>
              <a:rPr lang="ja-JP" altLang="en-US">
                <a:latin typeface="Arial" panose="020B0604020202020204" pitchFamily="34" charset="0"/>
              </a:rPr>
              <a:t>　</a:t>
            </a:r>
            <a:r>
              <a:rPr lang="en-US" altLang="ja-JP">
                <a:latin typeface="Arial" panose="020B0604020202020204" pitchFamily="34" charset="0"/>
              </a:rPr>
              <a:t>Ở Java, sử dụng chuỗi ký tự như một object của </a:t>
            </a:r>
            <a:r>
              <a:rPr lang="en-US" altLang="ja-JP">
                <a:latin typeface="Arial" panose="020B0604020202020204" pitchFamily="34" charset="0"/>
                <a:ea typeface="ＭＳ ゴシック" panose="020B0609070205080204" pitchFamily="49" charset="-128"/>
              </a:rPr>
              <a:t>String class.</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Trong </a:t>
            </a:r>
            <a:r>
              <a:rPr lang="en-US" altLang="ja-JP">
                <a:latin typeface="Arial" panose="020B0604020202020204" pitchFamily="34" charset="0"/>
                <a:ea typeface="ＭＳ ゴシック" panose="020B0609070205080204" pitchFamily="49" charset="-128"/>
              </a:rPr>
              <a:t>String class có trang bị khá nhiều method để thao tác chuỗi ký tự.</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Nếu sử dụng </a:t>
            </a:r>
            <a:r>
              <a:rPr lang="en-US" altLang="ja-JP">
                <a:latin typeface="Arial" panose="020B0604020202020204" pitchFamily="34" charset="0"/>
                <a:ea typeface="ＭＳ ゴシック" panose="020B0609070205080204" pitchFamily="49" charset="-128"/>
              </a:rPr>
              <a:t>valueOf</a:t>
            </a:r>
            <a:r>
              <a:rPr lang="en-US" altLang="ja-JP">
                <a:latin typeface="Arial" panose="020B0604020202020204" pitchFamily="34" charset="0"/>
              </a:rPr>
              <a:t> method của </a:t>
            </a:r>
            <a:r>
              <a:rPr lang="en-US" altLang="ja-JP">
                <a:latin typeface="Arial" panose="020B0604020202020204" pitchFamily="34" charset="0"/>
                <a:ea typeface="ＭＳ ゴシック" panose="020B0609070205080204" pitchFamily="49" charset="-128"/>
              </a:rPr>
              <a:t>String class thì có thể convert từ kiểu data cơ bản thành chuỗi ký tự.</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Hơn nữa, cũng có thể sử dụng method của wrapper class.</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Về chi tiết của class, object, wrapper class sẽ học ở </a:t>
            </a:r>
            <a:r>
              <a:rPr lang="ja-JP" altLang="en-US">
                <a:latin typeface="Arial" panose="020B0604020202020204" pitchFamily="34" charset="0"/>
              </a:rPr>
              <a:t>「 </a:t>
            </a:r>
            <a:r>
              <a:rPr lang="en-US" altLang="ja-JP">
                <a:latin typeface="Arial" panose="020B0604020202020204" pitchFamily="34" charset="0"/>
              </a:rPr>
              <a:t>Lập trình Java hướng đối tượng</a:t>
            </a:r>
            <a:r>
              <a:rPr lang="ja-JP" altLang="en-US">
                <a:latin typeface="Arial" panose="020B0604020202020204" pitchFamily="34" charset="0"/>
              </a:rPr>
              <a:t>」</a:t>
            </a:r>
            <a:r>
              <a:rPr lang="en-US" altLang="ja-JP">
                <a:latin typeface="Arial" panose="020B0604020202020204" pitchFamily="34" charset="0"/>
              </a:rPr>
              <a:t>.</a:t>
            </a:r>
          </a:p>
          <a:p>
            <a:pPr marL="0" indent="0"/>
            <a:endParaRPr lang="en-US" altLang="ja-JP">
              <a:latin typeface="Arial" panose="020B0604020202020204" pitchFamily="34"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5954" name="Rectangle 2">
            <a:extLst>
              <a:ext uri="{FF2B5EF4-FFF2-40B4-BE49-F238E27FC236}">
                <a16:creationId xmlns:a16="http://schemas.microsoft.com/office/drawing/2014/main" id="{85EBB8CA-18BF-3961-B1A7-5FA4B1003052}"/>
              </a:ext>
            </a:extLst>
          </p:cNvPr>
          <p:cNvSpPr>
            <a:spLocks noRot="1" noChangeAspect="1" noChangeArrowheads="1" noTextEdit="1"/>
          </p:cNvSpPr>
          <p:nvPr>
            <p:ph type="sldImg"/>
          </p:nvPr>
        </p:nvSpPr>
        <p:spPr>
          <a:xfrm>
            <a:off x="531813" y="835025"/>
            <a:ext cx="6024562" cy="4170363"/>
          </a:xfrm>
          <a:ln/>
        </p:spPr>
      </p:sp>
      <p:sp>
        <p:nvSpPr>
          <p:cNvPr id="765955" name="Rectangle 3">
            <a:extLst>
              <a:ext uri="{FF2B5EF4-FFF2-40B4-BE49-F238E27FC236}">
                <a16:creationId xmlns:a16="http://schemas.microsoft.com/office/drawing/2014/main" id="{DAD7D7B4-A618-C743-9C10-62BD8045423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  để convert từ giá trị số thành chuỗi ký tự</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graphicFrame>
        <p:nvGraphicFramePr>
          <p:cNvPr id="765995" name="Group 43">
            <a:extLst>
              <a:ext uri="{FF2B5EF4-FFF2-40B4-BE49-F238E27FC236}">
                <a16:creationId xmlns:a16="http://schemas.microsoft.com/office/drawing/2014/main" id="{77C29302-40AD-FF46-E7AB-D6D77BCB9BF2}"/>
              </a:ext>
            </a:extLst>
          </p:cNvPr>
          <p:cNvGraphicFramePr>
            <a:graphicFrameLocks noGrp="1"/>
          </p:cNvGraphicFramePr>
          <p:nvPr/>
        </p:nvGraphicFramePr>
        <p:xfrm>
          <a:off x="673100" y="5637213"/>
          <a:ext cx="5851525" cy="2019300"/>
        </p:xfrm>
        <a:graphic>
          <a:graphicData uri="http://schemas.openxmlformats.org/drawingml/2006/table">
            <a:tbl>
              <a:tblPr/>
              <a:tblGrid>
                <a:gridCol w="1308100">
                  <a:extLst>
                    <a:ext uri="{9D8B030D-6E8A-4147-A177-3AD203B41FA5}">
                      <a16:colId xmlns:a16="http://schemas.microsoft.com/office/drawing/2014/main" val="871111362"/>
                    </a:ext>
                  </a:extLst>
                </a:gridCol>
                <a:gridCol w="2271713">
                  <a:extLst>
                    <a:ext uri="{9D8B030D-6E8A-4147-A177-3AD203B41FA5}">
                      <a16:colId xmlns:a16="http://schemas.microsoft.com/office/drawing/2014/main" val="4068158485"/>
                    </a:ext>
                  </a:extLst>
                </a:gridCol>
                <a:gridCol w="2271712">
                  <a:extLst>
                    <a:ext uri="{9D8B030D-6E8A-4147-A177-3AD203B41FA5}">
                      <a16:colId xmlns:a16="http://schemas.microsoft.com/office/drawing/2014/main" val="2480234998"/>
                    </a:ext>
                  </a:extLst>
                </a:gridCol>
              </a:tblGrid>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Các loại convert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Cú pháp  (wrapper class)</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Cú pháp  (String class)</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1855887023"/>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byte → String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Byte.toString(giá trị byte) </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80295084"/>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short → String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Short.toString(giá trị short)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15897321"/>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 String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Integer.toString(giá trị int)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String.valueOf(giá trị int)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4081372263"/>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long → String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Long.toString(giá trị long)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String.valueOf(giá trị long)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364622673"/>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float → String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Float.toString(giá trị float)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String.valueOf(giá trị float)</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200113942"/>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double → String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Double.toString(giá trị 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String.valueOf(giá trị double)</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98200046"/>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 String</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Boolean.toString(giá trị boolean)</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String.valueOf(giá trị boolean)</a:t>
                      </a:r>
                    </a:p>
                  </a:txBody>
                  <a:tcPr marL="95423" marR="95423" marT="47711" marB="4771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840592820"/>
                  </a:ext>
                </a:extLst>
              </a:tr>
            </a:tbl>
          </a:graphicData>
        </a:graphic>
      </p:graphicFrame>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59EE4BFF-CA92-ED84-439E-96DC5B091BA2}"/>
              </a:ext>
            </a:extLst>
          </p:cNvPr>
          <p:cNvSpPr>
            <a:spLocks noRot="1" noChangeAspect="1" noChangeArrowheads="1" noTextEdit="1"/>
          </p:cNvSpPr>
          <p:nvPr>
            <p:ph type="sldImg"/>
          </p:nvPr>
        </p:nvSpPr>
        <p:spPr>
          <a:xfrm>
            <a:off x="785813" y="766763"/>
            <a:ext cx="5541962" cy="3836987"/>
          </a:xfrm>
          <a:ln/>
        </p:spPr>
      </p:sp>
      <p:sp>
        <p:nvSpPr>
          <p:cNvPr id="257029" name="Rectangle 5">
            <a:extLst>
              <a:ext uri="{FF2B5EF4-FFF2-40B4-BE49-F238E27FC236}">
                <a16:creationId xmlns:a16="http://schemas.microsoft.com/office/drawing/2014/main" id="{F8C318FA-5489-C1CE-6DEA-0B4EA680A724}"/>
              </a:ext>
            </a:extLst>
          </p:cNvPr>
          <p:cNvSpPr>
            <a:spLocks noGrp="1" noChangeArrowheads="1"/>
          </p:cNvSpPr>
          <p:nvPr>
            <p:ph type="body" idx="1"/>
          </p:nvPr>
        </p:nvSpPr>
        <p:spPr/>
        <p:txBody>
          <a:bodyPr/>
          <a:lstStyle/>
          <a:p>
            <a:r>
              <a:rPr lang="en-US" altLang="ja-JP">
                <a:latin typeface="Arial" panose="020B0604020202020204" pitchFamily="34" charset="0"/>
              </a:rPr>
              <a:t>Ở chương 6 sẽ có những nội dung như sau:</a:t>
            </a:r>
          </a:p>
          <a:p>
            <a:endParaRPr lang="en-US" altLang="ja-JP">
              <a:latin typeface="Arial" panose="020B0604020202020204" pitchFamily="34" charset="0"/>
            </a:endParaRPr>
          </a:p>
          <a:p>
            <a:r>
              <a:rPr lang="en-US" altLang="ja-JP">
                <a:latin typeface="Arial" panose="020B0604020202020204" pitchFamily="34" charset="0"/>
              </a:rPr>
              <a:t>6.1</a:t>
            </a:r>
            <a:r>
              <a:rPr lang="ja-JP" altLang="en-US">
                <a:latin typeface="Arial" panose="020B0604020202020204" pitchFamily="34" charset="0"/>
              </a:rPr>
              <a:t>　</a:t>
            </a:r>
            <a:r>
              <a:rPr lang="en-US" altLang="ja-JP">
                <a:latin typeface="Arial" panose="020B0604020202020204" pitchFamily="34" charset="0"/>
              </a:rPr>
              <a:t>Câu lệnh control là gì.</a:t>
            </a:r>
          </a:p>
          <a:p>
            <a:r>
              <a:rPr lang="en-US" altLang="ja-JP">
                <a:latin typeface="Arial" panose="020B0604020202020204" pitchFamily="34" charset="0"/>
              </a:rPr>
              <a:t>6.2</a:t>
            </a:r>
            <a:r>
              <a:rPr lang="ja-JP" altLang="en-US">
                <a:latin typeface="Arial" panose="020B0604020202020204" pitchFamily="34" charset="0"/>
              </a:rPr>
              <a:t>　</a:t>
            </a:r>
            <a:r>
              <a:rPr lang="en-US" altLang="ja-JP">
                <a:latin typeface="Arial" panose="020B0604020202020204" pitchFamily="34" charset="0"/>
              </a:rPr>
              <a:t>Biểu thức điều kiện</a:t>
            </a:r>
          </a:p>
          <a:p>
            <a:r>
              <a:rPr lang="ja-JP" altLang="en-US">
                <a:latin typeface="Arial" panose="020B0604020202020204" pitchFamily="34" charset="0"/>
              </a:rPr>
              <a:t>　</a:t>
            </a:r>
            <a:r>
              <a:rPr lang="en-US" altLang="ja-JP">
                <a:latin typeface="Arial" panose="020B0604020202020204" pitchFamily="34" charset="0"/>
              </a:rPr>
              <a:t>6.2.1</a:t>
            </a:r>
            <a:r>
              <a:rPr lang="ja-JP" altLang="en-US">
                <a:latin typeface="Arial" panose="020B0604020202020204" pitchFamily="34" charset="0"/>
              </a:rPr>
              <a:t>　 </a:t>
            </a:r>
            <a:r>
              <a:rPr lang="en-US" altLang="ja-JP">
                <a:latin typeface="Arial" panose="020B0604020202020204" pitchFamily="34" charset="0"/>
              </a:rPr>
              <a:t>Toán tử quan hệ và biểu thức điều kiện</a:t>
            </a:r>
          </a:p>
          <a:p>
            <a:r>
              <a:rPr lang="ja-JP" altLang="en-US">
                <a:latin typeface="Arial" panose="020B0604020202020204" pitchFamily="34" charset="0"/>
              </a:rPr>
              <a:t>　</a:t>
            </a:r>
            <a:r>
              <a:rPr lang="en-US" altLang="ja-JP">
                <a:latin typeface="Arial" panose="020B0604020202020204" pitchFamily="34" charset="0"/>
              </a:rPr>
              <a:t>6.2.2</a:t>
            </a:r>
            <a:r>
              <a:rPr lang="ja-JP" altLang="en-US">
                <a:latin typeface="Arial" panose="020B0604020202020204" pitchFamily="34" charset="0"/>
              </a:rPr>
              <a:t>　 </a:t>
            </a:r>
            <a:r>
              <a:rPr lang="en-US" altLang="ja-JP">
                <a:latin typeface="Arial" panose="020B0604020202020204" pitchFamily="34" charset="0"/>
              </a:rPr>
              <a:t>Toán tử logic và biểu thức điều kiện</a:t>
            </a:r>
          </a:p>
          <a:p>
            <a:r>
              <a:rPr lang="en-US" altLang="ja-JP">
                <a:latin typeface="Arial" panose="020B0604020202020204" pitchFamily="34" charset="0"/>
              </a:rPr>
              <a:t>6.3</a:t>
            </a:r>
            <a:r>
              <a:rPr lang="ja-JP" altLang="en-US">
                <a:latin typeface="Arial" panose="020B0604020202020204" pitchFamily="34" charset="0"/>
              </a:rPr>
              <a:t>　 </a:t>
            </a:r>
            <a:r>
              <a:rPr lang="en-US" altLang="ja-JP">
                <a:latin typeface="Arial" panose="020B0604020202020204" pitchFamily="34" charset="0"/>
              </a:rPr>
              <a:t>Câu lệnh control và phạm vi valid của biến số.</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9154" name="Rectangle 2">
            <a:extLst>
              <a:ext uri="{FF2B5EF4-FFF2-40B4-BE49-F238E27FC236}">
                <a16:creationId xmlns:a16="http://schemas.microsoft.com/office/drawing/2014/main" id="{81312462-F459-95F9-20C7-EB84505F0D28}"/>
              </a:ext>
            </a:extLst>
          </p:cNvPr>
          <p:cNvSpPr>
            <a:spLocks noRot="1" noChangeAspect="1" noChangeArrowheads="1" noTextEdit="1"/>
          </p:cNvSpPr>
          <p:nvPr>
            <p:ph type="sldImg"/>
          </p:nvPr>
        </p:nvSpPr>
        <p:spPr>
          <a:ln/>
        </p:spPr>
      </p:sp>
      <p:sp>
        <p:nvSpPr>
          <p:cNvPr id="689155" name="Rectangle 3">
            <a:extLst>
              <a:ext uri="{FF2B5EF4-FFF2-40B4-BE49-F238E27FC236}">
                <a16:creationId xmlns:a16="http://schemas.microsoft.com/office/drawing/2014/main" id="{2A4DACC6-2F6E-7856-C5C5-790C495B0B81}"/>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control là gì</a:t>
            </a:r>
          </a:p>
          <a:p>
            <a:pPr marL="0" indent="0"/>
            <a:r>
              <a:rPr lang="ja-JP" altLang="en-US">
                <a:latin typeface="Arial" panose="020B0604020202020204" pitchFamily="34" charset="0"/>
              </a:rPr>
              <a:t>　</a:t>
            </a:r>
            <a:r>
              <a:rPr lang="en-US" altLang="ja-JP">
                <a:latin typeface="Arial" panose="020B0604020202020204" pitchFamily="34" charset="0"/>
              </a:rPr>
              <a:t>Câu lệnh control là cú pháp để control flow xử lý của program.</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Ở Java, gọi phần đã đặt tên cho một chuỗi xử lý là method. .</a:t>
            </a:r>
          </a:p>
          <a:p>
            <a:pPr marL="0" indent="0"/>
            <a:r>
              <a:rPr lang="ja-JP" altLang="en-US">
                <a:latin typeface="Arial" panose="020B0604020202020204" pitchFamily="34" charset="0"/>
              </a:rPr>
              <a:t>　</a:t>
            </a:r>
            <a:r>
              <a:rPr lang="en-US" altLang="ja-JP">
                <a:latin typeface="Arial" panose="020B0604020202020204" pitchFamily="34" charset="0"/>
              </a:rPr>
              <a:t>Statement đã được mô tả trong method thì sẽ được thực hiện theo trật tự từ trên xuống dưới.</a:t>
            </a:r>
          </a:p>
          <a:p>
            <a:pPr marL="0" indent="0"/>
            <a:r>
              <a:rPr lang="ja-JP" altLang="en-US">
                <a:latin typeface="Arial" panose="020B0604020202020204" pitchFamily="34" charset="0"/>
              </a:rPr>
              <a:t>　</a:t>
            </a:r>
            <a:r>
              <a:rPr lang="en-US" altLang="ja-JP">
                <a:latin typeface="Arial" panose="020B0604020202020204" pitchFamily="34" charset="0"/>
              </a:rPr>
              <a:t>Tùy theo trường hợp mà cũng có việc muốn thay đổi flow xử lý như </a:t>
            </a:r>
            <a:r>
              <a:rPr lang="ja-JP" altLang="en-US">
                <a:latin typeface="Arial" panose="020B0604020202020204" pitchFamily="34" charset="0"/>
              </a:rPr>
              <a:t>「</a:t>
            </a:r>
            <a:r>
              <a:rPr lang="en-US" altLang="ja-JP">
                <a:latin typeface="Arial" panose="020B0604020202020204" pitchFamily="34" charset="0"/>
              </a:rPr>
              <a:t>muốn thực hiện xử lý kế tiếp chỉ trong trường hợp đã thỏa mãn điều kiện</a:t>
            </a:r>
            <a:r>
              <a:rPr lang="ja-JP" altLang="en-US">
                <a:latin typeface="Arial" panose="020B0604020202020204" pitchFamily="34" charset="0"/>
              </a:rPr>
              <a:t>」</a:t>
            </a:r>
            <a:r>
              <a:rPr lang="en-US" altLang="ja-JP">
                <a:latin typeface="Arial" panose="020B0604020202020204" pitchFamily="34" charset="0"/>
              </a:rPr>
              <a:t>, </a:t>
            </a:r>
            <a:r>
              <a:rPr lang="ja-JP" altLang="en-US">
                <a:latin typeface="Arial" panose="020B0604020202020204" pitchFamily="34" charset="0"/>
              </a:rPr>
              <a:t>「</a:t>
            </a:r>
            <a:r>
              <a:rPr lang="en-US" altLang="ja-JP">
                <a:latin typeface="Arial" panose="020B0604020202020204" pitchFamily="34" charset="0"/>
              </a:rPr>
              <a:t>muốn thực hiện tính toán lặp số tiền đối với từng 10 sản phẩm</a:t>
            </a:r>
            <a:r>
              <a:rPr lang="ja-JP" altLang="en-US">
                <a:latin typeface="Arial" panose="020B0604020202020204" pitchFamily="34" charset="0"/>
              </a:rPr>
              <a:t>」</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Việc sử dụng để thay đổi flow xử lý này là câu lệnh control.</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Khi sử dụng câu lệnh if, câu lệnh switch để thực hiện control phân nhánh có điều kiện thì có thể biểu hiện cấu trúc phân nhánh.</a:t>
            </a:r>
          </a:p>
          <a:p>
            <a:pPr marL="0" indent="0"/>
            <a:r>
              <a:rPr lang="ja-JP" altLang="en-US">
                <a:latin typeface="Arial" panose="020B0604020202020204" pitchFamily="34" charset="0"/>
              </a:rPr>
              <a:t>　</a:t>
            </a:r>
            <a:r>
              <a:rPr lang="en-US" altLang="ja-JP">
                <a:latin typeface="Arial" panose="020B0604020202020204" pitchFamily="34" charset="0"/>
              </a:rPr>
              <a:t>Khi sử dụng câu lệnh while, câu lệnh do-while, câu lệnh for để thực hiện control lặp  thì có thể biểu hiện cấu trúc lặp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3 cấu trúc cơ bản</a:t>
            </a:r>
          </a:p>
          <a:p>
            <a:pPr marL="0" indent="0"/>
            <a:r>
              <a:rPr lang="ja-JP" altLang="en-US">
                <a:latin typeface="Arial" panose="020B0604020202020204" pitchFamily="34" charset="0"/>
              </a:rPr>
              <a:t>　</a:t>
            </a:r>
            <a:r>
              <a:rPr lang="en-US" altLang="ja-JP">
                <a:latin typeface="Arial" panose="020B0604020202020204" pitchFamily="34" charset="0"/>
              </a:rPr>
              <a:t>Ở cấu trúc biểu hiện flow xử lý của program có 3 loại như sau (3 cấu trúc cơ bản).</a:t>
            </a:r>
          </a:p>
          <a:p>
            <a:pPr marL="0" indent="0"/>
            <a:r>
              <a:rPr lang="ja-JP" altLang="en-US">
                <a:latin typeface="Arial" panose="020B0604020202020204" pitchFamily="34" charset="0"/>
              </a:rPr>
              <a:t>　・　</a:t>
            </a:r>
            <a:r>
              <a:rPr lang="en-US" altLang="ja-JP">
                <a:latin typeface="Arial" panose="020B0604020202020204" pitchFamily="34" charset="0"/>
              </a:rPr>
              <a:t>Cấu trúc tuần tự</a:t>
            </a:r>
          </a:p>
          <a:p>
            <a:pPr marL="0" indent="0"/>
            <a:r>
              <a:rPr lang="ja-JP" altLang="en-US">
                <a:latin typeface="Arial" panose="020B0604020202020204" pitchFamily="34" charset="0"/>
              </a:rPr>
              <a:t>　・　</a:t>
            </a:r>
            <a:r>
              <a:rPr lang="en-US" altLang="ja-JP">
                <a:latin typeface="Arial" panose="020B0604020202020204" pitchFamily="34" charset="0"/>
              </a:rPr>
              <a:t>Cấu trúc phân nhánh</a:t>
            </a:r>
          </a:p>
          <a:p>
            <a:pPr marL="0" indent="0"/>
            <a:r>
              <a:rPr lang="ja-JP" altLang="en-US">
                <a:latin typeface="Arial" panose="020B0604020202020204" pitchFamily="34" charset="0"/>
              </a:rPr>
              <a:t>　・　</a:t>
            </a:r>
            <a:r>
              <a:rPr lang="en-US" altLang="ja-JP">
                <a:latin typeface="Arial" panose="020B0604020202020204" pitchFamily="34" charset="0"/>
              </a:rPr>
              <a:t>Cấu trúc lặp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2706" name="Rectangle 2">
            <a:extLst>
              <a:ext uri="{FF2B5EF4-FFF2-40B4-BE49-F238E27FC236}">
                <a16:creationId xmlns:a16="http://schemas.microsoft.com/office/drawing/2014/main" id="{8C100D81-5B35-2DF7-C370-3581A3AE1EE6}"/>
              </a:ext>
            </a:extLst>
          </p:cNvPr>
          <p:cNvSpPr>
            <a:spLocks noRot="1" noChangeAspect="1" noChangeArrowheads="1" noTextEdit="1"/>
          </p:cNvSpPr>
          <p:nvPr>
            <p:ph type="sldImg"/>
          </p:nvPr>
        </p:nvSpPr>
        <p:spPr>
          <a:ln/>
        </p:spPr>
      </p:sp>
      <p:sp>
        <p:nvSpPr>
          <p:cNvPr id="712707" name="Rectangle 3">
            <a:extLst>
              <a:ext uri="{FF2B5EF4-FFF2-40B4-BE49-F238E27FC236}">
                <a16:creationId xmlns:a16="http://schemas.microsoft.com/office/drawing/2014/main" id="{04BA9F59-D2A7-4FD1-3113-8F1951AA02F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Biểu thức điều kiện là gì</a:t>
            </a:r>
          </a:p>
          <a:p>
            <a:pPr marL="0" indent="0"/>
            <a:r>
              <a:rPr lang="ja-JP" altLang="en-US">
                <a:latin typeface="Arial" panose="020B0604020202020204" pitchFamily="34" charset="0"/>
              </a:rPr>
              <a:t>　 </a:t>
            </a:r>
            <a:r>
              <a:rPr lang="en-US" altLang="ja-JP">
                <a:latin typeface="Arial" panose="020B0604020202020204" pitchFamily="34" charset="0"/>
              </a:rPr>
              <a:t>Là biểu thức mà kết quả đánh giá là </a:t>
            </a:r>
            <a:r>
              <a:rPr lang="en-US" altLang="ja-JP">
                <a:latin typeface="Arial" panose="020B0604020202020204" pitchFamily="34" charset="0"/>
                <a:ea typeface="ＭＳ ゴシック" panose="020B0609070205080204" pitchFamily="49" charset="-128"/>
              </a:rPr>
              <a:t>true</a:t>
            </a:r>
            <a:r>
              <a:rPr lang="en-US" altLang="ja-JP">
                <a:latin typeface="Arial" panose="020B0604020202020204" pitchFamily="34" charset="0"/>
              </a:rPr>
              <a:t>( đúng) hoặc </a:t>
            </a:r>
            <a:r>
              <a:rPr lang="en-US" altLang="ja-JP">
                <a:latin typeface="Arial" panose="020B0604020202020204" pitchFamily="34" charset="0"/>
                <a:ea typeface="ＭＳ ゴシック" panose="020B0609070205080204" pitchFamily="49" charset="-128"/>
              </a:rPr>
              <a:t>false</a:t>
            </a:r>
            <a:r>
              <a:rPr lang="en-US" altLang="ja-JP">
                <a:latin typeface="Arial" panose="020B0604020202020204" pitchFamily="34" charset="0"/>
              </a:rPr>
              <a:t>( sai ).</a:t>
            </a:r>
          </a:p>
          <a:p>
            <a:pPr marL="0" indent="0"/>
            <a:r>
              <a:rPr lang="ja-JP" altLang="en-US">
                <a:latin typeface="Arial" panose="020B0604020202020204" pitchFamily="34" charset="0"/>
              </a:rPr>
              <a:t>　</a:t>
            </a:r>
            <a:r>
              <a:rPr lang="en-US" altLang="ja-JP">
                <a:latin typeface="Arial" panose="020B0604020202020204" pitchFamily="34" charset="0"/>
              </a:rPr>
              <a:t>Cũng gọi là biểu thức logic.</a:t>
            </a:r>
          </a:p>
          <a:p>
            <a:pPr marL="0" indent="0"/>
            <a:r>
              <a:rPr lang="en-US" altLang="ja-JP">
                <a:latin typeface="Arial" panose="020B0604020202020204" pitchFamily="34" charset="0"/>
              </a:rPr>
              <a:t> Sử dụng để chỉ định điều kiện ở trong flow xử lý của program.</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Sử dụng biểu thức điều kiện, có thể phân nhánh xử lý và có thể cho tiếp tục các xử lý lặp .</a:t>
            </a:r>
          </a:p>
          <a:p>
            <a:pPr marL="0" indent="0"/>
            <a:endParaRPr lang="en-US" altLang="ja-JP">
              <a:latin typeface="Arial" panose="020B0604020202020204" pitchFamily="34"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5298" name="Rectangle 2">
            <a:extLst>
              <a:ext uri="{FF2B5EF4-FFF2-40B4-BE49-F238E27FC236}">
                <a16:creationId xmlns:a16="http://schemas.microsoft.com/office/drawing/2014/main" id="{14E9AE18-5E5B-9E41-DE22-C13AACC7BF39}"/>
              </a:ext>
            </a:extLst>
          </p:cNvPr>
          <p:cNvSpPr>
            <a:spLocks noRot="1" noChangeAspect="1" noChangeArrowheads="1" noTextEdit="1"/>
          </p:cNvSpPr>
          <p:nvPr>
            <p:ph type="sldImg"/>
          </p:nvPr>
        </p:nvSpPr>
        <p:spPr>
          <a:ln/>
        </p:spPr>
      </p:sp>
      <p:sp>
        <p:nvSpPr>
          <p:cNvPr id="695299" name="Rectangle 3">
            <a:extLst>
              <a:ext uri="{FF2B5EF4-FFF2-40B4-BE49-F238E27FC236}">
                <a16:creationId xmlns:a16="http://schemas.microsoft.com/office/drawing/2014/main" id="{46924969-9CC4-E2FB-6E6B-CC5B17540B1F}"/>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Toán tử quan hệ và biểu thức điều kiện</a:t>
            </a:r>
          </a:p>
          <a:p>
            <a:pPr marL="0" indent="0"/>
            <a:r>
              <a:rPr lang="ja-JP" altLang="en-US">
                <a:latin typeface="Arial" panose="020B0604020202020204" pitchFamily="34" charset="0"/>
              </a:rPr>
              <a:t>　</a:t>
            </a:r>
            <a:r>
              <a:rPr lang="en-US" altLang="ja-JP">
                <a:latin typeface="Arial" panose="020B0604020202020204" pitchFamily="34" charset="0"/>
              </a:rPr>
              <a:t>Trường hợp có nhiều biểu thức điều kiện thì sử dụng toán tử quan hệ, đánh giá xem giá trị là đối tượng có giống nhau không, lấy format như so sánh lớn nhỏ.</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Lấy các xử lý như sau làm ví dụ.</a:t>
            </a:r>
            <a:br>
              <a:rPr lang="en-US" altLang="ja-JP">
                <a:latin typeface="Arial" panose="020B0604020202020204" pitchFamily="34" charset="0"/>
              </a:rPr>
            </a:br>
            <a:r>
              <a:rPr lang="ja-JP" altLang="en-US">
                <a:latin typeface="Arial" panose="020B0604020202020204" pitchFamily="34" charset="0"/>
              </a:rPr>
              <a:t>　・</a:t>
            </a:r>
            <a:r>
              <a:rPr lang="en-US" altLang="ja-JP">
                <a:latin typeface="Arial" panose="020B0604020202020204" pitchFamily="34" charset="0"/>
              </a:rPr>
              <a:t>Nếu các điểm test là từ 80 điểm trở lên thì </a:t>
            </a:r>
            <a:r>
              <a:rPr lang="ja-JP" altLang="en-US">
                <a:latin typeface="Arial" panose="020B0604020202020204" pitchFamily="34" charset="0"/>
              </a:rPr>
              <a:t>「</a:t>
            </a:r>
            <a:r>
              <a:rPr lang="en-US" altLang="ja-JP">
                <a:latin typeface="Arial" panose="020B0604020202020204" pitchFamily="34" charset="0"/>
              </a:rPr>
              <a:t>pass</a:t>
            </a:r>
            <a:r>
              <a:rPr lang="ja-JP" altLang="en-US">
                <a:latin typeface="Arial" panose="020B0604020202020204" pitchFamily="34" charset="0"/>
              </a:rPr>
              <a:t>」</a:t>
            </a:r>
            <a:r>
              <a:rPr lang="en-US" altLang="ja-JP">
                <a:latin typeface="Arial" panose="020B0604020202020204" pitchFamily="34" charset="0"/>
              </a:rPr>
              <a:t>, nếu không phải như vậy thì sẽ hiển thị là </a:t>
            </a:r>
            <a:r>
              <a:rPr lang="ja-JP" altLang="en-US">
                <a:latin typeface="Arial" panose="020B0604020202020204" pitchFamily="34" charset="0"/>
              </a:rPr>
              <a:t>「</a:t>
            </a:r>
            <a:r>
              <a:rPr lang="en-US" altLang="ja-JP">
                <a:latin typeface="Arial" panose="020B0604020202020204" pitchFamily="34" charset="0"/>
              </a:rPr>
              <a:t>fail</a:t>
            </a:r>
            <a:r>
              <a:rPr lang="ja-JP" altLang="en-US">
                <a:latin typeface="Arial" panose="020B0604020202020204" pitchFamily="34" charset="0"/>
              </a:rPr>
              <a:t>」</a:t>
            </a:r>
            <a:r>
              <a:rPr lang="en-US" altLang="ja-JP">
                <a:latin typeface="Arial" panose="020B0604020202020204" pitchFamily="34" charset="0"/>
              </a:rPr>
              <a:t>.</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Lúc này, biểu thức điều kiện sẽ thành </a:t>
            </a:r>
            <a:r>
              <a:rPr lang="ja-JP" altLang="en-US">
                <a:latin typeface="Arial" panose="020B0604020202020204" pitchFamily="34" charset="0"/>
              </a:rPr>
              <a:t>「</a:t>
            </a:r>
            <a:r>
              <a:rPr lang="en-US" altLang="ja-JP">
                <a:latin typeface="Arial" panose="020B0604020202020204" pitchFamily="34" charset="0"/>
              </a:rPr>
              <a:t>các điểm test có từ 80 điểm trở lên</a:t>
            </a:r>
            <a:r>
              <a:rPr lang="ja-JP" altLang="en-US">
                <a:latin typeface="Arial" panose="020B0604020202020204" pitchFamily="34" charset="0"/>
              </a:rPr>
              <a:t>」</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Sử dụng toán tử quan hệ </a:t>
            </a:r>
            <a:r>
              <a:rPr lang="en-US" altLang="ja-JP">
                <a:latin typeface="Arial" panose="020B0604020202020204" pitchFamily="34" charset="0"/>
                <a:ea typeface="ＭＳ ゴシック" panose="020B0609070205080204" pitchFamily="49" charset="-128"/>
              </a:rPr>
              <a:t>(&gt;=) để so sánh xem</a:t>
            </a:r>
            <a:r>
              <a:rPr lang="en-US" altLang="ja-JP">
                <a:latin typeface="Arial" panose="020B0604020202020204" pitchFamily="34" charset="0"/>
              </a:rPr>
              <a:t> </a:t>
            </a:r>
            <a:r>
              <a:rPr lang="ja-JP" altLang="en-US">
                <a:latin typeface="Arial" panose="020B0604020202020204" pitchFamily="34" charset="0"/>
              </a:rPr>
              <a:t>「</a:t>
            </a:r>
            <a:r>
              <a:rPr lang="en-US" altLang="ja-JP">
                <a:latin typeface="Arial" panose="020B0604020202020204" pitchFamily="34" charset="0"/>
              </a:rPr>
              <a:t>các điểm test</a:t>
            </a:r>
            <a:r>
              <a:rPr lang="ja-JP" altLang="en-US">
                <a:latin typeface="Arial" panose="020B0604020202020204" pitchFamily="34" charset="0"/>
              </a:rPr>
              <a:t>」 </a:t>
            </a:r>
            <a:r>
              <a:rPr lang="en-US" altLang="ja-JP">
                <a:latin typeface="Arial" panose="020B0604020202020204" pitchFamily="34" charset="0"/>
              </a:rPr>
              <a:t>là từ </a:t>
            </a:r>
            <a:r>
              <a:rPr lang="ja-JP" altLang="en-US">
                <a:latin typeface="Arial" panose="020B0604020202020204" pitchFamily="34" charset="0"/>
              </a:rPr>
              <a:t>「</a:t>
            </a:r>
            <a:r>
              <a:rPr lang="en-US" altLang="ja-JP">
                <a:latin typeface="Arial" panose="020B0604020202020204" pitchFamily="34" charset="0"/>
              </a:rPr>
              <a:t>80</a:t>
            </a:r>
            <a:r>
              <a:rPr lang="ja-JP" altLang="en-US">
                <a:latin typeface="Arial" panose="020B0604020202020204" pitchFamily="34" charset="0"/>
              </a:rPr>
              <a:t>」 </a:t>
            </a:r>
            <a:r>
              <a:rPr lang="en-US" altLang="ja-JP">
                <a:latin typeface="Arial" panose="020B0604020202020204" pitchFamily="34" charset="0"/>
              </a:rPr>
              <a:t>trở lên hay không.</a:t>
            </a:r>
          </a:p>
          <a:p>
            <a:pPr marL="0" indent="0"/>
            <a:endParaRPr lang="en-US" altLang="ja-JP">
              <a:latin typeface="Arial" panose="020B0604020202020204" pitchFamily="34" charset="0"/>
            </a:endParaRPr>
          </a:p>
          <a:p>
            <a:pPr marL="0" indent="0"/>
            <a:r>
              <a:rPr lang="en-US" altLang="ja-JP"/>
              <a:t>●Ví dụ của biểu thức điều kiện</a:t>
            </a:r>
          </a:p>
          <a:p>
            <a:pPr marL="0" indent="0"/>
            <a:endParaRPr lang="en-US" altLang="ja-JP"/>
          </a:p>
          <a:p>
            <a:pPr marL="0" indent="0"/>
            <a:endParaRPr lang="en-US" altLang="ja-JP"/>
          </a:p>
          <a:p>
            <a:pPr marL="0" indent="0"/>
            <a:r>
              <a:rPr lang="ja-JP" altLang="en-US"/>
              <a:t>　</a:t>
            </a:r>
          </a:p>
          <a:p>
            <a:pPr marL="0" indent="0"/>
            <a:endParaRPr lang="ja-JP" altLang="en-US"/>
          </a:p>
          <a:p>
            <a:pPr marL="0" indent="0"/>
            <a:endParaRPr lang="en-US" altLang="ja-JP"/>
          </a:p>
        </p:txBody>
      </p:sp>
      <p:sp>
        <p:nvSpPr>
          <p:cNvPr id="695334" name="Text Box 38">
            <a:extLst>
              <a:ext uri="{FF2B5EF4-FFF2-40B4-BE49-F238E27FC236}">
                <a16:creationId xmlns:a16="http://schemas.microsoft.com/office/drawing/2014/main" id="{E9F41CC9-E5BA-1ECF-4397-257BAA52166A}"/>
              </a:ext>
            </a:extLst>
          </p:cNvPr>
          <p:cNvSpPr txBox="1">
            <a:spLocks noChangeArrowheads="1"/>
          </p:cNvSpPr>
          <p:nvPr/>
        </p:nvSpPr>
        <p:spPr bwMode="auto">
          <a:xfrm>
            <a:off x="746125" y="7135813"/>
            <a:ext cx="6010275" cy="36671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38" tIns="20478" rIns="10238" bIns="10238"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3200"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Các điểm test</a:t>
            </a:r>
            <a:r>
              <a:rPr lang="en-US" altLang="ja-JP" b="0">
                <a:ea typeface="ＭＳ ゴシック" panose="020B0609070205080204" pitchFamily="49" charset="-128"/>
              </a:rPr>
              <a:t> &gt;= 80</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7346" name="Rectangle 2">
            <a:extLst>
              <a:ext uri="{FF2B5EF4-FFF2-40B4-BE49-F238E27FC236}">
                <a16:creationId xmlns:a16="http://schemas.microsoft.com/office/drawing/2014/main" id="{41D813E3-4D86-B568-9618-255505CEF862}"/>
              </a:ext>
            </a:extLst>
          </p:cNvPr>
          <p:cNvSpPr>
            <a:spLocks noRot="1" noChangeAspect="1" noChangeArrowheads="1" noTextEdit="1"/>
          </p:cNvSpPr>
          <p:nvPr>
            <p:ph type="sldImg"/>
          </p:nvPr>
        </p:nvSpPr>
        <p:spPr>
          <a:ln/>
        </p:spPr>
      </p:sp>
      <p:sp>
        <p:nvSpPr>
          <p:cNvPr id="697347" name="Rectangle 3">
            <a:extLst>
              <a:ext uri="{FF2B5EF4-FFF2-40B4-BE49-F238E27FC236}">
                <a16:creationId xmlns:a16="http://schemas.microsoft.com/office/drawing/2014/main" id="{9E437F06-21F6-6D3C-BC5A-4759182D4DD5}"/>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Toán tử logic và biểu thức điều kiện</a:t>
            </a:r>
          </a:p>
          <a:p>
            <a:pPr marL="0" indent="0"/>
            <a:r>
              <a:rPr lang="ja-JP" altLang="en-US">
                <a:latin typeface="Arial" panose="020B0604020202020204" pitchFamily="34" charset="0"/>
              </a:rPr>
              <a:t>　</a:t>
            </a:r>
            <a:r>
              <a:rPr lang="en-US" altLang="ja-JP">
                <a:latin typeface="Arial" panose="020B0604020202020204" pitchFamily="34" charset="0"/>
              </a:rPr>
              <a:t>Trường hợp muốn kết hợp nhiều biểu thức điều kiện để đánh giá thì sẽ sử dụng toán tử logic.</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Lấy xử lý như sau làm ví dụ.</a:t>
            </a:r>
            <a:br>
              <a:rPr lang="en-US" altLang="ja-JP">
                <a:latin typeface="Arial" panose="020B0604020202020204" pitchFamily="34" charset="0"/>
              </a:rPr>
            </a:br>
            <a:r>
              <a:rPr lang="ja-JP" altLang="en-US">
                <a:latin typeface="Arial" panose="020B0604020202020204" pitchFamily="34" charset="0"/>
              </a:rPr>
              <a:t>　・</a:t>
            </a:r>
            <a:r>
              <a:rPr lang="en-US" altLang="ja-JP">
                <a:latin typeface="Arial" panose="020B0604020202020204" pitchFamily="34" charset="0"/>
              </a:rPr>
              <a:t>Các điểm test là từ 60 trở lên và dưới 80 điểm thì sẽ đánh giá B của đánh giá 3 giai đoạn.</a:t>
            </a:r>
          </a:p>
          <a:p>
            <a:pPr marL="0" indent="0"/>
            <a:r>
              <a:rPr lang="ja-JP" altLang="en-US">
                <a:latin typeface="Arial" panose="020B0604020202020204" pitchFamily="34" charset="0"/>
              </a:rPr>
              <a:t>　</a:t>
            </a:r>
            <a:r>
              <a:rPr lang="en-US" altLang="ja-JP">
                <a:latin typeface="Arial" panose="020B0604020202020204" pitchFamily="34" charset="0"/>
              </a:rPr>
              <a:t>Lúc này, biểu thức điều kiện sẽ thành </a:t>
            </a:r>
            <a:r>
              <a:rPr lang="ja-JP" altLang="en-US">
                <a:latin typeface="Arial" panose="020B0604020202020204" pitchFamily="34" charset="0"/>
              </a:rPr>
              <a:t>「</a:t>
            </a:r>
            <a:r>
              <a:rPr lang="en-US" altLang="ja-JP">
                <a:latin typeface="Arial" panose="020B0604020202020204" pitchFamily="34" charset="0"/>
              </a:rPr>
              <a:t>các điểm test &gt;= 60 điểm và &lt; 80điểm</a:t>
            </a:r>
            <a:r>
              <a:rPr lang="ja-JP" altLang="en-US">
                <a:latin typeface="Arial" panose="020B0604020202020204" pitchFamily="34" charset="0"/>
              </a:rPr>
              <a:t>」</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Sử dụng toán tử logic </a:t>
            </a:r>
            <a:r>
              <a:rPr lang="en-US" altLang="ja-JP">
                <a:latin typeface="Arial" panose="020B0604020202020204" pitchFamily="34" charset="0"/>
                <a:ea typeface="ＭＳ ゴシック" panose="020B0609070205080204" pitchFamily="49" charset="-128"/>
              </a:rPr>
              <a:t>(&amp;&amp;)</a:t>
            </a:r>
            <a:r>
              <a:rPr lang="en-US" altLang="ja-JP">
                <a:latin typeface="Arial" panose="020B0604020202020204" pitchFamily="34" charset="0"/>
              </a:rPr>
              <a:t> của điều kiện AND để đánh giá việc thỏa mãn cả 2 biểu thức điều kiện </a:t>
            </a:r>
            <a:r>
              <a:rPr lang="ja-JP" altLang="en-US">
                <a:latin typeface="Arial" panose="020B0604020202020204" pitchFamily="34" charset="0"/>
              </a:rPr>
              <a:t>「</a:t>
            </a:r>
            <a:r>
              <a:rPr lang="en-US" altLang="ja-JP">
                <a:latin typeface="Arial" panose="020B0604020202020204" pitchFamily="34" charset="0"/>
              </a:rPr>
              <a:t>các điểm test là từ 60 điểm trở lên</a:t>
            </a:r>
            <a:r>
              <a:rPr lang="ja-JP" altLang="en-US">
                <a:latin typeface="Arial" panose="020B0604020202020204" pitchFamily="34" charset="0"/>
              </a:rPr>
              <a:t>」 </a:t>
            </a:r>
            <a:r>
              <a:rPr lang="en-US" altLang="ja-JP">
                <a:latin typeface="Arial" panose="020B0604020202020204" pitchFamily="34" charset="0"/>
              </a:rPr>
              <a:t>và </a:t>
            </a:r>
            <a:r>
              <a:rPr lang="ja-JP" altLang="en-US">
                <a:latin typeface="Arial" panose="020B0604020202020204" pitchFamily="34" charset="0"/>
              </a:rPr>
              <a:t>「</a:t>
            </a:r>
            <a:r>
              <a:rPr lang="en-US" altLang="ja-JP">
                <a:latin typeface="Arial" panose="020B0604020202020204" pitchFamily="34" charset="0"/>
              </a:rPr>
              <a:t>các điểm test &lt; 80 điểm</a:t>
            </a:r>
            <a:r>
              <a:rPr lang="ja-JP" altLang="en-US">
                <a:latin typeface="Arial" panose="020B0604020202020204" pitchFamily="34" charset="0"/>
              </a:rPr>
              <a:t>」</a:t>
            </a:r>
            <a:r>
              <a:rPr lang="en-US" altLang="ja-JP">
                <a:latin typeface="Arial" panose="020B0604020202020204" pitchFamily="34" charset="0"/>
              </a:rPr>
              <a:t>.</a:t>
            </a:r>
          </a:p>
          <a:p>
            <a:pPr marL="0" indent="0"/>
            <a:endParaRPr lang="en-US" altLang="ja-JP">
              <a:latin typeface="Arial" panose="020B0604020202020204" pitchFamily="34" charset="0"/>
            </a:endParaRPr>
          </a:p>
          <a:p>
            <a:pPr marL="0" indent="0"/>
            <a:r>
              <a:rPr lang="en-US" altLang="ja-JP"/>
              <a:t>●</a:t>
            </a:r>
            <a:r>
              <a:rPr lang="en-US" altLang="ja-JP">
                <a:latin typeface="Arial" panose="020B0604020202020204" pitchFamily="34" charset="0"/>
              </a:rPr>
              <a:t>Ví dụ biểu thức điều kiện</a:t>
            </a:r>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r>
              <a:rPr lang="ja-JP" altLang="en-US"/>
              <a:t>　</a:t>
            </a:r>
          </a:p>
          <a:p>
            <a:pPr marL="0" indent="0"/>
            <a:r>
              <a:rPr lang="ja-JP" altLang="en-US"/>
              <a:t>　</a:t>
            </a:r>
          </a:p>
        </p:txBody>
      </p:sp>
      <p:sp>
        <p:nvSpPr>
          <p:cNvPr id="697348" name="Text Box 4">
            <a:extLst>
              <a:ext uri="{FF2B5EF4-FFF2-40B4-BE49-F238E27FC236}">
                <a16:creationId xmlns:a16="http://schemas.microsoft.com/office/drawing/2014/main" id="{4A09EF6C-A2BC-3A38-D89E-3B86FD4D71E5}"/>
              </a:ext>
            </a:extLst>
          </p:cNvPr>
          <p:cNvSpPr txBox="1">
            <a:spLocks noChangeArrowheads="1"/>
          </p:cNvSpPr>
          <p:nvPr/>
        </p:nvSpPr>
        <p:spPr bwMode="auto">
          <a:xfrm>
            <a:off x="755650" y="7623175"/>
            <a:ext cx="6010275" cy="36671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38" tIns="20478" rIns="10238" bIns="10238"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3200"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a:t>
            </a:r>
            <a:r>
              <a:rPr lang="en-US" altLang="ja-JP" b="0">
                <a:ea typeface="MS UI Gothic" panose="020B0600070205080204" pitchFamily="50" charset="-128"/>
              </a:rPr>
              <a:t>Các điểm test</a:t>
            </a:r>
            <a:r>
              <a:rPr lang="en-US" altLang="ja-JP" b="0">
                <a:ea typeface="ＭＳ ゴシック" panose="020B0609070205080204" pitchFamily="49" charset="-128"/>
              </a:rPr>
              <a:t> &gt;= 60) &amp;&amp; (</a:t>
            </a:r>
            <a:r>
              <a:rPr lang="en-US" altLang="ja-JP" b="0">
                <a:ea typeface="MS UI Gothic" panose="020B0600070205080204" pitchFamily="50" charset="-128"/>
              </a:rPr>
              <a:t>các điểm test</a:t>
            </a:r>
            <a:r>
              <a:rPr lang="en-US" altLang="ja-JP" b="0">
                <a:ea typeface="ＭＳ ゴシック" panose="020B0609070205080204" pitchFamily="49" charset="-128"/>
              </a:rPr>
              <a:t> &lt; 80)</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62" name="Rectangle 2">
            <a:extLst>
              <a:ext uri="{FF2B5EF4-FFF2-40B4-BE49-F238E27FC236}">
                <a16:creationId xmlns:a16="http://schemas.microsoft.com/office/drawing/2014/main" id="{0063997D-49D1-680F-9553-A5D4057B23E0}"/>
              </a:ext>
            </a:extLst>
          </p:cNvPr>
          <p:cNvSpPr>
            <a:spLocks noGrp="1" noChangeArrowheads="1"/>
          </p:cNvSpPr>
          <p:nvPr>
            <p:ph type="body" idx="1"/>
          </p:nvPr>
        </p:nvSpPr>
        <p:spPr/>
        <p:txBody>
          <a:bodyPr/>
          <a:lstStyle/>
          <a:p>
            <a:pPr marL="0" indent="0"/>
            <a:r>
              <a:rPr lang="en-US" altLang="ja-JP"/>
              <a:t>■</a:t>
            </a:r>
            <a:r>
              <a:rPr lang="ja-JP" altLang="en-US">
                <a:latin typeface="Arial" panose="020B0604020202020204" pitchFamily="34" charset="0"/>
              </a:rPr>
              <a:t>　 </a:t>
            </a:r>
            <a:r>
              <a:rPr lang="en-US" altLang="ja-JP">
                <a:latin typeface="Arial" panose="020B0604020202020204" pitchFamily="34" charset="0"/>
              </a:rPr>
              <a:t>Câu lệnh control và phạm vi valid của biến số</a:t>
            </a:r>
          </a:p>
          <a:p>
            <a:pPr marL="0" indent="0"/>
            <a:r>
              <a:rPr lang="ja-JP" altLang="en-US">
                <a:latin typeface="Arial" panose="020B0604020202020204" pitchFamily="34" charset="0"/>
              </a:rPr>
              <a:t>　</a:t>
            </a:r>
            <a:r>
              <a:rPr lang="en-US" altLang="ja-JP">
                <a:latin typeface="Arial" panose="020B0604020202020204" pitchFamily="34" charset="0"/>
              </a:rPr>
              <a:t>Biến số local là biến số được khai báo ở trong method.</a:t>
            </a:r>
          </a:p>
          <a:p>
            <a:pPr marL="0" indent="0"/>
            <a:r>
              <a:rPr lang="ja-JP" altLang="en-US">
                <a:latin typeface="Arial" panose="020B0604020202020204" pitchFamily="34" charset="0"/>
              </a:rPr>
              <a:t>　</a:t>
            </a:r>
            <a:r>
              <a:rPr lang="en-US" altLang="ja-JP">
                <a:latin typeface="Arial" panose="020B0604020202020204" pitchFamily="34" charset="0"/>
              </a:rPr>
              <a:t>Sau khi khai báo thì sẽ thành biến số valid ở trong block </a:t>
            </a:r>
            <a:r>
              <a:rPr lang="ja-JP" altLang="en-US">
                <a:latin typeface="Arial" panose="020B0604020202020204" pitchFamily="34" charset="0"/>
              </a:rPr>
              <a:t>（</a:t>
            </a:r>
            <a:r>
              <a:rPr lang="en-US" altLang="ja-JP">
                <a:latin typeface="Arial" panose="020B0604020202020204" pitchFamily="34" charset="0"/>
              </a:rPr>
              <a:t>{ }</a:t>
            </a:r>
            <a:r>
              <a:rPr lang="ja-JP" altLang="en-US">
                <a:latin typeface="Arial" panose="020B0604020202020204" pitchFamily="34" charset="0"/>
              </a:rPr>
              <a:t>） </a:t>
            </a:r>
            <a:r>
              <a:rPr lang="en-US" altLang="ja-JP">
                <a:latin typeface="Arial" panose="020B0604020202020204" pitchFamily="34" charset="0"/>
              </a:rPr>
              <a:t>mà đã khai báo.</a:t>
            </a:r>
          </a:p>
          <a:p>
            <a:pPr marL="0" indent="0"/>
            <a:r>
              <a:rPr lang="ja-JP" altLang="en-US">
                <a:latin typeface="Arial" panose="020B0604020202020204" pitchFamily="34" charset="0"/>
              </a:rPr>
              <a:t>　</a:t>
            </a:r>
            <a:r>
              <a:rPr lang="en-US" altLang="ja-JP">
                <a:latin typeface="Arial" panose="020B0604020202020204" pitchFamily="34" charset="0"/>
              </a:rPr>
              <a:t>Ở level block của method có 2 nội dung như sau.</a:t>
            </a:r>
          </a:p>
          <a:p>
            <a:pPr marL="0" indent="0"/>
            <a:r>
              <a:rPr lang="ja-JP" altLang="en-US">
                <a:latin typeface="Arial" panose="020B0604020202020204" pitchFamily="34" charset="0"/>
              </a:rPr>
              <a:t>　・ </a:t>
            </a:r>
            <a:r>
              <a:rPr lang="en-US" altLang="ja-JP">
                <a:latin typeface="Arial" panose="020B0604020202020204" pitchFamily="34" charset="0"/>
              </a:rPr>
              <a:t>Method</a:t>
            </a:r>
          </a:p>
          <a:p>
            <a:pPr marL="0" indent="0"/>
            <a:r>
              <a:rPr lang="ja-JP" altLang="en-US">
                <a:latin typeface="Arial" panose="020B0604020202020204" pitchFamily="34" charset="0"/>
              </a:rPr>
              <a:t>　・ </a:t>
            </a:r>
            <a:r>
              <a:rPr lang="en-US" altLang="ja-JP">
                <a:latin typeface="Arial" panose="020B0604020202020204" pitchFamily="34" charset="0"/>
              </a:rPr>
              <a:t>Câu lệnh control</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Biến số mà đã được khai báo bằng block của method sẽ valid ở trong block của method.</a:t>
            </a:r>
          </a:p>
          <a:p>
            <a:pPr marL="0" indent="0"/>
            <a:r>
              <a:rPr lang="ja-JP" altLang="en-US">
                <a:latin typeface="Arial" panose="020B0604020202020204" pitchFamily="34" charset="0"/>
              </a:rPr>
              <a:t>　</a:t>
            </a:r>
            <a:r>
              <a:rPr lang="en-US" altLang="ja-JP">
                <a:latin typeface="Arial" panose="020B0604020202020204" pitchFamily="34" charset="0"/>
              </a:rPr>
              <a:t>Biến số mà đã được khai báo bằng block của câu lệnh control sẽ valid ở trong block của câu lệnh control.</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r>
              <a:rPr lang="en-US" altLang="ja-JP"/>
              <a:t>※</a:t>
            </a:r>
            <a:r>
              <a:rPr lang="en-US" altLang="ja-JP">
                <a:latin typeface="Arial" panose="020B0604020202020204" pitchFamily="34" charset="0"/>
              </a:rPr>
              <a:t>Về cú pháp của câu lệnh </a:t>
            </a:r>
            <a:r>
              <a:rPr lang="en-US" altLang="ja-JP">
                <a:latin typeface="Arial" panose="020B0604020202020204" pitchFamily="34" charset="0"/>
                <a:ea typeface="ＭＳ ゴシック" panose="020B0609070205080204" pitchFamily="49" charset="-128"/>
              </a:rPr>
              <a:t>for</a:t>
            </a:r>
            <a:r>
              <a:rPr lang="en-US" altLang="ja-JP">
                <a:latin typeface="Arial" panose="020B0604020202020204" pitchFamily="34" charset="0"/>
              </a:rPr>
              <a:t> thì sẽ học ở chương 8.</a:t>
            </a:r>
          </a:p>
        </p:txBody>
      </p:sp>
      <p:sp>
        <p:nvSpPr>
          <p:cNvPr id="706563" name="Rectangle 3">
            <a:extLst>
              <a:ext uri="{FF2B5EF4-FFF2-40B4-BE49-F238E27FC236}">
                <a16:creationId xmlns:a16="http://schemas.microsoft.com/office/drawing/2014/main" id="{874184DE-D703-E72D-BAF2-1A0666B764BA}"/>
              </a:ext>
            </a:extLst>
          </p:cNvPr>
          <p:cNvSpPr>
            <a:spLocks noRot="1" noChangeAspect="1" noChangeArrowheads="1" noTextEdit="1"/>
          </p:cNvSpPr>
          <p:nvPr>
            <p:ph type="sldImg"/>
          </p:nvPr>
        </p:nvSpPr>
        <p:spPr>
          <a:ln/>
        </p:spPr>
      </p:sp>
      <p:sp>
        <p:nvSpPr>
          <p:cNvPr id="706572" name="Text Box 12">
            <a:extLst>
              <a:ext uri="{FF2B5EF4-FFF2-40B4-BE49-F238E27FC236}">
                <a16:creationId xmlns:a16="http://schemas.microsoft.com/office/drawing/2014/main" id="{E308C088-9A1F-A220-A1FD-32E107E416D8}"/>
              </a:ext>
            </a:extLst>
          </p:cNvPr>
          <p:cNvSpPr txBox="1">
            <a:spLocks noChangeArrowheads="1"/>
          </p:cNvSpPr>
          <p:nvPr/>
        </p:nvSpPr>
        <p:spPr bwMode="auto">
          <a:xfrm>
            <a:off x="633413" y="6826250"/>
            <a:ext cx="5940425" cy="279558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marL="354013" indent="-354013" defTabSz="460375">
              <a:defRPr kumimoji="1">
                <a:solidFill>
                  <a:schemeClr val="tx1"/>
                </a:solidFill>
                <a:latin typeface="Arial" panose="020B0604020202020204" pitchFamily="34" charset="0"/>
                <a:ea typeface="ＭＳ Ｐゴシック" panose="020B0600070205080204" pitchFamily="50" charset="-128"/>
              </a:defRPr>
            </a:lvl1pPr>
            <a:lvl2pPr marL="538163" indent="-354013" defTabSz="460375">
              <a:defRPr kumimoji="1">
                <a:solidFill>
                  <a:schemeClr val="tx1"/>
                </a:solidFill>
                <a:latin typeface="Arial" panose="020B0604020202020204" pitchFamily="34" charset="0"/>
                <a:ea typeface="ＭＳ Ｐゴシック" panose="020B0600070205080204" pitchFamily="50" charset="-128"/>
              </a:defRPr>
            </a:lvl2pPr>
            <a:lvl3pPr marL="1333500" indent="-350838" defTabSz="460375">
              <a:defRPr kumimoji="1">
                <a:solidFill>
                  <a:schemeClr val="tx1"/>
                </a:solidFill>
                <a:latin typeface="Arial" panose="020B0604020202020204" pitchFamily="34" charset="0"/>
                <a:ea typeface="ＭＳ Ｐゴシック" panose="020B0600070205080204" pitchFamily="50" charset="-128"/>
              </a:defRPr>
            </a:lvl3pPr>
            <a:lvl4pPr marL="1828800" indent="-354013" defTabSz="460375">
              <a:defRPr kumimoji="1">
                <a:solidFill>
                  <a:schemeClr val="tx1"/>
                </a:solidFill>
                <a:latin typeface="Arial" panose="020B0604020202020204" pitchFamily="34" charset="0"/>
                <a:ea typeface="ＭＳ Ｐゴシック" panose="020B0600070205080204" pitchFamily="50" charset="-128"/>
              </a:defRPr>
            </a:lvl4pPr>
            <a:lvl5pPr marL="2320925" indent="-354013" defTabSz="460375">
              <a:defRPr kumimoji="1">
                <a:solidFill>
                  <a:schemeClr val="tx1"/>
                </a:solidFill>
                <a:latin typeface="Arial" panose="020B0604020202020204" pitchFamily="34" charset="0"/>
                <a:ea typeface="ＭＳ Ｐゴシック" panose="020B0600070205080204" pitchFamily="50" charset="-128"/>
              </a:defRPr>
            </a:lvl5pPr>
            <a:lvl6pPr marL="2778125" indent="-354013" defTabSz="4603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235325" indent="-354013" defTabSz="4603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92525" indent="-354013" defTabSz="4603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149725" indent="-354013" defTabSz="4603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spcAft>
                <a:spcPct val="50000"/>
              </a:spcAft>
              <a:buFontTx/>
              <a:buAutoNum type="arabicPeriod"/>
            </a:pPr>
            <a:endParaRPr lang="en-US" altLang="ja-JP" b="0">
              <a:latin typeface="ＭＳ ゴシック" panose="020B0609070205080204" pitchFamily="49" charset="-128"/>
              <a:ea typeface="ＭＳ ゴシック" panose="020B0609070205080204" pitchFamily="49" charset="-128"/>
            </a:endParaRPr>
          </a:p>
          <a:p>
            <a:pPr lvl="1" algn="just">
              <a:spcBef>
                <a:spcPct val="10000"/>
              </a:spcBef>
              <a:spcAft>
                <a:spcPct val="50000"/>
              </a:spcAft>
              <a:buFontTx/>
              <a:buAutoNum type="arabicPeriod"/>
            </a:pPr>
            <a:endParaRPr lang="en-US" altLang="ja-JP" b="0">
              <a:latin typeface="ＭＳ ゴシック" panose="020B0609070205080204" pitchFamily="49" charset="-128"/>
              <a:ea typeface="ＭＳ ゴシック" panose="020B0609070205080204" pitchFamily="49" charset="-128"/>
            </a:endParaRP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public static void main(String[] args)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int[] numArray = {10, 20, 30};</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for (int i = 0; i &lt; numArray.length; i++)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System.out.println(i + “ </a:t>
            </a:r>
            <a:r>
              <a:rPr lang="ja-JP" altLang="en-AU" b="0">
                <a:ea typeface="ＭＳ ゴシック" panose="020B0609070205080204" pitchFamily="49" charset="-128"/>
              </a:rPr>
              <a:t>y</a:t>
            </a:r>
            <a:r>
              <a:rPr lang="en-AU" altLang="ja-JP" b="0">
                <a:ea typeface="ＭＳ ゴシック" panose="020B0609070205080204" pitchFamily="49" charset="-128"/>
              </a:rPr>
              <a:t>ếu tố của số thứ tư là</a:t>
            </a:r>
            <a:r>
              <a:rPr lang="ja-JP" altLang="ja-JP" b="0">
                <a:latin typeface="ＭＳ ゴシック" panose="020B0609070205080204" pitchFamily="49" charset="-128"/>
                <a:ea typeface="ＭＳ ゴシック" panose="020B0609070205080204" pitchFamily="49" charset="-128"/>
              </a:rPr>
              <a:t> " + numArray[i]);</a:t>
            </a:r>
            <a:endParaRPr lang="en-US" altLang="ja-JP" b="0">
              <a:latin typeface="ＭＳ ゴシック" panose="020B0609070205080204" pitchFamily="49" charset="-128"/>
              <a:ea typeface="ＭＳ ゴシック" panose="020B0609070205080204" pitchFamily="49" charset="-128"/>
            </a:endParaRPr>
          </a:p>
          <a:p>
            <a:pPr lvl="1" algn="just">
              <a:spcBef>
                <a:spcPct val="10000"/>
              </a:spcBef>
              <a:spcAft>
                <a:spcPct val="50000"/>
              </a:spcAft>
              <a:buFontTx/>
              <a:buAutoNum type="arabicPeriod"/>
            </a:pPr>
            <a:r>
              <a:rPr lang="en-US" altLang="ja-JP" b="0">
                <a:latin typeface="ＭＳ ゴシック" panose="020B0609070205080204" pitchFamily="49" charset="-128"/>
                <a:ea typeface="ＭＳ ゴシック" panose="020B0609070205080204" pitchFamily="49" charset="-128"/>
              </a:rPr>
              <a:t>    }</a:t>
            </a:r>
            <a:endParaRPr lang="ja-JP" altLang="ja-JP" b="0">
              <a:latin typeface="ＭＳ ゴシック" panose="020B0609070205080204" pitchFamily="49" charset="-128"/>
              <a:ea typeface="ＭＳ ゴシック" panose="020B0609070205080204" pitchFamily="49" charset="-128"/>
            </a:endParaRPr>
          </a:p>
          <a:p>
            <a:pPr lvl="1" algn="just">
              <a:spcBef>
                <a:spcPct val="10000"/>
              </a:spcBef>
              <a:spcAft>
                <a:spcPct val="50000"/>
              </a:spcAft>
              <a:buFontTx/>
              <a:buAutoNum type="arabicPeriod"/>
            </a:pPr>
            <a:r>
              <a:rPr lang="en-US" altLang="ja-JP" b="0">
                <a:latin typeface="ＭＳ ゴシック" panose="020B0609070205080204" pitchFamily="49" charset="-128"/>
                <a:ea typeface="ＭＳ ゴシック" panose="020B0609070205080204" pitchFamily="49" charset="-128"/>
              </a:rPr>
              <a:t>    System.out.println(i);</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a:t>
            </a:r>
          </a:p>
        </p:txBody>
      </p:sp>
      <p:sp>
        <p:nvSpPr>
          <p:cNvPr id="706573" name="Rectangle 13">
            <a:extLst>
              <a:ext uri="{FF2B5EF4-FFF2-40B4-BE49-F238E27FC236}">
                <a16:creationId xmlns:a16="http://schemas.microsoft.com/office/drawing/2014/main" id="{2CE1F01B-E21C-EF90-5711-B3893014C253}"/>
              </a:ext>
            </a:extLst>
          </p:cNvPr>
          <p:cNvSpPr>
            <a:spLocks noChangeArrowheads="1"/>
          </p:cNvSpPr>
          <p:nvPr/>
        </p:nvSpPr>
        <p:spPr bwMode="auto">
          <a:xfrm>
            <a:off x="4160838" y="9158288"/>
            <a:ext cx="1895475" cy="295275"/>
          </a:xfrm>
          <a:prstGeom prst="rect">
            <a:avLst/>
          </a:prstGeom>
          <a:noFill/>
          <a:ln w="254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4161" tIns="47080" rIns="94161" bIns="47080" anchor="ctr"/>
          <a:lstStyle>
            <a:lvl1pPr defTabSz="889000">
              <a:defRPr kumimoji="1">
                <a:solidFill>
                  <a:schemeClr val="tx1"/>
                </a:solidFill>
                <a:latin typeface="Arial" panose="020B0604020202020204" pitchFamily="34" charset="0"/>
                <a:ea typeface="ＭＳ Ｐゴシック" panose="020B0600070205080204" pitchFamily="50" charset="-128"/>
              </a:defRPr>
            </a:lvl1pPr>
            <a:lvl2pPr marL="471488" defTabSz="889000">
              <a:defRPr kumimoji="1">
                <a:solidFill>
                  <a:schemeClr val="tx1"/>
                </a:solidFill>
                <a:latin typeface="Arial" panose="020B0604020202020204" pitchFamily="34" charset="0"/>
                <a:ea typeface="ＭＳ Ｐゴシック" panose="020B0600070205080204" pitchFamily="50" charset="-128"/>
              </a:defRPr>
            </a:lvl2pPr>
            <a:lvl3pPr marL="941388" defTabSz="889000">
              <a:defRPr kumimoji="1">
                <a:solidFill>
                  <a:schemeClr val="tx1"/>
                </a:solidFill>
                <a:latin typeface="Arial" panose="020B0604020202020204" pitchFamily="34" charset="0"/>
                <a:ea typeface="ＭＳ Ｐゴシック" panose="020B0600070205080204" pitchFamily="50" charset="-128"/>
              </a:defRPr>
            </a:lvl3pPr>
            <a:lvl4pPr marL="1409700" defTabSz="889000">
              <a:defRPr kumimoji="1">
                <a:solidFill>
                  <a:schemeClr val="tx1"/>
                </a:solidFill>
                <a:latin typeface="Arial" panose="020B0604020202020204" pitchFamily="34" charset="0"/>
                <a:ea typeface="ＭＳ Ｐゴシック" panose="020B0600070205080204" pitchFamily="50" charset="-128"/>
              </a:defRPr>
            </a:lvl4pPr>
            <a:lvl5pPr marL="1884363" defTabSz="889000">
              <a:defRPr kumimoji="1">
                <a:solidFill>
                  <a:schemeClr val="tx1"/>
                </a:solidFill>
                <a:latin typeface="Arial" panose="020B0604020202020204" pitchFamily="34" charset="0"/>
                <a:ea typeface="ＭＳ Ｐゴシック" panose="020B0600070205080204" pitchFamily="50" charset="-128"/>
              </a:defRPr>
            </a:lvl5pPr>
            <a:lvl6pPr marL="23415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en-US" sz="1100" b="0"/>
              <a:t>Phạm vi </a:t>
            </a:r>
            <a:r>
              <a:rPr lang="en-US" altLang="ja-JP" sz="1100" b="0"/>
              <a:t>valid</a:t>
            </a:r>
            <a:r>
              <a:rPr lang="en-US" altLang="en-US" sz="1100" b="0"/>
              <a:t> của numArray</a:t>
            </a:r>
            <a:endParaRPr lang="en-US" altLang="ja-JP" sz="1100" b="0"/>
          </a:p>
        </p:txBody>
      </p:sp>
      <p:cxnSp>
        <p:nvCxnSpPr>
          <p:cNvPr id="706574" name="AutoShape 14">
            <a:extLst>
              <a:ext uri="{FF2B5EF4-FFF2-40B4-BE49-F238E27FC236}">
                <a16:creationId xmlns:a16="http://schemas.microsoft.com/office/drawing/2014/main" id="{80BD0162-0C8C-B5E2-B291-D50B6F60FDD1}"/>
              </a:ext>
            </a:extLst>
          </p:cNvPr>
          <p:cNvCxnSpPr>
            <a:cxnSpLocks noChangeShapeType="1"/>
            <a:stCxn id="706573" idx="3"/>
            <a:endCxn id="706575" idx="3"/>
          </p:cNvCxnSpPr>
          <p:nvPr/>
        </p:nvCxnSpPr>
        <p:spPr bwMode="auto">
          <a:xfrm flipH="1" flipV="1">
            <a:off x="5881688" y="8108950"/>
            <a:ext cx="187325" cy="1196975"/>
          </a:xfrm>
          <a:prstGeom prst="bentConnector3">
            <a:avLst>
              <a:gd name="adj1" fmla="val -115255"/>
            </a:avLst>
          </a:prstGeom>
          <a:noFill/>
          <a:ln w="254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06575" name="Rectangle 15">
            <a:extLst>
              <a:ext uri="{FF2B5EF4-FFF2-40B4-BE49-F238E27FC236}">
                <a16:creationId xmlns:a16="http://schemas.microsoft.com/office/drawing/2014/main" id="{2B5D53B3-F7AD-91CB-67EE-79391A1E11E4}"/>
              </a:ext>
            </a:extLst>
          </p:cNvPr>
          <p:cNvSpPr>
            <a:spLocks noChangeArrowheads="1"/>
          </p:cNvSpPr>
          <p:nvPr/>
        </p:nvSpPr>
        <p:spPr bwMode="auto">
          <a:xfrm>
            <a:off x="1074738" y="7235825"/>
            <a:ext cx="4794250" cy="17462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4161" tIns="47080" rIns="94161" bIns="47080" anchor="ctr"/>
          <a:lstStyle>
            <a:lvl1pPr defTabSz="889000">
              <a:defRPr kumimoji="1">
                <a:solidFill>
                  <a:schemeClr val="tx1"/>
                </a:solidFill>
                <a:latin typeface="Arial" panose="020B0604020202020204" pitchFamily="34" charset="0"/>
                <a:ea typeface="ＭＳ Ｐゴシック" panose="020B0600070205080204" pitchFamily="50" charset="-128"/>
              </a:defRPr>
            </a:lvl1pPr>
            <a:lvl2pPr marL="471488" defTabSz="889000">
              <a:defRPr kumimoji="1">
                <a:solidFill>
                  <a:schemeClr val="tx1"/>
                </a:solidFill>
                <a:latin typeface="Arial" panose="020B0604020202020204" pitchFamily="34" charset="0"/>
                <a:ea typeface="ＭＳ Ｐゴシック" panose="020B0600070205080204" pitchFamily="50" charset="-128"/>
              </a:defRPr>
            </a:lvl2pPr>
            <a:lvl3pPr marL="941388" defTabSz="889000">
              <a:defRPr kumimoji="1">
                <a:solidFill>
                  <a:schemeClr val="tx1"/>
                </a:solidFill>
                <a:latin typeface="Arial" panose="020B0604020202020204" pitchFamily="34" charset="0"/>
                <a:ea typeface="ＭＳ Ｐゴシック" panose="020B0600070205080204" pitchFamily="50" charset="-128"/>
              </a:defRPr>
            </a:lvl3pPr>
            <a:lvl4pPr marL="1409700" defTabSz="889000">
              <a:defRPr kumimoji="1">
                <a:solidFill>
                  <a:schemeClr val="tx1"/>
                </a:solidFill>
                <a:latin typeface="Arial" panose="020B0604020202020204" pitchFamily="34" charset="0"/>
                <a:ea typeface="ＭＳ Ｐゴシック" panose="020B0600070205080204" pitchFamily="50" charset="-128"/>
              </a:defRPr>
            </a:lvl4pPr>
            <a:lvl5pPr marL="1884363" defTabSz="889000">
              <a:defRPr kumimoji="1">
                <a:solidFill>
                  <a:schemeClr val="tx1"/>
                </a:solidFill>
                <a:latin typeface="Arial" panose="020B0604020202020204" pitchFamily="34" charset="0"/>
                <a:ea typeface="ＭＳ Ｐゴシック" panose="020B0600070205080204" pitchFamily="50" charset="-128"/>
              </a:defRPr>
            </a:lvl5pPr>
            <a:lvl6pPr marL="23415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06576" name="Rectangle 16">
            <a:extLst>
              <a:ext uri="{FF2B5EF4-FFF2-40B4-BE49-F238E27FC236}">
                <a16:creationId xmlns:a16="http://schemas.microsoft.com/office/drawing/2014/main" id="{0943B9BE-3724-55D9-8F45-FBD531036962}"/>
              </a:ext>
            </a:extLst>
          </p:cNvPr>
          <p:cNvSpPr>
            <a:spLocks noChangeArrowheads="1"/>
          </p:cNvSpPr>
          <p:nvPr/>
        </p:nvSpPr>
        <p:spPr bwMode="auto">
          <a:xfrm>
            <a:off x="3590925" y="8616950"/>
            <a:ext cx="1293813" cy="276225"/>
          </a:xfrm>
          <a:prstGeom prst="rect">
            <a:avLst/>
          </a:prstGeom>
          <a:noFill/>
          <a:ln w="2540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4161" tIns="47080" rIns="94161" bIns="47080" anchor="ctr"/>
          <a:lstStyle>
            <a:lvl1pPr defTabSz="889000">
              <a:defRPr kumimoji="1">
                <a:solidFill>
                  <a:schemeClr val="tx1"/>
                </a:solidFill>
                <a:latin typeface="Arial" panose="020B0604020202020204" pitchFamily="34" charset="0"/>
                <a:ea typeface="ＭＳ Ｐゴシック" panose="020B0600070205080204" pitchFamily="50" charset="-128"/>
              </a:defRPr>
            </a:lvl1pPr>
            <a:lvl2pPr marL="471488" defTabSz="889000">
              <a:defRPr kumimoji="1">
                <a:solidFill>
                  <a:schemeClr val="tx1"/>
                </a:solidFill>
                <a:latin typeface="Arial" panose="020B0604020202020204" pitchFamily="34" charset="0"/>
                <a:ea typeface="ＭＳ Ｐゴシック" panose="020B0600070205080204" pitchFamily="50" charset="-128"/>
              </a:defRPr>
            </a:lvl2pPr>
            <a:lvl3pPr marL="941388" defTabSz="889000">
              <a:defRPr kumimoji="1">
                <a:solidFill>
                  <a:schemeClr val="tx1"/>
                </a:solidFill>
                <a:latin typeface="Arial" panose="020B0604020202020204" pitchFamily="34" charset="0"/>
                <a:ea typeface="ＭＳ Ｐゴシック" panose="020B0600070205080204" pitchFamily="50" charset="-128"/>
              </a:defRPr>
            </a:lvl3pPr>
            <a:lvl4pPr marL="1409700" defTabSz="889000">
              <a:defRPr kumimoji="1">
                <a:solidFill>
                  <a:schemeClr val="tx1"/>
                </a:solidFill>
                <a:latin typeface="Arial" panose="020B0604020202020204" pitchFamily="34" charset="0"/>
                <a:ea typeface="ＭＳ Ｐゴシック" panose="020B0600070205080204" pitchFamily="50" charset="-128"/>
              </a:defRPr>
            </a:lvl4pPr>
            <a:lvl5pPr marL="1884363" defTabSz="889000">
              <a:defRPr kumimoji="1">
                <a:solidFill>
                  <a:schemeClr val="tx1"/>
                </a:solidFill>
                <a:latin typeface="Arial" panose="020B0604020202020204" pitchFamily="34" charset="0"/>
                <a:ea typeface="ＭＳ Ｐゴシック" panose="020B0600070205080204" pitchFamily="50" charset="-128"/>
              </a:defRPr>
            </a:lvl5pPr>
            <a:lvl6pPr marL="23415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latin typeface="ＭＳ Ｐゴシック" panose="020B0600070205080204" pitchFamily="50" charset="-128"/>
              </a:rPr>
              <a:t>Phạm vi valid của i </a:t>
            </a:r>
          </a:p>
        </p:txBody>
      </p:sp>
      <p:cxnSp>
        <p:nvCxnSpPr>
          <p:cNvPr id="706577" name="AutoShape 17">
            <a:extLst>
              <a:ext uri="{FF2B5EF4-FFF2-40B4-BE49-F238E27FC236}">
                <a16:creationId xmlns:a16="http://schemas.microsoft.com/office/drawing/2014/main" id="{1D9A71F1-8980-CED5-0726-78701112ABBB}"/>
              </a:ext>
            </a:extLst>
          </p:cNvPr>
          <p:cNvCxnSpPr>
            <a:cxnSpLocks noChangeShapeType="1"/>
            <a:stCxn id="706576" idx="3"/>
            <a:endCxn id="706578" idx="3"/>
          </p:cNvCxnSpPr>
          <p:nvPr/>
        </p:nvCxnSpPr>
        <p:spPr bwMode="auto">
          <a:xfrm flipV="1">
            <a:off x="4897438" y="8110538"/>
            <a:ext cx="768350" cy="644525"/>
          </a:xfrm>
          <a:prstGeom prst="bentConnector3">
            <a:avLst>
              <a:gd name="adj1" fmla="val 128097"/>
            </a:avLst>
          </a:prstGeom>
          <a:noFill/>
          <a:ln w="25400">
            <a:solidFill>
              <a:srgbClr val="FF8519"/>
            </a:solidFill>
            <a:prstDash val="sysDot"/>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06578" name="Rectangle 18">
            <a:extLst>
              <a:ext uri="{FF2B5EF4-FFF2-40B4-BE49-F238E27FC236}">
                <a16:creationId xmlns:a16="http://schemas.microsoft.com/office/drawing/2014/main" id="{B2794688-E22A-D0D6-4FF4-4ABF4F29DF39}"/>
              </a:ext>
            </a:extLst>
          </p:cNvPr>
          <p:cNvSpPr>
            <a:spLocks noChangeArrowheads="1"/>
          </p:cNvSpPr>
          <p:nvPr/>
        </p:nvSpPr>
        <p:spPr bwMode="auto">
          <a:xfrm>
            <a:off x="1401763" y="7764463"/>
            <a:ext cx="4251325" cy="692150"/>
          </a:xfrm>
          <a:prstGeom prst="rect">
            <a:avLst/>
          </a:prstGeom>
          <a:noFill/>
          <a:ln w="2540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4161" tIns="47080" rIns="94161" bIns="47080" anchor="ctr"/>
          <a:lstStyle>
            <a:lvl1pPr defTabSz="889000">
              <a:defRPr kumimoji="1">
                <a:solidFill>
                  <a:schemeClr val="tx1"/>
                </a:solidFill>
                <a:latin typeface="Arial" panose="020B0604020202020204" pitchFamily="34" charset="0"/>
                <a:ea typeface="ＭＳ Ｐゴシック" panose="020B0600070205080204" pitchFamily="50" charset="-128"/>
              </a:defRPr>
            </a:lvl1pPr>
            <a:lvl2pPr marL="471488" defTabSz="889000">
              <a:defRPr kumimoji="1">
                <a:solidFill>
                  <a:schemeClr val="tx1"/>
                </a:solidFill>
                <a:latin typeface="Arial" panose="020B0604020202020204" pitchFamily="34" charset="0"/>
                <a:ea typeface="ＭＳ Ｐゴシック" panose="020B0600070205080204" pitchFamily="50" charset="-128"/>
              </a:defRPr>
            </a:lvl2pPr>
            <a:lvl3pPr marL="941388" defTabSz="889000">
              <a:defRPr kumimoji="1">
                <a:solidFill>
                  <a:schemeClr val="tx1"/>
                </a:solidFill>
                <a:latin typeface="Arial" panose="020B0604020202020204" pitchFamily="34" charset="0"/>
                <a:ea typeface="ＭＳ Ｐゴシック" panose="020B0600070205080204" pitchFamily="50" charset="-128"/>
              </a:defRPr>
            </a:lvl3pPr>
            <a:lvl4pPr marL="1409700" defTabSz="889000">
              <a:defRPr kumimoji="1">
                <a:solidFill>
                  <a:schemeClr val="tx1"/>
                </a:solidFill>
                <a:latin typeface="Arial" panose="020B0604020202020204" pitchFamily="34" charset="0"/>
                <a:ea typeface="ＭＳ Ｐゴシック" panose="020B0600070205080204" pitchFamily="50" charset="-128"/>
              </a:defRPr>
            </a:lvl4pPr>
            <a:lvl5pPr marL="1884363" defTabSz="889000">
              <a:defRPr kumimoji="1">
                <a:solidFill>
                  <a:schemeClr val="tx1"/>
                </a:solidFill>
                <a:latin typeface="Arial" panose="020B0604020202020204" pitchFamily="34" charset="0"/>
                <a:ea typeface="ＭＳ Ｐゴシック" panose="020B0600070205080204" pitchFamily="50" charset="-128"/>
              </a:defRPr>
            </a:lvl5pPr>
            <a:lvl6pPr marL="23415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8890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06582" name="AutoShape 22">
            <a:extLst>
              <a:ext uri="{FF2B5EF4-FFF2-40B4-BE49-F238E27FC236}">
                <a16:creationId xmlns:a16="http://schemas.microsoft.com/office/drawing/2014/main" id="{45554835-5A98-54FD-423F-D2CDA914250A}"/>
              </a:ext>
            </a:extLst>
          </p:cNvPr>
          <p:cNvSpPr>
            <a:spLocks noChangeArrowheads="1"/>
          </p:cNvSpPr>
          <p:nvPr/>
        </p:nvSpPr>
        <p:spPr bwMode="auto">
          <a:xfrm>
            <a:off x="3240088" y="6792913"/>
            <a:ext cx="1214437" cy="323850"/>
          </a:xfrm>
          <a:prstGeom prst="wedgeRoundRectCallout">
            <a:avLst>
              <a:gd name="adj1" fmla="val -30731"/>
              <a:gd name="adj2" fmla="val 88694"/>
              <a:gd name="adj3" fmla="val 16667"/>
            </a:avLst>
          </a:prstGeom>
          <a:solidFill>
            <a:srgbClr val="FFCC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4162" tIns="47083" rIns="94162" bIns="47083"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Block của method</a:t>
            </a:r>
          </a:p>
        </p:txBody>
      </p:sp>
      <p:sp>
        <p:nvSpPr>
          <p:cNvPr id="706585" name="AutoShape 25">
            <a:extLst>
              <a:ext uri="{FF2B5EF4-FFF2-40B4-BE49-F238E27FC236}">
                <a16:creationId xmlns:a16="http://schemas.microsoft.com/office/drawing/2014/main" id="{6B5A4A92-919B-2478-4E80-19EE17DFA3EA}"/>
              </a:ext>
            </a:extLst>
          </p:cNvPr>
          <p:cNvSpPr>
            <a:spLocks noChangeArrowheads="1"/>
          </p:cNvSpPr>
          <p:nvPr/>
        </p:nvSpPr>
        <p:spPr bwMode="auto">
          <a:xfrm>
            <a:off x="4171950" y="7302500"/>
            <a:ext cx="1560513" cy="323850"/>
          </a:xfrm>
          <a:prstGeom prst="wedgeRoundRectCallout">
            <a:avLst>
              <a:gd name="adj1" fmla="val -29935"/>
              <a:gd name="adj2" fmla="val 82662"/>
              <a:gd name="adj3" fmla="val 16667"/>
            </a:avLst>
          </a:prstGeom>
          <a:solidFill>
            <a:srgbClr val="FFCC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4162" tIns="47083" rIns="94162" bIns="47083"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Block của câu lệnh control (lặp )</a:t>
            </a:r>
          </a:p>
        </p:txBody>
      </p:sp>
      <p:sp>
        <p:nvSpPr>
          <p:cNvPr id="706586" name="AutoShape 26">
            <a:extLst>
              <a:ext uri="{FF2B5EF4-FFF2-40B4-BE49-F238E27FC236}">
                <a16:creationId xmlns:a16="http://schemas.microsoft.com/office/drawing/2014/main" id="{652C2E4A-200A-64E9-2DBE-2B78D768FAE4}"/>
              </a:ext>
            </a:extLst>
          </p:cNvPr>
          <p:cNvSpPr>
            <a:spLocks noChangeArrowheads="1"/>
          </p:cNvSpPr>
          <p:nvPr/>
        </p:nvSpPr>
        <p:spPr bwMode="auto">
          <a:xfrm>
            <a:off x="1868488" y="8842375"/>
            <a:ext cx="1485900" cy="661988"/>
          </a:xfrm>
          <a:prstGeom prst="wedgeRoundRectCallout">
            <a:avLst>
              <a:gd name="adj1" fmla="val 5769"/>
              <a:gd name="adj2" fmla="val -79019"/>
              <a:gd name="adj3" fmla="val 16667"/>
            </a:avLst>
          </a:prstGeom>
          <a:solidFill>
            <a:srgbClr val="CC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4162" tIns="47083" rIns="94162" bIns="47083"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Nếu chỉ định i tại dòng thứ 6 thì sẽ thành compile error</a:t>
            </a:r>
            <a:r>
              <a:rPr lang="ja-JP" altLang="en-US" b="0">
                <a:ea typeface="MS UI Gothic" panose="020B0600070205080204" pitchFamily="50" charset="-128"/>
              </a:rPr>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ABE63B11-C895-BDE3-F3E7-AE795B22C326}"/>
              </a:ext>
            </a:extLst>
          </p:cNvPr>
          <p:cNvSpPr>
            <a:spLocks noRot="1" noChangeAspect="1" noChangeArrowheads="1" noTextEdit="1"/>
          </p:cNvSpPr>
          <p:nvPr>
            <p:ph type="sldImg"/>
          </p:nvPr>
        </p:nvSpPr>
        <p:spPr>
          <a:xfrm>
            <a:off x="785813" y="766763"/>
            <a:ext cx="5541962" cy="3836987"/>
          </a:xfrm>
          <a:ln/>
        </p:spPr>
      </p:sp>
      <p:sp>
        <p:nvSpPr>
          <p:cNvPr id="257029" name="Rectangle 5">
            <a:extLst>
              <a:ext uri="{FF2B5EF4-FFF2-40B4-BE49-F238E27FC236}">
                <a16:creationId xmlns:a16="http://schemas.microsoft.com/office/drawing/2014/main" id="{889CD7A8-9550-45F8-314F-82F933C37FAF}"/>
              </a:ext>
            </a:extLst>
          </p:cNvPr>
          <p:cNvSpPr>
            <a:spLocks noGrp="1" noChangeArrowheads="1"/>
          </p:cNvSpPr>
          <p:nvPr>
            <p:ph type="body" idx="1"/>
          </p:nvPr>
        </p:nvSpPr>
        <p:spPr/>
        <p:txBody>
          <a:bodyPr/>
          <a:lstStyle/>
          <a:p>
            <a:r>
              <a:rPr lang="en-US" altLang="ja-JP">
                <a:latin typeface="Arial" panose="020B0604020202020204" pitchFamily="34" charset="0"/>
              </a:rPr>
              <a:t>Trong chương 7 sẽ xử lý các nội dung sau.</a:t>
            </a:r>
          </a:p>
          <a:p>
            <a:endParaRPr lang="en-US" altLang="ja-JP">
              <a:latin typeface="Arial" panose="020B0604020202020204" pitchFamily="34" charset="0"/>
            </a:endParaRPr>
          </a:p>
          <a:p>
            <a:r>
              <a:rPr lang="en-US" altLang="ja-JP">
                <a:latin typeface="Arial" panose="020B0604020202020204" pitchFamily="34" charset="0"/>
              </a:rPr>
              <a:t>7.1</a:t>
            </a:r>
            <a:r>
              <a:rPr lang="ja-JP" altLang="en-US">
                <a:latin typeface="Arial" panose="020B0604020202020204" pitchFamily="34" charset="0"/>
              </a:rPr>
              <a:t>　</a:t>
            </a:r>
            <a:r>
              <a:rPr lang="en-US" altLang="ja-JP">
                <a:latin typeface="Arial" panose="020B0604020202020204" pitchFamily="34" charset="0"/>
              </a:rPr>
              <a:t>Kiểm soát phân nhánh điều kiện là</a:t>
            </a:r>
            <a:r>
              <a:rPr lang="ja-JP" altLang="en-US">
                <a:latin typeface="Arial" panose="020B0604020202020204" pitchFamily="34" charset="0"/>
              </a:rPr>
              <a:t>　</a:t>
            </a:r>
          </a:p>
          <a:p>
            <a:r>
              <a:rPr lang="en-US" altLang="ja-JP">
                <a:latin typeface="Arial" panose="020B0604020202020204" pitchFamily="34" charset="0"/>
              </a:rPr>
              <a:t>7.2</a:t>
            </a:r>
            <a:r>
              <a:rPr lang="ja-JP" altLang="en-US">
                <a:latin typeface="Arial" panose="020B0604020202020204" pitchFamily="34" charset="0"/>
              </a:rPr>
              <a:t>　</a:t>
            </a:r>
            <a:r>
              <a:rPr lang="en-US" altLang="ja-JP">
                <a:latin typeface="Arial" panose="020B0604020202020204" pitchFamily="34" charset="0"/>
              </a:rPr>
              <a:t>Câu </a:t>
            </a:r>
            <a:r>
              <a:rPr lang="en-US" altLang="ja-JP">
                <a:latin typeface="Arial" panose="020B0604020202020204" pitchFamily="34" charset="0"/>
                <a:ea typeface="ＭＳ ゴシック" panose="020B0609070205080204" pitchFamily="49" charset="-128"/>
              </a:rPr>
              <a:t>if</a:t>
            </a:r>
            <a:endParaRPr lang="en-US" altLang="ja-JP">
              <a:latin typeface="Arial" panose="020B0604020202020204" pitchFamily="34" charset="0"/>
            </a:endParaRPr>
          </a:p>
          <a:p>
            <a:r>
              <a:rPr lang="en-US" altLang="ja-JP">
                <a:latin typeface="Arial" panose="020B0604020202020204" pitchFamily="34" charset="0"/>
              </a:rPr>
              <a:t>7.3</a:t>
            </a:r>
            <a:r>
              <a:rPr lang="ja-JP" altLang="en-US">
                <a:latin typeface="Arial" panose="020B0604020202020204" pitchFamily="34" charset="0"/>
              </a:rPr>
              <a:t>　</a:t>
            </a:r>
            <a:r>
              <a:rPr lang="en-US" altLang="ja-JP">
                <a:latin typeface="Arial" panose="020B0604020202020204" pitchFamily="34" charset="0"/>
              </a:rPr>
              <a:t>Câu </a:t>
            </a:r>
            <a:r>
              <a:rPr lang="en-US" altLang="ja-JP">
                <a:latin typeface="Arial" panose="020B0604020202020204" pitchFamily="34" charset="0"/>
                <a:ea typeface="ＭＳ ゴシック" panose="020B0609070205080204" pitchFamily="49" charset="-128"/>
              </a:rPr>
              <a:t>if-else</a:t>
            </a:r>
            <a:endParaRPr lang="en-US" altLang="ja-JP">
              <a:latin typeface="Arial" panose="020B0604020202020204" pitchFamily="34" charset="0"/>
            </a:endParaRPr>
          </a:p>
          <a:p>
            <a:r>
              <a:rPr lang="en-US" altLang="ja-JP">
                <a:latin typeface="Arial" panose="020B0604020202020204" pitchFamily="34" charset="0"/>
              </a:rPr>
              <a:t>7.4</a:t>
            </a:r>
            <a:r>
              <a:rPr lang="ja-JP" altLang="en-US">
                <a:latin typeface="Arial" panose="020B0604020202020204" pitchFamily="34" charset="0"/>
              </a:rPr>
              <a:t>　</a:t>
            </a:r>
            <a:r>
              <a:rPr lang="en-US" altLang="ja-JP">
                <a:latin typeface="Arial" panose="020B0604020202020204" pitchFamily="34" charset="0"/>
              </a:rPr>
              <a:t>Câu </a:t>
            </a:r>
            <a:r>
              <a:rPr lang="en-US" altLang="en-US">
                <a:latin typeface="Arial" panose="020B0604020202020204" pitchFamily="34" charset="0"/>
                <a:ea typeface="ＭＳ ゴシック" panose="020B0609070205080204" pitchFamily="49" charset="-128"/>
              </a:rPr>
              <a:t>if-else if-else</a:t>
            </a:r>
            <a:endParaRPr lang="en-US" altLang="ja-JP">
              <a:latin typeface="Arial" panose="020B0604020202020204" pitchFamily="34" charset="0"/>
            </a:endParaRPr>
          </a:p>
          <a:p>
            <a:r>
              <a:rPr lang="en-US" altLang="ja-JP">
                <a:latin typeface="Arial" panose="020B0604020202020204" pitchFamily="34" charset="0"/>
              </a:rPr>
              <a:t>7.5</a:t>
            </a:r>
            <a:r>
              <a:rPr lang="ja-JP" altLang="en-US">
                <a:latin typeface="Arial" panose="020B0604020202020204" pitchFamily="34" charset="0"/>
              </a:rPr>
              <a:t>　</a:t>
            </a:r>
            <a:r>
              <a:rPr lang="en-US" altLang="ja-JP">
                <a:latin typeface="Arial" panose="020B0604020202020204" pitchFamily="34" charset="0"/>
              </a:rPr>
              <a:t>Nest của câu </a:t>
            </a:r>
            <a:r>
              <a:rPr lang="en-US" altLang="ja-JP">
                <a:latin typeface="Arial" panose="020B0604020202020204" pitchFamily="34" charset="0"/>
                <a:ea typeface="ＭＳ ゴシック" panose="020B0609070205080204" pitchFamily="49" charset="-128"/>
              </a:rPr>
              <a:t>if</a:t>
            </a:r>
            <a:r>
              <a:rPr lang="en-US" altLang="ja-JP">
                <a:latin typeface="Arial" panose="020B0604020202020204" pitchFamily="34" charset="0"/>
              </a:rPr>
              <a:t> (lồng)</a:t>
            </a:r>
          </a:p>
          <a:p>
            <a:r>
              <a:rPr lang="en-US" altLang="ja-JP">
                <a:latin typeface="Arial" panose="020B0604020202020204" pitchFamily="34" charset="0"/>
              </a:rPr>
              <a:t>7.6</a:t>
            </a:r>
            <a:r>
              <a:rPr lang="ja-JP" altLang="en-US">
                <a:latin typeface="Arial" panose="020B0604020202020204" pitchFamily="34" charset="0"/>
              </a:rPr>
              <a:t>　</a:t>
            </a:r>
            <a:r>
              <a:rPr lang="en-US" altLang="ja-JP">
                <a:latin typeface="Arial" panose="020B0604020202020204" pitchFamily="34" charset="0"/>
              </a:rPr>
              <a:t>Câu </a:t>
            </a:r>
            <a:r>
              <a:rPr lang="en-US" altLang="ja-JP">
                <a:latin typeface="Arial" panose="020B0604020202020204" pitchFamily="34" charset="0"/>
                <a:ea typeface="ＭＳ ゴシック" panose="020B0609070205080204" pitchFamily="49" charset="-128"/>
              </a:rPr>
              <a:t>switch</a:t>
            </a:r>
            <a:endParaRPr lang="en-US" altLang="ja-JP">
              <a:latin typeface="Arial" panose="020B0604020202020204" pitchFamily="34" charset="0"/>
            </a:endParaRPr>
          </a:p>
          <a:p>
            <a:r>
              <a:rPr lang="en-US" altLang="ja-JP">
                <a:latin typeface="Arial" panose="020B0604020202020204" pitchFamily="34" charset="0"/>
              </a:rPr>
              <a:t>7.7</a:t>
            </a:r>
            <a:r>
              <a:rPr lang="ja-JP" altLang="en-US">
                <a:latin typeface="Arial" panose="020B0604020202020204" pitchFamily="34" charset="0"/>
              </a:rPr>
              <a:t>　</a:t>
            </a:r>
            <a:r>
              <a:rPr lang="en-US" altLang="ja-JP">
                <a:latin typeface="Arial" panose="020B0604020202020204" pitchFamily="34" charset="0"/>
              </a:rPr>
              <a:t>Câu </a:t>
            </a:r>
            <a:r>
              <a:rPr lang="en-US" altLang="ja-JP">
                <a:latin typeface="Arial" panose="020B0604020202020204" pitchFamily="34" charset="0"/>
                <a:ea typeface="ＭＳ ゴシック" panose="020B0609070205080204" pitchFamily="49" charset="-128"/>
              </a:rPr>
              <a:t>switch</a:t>
            </a:r>
            <a:r>
              <a:rPr lang="en-US" altLang="ja-JP">
                <a:latin typeface="Arial" panose="020B0604020202020204" pitchFamily="34" charset="0"/>
              </a:rPr>
              <a:t> chứa câu </a:t>
            </a:r>
            <a:r>
              <a:rPr lang="en-US" altLang="ja-JP">
                <a:latin typeface="Arial" panose="020B0604020202020204" pitchFamily="34" charset="0"/>
                <a:ea typeface="ＭＳ ゴシック" panose="020B0609070205080204" pitchFamily="49" charset="-128"/>
              </a:rPr>
              <a:t>break</a:t>
            </a:r>
            <a:endParaRPr lang="en-US" altLang="ja-JP">
              <a:latin typeface="Arial" panose="020B0604020202020204" pitchFamily="34" charset="0"/>
            </a:endParaRPr>
          </a:p>
          <a:p>
            <a:r>
              <a:rPr lang="en-US" altLang="ja-JP">
                <a:latin typeface="Arial" panose="020B0604020202020204" pitchFamily="34" charset="0"/>
              </a:rPr>
              <a:t>7.8</a:t>
            </a:r>
            <a:r>
              <a:rPr lang="ja-JP" altLang="en-US">
                <a:latin typeface="Arial" panose="020B0604020202020204" pitchFamily="34" charset="0"/>
              </a:rPr>
              <a:t>　</a:t>
            </a:r>
            <a:r>
              <a:rPr lang="en-US" altLang="ja-JP">
                <a:latin typeface="Arial" panose="020B0604020202020204" pitchFamily="34" charset="0"/>
              </a:rPr>
              <a:t>Câu </a:t>
            </a:r>
            <a:r>
              <a:rPr lang="en-US" altLang="ja-JP">
                <a:latin typeface="Arial" panose="020B0604020202020204" pitchFamily="34" charset="0"/>
                <a:ea typeface="ＭＳ ゴシック" panose="020B0609070205080204" pitchFamily="49" charset="-128"/>
              </a:rPr>
              <a:t>switch</a:t>
            </a:r>
            <a:r>
              <a:rPr lang="en-US" altLang="ja-JP">
                <a:latin typeface="Arial" panose="020B0604020202020204" pitchFamily="34" charset="0"/>
              </a:rPr>
              <a:t> không chứa câu </a:t>
            </a:r>
            <a:r>
              <a:rPr lang="en-US" altLang="ja-JP">
                <a:latin typeface="Arial" panose="020B0604020202020204" pitchFamily="34" charset="0"/>
                <a:ea typeface="ＭＳ ゴシック" panose="020B0609070205080204" pitchFamily="49" charset="-128"/>
              </a:rPr>
              <a:t>break</a:t>
            </a:r>
            <a:endParaRPr lang="en-US" altLang="ja-JP">
              <a:latin typeface="Arial" panose="020B0604020202020204" pitchFamily="34" charset="0"/>
            </a:endParaRPr>
          </a:p>
          <a:p>
            <a:r>
              <a:rPr lang="en-US" altLang="ja-JP">
                <a:latin typeface="Arial" panose="020B0604020202020204" pitchFamily="34" charset="0"/>
              </a:rPr>
              <a:t>7.9</a:t>
            </a:r>
            <a:r>
              <a:rPr lang="ja-JP" altLang="en-US">
                <a:latin typeface="Arial" panose="020B0604020202020204" pitchFamily="34" charset="0"/>
              </a:rPr>
              <a:t>　</a:t>
            </a:r>
            <a:r>
              <a:rPr lang="en-US" altLang="ja-JP">
                <a:latin typeface="Arial" panose="020B0604020202020204" pitchFamily="34" charset="0"/>
              </a:rPr>
              <a:t>Điều kiện </a:t>
            </a:r>
            <a:r>
              <a:rPr lang="en-US" altLang="ja-JP">
                <a:latin typeface="Arial" panose="020B0604020202020204" pitchFamily="34" charset="0"/>
                <a:ea typeface="ＭＳ ゴシック" panose="020B0609070205080204" pitchFamily="49" charset="-128"/>
              </a:rPr>
              <a:t>OR và câu switch</a:t>
            </a:r>
            <a:endParaRPr lang="en-US" altLang="ja-JP">
              <a:latin typeface="Arial" panose="020B0604020202020204" pitchFamily="34" charset="0"/>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9154" name="Rectangle 2">
            <a:extLst>
              <a:ext uri="{FF2B5EF4-FFF2-40B4-BE49-F238E27FC236}">
                <a16:creationId xmlns:a16="http://schemas.microsoft.com/office/drawing/2014/main" id="{5CF095FB-29C3-F145-CC91-466CA86021AC}"/>
              </a:ext>
            </a:extLst>
          </p:cNvPr>
          <p:cNvSpPr>
            <a:spLocks noRot="1" noChangeAspect="1" noChangeArrowheads="1" noTextEdit="1"/>
          </p:cNvSpPr>
          <p:nvPr>
            <p:ph type="sldImg"/>
          </p:nvPr>
        </p:nvSpPr>
        <p:spPr>
          <a:ln/>
        </p:spPr>
      </p:sp>
      <p:sp>
        <p:nvSpPr>
          <p:cNvPr id="689155" name="Rectangle 3">
            <a:extLst>
              <a:ext uri="{FF2B5EF4-FFF2-40B4-BE49-F238E27FC236}">
                <a16:creationId xmlns:a16="http://schemas.microsoft.com/office/drawing/2014/main" id="{73936651-74ED-D5F8-C280-6A5E0A52515E}"/>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Kiểm soát phân nhánh điều kiện là gì?</a:t>
            </a:r>
          </a:p>
          <a:p>
            <a:pPr marL="0" indent="0"/>
            <a:r>
              <a:rPr lang="ja-JP" altLang="en-US">
                <a:latin typeface="Arial" panose="020B0604020202020204" pitchFamily="34" charset="0"/>
              </a:rPr>
              <a:t>　</a:t>
            </a:r>
            <a:r>
              <a:rPr lang="en-US" altLang="ja-JP">
                <a:latin typeface="Arial" panose="020B0604020202020204" pitchFamily="34" charset="0"/>
              </a:rPr>
              <a:t>Kiểm soát phân nhánh điều kiện là việc thay đổi chu trình xử lý bằng điều kiện.</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Có các câu lệnh kiểm soát như câu lệnh </a:t>
            </a:r>
            <a:r>
              <a:rPr lang="en-US" altLang="ja-JP">
                <a:latin typeface="Arial" panose="020B0604020202020204" pitchFamily="34" charset="0"/>
                <a:ea typeface="ＭＳ ゴシック" panose="020B0609070205080204" pitchFamily="49" charset="-128"/>
              </a:rPr>
              <a:t>if, câu lệnh switch</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Về câu lệnh  </a:t>
            </a:r>
            <a:r>
              <a:rPr lang="en-US" altLang="ja-JP">
                <a:latin typeface="Arial" panose="020B0604020202020204" pitchFamily="34" charset="0"/>
                <a:ea typeface="ＭＳ ゴシック" panose="020B0609070205080204" pitchFamily="49" charset="-128"/>
              </a:rPr>
              <a:t>if, câu lệnh switch, sẽ sử dụng phân biệt các cú pháp theo số lượng phân nhánh và số biểu thức điều kiện.</a:t>
            </a:r>
            <a:endParaRPr lang="en-US" altLang="ja-JP">
              <a:latin typeface="Arial" panose="020B0604020202020204" pitchFamily="34" charset="0"/>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0658" name="Rectangle 2">
            <a:extLst>
              <a:ext uri="{FF2B5EF4-FFF2-40B4-BE49-F238E27FC236}">
                <a16:creationId xmlns:a16="http://schemas.microsoft.com/office/drawing/2014/main" id="{11FE14FB-619C-596D-2ABC-460D695BDD80}"/>
              </a:ext>
            </a:extLst>
          </p:cNvPr>
          <p:cNvSpPr>
            <a:spLocks noRot="1" noChangeAspect="1" noChangeArrowheads="1" noTextEdit="1"/>
          </p:cNvSpPr>
          <p:nvPr>
            <p:ph type="sldImg"/>
          </p:nvPr>
        </p:nvSpPr>
        <p:spPr>
          <a:ln/>
        </p:spPr>
      </p:sp>
      <p:sp>
        <p:nvSpPr>
          <p:cNvPr id="710659" name="Rectangle 3">
            <a:extLst>
              <a:ext uri="{FF2B5EF4-FFF2-40B4-BE49-F238E27FC236}">
                <a16:creationId xmlns:a16="http://schemas.microsoft.com/office/drawing/2014/main" id="{886F4BE7-6895-86F2-DA71-6D1684421512}"/>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i</a:t>
            </a:r>
            <a:r>
              <a:rPr lang="en-US" altLang="ja-JP">
                <a:latin typeface="Arial" panose="020B0604020202020204" pitchFamily="34" charset="0"/>
                <a:ea typeface="ＭＳ ゴシック" panose="020B0609070205080204" pitchFamily="49" charset="-128"/>
              </a:rPr>
              <a:t>f</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Chỉ thực hiện xử lý trong trường hợp thỏa mãn biểu thức điều kiện</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Ví dụ</a:t>
            </a:r>
            <a:r>
              <a:rPr lang="ja-JP" altLang="en-US">
                <a:latin typeface="Arial" panose="020B0604020202020204" pitchFamily="34" charset="0"/>
              </a:rPr>
              <a:t>）</a:t>
            </a:r>
            <a:r>
              <a:rPr lang="en-US" altLang="ja-JP">
                <a:latin typeface="Arial" panose="020B0604020202020204" pitchFamily="34" charset="0"/>
              </a:rPr>
              <a:t>Nếu  x là số lẻ thì hiển thị là</a:t>
            </a:r>
            <a:r>
              <a:rPr lang="ja-JP" altLang="en-US">
                <a:latin typeface="Arial" panose="020B0604020202020204" pitchFamily="34" charset="0"/>
              </a:rPr>
              <a:t>「</a:t>
            </a:r>
            <a:r>
              <a:rPr lang="en-US" altLang="ja-JP">
                <a:latin typeface="Arial" panose="020B0604020202020204" pitchFamily="34" charset="0"/>
              </a:rPr>
              <a:t>Số lẻ</a:t>
            </a:r>
            <a:r>
              <a:rPr lang="ja-JP" altLang="en-US">
                <a:latin typeface="Arial" panose="020B0604020202020204" pitchFamily="34" charset="0"/>
              </a:rPr>
              <a:t>」</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int x = 5;</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if (x % 2 == 1) {                  // Trong ví dụ này là true</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System.out.println(“Số lẻ");</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a:t>
            </a:r>
          </a:p>
          <a:p>
            <a:pPr marL="0" indent="0"/>
            <a:endParaRPr lang="en-US" altLang="ja-JP">
              <a:latin typeface="Arial" panose="020B0604020202020204" pitchFamily="34" charset="0"/>
              <a:ea typeface="ＭＳ ゴシック" panose="020B0609070205080204" pitchFamily="49" charset="-128"/>
            </a:endParaRPr>
          </a:p>
          <a:p>
            <a:pPr marL="0" indent="0"/>
            <a:endParaRPr lang="en-US" altLang="ja-JP">
              <a:latin typeface="Arial" panose="020B0604020202020204" pitchFamily="34" charset="0"/>
            </a:endParaRPr>
          </a:p>
        </p:txBody>
      </p:sp>
      <p:grpSp>
        <p:nvGrpSpPr>
          <p:cNvPr id="710695" name="Group 39">
            <a:extLst>
              <a:ext uri="{FF2B5EF4-FFF2-40B4-BE49-F238E27FC236}">
                <a16:creationId xmlns:a16="http://schemas.microsoft.com/office/drawing/2014/main" id="{A04BA446-056F-38DB-7CEB-783F0509B0B0}"/>
              </a:ext>
            </a:extLst>
          </p:cNvPr>
          <p:cNvGrpSpPr>
            <a:grpSpLocks/>
          </p:cNvGrpSpPr>
          <p:nvPr/>
        </p:nvGrpSpPr>
        <p:grpSpPr bwMode="auto">
          <a:xfrm>
            <a:off x="746125" y="5692775"/>
            <a:ext cx="5854700" cy="958850"/>
            <a:chOff x="470" y="3586"/>
            <a:chExt cx="3688" cy="604"/>
          </a:xfrm>
        </p:grpSpPr>
        <p:sp>
          <p:nvSpPr>
            <p:cNvPr id="710674" name="Text Box 18">
              <a:extLst>
                <a:ext uri="{FF2B5EF4-FFF2-40B4-BE49-F238E27FC236}">
                  <a16:creationId xmlns:a16="http://schemas.microsoft.com/office/drawing/2014/main" id="{F93340EC-B529-D036-E9A2-70BD04600787}"/>
                </a:ext>
              </a:extLst>
            </p:cNvPr>
            <p:cNvSpPr txBox="1">
              <a:spLocks noChangeArrowheads="1"/>
            </p:cNvSpPr>
            <p:nvPr/>
          </p:nvSpPr>
          <p:spPr bwMode="auto">
            <a:xfrm>
              <a:off x="470" y="3809"/>
              <a:ext cx="3688" cy="381"/>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 </a:t>
              </a:r>
              <a:r>
                <a:rPr lang="en-US" altLang="en-US" b="0">
                  <a:ea typeface="ＭＳ ゴシック" panose="020B0609070205080204" pitchFamily="49" charset="-128"/>
                </a:rPr>
                <a:t>if (Biểu thức điều kiện) {</a:t>
              </a:r>
            </a:p>
            <a:p>
              <a:pPr lvl="1" algn="just"/>
              <a:r>
                <a:rPr lang="en-US" altLang="en-US" b="0">
                  <a:ea typeface="ＭＳ ゴシック" panose="020B0609070205080204" pitchFamily="49" charset="-128"/>
                </a:rPr>
                <a:t>    Xử lý khi thỏa mãn biểu thức điều kiện</a:t>
              </a:r>
              <a:endParaRPr lang="en-US" altLang="ja-JP" b="0">
                <a:ea typeface="MS UI Gothic" panose="020B0600070205080204" pitchFamily="50" charset="-128"/>
              </a:endParaRPr>
            </a:p>
            <a:p>
              <a:pPr lvl="1" algn="just"/>
              <a:r>
                <a:rPr lang="en-US" altLang="en-US" b="0">
                  <a:ea typeface="ＭＳ ゴシック" panose="020B0609070205080204" pitchFamily="49" charset="-128"/>
                </a:rPr>
                <a:t> }</a:t>
              </a:r>
            </a:p>
          </p:txBody>
        </p:sp>
        <p:sp>
          <p:nvSpPr>
            <p:cNvPr id="710675" name="AutoShape 19">
              <a:extLst>
                <a:ext uri="{FF2B5EF4-FFF2-40B4-BE49-F238E27FC236}">
                  <a16:creationId xmlns:a16="http://schemas.microsoft.com/office/drawing/2014/main" id="{1A200868-4470-A2D6-09B0-CA14A8CF41B5}"/>
                </a:ext>
              </a:extLst>
            </p:cNvPr>
            <p:cNvSpPr>
              <a:spLocks noChangeArrowheads="1"/>
            </p:cNvSpPr>
            <p:nvPr/>
          </p:nvSpPr>
          <p:spPr bwMode="auto">
            <a:xfrm>
              <a:off x="1864" y="3586"/>
              <a:ext cx="1513" cy="276"/>
            </a:xfrm>
            <a:prstGeom prst="wedgeRoundRectCallout">
              <a:avLst>
                <a:gd name="adj1" fmla="val -57005"/>
                <a:gd name="adj2" fmla="val 93843"/>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4161" tIns="47080" rIns="94161" bIns="47080"/>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09700"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Khi biểu thức điều kiện là </a:t>
              </a:r>
              <a:r>
                <a:rPr lang="en-US" altLang="ja-JP" b="0">
                  <a:ea typeface="ＭＳ ゴシック" panose="020B0609070205080204" pitchFamily="49" charset="-128"/>
                </a:rPr>
                <a:t>false thì xử lý sẽ không được thực hiện</a:t>
              </a:r>
              <a:endParaRPr lang="en-US" altLang="ja-JP" b="0">
                <a:ea typeface="MS UI Gothic" panose="020B0600070205080204" pitchFamily="50" charset="-128"/>
              </a:endParaRPr>
            </a:p>
          </p:txBody>
        </p:sp>
      </p:gr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2706" name="Rectangle 2">
            <a:extLst>
              <a:ext uri="{FF2B5EF4-FFF2-40B4-BE49-F238E27FC236}">
                <a16:creationId xmlns:a16="http://schemas.microsoft.com/office/drawing/2014/main" id="{73CBCA8B-F2FB-CA31-6BCD-94F4485BA745}"/>
              </a:ext>
            </a:extLst>
          </p:cNvPr>
          <p:cNvSpPr>
            <a:spLocks noRot="1" noChangeAspect="1" noChangeArrowheads="1" noTextEdit="1"/>
          </p:cNvSpPr>
          <p:nvPr>
            <p:ph type="sldImg"/>
          </p:nvPr>
        </p:nvSpPr>
        <p:spPr>
          <a:ln/>
        </p:spPr>
      </p:sp>
      <p:sp>
        <p:nvSpPr>
          <p:cNvPr id="712707" name="Rectangle 3">
            <a:extLst>
              <a:ext uri="{FF2B5EF4-FFF2-40B4-BE49-F238E27FC236}">
                <a16:creationId xmlns:a16="http://schemas.microsoft.com/office/drawing/2014/main" id="{4F466760-4AEA-6ECC-374A-C9D4ED975605}"/>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if-else</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Thực hiện xử lý riêng biệt trong trường hợp thỏa mãn và trường hợp không thỏa mãn biểu thức điều kiện</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Ví dụ</a:t>
            </a:r>
            <a:r>
              <a:rPr lang="ja-JP" altLang="en-US">
                <a:latin typeface="Arial" panose="020B0604020202020204" pitchFamily="34" charset="0"/>
              </a:rPr>
              <a:t>）</a:t>
            </a:r>
            <a:r>
              <a:rPr lang="en-US" altLang="ja-JP">
                <a:latin typeface="Arial" panose="020B0604020202020204" pitchFamily="34" charset="0"/>
              </a:rPr>
              <a:t>Nếu  x là số lẻ sẽ hiển thị là</a:t>
            </a:r>
            <a:r>
              <a:rPr lang="ja-JP" altLang="en-US">
                <a:latin typeface="Arial" panose="020B0604020202020204" pitchFamily="34" charset="0"/>
              </a:rPr>
              <a:t>「</a:t>
            </a:r>
            <a:r>
              <a:rPr lang="en-US" altLang="ja-JP">
                <a:latin typeface="Arial" panose="020B0604020202020204" pitchFamily="34" charset="0"/>
              </a:rPr>
              <a:t>số lẻ</a:t>
            </a:r>
            <a:r>
              <a:rPr lang="ja-JP" altLang="en-US">
                <a:latin typeface="Arial" panose="020B0604020202020204" pitchFamily="34" charset="0"/>
              </a:rPr>
              <a:t>」</a:t>
            </a:r>
            <a:r>
              <a:rPr lang="en-US" altLang="ja-JP">
                <a:latin typeface="Arial" panose="020B0604020202020204" pitchFamily="34" charset="0"/>
              </a:rPr>
              <a:t>, nếu là số chẵn sẽ hiển thị là</a:t>
            </a:r>
            <a:r>
              <a:rPr lang="ja-JP" altLang="en-US">
                <a:latin typeface="Arial" panose="020B0604020202020204" pitchFamily="34" charset="0"/>
              </a:rPr>
              <a:t>「</a:t>
            </a:r>
            <a:r>
              <a:rPr lang="en-US" altLang="ja-JP">
                <a:latin typeface="Arial" panose="020B0604020202020204" pitchFamily="34" charset="0"/>
              </a:rPr>
              <a:t>số chẵn</a:t>
            </a:r>
            <a:r>
              <a:rPr lang="ja-JP" altLang="en-US">
                <a:latin typeface="Arial" panose="020B0604020202020204" pitchFamily="34" charset="0"/>
              </a:rPr>
              <a:t>」</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int x = 4;</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if (x % 2 == 1) {</a:t>
            </a:r>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 Trong ví dụ này là false</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System.out.println(“số lẻ");</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 else {</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System.out.println(“số chẵn");</a:t>
            </a:r>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 Hiển thị số này</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a:t>
            </a:r>
          </a:p>
          <a:p>
            <a:pPr marL="0" indent="0"/>
            <a:endParaRPr lang="en-US" altLang="ja-JP">
              <a:latin typeface="Arial" panose="020B0604020202020204" pitchFamily="34" charset="0"/>
            </a:endParaRPr>
          </a:p>
        </p:txBody>
      </p:sp>
      <p:sp>
        <p:nvSpPr>
          <p:cNvPr id="712709" name="Text Box 5">
            <a:extLst>
              <a:ext uri="{FF2B5EF4-FFF2-40B4-BE49-F238E27FC236}">
                <a16:creationId xmlns:a16="http://schemas.microsoft.com/office/drawing/2014/main" id="{77183BAB-B93D-8AF3-8BE3-F311E41448B7}"/>
              </a:ext>
            </a:extLst>
          </p:cNvPr>
          <p:cNvSpPr txBox="1">
            <a:spLocks noChangeArrowheads="1"/>
          </p:cNvSpPr>
          <p:nvPr/>
        </p:nvSpPr>
        <p:spPr bwMode="auto">
          <a:xfrm>
            <a:off x="746125" y="6053138"/>
            <a:ext cx="5854700" cy="95567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 if (Biểu thức điều kiện) {</a:t>
            </a:r>
          </a:p>
          <a:p>
            <a:pPr lvl="1" algn="just"/>
            <a:r>
              <a:rPr lang="en-US" altLang="ja-JP" b="0">
                <a:ea typeface="ＭＳ ゴシック" panose="020B0609070205080204" pitchFamily="49" charset="-128"/>
              </a:rPr>
              <a:t>    Xử lý trong trường hợp thỏa mẵn biểu thức điều kiện</a:t>
            </a:r>
            <a:endParaRPr lang="en-US" altLang="ja-JP" b="0">
              <a:ea typeface="MS UI Gothic" panose="020B0600070205080204" pitchFamily="50" charset="-128"/>
            </a:endParaRPr>
          </a:p>
          <a:p>
            <a:pPr lvl="1" algn="just"/>
            <a:r>
              <a:rPr lang="en-US" altLang="ja-JP" b="0">
                <a:ea typeface="ＭＳ ゴシック" panose="020B0609070205080204" pitchFamily="49" charset="-128"/>
              </a:rPr>
              <a:t> } else {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không thỏa mẵn biểu thức điều kiện</a:t>
            </a:r>
          </a:p>
          <a:p>
            <a:pPr lvl="1" algn="just"/>
            <a:r>
              <a:rPr lang="en-US" altLang="ja-JP" b="0">
                <a:ea typeface="ＭＳ ゴシック" panose="020B0609070205080204" pitchFamily="49" charset="-128"/>
              </a:rPr>
              <a:t> }</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4754" name="Rectangle 2">
            <a:extLst>
              <a:ext uri="{FF2B5EF4-FFF2-40B4-BE49-F238E27FC236}">
                <a16:creationId xmlns:a16="http://schemas.microsoft.com/office/drawing/2014/main" id="{F4A3EC49-E679-F240-A150-1860008BF3C8}"/>
              </a:ext>
            </a:extLst>
          </p:cNvPr>
          <p:cNvSpPr>
            <a:spLocks noRot="1" noChangeAspect="1" noChangeArrowheads="1" noTextEdit="1"/>
          </p:cNvSpPr>
          <p:nvPr>
            <p:ph type="sldImg"/>
          </p:nvPr>
        </p:nvSpPr>
        <p:spPr>
          <a:ln/>
        </p:spPr>
      </p:sp>
      <p:sp>
        <p:nvSpPr>
          <p:cNvPr id="714755" name="Rectangle 3">
            <a:extLst>
              <a:ext uri="{FF2B5EF4-FFF2-40B4-BE49-F238E27FC236}">
                <a16:creationId xmlns:a16="http://schemas.microsoft.com/office/drawing/2014/main" id="{ED0C0215-57E1-6141-6686-ACD871CB3A8F}"/>
              </a:ext>
            </a:extLst>
          </p:cNvPr>
          <p:cNvSpPr>
            <a:spLocks noGrp="1" noChangeArrowheads="1"/>
          </p:cNvSpPr>
          <p:nvPr>
            <p:ph type="body" idx="1"/>
          </p:nvPr>
        </p:nvSpPr>
        <p:spPr/>
        <p:txBody>
          <a:bodyPr/>
          <a:lstStyle/>
          <a:p>
            <a:pPr marL="0" indent="0"/>
            <a:r>
              <a:rPr lang="en-US" altLang="ja-JP"/>
              <a:t>■</a:t>
            </a:r>
            <a:r>
              <a:rPr lang="ja-JP" altLang="en-US"/>
              <a:t>　</a:t>
            </a:r>
            <a:r>
              <a:rPr lang="en-US" altLang="ja-JP"/>
              <a:t>Câu lệnh </a:t>
            </a:r>
            <a:r>
              <a:rPr lang="en-US" altLang="en-US">
                <a:latin typeface="ＭＳ ゴシック" panose="020B0609070205080204" pitchFamily="49" charset="-128"/>
                <a:ea typeface="ＭＳ ゴシック" panose="020B0609070205080204" pitchFamily="49" charset="-128"/>
              </a:rPr>
              <a:t>if-else if-else</a:t>
            </a:r>
            <a:endParaRPr lang="en-US" altLang="ja-JP"/>
          </a:p>
          <a:p>
            <a:pPr marL="0" indent="0"/>
            <a:r>
              <a:rPr lang="ja-JP" altLang="en-US"/>
              <a:t>　</a:t>
            </a:r>
            <a:r>
              <a:rPr lang="en-US" altLang="ja-JP"/>
              <a:t>Phân nhánh xử lý hơn nữa trong trường hợp không thỏa mãn biểu thức điều kiện.</a:t>
            </a:r>
          </a:p>
          <a:p>
            <a:pPr marL="0" indent="0"/>
            <a:r>
              <a:rPr lang="ja-JP" altLang="en-US"/>
              <a:t>　</a:t>
            </a:r>
            <a:r>
              <a:rPr lang="en-US" altLang="ja-JP"/>
              <a:t>Có thể sử dụng nhiều biểu thức điều kiện</a:t>
            </a:r>
          </a:p>
          <a:p>
            <a:pPr marL="0" indent="0"/>
            <a:endParaRPr lang="en-US" altLang="ja-JP"/>
          </a:p>
          <a:p>
            <a:pPr marL="0" indent="0"/>
            <a:r>
              <a:rPr lang="en-US" altLang="ja-JP"/>
              <a:t>●</a:t>
            </a:r>
            <a:r>
              <a:rPr lang="ja-JP" altLang="en-US"/>
              <a:t>　</a:t>
            </a:r>
            <a:r>
              <a:rPr lang="en-US" altLang="ja-JP"/>
              <a:t>Cú pháp cơ bản</a:t>
            </a:r>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r>
              <a:rPr lang="en-US" altLang="ja-JP"/>
              <a:t>●</a:t>
            </a:r>
            <a:r>
              <a:rPr lang="ja-JP" altLang="en-US"/>
              <a:t>　</a:t>
            </a:r>
            <a:r>
              <a:rPr lang="en-US" altLang="ja-JP"/>
              <a:t>Cú pháp trong trường hợp có &gt;= 3 biểu thức điều kiện</a:t>
            </a:r>
          </a:p>
          <a:p>
            <a:pPr marL="0" indent="0"/>
            <a:endParaRPr lang="en-US" altLang="ja-JP"/>
          </a:p>
        </p:txBody>
      </p:sp>
      <p:sp>
        <p:nvSpPr>
          <p:cNvPr id="714756" name="Text Box 4">
            <a:extLst>
              <a:ext uri="{FF2B5EF4-FFF2-40B4-BE49-F238E27FC236}">
                <a16:creationId xmlns:a16="http://schemas.microsoft.com/office/drawing/2014/main" id="{8435A291-6745-CF71-17FB-9810ADBECC0E}"/>
              </a:ext>
            </a:extLst>
          </p:cNvPr>
          <p:cNvSpPr txBox="1">
            <a:spLocks noChangeArrowheads="1"/>
          </p:cNvSpPr>
          <p:nvPr/>
        </p:nvSpPr>
        <p:spPr bwMode="auto">
          <a:xfrm>
            <a:off x="746125" y="6161088"/>
            <a:ext cx="5854700" cy="1239837"/>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if (Biểu thức điều kiện 1)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thỏa mãn biểu thức điều kiện 1</a:t>
            </a:r>
          </a:p>
          <a:p>
            <a:pPr lvl="1" algn="just"/>
            <a:r>
              <a:rPr lang="en-US" altLang="ja-JP" b="0">
                <a:ea typeface="ＭＳ ゴシック" panose="020B0609070205080204" pitchFamily="49" charset="-128"/>
              </a:rPr>
              <a:t>} else if (</a:t>
            </a:r>
            <a:r>
              <a:rPr lang="en-US" altLang="ja-JP" b="0">
                <a:ea typeface="MS UI Gothic" panose="020B0600070205080204" pitchFamily="50" charset="-128"/>
              </a:rPr>
              <a:t>Biểu thức điều kiện</a:t>
            </a:r>
            <a:r>
              <a:rPr lang="en-US" altLang="ja-JP">
                <a:ea typeface="MS UI Gothic" panose="020B0600070205080204" pitchFamily="50" charset="-128"/>
              </a:rPr>
              <a:t> </a:t>
            </a:r>
            <a:r>
              <a:rPr lang="en-US" altLang="ja-JP" b="0">
                <a:ea typeface="MS UI Gothic" panose="020B0600070205080204" pitchFamily="50" charset="-128"/>
              </a:rPr>
              <a:t>2</a:t>
            </a:r>
            <a:r>
              <a:rPr lang="en-US" altLang="ja-JP" b="0">
                <a:ea typeface="ＭＳ ゴシック" panose="020B0609070205080204" pitchFamily="49" charset="-128"/>
              </a:rPr>
              <a:t>)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thỏa mãn biểu thức điều kiện 2</a:t>
            </a:r>
          </a:p>
          <a:p>
            <a:pPr lvl="1" algn="just"/>
            <a:r>
              <a:rPr lang="en-US" altLang="ja-JP" b="0">
                <a:ea typeface="ＭＳ ゴシック" panose="020B0609070205080204" pitchFamily="49" charset="-128"/>
              </a:rPr>
              <a:t>} else {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không thỏa mãn cả 2 biểu thức điều kiện</a:t>
            </a:r>
            <a:r>
              <a:rPr lang="en-US" altLang="ja-JP" b="0">
                <a:ea typeface="ＭＳ ゴシック" panose="020B0609070205080204" pitchFamily="49" charset="-128"/>
              </a:rPr>
              <a:t> 1, 2</a:t>
            </a:r>
            <a:endParaRPr lang="en-US" altLang="ja-JP" b="0">
              <a:ea typeface="MS UI Gothic" panose="020B0600070205080204" pitchFamily="50" charset="-128"/>
            </a:endParaRPr>
          </a:p>
          <a:p>
            <a:pPr lvl="1" algn="just"/>
            <a:r>
              <a:rPr lang="en-US" altLang="ja-JP" b="0">
                <a:ea typeface="ＭＳ ゴシック" panose="020B0609070205080204" pitchFamily="49" charset="-128"/>
              </a:rPr>
              <a:t>}</a:t>
            </a:r>
          </a:p>
        </p:txBody>
      </p:sp>
      <p:sp>
        <p:nvSpPr>
          <p:cNvPr id="714757" name="Text Box 5">
            <a:extLst>
              <a:ext uri="{FF2B5EF4-FFF2-40B4-BE49-F238E27FC236}">
                <a16:creationId xmlns:a16="http://schemas.microsoft.com/office/drawing/2014/main" id="{F0E9F421-1222-A93E-4D39-D7A6F6C0AEB7}"/>
              </a:ext>
            </a:extLst>
          </p:cNvPr>
          <p:cNvSpPr txBox="1">
            <a:spLocks noChangeArrowheads="1"/>
          </p:cNvSpPr>
          <p:nvPr/>
        </p:nvSpPr>
        <p:spPr bwMode="auto">
          <a:xfrm>
            <a:off x="733425" y="7954963"/>
            <a:ext cx="5853113" cy="17653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if (Biểu thức điều kiện 1){</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thỏa mãn biểu thức điều kiện 1</a:t>
            </a:r>
          </a:p>
          <a:p>
            <a:pPr lvl="1" algn="just"/>
            <a:r>
              <a:rPr lang="en-US" altLang="ja-JP" b="0">
                <a:ea typeface="ＭＳ ゴシック" panose="020B0609070205080204" pitchFamily="49" charset="-128"/>
              </a:rPr>
              <a:t>} else if (Biểu thức điều kiện 2){</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thỏa mãn biểu thức điều kiện 2</a:t>
            </a:r>
          </a:p>
          <a:p>
            <a:pPr lvl="1" algn="just"/>
            <a:r>
              <a:rPr lang="en-US" altLang="ja-JP" b="0">
                <a:ea typeface="ＭＳ ゴシック" panose="020B0609070205080204" pitchFamily="49" charset="-128"/>
              </a:rPr>
              <a:t>	</a:t>
            </a:r>
            <a:r>
              <a:rPr lang="ja-JP" altLang="en-US" b="0">
                <a:ea typeface="ＭＳ ゴシック" panose="020B0609070205080204" pitchFamily="49" charset="-128"/>
              </a:rPr>
              <a:t>：</a:t>
            </a:r>
          </a:p>
          <a:p>
            <a:pPr lvl="1" algn="just"/>
            <a:r>
              <a:rPr lang="en-US" altLang="ja-JP" b="0">
                <a:ea typeface="ＭＳ ゴシック" panose="020B0609070205080204" pitchFamily="49" charset="-128"/>
              </a:rPr>
              <a:t>} else if (Biểu thức điều kiện n){</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thỏa mãn biểu thức điều kiện n</a:t>
            </a:r>
          </a:p>
          <a:p>
            <a:pPr lvl="1" algn="just"/>
            <a:r>
              <a:rPr lang="en-US" altLang="ja-JP" b="0">
                <a:ea typeface="ＭＳ ゴシック" panose="020B0609070205080204" pitchFamily="49" charset="-128"/>
              </a:rPr>
              <a:t>} else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không thỏa mãn tất cả biểu thức điều kiện</a:t>
            </a:r>
          </a:p>
          <a:p>
            <a:pPr lvl="1" algn="just"/>
            <a:r>
              <a:rPr lang="en-US" altLang="ja-JP" b="0">
                <a:ea typeface="ＭＳ ゴシック" panose="020B0609070205080204" pitchFamily="49" charset="-128"/>
              </a:rPr>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2642" name="Rectangle 2">
            <a:extLst>
              <a:ext uri="{FF2B5EF4-FFF2-40B4-BE49-F238E27FC236}">
                <a16:creationId xmlns:a16="http://schemas.microsoft.com/office/drawing/2014/main" id="{E05C6A28-9646-9934-0787-720F3817BFBF}"/>
              </a:ext>
            </a:extLst>
          </p:cNvPr>
          <p:cNvSpPr>
            <a:spLocks noRot="1" noChangeAspect="1" noChangeArrowheads="1" noTextEdit="1"/>
          </p:cNvSpPr>
          <p:nvPr>
            <p:ph type="sldImg"/>
          </p:nvPr>
        </p:nvSpPr>
        <p:spPr>
          <a:xfrm>
            <a:off x="531813" y="835025"/>
            <a:ext cx="6024562" cy="4170363"/>
          </a:xfrm>
          <a:ln/>
        </p:spPr>
      </p:sp>
      <p:sp>
        <p:nvSpPr>
          <p:cNvPr id="752643" name="Rectangle 3">
            <a:extLst>
              <a:ext uri="{FF2B5EF4-FFF2-40B4-BE49-F238E27FC236}">
                <a16:creationId xmlns:a16="http://schemas.microsoft.com/office/drawing/2014/main" id="{3D9B98B7-C3ED-3FEB-3836-04B2731262BF}"/>
              </a:ext>
            </a:extLst>
          </p:cNvPr>
          <p:cNvSpPr>
            <a:spLocks noGrp="1" noChangeArrowheads="1"/>
          </p:cNvSpPr>
          <p:nvPr>
            <p:ph type="body" idx="1"/>
          </p:nvPr>
        </p:nvSpPr>
        <p:spPr/>
        <p:txBody>
          <a:bodyPr/>
          <a:lstStyle/>
          <a:p>
            <a:pPr marL="0" indent="0"/>
            <a:r>
              <a:rPr lang="en-US" altLang="ja-JP"/>
              <a:t>●</a:t>
            </a:r>
            <a:r>
              <a:rPr lang="ja-JP" altLang="en-US"/>
              <a:t>　</a:t>
            </a:r>
            <a:r>
              <a:rPr lang="en-US" altLang="ja-JP"/>
              <a:t>Ví dụ</a:t>
            </a:r>
          </a:p>
        </p:txBody>
      </p:sp>
      <p:grpSp>
        <p:nvGrpSpPr>
          <p:cNvPr id="752647" name="Group 7">
            <a:extLst>
              <a:ext uri="{FF2B5EF4-FFF2-40B4-BE49-F238E27FC236}">
                <a16:creationId xmlns:a16="http://schemas.microsoft.com/office/drawing/2014/main" id="{6D23CC4F-3C91-6505-74F7-B5BA90944AC4}"/>
              </a:ext>
            </a:extLst>
          </p:cNvPr>
          <p:cNvGrpSpPr>
            <a:grpSpLocks/>
          </p:cNvGrpSpPr>
          <p:nvPr/>
        </p:nvGrpSpPr>
        <p:grpSpPr bwMode="auto">
          <a:xfrm>
            <a:off x="719138" y="5634038"/>
            <a:ext cx="5854700" cy="2484437"/>
            <a:chOff x="453" y="2328"/>
            <a:chExt cx="3555" cy="1526"/>
          </a:xfrm>
        </p:grpSpPr>
        <p:sp>
          <p:nvSpPr>
            <p:cNvPr id="752648" name="Rectangle 8">
              <a:extLst>
                <a:ext uri="{FF2B5EF4-FFF2-40B4-BE49-F238E27FC236}">
                  <a16:creationId xmlns:a16="http://schemas.microsoft.com/office/drawing/2014/main" id="{D647FD05-6BA5-7D86-E5E8-AC758F7A3BEE}"/>
                </a:ext>
              </a:extLst>
            </p:cNvPr>
            <p:cNvSpPr>
              <a:spLocks noChangeArrowheads="1"/>
            </p:cNvSpPr>
            <p:nvPr/>
          </p:nvSpPr>
          <p:spPr bwMode="auto">
            <a:xfrm>
              <a:off x="453" y="2328"/>
              <a:ext cx="3555" cy="1526"/>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p>
          </p:txBody>
        </p:sp>
        <p:grpSp>
          <p:nvGrpSpPr>
            <p:cNvPr id="752649" name="Group 9">
              <a:extLst>
                <a:ext uri="{FF2B5EF4-FFF2-40B4-BE49-F238E27FC236}">
                  <a16:creationId xmlns:a16="http://schemas.microsoft.com/office/drawing/2014/main" id="{CCF628EC-622C-9E24-9D74-A9E8DD5ACEE9}"/>
                </a:ext>
              </a:extLst>
            </p:cNvPr>
            <p:cNvGrpSpPr>
              <a:grpSpLocks/>
            </p:cNvGrpSpPr>
            <p:nvPr/>
          </p:nvGrpSpPr>
          <p:grpSpPr bwMode="auto">
            <a:xfrm>
              <a:off x="987" y="2471"/>
              <a:ext cx="2544" cy="1250"/>
              <a:chOff x="700" y="2615"/>
              <a:chExt cx="2544" cy="1250"/>
            </a:xfrm>
          </p:grpSpPr>
          <p:sp>
            <p:nvSpPr>
              <p:cNvPr id="752650" name="Line 10">
                <a:extLst>
                  <a:ext uri="{FF2B5EF4-FFF2-40B4-BE49-F238E27FC236}">
                    <a16:creationId xmlns:a16="http://schemas.microsoft.com/office/drawing/2014/main" id="{3023CE4C-6ADB-53A9-9B89-D42E9BF64054}"/>
                  </a:ext>
                </a:extLst>
              </p:cNvPr>
              <p:cNvSpPr>
                <a:spLocks noChangeShapeType="1"/>
              </p:cNvSpPr>
              <p:nvPr/>
            </p:nvSpPr>
            <p:spPr bwMode="auto">
              <a:xfrm>
                <a:off x="1161" y="2615"/>
                <a:ext cx="0" cy="125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2651" name="AutoShape 11">
                <a:extLst>
                  <a:ext uri="{FF2B5EF4-FFF2-40B4-BE49-F238E27FC236}">
                    <a16:creationId xmlns:a16="http://schemas.microsoft.com/office/drawing/2014/main" id="{0DFA5776-743C-4995-312C-27D2C4B74875}"/>
                  </a:ext>
                </a:extLst>
              </p:cNvPr>
              <p:cNvSpPr>
                <a:spLocks noChangeArrowheads="1"/>
              </p:cNvSpPr>
              <p:nvPr/>
            </p:nvSpPr>
            <p:spPr bwMode="auto">
              <a:xfrm>
                <a:off x="700" y="2717"/>
                <a:ext cx="917" cy="336"/>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ja-JP" altLang="en-US" sz="1100" b="0">
                    <a:latin typeface="MS UI Gothic" panose="020B0600070205080204" pitchFamily="50" charset="-128"/>
                    <a:ea typeface="MS UI Gothic" panose="020B0600070205080204" pitchFamily="50" charset="-128"/>
                  </a:rPr>
                  <a:t>ｘ </a:t>
                </a:r>
                <a:r>
                  <a:rPr lang="en-US" altLang="ja-JP" sz="1100" b="0">
                    <a:latin typeface="MS UI Gothic" panose="020B0600070205080204" pitchFamily="50" charset="-128"/>
                    <a:ea typeface="MS UI Gothic" panose="020B0600070205080204" pitchFamily="50" charset="-128"/>
                  </a:rPr>
                  <a:t>&lt;0</a:t>
                </a:r>
                <a:r>
                  <a:rPr lang="ja-JP" altLang="en-US" sz="1100"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2652" name="AutoShape 12">
                <a:extLst>
                  <a:ext uri="{FF2B5EF4-FFF2-40B4-BE49-F238E27FC236}">
                    <a16:creationId xmlns:a16="http://schemas.microsoft.com/office/drawing/2014/main" id="{B2CE6335-691D-EAD5-9F43-3ECCD13D80C9}"/>
                  </a:ext>
                </a:extLst>
              </p:cNvPr>
              <p:cNvSpPr>
                <a:spLocks noChangeArrowheads="1"/>
              </p:cNvSpPr>
              <p:nvPr/>
            </p:nvSpPr>
            <p:spPr bwMode="auto">
              <a:xfrm>
                <a:off x="813" y="3263"/>
                <a:ext cx="728" cy="218"/>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latin typeface="MS UI Gothic" panose="020B0600070205080204" pitchFamily="50" charset="-128"/>
                    <a:ea typeface="MS UI Gothic" panose="020B0600070205080204" pitchFamily="50" charset="-128"/>
                  </a:rPr>
                  <a:t>Hiển thị </a:t>
                </a:r>
                <a:r>
                  <a:rPr lang="ja-JP" altLang="en-US" sz="1100" b="0">
                    <a:latin typeface="MS UI Gothic" panose="020B0600070205080204" pitchFamily="50" charset="-128"/>
                    <a:ea typeface="MS UI Gothic" panose="020B0600070205080204" pitchFamily="50" charset="-128"/>
                  </a:rPr>
                  <a:t>「</a:t>
                </a:r>
                <a:r>
                  <a:rPr lang="en-US" altLang="ja-JP" sz="1100" b="0">
                    <a:latin typeface="MS UI Gothic" panose="020B0600070205080204" pitchFamily="50" charset="-128"/>
                    <a:ea typeface="MS UI Gothic" panose="020B0600070205080204" pitchFamily="50" charset="-128"/>
                  </a:rPr>
                  <a:t>số âm</a:t>
                </a:r>
                <a:r>
                  <a:rPr lang="ja-JP" altLang="en-US" sz="1100"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2653" name="Line 13">
                <a:extLst>
                  <a:ext uri="{FF2B5EF4-FFF2-40B4-BE49-F238E27FC236}">
                    <a16:creationId xmlns:a16="http://schemas.microsoft.com/office/drawing/2014/main" id="{8306417C-15E3-AF6C-B540-1B3D8DD6E457}"/>
                  </a:ext>
                </a:extLst>
              </p:cNvPr>
              <p:cNvSpPr>
                <a:spLocks noChangeShapeType="1"/>
              </p:cNvSpPr>
              <p:nvPr/>
            </p:nvSpPr>
            <p:spPr bwMode="auto">
              <a:xfrm>
                <a:off x="1607" y="2882"/>
                <a:ext cx="43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2654" name="Line 14">
                <a:extLst>
                  <a:ext uri="{FF2B5EF4-FFF2-40B4-BE49-F238E27FC236}">
                    <a16:creationId xmlns:a16="http://schemas.microsoft.com/office/drawing/2014/main" id="{D546B9EA-51CB-0E42-832C-B5D873CC2649}"/>
                  </a:ext>
                </a:extLst>
              </p:cNvPr>
              <p:cNvSpPr>
                <a:spLocks noChangeShapeType="1"/>
              </p:cNvSpPr>
              <p:nvPr/>
            </p:nvSpPr>
            <p:spPr bwMode="auto">
              <a:xfrm>
                <a:off x="2034" y="2877"/>
                <a:ext cx="0" cy="926"/>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2655" name="Line 15">
                <a:extLst>
                  <a:ext uri="{FF2B5EF4-FFF2-40B4-BE49-F238E27FC236}">
                    <a16:creationId xmlns:a16="http://schemas.microsoft.com/office/drawing/2014/main" id="{9BAD8689-1E4D-3D3E-E081-D32B5DA6002C}"/>
                  </a:ext>
                </a:extLst>
              </p:cNvPr>
              <p:cNvSpPr>
                <a:spLocks noChangeShapeType="1"/>
              </p:cNvSpPr>
              <p:nvPr/>
            </p:nvSpPr>
            <p:spPr bwMode="auto">
              <a:xfrm>
                <a:off x="1165" y="3802"/>
                <a:ext cx="875"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2656" name="Text Box 16">
                <a:extLst>
                  <a:ext uri="{FF2B5EF4-FFF2-40B4-BE49-F238E27FC236}">
                    <a16:creationId xmlns:a16="http://schemas.microsoft.com/office/drawing/2014/main" id="{5D2EB853-DF13-1A7B-495C-7B2493E73ED2}"/>
                  </a:ext>
                </a:extLst>
              </p:cNvPr>
              <p:cNvSpPr txBox="1">
                <a:spLocks noChangeArrowheads="1"/>
              </p:cNvSpPr>
              <p:nvPr/>
            </p:nvSpPr>
            <p:spPr bwMode="auto">
              <a:xfrm>
                <a:off x="1210" y="3045"/>
                <a:ext cx="239" cy="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latin typeface="MS UI Gothic" panose="020B0600070205080204" pitchFamily="50" charset="-128"/>
                    <a:ea typeface="MS UI Gothic" panose="020B0600070205080204" pitchFamily="50" charset="-128"/>
                  </a:rPr>
                  <a:t>true</a:t>
                </a:r>
                <a:endParaRPr lang="en-US" altLang="ja-JP">
                  <a:latin typeface="MS UI Gothic" panose="020B0600070205080204" pitchFamily="50" charset="-128"/>
                  <a:ea typeface="MS UI Gothic" panose="020B0600070205080204" pitchFamily="50" charset="-128"/>
                </a:endParaRPr>
              </a:p>
            </p:txBody>
          </p:sp>
          <p:sp>
            <p:nvSpPr>
              <p:cNvPr id="752657" name="Text Box 17">
                <a:extLst>
                  <a:ext uri="{FF2B5EF4-FFF2-40B4-BE49-F238E27FC236}">
                    <a16:creationId xmlns:a16="http://schemas.microsoft.com/office/drawing/2014/main" id="{B15579CC-B5BC-473F-C77D-AB7584021BFA}"/>
                  </a:ext>
                </a:extLst>
              </p:cNvPr>
              <p:cNvSpPr txBox="1">
                <a:spLocks noChangeArrowheads="1"/>
              </p:cNvSpPr>
              <p:nvPr/>
            </p:nvSpPr>
            <p:spPr bwMode="auto">
              <a:xfrm>
                <a:off x="1592" y="2694"/>
                <a:ext cx="240" cy="10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latin typeface="MS UI Gothic" panose="020B0600070205080204" pitchFamily="50" charset="-128"/>
                    <a:ea typeface="MS UI Gothic" panose="020B0600070205080204" pitchFamily="50" charset="-128"/>
                  </a:rPr>
                  <a:t>false</a:t>
                </a:r>
                <a:endParaRPr lang="en-US" altLang="ja-JP">
                  <a:latin typeface="MS UI Gothic" panose="020B0600070205080204" pitchFamily="50" charset="-128"/>
                  <a:ea typeface="MS UI Gothic" panose="020B0600070205080204" pitchFamily="50" charset="-128"/>
                </a:endParaRPr>
              </a:p>
            </p:txBody>
          </p:sp>
          <p:sp>
            <p:nvSpPr>
              <p:cNvPr id="752658" name="AutoShape 18">
                <a:extLst>
                  <a:ext uri="{FF2B5EF4-FFF2-40B4-BE49-F238E27FC236}">
                    <a16:creationId xmlns:a16="http://schemas.microsoft.com/office/drawing/2014/main" id="{102D1481-DE77-9F9E-34B4-7876BCEE38CE}"/>
                  </a:ext>
                </a:extLst>
              </p:cNvPr>
              <p:cNvSpPr>
                <a:spLocks noChangeArrowheads="1"/>
              </p:cNvSpPr>
              <p:nvPr/>
            </p:nvSpPr>
            <p:spPr bwMode="auto">
              <a:xfrm>
                <a:off x="1607" y="2970"/>
                <a:ext cx="846" cy="284"/>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ja-JP" altLang="en-US" sz="1100" b="0">
                    <a:latin typeface="MS UI Gothic" panose="020B0600070205080204" pitchFamily="50" charset="-128"/>
                    <a:ea typeface="MS UI Gothic" panose="020B0600070205080204" pitchFamily="50" charset="-128"/>
                  </a:rPr>
                  <a:t>ｘ</a:t>
                </a:r>
                <a:r>
                  <a:rPr lang="en-US" altLang="ja-JP" sz="1100" b="0">
                    <a:latin typeface="MS UI Gothic" panose="020B0600070205080204" pitchFamily="50" charset="-128"/>
                    <a:ea typeface="MS UI Gothic" panose="020B0600070205080204" pitchFamily="50" charset="-128"/>
                  </a:rPr>
                  <a:t>=0</a:t>
                </a:r>
                <a:r>
                  <a:rPr lang="ja-JP" altLang="en-US" sz="1100"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2659" name="AutoShape 19">
                <a:extLst>
                  <a:ext uri="{FF2B5EF4-FFF2-40B4-BE49-F238E27FC236}">
                    <a16:creationId xmlns:a16="http://schemas.microsoft.com/office/drawing/2014/main" id="{CCF9CE13-069C-833E-7E55-9206E9D793AF}"/>
                  </a:ext>
                </a:extLst>
              </p:cNvPr>
              <p:cNvSpPr>
                <a:spLocks noChangeArrowheads="1"/>
              </p:cNvSpPr>
              <p:nvPr/>
            </p:nvSpPr>
            <p:spPr bwMode="auto">
              <a:xfrm>
                <a:off x="1676" y="3405"/>
                <a:ext cx="728" cy="218"/>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latin typeface="MS UI Gothic" panose="020B0600070205080204" pitchFamily="50" charset="-128"/>
                    <a:ea typeface="MS UI Gothic" panose="020B0600070205080204" pitchFamily="50" charset="-128"/>
                  </a:rPr>
                  <a:t>Hiển thị </a:t>
                </a:r>
                <a:r>
                  <a:rPr lang="ja-JP" altLang="en-US" sz="1100" b="0">
                    <a:latin typeface="MS UI Gothic" panose="020B0600070205080204" pitchFamily="50" charset="-128"/>
                    <a:ea typeface="MS UI Gothic" panose="020B0600070205080204" pitchFamily="50" charset="-128"/>
                  </a:rPr>
                  <a:t>「</a:t>
                </a:r>
                <a:r>
                  <a:rPr lang="en-US" altLang="ja-JP" sz="1100" b="0">
                    <a:latin typeface="MS UI Gothic" panose="020B0600070205080204" pitchFamily="50" charset="-128"/>
                    <a:ea typeface="MS UI Gothic" panose="020B0600070205080204" pitchFamily="50" charset="-128"/>
                  </a:rPr>
                  <a:t>0</a:t>
                </a:r>
                <a:r>
                  <a:rPr lang="ja-JP" altLang="en-US" sz="1100"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2660" name="Line 20">
                <a:extLst>
                  <a:ext uri="{FF2B5EF4-FFF2-40B4-BE49-F238E27FC236}">
                    <a16:creationId xmlns:a16="http://schemas.microsoft.com/office/drawing/2014/main" id="{E73BD54A-5A33-971F-2A3B-B5BA5556A8D7}"/>
                  </a:ext>
                </a:extLst>
              </p:cNvPr>
              <p:cNvSpPr>
                <a:spLocks noChangeShapeType="1"/>
              </p:cNvSpPr>
              <p:nvPr/>
            </p:nvSpPr>
            <p:spPr bwMode="auto">
              <a:xfrm>
                <a:off x="2454" y="3111"/>
                <a:ext cx="43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2661" name="Line 21">
                <a:extLst>
                  <a:ext uri="{FF2B5EF4-FFF2-40B4-BE49-F238E27FC236}">
                    <a16:creationId xmlns:a16="http://schemas.microsoft.com/office/drawing/2014/main" id="{B50474E6-BCD4-6A19-76B9-656167C997AB}"/>
                  </a:ext>
                </a:extLst>
              </p:cNvPr>
              <p:cNvSpPr>
                <a:spLocks noChangeShapeType="1"/>
              </p:cNvSpPr>
              <p:nvPr/>
            </p:nvSpPr>
            <p:spPr bwMode="auto">
              <a:xfrm>
                <a:off x="2882" y="3105"/>
                <a:ext cx="0" cy="635"/>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2662" name="AutoShape 22">
                <a:extLst>
                  <a:ext uri="{FF2B5EF4-FFF2-40B4-BE49-F238E27FC236}">
                    <a16:creationId xmlns:a16="http://schemas.microsoft.com/office/drawing/2014/main" id="{C7527476-F165-E8CC-5A2D-65EA0824DA98}"/>
                  </a:ext>
                </a:extLst>
              </p:cNvPr>
              <p:cNvSpPr>
                <a:spLocks noChangeArrowheads="1"/>
              </p:cNvSpPr>
              <p:nvPr/>
            </p:nvSpPr>
            <p:spPr bwMode="auto">
              <a:xfrm>
                <a:off x="2516" y="3391"/>
                <a:ext cx="728" cy="219"/>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latin typeface="MS UI Gothic" panose="020B0600070205080204" pitchFamily="50" charset="-128"/>
                    <a:ea typeface="MS UI Gothic" panose="020B0600070205080204" pitchFamily="50" charset="-128"/>
                  </a:rPr>
                  <a:t>Hiển thị </a:t>
                </a:r>
                <a:r>
                  <a:rPr lang="ja-JP" altLang="en-US" sz="1100" b="0">
                    <a:latin typeface="MS UI Gothic" panose="020B0600070205080204" pitchFamily="50" charset="-128"/>
                    <a:ea typeface="MS UI Gothic" panose="020B0600070205080204" pitchFamily="50" charset="-128"/>
                  </a:rPr>
                  <a:t>「</a:t>
                </a:r>
                <a:r>
                  <a:rPr lang="en-US" altLang="ja-JP" sz="1100" b="0">
                    <a:latin typeface="MS UI Gothic" panose="020B0600070205080204" pitchFamily="50" charset="-128"/>
                    <a:ea typeface="MS UI Gothic" panose="020B0600070205080204" pitchFamily="50" charset="-128"/>
                  </a:rPr>
                  <a:t>số dương</a:t>
                </a:r>
                <a:r>
                  <a:rPr lang="ja-JP" altLang="en-US" sz="1100"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2663" name="Line 23">
                <a:extLst>
                  <a:ext uri="{FF2B5EF4-FFF2-40B4-BE49-F238E27FC236}">
                    <a16:creationId xmlns:a16="http://schemas.microsoft.com/office/drawing/2014/main" id="{505BCAF5-5A11-D55B-0FA0-06CA6FA6A918}"/>
                  </a:ext>
                </a:extLst>
              </p:cNvPr>
              <p:cNvSpPr>
                <a:spLocks noChangeShapeType="1"/>
              </p:cNvSpPr>
              <p:nvPr/>
            </p:nvSpPr>
            <p:spPr bwMode="auto">
              <a:xfrm>
                <a:off x="2047" y="3736"/>
                <a:ext cx="839"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2664" name="Text Box 24">
                <a:extLst>
                  <a:ext uri="{FF2B5EF4-FFF2-40B4-BE49-F238E27FC236}">
                    <a16:creationId xmlns:a16="http://schemas.microsoft.com/office/drawing/2014/main" id="{A19A1CA2-6D1C-C2CB-54AD-91F3069640DF}"/>
                  </a:ext>
                </a:extLst>
              </p:cNvPr>
              <p:cNvSpPr txBox="1">
                <a:spLocks noChangeArrowheads="1"/>
              </p:cNvSpPr>
              <p:nvPr/>
            </p:nvSpPr>
            <p:spPr bwMode="auto">
              <a:xfrm>
                <a:off x="2482" y="2920"/>
                <a:ext cx="239" cy="10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latin typeface="MS UI Gothic" panose="020B0600070205080204" pitchFamily="50" charset="-128"/>
                    <a:ea typeface="MS UI Gothic" panose="020B0600070205080204" pitchFamily="50" charset="-128"/>
                  </a:rPr>
                  <a:t>false</a:t>
                </a:r>
                <a:endParaRPr lang="en-US" altLang="ja-JP">
                  <a:latin typeface="MS UI Gothic" panose="020B0600070205080204" pitchFamily="50" charset="-128"/>
                  <a:ea typeface="MS UI Gothic" panose="020B0600070205080204" pitchFamily="50" charset="-128"/>
                </a:endParaRPr>
              </a:p>
            </p:txBody>
          </p:sp>
          <p:sp>
            <p:nvSpPr>
              <p:cNvPr id="752665" name="Text Box 25">
                <a:extLst>
                  <a:ext uri="{FF2B5EF4-FFF2-40B4-BE49-F238E27FC236}">
                    <a16:creationId xmlns:a16="http://schemas.microsoft.com/office/drawing/2014/main" id="{E19BE479-CCFF-5BC8-E854-E49B7ADC3D63}"/>
                  </a:ext>
                </a:extLst>
              </p:cNvPr>
              <p:cNvSpPr txBox="1">
                <a:spLocks noChangeArrowheads="1"/>
              </p:cNvSpPr>
              <p:nvPr/>
            </p:nvSpPr>
            <p:spPr bwMode="auto">
              <a:xfrm>
                <a:off x="2094" y="3232"/>
                <a:ext cx="239" cy="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latin typeface="MS UI Gothic" panose="020B0600070205080204" pitchFamily="50" charset="-128"/>
                    <a:ea typeface="MS UI Gothic" panose="020B0600070205080204" pitchFamily="50" charset="-128"/>
                  </a:rPr>
                  <a:t>true</a:t>
                </a:r>
                <a:endParaRPr lang="en-US" altLang="ja-JP">
                  <a:latin typeface="MS UI Gothic" panose="020B0600070205080204" pitchFamily="50" charset="-128"/>
                  <a:ea typeface="MS UI Gothic" panose="020B0600070205080204" pitchFamily="50" charset="-128"/>
                </a:endParaRPr>
              </a:p>
            </p:txBody>
          </p:sp>
        </p:grpSp>
      </p:gr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850" name="Rectangle 2">
            <a:extLst>
              <a:ext uri="{FF2B5EF4-FFF2-40B4-BE49-F238E27FC236}">
                <a16:creationId xmlns:a16="http://schemas.microsoft.com/office/drawing/2014/main" id="{334BEE2F-CEEE-E753-AFDC-C595FA40D65D}"/>
              </a:ext>
            </a:extLst>
          </p:cNvPr>
          <p:cNvSpPr>
            <a:spLocks noRot="1" noChangeAspect="1" noChangeArrowheads="1" noTextEdit="1"/>
          </p:cNvSpPr>
          <p:nvPr>
            <p:ph type="sldImg"/>
          </p:nvPr>
        </p:nvSpPr>
        <p:spPr>
          <a:ln/>
        </p:spPr>
      </p:sp>
      <p:sp>
        <p:nvSpPr>
          <p:cNvPr id="718851" name="Rectangle 3">
            <a:extLst>
              <a:ext uri="{FF2B5EF4-FFF2-40B4-BE49-F238E27FC236}">
                <a16:creationId xmlns:a16="http://schemas.microsoft.com/office/drawing/2014/main" id="{112FF782-5D43-7B8D-E964-5507E32A551A}"/>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Nest của câu lệnh </a:t>
            </a:r>
            <a:r>
              <a:rPr lang="en-US" altLang="ja-JP">
                <a:latin typeface="Arial" panose="020B0604020202020204" pitchFamily="34" charset="0"/>
                <a:ea typeface="ＭＳ ゴシック" panose="020B0609070205080204" pitchFamily="49" charset="-128"/>
              </a:rPr>
              <a:t>if (lồng)</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Trong block của câu lệnh </a:t>
            </a:r>
            <a:r>
              <a:rPr lang="en-US" altLang="ja-JP">
                <a:latin typeface="Arial" panose="020B0604020202020204" pitchFamily="34" charset="0"/>
                <a:ea typeface="ＭＳ ゴシック" panose="020B0609070205080204" pitchFamily="49" charset="-128"/>
              </a:rPr>
              <a:t>if, có thể viết thêm câu lệnh if</a:t>
            </a:r>
            <a:r>
              <a:rPr lang="en-US" altLang="ja-JP">
                <a:latin typeface="Arial" panose="020B0604020202020204" pitchFamily="34" charset="0"/>
              </a:rPr>
              <a:t> nữa.</a:t>
            </a:r>
          </a:p>
          <a:p>
            <a:pPr marL="0" indent="0"/>
            <a:r>
              <a:rPr lang="ja-JP" altLang="en-US">
                <a:latin typeface="Arial" panose="020B0604020202020204" pitchFamily="34" charset="0"/>
              </a:rPr>
              <a:t>　</a:t>
            </a:r>
            <a:r>
              <a:rPr lang="en-US" altLang="ja-JP">
                <a:latin typeface="Arial" panose="020B0604020202020204" pitchFamily="34" charset="0"/>
              </a:rPr>
              <a:t>Cấu tạo kiểu này được gọi là nest hoặc lồng của câu lệnh if.</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Lấy câu if dưới đây làm ví dụ về đánh giá 2 biểu thức điều kiện bằng điều kiện AND.</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p>
          <a:p>
            <a:pPr marL="0" indent="0"/>
            <a:r>
              <a:rPr lang="en-US" altLang="ja-JP">
                <a:latin typeface="Arial" panose="020B0604020202020204" pitchFamily="34" charset="0"/>
              </a:rPr>
              <a:t>Câu lệnh if viết trên có thể biểu diễn bằng cả nest của câu lệnh if sau.</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Hãy quyết định có sử dụng nest hay không tùy theo biểu diễn của design và tính dễ xem program.</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Cấu trúc của câu lệnh if sử dụng nest</a:t>
            </a:r>
          </a:p>
          <a:p>
            <a:pPr marL="0" indent="0"/>
            <a:r>
              <a:rPr lang="ja-JP" altLang="en-US">
                <a:latin typeface="Arial" panose="020B0604020202020204" pitchFamily="34" charset="0"/>
              </a:rPr>
              <a:t>　</a:t>
            </a:r>
            <a:r>
              <a:rPr lang="en-US" altLang="ja-JP">
                <a:latin typeface="Arial" panose="020B0604020202020204" pitchFamily="34" charset="0"/>
              </a:rPr>
              <a:t>Có thể nest câu lệnh if cho block của toàn bộ câu lệnh if</a:t>
            </a:r>
          </a:p>
          <a:p>
            <a:pPr marL="0" indent="0"/>
            <a:endParaRPr lang="en-US" altLang="ja-JP">
              <a:latin typeface="Arial" panose="020B0604020202020204" pitchFamily="34" charset="0"/>
            </a:endParaRPr>
          </a:p>
        </p:txBody>
      </p:sp>
      <p:sp>
        <p:nvSpPr>
          <p:cNvPr id="718852" name="Text Box 4">
            <a:extLst>
              <a:ext uri="{FF2B5EF4-FFF2-40B4-BE49-F238E27FC236}">
                <a16:creationId xmlns:a16="http://schemas.microsoft.com/office/drawing/2014/main" id="{5A1D0FFB-085B-1E2C-A7EE-82D5CC192D2E}"/>
              </a:ext>
            </a:extLst>
          </p:cNvPr>
          <p:cNvSpPr txBox="1">
            <a:spLocks noChangeArrowheads="1"/>
          </p:cNvSpPr>
          <p:nvPr/>
        </p:nvSpPr>
        <p:spPr bwMode="auto">
          <a:xfrm>
            <a:off x="746125" y="6151563"/>
            <a:ext cx="5854700" cy="55721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if (Biểu thức điều kiện </a:t>
            </a:r>
            <a:r>
              <a:rPr lang="en-US" altLang="ja-JP" b="0">
                <a:ea typeface="MS UI Gothic" panose="020B0600070205080204" pitchFamily="50" charset="-128"/>
              </a:rPr>
              <a:t>1</a:t>
            </a:r>
            <a:r>
              <a:rPr lang="en-US" altLang="ja-JP" b="0">
                <a:ea typeface="ＭＳ ゴシック" panose="020B0609070205080204" pitchFamily="49" charset="-128"/>
              </a:rPr>
              <a:t> &amp;&amp; Biểu thức điều kiện </a:t>
            </a:r>
            <a:r>
              <a:rPr lang="en-US" altLang="ja-JP" b="0">
                <a:ea typeface="MS UI Gothic" panose="020B0600070205080204" pitchFamily="50" charset="-128"/>
              </a:rPr>
              <a:t>2</a:t>
            </a:r>
            <a:r>
              <a:rPr lang="en-US" altLang="ja-JP" b="0">
                <a:ea typeface="ＭＳ ゴシック" panose="020B0609070205080204" pitchFamily="49" charset="-128"/>
              </a:rPr>
              <a:t>)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thỏa mãn cả hai biểu thức điều kiện 1, 2</a:t>
            </a:r>
          </a:p>
          <a:p>
            <a:pPr lvl="1" algn="just"/>
            <a:r>
              <a:rPr lang="en-US" altLang="ja-JP" b="0">
                <a:ea typeface="ＭＳ ゴシック" panose="020B0609070205080204" pitchFamily="49" charset="-128"/>
              </a:rPr>
              <a:t>}</a:t>
            </a:r>
          </a:p>
        </p:txBody>
      </p:sp>
      <p:sp>
        <p:nvSpPr>
          <p:cNvPr id="718854" name="Text Box 6">
            <a:extLst>
              <a:ext uri="{FF2B5EF4-FFF2-40B4-BE49-F238E27FC236}">
                <a16:creationId xmlns:a16="http://schemas.microsoft.com/office/drawing/2014/main" id="{C8C97743-33A8-D449-937A-D69D0BF36D8A}"/>
              </a:ext>
            </a:extLst>
          </p:cNvPr>
          <p:cNvSpPr txBox="1">
            <a:spLocks noChangeArrowheads="1"/>
          </p:cNvSpPr>
          <p:nvPr/>
        </p:nvSpPr>
        <p:spPr bwMode="auto">
          <a:xfrm>
            <a:off x="746125" y="7051675"/>
            <a:ext cx="5854700" cy="84931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if (Biểu thức điều kiện 1){</a:t>
            </a:r>
          </a:p>
          <a:p>
            <a:pPr lvl="1" algn="just"/>
            <a:r>
              <a:rPr lang="en-US" altLang="ja-JP" b="0">
                <a:ea typeface="ＭＳ ゴシック" panose="020B0609070205080204" pitchFamily="49" charset="-128"/>
              </a:rPr>
              <a:t>    if (Biểu thức điều kiện 2){</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thỏa mãn cả hai biểu thức điều kiện 1, 2</a:t>
            </a:r>
          </a:p>
          <a:p>
            <a:pPr lvl="1" algn="just"/>
            <a:r>
              <a:rPr lang="en-US" altLang="ja-JP" b="0">
                <a:ea typeface="ＭＳ ゴシック" panose="020B0609070205080204" pitchFamily="49" charset="-128"/>
              </a:rPr>
              <a:t>    }</a:t>
            </a:r>
          </a:p>
          <a:p>
            <a:pPr lvl="1" algn="just"/>
            <a:r>
              <a:rPr lang="en-US" altLang="ja-JP" b="0">
                <a:ea typeface="ＭＳ ゴシック" panose="020B0609070205080204" pitchFamily="49" charset="-128"/>
              </a:rPr>
              <a:t>}</a:t>
            </a:r>
          </a:p>
        </p:txBody>
      </p:sp>
      <p:sp>
        <p:nvSpPr>
          <p:cNvPr id="718862" name="Text Box 14">
            <a:extLst>
              <a:ext uri="{FF2B5EF4-FFF2-40B4-BE49-F238E27FC236}">
                <a16:creationId xmlns:a16="http://schemas.microsoft.com/office/drawing/2014/main" id="{4D7B4CD0-9885-24A3-ADBF-F280D171277F}"/>
              </a:ext>
            </a:extLst>
          </p:cNvPr>
          <p:cNvSpPr txBox="1">
            <a:spLocks noChangeArrowheads="1"/>
          </p:cNvSpPr>
          <p:nvPr/>
        </p:nvSpPr>
        <p:spPr bwMode="auto">
          <a:xfrm>
            <a:off x="719138" y="8937625"/>
            <a:ext cx="5853112" cy="89058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if (Biểu thức điều kiện){</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thỏa mãn biểu thức điều kiện	// Có thể viết câu lệnh </a:t>
            </a:r>
            <a:r>
              <a:rPr lang="en-US" altLang="ja-JP" b="0">
                <a:ea typeface="ＭＳ ゴシック" panose="020B0609070205080204" pitchFamily="49" charset="-128"/>
              </a:rPr>
              <a:t>if ở đây</a:t>
            </a:r>
            <a:endParaRPr lang="en-US" altLang="ja-JP" b="0">
              <a:ea typeface="MS UI Gothic" panose="020B0600070205080204" pitchFamily="50" charset="-128"/>
            </a:endParaRPr>
          </a:p>
          <a:p>
            <a:pPr lvl="1" algn="just"/>
            <a:r>
              <a:rPr lang="en-US" altLang="ja-JP" b="0">
                <a:ea typeface="ＭＳ ゴシック" panose="020B0609070205080204" pitchFamily="49" charset="-128"/>
              </a:rPr>
              <a:t>} else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không thỏa mãn biểu thức điều kiện	// Có thể viết câu lệnh </a:t>
            </a:r>
            <a:r>
              <a:rPr lang="en-US" altLang="ja-JP" b="0">
                <a:ea typeface="ＭＳ ゴシック" panose="020B0609070205080204" pitchFamily="49" charset="-128"/>
              </a:rPr>
              <a:t>if</a:t>
            </a:r>
            <a:endParaRPr lang="en-US" altLang="ja-JP" b="0">
              <a:ea typeface="MS UI Gothic" panose="020B0600070205080204" pitchFamily="50" charset="-128"/>
            </a:endParaRPr>
          </a:p>
          <a:p>
            <a:pPr lvl="1" algn="just"/>
            <a:r>
              <a:rPr lang="en-US" altLang="ja-JP" b="0">
                <a:ea typeface="ＭＳ ゴシック" panose="020B0609070205080204" pitchFamily="49" charset="-128"/>
              </a:rPr>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4690" name="Rectangle 2">
            <a:extLst>
              <a:ext uri="{FF2B5EF4-FFF2-40B4-BE49-F238E27FC236}">
                <a16:creationId xmlns:a16="http://schemas.microsoft.com/office/drawing/2014/main" id="{BD214154-EF0A-16E2-E5E0-566589F826D5}"/>
              </a:ext>
            </a:extLst>
          </p:cNvPr>
          <p:cNvSpPr>
            <a:spLocks noRot="1" noChangeAspect="1" noChangeArrowheads="1" noTextEdit="1"/>
          </p:cNvSpPr>
          <p:nvPr>
            <p:ph type="sldImg"/>
          </p:nvPr>
        </p:nvSpPr>
        <p:spPr>
          <a:xfrm>
            <a:off x="531813" y="835025"/>
            <a:ext cx="6024562" cy="4170363"/>
          </a:xfrm>
          <a:ln/>
        </p:spPr>
      </p:sp>
      <p:sp>
        <p:nvSpPr>
          <p:cNvPr id="754691" name="Rectangle 3">
            <a:extLst>
              <a:ext uri="{FF2B5EF4-FFF2-40B4-BE49-F238E27FC236}">
                <a16:creationId xmlns:a16="http://schemas.microsoft.com/office/drawing/2014/main" id="{F6E39E6A-0416-7244-579F-66A19D58FADA}"/>
              </a:ext>
            </a:extLst>
          </p:cNvPr>
          <p:cNvSpPr>
            <a:spLocks noGrp="1" noChangeArrowheads="1"/>
          </p:cNvSpPr>
          <p:nvPr>
            <p:ph type="body" idx="1"/>
          </p:nvPr>
        </p:nvSpPr>
        <p:spPr/>
        <p:txBody>
          <a:bodyPr/>
          <a:lstStyle/>
          <a:p>
            <a:pPr marL="0" indent="0"/>
            <a:r>
              <a:rPr lang="en-US" altLang="ja-JP"/>
              <a:t>●</a:t>
            </a:r>
            <a:r>
              <a:rPr lang="ja-JP" altLang="en-US"/>
              <a:t>　</a:t>
            </a:r>
            <a:r>
              <a:rPr lang="en-US" altLang="ja-JP"/>
              <a:t>Ví dụ</a:t>
            </a:r>
          </a:p>
        </p:txBody>
      </p:sp>
      <p:grpSp>
        <p:nvGrpSpPr>
          <p:cNvPr id="754711" name="Group 23">
            <a:extLst>
              <a:ext uri="{FF2B5EF4-FFF2-40B4-BE49-F238E27FC236}">
                <a16:creationId xmlns:a16="http://schemas.microsoft.com/office/drawing/2014/main" id="{04A1C745-3D2B-C020-EFC1-70ED894713EE}"/>
              </a:ext>
            </a:extLst>
          </p:cNvPr>
          <p:cNvGrpSpPr>
            <a:grpSpLocks/>
          </p:cNvGrpSpPr>
          <p:nvPr/>
        </p:nvGrpSpPr>
        <p:grpSpPr bwMode="auto">
          <a:xfrm>
            <a:off x="746125" y="5683250"/>
            <a:ext cx="5978525" cy="3238500"/>
            <a:chOff x="393" y="3386"/>
            <a:chExt cx="3631" cy="1990"/>
          </a:xfrm>
        </p:grpSpPr>
        <p:sp>
          <p:nvSpPr>
            <p:cNvPr id="754712" name="Rectangle 24">
              <a:extLst>
                <a:ext uri="{FF2B5EF4-FFF2-40B4-BE49-F238E27FC236}">
                  <a16:creationId xmlns:a16="http://schemas.microsoft.com/office/drawing/2014/main" id="{2E790B27-B653-D87F-030F-8182FA59B2F7}"/>
                </a:ext>
              </a:extLst>
            </p:cNvPr>
            <p:cNvSpPr>
              <a:spLocks noChangeArrowheads="1"/>
            </p:cNvSpPr>
            <p:nvPr/>
          </p:nvSpPr>
          <p:spPr bwMode="auto">
            <a:xfrm>
              <a:off x="393" y="3386"/>
              <a:ext cx="3631" cy="1990"/>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4713" name="AutoShape 25">
              <a:extLst>
                <a:ext uri="{FF2B5EF4-FFF2-40B4-BE49-F238E27FC236}">
                  <a16:creationId xmlns:a16="http://schemas.microsoft.com/office/drawing/2014/main" id="{B4E168DD-6D72-7843-7C03-1EDA1AF54347}"/>
                </a:ext>
              </a:extLst>
            </p:cNvPr>
            <p:cNvSpPr>
              <a:spLocks noChangeArrowheads="1"/>
            </p:cNvSpPr>
            <p:nvPr/>
          </p:nvSpPr>
          <p:spPr bwMode="auto">
            <a:xfrm>
              <a:off x="2204" y="3994"/>
              <a:ext cx="1760" cy="988"/>
            </a:xfrm>
            <a:prstGeom prst="flowChartProcess">
              <a:avLst/>
            </a:prstGeom>
            <a:noFill/>
            <a:ln w="19050" algn="ctr">
              <a:solidFill>
                <a:srgbClr val="3FB007"/>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ja-JP" altLang="ja-JP">
                <a:latin typeface="MS UI Gothic" panose="020B0600070205080204" pitchFamily="50" charset="-128"/>
                <a:ea typeface="MS UI Gothic" panose="020B0600070205080204" pitchFamily="50" charset="-128"/>
              </a:endParaRPr>
            </a:p>
          </p:txBody>
        </p:sp>
        <p:sp>
          <p:nvSpPr>
            <p:cNvPr id="754714" name="AutoShape 26">
              <a:extLst>
                <a:ext uri="{FF2B5EF4-FFF2-40B4-BE49-F238E27FC236}">
                  <a16:creationId xmlns:a16="http://schemas.microsoft.com/office/drawing/2014/main" id="{717E55A1-0F75-90BB-EF7E-BAE5C5F07C07}"/>
                </a:ext>
              </a:extLst>
            </p:cNvPr>
            <p:cNvSpPr>
              <a:spLocks noChangeArrowheads="1"/>
            </p:cNvSpPr>
            <p:nvPr/>
          </p:nvSpPr>
          <p:spPr bwMode="auto">
            <a:xfrm>
              <a:off x="470" y="4001"/>
              <a:ext cx="1633" cy="987"/>
            </a:xfrm>
            <a:prstGeom prst="flowChartProcess">
              <a:avLst/>
            </a:prstGeom>
            <a:noFill/>
            <a:ln w="19050" algn="ctr">
              <a:solidFill>
                <a:srgbClr val="3FB007"/>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ja-JP" altLang="ja-JP">
                <a:latin typeface="MS UI Gothic" panose="020B0600070205080204" pitchFamily="50" charset="-128"/>
                <a:ea typeface="MS UI Gothic" panose="020B0600070205080204" pitchFamily="50" charset="-128"/>
              </a:endParaRPr>
            </a:p>
          </p:txBody>
        </p:sp>
        <p:sp>
          <p:nvSpPr>
            <p:cNvPr id="754715" name="Line 27">
              <a:extLst>
                <a:ext uri="{FF2B5EF4-FFF2-40B4-BE49-F238E27FC236}">
                  <a16:creationId xmlns:a16="http://schemas.microsoft.com/office/drawing/2014/main" id="{1AC440FE-4EA3-F4A3-C40F-E46256AE77B6}"/>
                </a:ext>
              </a:extLst>
            </p:cNvPr>
            <p:cNvSpPr>
              <a:spLocks noChangeShapeType="1"/>
            </p:cNvSpPr>
            <p:nvPr/>
          </p:nvSpPr>
          <p:spPr bwMode="auto">
            <a:xfrm>
              <a:off x="903" y="3460"/>
              <a:ext cx="0" cy="1826"/>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16" name="AutoShape 28">
              <a:extLst>
                <a:ext uri="{FF2B5EF4-FFF2-40B4-BE49-F238E27FC236}">
                  <a16:creationId xmlns:a16="http://schemas.microsoft.com/office/drawing/2014/main" id="{7BBDB3B1-64EC-EC4B-0193-230EB145CAF7}"/>
                </a:ext>
              </a:extLst>
            </p:cNvPr>
            <p:cNvSpPr>
              <a:spLocks noChangeArrowheads="1"/>
            </p:cNvSpPr>
            <p:nvPr/>
          </p:nvSpPr>
          <p:spPr bwMode="auto">
            <a:xfrm>
              <a:off x="528" y="4468"/>
              <a:ext cx="774" cy="274"/>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latin typeface="MS UI Gothic" panose="020B0600070205080204" pitchFamily="50" charset="-128"/>
                  <a:ea typeface="MS UI Gothic" panose="020B0600070205080204" pitchFamily="50" charset="-128"/>
                </a:rPr>
                <a:t>Hiển thị là </a:t>
              </a:r>
              <a:r>
                <a:rPr lang="ja-JP" altLang="en-US" b="0">
                  <a:latin typeface="MS UI Gothic" panose="020B0600070205080204" pitchFamily="50" charset="-128"/>
                  <a:ea typeface="MS UI Gothic" panose="020B0600070205080204" pitchFamily="50" charset="-128"/>
                </a:rPr>
                <a:t>「</a:t>
              </a:r>
              <a:r>
                <a:rPr lang="en-US" altLang="ja-JP" b="0">
                  <a:latin typeface="MS UI Gothic" panose="020B0600070205080204" pitchFamily="50" charset="-128"/>
                  <a:ea typeface="MS UI Gothic" panose="020B0600070205080204" pitchFamily="50" charset="-128"/>
                </a:rPr>
                <a:t>Cả x và y đều &gt; 0</a:t>
              </a:r>
              <a:r>
                <a:rPr lang="ja-JP" altLang="en-US"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4717" name="Line 29">
              <a:extLst>
                <a:ext uri="{FF2B5EF4-FFF2-40B4-BE49-F238E27FC236}">
                  <a16:creationId xmlns:a16="http://schemas.microsoft.com/office/drawing/2014/main" id="{26EE8714-FAAB-4F80-F252-324341818382}"/>
                </a:ext>
              </a:extLst>
            </p:cNvPr>
            <p:cNvSpPr>
              <a:spLocks noChangeShapeType="1"/>
            </p:cNvSpPr>
            <p:nvPr/>
          </p:nvSpPr>
          <p:spPr bwMode="auto">
            <a:xfrm>
              <a:off x="1215" y="4189"/>
              <a:ext cx="668"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18" name="Line 30">
              <a:extLst>
                <a:ext uri="{FF2B5EF4-FFF2-40B4-BE49-F238E27FC236}">
                  <a16:creationId xmlns:a16="http://schemas.microsoft.com/office/drawing/2014/main" id="{5A7556ED-813A-5B4F-4F2E-6EB724A7187F}"/>
                </a:ext>
              </a:extLst>
            </p:cNvPr>
            <p:cNvSpPr>
              <a:spLocks noChangeShapeType="1"/>
            </p:cNvSpPr>
            <p:nvPr/>
          </p:nvSpPr>
          <p:spPr bwMode="auto">
            <a:xfrm>
              <a:off x="1879" y="4182"/>
              <a:ext cx="6" cy="743"/>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19" name="Line 31">
              <a:extLst>
                <a:ext uri="{FF2B5EF4-FFF2-40B4-BE49-F238E27FC236}">
                  <a16:creationId xmlns:a16="http://schemas.microsoft.com/office/drawing/2014/main" id="{3D027C18-819F-5394-EF5B-B70CCABBB75A}"/>
                </a:ext>
              </a:extLst>
            </p:cNvPr>
            <p:cNvSpPr>
              <a:spLocks noChangeShapeType="1"/>
            </p:cNvSpPr>
            <p:nvPr/>
          </p:nvSpPr>
          <p:spPr bwMode="auto">
            <a:xfrm>
              <a:off x="907" y="4919"/>
              <a:ext cx="975"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20" name="Text Box 32">
              <a:extLst>
                <a:ext uri="{FF2B5EF4-FFF2-40B4-BE49-F238E27FC236}">
                  <a16:creationId xmlns:a16="http://schemas.microsoft.com/office/drawing/2014/main" id="{49E16DFA-A821-93A4-40DB-0C4FE35E4E0E}"/>
                </a:ext>
              </a:extLst>
            </p:cNvPr>
            <p:cNvSpPr txBox="1">
              <a:spLocks noChangeArrowheads="1"/>
            </p:cNvSpPr>
            <p:nvPr/>
          </p:nvSpPr>
          <p:spPr bwMode="auto">
            <a:xfrm>
              <a:off x="740" y="4322"/>
              <a:ext cx="262" cy="11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b="0">
                  <a:latin typeface="MS UI Gothic" panose="020B0600070205080204" pitchFamily="50" charset="-128"/>
                  <a:ea typeface="MS UI Gothic" panose="020B0600070205080204" pitchFamily="50" charset="-128"/>
                </a:rPr>
                <a:t>true</a:t>
              </a:r>
              <a:endParaRPr lang="en-US" altLang="ja-JP">
                <a:latin typeface="MS UI Gothic" panose="020B0600070205080204" pitchFamily="50" charset="-128"/>
                <a:ea typeface="MS UI Gothic" panose="020B0600070205080204" pitchFamily="50" charset="-128"/>
              </a:endParaRPr>
            </a:p>
          </p:txBody>
        </p:sp>
        <p:sp>
          <p:nvSpPr>
            <p:cNvPr id="754721" name="Text Box 33">
              <a:extLst>
                <a:ext uri="{FF2B5EF4-FFF2-40B4-BE49-F238E27FC236}">
                  <a16:creationId xmlns:a16="http://schemas.microsoft.com/office/drawing/2014/main" id="{F144D79C-9689-35BB-46D5-33401A5FB999}"/>
                </a:ext>
              </a:extLst>
            </p:cNvPr>
            <p:cNvSpPr txBox="1">
              <a:spLocks noChangeArrowheads="1"/>
            </p:cNvSpPr>
            <p:nvPr/>
          </p:nvSpPr>
          <p:spPr bwMode="auto">
            <a:xfrm>
              <a:off x="1195" y="4031"/>
              <a:ext cx="262" cy="11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b="0">
                  <a:latin typeface="MS UI Gothic" panose="020B0600070205080204" pitchFamily="50" charset="-128"/>
                  <a:ea typeface="MS UI Gothic" panose="020B0600070205080204" pitchFamily="50" charset="-128"/>
                </a:rPr>
                <a:t>false</a:t>
              </a:r>
              <a:endParaRPr lang="en-US" altLang="ja-JP">
                <a:latin typeface="MS UI Gothic" panose="020B0600070205080204" pitchFamily="50" charset="-128"/>
                <a:ea typeface="MS UI Gothic" panose="020B0600070205080204" pitchFamily="50" charset="-128"/>
              </a:endParaRPr>
            </a:p>
          </p:txBody>
        </p:sp>
        <p:sp>
          <p:nvSpPr>
            <p:cNvPr id="754722" name="AutoShape 34">
              <a:extLst>
                <a:ext uri="{FF2B5EF4-FFF2-40B4-BE49-F238E27FC236}">
                  <a16:creationId xmlns:a16="http://schemas.microsoft.com/office/drawing/2014/main" id="{D0D46670-28E8-4572-0BAE-A524A3429EC4}"/>
                </a:ext>
              </a:extLst>
            </p:cNvPr>
            <p:cNvSpPr>
              <a:spLocks noChangeArrowheads="1"/>
            </p:cNvSpPr>
            <p:nvPr/>
          </p:nvSpPr>
          <p:spPr bwMode="auto">
            <a:xfrm>
              <a:off x="595" y="3558"/>
              <a:ext cx="622" cy="276"/>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ja-JP" altLang="en-US" b="0">
                  <a:latin typeface="MS UI Gothic" panose="020B0600070205080204" pitchFamily="50" charset="-128"/>
                  <a:ea typeface="MS UI Gothic" panose="020B0600070205080204" pitchFamily="50" charset="-128"/>
                </a:rPr>
                <a:t>ｘ </a:t>
              </a:r>
              <a:r>
                <a:rPr lang="en-US" altLang="ja-JP" b="0">
                  <a:latin typeface="MS UI Gothic" panose="020B0600070205080204" pitchFamily="50" charset="-128"/>
                  <a:ea typeface="MS UI Gothic" panose="020B0600070205080204" pitchFamily="50" charset="-128"/>
                </a:rPr>
                <a:t>&gt; 0</a:t>
              </a:r>
              <a:r>
                <a:rPr lang="ja-JP" altLang="en-US"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4723" name="Line 35">
              <a:extLst>
                <a:ext uri="{FF2B5EF4-FFF2-40B4-BE49-F238E27FC236}">
                  <a16:creationId xmlns:a16="http://schemas.microsoft.com/office/drawing/2014/main" id="{6F6E9A29-50AD-F915-F256-6AED5331A2AF}"/>
                </a:ext>
              </a:extLst>
            </p:cNvPr>
            <p:cNvSpPr>
              <a:spLocks noChangeShapeType="1"/>
            </p:cNvSpPr>
            <p:nvPr/>
          </p:nvSpPr>
          <p:spPr bwMode="auto">
            <a:xfrm>
              <a:off x="1216" y="3696"/>
              <a:ext cx="1448"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24" name="Line 36">
              <a:extLst>
                <a:ext uri="{FF2B5EF4-FFF2-40B4-BE49-F238E27FC236}">
                  <a16:creationId xmlns:a16="http://schemas.microsoft.com/office/drawing/2014/main" id="{05B00026-2D63-7AC8-86F9-9AF6D78A072F}"/>
                </a:ext>
              </a:extLst>
            </p:cNvPr>
            <p:cNvSpPr>
              <a:spLocks noChangeShapeType="1"/>
            </p:cNvSpPr>
            <p:nvPr/>
          </p:nvSpPr>
          <p:spPr bwMode="auto">
            <a:xfrm>
              <a:off x="926" y="5143"/>
              <a:ext cx="1744"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25" name="Text Box 37">
              <a:extLst>
                <a:ext uri="{FF2B5EF4-FFF2-40B4-BE49-F238E27FC236}">
                  <a16:creationId xmlns:a16="http://schemas.microsoft.com/office/drawing/2014/main" id="{3A8A40D7-DC98-A894-0517-B03F1E6F4372}"/>
                </a:ext>
              </a:extLst>
            </p:cNvPr>
            <p:cNvSpPr txBox="1">
              <a:spLocks noChangeArrowheads="1"/>
            </p:cNvSpPr>
            <p:nvPr/>
          </p:nvSpPr>
          <p:spPr bwMode="auto">
            <a:xfrm>
              <a:off x="740" y="3834"/>
              <a:ext cx="262" cy="11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b="0">
                  <a:latin typeface="MS UI Gothic" panose="020B0600070205080204" pitchFamily="50" charset="-128"/>
                  <a:ea typeface="MS UI Gothic" panose="020B0600070205080204" pitchFamily="50" charset="-128"/>
                </a:rPr>
                <a:t>true</a:t>
              </a:r>
              <a:endParaRPr lang="en-US" altLang="ja-JP">
                <a:latin typeface="MS UI Gothic" panose="020B0600070205080204" pitchFamily="50" charset="-128"/>
                <a:ea typeface="MS UI Gothic" panose="020B0600070205080204" pitchFamily="50" charset="-128"/>
              </a:endParaRPr>
            </a:p>
          </p:txBody>
        </p:sp>
        <p:sp>
          <p:nvSpPr>
            <p:cNvPr id="754726" name="Text Box 38">
              <a:extLst>
                <a:ext uri="{FF2B5EF4-FFF2-40B4-BE49-F238E27FC236}">
                  <a16:creationId xmlns:a16="http://schemas.microsoft.com/office/drawing/2014/main" id="{2B1D4A25-F50D-B0D4-D389-7CB5879794E9}"/>
                </a:ext>
              </a:extLst>
            </p:cNvPr>
            <p:cNvSpPr txBox="1">
              <a:spLocks noChangeArrowheads="1"/>
            </p:cNvSpPr>
            <p:nvPr/>
          </p:nvSpPr>
          <p:spPr bwMode="auto">
            <a:xfrm>
              <a:off x="1206" y="3536"/>
              <a:ext cx="262" cy="11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b="0">
                  <a:latin typeface="MS UI Gothic" panose="020B0600070205080204" pitchFamily="50" charset="-128"/>
                  <a:ea typeface="MS UI Gothic" panose="020B0600070205080204" pitchFamily="50" charset="-128"/>
                </a:rPr>
                <a:t>false</a:t>
              </a:r>
              <a:endParaRPr lang="en-US" altLang="ja-JP">
                <a:latin typeface="MS UI Gothic" panose="020B0600070205080204" pitchFamily="50" charset="-128"/>
                <a:ea typeface="MS UI Gothic" panose="020B0600070205080204" pitchFamily="50" charset="-128"/>
              </a:endParaRPr>
            </a:p>
          </p:txBody>
        </p:sp>
        <p:sp>
          <p:nvSpPr>
            <p:cNvPr id="754727" name="Line 39">
              <a:extLst>
                <a:ext uri="{FF2B5EF4-FFF2-40B4-BE49-F238E27FC236}">
                  <a16:creationId xmlns:a16="http://schemas.microsoft.com/office/drawing/2014/main" id="{AEC37B0A-4C54-4396-B964-F2D70B041EC2}"/>
                </a:ext>
              </a:extLst>
            </p:cNvPr>
            <p:cNvSpPr>
              <a:spLocks noChangeShapeType="1"/>
            </p:cNvSpPr>
            <p:nvPr/>
          </p:nvSpPr>
          <p:spPr bwMode="auto">
            <a:xfrm>
              <a:off x="2659" y="3693"/>
              <a:ext cx="7" cy="1453"/>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28" name="Line 40">
              <a:extLst>
                <a:ext uri="{FF2B5EF4-FFF2-40B4-BE49-F238E27FC236}">
                  <a16:creationId xmlns:a16="http://schemas.microsoft.com/office/drawing/2014/main" id="{7F0177A0-C2FC-71EF-3B29-6F4AA08F8BA2}"/>
                </a:ext>
              </a:extLst>
            </p:cNvPr>
            <p:cNvSpPr>
              <a:spLocks noChangeShapeType="1"/>
            </p:cNvSpPr>
            <p:nvPr/>
          </p:nvSpPr>
          <p:spPr bwMode="auto">
            <a:xfrm>
              <a:off x="2960" y="4170"/>
              <a:ext cx="575"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29" name="Line 41">
              <a:extLst>
                <a:ext uri="{FF2B5EF4-FFF2-40B4-BE49-F238E27FC236}">
                  <a16:creationId xmlns:a16="http://schemas.microsoft.com/office/drawing/2014/main" id="{382299FC-9E94-3A35-8B69-0E8D19E024A1}"/>
                </a:ext>
              </a:extLst>
            </p:cNvPr>
            <p:cNvSpPr>
              <a:spLocks noChangeShapeType="1"/>
            </p:cNvSpPr>
            <p:nvPr/>
          </p:nvSpPr>
          <p:spPr bwMode="auto">
            <a:xfrm>
              <a:off x="3532" y="4164"/>
              <a:ext cx="7" cy="731"/>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30" name="Line 42">
              <a:extLst>
                <a:ext uri="{FF2B5EF4-FFF2-40B4-BE49-F238E27FC236}">
                  <a16:creationId xmlns:a16="http://schemas.microsoft.com/office/drawing/2014/main" id="{63493F6B-53DF-1CE9-EC14-89B24AE732A7}"/>
                </a:ext>
              </a:extLst>
            </p:cNvPr>
            <p:cNvSpPr>
              <a:spLocks noChangeShapeType="1"/>
            </p:cNvSpPr>
            <p:nvPr/>
          </p:nvSpPr>
          <p:spPr bwMode="auto">
            <a:xfrm>
              <a:off x="2674" y="4890"/>
              <a:ext cx="868"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4731" name="Text Box 43">
              <a:extLst>
                <a:ext uri="{FF2B5EF4-FFF2-40B4-BE49-F238E27FC236}">
                  <a16:creationId xmlns:a16="http://schemas.microsoft.com/office/drawing/2014/main" id="{9B5D06F0-34F9-A290-8BA2-9A817A90BBFF}"/>
                </a:ext>
              </a:extLst>
            </p:cNvPr>
            <p:cNvSpPr txBox="1">
              <a:spLocks noChangeArrowheads="1"/>
            </p:cNvSpPr>
            <p:nvPr/>
          </p:nvSpPr>
          <p:spPr bwMode="auto">
            <a:xfrm>
              <a:off x="2478" y="4292"/>
              <a:ext cx="262" cy="11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b="0">
                  <a:latin typeface="MS UI Gothic" panose="020B0600070205080204" pitchFamily="50" charset="-128"/>
                  <a:ea typeface="MS UI Gothic" panose="020B0600070205080204" pitchFamily="50" charset="-128"/>
                </a:rPr>
                <a:t>true</a:t>
              </a:r>
              <a:endParaRPr lang="en-US" altLang="ja-JP">
                <a:latin typeface="MS UI Gothic" panose="020B0600070205080204" pitchFamily="50" charset="-128"/>
                <a:ea typeface="MS UI Gothic" panose="020B0600070205080204" pitchFamily="50" charset="-128"/>
              </a:endParaRPr>
            </a:p>
          </p:txBody>
        </p:sp>
        <p:sp>
          <p:nvSpPr>
            <p:cNvPr id="754732" name="Text Box 44">
              <a:extLst>
                <a:ext uri="{FF2B5EF4-FFF2-40B4-BE49-F238E27FC236}">
                  <a16:creationId xmlns:a16="http://schemas.microsoft.com/office/drawing/2014/main" id="{B1FB20EC-17C3-30E2-5AC3-2A3FFF436235}"/>
                </a:ext>
              </a:extLst>
            </p:cNvPr>
            <p:cNvSpPr txBox="1">
              <a:spLocks noChangeArrowheads="1"/>
            </p:cNvSpPr>
            <p:nvPr/>
          </p:nvSpPr>
          <p:spPr bwMode="auto">
            <a:xfrm>
              <a:off x="2928" y="3994"/>
              <a:ext cx="262" cy="11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b="0">
                  <a:latin typeface="MS UI Gothic" panose="020B0600070205080204" pitchFamily="50" charset="-128"/>
                  <a:ea typeface="MS UI Gothic" panose="020B0600070205080204" pitchFamily="50" charset="-128"/>
                </a:rPr>
                <a:t>false</a:t>
              </a:r>
              <a:endParaRPr lang="en-US" altLang="ja-JP">
                <a:latin typeface="MS UI Gothic" panose="020B0600070205080204" pitchFamily="50" charset="-128"/>
                <a:ea typeface="MS UI Gothic" panose="020B0600070205080204" pitchFamily="50" charset="-128"/>
              </a:endParaRPr>
            </a:p>
          </p:txBody>
        </p:sp>
        <p:sp>
          <p:nvSpPr>
            <p:cNvPr id="754733" name="AutoShape 45">
              <a:extLst>
                <a:ext uri="{FF2B5EF4-FFF2-40B4-BE49-F238E27FC236}">
                  <a16:creationId xmlns:a16="http://schemas.microsoft.com/office/drawing/2014/main" id="{7EF1F687-AD44-E39B-CD1F-0D48E84C986F}"/>
                </a:ext>
              </a:extLst>
            </p:cNvPr>
            <p:cNvSpPr>
              <a:spLocks noChangeArrowheads="1"/>
            </p:cNvSpPr>
            <p:nvPr/>
          </p:nvSpPr>
          <p:spPr bwMode="auto">
            <a:xfrm>
              <a:off x="593" y="4052"/>
              <a:ext cx="622" cy="276"/>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b="0">
                  <a:latin typeface="MS UI Gothic" panose="020B0600070205080204" pitchFamily="50" charset="-128"/>
                  <a:ea typeface="MS UI Gothic" panose="020B0600070205080204" pitchFamily="50" charset="-128"/>
                </a:rPr>
                <a:t>y &gt; 0</a:t>
              </a:r>
              <a:r>
                <a:rPr lang="ja-JP" altLang="en-US"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4734" name="AutoShape 46">
              <a:extLst>
                <a:ext uri="{FF2B5EF4-FFF2-40B4-BE49-F238E27FC236}">
                  <a16:creationId xmlns:a16="http://schemas.microsoft.com/office/drawing/2014/main" id="{CDB57479-DDD1-8744-DCE1-8BB1F401973B}"/>
                </a:ext>
              </a:extLst>
            </p:cNvPr>
            <p:cNvSpPr>
              <a:spLocks noChangeArrowheads="1"/>
            </p:cNvSpPr>
            <p:nvPr/>
          </p:nvSpPr>
          <p:spPr bwMode="auto">
            <a:xfrm>
              <a:off x="1344" y="4468"/>
              <a:ext cx="717" cy="274"/>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latin typeface="MS UI Gothic" panose="020B0600070205080204" pitchFamily="50" charset="-128"/>
                  <a:ea typeface="MS UI Gothic" panose="020B0600070205080204" pitchFamily="50" charset="-128"/>
                </a:rPr>
                <a:t>Hiển thị là </a:t>
              </a:r>
              <a:r>
                <a:rPr lang="ja-JP" altLang="en-US" b="0">
                  <a:latin typeface="MS UI Gothic" panose="020B0600070205080204" pitchFamily="50" charset="-128"/>
                  <a:ea typeface="MS UI Gothic" panose="020B0600070205080204" pitchFamily="50" charset="-128"/>
                </a:rPr>
                <a:t>「</a:t>
              </a:r>
              <a:r>
                <a:rPr lang="en-US" altLang="ja-JP" b="0">
                  <a:latin typeface="MS UI Gothic" panose="020B0600070205080204" pitchFamily="50" charset="-128"/>
                  <a:ea typeface="MS UI Gothic" panose="020B0600070205080204" pitchFamily="50" charset="-128"/>
                </a:rPr>
                <a:t>x &gt; 0, </a:t>
              </a:r>
              <a:br>
                <a:rPr lang="en-US" altLang="ja-JP" b="0">
                  <a:latin typeface="MS UI Gothic" panose="020B0600070205080204" pitchFamily="50" charset="-128"/>
                  <a:ea typeface="MS UI Gothic" panose="020B0600070205080204" pitchFamily="50" charset="-128"/>
                </a:rPr>
              </a:br>
              <a:r>
                <a:rPr lang="en-US" altLang="ja-JP" b="0">
                  <a:latin typeface="MS UI Gothic" panose="020B0600070205080204" pitchFamily="50" charset="-128"/>
                  <a:ea typeface="MS UI Gothic" panose="020B0600070205080204" pitchFamily="50" charset="-128"/>
                </a:rPr>
                <a:t>y &lt;= 0</a:t>
              </a:r>
              <a:r>
                <a:rPr lang="ja-JP" altLang="en-US"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4735" name="AutoShape 47">
              <a:extLst>
                <a:ext uri="{FF2B5EF4-FFF2-40B4-BE49-F238E27FC236}">
                  <a16:creationId xmlns:a16="http://schemas.microsoft.com/office/drawing/2014/main" id="{42131192-6291-B443-3BA1-2A2CEA4728CB}"/>
                </a:ext>
              </a:extLst>
            </p:cNvPr>
            <p:cNvSpPr>
              <a:spLocks noChangeArrowheads="1"/>
            </p:cNvSpPr>
            <p:nvPr/>
          </p:nvSpPr>
          <p:spPr bwMode="auto">
            <a:xfrm>
              <a:off x="2348" y="4033"/>
              <a:ext cx="622" cy="276"/>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b="0">
                  <a:latin typeface="MS UI Gothic" panose="020B0600070205080204" pitchFamily="50" charset="-128"/>
                  <a:ea typeface="MS UI Gothic" panose="020B0600070205080204" pitchFamily="50" charset="-128"/>
                </a:rPr>
                <a:t>y &gt; 0</a:t>
              </a:r>
              <a:r>
                <a:rPr lang="ja-JP" altLang="en-US"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4736" name="AutoShape 48">
              <a:extLst>
                <a:ext uri="{FF2B5EF4-FFF2-40B4-BE49-F238E27FC236}">
                  <a16:creationId xmlns:a16="http://schemas.microsoft.com/office/drawing/2014/main" id="{749AAE2F-2610-3FAC-7DCB-9F7E80E3433B}"/>
                </a:ext>
              </a:extLst>
            </p:cNvPr>
            <p:cNvSpPr>
              <a:spLocks noChangeArrowheads="1"/>
            </p:cNvSpPr>
            <p:nvPr/>
          </p:nvSpPr>
          <p:spPr bwMode="auto">
            <a:xfrm>
              <a:off x="2301" y="4456"/>
              <a:ext cx="749" cy="274"/>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latin typeface="MS UI Gothic" panose="020B0600070205080204" pitchFamily="50" charset="-128"/>
                  <a:ea typeface="MS UI Gothic" panose="020B0600070205080204" pitchFamily="50" charset="-128"/>
                </a:rPr>
                <a:t>Hiển thị là </a:t>
              </a:r>
              <a:r>
                <a:rPr lang="ja-JP" altLang="en-US" b="0">
                  <a:latin typeface="MS UI Gothic" panose="020B0600070205080204" pitchFamily="50" charset="-128"/>
                  <a:ea typeface="MS UI Gothic" panose="020B0600070205080204" pitchFamily="50" charset="-128"/>
                </a:rPr>
                <a:t>「</a:t>
              </a:r>
              <a:r>
                <a:rPr lang="en-US" altLang="ja-JP" b="0">
                  <a:latin typeface="MS UI Gothic" panose="020B0600070205080204" pitchFamily="50" charset="-128"/>
                  <a:ea typeface="MS UI Gothic" panose="020B0600070205080204" pitchFamily="50" charset="-128"/>
                </a:rPr>
                <a:t>x &lt;= 0, </a:t>
              </a:r>
              <a:br>
                <a:rPr lang="en-US" altLang="ja-JP" b="0">
                  <a:latin typeface="MS UI Gothic" panose="020B0600070205080204" pitchFamily="50" charset="-128"/>
                  <a:ea typeface="MS UI Gothic" panose="020B0600070205080204" pitchFamily="50" charset="-128"/>
                </a:rPr>
              </a:br>
              <a:r>
                <a:rPr lang="en-US" altLang="ja-JP" b="0">
                  <a:latin typeface="MS UI Gothic" panose="020B0600070205080204" pitchFamily="50" charset="-128"/>
                  <a:ea typeface="MS UI Gothic" panose="020B0600070205080204" pitchFamily="50" charset="-128"/>
                </a:rPr>
                <a:t>y &gt; 0</a:t>
              </a:r>
              <a:r>
                <a:rPr lang="ja-JP" altLang="en-US"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sp>
          <p:nvSpPr>
            <p:cNvPr id="754737" name="AutoShape 49">
              <a:extLst>
                <a:ext uri="{FF2B5EF4-FFF2-40B4-BE49-F238E27FC236}">
                  <a16:creationId xmlns:a16="http://schemas.microsoft.com/office/drawing/2014/main" id="{245B04B7-F614-645D-E2AA-8BB0146F95B1}"/>
                </a:ext>
              </a:extLst>
            </p:cNvPr>
            <p:cNvSpPr>
              <a:spLocks noChangeArrowheads="1"/>
            </p:cNvSpPr>
            <p:nvPr/>
          </p:nvSpPr>
          <p:spPr bwMode="auto">
            <a:xfrm>
              <a:off x="3243" y="4462"/>
              <a:ext cx="649" cy="274"/>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latin typeface="MS UI Gothic" panose="020B0600070205080204" pitchFamily="50" charset="-128"/>
                  <a:ea typeface="MS UI Gothic" panose="020B0600070205080204" pitchFamily="50" charset="-128"/>
                </a:rPr>
                <a:t>Hiển thị là </a:t>
              </a:r>
              <a:r>
                <a:rPr lang="ja-JP" altLang="en-US" b="0">
                  <a:latin typeface="MS UI Gothic" panose="020B0600070205080204" pitchFamily="50" charset="-128"/>
                  <a:ea typeface="MS UI Gothic" panose="020B0600070205080204" pitchFamily="50" charset="-128"/>
                </a:rPr>
                <a:t>「</a:t>
              </a:r>
              <a:r>
                <a:rPr lang="en-US" altLang="ja-JP" b="0">
                  <a:latin typeface="MS UI Gothic" panose="020B0600070205080204" pitchFamily="50" charset="-128"/>
                  <a:ea typeface="MS UI Gothic" panose="020B0600070205080204" pitchFamily="50" charset="-128"/>
                </a:rPr>
                <a:t>cả x và y đều &lt;= 0</a:t>
              </a:r>
              <a:r>
                <a:rPr lang="ja-JP" altLang="en-US" b="0">
                  <a:latin typeface="MS UI Gothic" panose="020B0600070205080204" pitchFamily="50" charset="-128"/>
                  <a:ea typeface="MS UI Gothic" panose="020B0600070205080204" pitchFamily="50" charset="-128"/>
                </a:rPr>
                <a:t>」</a:t>
              </a:r>
              <a:endParaRPr lang="ja-JP" altLang="en-US">
                <a:latin typeface="MS UI Gothic" panose="020B0600070205080204" pitchFamily="50" charset="-128"/>
                <a:ea typeface="MS UI Gothic" panose="020B0600070205080204" pitchFamily="50" charset="-128"/>
              </a:endParaRPr>
            </a:p>
          </p:txBody>
        </p:sp>
      </p:gr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42" name="Rectangle 2">
            <a:extLst>
              <a:ext uri="{FF2B5EF4-FFF2-40B4-BE49-F238E27FC236}">
                <a16:creationId xmlns:a16="http://schemas.microsoft.com/office/drawing/2014/main" id="{EB6C29DE-C9C3-5AEB-3D63-31B3F5BC3126}"/>
              </a:ext>
            </a:extLst>
          </p:cNvPr>
          <p:cNvSpPr>
            <a:spLocks noRot="1" noChangeAspect="1" noChangeArrowheads="1" noTextEdit="1"/>
          </p:cNvSpPr>
          <p:nvPr>
            <p:ph type="sldImg"/>
          </p:nvPr>
        </p:nvSpPr>
        <p:spPr>
          <a:ln/>
        </p:spPr>
      </p:sp>
      <p:sp>
        <p:nvSpPr>
          <p:cNvPr id="727043" name="Rectangle 3">
            <a:extLst>
              <a:ext uri="{FF2B5EF4-FFF2-40B4-BE49-F238E27FC236}">
                <a16:creationId xmlns:a16="http://schemas.microsoft.com/office/drawing/2014/main" id="{76B304AE-39A4-4A01-11DD-8A5FF143CFBF}"/>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switch</a:t>
            </a:r>
            <a:r>
              <a:rPr lang="en-US" altLang="ja-JP">
                <a:latin typeface="Arial" panose="020B0604020202020204" pitchFamily="34" charset="0"/>
              </a:rPr>
              <a:t> là:</a:t>
            </a:r>
          </a:p>
          <a:p>
            <a:pPr marL="0" indent="0"/>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switch sử dụng trong trường hợp phân nhánh chu trình xử lý thành nhiều nhánh tùy theo kết quả đánh giá của 1 biểu thức điều kiện.</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Biểu thức điều kiện có thể chỉ định giá trị hoặc biểu thức muốn đánh giá, nhưng trường hợp có nhiều  thì sẽ sử dụng câu lệnh switch trong trường hợp muốn phân nhánh xử lý đối với</a:t>
            </a:r>
            <a:r>
              <a:rPr lang="ja-JP" altLang="en-US">
                <a:latin typeface="Arial" panose="020B0604020202020204" pitchFamily="34" charset="0"/>
              </a:rPr>
              <a:t>「</a:t>
            </a:r>
            <a:r>
              <a:rPr lang="en-US" altLang="ja-JP">
                <a:latin typeface="Arial" panose="020B0604020202020204" pitchFamily="34" charset="0"/>
              </a:rPr>
              <a:t>giá trị của một biến số nào đó</a:t>
            </a:r>
            <a:r>
              <a:rPr lang="ja-JP" altLang="en-US">
                <a:latin typeface="Arial" panose="020B0604020202020204" pitchFamily="34" charset="0"/>
              </a:rPr>
              <a:t>」</a:t>
            </a:r>
          </a:p>
          <a:p>
            <a:pPr marL="0" indent="0"/>
            <a:endParaRPr lang="en-US" altLang="ja-JP">
              <a:latin typeface="Arial" panose="020B0604020202020204" pitchFamily="34" charset="0"/>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4994" name="Rectangle 2">
            <a:extLst>
              <a:ext uri="{FF2B5EF4-FFF2-40B4-BE49-F238E27FC236}">
                <a16:creationId xmlns:a16="http://schemas.microsoft.com/office/drawing/2014/main" id="{5BC80FE1-872A-610D-22F7-EE381A332E48}"/>
              </a:ext>
            </a:extLst>
          </p:cNvPr>
          <p:cNvSpPr>
            <a:spLocks noRot="1" noChangeAspect="1" noChangeArrowheads="1" noTextEdit="1"/>
          </p:cNvSpPr>
          <p:nvPr>
            <p:ph type="sldImg"/>
          </p:nvPr>
        </p:nvSpPr>
        <p:spPr>
          <a:ln/>
        </p:spPr>
      </p:sp>
      <p:sp>
        <p:nvSpPr>
          <p:cNvPr id="724995" name="Rectangle 3">
            <a:extLst>
              <a:ext uri="{FF2B5EF4-FFF2-40B4-BE49-F238E27FC236}">
                <a16:creationId xmlns:a16="http://schemas.microsoft.com/office/drawing/2014/main" id="{8F43021D-4160-0073-3B31-F2709CADA2BF}"/>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switch chứa câu lệnh </a:t>
            </a:r>
            <a:r>
              <a:rPr lang="en-US" altLang="ja-JP">
                <a:latin typeface="Arial" panose="020B0604020202020204" pitchFamily="34" charset="0"/>
                <a:ea typeface="ＭＳ ゴシック" panose="020B0609070205080204" pitchFamily="49" charset="-128"/>
              </a:rPr>
              <a:t>break</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Trong câu lệnh </a:t>
            </a:r>
            <a:r>
              <a:rPr lang="en-US" altLang="ja-JP">
                <a:latin typeface="Arial" panose="020B0604020202020204" pitchFamily="34" charset="0"/>
                <a:ea typeface="ＭＳ ゴシック" panose="020B0609070205080204" pitchFamily="49" charset="-128"/>
              </a:rPr>
              <a:t>switch có thể phân nhánh xử lý ứng với giá trị kết quả đánh giá của biểu thức.</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Thông thường sẽ sử dụng kết hợp với câu lệnh break.</a:t>
            </a:r>
          </a:p>
          <a:p>
            <a:pPr marL="0" indent="0"/>
            <a:r>
              <a:rPr lang="ja-JP" altLang="en-US">
                <a:latin typeface="Arial" panose="020B0604020202020204" pitchFamily="34" charset="0"/>
              </a:rPr>
              <a:t>　</a:t>
            </a:r>
            <a:r>
              <a:rPr lang="en-US" altLang="ja-JP">
                <a:latin typeface="Arial" panose="020B0604020202020204" pitchFamily="34" charset="0"/>
              </a:rPr>
              <a:t>Thực hiện xử lý </a:t>
            </a:r>
            <a:r>
              <a:rPr lang="ja-JP" altLang="en-US">
                <a:latin typeface="Arial" panose="020B0604020202020204" pitchFamily="34" charset="0"/>
              </a:rPr>
              <a:t>「</a:t>
            </a:r>
            <a:r>
              <a:rPr lang="en-US" altLang="ja-JP">
                <a:latin typeface="Arial" panose="020B0604020202020204" pitchFamily="34" charset="0"/>
                <a:ea typeface="ＭＳ ゴシック" panose="020B0609070205080204" pitchFamily="49" charset="-128"/>
              </a:rPr>
              <a:t>case</a:t>
            </a:r>
            <a:r>
              <a:rPr lang="en-US" altLang="ja-JP">
                <a:latin typeface="Arial" panose="020B0604020202020204" pitchFamily="34" charset="0"/>
              </a:rPr>
              <a:t> biểu thức hằng số </a:t>
            </a:r>
            <a:r>
              <a:rPr lang="en-US" altLang="ja-JP">
                <a:latin typeface="Arial" panose="020B0604020202020204" pitchFamily="34" charset="0"/>
                <a:ea typeface="ＭＳ ゴシック" panose="020B0609070205080204" pitchFamily="49" charset="-128"/>
              </a:rPr>
              <a:t>:</a:t>
            </a:r>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rPr>
              <a:t>dưới</a:t>
            </a:r>
            <a:r>
              <a:rPr lang="en-US" altLang="ja-JP">
                <a:latin typeface="Arial" panose="020B0604020202020204" pitchFamily="34" charset="0"/>
                <a:ea typeface="ＭＳ ゴシック" panose="020B0609070205080204" pitchFamily="49" charset="-128"/>
              </a:rPr>
              <a:t> đây thỏa mãn điều kiện.</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Trường hợp chỉ thực hiện xử lý trong các </a:t>
            </a:r>
            <a:r>
              <a:rPr lang="en-US" altLang="ja-JP">
                <a:latin typeface="Arial" panose="020B0604020202020204" pitchFamily="34" charset="0"/>
                <a:ea typeface="ＭＳ ゴシック" panose="020B0609070205080204" pitchFamily="49" charset="-128"/>
              </a:rPr>
              <a:t>case thì sẽ để câu lệnh break ở cuối của các xử lý case.</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【Tham khảo】</a:t>
            </a:r>
            <a:r>
              <a:rPr lang="ja-JP" altLang="en-US">
                <a:latin typeface="Arial" panose="020B0604020202020204" pitchFamily="34" charset="0"/>
              </a:rPr>
              <a:t>　</a:t>
            </a:r>
            <a:r>
              <a:rPr lang="en-US" altLang="ja-JP">
                <a:latin typeface="Arial" panose="020B0604020202020204" pitchFamily="34" charset="0"/>
              </a:rPr>
              <a:t>Biểu thức hằng số</a:t>
            </a:r>
            <a:r>
              <a:rPr lang="en-US" altLang="ja-JP">
                <a:latin typeface="Arial" panose="020B0604020202020204" pitchFamily="34" charset="0"/>
                <a:ea typeface="ＭＳ ゴシック" panose="020B0609070205080204" pitchFamily="49" charset="-128"/>
              </a:rPr>
              <a:t>:</a:t>
            </a:r>
          </a:p>
          <a:p>
            <a:pPr marL="0" indent="0"/>
            <a:r>
              <a:rPr lang="ja-JP" altLang="en-US">
                <a:latin typeface="Arial" panose="020B0604020202020204" pitchFamily="34" charset="0"/>
              </a:rPr>
              <a:t>　「：」</a:t>
            </a:r>
            <a:r>
              <a:rPr lang="en-US" altLang="ja-JP">
                <a:latin typeface="Arial" panose="020B0604020202020204" pitchFamily="34" charset="0"/>
              </a:rPr>
              <a:t>là ký hiệu dùng khi chỉ định label. Trường hợp có label trong câu thì sẽ chỉ định là</a:t>
            </a:r>
            <a:r>
              <a:rPr lang="ja-JP" altLang="en-US">
                <a:latin typeface="Arial" panose="020B0604020202020204" pitchFamily="34" charset="0"/>
              </a:rPr>
              <a:t>「</a:t>
            </a:r>
            <a:r>
              <a:rPr lang="en-US" altLang="ja-JP">
                <a:latin typeface="Arial" panose="020B0604020202020204" pitchFamily="34" charset="0"/>
              </a:rPr>
              <a:t>Label name</a:t>
            </a:r>
            <a:r>
              <a:rPr lang="en-US" altLang="ja-JP">
                <a:latin typeface="Arial" panose="020B0604020202020204" pitchFamily="34" charset="0"/>
                <a:ea typeface="ＭＳ ゴシック" panose="020B0609070205080204" pitchFamily="49" charset="-128"/>
              </a:rPr>
              <a:t>:</a:t>
            </a:r>
            <a:r>
              <a:rPr lang="ja-JP" altLang="en-US">
                <a:latin typeface="Arial" panose="020B0604020202020204" pitchFamily="34" charset="0"/>
              </a:rPr>
              <a:t>」</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Label là dấu hiệu để chỉ định dòng của program.</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 cơ bản</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【Tham khảo】</a:t>
            </a:r>
            <a:r>
              <a:rPr lang="ja-JP" altLang="en-US">
                <a:latin typeface="Arial" panose="020B0604020202020204" pitchFamily="34" charset="0"/>
              </a:rPr>
              <a:t>「</a:t>
            </a:r>
            <a:r>
              <a:rPr lang="en-US" altLang="ja-JP">
                <a:latin typeface="Arial" panose="020B0604020202020204" pitchFamily="34" charset="0"/>
              </a:rPr>
              <a:t>Giá trị hoặc biểu thức muốn đánh giá</a:t>
            </a:r>
            <a:r>
              <a:rPr lang="ja-JP" altLang="en-US">
                <a:latin typeface="Arial" panose="020B0604020202020204" pitchFamily="34" charset="0"/>
              </a:rPr>
              <a:t>」</a:t>
            </a:r>
            <a:r>
              <a:rPr lang="en-US" altLang="ja-JP">
                <a:latin typeface="Arial" panose="020B0604020202020204" pitchFamily="34" charset="0"/>
              </a:rPr>
              <a:t>của câu lệnh </a:t>
            </a:r>
            <a:r>
              <a:rPr lang="en-US" altLang="ja-JP">
                <a:latin typeface="Arial" panose="020B0604020202020204" pitchFamily="34" charset="0"/>
                <a:ea typeface="ＭＳ ゴシック" panose="020B0609070205080204" pitchFamily="49" charset="-128"/>
              </a:rPr>
              <a:t>switch</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Chỉ định data mà kiểu có thể convert ngầm thành kiểu int.</a:t>
            </a:r>
          </a:p>
          <a:p>
            <a:pPr marL="0" indent="0"/>
            <a:r>
              <a:rPr lang="ja-JP" altLang="en-US">
                <a:latin typeface="Arial" panose="020B0604020202020204" pitchFamily="34" charset="0"/>
              </a:rPr>
              <a:t>　</a:t>
            </a:r>
            <a:r>
              <a:rPr lang="en-US" altLang="ja-JP">
                <a:latin typeface="Arial" panose="020B0604020202020204" pitchFamily="34" charset="0"/>
              </a:rPr>
              <a:t>Về nguyên tắc sẽ là những data có kiểu là một trong các kiểu </a:t>
            </a:r>
            <a:r>
              <a:rPr lang="en-US" altLang="ja-JP">
                <a:latin typeface="Arial" panose="020B0604020202020204" pitchFamily="34" charset="0"/>
                <a:ea typeface="ＭＳ ゴシック" panose="020B0609070205080204" pitchFamily="49" charset="-128"/>
              </a:rPr>
              <a:t>byte, short, int, char.</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Những data có kiểu khác sẽ bị compile error.</a:t>
            </a:r>
          </a:p>
          <a:p>
            <a:pPr marL="0" indent="0"/>
            <a:r>
              <a:rPr lang="ja-JP" altLang="en-US">
                <a:latin typeface="Arial" panose="020B0604020202020204" pitchFamily="34" charset="0"/>
              </a:rPr>
              <a:t>　</a:t>
            </a:r>
            <a:r>
              <a:rPr lang="en-US" altLang="ja-JP">
                <a:latin typeface="Arial" panose="020B0604020202020204" pitchFamily="34" charset="0"/>
              </a:rPr>
              <a:t>(Từ Java SE5.0 đã có thể sử dụng wrapper class của kiểu liệt kê và kiểu data cơ bản trên.</a:t>
            </a:r>
          </a:p>
          <a:p>
            <a:pPr marL="0" indent="0"/>
            <a:r>
              <a:rPr lang="ja-JP" altLang="en-US">
                <a:latin typeface="Arial" panose="020B0604020202020204" pitchFamily="34" charset="0"/>
              </a:rPr>
              <a:t>　　</a:t>
            </a:r>
            <a:r>
              <a:rPr lang="en-US" altLang="ja-JP">
                <a:latin typeface="Arial" panose="020B0604020202020204" pitchFamily="34" charset="0"/>
              </a:rPr>
              <a:t>Chi tiết hãy tham khảo tài liệu Java SE…) </a:t>
            </a:r>
          </a:p>
          <a:p>
            <a:pPr marL="0" indent="0"/>
            <a:endParaRPr lang="en-US" altLang="ja-JP">
              <a:latin typeface="Arial" panose="020B0604020202020204" pitchFamily="34" charset="0"/>
            </a:endParaRPr>
          </a:p>
        </p:txBody>
      </p:sp>
      <p:sp>
        <p:nvSpPr>
          <p:cNvPr id="724996" name="Text Box 4">
            <a:extLst>
              <a:ext uri="{FF2B5EF4-FFF2-40B4-BE49-F238E27FC236}">
                <a16:creationId xmlns:a16="http://schemas.microsoft.com/office/drawing/2014/main" id="{3CB6D353-030B-4C52-9685-383C2ED3E230}"/>
              </a:ext>
            </a:extLst>
          </p:cNvPr>
          <p:cNvSpPr txBox="1">
            <a:spLocks noChangeArrowheads="1"/>
          </p:cNvSpPr>
          <p:nvPr/>
        </p:nvSpPr>
        <p:spPr bwMode="auto">
          <a:xfrm>
            <a:off x="746125" y="7178675"/>
            <a:ext cx="5854700" cy="17589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switch (Giá trị hoặc biểu thức muốn đánh giá) {</a:t>
            </a:r>
          </a:p>
          <a:p>
            <a:pPr lvl="1" algn="just"/>
            <a:r>
              <a:rPr lang="en-US" altLang="ja-JP" b="0">
                <a:ea typeface="ＭＳ ゴシック" panose="020B0609070205080204" pitchFamily="49" charset="-128"/>
              </a:rPr>
              <a:t>    case </a:t>
            </a:r>
            <a:r>
              <a:rPr lang="en-US" altLang="ja-JP" b="0">
                <a:ea typeface="MS UI Gothic" panose="020B0600070205080204" pitchFamily="50" charset="-128"/>
              </a:rPr>
              <a:t>Biểu thức hằng số 1</a:t>
            </a:r>
            <a:r>
              <a:rPr lang="en-US" altLang="ja-JP" b="0">
                <a:ea typeface="ＭＳ ゴシック" panose="020B0609070205080204" pitchFamily="49" charset="-128"/>
              </a:rPr>
              <a:t>:</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giá trị hoặc biểu thức muốn đánh giá bằng biểu thức hằng số 1</a:t>
            </a:r>
          </a:p>
          <a:p>
            <a:pPr lvl="1" algn="just"/>
            <a:r>
              <a:rPr lang="en-US" altLang="ja-JP" b="0">
                <a:ea typeface="ＭＳ ゴシック" panose="020B0609070205080204" pitchFamily="49" charset="-128"/>
              </a:rPr>
              <a:t>        break;</a:t>
            </a:r>
          </a:p>
          <a:p>
            <a:pPr lvl="1" algn="just"/>
            <a:r>
              <a:rPr lang="en-US" altLang="ja-JP" b="0">
                <a:ea typeface="ＭＳ ゴシック" panose="020B0609070205080204" pitchFamily="49" charset="-128"/>
              </a:rPr>
              <a:t>	 </a:t>
            </a:r>
            <a:r>
              <a:rPr lang="ja-JP" altLang="en-US" b="0">
                <a:ea typeface="ＭＳ ゴシック" panose="020B0609070205080204" pitchFamily="49" charset="-128"/>
              </a:rPr>
              <a:t>：</a:t>
            </a:r>
          </a:p>
          <a:p>
            <a:pPr lvl="1" algn="just"/>
            <a:r>
              <a:rPr lang="ja-JP" altLang="en-US" b="0">
                <a:ea typeface="ＭＳ ゴシック" panose="020B0609070205080204" pitchFamily="49" charset="-128"/>
              </a:rPr>
              <a:t>    </a:t>
            </a:r>
            <a:r>
              <a:rPr lang="en-US" altLang="ja-JP" b="0">
                <a:ea typeface="ＭＳ ゴシック" panose="020B0609070205080204" pitchFamily="49" charset="-128"/>
              </a:rPr>
              <a:t>case </a:t>
            </a:r>
            <a:r>
              <a:rPr lang="en-US" altLang="ja-JP" b="0">
                <a:ea typeface="MS UI Gothic" panose="020B0600070205080204" pitchFamily="50" charset="-128"/>
              </a:rPr>
              <a:t>Biểu thức hằng số n:</a:t>
            </a:r>
            <a:endParaRPr lang="en-US" altLang="ja-JP" b="0">
              <a:ea typeface="ＭＳ ゴシック" panose="020B0609070205080204" pitchFamily="49" charset="-128"/>
            </a:endParaRP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giá trị hoặc biểu thức muốn đánh giá bằng biểu thức hằng số n</a:t>
            </a:r>
          </a:p>
          <a:p>
            <a:pPr lvl="1" algn="just"/>
            <a:r>
              <a:rPr lang="en-US" altLang="ja-JP" b="0">
                <a:ea typeface="ＭＳ ゴシック" panose="020B0609070205080204" pitchFamily="49" charset="-128"/>
              </a:rPr>
              <a:t>        break;</a:t>
            </a:r>
          </a:p>
          <a:p>
            <a:pPr lvl="1" algn="just"/>
            <a:r>
              <a:rPr lang="en-US" altLang="ja-JP" b="0">
                <a:ea typeface="ＭＳ ゴシック" panose="020B0609070205080204" pitchFamily="49" charset="-128"/>
              </a:rPr>
              <a:t>    default:</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không khớp với toàn bộ case</a:t>
            </a:r>
          </a:p>
          <a:p>
            <a:pPr lvl="1" algn="just"/>
            <a:r>
              <a:rPr lang="en-US" altLang="ja-JP" b="0">
                <a:ea typeface="ＭＳ ゴシック" panose="020B0609070205080204" pitchFamily="49" charset="-128"/>
              </a:rPr>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1138" name="Rectangle 2">
            <a:extLst>
              <a:ext uri="{FF2B5EF4-FFF2-40B4-BE49-F238E27FC236}">
                <a16:creationId xmlns:a16="http://schemas.microsoft.com/office/drawing/2014/main" id="{10FEF062-82B4-1BC1-53F9-A0F495A431B7}"/>
              </a:ext>
            </a:extLst>
          </p:cNvPr>
          <p:cNvSpPr>
            <a:spLocks noRot="1" noChangeAspect="1" noChangeArrowheads="1" noTextEdit="1"/>
          </p:cNvSpPr>
          <p:nvPr>
            <p:ph type="sldImg"/>
          </p:nvPr>
        </p:nvSpPr>
        <p:spPr>
          <a:ln/>
        </p:spPr>
      </p:sp>
      <p:sp>
        <p:nvSpPr>
          <p:cNvPr id="731139" name="Rectangle 3">
            <a:extLst>
              <a:ext uri="{FF2B5EF4-FFF2-40B4-BE49-F238E27FC236}">
                <a16:creationId xmlns:a16="http://schemas.microsoft.com/office/drawing/2014/main" id="{7774EED2-3109-E703-C58C-C47B8307C9E4}"/>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switch</a:t>
            </a:r>
            <a:r>
              <a:rPr lang="en-US" altLang="ja-JP">
                <a:latin typeface="Arial" panose="020B0604020202020204" pitchFamily="34" charset="0"/>
              </a:rPr>
              <a:t> không chứa câu lệnh </a:t>
            </a:r>
            <a:r>
              <a:rPr lang="en-US" altLang="ja-JP">
                <a:latin typeface="Arial" panose="020B0604020202020204" pitchFamily="34" charset="0"/>
                <a:ea typeface="ＭＳ ゴシック" panose="020B0609070205080204" pitchFamily="49" charset="-128"/>
              </a:rPr>
              <a:t>break</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Trường hợp thỏa mãn điều kiện nào đó thì sẽ thực hiện cả xử lý của case phía sau đó vô điều kiện.</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p>
          <a:p>
            <a:pPr marL="0" indent="0"/>
            <a:endParaRPr lang="en-US" altLang="ja-JP">
              <a:latin typeface="Arial" panose="020B0604020202020204" pitchFamily="34" charset="0"/>
            </a:endParaRPr>
          </a:p>
        </p:txBody>
      </p:sp>
      <p:sp>
        <p:nvSpPr>
          <p:cNvPr id="731149" name="Text Box 13">
            <a:extLst>
              <a:ext uri="{FF2B5EF4-FFF2-40B4-BE49-F238E27FC236}">
                <a16:creationId xmlns:a16="http://schemas.microsoft.com/office/drawing/2014/main" id="{452884FB-C976-F0F5-6DA7-A4831AB1F2D7}"/>
              </a:ext>
            </a:extLst>
          </p:cNvPr>
          <p:cNvSpPr txBox="1">
            <a:spLocks noChangeArrowheads="1"/>
          </p:cNvSpPr>
          <p:nvPr/>
        </p:nvSpPr>
        <p:spPr bwMode="auto">
          <a:xfrm>
            <a:off x="746125" y="6064250"/>
            <a:ext cx="6010275" cy="15589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38" tIns="20478" rIns="10238" bIns="10238"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3200"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switch (Giá trị hoặc biểu thức muốn đánh giá) {</a:t>
            </a:r>
          </a:p>
          <a:p>
            <a:pPr lvl="1" algn="just"/>
            <a:r>
              <a:rPr lang="en-US" altLang="ja-JP" b="0">
                <a:ea typeface="ＭＳ ゴシック" panose="020B0609070205080204" pitchFamily="49" charset="-128"/>
              </a:rPr>
              <a:t>    case </a:t>
            </a:r>
            <a:r>
              <a:rPr lang="en-US" altLang="ja-JP" b="0">
                <a:ea typeface="MS UI Gothic" panose="020B0600070205080204" pitchFamily="50" charset="-128"/>
              </a:rPr>
              <a:t>Biểu thức hằng số 1</a:t>
            </a:r>
            <a:r>
              <a:rPr lang="en-US" altLang="ja-JP" b="0">
                <a:ea typeface="ＭＳ ゴシック" panose="020B0609070205080204" pitchFamily="49" charset="-128"/>
              </a:rPr>
              <a:t>:</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giá trị hoặc biểu thức muốn đánh giá bằng biểu thức hằng số 1</a:t>
            </a:r>
          </a:p>
          <a:p>
            <a:pPr lvl="1" algn="just"/>
            <a:r>
              <a:rPr lang="en-US" altLang="ja-JP" b="0">
                <a:ea typeface="ＭＳ ゴシック" panose="020B0609070205080204" pitchFamily="49" charset="-128"/>
              </a:rPr>
              <a:t>           </a:t>
            </a:r>
            <a:r>
              <a:rPr lang="ja-JP" altLang="en-US" b="0">
                <a:ea typeface="ＭＳ ゴシック" panose="020B0609070205080204" pitchFamily="49" charset="-128"/>
              </a:rPr>
              <a:t>：</a:t>
            </a:r>
          </a:p>
          <a:p>
            <a:pPr lvl="1" algn="just"/>
            <a:r>
              <a:rPr lang="ja-JP" altLang="en-US" b="0">
                <a:ea typeface="ＭＳ ゴシック" panose="020B0609070205080204" pitchFamily="49" charset="-128"/>
              </a:rPr>
              <a:t>    </a:t>
            </a:r>
            <a:r>
              <a:rPr lang="en-US" altLang="ja-JP" b="0">
                <a:ea typeface="ＭＳ ゴシック" panose="020B0609070205080204" pitchFamily="49" charset="-128"/>
              </a:rPr>
              <a:t>case </a:t>
            </a:r>
            <a:r>
              <a:rPr lang="en-US" altLang="ja-JP" b="0">
                <a:ea typeface="MS UI Gothic" panose="020B0600070205080204" pitchFamily="50" charset="-128"/>
              </a:rPr>
              <a:t>Biểu thức hằng số n:</a:t>
            </a:r>
            <a:endParaRPr lang="en-US" altLang="ja-JP" b="0">
              <a:ea typeface="ＭＳ ゴシック" panose="020B0609070205080204" pitchFamily="49" charset="-128"/>
            </a:endParaRP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giá trị hoặc biểu thức muốn đánh giá bằng biểu thức hằng số n</a:t>
            </a:r>
          </a:p>
          <a:p>
            <a:pPr lvl="1" algn="just"/>
            <a:r>
              <a:rPr lang="ja-JP" altLang="en-US" b="0">
                <a:ea typeface="ＭＳ ゴシック" panose="020B0609070205080204" pitchFamily="49" charset="-128"/>
              </a:rPr>
              <a:t>　　</a:t>
            </a:r>
            <a:r>
              <a:rPr lang="en-US" altLang="ja-JP" b="0">
                <a:ea typeface="ＭＳ ゴシック" panose="020B0609070205080204" pitchFamily="49" charset="-128"/>
              </a:rPr>
              <a:t>default:</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lý trong trường hợp không khớp với toàn bộ case</a:t>
            </a:r>
          </a:p>
          <a:p>
            <a:pPr lvl="1" algn="just"/>
            <a:r>
              <a:rPr lang="en-US" altLang="ja-JP" b="0">
                <a:ea typeface="ＭＳ ゴシック" panose="020B0609070205080204" pitchFamily="49" charset="-128"/>
              </a:rPr>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6738" name="Rectangle 2">
            <a:extLst>
              <a:ext uri="{FF2B5EF4-FFF2-40B4-BE49-F238E27FC236}">
                <a16:creationId xmlns:a16="http://schemas.microsoft.com/office/drawing/2014/main" id="{E0F58D44-3D46-A9E9-4E2A-57CD931B3716}"/>
              </a:ext>
            </a:extLst>
          </p:cNvPr>
          <p:cNvSpPr>
            <a:spLocks noRot="1" noChangeAspect="1" noChangeArrowheads="1" noTextEdit="1"/>
          </p:cNvSpPr>
          <p:nvPr>
            <p:ph type="sldImg"/>
          </p:nvPr>
        </p:nvSpPr>
        <p:spPr>
          <a:ln/>
        </p:spPr>
      </p:sp>
      <p:sp>
        <p:nvSpPr>
          <p:cNvPr id="756739" name="Rectangle 3">
            <a:extLst>
              <a:ext uri="{FF2B5EF4-FFF2-40B4-BE49-F238E27FC236}">
                <a16:creationId xmlns:a16="http://schemas.microsoft.com/office/drawing/2014/main" id="{7F7DC385-4FE7-F1A7-7DFA-4724F955E9D0}"/>
              </a:ext>
            </a:extLst>
          </p:cNvPr>
          <p:cNvSpPr>
            <a:spLocks noGrp="1" noChangeArrowheads="1"/>
          </p:cNvSpPr>
          <p:nvPr>
            <p:ph type="body" idx="1"/>
          </p:nvPr>
        </p:nvSpPr>
        <p:spPr/>
        <p:txBody>
          <a:bodyPr/>
          <a:lstStyle/>
          <a:p>
            <a:pPr marL="0" indent="0"/>
            <a:r>
              <a:rPr lang="en-US" altLang="ja-JP">
                <a:latin typeface="Arial" panose="020B0604020202020204" pitchFamily="34" charset="0"/>
              </a:rPr>
              <a:t>【Chu trình xử lý của ví dụ trên không chỉ định câu lệnh </a:t>
            </a:r>
            <a:r>
              <a:rPr lang="en-US" altLang="ja-JP">
                <a:latin typeface="Arial" panose="020B0604020202020204" pitchFamily="34" charset="0"/>
                <a:ea typeface="ＭＳ ゴシック" panose="020B0609070205080204" pitchFamily="49" charset="-128"/>
              </a:rPr>
              <a:t>break</a:t>
            </a:r>
            <a:r>
              <a:rPr lang="en-US" altLang="ja-JP">
                <a:latin typeface="Arial" panose="020B0604020202020204" pitchFamily="34" charset="0"/>
              </a:rPr>
              <a:t>】</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grpSp>
        <p:nvGrpSpPr>
          <p:cNvPr id="756740" name="Group 4">
            <a:extLst>
              <a:ext uri="{FF2B5EF4-FFF2-40B4-BE49-F238E27FC236}">
                <a16:creationId xmlns:a16="http://schemas.microsoft.com/office/drawing/2014/main" id="{A9AF9CDD-3D41-04AF-A85B-E3FEF708F587}"/>
              </a:ext>
            </a:extLst>
          </p:cNvPr>
          <p:cNvGrpSpPr>
            <a:grpSpLocks/>
          </p:cNvGrpSpPr>
          <p:nvPr/>
        </p:nvGrpSpPr>
        <p:grpSpPr bwMode="auto">
          <a:xfrm>
            <a:off x="555625" y="5575300"/>
            <a:ext cx="5853113" cy="3271838"/>
            <a:chOff x="464" y="1310"/>
            <a:chExt cx="3687" cy="2061"/>
          </a:xfrm>
        </p:grpSpPr>
        <p:sp>
          <p:nvSpPr>
            <p:cNvPr id="756741" name="Rectangle 5">
              <a:extLst>
                <a:ext uri="{FF2B5EF4-FFF2-40B4-BE49-F238E27FC236}">
                  <a16:creationId xmlns:a16="http://schemas.microsoft.com/office/drawing/2014/main" id="{98F56A63-51B9-273B-A364-25CEB7863D1B}"/>
                </a:ext>
              </a:extLst>
            </p:cNvPr>
            <p:cNvSpPr>
              <a:spLocks noChangeArrowheads="1"/>
            </p:cNvSpPr>
            <p:nvPr/>
          </p:nvSpPr>
          <p:spPr bwMode="auto">
            <a:xfrm>
              <a:off x="464" y="1310"/>
              <a:ext cx="3687" cy="2061"/>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nvGrpSpPr>
            <p:cNvPr id="756742" name="Group 6">
              <a:extLst>
                <a:ext uri="{FF2B5EF4-FFF2-40B4-BE49-F238E27FC236}">
                  <a16:creationId xmlns:a16="http://schemas.microsoft.com/office/drawing/2014/main" id="{9FFB8F10-799F-C1E9-484E-E7CB7D533B45}"/>
                </a:ext>
              </a:extLst>
            </p:cNvPr>
            <p:cNvGrpSpPr>
              <a:grpSpLocks/>
            </p:cNvGrpSpPr>
            <p:nvPr/>
          </p:nvGrpSpPr>
          <p:grpSpPr bwMode="auto">
            <a:xfrm>
              <a:off x="1301" y="1353"/>
              <a:ext cx="2045" cy="1981"/>
              <a:chOff x="876" y="3015"/>
              <a:chExt cx="1972" cy="1932"/>
            </a:xfrm>
          </p:grpSpPr>
          <p:sp>
            <p:nvSpPr>
              <p:cNvPr id="756743" name="Line 7">
                <a:extLst>
                  <a:ext uri="{FF2B5EF4-FFF2-40B4-BE49-F238E27FC236}">
                    <a16:creationId xmlns:a16="http://schemas.microsoft.com/office/drawing/2014/main" id="{AF1AB86A-BE5A-79C9-9073-2F21E62640AB}"/>
                  </a:ext>
                </a:extLst>
              </p:cNvPr>
              <p:cNvSpPr>
                <a:spLocks noChangeShapeType="1"/>
              </p:cNvSpPr>
              <p:nvPr/>
            </p:nvSpPr>
            <p:spPr bwMode="auto">
              <a:xfrm>
                <a:off x="1343" y="3015"/>
                <a:ext cx="0" cy="1932"/>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6744" name="AutoShape 8">
                <a:extLst>
                  <a:ext uri="{FF2B5EF4-FFF2-40B4-BE49-F238E27FC236}">
                    <a16:creationId xmlns:a16="http://schemas.microsoft.com/office/drawing/2014/main" id="{01E3D43D-9C52-0230-D2BC-374C8EF67B93}"/>
                  </a:ext>
                </a:extLst>
              </p:cNvPr>
              <p:cNvSpPr>
                <a:spLocks noChangeArrowheads="1"/>
              </p:cNvSpPr>
              <p:nvPr/>
            </p:nvSpPr>
            <p:spPr bwMode="auto">
              <a:xfrm>
                <a:off x="876" y="3171"/>
                <a:ext cx="929" cy="314"/>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ja-JP" altLang="en-US" sz="1100" b="0"/>
                  <a:t>ｘ </a:t>
                </a:r>
                <a:r>
                  <a:rPr lang="en-US" altLang="ja-JP" sz="1100" b="0"/>
                  <a:t>là 1</a:t>
                </a:r>
                <a:r>
                  <a:rPr lang="ja-JP" altLang="en-US" sz="1100" b="0"/>
                  <a:t>？</a:t>
                </a:r>
                <a:endParaRPr lang="ja-JP" altLang="en-US">
                  <a:ea typeface="MS UI Gothic" panose="020B0600070205080204" pitchFamily="50" charset="-128"/>
                </a:endParaRPr>
              </a:p>
            </p:txBody>
          </p:sp>
          <p:sp>
            <p:nvSpPr>
              <p:cNvPr id="756745" name="Line 9">
                <a:extLst>
                  <a:ext uri="{FF2B5EF4-FFF2-40B4-BE49-F238E27FC236}">
                    <a16:creationId xmlns:a16="http://schemas.microsoft.com/office/drawing/2014/main" id="{96551F65-2129-C3A4-D026-E690ADB7D00A}"/>
                  </a:ext>
                </a:extLst>
              </p:cNvPr>
              <p:cNvSpPr>
                <a:spLocks noChangeShapeType="1"/>
              </p:cNvSpPr>
              <p:nvPr/>
            </p:nvSpPr>
            <p:spPr bwMode="auto">
              <a:xfrm>
                <a:off x="1791" y="3327"/>
                <a:ext cx="696"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6746" name="Line 10">
                <a:extLst>
                  <a:ext uri="{FF2B5EF4-FFF2-40B4-BE49-F238E27FC236}">
                    <a16:creationId xmlns:a16="http://schemas.microsoft.com/office/drawing/2014/main" id="{39E60672-2019-92FC-4B0C-067CF7B050C1}"/>
                  </a:ext>
                </a:extLst>
              </p:cNvPr>
              <p:cNvSpPr>
                <a:spLocks noChangeShapeType="1"/>
              </p:cNvSpPr>
              <p:nvPr/>
            </p:nvSpPr>
            <p:spPr bwMode="auto">
              <a:xfrm>
                <a:off x="2481" y="3322"/>
                <a:ext cx="7" cy="1101"/>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6747" name="Line 11">
                <a:extLst>
                  <a:ext uri="{FF2B5EF4-FFF2-40B4-BE49-F238E27FC236}">
                    <a16:creationId xmlns:a16="http://schemas.microsoft.com/office/drawing/2014/main" id="{9516A658-DF48-13BB-FC74-77D302CBA2E2}"/>
                  </a:ext>
                </a:extLst>
              </p:cNvPr>
              <p:cNvSpPr>
                <a:spLocks noChangeShapeType="1"/>
              </p:cNvSpPr>
              <p:nvPr/>
            </p:nvSpPr>
            <p:spPr bwMode="auto">
              <a:xfrm flipV="1">
                <a:off x="1349" y="4418"/>
                <a:ext cx="1146" cy="2"/>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6748" name="Text Box 12">
                <a:extLst>
                  <a:ext uri="{FF2B5EF4-FFF2-40B4-BE49-F238E27FC236}">
                    <a16:creationId xmlns:a16="http://schemas.microsoft.com/office/drawing/2014/main" id="{2D0B20D5-930F-FA92-59A3-5399863480DD}"/>
                  </a:ext>
                </a:extLst>
              </p:cNvPr>
              <p:cNvSpPr txBox="1">
                <a:spLocks noChangeArrowheads="1"/>
              </p:cNvSpPr>
              <p:nvPr/>
            </p:nvSpPr>
            <p:spPr bwMode="auto">
              <a:xfrm>
                <a:off x="1795" y="3173"/>
                <a:ext cx="242" cy="10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true</a:t>
                </a:r>
                <a:endParaRPr lang="en-US" altLang="ja-JP">
                  <a:ea typeface="MS UI Gothic" panose="020B0600070205080204" pitchFamily="50" charset="-128"/>
                </a:endParaRPr>
              </a:p>
            </p:txBody>
          </p:sp>
          <p:sp>
            <p:nvSpPr>
              <p:cNvPr id="756749" name="Text Box 13">
                <a:extLst>
                  <a:ext uri="{FF2B5EF4-FFF2-40B4-BE49-F238E27FC236}">
                    <a16:creationId xmlns:a16="http://schemas.microsoft.com/office/drawing/2014/main" id="{226A3851-A316-9DF3-9E49-D43B3DDD7190}"/>
                  </a:ext>
                </a:extLst>
              </p:cNvPr>
              <p:cNvSpPr txBox="1">
                <a:spLocks noChangeArrowheads="1"/>
              </p:cNvSpPr>
              <p:nvPr/>
            </p:nvSpPr>
            <p:spPr bwMode="auto">
              <a:xfrm>
                <a:off x="1392" y="3500"/>
                <a:ext cx="243" cy="10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false</a:t>
                </a:r>
                <a:endParaRPr lang="en-US" altLang="ja-JP">
                  <a:ea typeface="MS UI Gothic" panose="020B0600070205080204" pitchFamily="50" charset="-128"/>
                </a:endParaRPr>
              </a:p>
            </p:txBody>
          </p:sp>
          <p:sp>
            <p:nvSpPr>
              <p:cNvPr id="756750" name="AutoShape 14">
                <a:extLst>
                  <a:ext uri="{FF2B5EF4-FFF2-40B4-BE49-F238E27FC236}">
                    <a16:creationId xmlns:a16="http://schemas.microsoft.com/office/drawing/2014/main" id="{C88883B6-DD1C-93EB-BB6B-18F77C6447AD}"/>
                  </a:ext>
                </a:extLst>
              </p:cNvPr>
              <p:cNvSpPr>
                <a:spLocks noChangeArrowheads="1"/>
              </p:cNvSpPr>
              <p:nvPr/>
            </p:nvSpPr>
            <p:spPr bwMode="auto">
              <a:xfrm>
                <a:off x="919" y="3713"/>
                <a:ext cx="857" cy="267"/>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ja-JP" altLang="en-US" sz="1100" b="0"/>
                  <a:t>ｘ </a:t>
                </a:r>
                <a:r>
                  <a:rPr lang="en-US" altLang="ja-JP" sz="1100" b="0"/>
                  <a:t>là 2</a:t>
                </a:r>
                <a:r>
                  <a:rPr lang="ja-JP" altLang="en-US" sz="1100" b="0"/>
                  <a:t>？</a:t>
                </a:r>
                <a:endParaRPr lang="ja-JP" altLang="en-US">
                  <a:ea typeface="MS UI Gothic" panose="020B0600070205080204" pitchFamily="50" charset="-128"/>
                </a:endParaRPr>
              </a:p>
            </p:txBody>
          </p:sp>
          <p:sp>
            <p:nvSpPr>
              <p:cNvPr id="756751" name="AutoShape 15">
                <a:extLst>
                  <a:ext uri="{FF2B5EF4-FFF2-40B4-BE49-F238E27FC236}">
                    <a16:creationId xmlns:a16="http://schemas.microsoft.com/office/drawing/2014/main" id="{F5A9EF16-B36D-5C1D-7079-421BA5F4A92A}"/>
                  </a:ext>
                </a:extLst>
              </p:cNvPr>
              <p:cNvSpPr>
                <a:spLocks noChangeArrowheads="1"/>
              </p:cNvSpPr>
              <p:nvPr/>
            </p:nvSpPr>
            <p:spPr bwMode="auto">
              <a:xfrm>
                <a:off x="2110" y="4006"/>
                <a:ext cx="738" cy="205"/>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t>Hiển thị là </a:t>
                </a:r>
                <a:r>
                  <a:rPr lang="ja-JP" altLang="en-US" sz="1100" b="0"/>
                  <a:t>「</a:t>
                </a:r>
                <a:r>
                  <a:rPr lang="en-US" altLang="ja-JP" sz="1100" b="0"/>
                  <a:t>2</a:t>
                </a:r>
                <a:r>
                  <a:rPr lang="ja-JP" altLang="en-US" sz="1100" b="0"/>
                  <a:t>」</a:t>
                </a:r>
                <a:endParaRPr lang="ja-JP" altLang="en-US">
                  <a:ea typeface="MS UI Gothic" panose="020B0600070205080204" pitchFamily="50" charset="-128"/>
                </a:endParaRPr>
              </a:p>
            </p:txBody>
          </p:sp>
          <p:sp>
            <p:nvSpPr>
              <p:cNvPr id="756752" name="AutoShape 16">
                <a:extLst>
                  <a:ext uri="{FF2B5EF4-FFF2-40B4-BE49-F238E27FC236}">
                    <a16:creationId xmlns:a16="http://schemas.microsoft.com/office/drawing/2014/main" id="{FF1F3AB7-2641-E0FB-7218-67C4752E98DD}"/>
                  </a:ext>
                </a:extLst>
              </p:cNvPr>
              <p:cNvSpPr>
                <a:spLocks noChangeArrowheads="1"/>
              </p:cNvSpPr>
              <p:nvPr/>
            </p:nvSpPr>
            <p:spPr bwMode="auto">
              <a:xfrm>
                <a:off x="979" y="4539"/>
                <a:ext cx="738" cy="205"/>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t>Hiển thị là </a:t>
                </a:r>
                <a:r>
                  <a:rPr lang="ja-JP" altLang="en-US" sz="1100" b="0"/>
                  <a:t>「</a:t>
                </a:r>
                <a:r>
                  <a:rPr lang="en-US" altLang="ja-JP" sz="1100" b="0"/>
                  <a:t>khác 1, 2</a:t>
                </a:r>
                <a:r>
                  <a:rPr lang="ja-JP" altLang="en-US" sz="1100" b="0"/>
                  <a:t>」</a:t>
                </a:r>
                <a:endParaRPr lang="ja-JP" altLang="en-US">
                  <a:ea typeface="MS UI Gothic" panose="020B0600070205080204" pitchFamily="50" charset="-128"/>
                </a:endParaRPr>
              </a:p>
            </p:txBody>
          </p:sp>
          <p:sp>
            <p:nvSpPr>
              <p:cNvPr id="756753" name="Text Box 17">
                <a:extLst>
                  <a:ext uri="{FF2B5EF4-FFF2-40B4-BE49-F238E27FC236}">
                    <a16:creationId xmlns:a16="http://schemas.microsoft.com/office/drawing/2014/main" id="{634E3682-D2BF-492B-350F-B24B6C479B46}"/>
                  </a:ext>
                </a:extLst>
              </p:cNvPr>
              <p:cNvSpPr txBox="1">
                <a:spLocks noChangeArrowheads="1"/>
              </p:cNvSpPr>
              <p:nvPr/>
            </p:nvSpPr>
            <p:spPr bwMode="auto">
              <a:xfrm>
                <a:off x="1392" y="4025"/>
                <a:ext cx="243" cy="9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false</a:t>
                </a:r>
                <a:endParaRPr lang="en-US" altLang="ja-JP">
                  <a:ea typeface="MS UI Gothic" panose="020B0600070205080204" pitchFamily="50" charset="-128"/>
                </a:endParaRPr>
              </a:p>
            </p:txBody>
          </p:sp>
          <p:sp>
            <p:nvSpPr>
              <p:cNvPr id="756754" name="Text Box 18">
                <a:extLst>
                  <a:ext uri="{FF2B5EF4-FFF2-40B4-BE49-F238E27FC236}">
                    <a16:creationId xmlns:a16="http://schemas.microsoft.com/office/drawing/2014/main" id="{C4C5BD38-D214-2FB1-DA82-B2BED4383D49}"/>
                  </a:ext>
                </a:extLst>
              </p:cNvPr>
              <p:cNvSpPr txBox="1">
                <a:spLocks noChangeArrowheads="1"/>
              </p:cNvSpPr>
              <p:nvPr/>
            </p:nvSpPr>
            <p:spPr bwMode="auto">
              <a:xfrm>
                <a:off x="1792" y="3689"/>
                <a:ext cx="243" cy="10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true</a:t>
                </a:r>
                <a:endParaRPr lang="en-US" altLang="ja-JP">
                  <a:ea typeface="MS UI Gothic" panose="020B0600070205080204" pitchFamily="50" charset="-128"/>
                </a:endParaRPr>
              </a:p>
            </p:txBody>
          </p:sp>
          <p:sp>
            <p:nvSpPr>
              <p:cNvPr id="756755" name="AutoShape 19">
                <a:extLst>
                  <a:ext uri="{FF2B5EF4-FFF2-40B4-BE49-F238E27FC236}">
                    <a16:creationId xmlns:a16="http://schemas.microsoft.com/office/drawing/2014/main" id="{3ECAD29A-6D04-1720-A687-9B4882EA2F2D}"/>
                  </a:ext>
                </a:extLst>
              </p:cNvPr>
              <p:cNvSpPr>
                <a:spLocks noChangeArrowheads="1"/>
              </p:cNvSpPr>
              <p:nvPr/>
            </p:nvSpPr>
            <p:spPr bwMode="auto">
              <a:xfrm>
                <a:off x="2107" y="3489"/>
                <a:ext cx="737" cy="205"/>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en-US" altLang="ja-JP" sz="1100" b="0"/>
                  <a:t>Hiển thị là </a:t>
                </a:r>
                <a:r>
                  <a:rPr lang="ja-JP" altLang="en-US" sz="1100" b="0"/>
                  <a:t>「</a:t>
                </a:r>
                <a:r>
                  <a:rPr lang="en-US" altLang="ja-JP" sz="1100" b="0"/>
                  <a:t>1</a:t>
                </a:r>
                <a:r>
                  <a:rPr lang="ja-JP" altLang="en-US" sz="1100" b="0"/>
                  <a:t>」</a:t>
                </a:r>
                <a:endParaRPr lang="ja-JP" altLang="en-US">
                  <a:ea typeface="MS UI Gothic" panose="020B0600070205080204" pitchFamily="50" charset="-128"/>
                </a:endParaRPr>
              </a:p>
            </p:txBody>
          </p:sp>
          <p:sp>
            <p:nvSpPr>
              <p:cNvPr id="756756" name="Line 20">
                <a:extLst>
                  <a:ext uri="{FF2B5EF4-FFF2-40B4-BE49-F238E27FC236}">
                    <a16:creationId xmlns:a16="http://schemas.microsoft.com/office/drawing/2014/main" id="{30516775-6ECE-29E2-02FB-8151869CB7AB}"/>
                  </a:ext>
                </a:extLst>
              </p:cNvPr>
              <p:cNvSpPr>
                <a:spLocks noChangeShapeType="1"/>
              </p:cNvSpPr>
              <p:nvPr/>
            </p:nvSpPr>
            <p:spPr bwMode="auto">
              <a:xfrm>
                <a:off x="1774" y="3847"/>
                <a:ext cx="703" cy="0"/>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grpSp>
      <p:sp>
        <p:nvSpPr>
          <p:cNvPr id="756758" name="Text Box 22">
            <a:extLst>
              <a:ext uri="{FF2B5EF4-FFF2-40B4-BE49-F238E27FC236}">
                <a16:creationId xmlns:a16="http://schemas.microsoft.com/office/drawing/2014/main" id="{921567C2-D346-F639-92E0-9E195FFDA92A}"/>
              </a:ext>
            </a:extLst>
          </p:cNvPr>
          <p:cNvSpPr txBox="1">
            <a:spLocks noChangeArrowheads="1"/>
          </p:cNvSpPr>
          <p:nvPr/>
        </p:nvSpPr>
        <p:spPr bwMode="auto">
          <a:xfrm>
            <a:off x="538163" y="9075738"/>
            <a:ext cx="5913437" cy="8842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79317" tIns="119988" rIns="379317" bIns="119988" anchor="ctr"/>
          <a:lstStyle>
            <a:lvl1pPr defTabSz="928688">
              <a:defRPr kumimoji="1">
                <a:solidFill>
                  <a:schemeClr val="tx1"/>
                </a:solidFill>
                <a:latin typeface="Arial" panose="020B0604020202020204" pitchFamily="34" charset="0"/>
                <a:ea typeface="ＭＳ Ｐゴシック" panose="020B0600070205080204" pitchFamily="50" charset="-128"/>
              </a:defRPr>
            </a:lvl1pPr>
            <a:lvl2pPr marL="492125" defTabSz="928688">
              <a:defRPr kumimoji="1">
                <a:solidFill>
                  <a:schemeClr val="tx1"/>
                </a:solidFill>
                <a:latin typeface="Arial" panose="020B0604020202020204" pitchFamily="34" charset="0"/>
                <a:ea typeface="ＭＳ Ｐゴシック" panose="020B0600070205080204" pitchFamily="50" charset="-128"/>
              </a:defRPr>
            </a:lvl2pPr>
            <a:lvl3pPr marL="982663" defTabSz="928688">
              <a:defRPr kumimoji="1">
                <a:solidFill>
                  <a:schemeClr val="tx1"/>
                </a:solidFill>
                <a:latin typeface="Arial" panose="020B0604020202020204" pitchFamily="34" charset="0"/>
                <a:ea typeface="ＭＳ Ｐゴシック" panose="020B0600070205080204" pitchFamily="50" charset="-128"/>
              </a:defRPr>
            </a:lvl3pPr>
            <a:lvl4pPr marL="1474788" defTabSz="928688">
              <a:defRPr kumimoji="1">
                <a:solidFill>
                  <a:schemeClr val="tx1"/>
                </a:solidFill>
                <a:latin typeface="Arial" panose="020B0604020202020204" pitchFamily="34" charset="0"/>
                <a:ea typeface="ＭＳ Ｐゴシック" panose="020B0600070205080204" pitchFamily="50" charset="-128"/>
              </a:defRPr>
            </a:lvl4pPr>
            <a:lvl5pPr marL="1966913" defTabSz="928688">
              <a:defRPr kumimoji="1">
                <a:solidFill>
                  <a:schemeClr val="tx1"/>
                </a:solidFill>
                <a:latin typeface="Arial" panose="020B0604020202020204" pitchFamily="34" charset="0"/>
                <a:ea typeface="ＭＳ Ｐゴシック" panose="020B0600070205080204" pitchFamily="50" charset="-128"/>
              </a:defRPr>
            </a:lvl5pPr>
            <a:lvl6pPr marL="24241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en-US" altLang="ja-JP">
              <a:ea typeface="ＭＳ ゴシック" panose="020B0609070205080204" pitchFamily="49" charset="-128"/>
            </a:endParaRPr>
          </a:p>
          <a:p>
            <a:r>
              <a:rPr lang="en-US" altLang="ja-JP">
                <a:ea typeface="ＭＳ ゴシック" panose="020B0609070205080204" pitchFamily="49" charset="-128"/>
              </a:rPr>
              <a:t>Câu lệnh break</a:t>
            </a:r>
            <a:endParaRPr lang="en-US" altLang="ja-JP">
              <a:ea typeface="MS UI Gothic" panose="020B0600070205080204" pitchFamily="50" charset="-128"/>
            </a:endParaRPr>
          </a:p>
          <a:p>
            <a:pPr>
              <a:lnSpc>
                <a:spcPct val="50000"/>
              </a:lnSpc>
            </a:pPr>
            <a:r>
              <a:rPr lang="ja-JP" altLang="en-US" b="0">
                <a:ea typeface="MS UI Gothic" panose="020B0600070205080204" pitchFamily="50" charset="-128"/>
              </a:rPr>
              <a:t>　</a:t>
            </a:r>
          </a:p>
          <a:p>
            <a:r>
              <a:rPr lang="en-US" altLang="ja-JP" b="0">
                <a:ea typeface="ＭＳ ゴシック" panose="020B0609070205080204" pitchFamily="49" charset="-128"/>
              </a:rPr>
              <a:t>Cho dù không chỉ định câu lệnh break trong câu lệnh switch thì về mặt ngữ pháp cũng không phải là sai.</a:t>
            </a:r>
            <a:endParaRPr lang="en-US" altLang="ja-JP" b="0">
              <a:ea typeface="MS UI Gothic" panose="020B0600070205080204" pitchFamily="50" charset="-128"/>
            </a:endParaRPr>
          </a:p>
          <a:p>
            <a:r>
              <a:rPr lang="en-US" altLang="ja-JP" b="0">
                <a:ea typeface="MS UI Gothic" panose="020B0600070205080204" pitchFamily="50" charset="-128"/>
              </a:rPr>
              <a:t>Trường hợp không có lý do như muốn sử dụng xử lý sau khi phổ biến (common) thì đừng quên chỉ định câu lệnh break.</a:t>
            </a:r>
          </a:p>
        </p:txBody>
      </p:sp>
      <p:grpSp>
        <p:nvGrpSpPr>
          <p:cNvPr id="756759" name="Group 23">
            <a:extLst>
              <a:ext uri="{FF2B5EF4-FFF2-40B4-BE49-F238E27FC236}">
                <a16:creationId xmlns:a16="http://schemas.microsoft.com/office/drawing/2014/main" id="{3A1BF567-A06E-2C22-55BE-B8C88E295B1F}"/>
              </a:ext>
            </a:extLst>
          </p:cNvPr>
          <p:cNvGrpSpPr>
            <a:grpSpLocks/>
          </p:cNvGrpSpPr>
          <p:nvPr/>
        </p:nvGrpSpPr>
        <p:grpSpPr bwMode="auto">
          <a:xfrm>
            <a:off x="565150" y="8921750"/>
            <a:ext cx="5916613" cy="292100"/>
            <a:chOff x="351" y="1572"/>
            <a:chExt cx="4968" cy="224"/>
          </a:xfrm>
        </p:grpSpPr>
        <p:pic>
          <p:nvPicPr>
            <p:cNvPr id="756760" name="Picture 24">
              <a:extLst>
                <a:ext uri="{FF2B5EF4-FFF2-40B4-BE49-F238E27FC236}">
                  <a16:creationId xmlns:a16="http://schemas.microsoft.com/office/drawing/2014/main" id="{7C4F2CC0-8A13-A591-FD08-96CBDC424B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756761" name="Text Box 25">
              <a:extLst>
                <a:ext uri="{FF2B5EF4-FFF2-40B4-BE49-F238E27FC236}">
                  <a16:creationId xmlns:a16="http://schemas.microsoft.com/office/drawing/2014/main" id="{9FEFD148-85FE-7990-F561-1F99208C63DD}"/>
                </a:ext>
              </a:extLst>
            </p:cNvPr>
            <p:cNvSpPr txBox="1">
              <a:spLocks noChangeArrowheads="1"/>
            </p:cNvSpPr>
            <p:nvPr/>
          </p:nvSpPr>
          <p:spPr bwMode="auto">
            <a:xfrm>
              <a:off x="518" y="1591"/>
              <a:ext cx="453" cy="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8314" tIns="49156" rIns="98314" bIns="49156">
              <a:spAutoFit/>
            </a:bodyPr>
            <a:lstStyle>
              <a:lvl1pPr defTabSz="928688">
                <a:defRPr kumimoji="1">
                  <a:solidFill>
                    <a:schemeClr val="tx1"/>
                  </a:solidFill>
                  <a:latin typeface="Arial" panose="020B0604020202020204" pitchFamily="34" charset="0"/>
                  <a:ea typeface="ＭＳ Ｐゴシック" panose="020B0600070205080204" pitchFamily="50" charset="-128"/>
                </a:defRPr>
              </a:lvl1pPr>
              <a:lvl2pPr marL="492125" defTabSz="928688">
                <a:defRPr kumimoji="1">
                  <a:solidFill>
                    <a:schemeClr val="tx1"/>
                  </a:solidFill>
                  <a:latin typeface="Arial" panose="020B0604020202020204" pitchFamily="34" charset="0"/>
                  <a:ea typeface="ＭＳ Ｐゴシック" panose="020B0600070205080204" pitchFamily="50" charset="-128"/>
                </a:defRPr>
              </a:lvl2pPr>
              <a:lvl3pPr marL="982663" defTabSz="928688">
                <a:defRPr kumimoji="1">
                  <a:solidFill>
                    <a:schemeClr val="tx1"/>
                  </a:solidFill>
                  <a:latin typeface="Arial" panose="020B0604020202020204" pitchFamily="34" charset="0"/>
                  <a:ea typeface="ＭＳ Ｐゴシック" panose="020B0600070205080204" pitchFamily="50" charset="-128"/>
                </a:defRPr>
              </a:lvl3pPr>
              <a:lvl4pPr marL="1474788" defTabSz="928688">
                <a:defRPr kumimoji="1">
                  <a:solidFill>
                    <a:schemeClr val="tx1"/>
                  </a:solidFill>
                  <a:latin typeface="Arial" panose="020B0604020202020204" pitchFamily="34" charset="0"/>
                  <a:ea typeface="ＭＳ Ｐゴシック" panose="020B0600070205080204" pitchFamily="50" charset="-128"/>
                </a:defRPr>
              </a:lvl4pPr>
              <a:lvl5pPr marL="1966913" defTabSz="928688">
                <a:defRPr kumimoji="1">
                  <a:solidFill>
                    <a:schemeClr val="tx1"/>
                  </a:solidFill>
                  <a:latin typeface="Arial" panose="020B0604020202020204" pitchFamily="34" charset="0"/>
                  <a:ea typeface="ＭＳ Ｐゴシック" panose="020B0600070205080204" pitchFamily="50" charset="-128"/>
                </a:defRPr>
              </a:lvl5pPr>
              <a:lvl6pPr marL="24241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100">
                  <a:solidFill>
                    <a:schemeClr val="bg1"/>
                  </a:solidFill>
                  <a:latin typeface="ＭＳ Ｐゴシック" panose="020B0600070205080204" pitchFamily="50" charset="-128"/>
                </a:rPr>
                <a:t>Chú ý</a:t>
              </a:r>
            </a:p>
          </p:txBody>
        </p:sp>
      </p:gr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82" name="Rectangle 2">
            <a:extLst>
              <a:ext uri="{FF2B5EF4-FFF2-40B4-BE49-F238E27FC236}">
                <a16:creationId xmlns:a16="http://schemas.microsoft.com/office/drawing/2014/main" id="{B90BB0ED-610C-CE0A-57CE-02E9AE826D4D}"/>
              </a:ext>
            </a:extLst>
          </p:cNvPr>
          <p:cNvSpPr>
            <a:spLocks noRot="1" noChangeAspect="1" noChangeArrowheads="1" noTextEdit="1"/>
          </p:cNvSpPr>
          <p:nvPr>
            <p:ph type="sldImg"/>
          </p:nvPr>
        </p:nvSpPr>
        <p:spPr>
          <a:ln/>
        </p:spPr>
      </p:sp>
      <p:sp>
        <p:nvSpPr>
          <p:cNvPr id="737283" name="Rectangle 3">
            <a:extLst>
              <a:ext uri="{FF2B5EF4-FFF2-40B4-BE49-F238E27FC236}">
                <a16:creationId xmlns:a16="http://schemas.microsoft.com/office/drawing/2014/main" id="{6870D70B-FF93-25B2-08DB-3B0A4064A2DE}"/>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Điều kiện </a:t>
            </a:r>
            <a:r>
              <a:rPr lang="en-US" altLang="ja-JP">
                <a:latin typeface="Arial" panose="020B0604020202020204" pitchFamily="34" charset="0"/>
                <a:ea typeface="ＭＳ ゴシック" panose="020B0609070205080204" pitchFamily="49" charset="-128"/>
              </a:rPr>
              <a:t>OR và câu lệnh switch</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Nếu chỉ định liên tục</a:t>
            </a:r>
            <a:r>
              <a:rPr lang="ja-JP" altLang="en-US">
                <a:latin typeface="Arial" panose="020B0604020202020204" pitchFamily="34" charset="0"/>
              </a:rPr>
              <a:t>「</a:t>
            </a:r>
            <a:r>
              <a:rPr lang="en-US" altLang="ja-JP">
                <a:latin typeface="Arial" panose="020B0604020202020204" pitchFamily="34" charset="0"/>
                <a:ea typeface="ＭＳ ゴシック" panose="020B0609070205080204" pitchFamily="49" charset="-128"/>
              </a:rPr>
              <a:t>case biểu thức hằng số:</a:t>
            </a:r>
            <a:r>
              <a:rPr lang="ja-JP" altLang="en-US">
                <a:latin typeface="Arial" panose="020B0604020202020204" pitchFamily="34" charset="0"/>
              </a:rPr>
              <a:t>」 </a:t>
            </a:r>
            <a:r>
              <a:rPr lang="en-US" altLang="ja-JP">
                <a:latin typeface="Arial" panose="020B0604020202020204" pitchFamily="34" charset="0"/>
              </a:rPr>
              <a:t>thì có thể biểu diễn điều kiện OR.</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737292" name="Text Box 12">
            <a:extLst>
              <a:ext uri="{FF2B5EF4-FFF2-40B4-BE49-F238E27FC236}">
                <a16:creationId xmlns:a16="http://schemas.microsoft.com/office/drawing/2014/main" id="{AA09D236-82B4-10BF-FDFC-A8ABBA71964E}"/>
              </a:ext>
            </a:extLst>
          </p:cNvPr>
          <p:cNvSpPr txBox="1">
            <a:spLocks noChangeArrowheads="1"/>
          </p:cNvSpPr>
          <p:nvPr/>
        </p:nvSpPr>
        <p:spPr bwMode="auto">
          <a:xfrm>
            <a:off x="746125" y="6040438"/>
            <a:ext cx="6010275" cy="1208087"/>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38" tIns="20478" rIns="10238" bIns="10238"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3200"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switch (Giá trị hoặc biểu thức muốn đánh giá) {</a:t>
            </a:r>
          </a:p>
          <a:p>
            <a:pPr lvl="1" algn="just"/>
            <a:r>
              <a:rPr lang="en-US" altLang="ja-JP" b="0">
                <a:ea typeface="ＭＳ ゴシック" panose="020B0609070205080204" pitchFamily="49" charset="-128"/>
              </a:rPr>
              <a:t>    case </a:t>
            </a:r>
            <a:r>
              <a:rPr lang="en-US" altLang="ja-JP" b="0">
                <a:ea typeface="MS UI Gothic" panose="020B0600070205080204" pitchFamily="50" charset="-128"/>
              </a:rPr>
              <a:t>Biểu thức hằng số 1</a:t>
            </a:r>
            <a:r>
              <a:rPr lang="en-US" altLang="ja-JP" b="0">
                <a:ea typeface="ＭＳ ゴシック" panose="020B0609070205080204" pitchFamily="49" charset="-128"/>
              </a:rPr>
              <a:t>:</a:t>
            </a:r>
          </a:p>
          <a:p>
            <a:pPr lvl="1" algn="just"/>
            <a:r>
              <a:rPr lang="ja-JP" altLang="en-US" b="0">
                <a:ea typeface="ＭＳ ゴシック" panose="020B0609070205080204" pitchFamily="49" charset="-128"/>
              </a:rPr>
              <a:t>　　</a:t>
            </a:r>
            <a:r>
              <a:rPr lang="en-US" altLang="ja-JP" b="0">
                <a:ea typeface="ＭＳ ゴシック" panose="020B0609070205080204" pitchFamily="49" charset="-128"/>
              </a:rPr>
              <a:t>case </a:t>
            </a:r>
            <a:r>
              <a:rPr lang="en-US" altLang="ja-JP" b="0">
                <a:ea typeface="MS UI Gothic" panose="020B0600070205080204" pitchFamily="50" charset="-128"/>
              </a:rPr>
              <a:t>Biểu thức hằng số 2:</a:t>
            </a:r>
            <a:endParaRPr lang="en-US" altLang="ja-JP" b="0">
              <a:ea typeface="ＭＳ ゴシック" panose="020B0609070205080204" pitchFamily="49" charset="-128"/>
            </a:endParaRPr>
          </a:p>
          <a:p>
            <a:pPr lvl="1" algn="just"/>
            <a:r>
              <a:rPr lang="ja-JP" altLang="en-US" b="0">
                <a:ea typeface="ＭＳ ゴシック" panose="020B0609070205080204" pitchFamily="49" charset="-128"/>
              </a:rPr>
              <a:t>　　　　：</a:t>
            </a:r>
          </a:p>
          <a:p>
            <a:pPr lvl="1" algn="just"/>
            <a:r>
              <a:rPr lang="ja-JP" altLang="en-US" b="0">
                <a:ea typeface="ＭＳ ゴシック" panose="020B0609070205080204" pitchFamily="49" charset="-128"/>
              </a:rPr>
              <a:t>    </a:t>
            </a:r>
            <a:r>
              <a:rPr lang="en-US" altLang="ja-JP" b="0">
                <a:ea typeface="ＭＳ ゴシック" panose="020B0609070205080204" pitchFamily="49" charset="-128"/>
              </a:rPr>
              <a:t>case </a:t>
            </a:r>
            <a:r>
              <a:rPr lang="en-US" altLang="ja-JP" b="0">
                <a:ea typeface="MS UI Gothic" panose="020B0600070205080204" pitchFamily="50" charset="-128"/>
              </a:rPr>
              <a:t>Biểu thức hằng số n:</a:t>
            </a:r>
            <a:endParaRPr lang="en-US" altLang="ja-JP" b="0">
              <a:ea typeface="ＭＳ ゴシック" panose="020B0609070205080204" pitchFamily="49" charset="-128"/>
            </a:endParaRPr>
          </a:p>
          <a:p>
            <a:pPr lvl="1" algn="just"/>
            <a:r>
              <a:rPr lang="en-US" altLang="ja-JP" b="0">
                <a:ea typeface="ＭＳ ゴシック" panose="020B0609070205080204" pitchFamily="49" charset="-128"/>
              </a:rPr>
              <a:t>        Trường hợp giá trị hoặc biểu thức muốn đánh giá bằng </a:t>
            </a:r>
            <a:r>
              <a:rPr lang="en-US" altLang="ja-JP" b="0">
                <a:ea typeface="MS UI Gothic" panose="020B0600070205080204" pitchFamily="50" charset="-128"/>
              </a:rPr>
              <a:t>biểu thức hằng số 1</a:t>
            </a:r>
            <a:r>
              <a:rPr lang="ja-JP" altLang="en-US" b="0">
                <a:ea typeface="MS UI Gothic" panose="020B0600070205080204" pitchFamily="50" charset="-128"/>
              </a:rPr>
              <a:t>、</a:t>
            </a:r>
            <a:r>
              <a:rPr lang="en-US" altLang="ja-JP" b="0">
                <a:ea typeface="MS UI Gothic" panose="020B0600070205080204" pitchFamily="50" charset="-128"/>
              </a:rPr>
              <a:t>2</a:t>
            </a:r>
            <a:r>
              <a:rPr lang="ja-JP" altLang="en-US" b="0">
                <a:ea typeface="MS UI Gothic" panose="020B0600070205080204" pitchFamily="50" charset="-128"/>
              </a:rPr>
              <a:t>、･･･</a:t>
            </a:r>
            <a:r>
              <a:rPr lang="en-US" altLang="ja-JP" b="0">
                <a:ea typeface="MS UI Gothic" panose="020B0600070205080204" pitchFamily="50" charset="-128"/>
              </a:rPr>
              <a:t>n</a:t>
            </a:r>
          </a:p>
          <a:p>
            <a:pPr lvl="1" algn="just"/>
            <a:r>
              <a:rPr lang="en-US" altLang="ja-JP" b="0">
                <a:ea typeface="ＭＳ ゴシック" panose="020B0609070205080204" pitchFamily="49" charset="-128"/>
              </a:rPr>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0834" name="Rectangle 2">
            <a:extLst>
              <a:ext uri="{FF2B5EF4-FFF2-40B4-BE49-F238E27FC236}">
                <a16:creationId xmlns:a16="http://schemas.microsoft.com/office/drawing/2014/main" id="{3D1CD6FF-7191-32EB-6FEF-2EDF7DD9A153}"/>
              </a:ext>
            </a:extLst>
          </p:cNvPr>
          <p:cNvSpPr>
            <a:spLocks noRot="1" noChangeAspect="1" noChangeArrowheads="1" noTextEdit="1"/>
          </p:cNvSpPr>
          <p:nvPr>
            <p:ph type="sldImg"/>
          </p:nvPr>
        </p:nvSpPr>
        <p:spPr>
          <a:ln/>
        </p:spPr>
      </p:sp>
      <p:sp>
        <p:nvSpPr>
          <p:cNvPr id="760835" name="Rectangle 3">
            <a:extLst>
              <a:ext uri="{FF2B5EF4-FFF2-40B4-BE49-F238E27FC236}">
                <a16:creationId xmlns:a16="http://schemas.microsoft.com/office/drawing/2014/main" id="{CD8C2B56-14E0-BDB2-915C-1B7D5F43816B}"/>
              </a:ext>
            </a:extLst>
          </p:cNvPr>
          <p:cNvSpPr>
            <a:spLocks noGrp="1" noChangeArrowheads="1"/>
          </p:cNvSpPr>
          <p:nvPr>
            <p:ph type="body" idx="1"/>
          </p:nvPr>
        </p:nvSpPr>
        <p:spPr/>
        <p:txBody>
          <a:bodyPr/>
          <a:lstStyle/>
          <a:p>
            <a:pPr marL="0" indent="0"/>
            <a:r>
              <a:rPr lang="en-US" altLang="ja-JP">
                <a:latin typeface="Arial" panose="020B0604020202020204" pitchFamily="34" charset="0"/>
              </a:rPr>
              <a:t>【Chu trình xử lý của ví dụ trên sử dụng case label liên tục】</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grpSp>
        <p:nvGrpSpPr>
          <p:cNvPr id="760884" name="Group 52">
            <a:extLst>
              <a:ext uri="{FF2B5EF4-FFF2-40B4-BE49-F238E27FC236}">
                <a16:creationId xmlns:a16="http://schemas.microsoft.com/office/drawing/2014/main" id="{E18C5E52-52A9-74EE-F9C8-1B7B596CFCB4}"/>
              </a:ext>
            </a:extLst>
          </p:cNvPr>
          <p:cNvGrpSpPr>
            <a:grpSpLocks/>
          </p:cNvGrpSpPr>
          <p:nvPr/>
        </p:nvGrpSpPr>
        <p:grpSpPr bwMode="auto">
          <a:xfrm>
            <a:off x="719138" y="5678488"/>
            <a:ext cx="5854700" cy="3808412"/>
            <a:chOff x="453" y="3577"/>
            <a:chExt cx="3688" cy="2399"/>
          </a:xfrm>
        </p:grpSpPr>
        <p:sp>
          <p:nvSpPr>
            <p:cNvPr id="760859" name="Rectangle 27">
              <a:extLst>
                <a:ext uri="{FF2B5EF4-FFF2-40B4-BE49-F238E27FC236}">
                  <a16:creationId xmlns:a16="http://schemas.microsoft.com/office/drawing/2014/main" id="{9A7F054C-4DA4-A634-0FAF-C931E1B81470}"/>
                </a:ext>
              </a:extLst>
            </p:cNvPr>
            <p:cNvSpPr>
              <a:spLocks noChangeArrowheads="1"/>
            </p:cNvSpPr>
            <p:nvPr/>
          </p:nvSpPr>
          <p:spPr bwMode="auto">
            <a:xfrm>
              <a:off x="453" y="3577"/>
              <a:ext cx="3688" cy="2399"/>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60861" name="Line 29">
              <a:extLst>
                <a:ext uri="{FF2B5EF4-FFF2-40B4-BE49-F238E27FC236}">
                  <a16:creationId xmlns:a16="http://schemas.microsoft.com/office/drawing/2014/main" id="{50159CDD-110D-FE88-002E-9493EE5BBD2D}"/>
                </a:ext>
              </a:extLst>
            </p:cNvPr>
            <p:cNvSpPr>
              <a:spLocks noChangeShapeType="1"/>
            </p:cNvSpPr>
            <p:nvPr/>
          </p:nvSpPr>
          <p:spPr bwMode="auto">
            <a:xfrm>
              <a:off x="1026" y="3663"/>
              <a:ext cx="0" cy="222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62" name="AutoShape 30">
              <a:extLst>
                <a:ext uri="{FF2B5EF4-FFF2-40B4-BE49-F238E27FC236}">
                  <a16:creationId xmlns:a16="http://schemas.microsoft.com/office/drawing/2014/main" id="{67DD17F5-E15B-F2B7-A3BA-233209BC43BE}"/>
                </a:ext>
              </a:extLst>
            </p:cNvPr>
            <p:cNvSpPr>
              <a:spLocks noChangeArrowheads="1"/>
            </p:cNvSpPr>
            <p:nvPr/>
          </p:nvSpPr>
          <p:spPr bwMode="auto">
            <a:xfrm>
              <a:off x="538" y="3770"/>
              <a:ext cx="973" cy="352"/>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ja-JP" altLang="en-US" sz="1100" b="0"/>
                <a:t>ｘ </a:t>
              </a:r>
              <a:r>
                <a:rPr lang="en-US" altLang="ja-JP" sz="1100" b="0"/>
                <a:t>là 1</a:t>
              </a:r>
              <a:r>
                <a:rPr lang="ja-JP" altLang="en-US" sz="1100" b="0"/>
                <a:t>？</a:t>
              </a:r>
              <a:endParaRPr lang="ja-JP" altLang="en-US">
                <a:ea typeface="MS UI Gothic" panose="020B0600070205080204" pitchFamily="50" charset="-128"/>
              </a:endParaRPr>
            </a:p>
          </p:txBody>
        </p:sp>
        <p:sp>
          <p:nvSpPr>
            <p:cNvPr id="760863" name="AutoShape 31">
              <a:extLst>
                <a:ext uri="{FF2B5EF4-FFF2-40B4-BE49-F238E27FC236}">
                  <a16:creationId xmlns:a16="http://schemas.microsoft.com/office/drawing/2014/main" id="{66AB6A02-0A80-C568-1156-D0190F0ACCF1}"/>
                </a:ext>
              </a:extLst>
            </p:cNvPr>
            <p:cNvSpPr>
              <a:spLocks noChangeArrowheads="1"/>
            </p:cNvSpPr>
            <p:nvPr/>
          </p:nvSpPr>
          <p:spPr bwMode="auto">
            <a:xfrm>
              <a:off x="658" y="4636"/>
              <a:ext cx="772" cy="294"/>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t>Hiển thị là </a:t>
              </a:r>
              <a:r>
                <a:rPr lang="ja-JP" altLang="en-US" sz="1100" b="0"/>
                <a:t>「</a:t>
              </a:r>
              <a:r>
                <a:rPr lang="en-US" altLang="ja-JP" sz="1100" b="0"/>
                <a:t>Là 1 hoặc 2</a:t>
              </a:r>
              <a:r>
                <a:rPr lang="ja-JP" altLang="en-US" sz="1100" b="0"/>
                <a:t>」</a:t>
              </a:r>
              <a:endParaRPr lang="ja-JP" altLang="en-US">
                <a:ea typeface="MS UI Gothic" panose="020B0600070205080204" pitchFamily="50" charset="-128"/>
              </a:endParaRPr>
            </a:p>
          </p:txBody>
        </p:sp>
        <p:sp>
          <p:nvSpPr>
            <p:cNvPr id="760864" name="Line 32">
              <a:extLst>
                <a:ext uri="{FF2B5EF4-FFF2-40B4-BE49-F238E27FC236}">
                  <a16:creationId xmlns:a16="http://schemas.microsoft.com/office/drawing/2014/main" id="{B066E430-6FE8-31F9-944E-C860A5409D42}"/>
                </a:ext>
              </a:extLst>
            </p:cNvPr>
            <p:cNvSpPr>
              <a:spLocks noChangeShapeType="1"/>
            </p:cNvSpPr>
            <p:nvPr/>
          </p:nvSpPr>
          <p:spPr bwMode="auto">
            <a:xfrm>
              <a:off x="1505" y="3943"/>
              <a:ext cx="458"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65" name="Line 33">
              <a:extLst>
                <a:ext uri="{FF2B5EF4-FFF2-40B4-BE49-F238E27FC236}">
                  <a16:creationId xmlns:a16="http://schemas.microsoft.com/office/drawing/2014/main" id="{A325A864-33F1-2318-18AC-1429D8EE30C8}"/>
                </a:ext>
              </a:extLst>
            </p:cNvPr>
            <p:cNvSpPr>
              <a:spLocks noChangeShapeType="1"/>
            </p:cNvSpPr>
            <p:nvPr/>
          </p:nvSpPr>
          <p:spPr bwMode="auto">
            <a:xfrm>
              <a:off x="1958" y="3942"/>
              <a:ext cx="0" cy="556"/>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66" name="Line 34">
              <a:extLst>
                <a:ext uri="{FF2B5EF4-FFF2-40B4-BE49-F238E27FC236}">
                  <a16:creationId xmlns:a16="http://schemas.microsoft.com/office/drawing/2014/main" id="{74C25288-6874-A02F-EB5D-9A0323939001}"/>
                </a:ext>
              </a:extLst>
            </p:cNvPr>
            <p:cNvSpPr>
              <a:spLocks noChangeShapeType="1"/>
            </p:cNvSpPr>
            <p:nvPr/>
          </p:nvSpPr>
          <p:spPr bwMode="auto">
            <a:xfrm>
              <a:off x="1044" y="4492"/>
              <a:ext cx="918"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67" name="Text Box 35">
              <a:extLst>
                <a:ext uri="{FF2B5EF4-FFF2-40B4-BE49-F238E27FC236}">
                  <a16:creationId xmlns:a16="http://schemas.microsoft.com/office/drawing/2014/main" id="{EF0FDBE1-BFD6-36FF-6727-8116169CB756}"/>
                </a:ext>
              </a:extLst>
            </p:cNvPr>
            <p:cNvSpPr txBox="1">
              <a:spLocks noChangeArrowheads="1"/>
            </p:cNvSpPr>
            <p:nvPr/>
          </p:nvSpPr>
          <p:spPr bwMode="auto">
            <a:xfrm>
              <a:off x="1085" y="4127"/>
              <a:ext cx="255" cy="1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true</a:t>
              </a:r>
              <a:endParaRPr lang="en-US" altLang="ja-JP">
                <a:ea typeface="MS UI Gothic" panose="020B0600070205080204" pitchFamily="50" charset="-128"/>
              </a:endParaRPr>
            </a:p>
          </p:txBody>
        </p:sp>
        <p:sp>
          <p:nvSpPr>
            <p:cNvPr id="760868" name="Text Box 36">
              <a:extLst>
                <a:ext uri="{FF2B5EF4-FFF2-40B4-BE49-F238E27FC236}">
                  <a16:creationId xmlns:a16="http://schemas.microsoft.com/office/drawing/2014/main" id="{B579FB48-7E2F-30A2-1364-9F75F700AFA6}"/>
                </a:ext>
              </a:extLst>
            </p:cNvPr>
            <p:cNvSpPr txBox="1">
              <a:spLocks noChangeArrowheads="1"/>
            </p:cNvSpPr>
            <p:nvPr/>
          </p:nvSpPr>
          <p:spPr bwMode="auto">
            <a:xfrm>
              <a:off x="1454" y="3745"/>
              <a:ext cx="254" cy="1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false</a:t>
              </a:r>
              <a:endParaRPr lang="en-US" altLang="ja-JP">
                <a:ea typeface="MS UI Gothic" panose="020B0600070205080204" pitchFamily="50" charset="-128"/>
              </a:endParaRPr>
            </a:p>
          </p:txBody>
        </p:sp>
        <p:sp>
          <p:nvSpPr>
            <p:cNvPr id="760869" name="AutoShape 37">
              <a:extLst>
                <a:ext uri="{FF2B5EF4-FFF2-40B4-BE49-F238E27FC236}">
                  <a16:creationId xmlns:a16="http://schemas.microsoft.com/office/drawing/2014/main" id="{ABFC8BFF-57B0-C283-0D4B-D9ABFE5FE810}"/>
                </a:ext>
              </a:extLst>
            </p:cNvPr>
            <p:cNvSpPr>
              <a:spLocks noChangeArrowheads="1"/>
            </p:cNvSpPr>
            <p:nvPr/>
          </p:nvSpPr>
          <p:spPr bwMode="auto">
            <a:xfrm>
              <a:off x="1501" y="4035"/>
              <a:ext cx="898" cy="297"/>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ja-JP" altLang="en-US" sz="1100" b="0"/>
                <a:t>ｘ </a:t>
              </a:r>
              <a:r>
                <a:rPr lang="en-US" altLang="ja-JP" sz="1100" b="0"/>
                <a:t>là 2</a:t>
              </a:r>
              <a:r>
                <a:rPr lang="ja-JP" altLang="en-US" sz="1100" b="0"/>
                <a:t>？</a:t>
              </a:r>
              <a:endParaRPr lang="ja-JP" altLang="en-US">
                <a:ea typeface="MS UI Gothic" panose="020B0600070205080204" pitchFamily="50" charset="-128"/>
              </a:endParaRPr>
            </a:p>
          </p:txBody>
        </p:sp>
        <p:sp>
          <p:nvSpPr>
            <p:cNvPr id="760871" name="Line 39">
              <a:extLst>
                <a:ext uri="{FF2B5EF4-FFF2-40B4-BE49-F238E27FC236}">
                  <a16:creationId xmlns:a16="http://schemas.microsoft.com/office/drawing/2014/main" id="{4324D2CF-7BB1-83DC-07AF-1FFEA8A562DF}"/>
                </a:ext>
              </a:extLst>
            </p:cNvPr>
            <p:cNvSpPr>
              <a:spLocks noChangeShapeType="1"/>
            </p:cNvSpPr>
            <p:nvPr/>
          </p:nvSpPr>
          <p:spPr bwMode="auto">
            <a:xfrm>
              <a:off x="2400" y="4183"/>
              <a:ext cx="457"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72" name="Line 40">
              <a:extLst>
                <a:ext uri="{FF2B5EF4-FFF2-40B4-BE49-F238E27FC236}">
                  <a16:creationId xmlns:a16="http://schemas.microsoft.com/office/drawing/2014/main" id="{B3E9348C-0C25-6F29-5D56-163C60F2E99C}"/>
                </a:ext>
              </a:extLst>
            </p:cNvPr>
            <p:cNvSpPr>
              <a:spLocks noChangeShapeType="1"/>
            </p:cNvSpPr>
            <p:nvPr/>
          </p:nvSpPr>
          <p:spPr bwMode="auto">
            <a:xfrm>
              <a:off x="2852" y="4179"/>
              <a:ext cx="0" cy="115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73" name="AutoShape 41">
              <a:extLst>
                <a:ext uri="{FF2B5EF4-FFF2-40B4-BE49-F238E27FC236}">
                  <a16:creationId xmlns:a16="http://schemas.microsoft.com/office/drawing/2014/main" id="{F94E3C68-C569-7E64-4977-D5717B0B819F}"/>
                </a:ext>
              </a:extLst>
            </p:cNvPr>
            <p:cNvSpPr>
              <a:spLocks noChangeArrowheads="1"/>
            </p:cNvSpPr>
            <p:nvPr/>
          </p:nvSpPr>
          <p:spPr bwMode="auto">
            <a:xfrm>
              <a:off x="2442" y="4758"/>
              <a:ext cx="790" cy="228"/>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t>Hiển thị là </a:t>
              </a:r>
              <a:r>
                <a:rPr lang="ja-JP" altLang="en-US" sz="1100" b="0"/>
                <a:t>「</a:t>
              </a:r>
              <a:r>
                <a:rPr lang="en-US" altLang="ja-JP" sz="1100" b="0"/>
                <a:t>Là 3</a:t>
              </a:r>
              <a:r>
                <a:rPr lang="ja-JP" altLang="en-US" sz="1100" b="0"/>
                <a:t>」</a:t>
              </a:r>
              <a:endParaRPr lang="ja-JP" altLang="en-US">
                <a:ea typeface="MS UI Gothic" panose="020B0600070205080204" pitchFamily="50" charset="-128"/>
              </a:endParaRPr>
            </a:p>
          </p:txBody>
        </p:sp>
        <p:sp>
          <p:nvSpPr>
            <p:cNvPr id="760874" name="Line 42">
              <a:extLst>
                <a:ext uri="{FF2B5EF4-FFF2-40B4-BE49-F238E27FC236}">
                  <a16:creationId xmlns:a16="http://schemas.microsoft.com/office/drawing/2014/main" id="{394CC5A9-6CBB-B871-D756-2FF21E459A8C}"/>
                </a:ext>
              </a:extLst>
            </p:cNvPr>
            <p:cNvSpPr>
              <a:spLocks noChangeShapeType="1"/>
            </p:cNvSpPr>
            <p:nvPr/>
          </p:nvSpPr>
          <p:spPr bwMode="auto">
            <a:xfrm>
              <a:off x="1038" y="5327"/>
              <a:ext cx="1820"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75" name="Text Box 43">
              <a:extLst>
                <a:ext uri="{FF2B5EF4-FFF2-40B4-BE49-F238E27FC236}">
                  <a16:creationId xmlns:a16="http://schemas.microsoft.com/office/drawing/2014/main" id="{6FBE8CB0-C4D6-259F-8611-658F084E1CF5}"/>
                </a:ext>
              </a:extLst>
            </p:cNvPr>
            <p:cNvSpPr txBox="1">
              <a:spLocks noChangeArrowheads="1"/>
            </p:cNvSpPr>
            <p:nvPr/>
          </p:nvSpPr>
          <p:spPr bwMode="auto">
            <a:xfrm>
              <a:off x="2430" y="4020"/>
              <a:ext cx="254" cy="11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false</a:t>
              </a:r>
              <a:endParaRPr lang="en-US" altLang="ja-JP">
                <a:ea typeface="MS UI Gothic" panose="020B0600070205080204" pitchFamily="50" charset="-128"/>
              </a:endParaRPr>
            </a:p>
          </p:txBody>
        </p:sp>
        <p:sp>
          <p:nvSpPr>
            <p:cNvPr id="760876" name="Text Box 44">
              <a:extLst>
                <a:ext uri="{FF2B5EF4-FFF2-40B4-BE49-F238E27FC236}">
                  <a16:creationId xmlns:a16="http://schemas.microsoft.com/office/drawing/2014/main" id="{B9A62C81-E1C4-0A68-31C4-F8ECA97290BC}"/>
                </a:ext>
              </a:extLst>
            </p:cNvPr>
            <p:cNvSpPr txBox="1">
              <a:spLocks noChangeArrowheads="1"/>
            </p:cNvSpPr>
            <p:nvPr/>
          </p:nvSpPr>
          <p:spPr bwMode="auto">
            <a:xfrm>
              <a:off x="1998" y="4304"/>
              <a:ext cx="254" cy="1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true</a:t>
              </a:r>
              <a:endParaRPr lang="en-US" altLang="ja-JP">
                <a:ea typeface="MS UI Gothic" panose="020B0600070205080204" pitchFamily="50" charset="-128"/>
              </a:endParaRPr>
            </a:p>
          </p:txBody>
        </p:sp>
        <p:sp>
          <p:nvSpPr>
            <p:cNvPr id="760877" name="AutoShape 45">
              <a:extLst>
                <a:ext uri="{FF2B5EF4-FFF2-40B4-BE49-F238E27FC236}">
                  <a16:creationId xmlns:a16="http://schemas.microsoft.com/office/drawing/2014/main" id="{C1550EB9-1212-17E7-D301-8A7779A804E1}"/>
                </a:ext>
              </a:extLst>
            </p:cNvPr>
            <p:cNvSpPr>
              <a:spLocks noChangeArrowheads="1"/>
            </p:cNvSpPr>
            <p:nvPr/>
          </p:nvSpPr>
          <p:spPr bwMode="auto">
            <a:xfrm>
              <a:off x="2399" y="4303"/>
              <a:ext cx="898" cy="297"/>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6000"/>
                </a:lnSpc>
              </a:pPr>
              <a:r>
                <a:rPr lang="ja-JP" altLang="en-US" sz="1100" b="0"/>
                <a:t>ｘ </a:t>
              </a:r>
              <a:r>
                <a:rPr lang="en-US" altLang="ja-JP" sz="1100" b="0"/>
                <a:t>là 3</a:t>
              </a:r>
              <a:r>
                <a:rPr lang="ja-JP" altLang="en-US" sz="1100" b="0"/>
                <a:t>？</a:t>
              </a:r>
              <a:endParaRPr lang="ja-JP" altLang="en-US">
                <a:ea typeface="MS UI Gothic" panose="020B0600070205080204" pitchFamily="50" charset="-128"/>
              </a:endParaRPr>
            </a:p>
          </p:txBody>
        </p:sp>
        <p:sp>
          <p:nvSpPr>
            <p:cNvPr id="760878" name="Text Box 46">
              <a:extLst>
                <a:ext uri="{FF2B5EF4-FFF2-40B4-BE49-F238E27FC236}">
                  <a16:creationId xmlns:a16="http://schemas.microsoft.com/office/drawing/2014/main" id="{2D86BD6A-BC69-E61B-BF66-3D4FDECD4CAD}"/>
                </a:ext>
              </a:extLst>
            </p:cNvPr>
            <p:cNvSpPr txBox="1">
              <a:spLocks noChangeArrowheads="1"/>
            </p:cNvSpPr>
            <p:nvPr/>
          </p:nvSpPr>
          <p:spPr bwMode="auto">
            <a:xfrm>
              <a:off x="3328" y="4288"/>
              <a:ext cx="254" cy="11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false</a:t>
              </a:r>
              <a:endParaRPr lang="en-US" altLang="ja-JP">
                <a:ea typeface="MS UI Gothic" panose="020B0600070205080204" pitchFamily="50" charset="-128"/>
              </a:endParaRPr>
            </a:p>
          </p:txBody>
        </p:sp>
        <p:sp>
          <p:nvSpPr>
            <p:cNvPr id="760879" name="Text Box 47">
              <a:extLst>
                <a:ext uri="{FF2B5EF4-FFF2-40B4-BE49-F238E27FC236}">
                  <a16:creationId xmlns:a16="http://schemas.microsoft.com/office/drawing/2014/main" id="{AA015528-3F8D-3834-C7BD-14958EE9CCBD}"/>
                </a:ext>
              </a:extLst>
            </p:cNvPr>
            <p:cNvSpPr txBox="1">
              <a:spLocks noChangeArrowheads="1"/>
            </p:cNvSpPr>
            <p:nvPr/>
          </p:nvSpPr>
          <p:spPr bwMode="auto">
            <a:xfrm>
              <a:off x="2896" y="4572"/>
              <a:ext cx="254" cy="1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lnSpc>
                  <a:spcPct val="96000"/>
                </a:lnSpc>
              </a:pPr>
              <a:r>
                <a:rPr lang="en-US" altLang="ja-JP" sz="1100" b="0"/>
                <a:t>true</a:t>
              </a:r>
              <a:endParaRPr lang="en-US" altLang="ja-JP">
                <a:ea typeface="MS UI Gothic" panose="020B0600070205080204" pitchFamily="50" charset="-128"/>
              </a:endParaRPr>
            </a:p>
          </p:txBody>
        </p:sp>
        <p:sp>
          <p:nvSpPr>
            <p:cNvPr id="760880" name="Line 48">
              <a:extLst>
                <a:ext uri="{FF2B5EF4-FFF2-40B4-BE49-F238E27FC236}">
                  <a16:creationId xmlns:a16="http://schemas.microsoft.com/office/drawing/2014/main" id="{5D2BAF73-153C-ADB0-F522-63E06538EBB7}"/>
                </a:ext>
              </a:extLst>
            </p:cNvPr>
            <p:cNvSpPr>
              <a:spLocks noChangeShapeType="1"/>
            </p:cNvSpPr>
            <p:nvPr/>
          </p:nvSpPr>
          <p:spPr bwMode="auto">
            <a:xfrm>
              <a:off x="3298" y="4451"/>
              <a:ext cx="457"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81" name="Line 49">
              <a:extLst>
                <a:ext uri="{FF2B5EF4-FFF2-40B4-BE49-F238E27FC236}">
                  <a16:creationId xmlns:a16="http://schemas.microsoft.com/office/drawing/2014/main" id="{7A90C18A-9E4A-A4EF-01EE-AB238BC74D4B}"/>
                </a:ext>
              </a:extLst>
            </p:cNvPr>
            <p:cNvSpPr>
              <a:spLocks noChangeShapeType="1"/>
            </p:cNvSpPr>
            <p:nvPr/>
          </p:nvSpPr>
          <p:spPr bwMode="auto">
            <a:xfrm>
              <a:off x="3750" y="4447"/>
              <a:ext cx="0" cy="115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60882" name="AutoShape 50">
              <a:extLst>
                <a:ext uri="{FF2B5EF4-FFF2-40B4-BE49-F238E27FC236}">
                  <a16:creationId xmlns:a16="http://schemas.microsoft.com/office/drawing/2014/main" id="{1E47363D-8338-FD35-D314-75700B9A7774}"/>
                </a:ext>
              </a:extLst>
            </p:cNvPr>
            <p:cNvSpPr>
              <a:spLocks noChangeArrowheads="1"/>
            </p:cNvSpPr>
            <p:nvPr/>
          </p:nvSpPr>
          <p:spPr bwMode="auto">
            <a:xfrm>
              <a:off x="3280" y="5026"/>
              <a:ext cx="820" cy="282"/>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812" tIns="19623" rIns="9812" bIns="9812" anchor="ctr"/>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12875"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t>Hiển thị là </a:t>
              </a:r>
              <a:r>
                <a:rPr lang="ja-JP" altLang="en-US" sz="1100" b="0"/>
                <a:t>「</a:t>
              </a:r>
              <a:r>
                <a:rPr lang="en-US" altLang="ja-JP" sz="1100" b="0"/>
                <a:t>Khác 1, 2, 3</a:t>
              </a:r>
              <a:r>
                <a:rPr lang="ja-JP" altLang="en-US" sz="1100" b="0"/>
                <a:t>」</a:t>
              </a:r>
              <a:endParaRPr lang="ja-JP" altLang="en-US">
                <a:ea typeface="MS UI Gothic" panose="020B0600070205080204" pitchFamily="50" charset="-128"/>
              </a:endParaRPr>
            </a:p>
          </p:txBody>
        </p:sp>
        <p:sp>
          <p:nvSpPr>
            <p:cNvPr id="760883" name="Line 51">
              <a:extLst>
                <a:ext uri="{FF2B5EF4-FFF2-40B4-BE49-F238E27FC236}">
                  <a16:creationId xmlns:a16="http://schemas.microsoft.com/office/drawing/2014/main" id="{955C6A25-B83B-CC36-22BA-32ED1111B95F}"/>
                </a:ext>
              </a:extLst>
            </p:cNvPr>
            <p:cNvSpPr>
              <a:spLocks noChangeShapeType="1"/>
            </p:cNvSpPr>
            <p:nvPr/>
          </p:nvSpPr>
          <p:spPr bwMode="auto">
            <a:xfrm>
              <a:off x="1042" y="5595"/>
              <a:ext cx="2714"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50F7F8FB-70C9-44A6-7C17-B752736AF9BF}"/>
              </a:ext>
            </a:extLst>
          </p:cNvPr>
          <p:cNvSpPr>
            <a:spLocks noRot="1" noChangeAspect="1" noChangeArrowheads="1" noTextEdit="1"/>
          </p:cNvSpPr>
          <p:nvPr>
            <p:ph type="sldImg"/>
          </p:nvPr>
        </p:nvSpPr>
        <p:spPr>
          <a:xfrm>
            <a:off x="785813" y="766763"/>
            <a:ext cx="5541962" cy="3836987"/>
          </a:xfrm>
          <a:ln/>
        </p:spPr>
      </p:sp>
      <p:sp>
        <p:nvSpPr>
          <p:cNvPr id="257029" name="Rectangle 5">
            <a:extLst>
              <a:ext uri="{FF2B5EF4-FFF2-40B4-BE49-F238E27FC236}">
                <a16:creationId xmlns:a16="http://schemas.microsoft.com/office/drawing/2014/main" id="{11168FB1-63A5-1D5A-7311-B3BF5EF6E45B}"/>
              </a:ext>
            </a:extLst>
          </p:cNvPr>
          <p:cNvSpPr>
            <a:spLocks noGrp="1" noChangeArrowheads="1"/>
          </p:cNvSpPr>
          <p:nvPr>
            <p:ph type="body" idx="1"/>
          </p:nvPr>
        </p:nvSpPr>
        <p:spPr/>
        <p:txBody>
          <a:bodyPr/>
          <a:lstStyle/>
          <a:p>
            <a:r>
              <a:rPr lang="en-US" altLang="ja-JP">
                <a:latin typeface="Arial" panose="020B0604020202020204" pitchFamily="34" charset="0"/>
              </a:rPr>
              <a:t>Tại chương 8 có những nội dung sau </a:t>
            </a:r>
          </a:p>
          <a:p>
            <a:endParaRPr lang="en-US" altLang="ja-JP">
              <a:latin typeface="Arial" panose="020B0604020202020204" pitchFamily="34" charset="0"/>
            </a:endParaRPr>
          </a:p>
          <a:p>
            <a:r>
              <a:rPr lang="en-US" altLang="ja-JP">
                <a:latin typeface="Arial" panose="020B0604020202020204" pitchFamily="34" charset="0"/>
              </a:rPr>
              <a:t>8.1</a:t>
            </a:r>
            <a:r>
              <a:rPr lang="ja-JP" altLang="en-US">
                <a:latin typeface="Arial" panose="020B0604020202020204" pitchFamily="34" charset="0"/>
              </a:rPr>
              <a:t>　</a:t>
            </a:r>
            <a:r>
              <a:rPr lang="en-US" altLang="ja-JP">
                <a:latin typeface="Arial" panose="020B0604020202020204" pitchFamily="34" charset="0"/>
              </a:rPr>
              <a:t>Control lặp là gì </a:t>
            </a:r>
            <a:r>
              <a:rPr lang="ja-JP" altLang="en-US">
                <a:latin typeface="Arial" panose="020B0604020202020204" pitchFamily="34" charset="0"/>
              </a:rPr>
              <a:t>　</a:t>
            </a:r>
          </a:p>
          <a:p>
            <a:r>
              <a:rPr lang="en-US" altLang="ja-JP">
                <a:latin typeface="Arial" panose="020B0604020202020204" pitchFamily="34" charset="0"/>
              </a:rPr>
              <a:t>8.2</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while</a:t>
            </a:r>
            <a:endParaRPr lang="en-US" altLang="ja-JP">
              <a:latin typeface="Arial" panose="020B0604020202020204" pitchFamily="34" charset="0"/>
            </a:endParaRPr>
          </a:p>
          <a:p>
            <a:r>
              <a:rPr lang="en-US" altLang="ja-JP">
                <a:latin typeface="Arial" panose="020B0604020202020204" pitchFamily="34" charset="0"/>
              </a:rPr>
              <a:t>8.3</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do-while</a:t>
            </a:r>
            <a:endParaRPr lang="en-US" altLang="ja-JP">
              <a:latin typeface="Arial" panose="020B0604020202020204" pitchFamily="34" charset="0"/>
            </a:endParaRPr>
          </a:p>
          <a:p>
            <a:r>
              <a:rPr lang="en-US" altLang="ja-JP">
                <a:latin typeface="Arial" panose="020B0604020202020204" pitchFamily="34" charset="0"/>
              </a:rPr>
              <a:t>8.4</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for(1)</a:t>
            </a:r>
          </a:p>
          <a:p>
            <a:r>
              <a:rPr lang="en-US" altLang="ja-JP">
                <a:latin typeface="Arial" panose="020B0604020202020204" pitchFamily="34" charset="0"/>
              </a:rPr>
              <a:t>8.5</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for(2)</a:t>
            </a:r>
          </a:p>
          <a:p>
            <a:r>
              <a:rPr lang="en-US" altLang="ja-JP">
                <a:latin typeface="Arial" panose="020B0604020202020204" pitchFamily="34" charset="0"/>
              </a:rPr>
              <a:t>8.6</a:t>
            </a:r>
            <a:r>
              <a:rPr lang="ja-JP" altLang="en-US">
                <a:latin typeface="Arial" panose="020B0604020202020204" pitchFamily="34" charset="0"/>
              </a:rPr>
              <a:t>　</a:t>
            </a:r>
            <a:r>
              <a:rPr lang="en-US" altLang="ja-JP">
                <a:latin typeface="Arial" panose="020B0604020202020204" pitchFamily="34" charset="0"/>
              </a:rPr>
              <a:t>Control lặp và nest</a:t>
            </a:r>
          </a:p>
          <a:p>
            <a:r>
              <a:rPr lang="en-US" altLang="ja-JP">
                <a:latin typeface="Arial" panose="020B0604020202020204" pitchFamily="34" charset="0"/>
              </a:rPr>
              <a:t>8.7</a:t>
            </a:r>
            <a:r>
              <a:rPr lang="ja-JP" altLang="en-US">
                <a:latin typeface="Arial" panose="020B0604020202020204" pitchFamily="34" charset="0"/>
              </a:rPr>
              <a:t>　</a:t>
            </a:r>
            <a:r>
              <a:rPr lang="en-US" altLang="ja-JP">
                <a:latin typeface="Arial" panose="020B0604020202020204" pitchFamily="34" charset="0"/>
              </a:rPr>
              <a:t>Control lặp và câu lệnh b</a:t>
            </a:r>
            <a:r>
              <a:rPr lang="en-US" altLang="ja-JP">
                <a:latin typeface="Arial" panose="020B0604020202020204" pitchFamily="34" charset="0"/>
                <a:ea typeface="ＭＳ ゴシック" panose="020B0609070205080204" pitchFamily="49" charset="-128"/>
              </a:rPr>
              <a:t>reak</a:t>
            </a:r>
            <a:endParaRPr lang="en-US" altLang="ja-JP">
              <a:latin typeface="Arial" panose="020B0604020202020204" pitchFamily="34" charset="0"/>
            </a:endParaRPr>
          </a:p>
          <a:p>
            <a:r>
              <a:rPr lang="en-US" altLang="ja-JP">
                <a:latin typeface="Arial" panose="020B0604020202020204" pitchFamily="34" charset="0"/>
              </a:rPr>
              <a:t>8.8</a:t>
            </a:r>
            <a:r>
              <a:rPr lang="ja-JP" altLang="en-US">
                <a:latin typeface="Arial" panose="020B0604020202020204" pitchFamily="34" charset="0"/>
              </a:rPr>
              <a:t>　</a:t>
            </a:r>
            <a:r>
              <a:rPr lang="en-US" altLang="ja-JP">
                <a:latin typeface="Arial" panose="020B0604020202020204" pitchFamily="34" charset="0"/>
              </a:rPr>
              <a:t>Control lặp và câu lệnh </a:t>
            </a:r>
            <a:r>
              <a:rPr lang="en-US" altLang="ja-JP">
                <a:latin typeface="Arial" panose="020B0604020202020204" pitchFamily="34" charset="0"/>
                <a:ea typeface="ＭＳ ゴシック" panose="020B0609070205080204" pitchFamily="49" charset="-128"/>
              </a:rPr>
              <a:t>continue</a:t>
            </a:r>
            <a:endParaRPr lang="en-US" altLang="ja-JP">
              <a:latin typeface="Arial" panose="020B0604020202020204" pitchFamily="34" charset="0"/>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9154" name="Rectangle 2">
            <a:extLst>
              <a:ext uri="{FF2B5EF4-FFF2-40B4-BE49-F238E27FC236}">
                <a16:creationId xmlns:a16="http://schemas.microsoft.com/office/drawing/2014/main" id="{A1A7AE9F-9B3E-6C62-D511-AE1D1DD44C75}"/>
              </a:ext>
            </a:extLst>
          </p:cNvPr>
          <p:cNvSpPr>
            <a:spLocks noRot="1" noChangeAspect="1" noChangeArrowheads="1" noTextEdit="1"/>
          </p:cNvSpPr>
          <p:nvPr>
            <p:ph type="sldImg"/>
          </p:nvPr>
        </p:nvSpPr>
        <p:spPr>
          <a:xfrm>
            <a:off x="344488" y="835025"/>
            <a:ext cx="6380162" cy="4418013"/>
          </a:xfrm>
          <a:ln/>
        </p:spPr>
      </p:sp>
      <p:sp>
        <p:nvSpPr>
          <p:cNvPr id="689155" name="Rectangle 3">
            <a:extLst>
              <a:ext uri="{FF2B5EF4-FFF2-40B4-BE49-F238E27FC236}">
                <a16:creationId xmlns:a16="http://schemas.microsoft.com/office/drawing/2014/main" id="{8E3E982A-89D2-4CC5-F34C-7B455D52459A}"/>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Control lặp là </a:t>
            </a:r>
          </a:p>
          <a:p>
            <a:pPr marL="0" indent="0"/>
            <a:r>
              <a:rPr lang="ja-JP" altLang="en-US">
                <a:latin typeface="Arial" panose="020B0604020202020204" pitchFamily="34" charset="0"/>
              </a:rPr>
              <a:t>　</a:t>
            </a:r>
            <a:r>
              <a:rPr lang="en-US" altLang="ja-JP">
                <a:latin typeface="Arial" panose="020B0604020202020204" pitchFamily="34" charset="0"/>
              </a:rPr>
              <a:t>Là câu lệnh control để thực hiện xử lí lặp giống nhau , cũng gọi là lệnh loop</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Về câu lệnh control thì có câu lệnh </a:t>
            </a:r>
            <a:r>
              <a:rPr lang="en-US" altLang="ja-JP">
                <a:latin typeface="Arial" panose="020B0604020202020204" pitchFamily="34" charset="0"/>
                <a:ea typeface="ＭＳ ゴシック" panose="020B0609070205080204" pitchFamily="49" charset="-128"/>
              </a:rPr>
              <a:t>while, câu lệnh do-while, câu lệnh for</a:t>
            </a:r>
            <a:r>
              <a:rPr lang="en-US" altLang="ja-JP">
                <a:latin typeface="Arial" panose="020B0604020202020204" pitchFamily="34" charset="0"/>
              </a:rPr>
              <a:t>.</a:t>
            </a:r>
          </a:p>
          <a:p>
            <a:pPr marL="0" indent="0"/>
            <a:endParaRPr lang="en-US" altLang="ja-JP">
              <a:latin typeface="Arial" panose="020B0604020202020204" pitchFamily="34" charset="0"/>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0659" name="Rectangle 3">
            <a:extLst>
              <a:ext uri="{FF2B5EF4-FFF2-40B4-BE49-F238E27FC236}">
                <a16:creationId xmlns:a16="http://schemas.microsoft.com/office/drawing/2014/main" id="{8865F318-4960-CFF8-08BF-D100452599A1}"/>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while</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while, chỉ định điều kiện để thực hiện lặp và thực hiện control lặp </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Vì sẽ phán đoán điều kiện trước khi xử lí nên trong trường hợp ngay từ đầu điều kiện là false thì có khả năng không có xử lí nào được thực hiện.</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Cú pháp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Ví dụ</a:t>
            </a:r>
            <a:r>
              <a:rPr lang="ja-JP" altLang="en-US">
                <a:latin typeface="Arial" panose="020B0604020202020204" pitchFamily="34" charset="0"/>
              </a:rPr>
              <a:t>） </a:t>
            </a:r>
            <a:r>
              <a:rPr lang="en-US" altLang="ja-JP">
                <a:latin typeface="Arial" panose="020B0604020202020204" pitchFamily="34" charset="0"/>
              </a:rPr>
              <a:t>Thực hiện tính cộng từ 1 đến 10</a:t>
            </a:r>
          </a:p>
          <a:p>
            <a:pPr marL="0" indent="0"/>
            <a:r>
              <a:rPr lang="en-US" altLang="ja-JP">
                <a:latin typeface="Arial" panose="020B0604020202020204" pitchFamily="34" charset="0"/>
                <a:ea typeface="ＭＳ ゴシック" panose="020B0609070205080204" pitchFamily="49" charset="-128"/>
              </a:rPr>
              <a:t> int cnt = 1;</a:t>
            </a:r>
          </a:p>
          <a:p>
            <a:pPr marL="0" indent="0"/>
            <a:r>
              <a:rPr lang="en-US" altLang="ja-JP">
                <a:latin typeface="Arial" panose="020B0604020202020204" pitchFamily="34" charset="0"/>
                <a:ea typeface="ＭＳ ゴシック" panose="020B0609070205080204" pitchFamily="49" charset="-128"/>
              </a:rPr>
              <a:t> int ans = 0;</a:t>
            </a:r>
          </a:p>
          <a:p>
            <a:pPr marL="0" indent="0"/>
            <a:r>
              <a:rPr lang="en-US" altLang="ja-JP">
                <a:latin typeface="Arial" panose="020B0604020202020204" pitchFamily="34" charset="0"/>
                <a:ea typeface="ＭＳ ゴシック" panose="020B0609070205080204" pitchFamily="49" charset="-128"/>
              </a:rPr>
              <a:t> while (cnt &lt;= 10) {</a:t>
            </a:r>
          </a:p>
          <a:p>
            <a:pPr marL="0" indent="0"/>
            <a:r>
              <a:rPr lang="en-US" altLang="ja-JP">
                <a:latin typeface="Arial" panose="020B0604020202020204" pitchFamily="34" charset="0"/>
                <a:ea typeface="ＭＳ ゴシック" panose="020B0609070205080204" pitchFamily="49" charset="-128"/>
              </a:rPr>
              <a:t>     ans += cnt;		// giống với ans = ans + cnt;</a:t>
            </a:r>
          </a:p>
          <a:p>
            <a:pPr marL="0" indent="0"/>
            <a:r>
              <a:rPr lang="en-US" altLang="ja-JP">
                <a:latin typeface="Arial" panose="020B0604020202020204" pitchFamily="34" charset="0"/>
                <a:ea typeface="ＭＳ ゴシック" panose="020B0609070205080204" pitchFamily="49" charset="-128"/>
              </a:rPr>
              <a:t>     cnt++;			// giống với cnt = cnt + 1;</a:t>
            </a:r>
          </a:p>
          <a:p>
            <a:pPr marL="0" indent="0"/>
            <a:r>
              <a:rPr lang="en-US" altLang="ja-JP">
                <a:latin typeface="Arial" panose="020B0604020202020204" pitchFamily="34" charset="0"/>
                <a:ea typeface="ＭＳ ゴシック" panose="020B0609070205080204" pitchFamily="49" charset="-128"/>
              </a:rPr>
              <a:t> }</a:t>
            </a:r>
          </a:p>
          <a:p>
            <a:pPr marL="0" indent="0"/>
            <a:r>
              <a:rPr lang="en-US" altLang="ja-JP">
                <a:latin typeface="Arial" panose="020B0604020202020204" pitchFamily="34" charset="0"/>
                <a:ea typeface="ＭＳ ゴシック" panose="020B0609070205080204" pitchFamily="49" charset="-128"/>
              </a:rPr>
              <a:t> System.out.println(cnt + ", " + ans);	//</a:t>
            </a:r>
            <a:r>
              <a:rPr lang="ja-JP" altLang="en-US">
                <a:latin typeface="Arial" panose="020B0604020202020204" pitchFamily="34" charset="0"/>
                <a:ea typeface="ＭＳ ゴシック" panose="020B0609070205080204" pitchFamily="49" charset="-128"/>
              </a:rPr>
              <a:t>「</a:t>
            </a:r>
            <a:r>
              <a:rPr lang="en-US" altLang="ja-JP">
                <a:latin typeface="Arial" panose="020B0604020202020204" pitchFamily="34" charset="0"/>
                <a:ea typeface="ＭＳ ゴシック" panose="020B0609070205080204" pitchFamily="49" charset="-128"/>
              </a:rPr>
              <a:t>Hiển thị 11, 55</a:t>
            </a:r>
            <a:r>
              <a:rPr lang="ja-JP" altLang="en-US">
                <a:latin typeface="Arial" panose="020B0604020202020204" pitchFamily="34" charset="0"/>
                <a:ea typeface="ＭＳ ゴシック" panose="020B0609070205080204" pitchFamily="49" charset="-128"/>
              </a:rPr>
              <a:t>」</a:t>
            </a:r>
          </a:p>
          <a:p>
            <a:pPr marL="0" indent="0"/>
            <a:endParaRPr lang="en-US" altLang="ja-JP">
              <a:latin typeface="Arial" panose="020B0604020202020204" pitchFamily="34" charset="0"/>
              <a:ea typeface="ＭＳ ゴシック" panose="020B0609070205080204" pitchFamily="49" charset="-128"/>
            </a:endParaRPr>
          </a:p>
        </p:txBody>
      </p:sp>
      <p:sp>
        <p:nvSpPr>
          <p:cNvPr id="710658" name="Rectangle 2">
            <a:extLst>
              <a:ext uri="{FF2B5EF4-FFF2-40B4-BE49-F238E27FC236}">
                <a16:creationId xmlns:a16="http://schemas.microsoft.com/office/drawing/2014/main" id="{92C9CDEC-A30E-A345-942D-76CBB4409AFF}"/>
              </a:ext>
            </a:extLst>
          </p:cNvPr>
          <p:cNvSpPr>
            <a:spLocks noRot="1" noChangeAspect="1" noChangeArrowheads="1" noTextEdit="1"/>
          </p:cNvSpPr>
          <p:nvPr>
            <p:ph type="sldImg"/>
          </p:nvPr>
        </p:nvSpPr>
        <p:spPr>
          <a:ln/>
        </p:spPr>
      </p:sp>
      <p:sp>
        <p:nvSpPr>
          <p:cNvPr id="710674" name="Text Box 18">
            <a:extLst>
              <a:ext uri="{FF2B5EF4-FFF2-40B4-BE49-F238E27FC236}">
                <a16:creationId xmlns:a16="http://schemas.microsoft.com/office/drawing/2014/main" id="{CED3F647-3102-1DA4-9F85-76CF5E1861F6}"/>
              </a:ext>
            </a:extLst>
          </p:cNvPr>
          <p:cNvSpPr txBox="1">
            <a:spLocks noChangeArrowheads="1"/>
          </p:cNvSpPr>
          <p:nvPr/>
        </p:nvSpPr>
        <p:spPr bwMode="auto">
          <a:xfrm>
            <a:off x="765175" y="6307138"/>
            <a:ext cx="5854700" cy="6921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while (</a:t>
            </a:r>
            <a:r>
              <a:rPr lang="en-US" altLang="ja-JP" b="0">
                <a:ea typeface="MS UI Gothic" panose="020B0600070205080204" pitchFamily="50" charset="-128"/>
              </a:rPr>
              <a:t>điều kiện lặp </a:t>
            </a:r>
            <a:r>
              <a:rPr lang="en-US" altLang="ja-JP" b="0">
                <a:ea typeface="ＭＳ ゴシック" panose="020B0609070205080204" pitchFamily="49" charset="-128"/>
              </a:rPr>
              <a:t>) {</a:t>
            </a:r>
          </a:p>
          <a:p>
            <a:pPr lvl="1" algn="just"/>
            <a:r>
              <a:rPr lang="en-US" altLang="ja-JP" b="0">
                <a:ea typeface="ＭＳ ゴシック" panose="020B0609070205080204" pitchFamily="49" charset="-128"/>
              </a:rPr>
              <a:t>    Xử lí muốn thực hiên lặp khi điều kiện là true </a:t>
            </a:r>
            <a:endParaRPr lang="en-US" altLang="ja-JP" b="0">
              <a:ea typeface="MS UI Gothic" panose="020B0600070205080204" pitchFamily="50" charset="-128"/>
            </a:endParaRPr>
          </a:p>
          <a:p>
            <a:pPr lvl="1" algn="just"/>
            <a:r>
              <a:rPr lang="en-US" altLang="ja-JP" b="0">
                <a:ea typeface="ＭＳ ゴシック" panose="020B0609070205080204" pitchFamily="49" charset="-128"/>
              </a:rPr>
              <a:t>}</a:t>
            </a:r>
            <a:endParaRPr lang="en-US" altLang="en-US" b="0">
              <a:ea typeface="ＭＳ ゴシック" panose="020B0609070205080204" pitchFamily="49" charset="-128"/>
            </a:endParaRPr>
          </a:p>
        </p:txBody>
      </p:sp>
      <p:sp>
        <p:nvSpPr>
          <p:cNvPr id="710675" name="AutoShape 19">
            <a:extLst>
              <a:ext uri="{FF2B5EF4-FFF2-40B4-BE49-F238E27FC236}">
                <a16:creationId xmlns:a16="http://schemas.microsoft.com/office/drawing/2014/main" id="{5A9DDA1F-D28B-53AD-8C29-55DD91A09B96}"/>
              </a:ext>
            </a:extLst>
          </p:cNvPr>
          <p:cNvSpPr>
            <a:spLocks noChangeArrowheads="1"/>
          </p:cNvSpPr>
          <p:nvPr/>
        </p:nvSpPr>
        <p:spPr bwMode="auto">
          <a:xfrm>
            <a:off x="4654550" y="6262688"/>
            <a:ext cx="2166938" cy="601662"/>
          </a:xfrm>
          <a:prstGeom prst="wedgeRoundRectCallout">
            <a:avLst>
              <a:gd name="adj1" fmla="val -67875"/>
              <a:gd name="adj2" fmla="val 5671"/>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4161" tIns="47080" rIns="94161" bIns="47080"/>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09700"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Trong trường hợp ngay từ đầu điều kiện lặp là false thì không có xử lí nào được thực hiện</a:t>
            </a:r>
          </a:p>
        </p:txBody>
      </p:sp>
      <p:grpSp>
        <p:nvGrpSpPr>
          <p:cNvPr id="710698" name="Group 42">
            <a:extLst>
              <a:ext uri="{FF2B5EF4-FFF2-40B4-BE49-F238E27FC236}">
                <a16:creationId xmlns:a16="http://schemas.microsoft.com/office/drawing/2014/main" id="{8E8AD275-6DA5-A1F0-E75C-6723D82BD327}"/>
              </a:ext>
            </a:extLst>
          </p:cNvPr>
          <p:cNvGrpSpPr>
            <a:grpSpLocks/>
          </p:cNvGrpSpPr>
          <p:nvPr/>
        </p:nvGrpSpPr>
        <p:grpSpPr bwMode="auto">
          <a:xfrm>
            <a:off x="755650" y="8458200"/>
            <a:ext cx="5916613" cy="1346200"/>
            <a:chOff x="453" y="5167"/>
            <a:chExt cx="3593" cy="919"/>
          </a:xfrm>
        </p:grpSpPr>
        <p:sp>
          <p:nvSpPr>
            <p:cNvPr id="710699" name="Text Box 43">
              <a:extLst>
                <a:ext uri="{FF2B5EF4-FFF2-40B4-BE49-F238E27FC236}">
                  <a16:creationId xmlns:a16="http://schemas.microsoft.com/office/drawing/2014/main" id="{B94CD136-36C3-FBF8-02B4-D66D3ACB2FB2}"/>
                </a:ext>
              </a:extLst>
            </p:cNvPr>
            <p:cNvSpPr txBox="1">
              <a:spLocks noChangeArrowheads="1"/>
            </p:cNvSpPr>
            <p:nvPr/>
          </p:nvSpPr>
          <p:spPr bwMode="auto">
            <a:xfrm>
              <a:off x="455" y="5383"/>
              <a:ext cx="3591" cy="70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79317" tIns="119988" rIns="379317" bIns="119988"/>
            <a:lstStyle>
              <a:lvl1pPr defTabSz="928688">
                <a:defRPr kumimoji="1">
                  <a:solidFill>
                    <a:schemeClr val="tx1"/>
                  </a:solidFill>
                  <a:latin typeface="Arial" panose="020B0604020202020204" pitchFamily="34" charset="0"/>
                  <a:ea typeface="ＭＳ Ｐゴシック" panose="020B0600070205080204" pitchFamily="50" charset="-128"/>
                </a:defRPr>
              </a:lvl1pPr>
              <a:lvl2pPr marL="492125" defTabSz="928688">
                <a:defRPr kumimoji="1">
                  <a:solidFill>
                    <a:schemeClr val="tx1"/>
                  </a:solidFill>
                  <a:latin typeface="Arial" panose="020B0604020202020204" pitchFamily="34" charset="0"/>
                  <a:ea typeface="ＭＳ Ｐゴシック" panose="020B0600070205080204" pitchFamily="50" charset="-128"/>
                </a:defRPr>
              </a:lvl2pPr>
              <a:lvl3pPr marL="982663" defTabSz="928688">
                <a:defRPr kumimoji="1">
                  <a:solidFill>
                    <a:schemeClr val="tx1"/>
                  </a:solidFill>
                  <a:latin typeface="Arial" panose="020B0604020202020204" pitchFamily="34" charset="0"/>
                  <a:ea typeface="ＭＳ Ｐゴシック" panose="020B0600070205080204" pitchFamily="50" charset="-128"/>
                </a:defRPr>
              </a:lvl3pPr>
              <a:lvl4pPr marL="1474788" defTabSz="928688">
                <a:defRPr kumimoji="1">
                  <a:solidFill>
                    <a:schemeClr val="tx1"/>
                  </a:solidFill>
                  <a:latin typeface="Arial" panose="020B0604020202020204" pitchFamily="34" charset="0"/>
                  <a:ea typeface="ＭＳ Ｐゴシック" panose="020B0600070205080204" pitchFamily="50" charset="-128"/>
                </a:defRPr>
              </a:lvl4pPr>
              <a:lvl5pPr marL="1966913" defTabSz="928688">
                <a:defRPr kumimoji="1">
                  <a:solidFill>
                    <a:schemeClr val="tx1"/>
                  </a:solidFill>
                  <a:latin typeface="Arial" panose="020B0604020202020204" pitchFamily="34" charset="0"/>
                  <a:ea typeface="ＭＳ Ｐゴシック" panose="020B0600070205080204" pitchFamily="50" charset="-128"/>
                </a:defRPr>
              </a:lvl5pPr>
              <a:lvl6pPr marL="24241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nSpc>
                  <a:spcPct val="50000"/>
                </a:lnSpc>
              </a:pPr>
              <a:r>
                <a:rPr lang="en-US" altLang="ja-JP" b="0">
                  <a:ea typeface="MS UI Gothic" panose="020B0600070205080204" pitchFamily="50" charset="-128"/>
                </a:rPr>
                <a:t>Gọi xử lí lặp không bao giờ kết thúc là lặp vô hạn</a:t>
              </a:r>
            </a:p>
            <a:p>
              <a:r>
                <a:rPr lang="en-US" altLang="ja-JP" b="0">
                  <a:ea typeface="MS UI Gothic" panose="020B0600070205080204" pitchFamily="50" charset="-128"/>
                </a:rPr>
                <a:t>Để không tạo ra lặp vô hạn thì trong xử lí lặp của câu lệnh while phải có xử lí thay đổi điều kiện lặp chuyển từ true sang false .</a:t>
              </a:r>
            </a:p>
            <a:p>
              <a:r>
                <a:rPr lang="ja-JP" altLang="en-US" b="0">
                  <a:ea typeface="MS UI Gothic" panose="020B0600070205080204" pitchFamily="50" charset="-128"/>
                </a:rPr>
                <a:t>（</a:t>
              </a:r>
              <a:r>
                <a:rPr lang="en-US" altLang="ja-JP" b="0">
                  <a:ea typeface="MS UI Gothic" panose="020B0600070205080204" pitchFamily="50" charset="-128"/>
                </a:rPr>
                <a:t>Ở ví dụ trên là </a:t>
              </a:r>
              <a:r>
                <a:rPr lang="en-US" altLang="ja-JP" b="0">
                  <a:ea typeface="ＭＳ ゴシック" panose="020B0609070205080204" pitchFamily="49" charset="-128"/>
                </a:rPr>
                <a:t>cnt++;</a:t>
              </a:r>
              <a:r>
                <a:rPr lang="ja-JP" altLang="en-US" b="0">
                  <a:ea typeface="MS UI Gothic" panose="020B0600070205080204" pitchFamily="50" charset="-128"/>
                </a:rPr>
                <a:t>）</a:t>
              </a:r>
            </a:p>
            <a:p>
              <a:r>
                <a:rPr lang="en-US" altLang="ja-JP" b="0">
                  <a:ea typeface="MS UI Gothic" panose="020B0600070205080204" pitchFamily="50" charset="-128"/>
                </a:rPr>
                <a:t>Hãy mô tả cẩn thận sao cho không thành loop vô hạn </a:t>
              </a:r>
            </a:p>
          </p:txBody>
        </p:sp>
        <p:grpSp>
          <p:nvGrpSpPr>
            <p:cNvPr id="710700" name="Group 44">
              <a:extLst>
                <a:ext uri="{FF2B5EF4-FFF2-40B4-BE49-F238E27FC236}">
                  <a16:creationId xmlns:a16="http://schemas.microsoft.com/office/drawing/2014/main" id="{DD683363-BDB0-CB9A-E569-619C92495B87}"/>
                </a:ext>
              </a:extLst>
            </p:cNvPr>
            <p:cNvGrpSpPr>
              <a:grpSpLocks/>
            </p:cNvGrpSpPr>
            <p:nvPr/>
          </p:nvGrpSpPr>
          <p:grpSpPr bwMode="auto">
            <a:xfrm>
              <a:off x="453" y="5167"/>
              <a:ext cx="3593" cy="218"/>
              <a:chOff x="351" y="1572"/>
              <a:chExt cx="4968" cy="174"/>
            </a:xfrm>
          </p:grpSpPr>
          <p:pic>
            <p:nvPicPr>
              <p:cNvPr id="710701" name="Picture 45">
                <a:extLst>
                  <a:ext uri="{FF2B5EF4-FFF2-40B4-BE49-F238E27FC236}">
                    <a16:creationId xmlns:a16="http://schemas.microsoft.com/office/drawing/2014/main" id="{BC88AF3B-E70F-589A-CEAA-065D92C53F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710702" name="Text Box 46">
                <a:extLst>
                  <a:ext uri="{FF2B5EF4-FFF2-40B4-BE49-F238E27FC236}">
                    <a16:creationId xmlns:a16="http://schemas.microsoft.com/office/drawing/2014/main" id="{BD8439BC-ECF7-B0D5-8C4E-BFA21B88B18D}"/>
                  </a:ext>
                </a:extLst>
              </p:cNvPr>
              <p:cNvSpPr txBox="1">
                <a:spLocks noChangeArrowheads="1"/>
              </p:cNvSpPr>
              <p:nvPr/>
            </p:nvSpPr>
            <p:spPr bwMode="auto">
              <a:xfrm>
                <a:off x="518" y="1596"/>
                <a:ext cx="491" cy="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8314" tIns="49156" rIns="98314" bIns="49156">
                <a:spAutoFit/>
              </a:bodyPr>
              <a:lstStyle>
                <a:lvl1pPr defTabSz="928688">
                  <a:defRPr kumimoji="1">
                    <a:solidFill>
                      <a:schemeClr val="tx1"/>
                    </a:solidFill>
                    <a:latin typeface="Arial" panose="020B0604020202020204" pitchFamily="34" charset="0"/>
                    <a:ea typeface="ＭＳ Ｐゴシック" panose="020B0600070205080204" pitchFamily="50" charset="-128"/>
                  </a:defRPr>
                </a:lvl1pPr>
                <a:lvl2pPr marL="492125" defTabSz="928688">
                  <a:defRPr kumimoji="1">
                    <a:solidFill>
                      <a:schemeClr val="tx1"/>
                    </a:solidFill>
                    <a:latin typeface="Arial" panose="020B0604020202020204" pitchFamily="34" charset="0"/>
                    <a:ea typeface="ＭＳ Ｐゴシック" panose="020B0600070205080204" pitchFamily="50" charset="-128"/>
                  </a:defRPr>
                </a:lvl2pPr>
                <a:lvl3pPr marL="982663" defTabSz="928688">
                  <a:defRPr kumimoji="1">
                    <a:solidFill>
                      <a:schemeClr val="tx1"/>
                    </a:solidFill>
                    <a:latin typeface="Arial" panose="020B0604020202020204" pitchFamily="34" charset="0"/>
                    <a:ea typeface="ＭＳ Ｐゴシック" panose="020B0600070205080204" pitchFamily="50" charset="-128"/>
                  </a:defRPr>
                </a:lvl3pPr>
                <a:lvl4pPr marL="1474788" defTabSz="928688">
                  <a:defRPr kumimoji="1">
                    <a:solidFill>
                      <a:schemeClr val="tx1"/>
                    </a:solidFill>
                    <a:latin typeface="Arial" panose="020B0604020202020204" pitchFamily="34" charset="0"/>
                    <a:ea typeface="ＭＳ Ｐゴシック" panose="020B0600070205080204" pitchFamily="50" charset="-128"/>
                  </a:defRPr>
                </a:lvl4pPr>
                <a:lvl5pPr marL="1966913" defTabSz="928688">
                  <a:defRPr kumimoji="1">
                    <a:solidFill>
                      <a:schemeClr val="tx1"/>
                    </a:solidFill>
                    <a:latin typeface="Arial" panose="020B0604020202020204" pitchFamily="34" charset="0"/>
                    <a:ea typeface="ＭＳ Ｐゴシック" panose="020B0600070205080204" pitchFamily="50" charset="-128"/>
                  </a:defRPr>
                </a:lvl5pPr>
                <a:lvl6pPr marL="24241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100">
                    <a:solidFill>
                      <a:schemeClr val="bg1"/>
                    </a:solidFill>
                  </a:rPr>
                  <a:t>Chú ý</a:t>
                </a:r>
              </a:p>
            </p:txBody>
          </p:sp>
        </p:grpSp>
      </p:gr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2642" name="Rectangle 2">
            <a:extLst>
              <a:ext uri="{FF2B5EF4-FFF2-40B4-BE49-F238E27FC236}">
                <a16:creationId xmlns:a16="http://schemas.microsoft.com/office/drawing/2014/main" id="{02BE01EA-D581-2226-9E33-472B5A4EB519}"/>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do-while</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do-while giống với câu lệnh while</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do-while cũng chỉ định điều kiện để thực hiện lặp và thực hiện control lặp </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while thực hiện phán đoán điều kiện trước khi xử lí nhưng câu lệnh do-while thực hiện phán đoán điều kiện sau khi thực hiện xử lí </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Chính vì thế,  nếu dùng câu lệnh </a:t>
            </a:r>
            <a:r>
              <a:rPr lang="en-US" altLang="ja-JP">
                <a:latin typeface="Arial" panose="020B0604020202020204" pitchFamily="34" charset="0"/>
                <a:ea typeface="ＭＳ ゴシック" panose="020B0609070205080204" pitchFamily="49" charset="-128"/>
              </a:rPr>
              <a:t>do-while thì nhất định sẽ thực hiện xử lí tối thiểu </a:t>
            </a:r>
          </a:p>
          <a:p>
            <a:pPr marL="0" indent="0"/>
            <a:r>
              <a:rPr lang="en-US" altLang="ja-JP">
                <a:latin typeface="Arial" panose="020B0604020202020204" pitchFamily="34" charset="0"/>
                <a:ea typeface="ＭＳ ゴシック" panose="020B0609070205080204" pitchFamily="49" charset="-128"/>
              </a:rPr>
              <a:t>1 lần </a:t>
            </a:r>
            <a:r>
              <a:rPr lang="en-US" altLang="ja-JP">
                <a:latin typeface="Arial" panose="020B0604020202020204" pitchFamily="34" charset="0"/>
              </a:rPr>
              <a:t>.</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Cú pháp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VD</a:t>
            </a:r>
            <a:r>
              <a:rPr lang="ja-JP" altLang="en-US">
                <a:latin typeface="Arial" panose="020B0604020202020204" pitchFamily="34" charset="0"/>
              </a:rPr>
              <a:t>） </a:t>
            </a:r>
            <a:r>
              <a:rPr lang="en-US" altLang="ja-JP">
                <a:latin typeface="Arial" panose="020B0604020202020204" pitchFamily="34" charset="0"/>
              </a:rPr>
              <a:t>Thực hiện tính cộng từ 1 đến 10</a:t>
            </a:r>
          </a:p>
          <a:p>
            <a:pPr marL="0" indent="0"/>
            <a:r>
              <a:rPr lang="en-US" altLang="ja-JP">
                <a:latin typeface="Arial" panose="020B0604020202020204" pitchFamily="34" charset="0"/>
                <a:ea typeface="ＭＳ ゴシック" panose="020B0609070205080204" pitchFamily="49" charset="-128"/>
              </a:rPr>
              <a:t> int cnt = 1;</a:t>
            </a:r>
          </a:p>
          <a:p>
            <a:pPr marL="0" indent="0"/>
            <a:r>
              <a:rPr lang="en-US" altLang="ja-JP">
                <a:latin typeface="Arial" panose="020B0604020202020204" pitchFamily="34" charset="0"/>
                <a:ea typeface="ＭＳ ゴシック" panose="020B0609070205080204" pitchFamily="49" charset="-128"/>
              </a:rPr>
              <a:t> int ans = 0;</a:t>
            </a:r>
          </a:p>
          <a:p>
            <a:pPr marL="0" indent="0"/>
            <a:r>
              <a:rPr lang="en-US" altLang="ja-JP">
                <a:latin typeface="Arial" panose="020B0604020202020204" pitchFamily="34" charset="0"/>
                <a:ea typeface="ＭＳ ゴシック" panose="020B0609070205080204" pitchFamily="49" charset="-128"/>
              </a:rPr>
              <a:t> do {</a:t>
            </a:r>
          </a:p>
          <a:p>
            <a:pPr marL="0" indent="0"/>
            <a:r>
              <a:rPr lang="en-US" altLang="ja-JP">
                <a:latin typeface="Arial" panose="020B0604020202020204" pitchFamily="34" charset="0"/>
                <a:ea typeface="ＭＳ ゴシック" panose="020B0609070205080204" pitchFamily="49" charset="-128"/>
              </a:rPr>
              <a:t>     ans += cnt;		// giống ans = ans + cnt;</a:t>
            </a:r>
          </a:p>
          <a:p>
            <a:pPr marL="0" indent="0"/>
            <a:r>
              <a:rPr lang="en-US" altLang="ja-JP">
                <a:latin typeface="Arial" panose="020B0604020202020204" pitchFamily="34" charset="0"/>
                <a:ea typeface="ＭＳ ゴシック" panose="020B0609070205080204" pitchFamily="49" charset="-128"/>
              </a:rPr>
              <a:t>     cnt++;			// giống cnt = cnt + 1;</a:t>
            </a:r>
          </a:p>
          <a:p>
            <a:pPr marL="0" indent="0"/>
            <a:r>
              <a:rPr lang="en-US" altLang="ja-JP">
                <a:latin typeface="Arial" panose="020B0604020202020204" pitchFamily="34" charset="0"/>
                <a:ea typeface="ＭＳ ゴシック" panose="020B0609070205080204" pitchFamily="49" charset="-128"/>
              </a:rPr>
              <a:t> } while (cnt &lt;= 10);</a:t>
            </a:r>
          </a:p>
          <a:p>
            <a:pPr marL="0" indent="0"/>
            <a:r>
              <a:rPr lang="en-US" altLang="ja-JP">
                <a:latin typeface="Arial" panose="020B0604020202020204" pitchFamily="34" charset="0"/>
                <a:ea typeface="ＭＳ ゴシック" panose="020B0609070205080204" pitchFamily="49" charset="-128"/>
              </a:rPr>
              <a:t> System.out.println(cnt + ", " + ans);	//</a:t>
            </a:r>
            <a:r>
              <a:rPr lang="ja-JP" altLang="en-US">
                <a:latin typeface="Arial" panose="020B0604020202020204" pitchFamily="34" charset="0"/>
                <a:ea typeface="ＭＳ ゴシック" panose="020B0609070205080204" pitchFamily="49" charset="-128"/>
              </a:rPr>
              <a:t>「</a:t>
            </a:r>
            <a:r>
              <a:rPr lang="en-US" altLang="ja-JP">
                <a:latin typeface="Arial" panose="020B0604020202020204" pitchFamily="34" charset="0"/>
                <a:ea typeface="ＭＳ ゴシック" panose="020B0609070205080204" pitchFamily="49" charset="-128"/>
              </a:rPr>
              <a:t>Hiển thi 11, 55</a:t>
            </a:r>
            <a:r>
              <a:rPr lang="ja-JP" altLang="en-US">
                <a:latin typeface="Arial" panose="020B0604020202020204" pitchFamily="34" charset="0"/>
                <a:ea typeface="ＭＳ ゴシック" panose="020B0609070205080204" pitchFamily="49" charset="-128"/>
              </a:rPr>
              <a:t>」</a:t>
            </a:r>
          </a:p>
          <a:p>
            <a:pPr marL="0" indent="0"/>
            <a:endParaRPr lang="en-US" altLang="ja-JP">
              <a:latin typeface="Arial" panose="020B0604020202020204" pitchFamily="34" charset="0"/>
              <a:ea typeface="ＭＳ ゴシック" panose="020B0609070205080204" pitchFamily="49" charset="-128"/>
            </a:endParaRPr>
          </a:p>
        </p:txBody>
      </p:sp>
      <p:sp>
        <p:nvSpPr>
          <p:cNvPr id="752643" name="Rectangle 3">
            <a:extLst>
              <a:ext uri="{FF2B5EF4-FFF2-40B4-BE49-F238E27FC236}">
                <a16:creationId xmlns:a16="http://schemas.microsoft.com/office/drawing/2014/main" id="{43B35894-1551-39AC-243C-286990F15BD6}"/>
              </a:ext>
            </a:extLst>
          </p:cNvPr>
          <p:cNvSpPr>
            <a:spLocks noRot="1" noChangeAspect="1" noChangeArrowheads="1" noTextEdit="1"/>
          </p:cNvSpPr>
          <p:nvPr>
            <p:ph type="sldImg"/>
          </p:nvPr>
        </p:nvSpPr>
        <p:spPr>
          <a:ln/>
        </p:spPr>
      </p:sp>
      <p:sp>
        <p:nvSpPr>
          <p:cNvPr id="752645" name="Text Box 5">
            <a:extLst>
              <a:ext uri="{FF2B5EF4-FFF2-40B4-BE49-F238E27FC236}">
                <a16:creationId xmlns:a16="http://schemas.microsoft.com/office/drawing/2014/main" id="{734EF468-A3C4-57D7-F5C4-E7BB8A43D190}"/>
              </a:ext>
            </a:extLst>
          </p:cNvPr>
          <p:cNvSpPr txBox="1">
            <a:spLocks noChangeArrowheads="1"/>
          </p:cNvSpPr>
          <p:nvPr/>
        </p:nvSpPr>
        <p:spPr bwMode="auto">
          <a:xfrm>
            <a:off x="736600" y="6807200"/>
            <a:ext cx="5854700" cy="6921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do {</a:t>
            </a:r>
          </a:p>
          <a:p>
            <a:pPr lvl="1" algn="just"/>
            <a:r>
              <a:rPr lang="en-US" altLang="ja-JP" b="0">
                <a:ea typeface="ＭＳ ゴシック" panose="020B0609070205080204" pitchFamily="49" charset="-128"/>
              </a:rPr>
              <a:t>    Xử lí muốn thực hiện lặp khi điều kiện là true </a:t>
            </a:r>
            <a:endParaRPr lang="en-US" altLang="ja-JP" b="0">
              <a:ea typeface="MS UI Gothic" panose="020B0600070205080204" pitchFamily="50" charset="-128"/>
            </a:endParaRPr>
          </a:p>
          <a:p>
            <a:pPr lvl="1" algn="just"/>
            <a:r>
              <a:rPr lang="en-US" altLang="ja-JP" b="0">
                <a:ea typeface="ＭＳ ゴシック" panose="020B0609070205080204" pitchFamily="49" charset="-128"/>
              </a:rPr>
              <a:t>} while (điều kiện lặp);</a:t>
            </a:r>
            <a:endParaRPr lang="en-US" altLang="en-US" b="0">
              <a:ea typeface="ＭＳ ゴシック" panose="020B0609070205080204" pitchFamily="49" charset="-128"/>
            </a:endParaRPr>
          </a:p>
        </p:txBody>
      </p:sp>
      <p:sp>
        <p:nvSpPr>
          <p:cNvPr id="752646" name="AutoShape 6">
            <a:extLst>
              <a:ext uri="{FF2B5EF4-FFF2-40B4-BE49-F238E27FC236}">
                <a16:creationId xmlns:a16="http://schemas.microsoft.com/office/drawing/2014/main" id="{2B43452C-D1FD-D4DD-A576-DDFEEFF08EA7}"/>
              </a:ext>
            </a:extLst>
          </p:cNvPr>
          <p:cNvSpPr>
            <a:spLocks noChangeArrowheads="1"/>
          </p:cNvSpPr>
          <p:nvPr/>
        </p:nvSpPr>
        <p:spPr bwMode="auto">
          <a:xfrm>
            <a:off x="4435475" y="6886575"/>
            <a:ext cx="2225675" cy="582613"/>
          </a:xfrm>
          <a:prstGeom prst="wedgeRoundRectCallout">
            <a:avLst>
              <a:gd name="adj1" fmla="val -70255"/>
              <a:gd name="adj2" fmla="val -3134"/>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4161" tIns="47080" rIns="94161" bIns="47080"/>
          <a:lstStyle>
            <a:lvl1pPr defTabSz="941388">
              <a:defRPr kumimoji="1">
                <a:solidFill>
                  <a:schemeClr val="tx1"/>
                </a:solidFill>
                <a:latin typeface="Arial" panose="020B0604020202020204" pitchFamily="34" charset="0"/>
                <a:ea typeface="ＭＳ Ｐゴシック" panose="020B0600070205080204" pitchFamily="50" charset="-128"/>
              </a:defRPr>
            </a:lvl1pPr>
            <a:lvl2pPr marL="471488" defTabSz="941388">
              <a:defRPr kumimoji="1">
                <a:solidFill>
                  <a:schemeClr val="tx1"/>
                </a:solidFill>
                <a:latin typeface="Arial" panose="020B0604020202020204" pitchFamily="34" charset="0"/>
                <a:ea typeface="ＭＳ Ｐゴシック" panose="020B0600070205080204" pitchFamily="50" charset="-128"/>
              </a:defRPr>
            </a:lvl2pPr>
            <a:lvl3pPr marL="941388" defTabSz="941388">
              <a:defRPr kumimoji="1">
                <a:solidFill>
                  <a:schemeClr val="tx1"/>
                </a:solidFill>
                <a:latin typeface="Arial" panose="020B0604020202020204" pitchFamily="34" charset="0"/>
                <a:ea typeface="ＭＳ Ｐゴシック" panose="020B0600070205080204" pitchFamily="50" charset="-128"/>
              </a:defRPr>
            </a:lvl3pPr>
            <a:lvl4pPr marL="1409700" defTabSz="941388">
              <a:defRPr kumimoji="1">
                <a:solidFill>
                  <a:schemeClr val="tx1"/>
                </a:solidFill>
                <a:latin typeface="Arial" panose="020B0604020202020204" pitchFamily="34" charset="0"/>
                <a:ea typeface="ＭＳ Ｐゴシック" panose="020B0600070205080204" pitchFamily="50" charset="-128"/>
              </a:defRPr>
            </a:lvl4pPr>
            <a:lvl5pPr marL="1884363" defTabSz="941388">
              <a:defRPr kumimoji="1">
                <a:solidFill>
                  <a:schemeClr val="tx1"/>
                </a:solidFill>
                <a:latin typeface="Arial" panose="020B0604020202020204" pitchFamily="34" charset="0"/>
                <a:ea typeface="ＭＳ Ｐゴシック" panose="020B0600070205080204" pitchFamily="50" charset="-128"/>
              </a:defRPr>
            </a:lvl5pPr>
            <a:lvl6pPr marL="23415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87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59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13163" defTabSz="9413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Kể cả trường hợp ngay từ đầu điều kiện lặp là false thì xử lí sẽ được thực hiện 1 lần lặp</a:t>
            </a:r>
          </a:p>
        </p:txBody>
      </p:sp>
      <p:grpSp>
        <p:nvGrpSpPr>
          <p:cNvPr id="752664" name="Group 24">
            <a:extLst>
              <a:ext uri="{FF2B5EF4-FFF2-40B4-BE49-F238E27FC236}">
                <a16:creationId xmlns:a16="http://schemas.microsoft.com/office/drawing/2014/main" id="{BEE800A3-B0AA-9B37-CA2B-F8E0850FF296}"/>
              </a:ext>
            </a:extLst>
          </p:cNvPr>
          <p:cNvGrpSpPr>
            <a:grpSpLocks/>
          </p:cNvGrpSpPr>
          <p:nvPr/>
        </p:nvGrpSpPr>
        <p:grpSpPr bwMode="auto">
          <a:xfrm>
            <a:off x="746125" y="8977313"/>
            <a:ext cx="5916613" cy="874712"/>
            <a:chOff x="470" y="5445"/>
            <a:chExt cx="3727" cy="551"/>
          </a:xfrm>
        </p:grpSpPr>
        <p:sp>
          <p:nvSpPr>
            <p:cNvPr id="752648" name="Text Box 8">
              <a:extLst>
                <a:ext uri="{FF2B5EF4-FFF2-40B4-BE49-F238E27FC236}">
                  <a16:creationId xmlns:a16="http://schemas.microsoft.com/office/drawing/2014/main" id="{44991559-9BA4-CE86-20A6-68E19454A022}"/>
                </a:ext>
              </a:extLst>
            </p:cNvPr>
            <p:cNvSpPr txBox="1">
              <a:spLocks noChangeArrowheads="1"/>
            </p:cNvSpPr>
            <p:nvPr/>
          </p:nvSpPr>
          <p:spPr bwMode="auto">
            <a:xfrm>
              <a:off x="472" y="5606"/>
              <a:ext cx="3725" cy="39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79317" tIns="119988" rIns="379317" bIns="119988" anchor="ctr"/>
            <a:lstStyle>
              <a:lvl1pPr defTabSz="928688">
                <a:defRPr kumimoji="1">
                  <a:solidFill>
                    <a:schemeClr val="tx1"/>
                  </a:solidFill>
                  <a:latin typeface="Arial" panose="020B0604020202020204" pitchFamily="34" charset="0"/>
                  <a:ea typeface="ＭＳ Ｐゴシック" panose="020B0600070205080204" pitchFamily="50" charset="-128"/>
                </a:defRPr>
              </a:lvl1pPr>
              <a:lvl2pPr marL="492125" defTabSz="928688">
                <a:defRPr kumimoji="1">
                  <a:solidFill>
                    <a:schemeClr val="tx1"/>
                  </a:solidFill>
                  <a:latin typeface="Arial" panose="020B0604020202020204" pitchFamily="34" charset="0"/>
                  <a:ea typeface="ＭＳ Ｐゴシック" panose="020B0600070205080204" pitchFamily="50" charset="-128"/>
                </a:defRPr>
              </a:lvl2pPr>
              <a:lvl3pPr marL="982663" defTabSz="928688">
                <a:defRPr kumimoji="1">
                  <a:solidFill>
                    <a:schemeClr val="tx1"/>
                  </a:solidFill>
                  <a:latin typeface="Arial" panose="020B0604020202020204" pitchFamily="34" charset="0"/>
                  <a:ea typeface="ＭＳ Ｐゴシック" panose="020B0600070205080204" pitchFamily="50" charset="-128"/>
                </a:defRPr>
              </a:lvl3pPr>
              <a:lvl4pPr marL="1474788" defTabSz="928688">
                <a:defRPr kumimoji="1">
                  <a:solidFill>
                    <a:schemeClr val="tx1"/>
                  </a:solidFill>
                  <a:latin typeface="Arial" panose="020B0604020202020204" pitchFamily="34" charset="0"/>
                  <a:ea typeface="ＭＳ Ｐゴシック" panose="020B0600070205080204" pitchFamily="50" charset="-128"/>
                </a:defRPr>
              </a:lvl4pPr>
              <a:lvl5pPr marL="1966913" defTabSz="928688">
                <a:defRPr kumimoji="1">
                  <a:solidFill>
                    <a:schemeClr val="tx1"/>
                  </a:solidFill>
                  <a:latin typeface="Arial" panose="020B0604020202020204" pitchFamily="34" charset="0"/>
                  <a:ea typeface="ＭＳ Ｐゴシック" panose="020B0600070205080204" pitchFamily="50" charset="-128"/>
                </a:defRPr>
              </a:lvl5pPr>
              <a:lvl6pPr marL="24241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Để không tạo ra lặp vô hạn thì trong xử lí lặp của câu lệnh do-while phải có xử lí thay đổi điều kiện lặp chuyển từ true sang false</a:t>
              </a:r>
              <a:r>
                <a:rPr lang="ja-JP" altLang="en-US" b="0">
                  <a:ea typeface="MS UI Gothic" panose="020B0600070205080204" pitchFamily="50" charset="-128"/>
                </a:rPr>
                <a:t>（</a:t>
              </a:r>
              <a:r>
                <a:rPr lang="en-US" altLang="ja-JP" b="0">
                  <a:ea typeface="ＭＳ ゴシック" panose="020B0609070205080204" pitchFamily="49" charset="-128"/>
                </a:rPr>
                <a:t>cnt++;của ví dụ trên</a:t>
              </a:r>
              <a:r>
                <a:rPr lang="ja-JP" altLang="en-US" b="0">
                  <a:ea typeface="MS UI Gothic" panose="020B0600070205080204" pitchFamily="50" charset="-128"/>
                </a:rPr>
                <a:t>）</a:t>
              </a:r>
            </a:p>
          </p:txBody>
        </p:sp>
        <p:grpSp>
          <p:nvGrpSpPr>
            <p:cNvPr id="752649" name="Group 9">
              <a:extLst>
                <a:ext uri="{FF2B5EF4-FFF2-40B4-BE49-F238E27FC236}">
                  <a16:creationId xmlns:a16="http://schemas.microsoft.com/office/drawing/2014/main" id="{1CD86629-6075-B780-BB57-7EDFD2D165F4}"/>
                </a:ext>
              </a:extLst>
            </p:cNvPr>
            <p:cNvGrpSpPr>
              <a:grpSpLocks/>
            </p:cNvGrpSpPr>
            <p:nvPr/>
          </p:nvGrpSpPr>
          <p:grpSpPr bwMode="auto">
            <a:xfrm>
              <a:off x="470" y="5445"/>
              <a:ext cx="3727" cy="186"/>
              <a:chOff x="351" y="1572"/>
              <a:chExt cx="4968" cy="199"/>
            </a:xfrm>
          </p:grpSpPr>
          <p:pic>
            <p:nvPicPr>
              <p:cNvPr id="752650" name="Picture 10">
                <a:extLst>
                  <a:ext uri="{FF2B5EF4-FFF2-40B4-BE49-F238E27FC236}">
                    <a16:creationId xmlns:a16="http://schemas.microsoft.com/office/drawing/2014/main" id="{F5441A67-D6A3-2321-D69D-63D981E511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752651" name="Text Box 11">
                <a:extLst>
                  <a:ext uri="{FF2B5EF4-FFF2-40B4-BE49-F238E27FC236}">
                    <a16:creationId xmlns:a16="http://schemas.microsoft.com/office/drawing/2014/main" id="{33D77CEB-73C8-5ECA-B196-BD46BEEC0E4B}"/>
                  </a:ext>
                </a:extLst>
              </p:cNvPr>
              <p:cNvSpPr txBox="1">
                <a:spLocks noChangeArrowheads="1"/>
              </p:cNvSpPr>
              <p:nvPr/>
            </p:nvSpPr>
            <p:spPr bwMode="auto">
              <a:xfrm>
                <a:off x="518" y="1591"/>
                <a:ext cx="491" cy="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8314" tIns="49156" rIns="98314" bIns="49156" anchor="ctr">
                <a:spAutoFit/>
              </a:bodyPr>
              <a:lstStyle>
                <a:lvl1pPr defTabSz="928688">
                  <a:defRPr kumimoji="1">
                    <a:solidFill>
                      <a:schemeClr val="tx1"/>
                    </a:solidFill>
                    <a:latin typeface="Arial" panose="020B0604020202020204" pitchFamily="34" charset="0"/>
                    <a:ea typeface="ＭＳ Ｐゴシック" panose="020B0600070205080204" pitchFamily="50" charset="-128"/>
                  </a:defRPr>
                </a:lvl1pPr>
                <a:lvl2pPr marL="492125" defTabSz="928688">
                  <a:defRPr kumimoji="1">
                    <a:solidFill>
                      <a:schemeClr val="tx1"/>
                    </a:solidFill>
                    <a:latin typeface="Arial" panose="020B0604020202020204" pitchFamily="34" charset="0"/>
                    <a:ea typeface="ＭＳ Ｐゴシック" panose="020B0600070205080204" pitchFamily="50" charset="-128"/>
                  </a:defRPr>
                </a:lvl2pPr>
                <a:lvl3pPr marL="982663" defTabSz="928688">
                  <a:defRPr kumimoji="1">
                    <a:solidFill>
                      <a:schemeClr val="tx1"/>
                    </a:solidFill>
                    <a:latin typeface="Arial" panose="020B0604020202020204" pitchFamily="34" charset="0"/>
                    <a:ea typeface="ＭＳ Ｐゴシック" panose="020B0600070205080204" pitchFamily="50" charset="-128"/>
                  </a:defRPr>
                </a:lvl3pPr>
                <a:lvl4pPr marL="1474788" defTabSz="928688">
                  <a:defRPr kumimoji="1">
                    <a:solidFill>
                      <a:schemeClr val="tx1"/>
                    </a:solidFill>
                    <a:latin typeface="Arial" panose="020B0604020202020204" pitchFamily="34" charset="0"/>
                    <a:ea typeface="ＭＳ Ｐゴシック" panose="020B0600070205080204" pitchFamily="50" charset="-128"/>
                  </a:defRPr>
                </a:lvl4pPr>
                <a:lvl5pPr marL="1966913" defTabSz="928688">
                  <a:defRPr kumimoji="1">
                    <a:solidFill>
                      <a:schemeClr val="tx1"/>
                    </a:solidFill>
                    <a:latin typeface="Arial" panose="020B0604020202020204" pitchFamily="34" charset="0"/>
                    <a:ea typeface="ＭＳ Ｐゴシック" panose="020B0600070205080204" pitchFamily="50" charset="-128"/>
                  </a:defRPr>
                </a:lvl5pPr>
                <a:lvl6pPr marL="24241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286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100">
                    <a:solidFill>
                      <a:schemeClr val="bg1"/>
                    </a:solidFill>
                  </a:rPr>
                  <a:t>Chú ý</a:t>
                </a:r>
              </a:p>
            </p:txBody>
          </p:sp>
        </p:grpSp>
      </p:gr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8786" name="Rectangle 2">
            <a:extLst>
              <a:ext uri="{FF2B5EF4-FFF2-40B4-BE49-F238E27FC236}">
                <a16:creationId xmlns:a16="http://schemas.microsoft.com/office/drawing/2014/main" id="{41CC39AD-9833-9A31-20B1-462B50B81587}"/>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for</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for là hình thức bao gồm Cú pháp  để control số lần lặp </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Được sử dụng khi số lần lặp đã được quyết định </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Gọi biến số thực hiện count số lần lặp là biến số counter </a:t>
            </a:r>
          </a:p>
          <a:p>
            <a:pPr marL="0" indent="0"/>
            <a:r>
              <a:rPr lang="ja-JP" altLang="en-US">
                <a:latin typeface="Arial" panose="020B0604020202020204" pitchFamily="34" charset="0"/>
              </a:rPr>
              <a:t>　</a:t>
            </a:r>
            <a:r>
              <a:rPr lang="en-US" altLang="ja-JP">
                <a:latin typeface="Arial" panose="020B0604020202020204" pitchFamily="34" charset="0"/>
              </a:rPr>
              <a:t>Nếu xử lí lặp được thực hiện 1 lần thì biến số counter sẽ tăng giảm chỉ với số đã chỉ định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Trường hợp câu lệnh</a:t>
            </a:r>
            <a:r>
              <a:rPr lang="ja-JP" altLang="en-US">
                <a:latin typeface="Arial" panose="020B0604020202020204" pitchFamily="34" charset="0"/>
              </a:rPr>
              <a:t>　</a:t>
            </a:r>
            <a:r>
              <a:rPr lang="en-US" altLang="ja-JP">
                <a:latin typeface="Arial" panose="020B0604020202020204" pitchFamily="34" charset="0"/>
                <a:ea typeface="ＭＳ ゴシック" panose="020B0609070205080204" pitchFamily="49" charset="-128"/>
              </a:rPr>
              <a:t>for, </a:t>
            </a:r>
            <a:r>
              <a:rPr lang="ja-JP" altLang="en-US">
                <a:latin typeface="Arial" panose="020B0604020202020204" pitchFamily="34" charset="0"/>
              </a:rPr>
              <a:t>「</a:t>
            </a:r>
            <a:r>
              <a:rPr lang="en-US" altLang="ja-JP">
                <a:latin typeface="Arial" panose="020B0604020202020204" pitchFamily="34" charset="0"/>
              </a:rPr>
              <a:t>xử lí buộc tăng giảm biến số counter </a:t>
            </a:r>
            <a:r>
              <a:rPr lang="ja-JP" altLang="en-US">
                <a:latin typeface="Arial" panose="020B0604020202020204" pitchFamily="34" charset="0"/>
              </a:rPr>
              <a:t>」</a:t>
            </a:r>
            <a:r>
              <a:rPr lang="en-US" altLang="ja-JP">
                <a:latin typeface="Arial" panose="020B0604020202020204" pitchFamily="34" charset="0"/>
              </a:rPr>
              <a:t>này sẽ là </a:t>
            </a:r>
            <a:r>
              <a:rPr lang="ja-JP" altLang="en-US">
                <a:latin typeface="Arial" panose="020B0604020202020204" pitchFamily="34" charset="0"/>
              </a:rPr>
              <a:t>「 </a:t>
            </a:r>
            <a:r>
              <a:rPr lang="en-US" altLang="ja-JP">
                <a:latin typeface="Arial" panose="020B0604020202020204" pitchFamily="34" charset="0"/>
              </a:rPr>
              <a:t>xử lí để thay đổi điều kiện lặp </a:t>
            </a:r>
            <a:r>
              <a:rPr lang="ja-JP" altLang="en-US">
                <a:latin typeface="Arial" panose="020B0604020202020204" pitchFamily="34" charset="0"/>
              </a:rPr>
              <a:t>（</a:t>
            </a:r>
            <a:r>
              <a:rPr lang="en-US" altLang="ja-JP">
                <a:latin typeface="Arial" panose="020B0604020202020204" pitchFamily="34" charset="0"/>
              </a:rPr>
              <a:t>biểu thức điều kiện</a:t>
            </a:r>
            <a:r>
              <a:rPr lang="ja-JP" altLang="en-US">
                <a:latin typeface="Arial" panose="020B0604020202020204" pitchFamily="34" charset="0"/>
              </a:rPr>
              <a:t>） </a:t>
            </a:r>
            <a:r>
              <a:rPr lang="en-US" altLang="ja-JP">
                <a:latin typeface="Arial" panose="020B0604020202020204" pitchFamily="34" charset="0"/>
              </a:rPr>
              <a:t>từ </a:t>
            </a:r>
            <a:r>
              <a:rPr lang="en-US" altLang="ja-JP">
                <a:latin typeface="Arial" panose="020B0604020202020204" pitchFamily="34" charset="0"/>
                <a:ea typeface="ＭＳ ゴシック" panose="020B0609070205080204" pitchFamily="49" charset="-128"/>
              </a:rPr>
              <a:t>true sang false</a:t>
            </a:r>
            <a:r>
              <a:rPr lang="ja-JP" altLang="en-US">
                <a:latin typeface="Arial" panose="020B0604020202020204" pitchFamily="34" charset="0"/>
              </a:rPr>
              <a:t>」</a:t>
            </a:r>
            <a:br>
              <a:rPr lang="ja-JP" altLang="en-US">
                <a:latin typeface="Arial" panose="020B0604020202020204" pitchFamily="34" charset="0"/>
              </a:rPr>
            </a:br>
            <a:r>
              <a:rPr lang="ja-JP" altLang="en-US">
                <a:latin typeface="Arial" panose="020B0604020202020204" pitchFamily="34" charset="0"/>
              </a:rPr>
              <a:t>　</a:t>
            </a:r>
            <a:r>
              <a:rPr lang="en-US" altLang="ja-JP">
                <a:latin typeface="Arial" panose="020B0604020202020204" pitchFamily="34" charset="0"/>
              </a:rPr>
              <a:t>Vì thế, với câu lệnh for thì không cần xử lí để thay đổi điều kiện lặp từ true sang false trong xử lí lặp cần thiết phải có trong câu lệnh </a:t>
            </a:r>
            <a:r>
              <a:rPr lang="en-US" altLang="ja-JP">
                <a:latin typeface="Arial" panose="020B0604020202020204" pitchFamily="34" charset="0"/>
                <a:ea typeface="ＭＳ ゴシック" panose="020B0609070205080204" pitchFamily="49" charset="-128"/>
              </a:rPr>
              <a:t>while hoặc do-while</a:t>
            </a:r>
            <a:r>
              <a:rPr lang="en-US" altLang="ja-JP">
                <a:latin typeface="Arial" panose="020B0604020202020204" pitchFamily="34" charset="0"/>
              </a:rPr>
              <a:t>.</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Cú pháp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VD</a:t>
            </a:r>
            <a:r>
              <a:rPr lang="ja-JP" altLang="en-US">
                <a:latin typeface="Arial" panose="020B0604020202020204" pitchFamily="34" charset="0"/>
              </a:rPr>
              <a:t>） </a:t>
            </a:r>
            <a:r>
              <a:rPr lang="en-US" altLang="ja-JP">
                <a:latin typeface="Arial" panose="020B0604020202020204" pitchFamily="34" charset="0"/>
              </a:rPr>
              <a:t>Thực hiện phép tính cộng từ 1 đến 10</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int ans = 0;</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for (int cnt=1; cnt&lt;=10; cnt++) {</a:t>
            </a:r>
          </a:p>
          <a:p>
            <a:pPr marL="0" indent="0"/>
            <a:r>
              <a:rPr lang="en-US" altLang="ja-JP">
                <a:latin typeface="Arial" panose="020B0604020202020204" pitchFamily="34" charset="0"/>
                <a:ea typeface="ＭＳ ゴシック" panose="020B0609070205080204" pitchFamily="49" charset="-128"/>
              </a:rPr>
              <a:t>  </a:t>
            </a:r>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ans += cnt;	// giống ans = ans + cnt;</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System.out.println(ans);	// hiện thị</a:t>
            </a:r>
            <a:r>
              <a:rPr lang="ja-JP" altLang="en-US">
                <a:latin typeface="Arial" panose="020B0604020202020204" pitchFamily="34" charset="0"/>
                <a:ea typeface="ＭＳ ゴシック" panose="020B0609070205080204" pitchFamily="49" charset="-128"/>
              </a:rPr>
              <a:t>「</a:t>
            </a:r>
            <a:r>
              <a:rPr lang="en-US" altLang="ja-JP">
                <a:latin typeface="Arial" panose="020B0604020202020204" pitchFamily="34" charset="0"/>
                <a:ea typeface="ＭＳ ゴシック" panose="020B0609070205080204" pitchFamily="49" charset="-128"/>
              </a:rPr>
              <a:t>55</a:t>
            </a:r>
            <a:r>
              <a:rPr lang="ja-JP" altLang="en-US">
                <a:latin typeface="Arial" panose="020B0604020202020204" pitchFamily="34" charset="0"/>
                <a:ea typeface="ＭＳ ゴシック" panose="020B0609070205080204" pitchFamily="49" charset="-128"/>
              </a:rPr>
              <a:t>」</a:t>
            </a:r>
          </a:p>
          <a:p>
            <a:pPr marL="0" indent="0"/>
            <a:endParaRPr lang="en-US" altLang="ja-JP">
              <a:latin typeface="Arial" panose="020B0604020202020204" pitchFamily="34" charset="0"/>
              <a:ea typeface="ＭＳ ゴシック" panose="020B0609070205080204" pitchFamily="49" charset="-128"/>
            </a:endParaRPr>
          </a:p>
        </p:txBody>
      </p:sp>
      <p:sp>
        <p:nvSpPr>
          <p:cNvPr id="758787" name="Rectangle 3">
            <a:extLst>
              <a:ext uri="{FF2B5EF4-FFF2-40B4-BE49-F238E27FC236}">
                <a16:creationId xmlns:a16="http://schemas.microsoft.com/office/drawing/2014/main" id="{EB2FB950-250D-CA4A-4498-E4365257A580}"/>
              </a:ext>
            </a:extLst>
          </p:cNvPr>
          <p:cNvSpPr>
            <a:spLocks noRot="1" noChangeAspect="1" noChangeArrowheads="1" noTextEdit="1"/>
          </p:cNvSpPr>
          <p:nvPr>
            <p:ph type="sldImg"/>
          </p:nvPr>
        </p:nvSpPr>
        <p:spPr>
          <a:ln/>
        </p:spPr>
      </p:sp>
      <p:sp>
        <p:nvSpPr>
          <p:cNvPr id="758789" name="Text Box 5">
            <a:extLst>
              <a:ext uri="{FF2B5EF4-FFF2-40B4-BE49-F238E27FC236}">
                <a16:creationId xmlns:a16="http://schemas.microsoft.com/office/drawing/2014/main" id="{4C49A028-2A00-CD39-BD62-E2D3253D1A56}"/>
              </a:ext>
            </a:extLst>
          </p:cNvPr>
          <p:cNvSpPr txBox="1">
            <a:spLocks noChangeArrowheads="1"/>
          </p:cNvSpPr>
          <p:nvPr/>
        </p:nvSpPr>
        <p:spPr bwMode="auto">
          <a:xfrm>
            <a:off x="706438" y="7386638"/>
            <a:ext cx="5854700" cy="5651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for (</a:t>
            </a:r>
            <a:r>
              <a:rPr lang="en-US" altLang="ja-JP" b="0">
                <a:ea typeface="MS UI Gothic" panose="020B0600070205080204" pitchFamily="50" charset="-128"/>
              </a:rPr>
              <a:t>setting giá trị khởi tạo của biến số count ; biểu thức điều kiện</a:t>
            </a:r>
            <a:r>
              <a:rPr lang="en-US" altLang="ja-JP" b="0">
                <a:ea typeface="ＭＳ ゴシック" panose="020B0609070205080204" pitchFamily="49" charset="-128"/>
              </a:rPr>
              <a:t>; tăng giảm biến số count) {</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lí muốn thực hiện lặp khi điều kiện là true</a:t>
            </a:r>
          </a:p>
          <a:p>
            <a:pPr lvl="1" algn="just"/>
            <a:r>
              <a:rPr lang="en-US" altLang="ja-JP" b="0">
                <a:ea typeface="ＭＳ ゴシック" panose="020B0609070205080204" pitchFamily="49" charset="-128"/>
              </a:rPr>
              <a:t>}</a:t>
            </a:r>
            <a:endParaRPr lang="en-US" altLang="en-US" b="0">
              <a:ea typeface="ＭＳ ゴシック" panose="020B0609070205080204" pitchFamily="49" charset="-128"/>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4930" name="Rectangle 2">
            <a:extLst>
              <a:ext uri="{FF2B5EF4-FFF2-40B4-BE49-F238E27FC236}">
                <a16:creationId xmlns:a16="http://schemas.microsoft.com/office/drawing/2014/main" id="{49622666-EBEB-3D92-E60C-7D269540A74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for mới </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foreach</a:t>
            </a:r>
            <a:r>
              <a:rPr lang="ja-JP" altLang="en-US">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Theo như Java SE 5.0, Cú pháp  để thao tác mảng or collection sẽ được add vào câu lệnh for.</a:t>
            </a:r>
          </a:p>
          <a:p>
            <a:pPr marL="0" indent="0"/>
            <a:r>
              <a:rPr lang="ja-JP" altLang="en-US">
                <a:latin typeface="Arial" panose="020B0604020202020204" pitchFamily="34" charset="0"/>
              </a:rPr>
              <a:t>　</a:t>
            </a:r>
            <a:r>
              <a:rPr lang="en-US" altLang="ja-JP">
                <a:latin typeface="Arial" panose="020B0604020202020204" pitchFamily="34" charset="0"/>
              </a:rPr>
              <a:t>cũng gọi là câu lệnh </a:t>
            </a:r>
            <a:r>
              <a:rPr lang="en-US" altLang="ja-JP">
                <a:latin typeface="Arial" panose="020B0604020202020204" pitchFamily="34" charset="0"/>
                <a:ea typeface="ＭＳ ゴシック" panose="020B0609070205080204" pitchFamily="49" charset="-128"/>
              </a:rPr>
              <a:t>foreach.</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Câu lệnh này tiện lợi khi đưa ra từng element một để thực hiện xử lí lặp với tất cả element của mảng or collection </a:t>
            </a:r>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Cú pháp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VD</a:t>
            </a:r>
            <a:r>
              <a:rPr lang="ja-JP" altLang="en-US">
                <a:latin typeface="Arial" panose="020B0604020202020204" pitchFamily="34" charset="0"/>
              </a:rPr>
              <a:t>） </a:t>
            </a:r>
            <a:r>
              <a:rPr lang="en-US" altLang="ja-JP">
                <a:latin typeface="Arial" panose="020B0604020202020204" pitchFamily="34" charset="0"/>
              </a:rPr>
              <a:t>từ mảng kiểu string đưa ra từng element một và hiển thị .</a:t>
            </a:r>
          </a:p>
          <a:p>
            <a:pPr marL="0" indent="0"/>
            <a:r>
              <a:rPr lang="en-US" altLang="ja-JP">
                <a:latin typeface="Arial" panose="020B0604020202020204" pitchFamily="34" charset="0"/>
                <a:ea typeface="ＭＳ ゴシック" panose="020B0609070205080204" pitchFamily="49" charset="-128"/>
              </a:rPr>
              <a:t> String[] strArray = {"Smith", "Brown", "Allen"};</a:t>
            </a:r>
          </a:p>
          <a:p>
            <a:pPr marL="0" indent="0"/>
            <a:r>
              <a:rPr lang="en-US" altLang="ja-JP">
                <a:latin typeface="Arial" panose="020B0604020202020204" pitchFamily="34" charset="0"/>
                <a:ea typeface="ＭＳ ゴシック" panose="020B0609070205080204" pitchFamily="49" charset="-128"/>
              </a:rPr>
              <a:t> for (String str : strArray) {</a:t>
            </a:r>
          </a:p>
          <a:p>
            <a:pPr marL="0" indent="0"/>
            <a:r>
              <a:rPr lang="en-US" altLang="ja-JP">
                <a:latin typeface="Arial" panose="020B0604020202020204" pitchFamily="34" charset="0"/>
                <a:ea typeface="ＭＳ ゴシック" panose="020B0609070205080204" pitchFamily="49" charset="-128"/>
              </a:rPr>
              <a:t>     System.out.println(str);</a:t>
            </a:r>
          </a:p>
          <a:p>
            <a:pPr marL="0" indent="0"/>
            <a:r>
              <a:rPr lang="en-US" altLang="ja-JP">
                <a:latin typeface="Arial" panose="020B0604020202020204" pitchFamily="34" charset="0"/>
                <a:ea typeface="ＭＳ ゴシック" panose="020B0609070205080204" pitchFamily="49" charset="-128"/>
              </a:rPr>
              <a:t> }</a:t>
            </a:r>
          </a:p>
          <a:p>
            <a:pPr marL="0" indent="0"/>
            <a:endParaRPr lang="en-US" altLang="ja-JP">
              <a:latin typeface="Arial" panose="020B0604020202020204" pitchFamily="34" charset="0"/>
              <a:ea typeface="ＭＳ ゴシック" panose="020B0609070205080204" pitchFamily="49" charset="-128"/>
            </a:endParaRPr>
          </a:p>
          <a:p>
            <a:pPr marL="0" indent="0"/>
            <a:r>
              <a:rPr lang="en-US" altLang="ja-JP">
                <a:latin typeface="Arial" panose="020B0604020202020204" pitchFamily="34" charset="0"/>
              </a:rPr>
              <a:t>【tham khảo】</a:t>
            </a:r>
          </a:p>
          <a:p>
            <a:pPr marL="0" indent="0"/>
            <a:r>
              <a:rPr lang="ja-JP" altLang="en-US">
                <a:latin typeface="Arial" panose="020B0604020202020204" pitchFamily="34" charset="0"/>
              </a:rPr>
              <a:t>　</a:t>
            </a:r>
            <a:r>
              <a:rPr lang="en-US" altLang="ja-JP">
                <a:latin typeface="Arial" panose="020B0604020202020204" pitchFamily="34" charset="0"/>
              </a:rPr>
              <a:t>Tóm tắt giá trị của biến số theo từng loop một tại ví dụ trước,  thì có bảng sau</a:t>
            </a:r>
          </a:p>
        </p:txBody>
      </p:sp>
      <p:sp>
        <p:nvSpPr>
          <p:cNvPr id="764931" name="Rectangle 3">
            <a:extLst>
              <a:ext uri="{FF2B5EF4-FFF2-40B4-BE49-F238E27FC236}">
                <a16:creationId xmlns:a16="http://schemas.microsoft.com/office/drawing/2014/main" id="{87CE6CAE-7D46-B406-0714-5FB59F55DD13}"/>
              </a:ext>
            </a:extLst>
          </p:cNvPr>
          <p:cNvSpPr>
            <a:spLocks noRot="1" noChangeAspect="1" noChangeArrowheads="1" noTextEdit="1"/>
          </p:cNvSpPr>
          <p:nvPr>
            <p:ph type="sldImg"/>
          </p:nvPr>
        </p:nvSpPr>
        <p:spPr>
          <a:xfrm>
            <a:off x="522288" y="873125"/>
            <a:ext cx="6024562" cy="4170363"/>
          </a:xfrm>
          <a:ln/>
        </p:spPr>
      </p:sp>
      <p:sp>
        <p:nvSpPr>
          <p:cNvPr id="764932" name="Text Box 4">
            <a:extLst>
              <a:ext uri="{FF2B5EF4-FFF2-40B4-BE49-F238E27FC236}">
                <a16:creationId xmlns:a16="http://schemas.microsoft.com/office/drawing/2014/main" id="{315557F2-0512-5015-5435-67E952656D94}"/>
              </a:ext>
            </a:extLst>
          </p:cNvPr>
          <p:cNvSpPr txBox="1">
            <a:spLocks noChangeArrowheads="1"/>
          </p:cNvSpPr>
          <p:nvPr/>
        </p:nvSpPr>
        <p:spPr bwMode="auto">
          <a:xfrm>
            <a:off x="696913" y="6342063"/>
            <a:ext cx="5853112" cy="5683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for (</a:t>
            </a:r>
            <a:r>
              <a:rPr lang="en-US" altLang="ja-JP" b="0">
                <a:ea typeface="MS UI Gothic" panose="020B0600070205080204" pitchFamily="50" charset="-128"/>
              </a:rPr>
              <a:t>kiểu element của mảng  tên biến số</a:t>
            </a:r>
            <a:r>
              <a:rPr lang="en-US" altLang="ja-JP" b="0">
                <a:ea typeface="ＭＳ ゴシック" panose="020B0609070205080204" pitchFamily="49" charset="-128"/>
              </a:rPr>
              <a:t>: </a:t>
            </a:r>
            <a:r>
              <a:rPr lang="en-US" altLang="ja-JP" b="0">
                <a:ea typeface="MS UI Gothic" panose="020B0600070205080204" pitchFamily="50" charset="-128"/>
              </a:rPr>
              <a:t>mảng or collection </a:t>
            </a:r>
            <a:r>
              <a:rPr lang="en-US" altLang="ja-JP" b="0">
                <a:ea typeface="ＭＳ ゴシック" panose="020B0609070205080204" pitchFamily="49" charset="-128"/>
              </a:rPr>
              <a:t>) {</a:t>
            </a:r>
          </a:p>
          <a:p>
            <a:pPr lvl="1" algn="just"/>
            <a:r>
              <a:rPr lang="en-US" altLang="ja-JP" b="0">
                <a:ea typeface="ＭＳ ゴシック" panose="020B0609070205080204" pitchFamily="49" charset="-128"/>
              </a:rPr>
              <a:t>    xử lí muốn lặp với các element</a:t>
            </a:r>
            <a:endParaRPr lang="en-US" altLang="ja-JP" b="0">
              <a:ea typeface="MS UI Gothic" panose="020B0600070205080204" pitchFamily="50" charset="-128"/>
            </a:endParaRPr>
          </a:p>
          <a:p>
            <a:pPr lvl="1" algn="just"/>
            <a:r>
              <a:rPr lang="en-US" altLang="ja-JP" b="0">
                <a:ea typeface="ＭＳ ゴシック" panose="020B0609070205080204" pitchFamily="49" charset="-128"/>
              </a:rPr>
              <a:t>}</a:t>
            </a:r>
            <a:endParaRPr lang="en-US" altLang="en-US" b="0">
              <a:ea typeface="ＭＳ ゴシック" panose="020B0609070205080204" pitchFamily="49" charset="-128"/>
            </a:endParaRPr>
          </a:p>
        </p:txBody>
      </p:sp>
      <p:graphicFrame>
        <p:nvGraphicFramePr>
          <p:cNvPr id="764995" name="Group 67">
            <a:extLst>
              <a:ext uri="{FF2B5EF4-FFF2-40B4-BE49-F238E27FC236}">
                <a16:creationId xmlns:a16="http://schemas.microsoft.com/office/drawing/2014/main" id="{88793E8A-017F-5F59-DFF4-46F84E62B17D}"/>
              </a:ext>
            </a:extLst>
          </p:cNvPr>
          <p:cNvGraphicFramePr>
            <a:graphicFrameLocks noGrp="1"/>
          </p:cNvGraphicFramePr>
          <p:nvPr/>
        </p:nvGraphicFramePr>
        <p:xfrm>
          <a:off x="828675" y="8482013"/>
          <a:ext cx="5554663" cy="1035050"/>
        </p:xfrm>
        <a:graphic>
          <a:graphicData uri="http://schemas.openxmlformats.org/drawingml/2006/table">
            <a:tbl>
              <a:tblPr/>
              <a:tblGrid>
                <a:gridCol w="1716088">
                  <a:extLst>
                    <a:ext uri="{9D8B030D-6E8A-4147-A177-3AD203B41FA5}">
                      <a16:colId xmlns:a16="http://schemas.microsoft.com/office/drawing/2014/main" val="3019053103"/>
                    </a:ext>
                  </a:extLst>
                </a:gridCol>
                <a:gridCol w="1201737">
                  <a:extLst>
                    <a:ext uri="{9D8B030D-6E8A-4147-A177-3AD203B41FA5}">
                      <a16:colId xmlns:a16="http://schemas.microsoft.com/office/drawing/2014/main" val="2081494701"/>
                    </a:ext>
                  </a:extLst>
                </a:gridCol>
                <a:gridCol w="2636838">
                  <a:extLst>
                    <a:ext uri="{9D8B030D-6E8A-4147-A177-3AD203B41FA5}">
                      <a16:colId xmlns:a16="http://schemas.microsoft.com/office/drawing/2014/main" val="2698028176"/>
                    </a:ext>
                  </a:extLst>
                </a:gridCol>
              </a:tblGrid>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loop</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Biến số str</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Mã số index của strArray</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801734261"/>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"Smith"</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0</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71131460"/>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2</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"Brown"</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1</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079314095"/>
                  </a:ext>
                </a:extLst>
              </a:tr>
              <a:tr h="258763">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Lần 3</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"Allen"</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481013" defTabSz="982663">
                        <a:defRPr kumimoji="1">
                          <a:solidFill>
                            <a:schemeClr val="tx1"/>
                          </a:solidFill>
                          <a:latin typeface="Arial" panose="020B0604020202020204" pitchFamily="34" charset="0"/>
                          <a:ea typeface="ＭＳ Ｐゴシック" panose="020B0600070205080204" pitchFamily="50" charset="-128"/>
                        </a:defRPr>
                      </a:lvl2pPr>
                      <a:lvl3pPr marL="962025" defTabSz="982663">
                        <a:defRPr kumimoji="1">
                          <a:solidFill>
                            <a:schemeClr val="tx1"/>
                          </a:solidFill>
                          <a:latin typeface="Arial" panose="020B0604020202020204" pitchFamily="34" charset="0"/>
                          <a:ea typeface="ＭＳ Ｐゴシック" panose="020B0600070205080204" pitchFamily="50" charset="-128"/>
                        </a:defRPr>
                      </a:lvl3pPr>
                      <a:lvl4pPr marL="1441450" defTabSz="982663">
                        <a:defRPr kumimoji="1">
                          <a:solidFill>
                            <a:schemeClr val="tx1"/>
                          </a:solidFill>
                          <a:latin typeface="Arial" panose="020B0604020202020204" pitchFamily="34" charset="0"/>
                          <a:ea typeface="ＭＳ Ｐゴシック" panose="020B0600070205080204" pitchFamily="50" charset="-128"/>
                        </a:defRPr>
                      </a:lvl4pPr>
                      <a:lvl5pPr marL="1881188" defTabSz="982663">
                        <a:defRPr kumimoji="1">
                          <a:solidFill>
                            <a:schemeClr val="tx1"/>
                          </a:solidFill>
                          <a:latin typeface="Arial" panose="020B0604020202020204" pitchFamily="34" charset="0"/>
                          <a:ea typeface="ＭＳ Ｐゴシック" panose="020B0600070205080204" pitchFamily="50" charset="-128"/>
                        </a:defRPr>
                      </a:lvl5pPr>
                      <a:lvl6pPr marL="23383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955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527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9988"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82663"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2</a:t>
                      </a:r>
                    </a:p>
                  </a:txBody>
                  <a:tcPr marL="98295" marR="98295" marT="49147" marB="4914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2641569857"/>
                  </a:ext>
                </a:extLst>
              </a:tr>
            </a:tbl>
          </a:graphicData>
        </a:graphic>
      </p:graphicFrame>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9026" name="Rectangle 2">
            <a:extLst>
              <a:ext uri="{FF2B5EF4-FFF2-40B4-BE49-F238E27FC236}">
                <a16:creationId xmlns:a16="http://schemas.microsoft.com/office/drawing/2014/main" id="{F2F308C1-415B-6D74-7161-2160277F5C0A}"/>
              </a:ext>
            </a:extLst>
          </p:cNvPr>
          <p:cNvSpPr>
            <a:spLocks noRot="1" noChangeAspect="1" noChangeArrowheads="1" noTextEdit="1"/>
          </p:cNvSpPr>
          <p:nvPr>
            <p:ph type="sldImg"/>
          </p:nvPr>
        </p:nvSpPr>
        <p:spPr>
          <a:ln/>
        </p:spPr>
      </p:sp>
      <p:sp>
        <p:nvSpPr>
          <p:cNvPr id="769027" name="Rectangle 3">
            <a:extLst>
              <a:ext uri="{FF2B5EF4-FFF2-40B4-BE49-F238E27FC236}">
                <a16:creationId xmlns:a16="http://schemas.microsoft.com/office/drawing/2014/main" id="{252F6670-089B-9F89-848A-8DF90B11DC46}"/>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Control lặp và nest </a:t>
            </a:r>
          </a:p>
          <a:p>
            <a:pPr marL="0" indent="0"/>
            <a:r>
              <a:rPr lang="ja-JP" altLang="en-US">
                <a:latin typeface="Arial" panose="020B0604020202020204" pitchFamily="34" charset="0"/>
              </a:rPr>
              <a:t>　</a:t>
            </a:r>
            <a:r>
              <a:rPr lang="en-US" altLang="ja-JP">
                <a:latin typeface="Arial" panose="020B0604020202020204" pitchFamily="34" charset="0"/>
              </a:rPr>
              <a:t>Câu lệnh control như câu lệnh </a:t>
            </a:r>
            <a:r>
              <a:rPr lang="en-US" altLang="ja-JP">
                <a:latin typeface="Arial" panose="020B0604020202020204" pitchFamily="34" charset="0"/>
                <a:ea typeface="ＭＳ ゴシック" panose="020B0609070205080204" pitchFamily="49" charset="-128"/>
              </a:rPr>
              <a:t>if or câu lệnh for có thể kết hợp sử dụng </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Có thể nest câu lệnh control trong câu lệnh control</a:t>
            </a:r>
          </a:p>
          <a:p>
            <a:pPr marL="0" indent="0"/>
            <a:r>
              <a:rPr lang="ja-JP" altLang="en-US">
                <a:latin typeface="Arial" panose="020B0604020202020204" pitchFamily="34" charset="0"/>
              </a:rPr>
              <a:t>　</a:t>
            </a:r>
            <a:r>
              <a:rPr lang="en-US" altLang="ja-JP">
                <a:latin typeface="Arial" panose="020B0604020202020204" pitchFamily="34" charset="0"/>
              </a:rPr>
              <a:t>Tương tự câu lệnh </a:t>
            </a:r>
            <a:r>
              <a:rPr lang="en-US" altLang="ja-JP">
                <a:latin typeface="Arial" panose="020B0604020202020204" pitchFamily="34" charset="0"/>
                <a:ea typeface="ＭＳ ゴシック" panose="020B0609070205080204" pitchFamily="49" charset="-128"/>
              </a:rPr>
              <a:t>if, trong cả câu lệnh for, có thể nest câu lệnh control như câu lệnh for</a:t>
            </a:r>
            <a:r>
              <a:rPr lang="en-US" altLang="ja-JP">
                <a:latin typeface="Arial" panose="020B0604020202020204" pitchFamily="34" charset="0"/>
              </a:rPr>
              <a:t>.</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ví dụ Cú pháp  của câu lệnh for sẽ sử dụng nest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a typeface="ＭＳ ゴシック" panose="020B0609070205080204" pitchFamily="49" charset="-128"/>
            </a:endParaRPr>
          </a:p>
          <a:p>
            <a:pPr marL="0" indent="0"/>
            <a:endParaRPr lang="en-US" altLang="ja-JP">
              <a:latin typeface="Arial" panose="020B0604020202020204" pitchFamily="34" charset="0"/>
              <a:ea typeface="ＭＳ ゴシック" panose="020B0609070205080204" pitchFamily="49" charset="-128"/>
            </a:endParaRPr>
          </a:p>
        </p:txBody>
      </p:sp>
      <p:sp>
        <p:nvSpPr>
          <p:cNvPr id="769045" name="Text Box 21">
            <a:extLst>
              <a:ext uri="{FF2B5EF4-FFF2-40B4-BE49-F238E27FC236}">
                <a16:creationId xmlns:a16="http://schemas.microsoft.com/office/drawing/2014/main" id="{890BF6AE-850C-F00A-E9D7-AEA6FCADF066}"/>
              </a:ext>
            </a:extLst>
          </p:cNvPr>
          <p:cNvSpPr txBox="1">
            <a:spLocks noChangeArrowheads="1"/>
          </p:cNvSpPr>
          <p:nvPr/>
        </p:nvSpPr>
        <p:spPr bwMode="auto">
          <a:xfrm>
            <a:off x="566738" y="6392863"/>
            <a:ext cx="6392862" cy="15303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nchor="ctr"/>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for (</a:t>
            </a:r>
            <a:r>
              <a:rPr lang="en-US" altLang="ja-JP" b="0">
                <a:ea typeface="MS UI Gothic" panose="020B0600070205080204" pitchFamily="50" charset="-128"/>
              </a:rPr>
              <a:t>setting giá trị khởi tạo của biến số count; Biểu thức điều kiện</a:t>
            </a:r>
            <a:r>
              <a:rPr lang="en-US" altLang="ja-JP" b="0">
                <a:ea typeface="ＭＳ ゴシック" panose="020B0609070205080204" pitchFamily="49" charset="-128"/>
              </a:rPr>
              <a:t>; tăng giảm biến số counter) {</a:t>
            </a:r>
          </a:p>
          <a:p>
            <a:pPr lvl="1" algn="just"/>
            <a:endParaRPr lang="en-US" altLang="ja-JP" b="0">
              <a:ea typeface="ＭＳ ゴシック" panose="020B0609070205080204" pitchFamily="49" charset="-128"/>
            </a:endParaRPr>
          </a:p>
          <a:p>
            <a:pPr lvl="1" algn="just"/>
            <a:r>
              <a:rPr lang="en-US" altLang="ja-JP" b="0">
                <a:ea typeface="ＭＳ ゴシック" panose="020B0609070205080204" pitchFamily="49" charset="-128"/>
              </a:rPr>
              <a:t>    for (</a:t>
            </a:r>
            <a:r>
              <a:rPr lang="en-US" altLang="ja-JP" b="0">
                <a:ea typeface="MS UI Gothic" panose="020B0600070205080204" pitchFamily="50" charset="-128"/>
              </a:rPr>
              <a:t>setting giá trị khởi tạo của biến số count; Biểu thức điều kiện; tăng giảm biến số counter)</a:t>
            </a:r>
            <a:r>
              <a:rPr lang="en-US" altLang="ja-JP">
                <a:ea typeface="MS UI Gothic" panose="020B0600070205080204" pitchFamily="50" charset="-128"/>
              </a:rPr>
              <a:t> </a:t>
            </a:r>
            <a:r>
              <a:rPr lang="en-US" altLang="ja-JP" b="0">
                <a:ea typeface="ＭＳ ゴシック" panose="020B0609070205080204" pitchFamily="49" charset="-128"/>
              </a:rPr>
              <a:t>{</a:t>
            </a:r>
          </a:p>
          <a:p>
            <a:pPr lvl="1" algn="just"/>
            <a:r>
              <a:rPr lang="en-US" altLang="ja-JP" b="0">
                <a:ea typeface="ＭＳ ゴシック" panose="020B0609070205080204" pitchFamily="49" charset="-128"/>
              </a:rPr>
              <a:t>        </a:t>
            </a:r>
            <a:r>
              <a:rPr lang="en-US" altLang="ja-JP" b="0">
                <a:ea typeface="MS UI Gothic" panose="020B0600070205080204" pitchFamily="50" charset="-128"/>
              </a:rPr>
              <a:t>Xử lí muốn thực hiện lặp khi điều kiện là true</a:t>
            </a:r>
          </a:p>
          <a:p>
            <a:pPr lvl="1" algn="just"/>
            <a:r>
              <a:rPr lang="en-US" altLang="ja-JP" b="0">
                <a:ea typeface="ＭＳ ゴシック" panose="020B0609070205080204" pitchFamily="49" charset="-128"/>
              </a:rPr>
              <a:t>    }</a:t>
            </a:r>
          </a:p>
          <a:p>
            <a:pPr lvl="1" algn="just"/>
            <a:endParaRPr lang="en-US" altLang="ja-JP" b="0">
              <a:ea typeface="ＭＳ ゴシック" panose="020B0609070205080204" pitchFamily="49" charset="-128"/>
            </a:endParaRPr>
          </a:p>
          <a:p>
            <a:pPr lvl="1" algn="just"/>
            <a:r>
              <a:rPr lang="en-US" altLang="ja-JP" b="0">
                <a:ea typeface="ＭＳ ゴシック" panose="020B0609070205080204" pitchFamily="49" charset="-128"/>
              </a:rPr>
              <a:t>}</a:t>
            </a:r>
          </a:p>
        </p:txBody>
      </p:sp>
      <p:sp>
        <p:nvSpPr>
          <p:cNvPr id="769046" name="Rectangle 22">
            <a:extLst>
              <a:ext uri="{FF2B5EF4-FFF2-40B4-BE49-F238E27FC236}">
                <a16:creationId xmlns:a16="http://schemas.microsoft.com/office/drawing/2014/main" id="{5F19622B-F725-BE90-856D-1F90F5C1E942}"/>
              </a:ext>
            </a:extLst>
          </p:cNvPr>
          <p:cNvSpPr>
            <a:spLocks noChangeArrowheads="1"/>
          </p:cNvSpPr>
          <p:nvPr/>
        </p:nvSpPr>
        <p:spPr bwMode="auto">
          <a:xfrm>
            <a:off x="719138" y="6418263"/>
            <a:ext cx="5865812" cy="1303337"/>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69047" name="Rectangle 23">
            <a:extLst>
              <a:ext uri="{FF2B5EF4-FFF2-40B4-BE49-F238E27FC236}">
                <a16:creationId xmlns:a16="http://schemas.microsoft.com/office/drawing/2014/main" id="{7227C6A4-D6B4-231D-5A0C-49EC9AECE02B}"/>
              </a:ext>
            </a:extLst>
          </p:cNvPr>
          <p:cNvSpPr>
            <a:spLocks noChangeArrowheads="1"/>
          </p:cNvSpPr>
          <p:nvPr/>
        </p:nvSpPr>
        <p:spPr bwMode="auto">
          <a:xfrm>
            <a:off x="985838" y="6810375"/>
            <a:ext cx="5446712" cy="588963"/>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5170" name="Rectangle 2">
            <a:extLst>
              <a:ext uri="{FF2B5EF4-FFF2-40B4-BE49-F238E27FC236}">
                <a16:creationId xmlns:a16="http://schemas.microsoft.com/office/drawing/2014/main" id="{82D3BCBB-6EF9-AB85-435D-414351C79D9A}"/>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break</a:t>
            </a:r>
            <a:endParaRPr lang="en-US" altLang="ja-JP">
              <a:latin typeface="Arial" panose="020B0604020202020204" pitchFamily="34" charset="0"/>
            </a:endParaRPr>
          </a:p>
          <a:p>
            <a:pPr marL="0" indent="0"/>
            <a:r>
              <a:rPr lang="en-US" altLang="ja-JP">
                <a:latin typeface="Arial" panose="020B0604020202020204" pitchFamily="34" charset="0"/>
              </a:rPr>
              <a:t>Câu lệnh break đã học tại phần câu lệnh</a:t>
            </a:r>
            <a:r>
              <a:rPr lang="ja-JP" altLang="en-US">
                <a:latin typeface="Arial" panose="020B0604020202020204" pitchFamily="34" charset="0"/>
              </a:rPr>
              <a:t>　</a:t>
            </a:r>
            <a:r>
              <a:rPr lang="en-US" altLang="ja-JP">
                <a:latin typeface="Arial" panose="020B0604020202020204" pitchFamily="34" charset="0"/>
                <a:ea typeface="ＭＳ ゴシック" panose="020B0609070205080204" pitchFamily="49" charset="-128"/>
              </a:rPr>
              <a:t>switch cũng có thể kết hợp sử dụng với câu lệnh control (câu lệnh loop)</a:t>
            </a:r>
            <a:endParaRPr lang="en-US" altLang="ja-JP">
              <a:latin typeface="Arial" panose="020B0604020202020204" pitchFamily="34" charset="0"/>
            </a:endParaRPr>
          </a:p>
          <a:p>
            <a:pPr marL="0" indent="0"/>
            <a:r>
              <a:rPr lang="en-US" altLang="ja-JP">
                <a:latin typeface="Arial" panose="020B0604020202020204" pitchFamily="34" charset="0"/>
              </a:rPr>
              <a:t>Nếu chỉ định câu lệnh break trong câu lệnh loop thì có thể thoát ra từ câu lệnh loop phía trong cùng nhất</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Ví dụ</a:t>
            </a:r>
            <a:r>
              <a:rPr lang="ja-JP" altLang="en-US">
                <a:latin typeface="Arial" panose="020B0604020202020204" pitchFamily="34" charset="0"/>
              </a:rPr>
              <a:t>） </a:t>
            </a:r>
            <a:r>
              <a:rPr lang="en-US" altLang="ja-JP">
                <a:latin typeface="Arial" panose="020B0604020202020204" pitchFamily="34" charset="0"/>
              </a:rPr>
              <a:t>Tính cộng từ 1 đến 10 . Tuy nhiên nếu tổng vượt quá 10 thì kết thúc lặp .</a:t>
            </a:r>
          </a:p>
          <a:p>
            <a:pPr marL="0" indent="0"/>
            <a:r>
              <a:rPr lang="en-US" altLang="ja-JP">
                <a:latin typeface="Arial" panose="020B0604020202020204" pitchFamily="34" charset="0"/>
                <a:ea typeface="ＭＳ ゴシック" panose="020B0609070205080204" pitchFamily="49" charset="-128"/>
              </a:rPr>
              <a:t> int ans = 0;</a:t>
            </a:r>
          </a:p>
          <a:p>
            <a:pPr marL="0" indent="0"/>
            <a:r>
              <a:rPr lang="en-US" altLang="ja-JP">
                <a:latin typeface="Arial" panose="020B0604020202020204" pitchFamily="34" charset="0"/>
                <a:ea typeface="ＭＳ ゴシック" panose="020B0609070205080204" pitchFamily="49" charset="-128"/>
              </a:rPr>
              <a:t> for (int cnt = 1; cnt &lt;= 10; cnt++) {</a:t>
            </a:r>
          </a:p>
          <a:p>
            <a:pPr marL="0" indent="0"/>
            <a:r>
              <a:rPr lang="en-US" altLang="ja-JP">
                <a:latin typeface="Arial" panose="020B0604020202020204" pitchFamily="34" charset="0"/>
                <a:ea typeface="ＭＳ ゴシック" panose="020B0609070205080204" pitchFamily="49" charset="-128"/>
              </a:rPr>
              <a:t>    ans += cnt;</a:t>
            </a:r>
          </a:p>
          <a:p>
            <a:pPr marL="0" indent="0"/>
            <a:r>
              <a:rPr lang="en-US" altLang="ja-JP">
                <a:latin typeface="Arial" panose="020B0604020202020204" pitchFamily="34" charset="0"/>
                <a:ea typeface="ＭＳ ゴシック" panose="020B0609070205080204" pitchFamily="49" charset="-128"/>
              </a:rPr>
              <a:t>    if (ans &gt; 10){</a:t>
            </a:r>
          </a:p>
          <a:p>
            <a:pPr marL="0" indent="0"/>
            <a:r>
              <a:rPr lang="en-US" altLang="ja-JP">
                <a:latin typeface="Arial" panose="020B0604020202020204" pitchFamily="34" charset="0"/>
                <a:ea typeface="ＭＳ ゴシック" panose="020B0609070205080204" pitchFamily="49" charset="-128"/>
              </a:rPr>
              <a:t>        break;</a:t>
            </a:r>
          </a:p>
          <a:p>
            <a:pPr marL="0" indent="0"/>
            <a:r>
              <a:rPr lang="en-US" altLang="ja-JP">
                <a:latin typeface="Arial" panose="020B0604020202020204" pitchFamily="34" charset="0"/>
                <a:ea typeface="ＭＳ ゴシック" panose="020B0609070205080204" pitchFamily="49" charset="-128"/>
              </a:rPr>
              <a:t>    }</a:t>
            </a:r>
          </a:p>
          <a:p>
            <a:pPr marL="0" indent="0"/>
            <a:r>
              <a:rPr lang="en-US" altLang="ja-JP">
                <a:latin typeface="Arial" panose="020B0604020202020204" pitchFamily="34" charset="0"/>
                <a:ea typeface="ＭＳ ゴシック" panose="020B0609070205080204" pitchFamily="49" charset="-128"/>
              </a:rPr>
              <a:t> }</a:t>
            </a:r>
          </a:p>
          <a:p>
            <a:pPr marL="0" indent="0"/>
            <a:r>
              <a:rPr lang="en-US" altLang="ja-JP">
                <a:latin typeface="Arial" panose="020B0604020202020204" pitchFamily="34" charset="0"/>
                <a:ea typeface="ＭＳ ゴシック" panose="020B0609070205080204" pitchFamily="49" charset="-128"/>
              </a:rPr>
              <a:t> System.out.println(ans);    //hiển thị</a:t>
            </a:r>
            <a:r>
              <a:rPr lang="ja-JP" altLang="en-US">
                <a:latin typeface="Arial" panose="020B0604020202020204" pitchFamily="34" charset="0"/>
                <a:ea typeface="ＭＳ ゴシック" panose="020B0609070205080204" pitchFamily="49" charset="-128"/>
              </a:rPr>
              <a:t>「</a:t>
            </a:r>
            <a:r>
              <a:rPr lang="en-US" altLang="ja-JP">
                <a:latin typeface="Arial" panose="020B0604020202020204" pitchFamily="34" charset="0"/>
                <a:ea typeface="ＭＳ ゴシック" panose="020B0609070205080204" pitchFamily="49" charset="-128"/>
              </a:rPr>
              <a:t>15</a:t>
            </a:r>
            <a:r>
              <a:rPr lang="ja-JP" altLang="en-US">
                <a:latin typeface="Arial" panose="020B0604020202020204" pitchFamily="34" charset="0"/>
                <a:ea typeface="ＭＳ ゴシック" panose="020B0609070205080204" pitchFamily="49" charset="-128"/>
              </a:rPr>
              <a:t>」</a:t>
            </a:r>
          </a:p>
        </p:txBody>
      </p:sp>
      <p:sp>
        <p:nvSpPr>
          <p:cNvPr id="775171" name="Rectangle 3">
            <a:extLst>
              <a:ext uri="{FF2B5EF4-FFF2-40B4-BE49-F238E27FC236}">
                <a16:creationId xmlns:a16="http://schemas.microsoft.com/office/drawing/2014/main" id="{3CE3C286-655B-7E3E-3CD4-F9F189D37CE4}"/>
              </a:ext>
            </a:extLst>
          </p:cNvPr>
          <p:cNvSpPr>
            <a:spLocks noRot="1" noChangeAspect="1" noChangeArrowheads="1" noTextEdit="1"/>
          </p:cNvSpPr>
          <p:nvPr>
            <p:ph type="sldImg"/>
          </p:nvPr>
        </p:nvSpPr>
        <p:spPr>
          <a:ln/>
        </p:spPr>
      </p:sp>
      <p:sp>
        <p:nvSpPr>
          <p:cNvPr id="775172" name="Text Box 4">
            <a:extLst>
              <a:ext uri="{FF2B5EF4-FFF2-40B4-BE49-F238E27FC236}">
                <a16:creationId xmlns:a16="http://schemas.microsoft.com/office/drawing/2014/main" id="{7DF65402-A536-BCA3-07FE-0E8AA37F72A4}"/>
              </a:ext>
            </a:extLst>
          </p:cNvPr>
          <p:cNvSpPr txBox="1">
            <a:spLocks noChangeArrowheads="1"/>
          </p:cNvSpPr>
          <p:nvPr/>
        </p:nvSpPr>
        <p:spPr bwMode="auto">
          <a:xfrm>
            <a:off x="676275" y="6199188"/>
            <a:ext cx="5854700" cy="3111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break;</a:t>
            </a:r>
            <a:endParaRPr lang="en-US" altLang="en-US" b="0">
              <a:ea typeface="ＭＳ ゴシック" panose="020B0609070205080204" pitchFamily="49" charset="-128"/>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9266" name="Rectangle 2">
            <a:extLst>
              <a:ext uri="{FF2B5EF4-FFF2-40B4-BE49-F238E27FC236}">
                <a16:creationId xmlns:a16="http://schemas.microsoft.com/office/drawing/2014/main" id="{6EA8DAA5-BA8F-A505-6C0F-4C6E5D51CFAA}"/>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Câu lệnh </a:t>
            </a:r>
            <a:r>
              <a:rPr lang="en-US" altLang="ja-JP">
                <a:latin typeface="Arial" panose="020B0604020202020204" pitchFamily="34" charset="0"/>
                <a:ea typeface="ＭＳ ゴシック" panose="020B0609070205080204" pitchFamily="49" charset="-128"/>
              </a:rPr>
              <a:t>continue</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Sẽ dùng câu lệnh continue khi muốn skip xử lí còn lại trong xử lí lặp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Ví dụ </a:t>
            </a:r>
            <a:r>
              <a:rPr lang="ja-JP" altLang="en-US">
                <a:latin typeface="Arial" panose="020B0604020202020204" pitchFamily="34" charset="0"/>
              </a:rPr>
              <a:t>（</a:t>
            </a:r>
            <a:r>
              <a:rPr lang="en-US" altLang="ja-JP">
                <a:latin typeface="Arial" panose="020B0604020202020204" pitchFamily="34" charset="0"/>
              </a:rPr>
              <a:t>hiển thị chữ số bội số của 3 trong khoảng từ 1 đến 10 </a:t>
            </a:r>
            <a:r>
              <a:rPr lang="ja-JP" altLang="en-US">
                <a:latin typeface="Arial" panose="020B0604020202020204" pitchFamily="34" charset="0"/>
              </a:rPr>
              <a:t>）</a:t>
            </a: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Ví dụ thực hiện</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ea typeface="ＭＳ ゴシック" panose="020B0609070205080204" pitchFamily="49" charset="-128"/>
              </a:rPr>
              <a:t> </a:t>
            </a:r>
          </a:p>
          <a:p>
            <a:pPr marL="0" indent="0"/>
            <a:endParaRPr lang="en-US" altLang="ja-JP">
              <a:latin typeface="Arial" panose="020B0604020202020204" pitchFamily="34" charset="0"/>
              <a:ea typeface="ＭＳ ゴシック" panose="020B0609070205080204" pitchFamily="49" charset="-128"/>
            </a:endParaRPr>
          </a:p>
        </p:txBody>
      </p:sp>
      <p:sp>
        <p:nvSpPr>
          <p:cNvPr id="779267" name="Rectangle 3">
            <a:extLst>
              <a:ext uri="{FF2B5EF4-FFF2-40B4-BE49-F238E27FC236}">
                <a16:creationId xmlns:a16="http://schemas.microsoft.com/office/drawing/2014/main" id="{DD27AB47-C37F-1CEF-D425-71725E7F87DE}"/>
              </a:ext>
            </a:extLst>
          </p:cNvPr>
          <p:cNvSpPr>
            <a:spLocks noRot="1" noChangeAspect="1" noChangeArrowheads="1" noTextEdit="1"/>
          </p:cNvSpPr>
          <p:nvPr>
            <p:ph type="sldImg"/>
          </p:nvPr>
        </p:nvSpPr>
        <p:spPr>
          <a:ln/>
        </p:spPr>
      </p:sp>
      <p:sp>
        <p:nvSpPr>
          <p:cNvPr id="779268" name="Text Box 4">
            <a:extLst>
              <a:ext uri="{FF2B5EF4-FFF2-40B4-BE49-F238E27FC236}">
                <a16:creationId xmlns:a16="http://schemas.microsoft.com/office/drawing/2014/main" id="{B094D080-D8B9-46D1-D194-4277B08F68BA}"/>
              </a:ext>
            </a:extLst>
          </p:cNvPr>
          <p:cNvSpPr txBox="1">
            <a:spLocks noChangeArrowheads="1"/>
          </p:cNvSpPr>
          <p:nvPr/>
        </p:nvSpPr>
        <p:spPr bwMode="auto">
          <a:xfrm>
            <a:off x="746125" y="6024563"/>
            <a:ext cx="5854700" cy="30956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continue;</a:t>
            </a:r>
            <a:endParaRPr lang="en-US" altLang="en-US" b="0">
              <a:ea typeface="ＭＳ ゴシック" panose="020B0609070205080204" pitchFamily="49" charset="-128"/>
            </a:endParaRPr>
          </a:p>
        </p:txBody>
      </p:sp>
      <p:sp>
        <p:nvSpPr>
          <p:cNvPr id="779269" name="Text Box 5">
            <a:extLst>
              <a:ext uri="{FF2B5EF4-FFF2-40B4-BE49-F238E27FC236}">
                <a16:creationId xmlns:a16="http://schemas.microsoft.com/office/drawing/2014/main" id="{683980B9-2421-DD89-B42C-EA5DFEFF9AD0}"/>
              </a:ext>
            </a:extLst>
          </p:cNvPr>
          <p:cNvSpPr txBox="1">
            <a:spLocks noChangeArrowheads="1"/>
          </p:cNvSpPr>
          <p:nvPr/>
        </p:nvSpPr>
        <p:spPr bwMode="auto">
          <a:xfrm>
            <a:off x="746125" y="6811963"/>
            <a:ext cx="5854700" cy="10922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en-US" b="0">
                <a:ea typeface="ＭＳ ゴシック" panose="020B0609070205080204" pitchFamily="49" charset="-128"/>
              </a:rPr>
              <a:t>for (int cnt = 1;</a:t>
            </a:r>
            <a:r>
              <a:rPr lang="en-US" altLang="ja-JP" b="0">
                <a:ea typeface="ＭＳ ゴシック" panose="020B0609070205080204" pitchFamily="49" charset="-128"/>
              </a:rPr>
              <a:t> </a:t>
            </a:r>
            <a:r>
              <a:rPr lang="en-US" altLang="en-US" b="0">
                <a:ea typeface="ＭＳ ゴシック" panose="020B0609070205080204" pitchFamily="49" charset="-128"/>
              </a:rPr>
              <a:t>cnt</a:t>
            </a:r>
            <a:r>
              <a:rPr lang="en-US" altLang="ja-JP" b="0">
                <a:ea typeface="ＭＳ ゴシック" panose="020B0609070205080204" pitchFamily="49" charset="-128"/>
              </a:rPr>
              <a:t> </a:t>
            </a:r>
            <a:r>
              <a:rPr lang="en-US" altLang="en-US" b="0">
                <a:ea typeface="ＭＳ ゴシック" panose="020B0609070205080204" pitchFamily="49" charset="-128"/>
              </a:rPr>
              <a:t>&lt;=</a:t>
            </a:r>
            <a:r>
              <a:rPr lang="en-US" altLang="ja-JP" b="0">
                <a:ea typeface="ＭＳ ゴシック" panose="020B0609070205080204" pitchFamily="49" charset="-128"/>
              </a:rPr>
              <a:t> </a:t>
            </a:r>
            <a:r>
              <a:rPr lang="en-US" altLang="en-US" b="0">
                <a:ea typeface="ＭＳ ゴシック" panose="020B0609070205080204" pitchFamily="49" charset="-128"/>
              </a:rPr>
              <a:t>10;</a:t>
            </a:r>
            <a:r>
              <a:rPr lang="en-US" altLang="ja-JP" b="0">
                <a:ea typeface="ＭＳ ゴシック" panose="020B0609070205080204" pitchFamily="49" charset="-128"/>
              </a:rPr>
              <a:t> </a:t>
            </a:r>
            <a:r>
              <a:rPr lang="en-US" altLang="en-US" b="0">
                <a:ea typeface="ＭＳ ゴシック" panose="020B0609070205080204" pitchFamily="49" charset="-128"/>
              </a:rPr>
              <a:t>cnt++) {</a:t>
            </a:r>
          </a:p>
          <a:p>
            <a:pPr lvl="1" algn="just"/>
            <a:r>
              <a:rPr lang="en-US" altLang="en-US" b="0">
                <a:ea typeface="ＭＳ ゴシック" panose="020B0609070205080204" pitchFamily="49" charset="-128"/>
              </a:rPr>
              <a:t>    if ((cnt</a:t>
            </a:r>
            <a:r>
              <a:rPr lang="en-US" altLang="ja-JP" b="0">
                <a:ea typeface="ＭＳ ゴシック" panose="020B0609070205080204" pitchFamily="49" charset="-128"/>
              </a:rPr>
              <a:t> </a:t>
            </a:r>
            <a:r>
              <a:rPr lang="en-US" altLang="en-US" b="0">
                <a:ea typeface="ＭＳ ゴシック" panose="020B0609070205080204" pitchFamily="49" charset="-128"/>
              </a:rPr>
              <a:t>%</a:t>
            </a:r>
            <a:r>
              <a:rPr lang="en-US" altLang="ja-JP" b="0">
                <a:ea typeface="ＭＳ ゴシック" panose="020B0609070205080204" pitchFamily="49" charset="-128"/>
              </a:rPr>
              <a:t> </a:t>
            </a:r>
            <a:r>
              <a:rPr lang="en-US" altLang="en-US" b="0">
                <a:ea typeface="ＭＳ ゴシック" panose="020B0609070205080204" pitchFamily="49" charset="-128"/>
              </a:rPr>
              <a:t>3) != 0) {</a:t>
            </a:r>
          </a:p>
          <a:p>
            <a:pPr lvl="1" algn="just"/>
            <a:r>
              <a:rPr lang="en-US" altLang="en-US" b="0">
                <a:ea typeface="ＭＳ ゴシック" panose="020B0609070205080204" pitchFamily="49" charset="-128"/>
              </a:rPr>
              <a:t>        continue;</a:t>
            </a:r>
          </a:p>
          <a:p>
            <a:pPr lvl="1" algn="just"/>
            <a:r>
              <a:rPr lang="en-US" altLang="en-US" b="0">
                <a:ea typeface="ＭＳ ゴシック" panose="020B0609070205080204" pitchFamily="49" charset="-128"/>
              </a:rPr>
              <a:t>    }</a:t>
            </a:r>
          </a:p>
          <a:p>
            <a:pPr lvl="1" algn="just"/>
            <a:r>
              <a:rPr lang="en-US" altLang="en-US" b="0">
                <a:ea typeface="ＭＳ ゴシック" panose="020B0609070205080204" pitchFamily="49" charset="-128"/>
              </a:rPr>
              <a:t>    System.out.println(“</a:t>
            </a:r>
            <a:r>
              <a:rPr lang="en-US" altLang="ja-JP" b="0">
                <a:ea typeface="ＭＳ ゴシック" panose="020B0609070205080204" pitchFamily="49" charset="-128"/>
              </a:rPr>
              <a:t>bội số của 3</a:t>
            </a:r>
            <a:r>
              <a:rPr lang="en-US" altLang="en-US" b="0">
                <a:ea typeface="ＭＳ ゴシック" panose="020B0609070205080204" pitchFamily="49" charset="-128"/>
              </a:rPr>
              <a:t>：" + cnt);</a:t>
            </a:r>
          </a:p>
          <a:p>
            <a:pPr lvl="1" algn="just"/>
            <a:r>
              <a:rPr lang="en-US" altLang="en-US" b="0">
                <a:ea typeface="ＭＳ ゴシック" panose="020B0609070205080204" pitchFamily="49" charset="-128"/>
              </a:rPr>
              <a:t>}</a:t>
            </a:r>
          </a:p>
        </p:txBody>
      </p:sp>
      <p:sp>
        <p:nvSpPr>
          <p:cNvPr id="779270" name="Text Box 6">
            <a:extLst>
              <a:ext uri="{FF2B5EF4-FFF2-40B4-BE49-F238E27FC236}">
                <a16:creationId xmlns:a16="http://schemas.microsoft.com/office/drawing/2014/main" id="{75BB4C5A-B05C-BD86-7330-32CA31F3BD54}"/>
              </a:ext>
            </a:extLst>
          </p:cNvPr>
          <p:cNvSpPr txBox="1">
            <a:spLocks noChangeArrowheads="1"/>
          </p:cNvSpPr>
          <p:nvPr/>
        </p:nvSpPr>
        <p:spPr bwMode="auto">
          <a:xfrm>
            <a:off x="746125" y="8351838"/>
            <a:ext cx="5854700" cy="642937"/>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40" tIns="20483" rIns="10240" bIns="10240"/>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4788"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Bội số của</a:t>
            </a:r>
            <a:r>
              <a:rPr lang="ja-JP" altLang="en-US" b="0">
                <a:ea typeface="ＭＳ ゴシック" panose="020B0609070205080204" pitchFamily="49" charset="-128"/>
              </a:rPr>
              <a:t>３：</a:t>
            </a:r>
            <a:r>
              <a:rPr lang="en-US" altLang="ja-JP" b="0">
                <a:ea typeface="ＭＳ ゴシック" panose="020B0609070205080204" pitchFamily="49" charset="-128"/>
              </a:rPr>
              <a:t>3</a:t>
            </a:r>
          </a:p>
          <a:p>
            <a:pPr lvl="1" algn="just"/>
            <a:r>
              <a:rPr lang="en-US" altLang="ja-JP" b="0">
                <a:ea typeface="MS UI Gothic" panose="020B0600070205080204" pitchFamily="50" charset="-128"/>
              </a:rPr>
              <a:t>Bội số của </a:t>
            </a:r>
            <a:r>
              <a:rPr lang="ja-JP" altLang="en-US" b="0">
                <a:ea typeface="MS UI Gothic" panose="020B0600070205080204" pitchFamily="50" charset="-128"/>
              </a:rPr>
              <a:t>３</a:t>
            </a:r>
            <a:r>
              <a:rPr lang="ja-JP" altLang="en-US">
                <a:ea typeface="MS UI Gothic" panose="020B0600070205080204" pitchFamily="50" charset="-128"/>
              </a:rPr>
              <a:t> </a:t>
            </a:r>
            <a:r>
              <a:rPr lang="ja-JP" altLang="en-US" b="0">
                <a:ea typeface="ＭＳ ゴシック" panose="020B0609070205080204" pitchFamily="49" charset="-128"/>
              </a:rPr>
              <a:t>：</a:t>
            </a:r>
            <a:r>
              <a:rPr lang="en-US" altLang="ja-JP" b="0">
                <a:ea typeface="ＭＳ ゴシック" panose="020B0609070205080204" pitchFamily="49" charset="-128"/>
              </a:rPr>
              <a:t>6</a:t>
            </a:r>
          </a:p>
          <a:p>
            <a:pPr lvl="1" algn="just"/>
            <a:r>
              <a:rPr lang="en-US" altLang="ja-JP" b="0">
                <a:ea typeface="MS UI Gothic" panose="020B0600070205080204" pitchFamily="50" charset="-128"/>
              </a:rPr>
              <a:t>Bội số của </a:t>
            </a:r>
            <a:r>
              <a:rPr lang="ja-JP" altLang="en-US" b="0">
                <a:ea typeface="MS UI Gothic" panose="020B0600070205080204" pitchFamily="50" charset="-128"/>
              </a:rPr>
              <a:t>３</a:t>
            </a:r>
            <a:r>
              <a:rPr lang="ja-JP" altLang="en-US">
                <a:ea typeface="MS UI Gothic" panose="020B0600070205080204" pitchFamily="50" charset="-128"/>
              </a:rPr>
              <a:t> </a:t>
            </a:r>
            <a:r>
              <a:rPr lang="ja-JP" altLang="en-US" b="0">
                <a:ea typeface="ＭＳ ゴシック" panose="020B0609070205080204" pitchFamily="49" charset="-128"/>
              </a:rPr>
              <a:t>：</a:t>
            </a:r>
            <a:r>
              <a:rPr lang="en-US" altLang="ja-JP" b="0">
                <a:ea typeface="ＭＳ ゴシック" panose="020B0609070205080204" pitchFamily="49" charset="-128"/>
              </a:rPr>
              <a:t>9</a:t>
            </a:r>
            <a:endParaRPr lang="en-US" altLang="en-US" b="0">
              <a:ea typeface="ＭＳ ゴシック" panose="020B0609070205080204" pitchFamily="49" charset="-128"/>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89819-9375-3CB3-D9C2-932570766473}"/>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Text Placeholder 2">
            <a:extLst>
              <a:ext uri="{FF2B5EF4-FFF2-40B4-BE49-F238E27FC236}">
                <a16:creationId xmlns:a16="http://schemas.microsoft.com/office/drawing/2014/main" id="{D36D1B6F-D932-90DD-6C2D-9C517E3F4744}"/>
              </a:ext>
            </a:extLst>
          </p:cNvPr>
          <p:cNvSpPr>
            <a:spLocks noGrp="1"/>
          </p:cNvSpPr>
          <p:nvPr>
            <p:ph type="body" sz="half" idx="1"/>
          </p:nvPr>
        </p:nvSpPr>
        <p:spPr>
          <a:xfrm>
            <a:off x="344488" y="796925"/>
            <a:ext cx="4532312"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4" name="Content Placeholder 3">
            <a:extLst>
              <a:ext uri="{FF2B5EF4-FFF2-40B4-BE49-F238E27FC236}">
                <a16:creationId xmlns:a16="http://schemas.microsoft.com/office/drawing/2014/main" id="{929F38A3-DBE3-F4F2-0190-5094C25C0E08}"/>
              </a:ext>
            </a:extLst>
          </p:cNvPr>
          <p:cNvSpPr>
            <a:spLocks noGrp="1"/>
          </p:cNvSpPr>
          <p:nvPr>
            <p:ph sz="half" idx="2"/>
          </p:nvPr>
        </p:nvSpPr>
        <p:spPr>
          <a:xfrm>
            <a:off x="5029200" y="796925"/>
            <a:ext cx="4532313"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5" name="Slide Number Placeholder 4">
            <a:extLst>
              <a:ext uri="{FF2B5EF4-FFF2-40B4-BE49-F238E27FC236}">
                <a16:creationId xmlns:a16="http://schemas.microsoft.com/office/drawing/2014/main" id="{B75D2D9F-FB25-CD8B-DE47-30ABBEBD67B8}"/>
              </a:ext>
            </a:extLst>
          </p:cNvPr>
          <p:cNvSpPr>
            <a:spLocks noGrp="1"/>
          </p:cNvSpPr>
          <p:nvPr>
            <p:ph type="sldNum" sz="quarter" idx="10"/>
          </p:nvPr>
        </p:nvSpPr>
        <p:spPr>
          <a:xfrm>
            <a:off x="7616825" y="6381750"/>
            <a:ext cx="2133600" cy="476250"/>
          </a:xfrm>
        </p:spPr>
        <p:txBody>
          <a:bodyPr/>
          <a:lstStyle>
            <a:lvl1pPr>
              <a:defRPr/>
            </a:lvl1pPr>
          </a:lstStyle>
          <a:p>
            <a:fld id="{B3743DA2-B0CE-41EC-8642-8AE6321B4914}" type="slidenum">
              <a:rPr lang="en-US" altLang="ja-JP"/>
              <a:pPr/>
              <a:t>‹#›</a:t>
            </a:fld>
            <a:endParaRPr lang="en-US" altLang="ja-JP"/>
          </a:p>
        </p:txBody>
      </p:sp>
    </p:spTree>
    <p:extLst>
      <p:ext uri="{BB962C8B-B14F-4D97-AF65-F5344CB8AC3E}">
        <p14:creationId xmlns:p14="http://schemas.microsoft.com/office/powerpoint/2010/main" val="24521506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943CC-B7E2-0F09-26D0-E82F1E46CE29}"/>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Table Placeholder 2">
            <a:extLst>
              <a:ext uri="{FF2B5EF4-FFF2-40B4-BE49-F238E27FC236}">
                <a16:creationId xmlns:a16="http://schemas.microsoft.com/office/drawing/2014/main" id="{8783CEEF-67C3-036C-8B73-5A9DA5A62CCC}"/>
              </a:ext>
            </a:extLst>
          </p:cNvPr>
          <p:cNvSpPr>
            <a:spLocks noGrp="1"/>
          </p:cNvSpPr>
          <p:nvPr>
            <p:ph type="tbl" idx="1"/>
          </p:nvPr>
        </p:nvSpPr>
        <p:spPr>
          <a:xfrm>
            <a:off x="344488" y="796925"/>
            <a:ext cx="9217025" cy="5903913"/>
          </a:xfrm>
        </p:spPr>
        <p:txBody>
          <a:bodyPr/>
          <a:lstStyle/>
          <a:p>
            <a:endParaRPr lang="ja-JP" altLang="en-US"/>
          </a:p>
        </p:txBody>
      </p:sp>
      <p:sp>
        <p:nvSpPr>
          <p:cNvPr id="4" name="Slide Number Placeholder 3">
            <a:extLst>
              <a:ext uri="{FF2B5EF4-FFF2-40B4-BE49-F238E27FC236}">
                <a16:creationId xmlns:a16="http://schemas.microsoft.com/office/drawing/2014/main" id="{526D02AC-97BA-E41B-E9BB-88A0055BC96C}"/>
              </a:ext>
            </a:extLst>
          </p:cNvPr>
          <p:cNvSpPr>
            <a:spLocks noGrp="1"/>
          </p:cNvSpPr>
          <p:nvPr>
            <p:ph type="sldNum" sz="quarter" idx="10"/>
          </p:nvPr>
        </p:nvSpPr>
        <p:spPr>
          <a:xfrm>
            <a:off x="7616825" y="6381750"/>
            <a:ext cx="2133600" cy="476250"/>
          </a:xfrm>
        </p:spPr>
        <p:txBody>
          <a:bodyPr/>
          <a:lstStyle>
            <a:lvl1pPr>
              <a:defRPr/>
            </a:lvl1pPr>
          </a:lstStyle>
          <a:p>
            <a:fld id="{F3654270-85F2-4058-83FE-C390B169C459}" type="slidenum">
              <a:rPr lang="en-US" altLang="ja-JP"/>
              <a:pPr/>
              <a:t>‹#›</a:t>
            </a:fld>
            <a:endParaRPr lang="en-US" altLang="ja-JP"/>
          </a:p>
        </p:txBody>
      </p:sp>
    </p:spTree>
    <p:extLst>
      <p:ext uri="{BB962C8B-B14F-4D97-AF65-F5344CB8AC3E}">
        <p14:creationId xmlns:p14="http://schemas.microsoft.com/office/powerpoint/2010/main" val="12267986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457DA-32E8-74CA-988F-EDB3C4227105}"/>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Content Placeholder 2">
            <a:extLst>
              <a:ext uri="{FF2B5EF4-FFF2-40B4-BE49-F238E27FC236}">
                <a16:creationId xmlns:a16="http://schemas.microsoft.com/office/drawing/2014/main" id="{5148F2EF-6062-C1B9-D6F0-ED13B8A61E25}"/>
              </a:ext>
            </a:extLst>
          </p:cNvPr>
          <p:cNvSpPr>
            <a:spLocks noGrp="1"/>
          </p:cNvSpPr>
          <p:nvPr>
            <p:ph sz="half" idx="1"/>
          </p:nvPr>
        </p:nvSpPr>
        <p:spPr>
          <a:xfrm>
            <a:off x="344488" y="796925"/>
            <a:ext cx="4532312"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4" name="Content Placeholder 3">
            <a:extLst>
              <a:ext uri="{FF2B5EF4-FFF2-40B4-BE49-F238E27FC236}">
                <a16:creationId xmlns:a16="http://schemas.microsoft.com/office/drawing/2014/main" id="{3D5EDE24-820F-0382-0D18-18AAE1C301C7}"/>
              </a:ext>
            </a:extLst>
          </p:cNvPr>
          <p:cNvSpPr>
            <a:spLocks noGrp="1"/>
          </p:cNvSpPr>
          <p:nvPr>
            <p:ph sz="quarter" idx="2"/>
          </p:nvPr>
        </p:nvSpPr>
        <p:spPr>
          <a:xfrm>
            <a:off x="5029200" y="796925"/>
            <a:ext cx="4532313" cy="287496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5" name="Content Placeholder 4">
            <a:extLst>
              <a:ext uri="{FF2B5EF4-FFF2-40B4-BE49-F238E27FC236}">
                <a16:creationId xmlns:a16="http://schemas.microsoft.com/office/drawing/2014/main" id="{1BDB2753-283C-62A7-B6FC-BA923D8651C6}"/>
              </a:ext>
            </a:extLst>
          </p:cNvPr>
          <p:cNvSpPr>
            <a:spLocks noGrp="1"/>
          </p:cNvSpPr>
          <p:nvPr>
            <p:ph sz="quarter" idx="3"/>
          </p:nvPr>
        </p:nvSpPr>
        <p:spPr>
          <a:xfrm>
            <a:off x="5029200" y="3824288"/>
            <a:ext cx="4532313" cy="2876550"/>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6" name="Slide Number Placeholder 5">
            <a:extLst>
              <a:ext uri="{FF2B5EF4-FFF2-40B4-BE49-F238E27FC236}">
                <a16:creationId xmlns:a16="http://schemas.microsoft.com/office/drawing/2014/main" id="{991F297A-E12C-2EAF-7F77-64FC51EA63E6}"/>
              </a:ext>
            </a:extLst>
          </p:cNvPr>
          <p:cNvSpPr>
            <a:spLocks noGrp="1"/>
          </p:cNvSpPr>
          <p:nvPr>
            <p:ph type="sldNum" sz="quarter" idx="10"/>
          </p:nvPr>
        </p:nvSpPr>
        <p:spPr>
          <a:xfrm>
            <a:off x="7616825" y="6381750"/>
            <a:ext cx="2133600" cy="476250"/>
          </a:xfrm>
        </p:spPr>
        <p:txBody>
          <a:bodyPr/>
          <a:lstStyle>
            <a:lvl1pPr>
              <a:defRPr/>
            </a:lvl1pPr>
          </a:lstStyle>
          <a:p>
            <a:fld id="{8B029134-C4E5-4D76-AC09-DBC834E842CF}" type="slidenum">
              <a:rPr lang="en-US" altLang="ja-JP"/>
              <a:pPr/>
              <a:t>‹#›</a:t>
            </a:fld>
            <a:endParaRPr lang="en-US" altLang="ja-JP"/>
          </a:p>
        </p:txBody>
      </p:sp>
    </p:spTree>
    <p:extLst>
      <p:ext uri="{BB962C8B-B14F-4D97-AF65-F5344CB8AC3E}">
        <p14:creationId xmlns:p14="http://schemas.microsoft.com/office/powerpoint/2010/main" val="1474363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2026/8/3</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sv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11">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2"/>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 id="2147483804" r:id="rId7"/>
    <p:sldLayoutId id="2147483805" r:id="rId8"/>
    <p:sldLayoutId id="2147483806" r:id="rId9"/>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2026/8/3</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BC61E3-7210-D801-C73E-18DF39FE6C40}"/>
              </a:ext>
            </a:extLst>
          </p:cNvPr>
          <p:cNvSpPr>
            <a:spLocks noGrp="1"/>
          </p:cNvSpPr>
          <p:nvPr>
            <p:ph type="ctrTitle"/>
          </p:nvPr>
        </p:nvSpPr>
        <p:spPr>
          <a:xfrm>
            <a:off x="742950" y="2130425"/>
            <a:ext cx="7486650" cy="1470025"/>
          </a:xfrm>
        </p:spPr>
        <p:txBody>
          <a:bodyPr>
            <a:noAutofit/>
          </a:bodyPr>
          <a:lstStyle/>
          <a:p>
            <a:pPr algn="ctr" eaLnBrk="0" hangingPunct="0"/>
            <a:r>
              <a:rPr lang="en-US" altLang="ja-JP" dirty="0">
                <a:latin typeface="+mj-lt"/>
              </a:rPr>
              <a:t>Java Programming</a:t>
            </a:r>
            <a:br>
              <a:rPr lang="en-US" altLang="ja-JP" dirty="0">
                <a:latin typeface="+mj-lt"/>
              </a:rPr>
            </a:br>
            <a:br>
              <a:rPr lang="vi-VN" altLang="ja-JP" kern="1200" dirty="0">
                <a:latin typeface="+mj-lt"/>
              </a:rPr>
            </a:br>
            <a:endParaRPr kumimoji="1" lang="ja-JP" altLang="en-US" dirty="0">
              <a:latin typeface="+mj-lt"/>
              <a:cs typeface="Times New Roman" panose="02020603050405020304" pitchFamily="18" charset="0"/>
            </a:endParaRPr>
          </a:p>
        </p:txBody>
      </p:sp>
      <p:sp>
        <p:nvSpPr>
          <p:cNvPr id="3" name="Subtitle 2">
            <a:extLst>
              <a:ext uri="{FF2B5EF4-FFF2-40B4-BE49-F238E27FC236}">
                <a16:creationId xmlns:a16="http://schemas.microsoft.com/office/drawing/2014/main" id="{708F8EF2-D090-2D87-3C30-91D44315D1EC}"/>
              </a:ext>
            </a:extLst>
          </p:cNvPr>
          <p:cNvSpPr>
            <a:spLocks noGrp="1"/>
          </p:cNvSpPr>
          <p:nvPr>
            <p:ph type="subTitle" idx="1"/>
          </p:nvPr>
        </p:nvSpPr>
        <p:spPr>
          <a:xfrm>
            <a:off x="2231027" y="4419600"/>
            <a:ext cx="6934200" cy="1752600"/>
          </a:xfrm>
        </p:spPr>
        <p:txBody>
          <a:bodyPr>
            <a:normAutofit/>
          </a:bodyPr>
          <a:lstStyle/>
          <a:p>
            <a:pPr algn="r"/>
            <a:endParaRPr kumimoji="1" lang="en-US" altLang="ja-JP" sz="2800" dirty="0">
              <a:latin typeface="+mj-lt"/>
            </a:endParaRPr>
          </a:p>
          <a:p>
            <a:pPr algn="r"/>
            <a:r>
              <a:rPr lang="en-US" altLang="ja-JP" sz="2800" dirty="0">
                <a:latin typeface="+mj-lt"/>
              </a:rPr>
              <a:t>Mai Ngọc </a:t>
            </a:r>
            <a:r>
              <a:rPr lang="en-US" altLang="ja-JP" sz="2800" dirty="0" err="1">
                <a:latin typeface="+mj-lt"/>
              </a:rPr>
              <a:t>Khương</a:t>
            </a:r>
            <a:endParaRPr lang="en-US" altLang="ja-JP" sz="2800" dirty="0">
              <a:latin typeface="+mj-lt"/>
            </a:endParaRPr>
          </a:p>
          <a:p>
            <a:pPr algn="r"/>
            <a:r>
              <a:rPr kumimoji="1" lang="en-US" altLang="ja-JP" sz="2800" dirty="0">
                <a:latin typeface="+mj-lt"/>
              </a:rPr>
              <a:t>H</a:t>
            </a:r>
            <a:r>
              <a:rPr lang="en-US" altLang="ja-JP" sz="2800" dirty="0">
                <a:latin typeface="+mj-lt"/>
              </a:rPr>
              <a:t>à </a:t>
            </a:r>
            <a:r>
              <a:rPr lang="en-US" altLang="ja-JP" sz="2800" dirty="0" err="1">
                <a:latin typeface="+mj-lt"/>
              </a:rPr>
              <a:t>nội</a:t>
            </a:r>
            <a:r>
              <a:rPr lang="en-US" altLang="ja-JP" sz="2800" dirty="0">
                <a:latin typeface="+mj-lt"/>
              </a:rPr>
              <a:t>, </a:t>
            </a:r>
            <a:r>
              <a:rPr lang="en-US" altLang="ja-JP" sz="2800" dirty="0" err="1">
                <a:latin typeface="+mj-lt"/>
              </a:rPr>
              <a:t>tháng</a:t>
            </a:r>
            <a:r>
              <a:rPr lang="en-US" altLang="ja-JP" sz="2800" dirty="0">
                <a:latin typeface="+mj-lt"/>
              </a:rPr>
              <a:t> 8 </a:t>
            </a:r>
            <a:r>
              <a:rPr lang="en-US" altLang="ja-JP" sz="2800" dirty="0" err="1">
                <a:latin typeface="+mj-lt"/>
              </a:rPr>
              <a:t>năm</a:t>
            </a:r>
            <a:r>
              <a:rPr lang="en-US" altLang="ja-JP" sz="2800" dirty="0">
                <a:latin typeface="+mj-lt"/>
              </a:rPr>
              <a:t> 2026</a:t>
            </a:r>
            <a:endParaRPr kumimoji="1" lang="ja-JP" altLang="en-US" sz="2800" dirty="0">
              <a:latin typeface="+mj-lt"/>
            </a:endParaRPr>
          </a:p>
        </p:txBody>
      </p:sp>
    </p:spTree>
    <p:extLst>
      <p:ext uri="{BB962C8B-B14F-4D97-AF65-F5344CB8AC3E}">
        <p14:creationId xmlns:p14="http://schemas.microsoft.com/office/powerpoint/2010/main" val="42329306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3" name="Text Box 3">
            <a:extLst>
              <a:ext uri="{FF2B5EF4-FFF2-40B4-BE49-F238E27FC236}">
                <a16:creationId xmlns:a16="http://schemas.microsoft.com/office/drawing/2014/main" id="{792EDE52-F2E8-4673-F802-D16961799366}"/>
              </a:ext>
            </a:extLst>
          </p:cNvPr>
          <p:cNvSpPr txBox="1">
            <a:spLocks noChangeArrowheads="1"/>
          </p:cNvSpPr>
          <p:nvPr/>
        </p:nvSpPr>
        <p:spPr bwMode="auto">
          <a:xfrm>
            <a:off x="2489200" y="2336800"/>
            <a:ext cx="5080000" cy="1192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br>
              <a:rPr lang="en-US" altLang="ja-JP" sz="2100" b="0" dirty="0">
                <a:ea typeface="ヒラギノ明朝 Pro W6" pitchFamily="18" charset="-128"/>
              </a:rPr>
            </a:br>
            <a:r>
              <a:rPr lang="en-US" altLang="ja-JP" sz="4700" b="0" dirty="0">
                <a:ea typeface="ヒラギノ明朝 Pro W6" pitchFamily="18" charset="-128"/>
              </a:rPr>
              <a:t>Convert </a:t>
            </a:r>
            <a:r>
              <a:rPr lang="en-US" altLang="ja-JP" sz="4700" b="0" dirty="0" err="1">
                <a:ea typeface="ヒラギノ明朝 Pro W6" pitchFamily="18" charset="-128"/>
              </a:rPr>
              <a:t>kiểu</a:t>
            </a:r>
            <a:r>
              <a:rPr lang="en-US" altLang="ja-JP" sz="4700" b="0" dirty="0">
                <a:ea typeface="ヒラギノ明朝 Pro W6" pitchFamily="18" charset="-128"/>
              </a:rPr>
              <a:t> data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628AA25A-FE71-8F72-BFED-CAE07732250A}"/>
              </a:ext>
            </a:extLst>
          </p:cNvPr>
          <p:cNvSpPr>
            <a:spLocks noGrp="1"/>
          </p:cNvSpPr>
          <p:nvPr>
            <p:ph type="sldNum" sz="quarter" idx="10"/>
          </p:nvPr>
        </p:nvSpPr>
        <p:spPr/>
        <p:txBody>
          <a:bodyPr/>
          <a:lstStyle/>
          <a:p>
            <a:fld id="{40E2A946-AD8F-4071-A267-7CB1E7278EE9}" type="slidenum">
              <a:rPr lang="en-US" altLang="ja-JP"/>
              <a:pPr/>
              <a:t>3</a:t>
            </a:fld>
            <a:endParaRPr lang="en-US" altLang="ja-JP"/>
          </a:p>
        </p:txBody>
      </p:sp>
      <p:sp>
        <p:nvSpPr>
          <p:cNvPr id="692226" name="Rectangle 2">
            <a:extLst>
              <a:ext uri="{FF2B5EF4-FFF2-40B4-BE49-F238E27FC236}">
                <a16:creationId xmlns:a16="http://schemas.microsoft.com/office/drawing/2014/main" id="{5884C182-9E0C-7175-3EF2-AF76D63518BD}"/>
              </a:ext>
            </a:extLst>
          </p:cNvPr>
          <p:cNvSpPr>
            <a:spLocks noGrp="1" noChangeArrowheads="1"/>
          </p:cNvSpPr>
          <p:nvPr>
            <p:ph type="title"/>
          </p:nvPr>
        </p:nvSpPr>
        <p:spPr>
          <a:xfrm>
            <a:off x="328519" y="338091"/>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Convert </a:t>
            </a:r>
            <a:r>
              <a:rPr lang="en-US" altLang="ja-JP" dirty="0" err="1">
                <a:latin typeface="Arial" panose="020B0604020202020204" pitchFamily="34" charset="0"/>
                <a:ea typeface="MS UI Gothic" panose="020B0600070205080204" pitchFamily="50" charset="-128"/>
              </a:rPr>
              <a:t>kiểu</a:t>
            </a:r>
            <a:r>
              <a:rPr lang="en-US" altLang="ja-JP" dirty="0">
                <a:latin typeface="Arial" panose="020B0604020202020204" pitchFamily="34" charset="0"/>
                <a:ea typeface="MS UI Gothic" panose="020B0600070205080204" pitchFamily="50" charset="-128"/>
              </a:rPr>
              <a:t> là </a:t>
            </a:r>
            <a:r>
              <a:rPr lang="en-US" altLang="ja-JP" dirty="0" err="1">
                <a:latin typeface="Arial" panose="020B0604020202020204" pitchFamily="34" charset="0"/>
                <a:ea typeface="MS UI Gothic" panose="020B0600070205080204" pitchFamily="50" charset="-128"/>
              </a:rPr>
              <a:t>gi</a:t>
            </a:r>
            <a:r>
              <a:rPr lang="en-US" altLang="ja-JP" dirty="0">
                <a:latin typeface="Arial" panose="020B0604020202020204" pitchFamily="34" charset="0"/>
                <a:ea typeface="MS UI Gothic" panose="020B0600070205080204" pitchFamily="50" charset="-128"/>
              </a:rPr>
              <a:t>̀</a:t>
            </a:r>
          </a:p>
        </p:txBody>
      </p:sp>
      <p:sp>
        <p:nvSpPr>
          <p:cNvPr id="692228" name="Rectangle 4">
            <a:extLst>
              <a:ext uri="{FF2B5EF4-FFF2-40B4-BE49-F238E27FC236}">
                <a16:creationId xmlns:a16="http://schemas.microsoft.com/office/drawing/2014/main" id="{F1CCDC57-C71C-010A-99C5-0AFA10F9A6FD}"/>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Convert kiểu là</a:t>
            </a:r>
          </a:p>
          <a:p>
            <a:endParaRPr lang="en-US" altLang="ja-JP" sz="2400" b="0">
              <a:latin typeface="Arial" panose="020B0604020202020204" pitchFamily="34" charset="0"/>
            </a:endParaRPr>
          </a:p>
          <a:p>
            <a:endParaRPr lang="en-US" altLang="ja-JP" sz="2400" b="0">
              <a:latin typeface="Arial" panose="020B0604020202020204" pitchFamily="34" charset="0"/>
            </a:endParaRPr>
          </a:p>
          <a:p>
            <a:pPr>
              <a:buFont typeface="Wingdings" panose="05000000000000000000" pitchFamily="2" charset="2"/>
              <a:buNone/>
            </a:pPr>
            <a:r>
              <a:rPr lang="en-US" altLang="ja-JP" sz="2000" b="0">
                <a:latin typeface="Arial" panose="020B0604020202020204" pitchFamily="34" charset="0"/>
              </a:rPr>
              <a:t>●Ví dụ cần thiết phải convert kiểu</a:t>
            </a:r>
          </a:p>
        </p:txBody>
      </p:sp>
      <p:sp>
        <p:nvSpPr>
          <p:cNvPr id="692261" name="Rectangle 37">
            <a:extLst>
              <a:ext uri="{FF2B5EF4-FFF2-40B4-BE49-F238E27FC236}">
                <a16:creationId xmlns:a16="http://schemas.microsoft.com/office/drawing/2014/main" id="{2D0B9D8F-9B9B-7120-5859-3D42607B5311}"/>
              </a:ext>
            </a:extLst>
          </p:cNvPr>
          <p:cNvSpPr>
            <a:spLocks noChangeArrowheads="1"/>
          </p:cNvSpPr>
          <p:nvPr/>
        </p:nvSpPr>
        <p:spPr bwMode="auto">
          <a:xfrm>
            <a:off x="344488" y="12827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Convert một kiểu data thành một kiểu data khác.</a:t>
            </a:r>
          </a:p>
        </p:txBody>
      </p:sp>
      <p:sp>
        <p:nvSpPr>
          <p:cNvPr id="692329" name="Rectangle 105">
            <a:extLst>
              <a:ext uri="{FF2B5EF4-FFF2-40B4-BE49-F238E27FC236}">
                <a16:creationId xmlns:a16="http://schemas.microsoft.com/office/drawing/2014/main" id="{DC72F4C5-B154-EB05-AAD9-D28EDA616878}"/>
              </a:ext>
            </a:extLst>
          </p:cNvPr>
          <p:cNvSpPr>
            <a:spLocks noChangeArrowheads="1"/>
          </p:cNvSpPr>
          <p:nvPr/>
        </p:nvSpPr>
        <p:spPr bwMode="auto">
          <a:xfrm>
            <a:off x="342900" y="2540000"/>
            <a:ext cx="9117013" cy="3452813"/>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692330" name="Text Box 106">
            <a:extLst>
              <a:ext uri="{FF2B5EF4-FFF2-40B4-BE49-F238E27FC236}">
                <a16:creationId xmlns:a16="http://schemas.microsoft.com/office/drawing/2014/main" id="{1C1F8342-E761-6FD4-50C5-B245729FED9E}"/>
              </a:ext>
            </a:extLst>
          </p:cNvPr>
          <p:cNvSpPr txBox="1">
            <a:spLocks noChangeArrowheads="1"/>
          </p:cNvSpPr>
          <p:nvPr/>
        </p:nvSpPr>
        <p:spPr bwMode="auto">
          <a:xfrm>
            <a:off x="3389313" y="3140075"/>
            <a:ext cx="704850" cy="376238"/>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ＭＳ ゴシック" panose="020B0609070205080204" pitchFamily="49" charset="-128"/>
                <a:ea typeface="ＭＳ ゴシック" panose="020B0609070205080204" pitchFamily="49" charset="-128"/>
              </a:rPr>
              <a:t>xxxx</a:t>
            </a:r>
          </a:p>
        </p:txBody>
      </p:sp>
      <p:sp>
        <p:nvSpPr>
          <p:cNvPr id="692331" name="Text Box 107">
            <a:extLst>
              <a:ext uri="{FF2B5EF4-FFF2-40B4-BE49-F238E27FC236}">
                <a16:creationId xmlns:a16="http://schemas.microsoft.com/office/drawing/2014/main" id="{6B52B1FD-C773-CB96-85B4-64C681259EDD}"/>
              </a:ext>
            </a:extLst>
          </p:cNvPr>
          <p:cNvSpPr txBox="1">
            <a:spLocks noChangeArrowheads="1"/>
          </p:cNvSpPr>
          <p:nvPr/>
        </p:nvSpPr>
        <p:spPr bwMode="auto">
          <a:xfrm>
            <a:off x="1809750" y="3127375"/>
            <a:ext cx="1685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latin typeface="ＭＳ ゴシック" panose="020B0609070205080204" pitchFamily="49" charset="-128"/>
                <a:ea typeface="ＭＳ ゴシック" panose="020B0609070205080204" pitchFamily="49" charset="-128"/>
              </a:rPr>
              <a:t>strUserEntry</a:t>
            </a:r>
          </a:p>
        </p:txBody>
      </p:sp>
      <p:sp>
        <p:nvSpPr>
          <p:cNvPr id="692332" name="Cloud">
            <a:extLst>
              <a:ext uri="{FF2B5EF4-FFF2-40B4-BE49-F238E27FC236}">
                <a16:creationId xmlns:a16="http://schemas.microsoft.com/office/drawing/2014/main" id="{87BF63F6-E26B-4BD9-E34E-BB9298EFC560}"/>
              </a:ext>
            </a:extLst>
          </p:cNvPr>
          <p:cNvSpPr>
            <a:spLocks noChangeAspect="1" noEditPoints="1" noChangeArrowheads="1"/>
          </p:cNvSpPr>
          <p:nvPr/>
        </p:nvSpPr>
        <p:spPr bwMode="auto">
          <a:xfrm>
            <a:off x="6346825" y="3079750"/>
            <a:ext cx="2605088" cy="1603375"/>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a:lstStyle/>
          <a:p>
            <a:endParaRPr lang="ja-JP" altLang="en-US"/>
          </a:p>
        </p:txBody>
      </p:sp>
      <p:sp>
        <p:nvSpPr>
          <p:cNvPr id="692339" name="Rectangle 115">
            <a:extLst>
              <a:ext uri="{FF2B5EF4-FFF2-40B4-BE49-F238E27FC236}">
                <a16:creationId xmlns:a16="http://schemas.microsoft.com/office/drawing/2014/main" id="{89206113-7497-3956-CC06-0B1C58CA2006}"/>
              </a:ext>
            </a:extLst>
          </p:cNvPr>
          <p:cNvSpPr>
            <a:spLocks noChangeArrowheads="1"/>
          </p:cNvSpPr>
          <p:nvPr/>
        </p:nvSpPr>
        <p:spPr bwMode="auto">
          <a:xfrm>
            <a:off x="5786438" y="3125788"/>
            <a:ext cx="9271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ja-JP" sz="1800">
                <a:latin typeface="ＭＳ ゴシック" panose="020B0609070205080204" pitchFamily="49" charset="-128"/>
                <a:ea typeface="ＭＳ ゴシック" panose="020B0609070205080204" pitchFamily="49" charset="-128"/>
              </a:rPr>
              <a:t>xxxx</a:t>
            </a:r>
          </a:p>
        </p:txBody>
      </p:sp>
      <p:sp>
        <p:nvSpPr>
          <p:cNvPr id="692340" name="Text Box 116">
            <a:extLst>
              <a:ext uri="{FF2B5EF4-FFF2-40B4-BE49-F238E27FC236}">
                <a16:creationId xmlns:a16="http://schemas.microsoft.com/office/drawing/2014/main" id="{974C209B-8C5D-EA1D-E682-77962CD7362D}"/>
              </a:ext>
            </a:extLst>
          </p:cNvPr>
          <p:cNvSpPr txBox="1">
            <a:spLocks noChangeArrowheads="1"/>
          </p:cNvSpPr>
          <p:nvPr/>
        </p:nvSpPr>
        <p:spPr bwMode="auto">
          <a:xfrm>
            <a:off x="3382963" y="4594225"/>
            <a:ext cx="704850" cy="376238"/>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endParaRPr lang="ja-JP" altLang="ja-JP" sz="1800" b="0">
              <a:latin typeface="MS UI Gothic" panose="020B0600070205080204" pitchFamily="50" charset="-128"/>
            </a:endParaRPr>
          </a:p>
        </p:txBody>
      </p:sp>
      <p:sp>
        <p:nvSpPr>
          <p:cNvPr id="692341" name="Text Box 117">
            <a:extLst>
              <a:ext uri="{FF2B5EF4-FFF2-40B4-BE49-F238E27FC236}">
                <a16:creationId xmlns:a16="http://schemas.microsoft.com/office/drawing/2014/main" id="{FAA3371D-C8DC-A73A-82FE-4D1AEE28E176}"/>
              </a:ext>
            </a:extLst>
          </p:cNvPr>
          <p:cNvSpPr txBox="1">
            <a:spLocks noChangeArrowheads="1"/>
          </p:cNvSpPr>
          <p:nvPr/>
        </p:nvSpPr>
        <p:spPr bwMode="auto">
          <a:xfrm>
            <a:off x="2095500" y="4581525"/>
            <a:ext cx="1685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latin typeface="ＭＳ ゴシック" panose="020B0609070205080204" pitchFamily="49" charset="-128"/>
                <a:ea typeface="ＭＳ ゴシック" panose="020B0609070205080204" pitchFamily="49" charset="-128"/>
              </a:rPr>
              <a:t>intAmount</a:t>
            </a:r>
          </a:p>
        </p:txBody>
      </p:sp>
      <p:sp>
        <p:nvSpPr>
          <p:cNvPr id="692342" name="Line 118">
            <a:extLst>
              <a:ext uri="{FF2B5EF4-FFF2-40B4-BE49-F238E27FC236}">
                <a16:creationId xmlns:a16="http://schemas.microsoft.com/office/drawing/2014/main" id="{2EE82AE6-197F-1758-C9A8-2A20877AD4A6}"/>
              </a:ext>
            </a:extLst>
          </p:cNvPr>
          <p:cNvSpPr>
            <a:spLocks noChangeShapeType="1"/>
          </p:cNvSpPr>
          <p:nvPr/>
        </p:nvSpPr>
        <p:spPr bwMode="auto">
          <a:xfrm flipV="1">
            <a:off x="4198938" y="3321050"/>
            <a:ext cx="1709737" cy="33338"/>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692343" name="AutoShape 119">
            <a:extLst>
              <a:ext uri="{FF2B5EF4-FFF2-40B4-BE49-F238E27FC236}">
                <a16:creationId xmlns:a16="http://schemas.microsoft.com/office/drawing/2014/main" id="{4BBC2014-B09D-31AB-11D1-871386BD2F0A}"/>
              </a:ext>
            </a:extLst>
          </p:cNvPr>
          <p:cNvSpPr>
            <a:spLocks noChangeArrowheads="1"/>
          </p:cNvSpPr>
          <p:nvPr/>
        </p:nvSpPr>
        <p:spPr bwMode="auto">
          <a:xfrm rot="5400000">
            <a:off x="3341687" y="3881438"/>
            <a:ext cx="771525" cy="323850"/>
          </a:xfrm>
          <a:prstGeom prst="rightArrow">
            <a:avLst>
              <a:gd name="adj1" fmla="val 50000"/>
              <a:gd name="adj2" fmla="val 59559"/>
            </a:avLst>
          </a:prstGeom>
          <a:solidFill>
            <a:srgbClr val="00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692344" name="AutoShape 120">
            <a:extLst>
              <a:ext uri="{FF2B5EF4-FFF2-40B4-BE49-F238E27FC236}">
                <a16:creationId xmlns:a16="http://schemas.microsoft.com/office/drawing/2014/main" id="{24956388-0A3E-7532-FBBA-6EB98C384738}"/>
              </a:ext>
            </a:extLst>
          </p:cNvPr>
          <p:cNvSpPr>
            <a:spLocks noChangeArrowheads="1"/>
          </p:cNvSpPr>
          <p:nvPr/>
        </p:nvSpPr>
        <p:spPr bwMode="auto">
          <a:xfrm>
            <a:off x="4305300" y="4868863"/>
            <a:ext cx="2720975" cy="741362"/>
          </a:xfrm>
          <a:prstGeom prst="wedgeRoundRectCallout">
            <a:avLst>
              <a:gd name="adj1" fmla="val -30398"/>
              <a:gd name="adj2" fmla="val -109958"/>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28750"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MS UI Gothic" panose="020B0600070205080204" pitchFamily="50" charset="-128"/>
              </a:rPr>
              <a:t>Compile error do </a:t>
            </a:r>
            <a:r>
              <a:rPr lang="ja-JP" altLang="en-US" sz="1800" b="0">
                <a:ea typeface="MS UI Gothic" panose="020B0600070205080204" pitchFamily="50" charset="-128"/>
              </a:rPr>
              <a:t>「</a:t>
            </a:r>
            <a:r>
              <a:rPr lang="en-US" altLang="ja-JP" sz="1800" b="0">
                <a:ea typeface="MS UI Gothic" panose="020B0600070205080204" pitchFamily="50" charset="-128"/>
              </a:rPr>
              <a:t>kiểu không tương thích</a:t>
            </a:r>
            <a:r>
              <a:rPr lang="ja-JP" altLang="en-US" sz="1800" b="0">
                <a:ea typeface="MS UI Gothic" panose="020B0600070205080204" pitchFamily="50" charset="-128"/>
              </a:rPr>
              <a:t>」</a:t>
            </a:r>
          </a:p>
        </p:txBody>
      </p:sp>
      <p:sp>
        <p:nvSpPr>
          <p:cNvPr id="692345" name="Rectangle 121">
            <a:extLst>
              <a:ext uri="{FF2B5EF4-FFF2-40B4-BE49-F238E27FC236}">
                <a16:creationId xmlns:a16="http://schemas.microsoft.com/office/drawing/2014/main" id="{B7E11545-31BD-99E9-DF2C-D06267CA10AF}"/>
              </a:ext>
            </a:extLst>
          </p:cNvPr>
          <p:cNvSpPr>
            <a:spLocks noChangeArrowheads="1"/>
          </p:cNvSpPr>
          <p:nvPr/>
        </p:nvSpPr>
        <p:spPr bwMode="auto">
          <a:xfrm>
            <a:off x="2692400" y="3749675"/>
            <a:ext cx="9271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ja-JP" sz="1800">
                <a:solidFill>
                  <a:srgbClr val="0000FF"/>
                </a:solidFill>
              </a:rPr>
              <a:t>Gán</a:t>
            </a:r>
          </a:p>
        </p:txBody>
      </p:sp>
      <p:sp>
        <p:nvSpPr>
          <p:cNvPr id="692348" name="Rectangle 124">
            <a:extLst>
              <a:ext uri="{FF2B5EF4-FFF2-40B4-BE49-F238E27FC236}">
                <a16:creationId xmlns:a16="http://schemas.microsoft.com/office/drawing/2014/main" id="{DF0F5B85-4773-2BE3-D4C5-73EC90E8D4C6}"/>
              </a:ext>
            </a:extLst>
          </p:cNvPr>
          <p:cNvSpPr>
            <a:spLocks noChangeArrowheads="1"/>
          </p:cNvSpPr>
          <p:nvPr/>
        </p:nvSpPr>
        <p:spPr bwMode="auto">
          <a:xfrm>
            <a:off x="674688" y="271303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b="0">
                <a:latin typeface="Arial" panose="020B0604020202020204" pitchFamily="34" charset="0"/>
              </a:rPr>
              <a:t>●Convert kiểu chuỗi ký tự(</a:t>
            </a:r>
            <a:r>
              <a:rPr lang="en-US" altLang="ja-JP" sz="1800" b="0">
                <a:latin typeface="Arial" panose="020B0604020202020204" pitchFamily="34" charset="0"/>
                <a:ea typeface="ＭＳ ゴシック" panose="020B0609070205080204" pitchFamily="49" charset="-128"/>
              </a:rPr>
              <a:t>String</a:t>
            </a:r>
            <a:r>
              <a:rPr lang="en-US" altLang="ja-JP" sz="1800" b="0">
                <a:latin typeface="Arial" panose="020B0604020202020204" pitchFamily="34" charset="0"/>
              </a:rPr>
              <a:t>)</a:t>
            </a:r>
            <a:endParaRPr lang="en-US" altLang="ja-JP" sz="2400" b="0">
              <a:latin typeface="Arial" panose="020B0604020202020204" pitchFamily="34" charset="0"/>
            </a:endParaRPr>
          </a:p>
        </p:txBody>
      </p:sp>
      <p:sp>
        <p:nvSpPr>
          <p:cNvPr id="692349" name="Rectangle 125">
            <a:extLst>
              <a:ext uri="{FF2B5EF4-FFF2-40B4-BE49-F238E27FC236}">
                <a16:creationId xmlns:a16="http://schemas.microsoft.com/office/drawing/2014/main" id="{64390C9F-3012-0375-B678-9592C9000005}"/>
              </a:ext>
            </a:extLst>
          </p:cNvPr>
          <p:cNvSpPr>
            <a:spLocks noChangeArrowheads="1"/>
          </p:cNvSpPr>
          <p:nvPr/>
        </p:nvSpPr>
        <p:spPr bwMode="auto">
          <a:xfrm>
            <a:off x="674688" y="416083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b="0">
                <a:latin typeface="Arial" panose="020B0604020202020204" pitchFamily="34" charset="0"/>
              </a:rPr>
              <a:t>●Convert kiểu số nguyên (</a:t>
            </a:r>
            <a:r>
              <a:rPr lang="en-US" altLang="ja-JP" sz="1800" b="0">
                <a:latin typeface="Arial" panose="020B0604020202020204" pitchFamily="34" charset="0"/>
                <a:ea typeface="ＭＳ ゴシック" panose="020B0609070205080204" pitchFamily="49" charset="-128"/>
              </a:rPr>
              <a:t>int</a:t>
            </a:r>
            <a:r>
              <a:rPr lang="en-US" altLang="ja-JP" sz="1800" b="0">
                <a:latin typeface="Arial" panose="020B0604020202020204" pitchFamily="34" charset="0"/>
              </a:rPr>
              <a:t>)</a:t>
            </a:r>
            <a:endParaRPr lang="en-US" altLang="ja-JP" sz="2400" b="0">
              <a:latin typeface="Arial" panose="020B0604020202020204" pitchFamily="34" charset="0"/>
            </a:endParaRPr>
          </a:p>
        </p:txBody>
      </p:sp>
      <p:sp>
        <p:nvSpPr>
          <p:cNvPr id="692350" name="Text Box 126">
            <a:extLst>
              <a:ext uri="{FF2B5EF4-FFF2-40B4-BE49-F238E27FC236}">
                <a16:creationId xmlns:a16="http://schemas.microsoft.com/office/drawing/2014/main" id="{257407AC-9EB2-E9F7-72B8-E07B3ACE323E}"/>
              </a:ext>
            </a:extLst>
          </p:cNvPr>
          <p:cNvSpPr txBox="1">
            <a:spLocks noChangeArrowheads="1"/>
          </p:cNvSpPr>
          <p:nvPr/>
        </p:nvSpPr>
        <p:spPr bwMode="auto">
          <a:xfrm>
            <a:off x="6762750" y="3648075"/>
            <a:ext cx="1685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a:latin typeface="ＭＳ ゴシック" panose="020B0609070205080204" pitchFamily="49" charset="-128"/>
                <a:ea typeface="ＭＳ ゴシック" panose="020B0609070205080204" pitchFamily="49" charset="-128"/>
              </a:rPr>
              <a:t>"5250"</a:t>
            </a:r>
          </a:p>
        </p:txBody>
      </p:sp>
      <p:sp>
        <p:nvSpPr>
          <p:cNvPr id="692351" name="AutoShape 127">
            <a:extLst>
              <a:ext uri="{FF2B5EF4-FFF2-40B4-BE49-F238E27FC236}">
                <a16:creationId xmlns:a16="http://schemas.microsoft.com/office/drawing/2014/main" id="{9230B067-F14F-D2DF-42AE-EE4B797E880F}"/>
              </a:ext>
            </a:extLst>
          </p:cNvPr>
          <p:cNvSpPr>
            <a:spLocks noChangeArrowheads="1"/>
          </p:cNvSpPr>
          <p:nvPr/>
        </p:nvSpPr>
        <p:spPr bwMode="auto">
          <a:xfrm>
            <a:off x="4092575" y="3636963"/>
            <a:ext cx="1346200" cy="838200"/>
          </a:xfrm>
          <a:prstGeom prst="irregularSeal1">
            <a:avLst/>
          </a:prstGeom>
          <a:solidFill>
            <a:srgbClr val="FFFF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a:t>Error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0114" name="Rectangle 2">
            <a:extLst>
              <a:ext uri="{FF2B5EF4-FFF2-40B4-BE49-F238E27FC236}">
                <a16:creationId xmlns:a16="http://schemas.microsoft.com/office/drawing/2014/main" id="{AF2794B9-7B49-C92C-874F-DACA6F2B0F20}"/>
              </a:ext>
            </a:extLst>
          </p:cNvPr>
          <p:cNvSpPr>
            <a:spLocks noGrp="1" noChangeArrowheads="1"/>
          </p:cNvSpPr>
          <p:nvPr>
            <p:ph type="title"/>
          </p:nvPr>
        </p:nvSpPr>
        <p:spPr>
          <a:xfrm>
            <a:off x="334601" y="318544"/>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Convert </a:t>
            </a:r>
            <a:r>
              <a:rPr lang="en-US" altLang="ja-JP" dirty="0" err="1">
                <a:latin typeface="Arial" panose="020B0604020202020204" pitchFamily="34" charset="0"/>
                <a:ea typeface="MS UI Gothic" panose="020B0600070205080204" pitchFamily="50" charset="-128"/>
              </a:rPr>
              <a:t>kiểu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không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tường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minh</a:t>
            </a:r>
            <a:r>
              <a:rPr lang="ja-JP" altLang="en-US" dirty="0">
                <a:latin typeface="Arial" panose="020B0604020202020204" pitchFamily="34" charset="0"/>
              </a:rPr>
              <a:t>（</a:t>
            </a:r>
            <a:r>
              <a:rPr lang="en-US" altLang="ja-JP" dirty="0">
                <a:latin typeface="Arial" panose="020B0604020202020204" pitchFamily="34" charset="0"/>
              </a:rPr>
              <a:t>1</a:t>
            </a:r>
            <a:r>
              <a:rPr lang="ja-JP" altLang="en-US" dirty="0">
                <a:latin typeface="Arial" panose="020B0604020202020204" pitchFamily="34" charset="0"/>
              </a:rPr>
              <a:t>）</a:t>
            </a:r>
            <a:endParaRPr lang="ja-JP" altLang="en-US" dirty="0">
              <a:latin typeface="Arial" panose="020B0604020202020204" pitchFamily="34" charset="0"/>
              <a:ea typeface="MS UI Gothic" panose="020B0600070205080204" pitchFamily="50" charset="-128"/>
            </a:endParaRPr>
          </a:p>
        </p:txBody>
      </p:sp>
      <p:sp>
        <p:nvSpPr>
          <p:cNvPr id="730115" name="Rectangle 3">
            <a:extLst>
              <a:ext uri="{FF2B5EF4-FFF2-40B4-BE49-F238E27FC236}">
                <a16:creationId xmlns:a16="http://schemas.microsoft.com/office/drawing/2014/main" id="{29BDA64F-F2D1-C8DD-0EAF-786758119E2B}"/>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Convert kiểu không tường minh là gì</a:t>
            </a:r>
          </a:p>
          <a:p>
            <a:endParaRPr lang="en-US" altLang="ja-JP" sz="2400" b="0">
              <a:latin typeface="Arial" panose="020B0604020202020204" pitchFamily="34" charset="0"/>
            </a:endParaRPr>
          </a:p>
          <a:p>
            <a:endParaRPr lang="en-US" altLang="ja-JP" sz="2400" b="0">
              <a:latin typeface="Arial" panose="020B0604020202020204" pitchFamily="34" charset="0"/>
            </a:endParaRPr>
          </a:p>
          <a:p>
            <a:pPr>
              <a:buFont typeface="Wingdings" panose="05000000000000000000" pitchFamily="2" charset="2"/>
              <a:buNone/>
            </a:pPr>
            <a:r>
              <a:rPr lang="en-US" altLang="ja-JP" sz="2000" b="0">
                <a:latin typeface="Arial" panose="020B0604020202020204" pitchFamily="34" charset="0"/>
              </a:rPr>
              <a:t>●Ví dụ có thể và không thể convert ngầm (trường hợp kiểu </a:t>
            </a:r>
            <a:r>
              <a:rPr lang="en-US" altLang="ja-JP" sz="2000" b="0">
                <a:latin typeface="Arial" panose="020B0604020202020204" pitchFamily="34" charset="0"/>
                <a:ea typeface="ＭＳ ゴシック" panose="020B0609070205080204" pitchFamily="49" charset="-128"/>
              </a:rPr>
              <a:t>int</a:t>
            </a:r>
            <a:r>
              <a:rPr lang="en-US" altLang="ja-JP" sz="2000" b="0">
                <a:latin typeface="Arial" panose="020B0604020202020204" pitchFamily="34" charset="0"/>
              </a:rPr>
              <a:t>)</a:t>
            </a:r>
          </a:p>
        </p:txBody>
      </p:sp>
      <p:sp>
        <p:nvSpPr>
          <p:cNvPr id="730116" name="Rectangle 4">
            <a:extLst>
              <a:ext uri="{FF2B5EF4-FFF2-40B4-BE49-F238E27FC236}">
                <a16:creationId xmlns:a16="http://schemas.microsoft.com/office/drawing/2014/main" id="{CC3ECF1E-9A38-A00D-450C-6CE5F922A30D}"/>
              </a:ext>
            </a:extLst>
          </p:cNvPr>
          <p:cNvSpPr>
            <a:spLocks noChangeArrowheads="1"/>
          </p:cNvSpPr>
          <p:nvPr/>
        </p:nvSpPr>
        <p:spPr bwMode="auto">
          <a:xfrm>
            <a:off x="344488" y="13843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Khi tính toán và gán giá trị thì việc convert sẽ được tiến hành tự động</a:t>
            </a:r>
          </a:p>
        </p:txBody>
      </p:sp>
      <p:sp>
        <p:nvSpPr>
          <p:cNvPr id="730118" name="Rectangle 6">
            <a:extLst>
              <a:ext uri="{FF2B5EF4-FFF2-40B4-BE49-F238E27FC236}">
                <a16:creationId xmlns:a16="http://schemas.microsoft.com/office/drawing/2014/main" id="{C4641B6B-DB76-34D3-06A5-453C99FAD0AC}"/>
              </a:ext>
            </a:extLst>
          </p:cNvPr>
          <p:cNvSpPr>
            <a:spLocks noChangeArrowheads="1"/>
          </p:cNvSpPr>
          <p:nvPr/>
        </p:nvSpPr>
        <p:spPr bwMode="auto">
          <a:xfrm>
            <a:off x="342900" y="2593975"/>
            <a:ext cx="9117013" cy="3757613"/>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30125" name="Line 13">
            <a:extLst>
              <a:ext uri="{FF2B5EF4-FFF2-40B4-BE49-F238E27FC236}">
                <a16:creationId xmlns:a16="http://schemas.microsoft.com/office/drawing/2014/main" id="{186CC552-97E9-3EEC-F903-50336B556215}"/>
              </a:ext>
            </a:extLst>
          </p:cNvPr>
          <p:cNvSpPr>
            <a:spLocks noChangeShapeType="1"/>
          </p:cNvSpPr>
          <p:nvPr/>
        </p:nvSpPr>
        <p:spPr bwMode="auto">
          <a:xfrm flipV="1">
            <a:off x="3094038" y="3128963"/>
            <a:ext cx="1062037" cy="1203325"/>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07763" dir="2700000" algn="ctr" rotWithShape="0">
                    <a:schemeClr val="bg2">
                      <a:alpha val="50000"/>
                    </a:schemeClr>
                  </a:outerShdw>
                </a:effectLst>
              </a14:hiddenEffects>
            </a:ext>
          </a:extLst>
        </p:spPr>
        <p:txBody>
          <a:bodyPr wrap="none" anchor="ctr"/>
          <a:lstStyle/>
          <a:p>
            <a:endParaRPr lang="ja-JP" altLang="en-US"/>
          </a:p>
        </p:txBody>
      </p:sp>
      <p:sp>
        <p:nvSpPr>
          <p:cNvPr id="730127" name="AutoShape 15">
            <a:extLst>
              <a:ext uri="{FF2B5EF4-FFF2-40B4-BE49-F238E27FC236}">
                <a16:creationId xmlns:a16="http://schemas.microsoft.com/office/drawing/2014/main" id="{56600755-6990-BF5F-0C5D-91F5258B0DE5}"/>
              </a:ext>
            </a:extLst>
          </p:cNvPr>
          <p:cNvSpPr>
            <a:spLocks noChangeArrowheads="1"/>
          </p:cNvSpPr>
          <p:nvPr/>
        </p:nvSpPr>
        <p:spPr bwMode="auto">
          <a:xfrm>
            <a:off x="6518275" y="2698750"/>
            <a:ext cx="2892425" cy="903288"/>
          </a:xfrm>
          <a:prstGeom prst="wedgeRoundRectCallout">
            <a:avLst>
              <a:gd name="adj1" fmla="val -64764"/>
              <a:gd name="adj2" fmla="val 9227"/>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28750"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MS UI Gothic" panose="020B0600070205080204" pitchFamily="50" charset="-128"/>
              </a:rPr>
              <a:t>Nếu gán sang kiểu có size nhỏ thì sẽ thành compile error.</a:t>
            </a:r>
          </a:p>
        </p:txBody>
      </p:sp>
      <p:sp>
        <p:nvSpPr>
          <p:cNvPr id="730140" name="Text Box 28">
            <a:extLst>
              <a:ext uri="{FF2B5EF4-FFF2-40B4-BE49-F238E27FC236}">
                <a16:creationId xmlns:a16="http://schemas.microsoft.com/office/drawing/2014/main" id="{05DDDF6F-209C-EC31-BACF-0FDBD1F91DC0}"/>
              </a:ext>
            </a:extLst>
          </p:cNvPr>
          <p:cNvSpPr txBox="1">
            <a:spLocks noChangeArrowheads="1"/>
          </p:cNvSpPr>
          <p:nvPr/>
        </p:nvSpPr>
        <p:spPr bwMode="auto">
          <a:xfrm>
            <a:off x="288148" y="4140201"/>
            <a:ext cx="1217612" cy="36933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800" b="0" dirty="0" err="1">
                <a:latin typeface="+mj-lt"/>
                <a:ea typeface="ＭＳ ゴシック" panose="020B0609070205080204" pitchFamily="49" charset="-128"/>
              </a:rPr>
              <a:t>Kiểu</a:t>
            </a:r>
            <a:r>
              <a:rPr lang="en-US" altLang="ja-JP" sz="1800" b="0" dirty="0">
                <a:latin typeface="+mj-lt"/>
                <a:ea typeface="ＭＳ ゴシック" panose="020B0609070205080204" pitchFamily="49" charset="-128"/>
              </a:rPr>
              <a:t> int</a:t>
            </a:r>
            <a:endParaRPr lang="en-US" altLang="ja-JP" sz="1800" b="0" dirty="0">
              <a:latin typeface="+mj-lt"/>
            </a:endParaRPr>
          </a:p>
        </p:txBody>
      </p:sp>
      <p:grpSp>
        <p:nvGrpSpPr>
          <p:cNvPr id="730189" name="Group 77">
            <a:extLst>
              <a:ext uri="{FF2B5EF4-FFF2-40B4-BE49-F238E27FC236}">
                <a16:creationId xmlns:a16="http://schemas.microsoft.com/office/drawing/2014/main" id="{E2BCFD34-5B33-3776-FD2F-80D4BFE10B5C}"/>
              </a:ext>
            </a:extLst>
          </p:cNvPr>
          <p:cNvGrpSpPr>
            <a:grpSpLocks/>
          </p:cNvGrpSpPr>
          <p:nvPr/>
        </p:nvGrpSpPr>
        <p:grpSpPr bwMode="auto">
          <a:xfrm>
            <a:off x="1152525" y="4216400"/>
            <a:ext cx="1873250" cy="254000"/>
            <a:chOff x="726" y="1904"/>
            <a:chExt cx="1180" cy="160"/>
          </a:xfrm>
        </p:grpSpPr>
        <p:sp>
          <p:nvSpPr>
            <p:cNvPr id="730134" name="Rectangle 22">
              <a:extLst>
                <a:ext uri="{FF2B5EF4-FFF2-40B4-BE49-F238E27FC236}">
                  <a16:creationId xmlns:a16="http://schemas.microsoft.com/office/drawing/2014/main" id="{51FB62C0-A8F2-B0D5-5B3C-923185422403}"/>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185" name="Rectangle 73">
              <a:extLst>
                <a:ext uri="{FF2B5EF4-FFF2-40B4-BE49-F238E27FC236}">
                  <a16:creationId xmlns:a16="http://schemas.microsoft.com/office/drawing/2014/main" id="{59A6F20C-7FC1-D50B-18BD-56A6ECE003C2}"/>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186" name="Rectangle 74">
              <a:extLst>
                <a:ext uri="{FF2B5EF4-FFF2-40B4-BE49-F238E27FC236}">
                  <a16:creationId xmlns:a16="http://schemas.microsoft.com/office/drawing/2014/main" id="{18E36342-A242-A568-4A0A-36BE65075371}"/>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187" name="Rectangle 75">
              <a:extLst>
                <a:ext uri="{FF2B5EF4-FFF2-40B4-BE49-F238E27FC236}">
                  <a16:creationId xmlns:a16="http://schemas.microsoft.com/office/drawing/2014/main" id="{6DF639CF-F5B3-70D9-F5AE-FE07CEFA424E}"/>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sp>
        <p:nvSpPr>
          <p:cNvPr id="730174" name="Text Box 62">
            <a:extLst>
              <a:ext uri="{FF2B5EF4-FFF2-40B4-BE49-F238E27FC236}">
                <a16:creationId xmlns:a16="http://schemas.microsoft.com/office/drawing/2014/main" id="{B459D4B2-CD2E-DCD8-EF62-FD0DD37D6105}"/>
              </a:ext>
            </a:extLst>
          </p:cNvPr>
          <p:cNvSpPr txBox="1">
            <a:spLocks noChangeArrowheads="1"/>
          </p:cNvSpPr>
          <p:nvPr/>
        </p:nvSpPr>
        <p:spPr bwMode="auto">
          <a:xfrm>
            <a:off x="4478338" y="2867025"/>
            <a:ext cx="1266825"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600" b="0" dirty="0" err="1">
                <a:latin typeface="+mj-lt"/>
                <a:ea typeface="ＭＳ ゴシック" panose="020B0609070205080204" pitchFamily="49" charset="-128"/>
              </a:rPr>
              <a:t>Kiểu</a:t>
            </a:r>
            <a:r>
              <a:rPr lang="en-US" altLang="ja-JP" sz="1600" b="0" dirty="0">
                <a:latin typeface="+mj-lt"/>
                <a:ea typeface="ＭＳ ゴシック" panose="020B0609070205080204" pitchFamily="49" charset="-128"/>
              </a:rPr>
              <a:t> byte</a:t>
            </a:r>
            <a:endParaRPr lang="en-US" altLang="ja-JP" sz="1600" b="0" dirty="0">
              <a:latin typeface="+mj-lt"/>
            </a:endParaRPr>
          </a:p>
        </p:txBody>
      </p:sp>
      <p:sp>
        <p:nvSpPr>
          <p:cNvPr id="730191" name="Rectangle 79">
            <a:extLst>
              <a:ext uri="{FF2B5EF4-FFF2-40B4-BE49-F238E27FC236}">
                <a16:creationId xmlns:a16="http://schemas.microsoft.com/office/drawing/2014/main" id="{8782491F-4234-1DB2-2F33-27605267C0C1}"/>
              </a:ext>
            </a:extLst>
          </p:cNvPr>
          <p:cNvSpPr>
            <a:spLocks noChangeArrowheads="1"/>
          </p:cNvSpPr>
          <p:nvPr/>
        </p:nvSpPr>
        <p:spPr bwMode="auto">
          <a:xfrm>
            <a:off x="5535613" y="2921000"/>
            <a:ext cx="473075" cy="25400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141" name="AutoShape 29">
            <a:extLst>
              <a:ext uri="{FF2B5EF4-FFF2-40B4-BE49-F238E27FC236}">
                <a16:creationId xmlns:a16="http://schemas.microsoft.com/office/drawing/2014/main" id="{88098D95-866C-D9B5-2D84-294912E882CF}"/>
              </a:ext>
            </a:extLst>
          </p:cNvPr>
          <p:cNvSpPr>
            <a:spLocks noChangeArrowheads="1"/>
          </p:cNvSpPr>
          <p:nvPr/>
        </p:nvSpPr>
        <p:spPr bwMode="auto">
          <a:xfrm>
            <a:off x="798513" y="3771900"/>
            <a:ext cx="1773237" cy="312738"/>
          </a:xfrm>
          <a:prstGeom prst="wedgeRoundRectCallout">
            <a:avLst>
              <a:gd name="adj1" fmla="val -13921"/>
              <a:gd name="adj2" fmla="val 99745"/>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28750"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ＭＳ ゴシック" panose="020B0609070205080204" pitchFamily="49" charset="-128"/>
              </a:rPr>
              <a:t>Biến kiểu int</a:t>
            </a:r>
            <a:endParaRPr lang="en-US" altLang="ja-JP" sz="1800" b="0">
              <a:ea typeface="MS UI Gothic" panose="020B0600070205080204" pitchFamily="50" charset="-128"/>
            </a:endParaRPr>
          </a:p>
        </p:txBody>
      </p:sp>
      <p:sp>
        <p:nvSpPr>
          <p:cNvPr id="730228" name="Text Box 116">
            <a:extLst>
              <a:ext uri="{FF2B5EF4-FFF2-40B4-BE49-F238E27FC236}">
                <a16:creationId xmlns:a16="http://schemas.microsoft.com/office/drawing/2014/main" id="{77EB9D8C-2F57-B94F-F16B-7C735538CE87}"/>
              </a:ext>
            </a:extLst>
          </p:cNvPr>
          <p:cNvSpPr txBox="1">
            <a:spLocks noChangeArrowheads="1"/>
          </p:cNvSpPr>
          <p:nvPr/>
        </p:nvSpPr>
        <p:spPr bwMode="auto">
          <a:xfrm>
            <a:off x="4478338" y="3389313"/>
            <a:ext cx="1422400"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600" b="0" dirty="0" err="1">
                <a:latin typeface="+mj-lt"/>
                <a:ea typeface="ＭＳ ゴシック" panose="020B0609070205080204" pitchFamily="49" charset="-128"/>
              </a:rPr>
              <a:t>Kiểu</a:t>
            </a:r>
            <a:r>
              <a:rPr lang="en-US" altLang="ja-JP" sz="1600" b="0" dirty="0">
                <a:latin typeface="+mj-lt"/>
                <a:ea typeface="ＭＳ ゴシック" panose="020B0609070205080204" pitchFamily="49" charset="-128"/>
              </a:rPr>
              <a:t> short</a:t>
            </a:r>
            <a:endParaRPr lang="en-US" altLang="ja-JP" sz="1600" b="0" dirty="0">
              <a:latin typeface="+mj-lt"/>
            </a:endParaRPr>
          </a:p>
        </p:txBody>
      </p:sp>
      <p:sp>
        <p:nvSpPr>
          <p:cNvPr id="730231" name="Rectangle 119">
            <a:extLst>
              <a:ext uri="{FF2B5EF4-FFF2-40B4-BE49-F238E27FC236}">
                <a16:creationId xmlns:a16="http://schemas.microsoft.com/office/drawing/2014/main" id="{04EBF7BC-72FC-7451-BFCC-B7155A295A71}"/>
              </a:ext>
            </a:extLst>
          </p:cNvPr>
          <p:cNvSpPr>
            <a:spLocks noChangeArrowheads="1"/>
          </p:cNvSpPr>
          <p:nvPr/>
        </p:nvSpPr>
        <p:spPr bwMode="auto">
          <a:xfrm>
            <a:off x="5535613" y="3454400"/>
            <a:ext cx="473075" cy="25400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32" name="Rectangle 120">
            <a:extLst>
              <a:ext uri="{FF2B5EF4-FFF2-40B4-BE49-F238E27FC236}">
                <a16:creationId xmlns:a16="http://schemas.microsoft.com/office/drawing/2014/main" id="{10E3DD24-0375-20E1-4AA9-E7087F67CD9D}"/>
              </a:ext>
            </a:extLst>
          </p:cNvPr>
          <p:cNvSpPr>
            <a:spLocks noChangeArrowheads="1"/>
          </p:cNvSpPr>
          <p:nvPr/>
        </p:nvSpPr>
        <p:spPr bwMode="auto">
          <a:xfrm>
            <a:off x="6002338" y="3454400"/>
            <a:ext cx="473075" cy="25400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41" name="Text Box 129">
            <a:extLst>
              <a:ext uri="{FF2B5EF4-FFF2-40B4-BE49-F238E27FC236}">
                <a16:creationId xmlns:a16="http://schemas.microsoft.com/office/drawing/2014/main" id="{F8C2932B-31EB-30C2-A573-812C465AEE97}"/>
              </a:ext>
            </a:extLst>
          </p:cNvPr>
          <p:cNvSpPr txBox="1">
            <a:spLocks noChangeArrowheads="1"/>
          </p:cNvSpPr>
          <p:nvPr/>
        </p:nvSpPr>
        <p:spPr bwMode="auto">
          <a:xfrm>
            <a:off x="4478338" y="3922713"/>
            <a:ext cx="1022350"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600" b="0" dirty="0" err="1">
                <a:latin typeface="+mj-lt"/>
                <a:ea typeface="ＭＳ ゴシック" panose="020B0609070205080204" pitchFamily="49" charset="-128"/>
              </a:rPr>
              <a:t>Kiểu</a:t>
            </a:r>
            <a:r>
              <a:rPr lang="en-US" altLang="ja-JP" sz="1600" b="0" dirty="0">
                <a:latin typeface="+mj-lt"/>
                <a:ea typeface="ＭＳ ゴシック" panose="020B0609070205080204" pitchFamily="49" charset="-128"/>
              </a:rPr>
              <a:t> int</a:t>
            </a:r>
            <a:endParaRPr lang="en-US" altLang="ja-JP" sz="1600" b="0" dirty="0">
              <a:latin typeface="+mj-lt"/>
            </a:endParaRPr>
          </a:p>
        </p:txBody>
      </p:sp>
      <p:grpSp>
        <p:nvGrpSpPr>
          <p:cNvPr id="730243" name="Group 131">
            <a:extLst>
              <a:ext uri="{FF2B5EF4-FFF2-40B4-BE49-F238E27FC236}">
                <a16:creationId xmlns:a16="http://schemas.microsoft.com/office/drawing/2014/main" id="{4EF2BEF2-3C2F-D099-D72A-7FCC5FDF86DB}"/>
              </a:ext>
            </a:extLst>
          </p:cNvPr>
          <p:cNvGrpSpPr>
            <a:grpSpLocks/>
          </p:cNvGrpSpPr>
          <p:nvPr/>
        </p:nvGrpSpPr>
        <p:grpSpPr bwMode="auto">
          <a:xfrm>
            <a:off x="5535613" y="3987800"/>
            <a:ext cx="1873250" cy="254000"/>
            <a:chOff x="726" y="1904"/>
            <a:chExt cx="1180" cy="160"/>
          </a:xfrm>
        </p:grpSpPr>
        <p:sp>
          <p:nvSpPr>
            <p:cNvPr id="730244" name="Rectangle 132">
              <a:extLst>
                <a:ext uri="{FF2B5EF4-FFF2-40B4-BE49-F238E27FC236}">
                  <a16:creationId xmlns:a16="http://schemas.microsoft.com/office/drawing/2014/main" id="{08DD3E73-C5DE-6E9D-B848-0E9E72FDBC67}"/>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45" name="Rectangle 133">
              <a:extLst>
                <a:ext uri="{FF2B5EF4-FFF2-40B4-BE49-F238E27FC236}">
                  <a16:creationId xmlns:a16="http://schemas.microsoft.com/office/drawing/2014/main" id="{E73CBFF1-E89D-A6DD-8DC6-E2A4B17FD2E7}"/>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46" name="Rectangle 134">
              <a:extLst>
                <a:ext uri="{FF2B5EF4-FFF2-40B4-BE49-F238E27FC236}">
                  <a16:creationId xmlns:a16="http://schemas.microsoft.com/office/drawing/2014/main" id="{BA5533C2-9493-9971-6A1D-90FF482FD723}"/>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47" name="Rectangle 135">
              <a:extLst>
                <a:ext uri="{FF2B5EF4-FFF2-40B4-BE49-F238E27FC236}">
                  <a16:creationId xmlns:a16="http://schemas.microsoft.com/office/drawing/2014/main" id="{E6AF4E70-9026-B1DB-A05D-CDDB065BFBCD}"/>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sp>
        <p:nvSpPr>
          <p:cNvPr id="730254" name="Text Box 142">
            <a:extLst>
              <a:ext uri="{FF2B5EF4-FFF2-40B4-BE49-F238E27FC236}">
                <a16:creationId xmlns:a16="http://schemas.microsoft.com/office/drawing/2014/main" id="{270E36BC-7EB0-60F3-C982-CF129283282E}"/>
              </a:ext>
            </a:extLst>
          </p:cNvPr>
          <p:cNvSpPr txBox="1">
            <a:spLocks noChangeArrowheads="1"/>
          </p:cNvSpPr>
          <p:nvPr/>
        </p:nvSpPr>
        <p:spPr bwMode="auto">
          <a:xfrm>
            <a:off x="4478338" y="4456113"/>
            <a:ext cx="1316037"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600" b="0" dirty="0" err="1">
                <a:latin typeface="+mj-lt"/>
                <a:ea typeface="ＭＳ ゴシック" panose="020B0609070205080204" pitchFamily="49" charset="-128"/>
              </a:rPr>
              <a:t>Kiểu</a:t>
            </a:r>
            <a:r>
              <a:rPr lang="en-US" altLang="ja-JP" sz="1600" b="0" dirty="0">
                <a:latin typeface="+mj-lt"/>
                <a:ea typeface="ＭＳ ゴシック" panose="020B0609070205080204" pitchFamily="49" charset="-128"/>
              </a:rPr>
              <a:t> float</a:t>
            </a:r>
            <a:endParaRPr lang="en-US" altLang="ja-JP" sz="1600" b="0" dirty="0">
              <a:latin typeface="+mj-lt"/>
            </a:endParaRPr>
          </a:p>
        </p:txBody>
      </p:sp>
      <p:grpSp>
        <p:nvGrpSpPr>
          <p:cNvPr id="730256" name="Group 144">
            <a:extLst>
              <a:ext uri="{FF2B5EF4-FFF2-40B4-BE49-F238E27FC236}">
                <a16:creationId xmlns:a16="http://schemas.microsoft.com/office/drawing/2014/main" id="{F79ED0C2-5C76-C526-6A20-B6BC146DB333}"/>
              </a:ext>
            </a:extLst>
          </p:cNvPr>
          <p:cNvGrpSpPr>
            <a:grpSpLocks/>
          </p:cNvGrpSpPr>
          <p:nvPr/>
        </p:nvGrpSpPr>
        <p:grpSpPr bwMode="auto">
          <a:xfrm>
            <a:off x="5535613" y="4521200"/>
            <a:ext cx="1873250" cy="254000"/>
            <a:chOff x="726" y="1904"/>
            <a:chExt cx="1180" cy="160"/>
          </a:xfrm>
        </p:grpSpPr>
        <p:sp>
          <p:nvSpPr>
            <p:cNvPr id="730257" name="Rectangle 145">
              <a:extLst>
                <a:ext uri="{FF2B5EF4-FFF2-40B4-BE49-F238E27FC236}">
                  <a16:creationId xmlns:a16="http://schemas.microsoft.com/office/drawing/2014/main" id="{D3AB3E20-724F-B85B-1207-99DFAE3F567B}"/>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58" name="Rectangle 146">
              <a:extLst>
                <a:ext uri="{FF2B5EF4-FFF2-40B4-BE49-F238E27FC236}">
                  <a16:creationId xmlns:a16="http://schemas.microsoft.com/office/drawing/2014/main" id="{DED14A5A-515E-50A8-9CD1-7D8E5154FCAB}"/>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59" name="Rectangle 147">
              <a:extLst>
                <a:ext uri="{FF2B5EF4-FFF2-40B4-BE49-F238E27FC236}">
                  <a16:creationId xmlns:a16="http://schemas.microsoft.com/office/drawing/2014/main" id="{9FB4095C-9992-7256-DCBF-D79066594479}"/>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60" name="Rectangle 148">
              <a:extLst>
                <a:ext uri="{FF2B5EF4-FFF2-40B4-BE49-F238E27FC236}">
                  <a16:creationId xmlns:a16="http://schemas.microsoft.com/office/drawing/2014/main" id="{A48C7F6E-060B-82A7-D6C4-2ACC3BCC4735}"/>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sp>
        <p:nvSpPr>
          <p:cNvPr id="730267" name="Text Box 155">
            <a:extLst>
              <a:ext uri="{FF2B5EF4-FFF2-40B4-BE49-F238E27FC236}">
                <a16:creationId xmlns:a16="http://schemas.microsoft.com/office/drawing/2014/main" id="{5D65ED96-F8FD-017C-2E9D-228C8333BCC7}"/>
              </a:ext>
            </a:extLst>
          </p:cNvPr>
          <p:cNvSpPr txBox="1">
            <a:spLocks noChangeArrowheads="1"/>
          </p:cNvSpPr>
          <p:nvPr/>
        </p:nvSpPr>
        <p:spPr bwMode="auto">
          <a:xfrm>
            <a:off x="4478338" y="4989513"/>
            <a:ext cx="1323975"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600" b="0" dirty="0" err="1">
                <a:latin typeface="+mj-lt"/>
                <a:ea typeface="ＭＳ ゴシック" panose="020B0609070205080204" pitchFamily="49" charset="-128"/>
              </a:rPr>
              <a:t>Kiểu</a:t>
            </a:r>
            <a:r>
              <a:rPr lang="en-US" altLang="ja-JP" sz="1600" b="0" dirty="0">
                <a:latin typeface="+mj-lt"/>
                <a:ea typeface="ＭＳ ゴシック" panose="020B0609070205080204" pitchFamily="49" charset="-128"/>
              </a:rPr>
              <a:t> long</a:t>
            </a:r>
            <a:endParaRPr lang="en-US" altLang="ja-JP" sz="1600" b="0" dirty="0">
              <a:latin typeface="+mj-lt"/>
            </a:endParaRPr>
          </a:p>
        </p:txBody>
      </p:sp>
      <p:grpSp>
        <p:nvGrpSpPr>
          <p:cNvPr id="730268" name="Group 156">
            <a:extLst>
              <a:ext uri="{FF2B5EF4-FFF2-40B4-BE49-F238E27FC236}">
                <a16:creationId xmlns:a16="http://schemas.microsoft.com/office/drawing/2014/main" id="{BD78A489-D580-2A03-262E-B8901F616FEE}"/>
              </a:ext>
            </a:extLst>
          </p:cNvPr>
          <p:cNvGrpSpPr>
            <a:grpSpLocks/>
          </p:cNvGrpSpPr>
          <p:nvPr/>
        </p:nvGrpSpPr>
        <p:grpSpPr bwMode="auto">
          <a:xfrm>
            <a:off x="5535613" y="5054600"/>
            <a:ext cx="3743325" cy="254000"/>
            <a:chOff x="3520" y="1884"/>
            <a:chExt cx="2358" cy="160"/>
          </a:xfrm>
        </p:grpSpPr>
        <p:grpSp>
          <p:nvGrpSpPr>
            <p:cNvPr id="730269" name="Group 157">
              <a:extLst>
                <a:ext uri="{FF2B5EF4-FFF2-40B4-BE49-F238E27FC236}">
                  <a16:creationId xmlns:a16="http://schemas.microsoft.com/office/drawing/2014/main" id="{4A64619D-2A32-B210-0789-A0B872CDC274}"/>
                </a:ext>
              </a:extLst>
            </p:cNvPr>
            <p:cNvGrpSpPr>
              <a:grpSpLocks/>
            </p:cNvGrpSpPr>
            <p:nvPr/>
          </p:nvGrpSpPr>
          <p:grpSpPr bwMode="auto">
            <a:xfrm>
              <a:off x="3520" y="1884"/>
              <a:ext cx="1180" cy="160"/>
              <a:chOff x="726" y="1904"/>
              <a:chExt cx="1180" cy="160"/>
            </a:xfrm>
          </p:grpSpPr>
          <p:sp>
            <p:nvSpPr>
              <p:cNvPr id="730270" name="Rectangle 158">
                <a:extLst>
                  <a:ext uri="{FF2B5EF4-FFF2-40B4-BE49-F238E27FC236}">
                    <a16:creationId xmlns:a16="http://schemas.microsoft.com/office/drawing/2014/main" id="{84D160AE-DD3C-50CD-2ADC-7B7E1FF95CE3}"/>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71" name="Rectangle 159">
                <a:extLst>
                  <a:ext uri="{FF2B5EF4-FFF2-40B4-BE49-F238E27FC236}">
                    <a16:creationId xmlns:a16="http://schemas.microsoft.com/office/drawing/2014/main" id="{93EA1DDF-28C5-22BC-6E1B-D655DA7AC389}"/>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72" name="Rectangle 160">
                <a:extLst>
                  <a:ext uri="{FF2B5EF4-FFF2-40B4-BE49-F238E27FC236}">
                    <a16:creationId xmlns:a16="http://schemas.microsoft.com/office/drawing/2014/main" id="{B5E8FB0C-B831-E17B-5B4F-4508B7B100EF}"/>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73" name="Rectangle 161">
                <a:extLst>
                  <a:ext uri="{FF2B5EF4-FFF2-40B4-BE49-F238E27FC236}">
                    <a16:creationId xmlns:a16="http://schemas.microsoft.com/office/drawing/2014/main" id="{C57D8018-2309-DBD5-92D2-0D26E86ED19D}"/>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grpSp>
          <p:nvGrpSpPr>
            <p:cNvPr id="730274" name="Group 162">
              <a:extLst>
                <a:ext uri="{FF2B5EF4-FFF2-40B4-BE49-F238E27FC236}">
                  <a16:creationId xmlns:a16="http://schemas.microsoft.com/office/drawing/2014/main" id="{17A8FFAE-39C0-16AE-E044-37E24CD20D14}"/>
                </a:ext>
              </a:extLst>
            </p:cNvPr>
            <p:cNvGrpSpPr>
              <a:grpSpLocks/>
            </p:cNvGrpSpPr>
            <p:nvPr/>
          </p:nvGrpSpPr>
          <p:grpSpPr bwMode="auto">
            <a:xfrm>
              <a:off x="4698" y="1884"/>
              <a:ext cx="1180" cy="160"/>
              <a:chOff x="726" y="1904"/>
              <a:chExt cx="1180" cy="160"/>
            </a:xfrm>
          </p:grpSpPr>
          <p:sp>
            <p:nvSpPr>
              <p:cNvPr id="730275" name="Rectangle 163">
                <a:extLst>
                  <a:ext uri="{FF2B5EF4-FFF2-40B4-BE49-F238E27FC236}">
                    <a16:creationId xmlns:a16="http://schemas.microsoft.com/office/drawing/2014/main" id="{8ADD9C76-61C0-EA31-EB7F-4DB0D5C684BF}"/>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76" name="Rectangle 164">
                <a:extLst>
                  <a:ext uri="{FF2B5EF4-FFF2-40B4-BE49-F238E27FC236}">
                    <a16:creationId xmlns:a16="http://schemas.microsoft.com/office/drawing/2014/main" id="{7DEA3F6A-E6A8-E8BC-1E35-C6E2EDDA5832}"/>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77" name="Rectangle 165">
                <a:extLst>
                  <a:ext uri="{FF2B5EF4-FFF2-40B4-BE49-F238E27FC236}">
                    <a16:creationId xmlns:a16="http://schemas.microsoft.com/office/drawing/2014/main" id="{70AACE70-CB60-1C8E-197A-613C7F00B936}"/>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78" name="Rectangle 166">
                <a:extLst>
                  <a:ext uri="{FF2B5EF4-FFF2-40B4-BE49-F238E27FC236}">
                    <a16:creationId xmlns:a16="http://schemas.microsoft.com/office/drawing/2014/main" id="{35639D2B-57C2-4DDE-7F1C-4AE2C37CC7C8}"/>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grpSp>
      <p:sp>
        <p:nvSpPr>
          <p:cNvPr id="730280" name="Text Box 168">
            <a:extLst>
              <a:ext uri="{FF2B5EF4-FFF2-40B4-BE49-F238E27FC236}">
                <a16:creationId xmlns:a16="http://schemas.microsoft.com/office/drawing/2014/main" id="{2FDB2C54-62E2-4928-9593-16260CFB2C15}"/>
              </a:ext>
            </a:extLst>
          </p:cNvPr>
          <p:cNvSpPr txBox="1">
            <a:spLocks noChangeArrowheads="1"/>
          </p:cNvSpPr>
          <p:nvPr/>
        </p:nvSpPr>
        <p:spPr bwMode="auto">
          <a:xfrm>
            <a:off x="4478338" y="5522913"/>
            <a:ext cx="1401762" cy="307777"/>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400" b="0" dirty="0" err="1">
                <a:latin typeface="+mj-lt"/>
                <a:ea typeface="ＭＳ ゴシック" panose="020B0609070205080204" pitchFamily="49" charset="-128"/>
              </a:rPr>
              <a:t>Kiểu</a:t>
            </a:r>
            <a:r>
              <a:rPr lang="en-US" altLang="ja-JP" sz="1400" b="0" dirty="0">
                <a:latin typeface="+mj-lt"/>
                <a:ea typeface="ＭＳ ゴシック" panose="020B0609070205080204" pitchFamily="49" charset="-128"/>
              </a:rPr>
              <a:t> double</a:t>
            </a:r>
            <a:endParaRPr lang="en-US" altLang="ja-JP" sz="1400" b="0" dirty="0">
              <a:latin typeface="+mj-lt"/>
            </a:endParaRPr>
          </a:p>
        </p:txBody>
      </p:sp>
      <p:grpSp>
        <p:nvGrpSpPr>
          <p:cNvPr id="730281" name="Group 169">
            <a:extLst>
              <a:ext uri="{FF2B5EF4-FFF2-40B4-BE49-F238E27FC236}">
                <a16:creationId xmlns:a16="http://schemas.microsoft.com/office/drawing/2014/main" id="{433000AE-B2EF-1FF4-ACDC-D6526568125A}"/>
              </a:ext>
            </a:extLst>
          </p:cNvPr>
          <p:cNvGrpSpPr>
            <a:grpSpLocks/>
          </p:cNvGrpSpPr>
          <p:nvPr/>
        </p:nvGrpSpPr>
        <p:grpSpPr bwMode="auto">
          <a:xfrm>
            <a:off x="5535613" y="5588000"/>
            <a:ext cx="3743325" cy="254000"/>
            <a:chOff x="3520" y="1884"/>
            <a:chExt cx="2358" cy="160"/>
          </a:xfrm>
        </p:grpSpPr>
        <p:grpSp>
          <p:nvGrpSpPr>
            <p:cNvPr id="730282" name="Group 170">
              <a:extLst>
                <a:ext uri="{FF2B5EF4-FFF2-40B4-BE49-F238E27FC236}">
                  <a16:creationId xmlns:a16="http://schemas.microsoft.com/office/drawing/2014/main" id="{3A285173-34F6-D8F5-A9EB-B6740764E7A6}"/>
                </a:ext>
              </a:extLst>
            </p:cNvPr>
            <p:cNvGrpSpPr>
              <a:grpSpLocks/>
            </p:cNvGrpSpPr>
            <p:nvPr/>
          </p:nvGrpSpPr>
          <p:grpSpPr bwMode="auto">
            <a:xfrm>
              <a:off x="3520" y="1884"/>
              <a:ext cx="1180" cy="160"/>
              <a:chOff x="726" y="1904"/>
              <a:chExt cx="1180" cy="160"/>
            </a:xfrm>
          </p:grpSpPr>
          <p:sp>
            <p:nvSpPr>
              <p:cNvPr id="730283" name="Rectangle 171">
                <a:extLst>
                  <a:ext uri="{FF2B5EF4-FFF2-40B4-BE49-F238E27FC236}">
                    <a16:creationId xmlns:a16="http://schemas.microsoft.com/office/drawing/2014/main" id="{30BF0C24-20C9-D24C-790B-8606B3C90A1D}"/>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84" name="Rectangle 172">
                <a:extLst>
                  <a:ext uri="{FF2B5EF4-FFF2-40B4-BE49-F238E27FC236}">
                    <a16:creationId xmlns:a16="http://schemas.microsoft.com/office/drawing/2014/main" id="{8C52B42D-9A37-F71F-6D6A-170865799D0A}"/>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85" name="Rectangle 173">
                <a:extLst>
                  <a:ext uri="{FF2B5EF4-FFF2-40B4-BE49-F238E27FC236}">
                    <a16:creationId xmlns:a16="http://schemas.microsoft.com/office/drawing/2014/main" id="{A11A7B14-7843-5944-57BA-79B957870453}"/>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86" name="Rectangle 174">
                <a:extLst>
                  <a:ext uri="{FF2B5EF4-FFF2-40B4-BE49-F238E27FC236}">
                    <a16:creationId xmlns:a16="http://schemas.microsoft.com/office/drawing/2014/main" id="{5B1BF483-E18E-18EC-9A95-601126E06195}"/>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grpSp>
          <p:nvGrpSpPr>
            <p:cNvPr id="730287" name="Group 175">
              <a:extLst>
                <a:ext uri="{FF2B5EF4-FFF2-40B4-BE49-F238E27FC236}">
                  <a16:creationId xmlns:a16="http://schemas.microsoft.com/office/drawing/2014/main" id="{F7D754E0-7DB0-3197-AE08-54CF88EB895E}"/>
                </a:ext>
              </a:extLst>
            </p:cNvPr>
            <p:cNvGrpSpPr>
              <a:grpSpLocks/>
            </p:cNvGrpSpPr>
            <p:nvPr/>
          </p:nvGrpSpPr>
          <p:grpSpPr bwMode="auto">
            <a:xfrm>
              <a:off x="4698" y="1884"/>
              <a:ext cx="1180" cy="160"/>
              <a:chOff x="726" y="1904"/>
              <a:chExt cx="1180" cy="160"/>
            </a:xfrm>
          </p:grpSpPr>
          <p:sp>
            <p:nvSpPr>
              <p:cNvPr id="730288" name="Rectangle 176">
                <a:extLst>
                  <a:ext uri="{FF2B5EF4-FFF2-40B4-BE49-F238E27FC236}">
                    <a16:creationId xmlns:a16="http://schemas.microsoft.com/office/drawing/2014/main" id="{2E2E52F6-2D73-94CB-C9D6-553E187C50D3}"/>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89" name="Rectangle 177">
                <a:extLst>
                  <a:ext uri="{FF2B5EF4-FFF2-40B4-BE49-F238E27FC236}">
                    <a16:creationId xmlns:a16="http://schemas.microsoft.com/office/drawing/2014/main" id="{68F001B9-ED46-217F-D846-3774EFE71AC5}"/>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90" name="Rectangle 178">
                <a:extLst>
                  <a:ext uri="{FF2B5EF4-FFF2-40B4-BE49-F238E27FC236}">
                    <a16:creationId xmlns:a16="http://schemas.microsoft.com/office/drawing/2014/main" id="{423E9CD1-38D5-A1FB-9F7E-410C49662707}"/>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30291" name="Rectangle 179">
                <a:extLst>
                  <a:ext uri="{FF2B5EF4-FFF2-40B4-BE49-F238E27FC236}">
                    <a16:creationId xmlns:a16="http://schemas.microsoft.com/office/drawing/2014/main" id="{406E298D-72D6-7961-779B-D118F331DC89}"/>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grpSp>
      <p:grpSp>
        <p:nvGrpSpPr>
          <p:cNvPr id="730293" name="Group 181">
            <a:extLst>
              <a:ext uri="{FF2B5EF4-FFF2-40B4-BE49-F238E27FC236}">
                <a16:creationId xmlns:a16="http://schemas.microsoft.com/office/drawing/2014/main" id="{8F7066CA-CE99-5ADB-39E4-B6CBA46B44FF}"/>
              </a:ext>
            </a:extLst>
          </p:cNvPr>
          <p:cNvGrpSpPr>
            <a:grpSpLocks/>
          </p:cNvGrpSpPr>
          <p:nvPr/>
        </p:nvGrpSpPr>
        <p:grpSpPr bwMode="auto">
          <a:xfrm>
            <a:off x="4189413" y="2978150"/>
            <a:ext cx="288925" cy="241300"/>
            <a:chOff x="3438" y="1406"/>
            <a:chExt cx="243" cy="243"/>
          </a:xfrm>
        </p:grpSpPr>
        <p:sp>
          <p:nvSpPr>
            <p:cNvPr id="730294" name="Line 182">
              <a:extLst>
                <a:ext uri="{FF2B5EF4-FFF2-40B4-BE49-F238E27FC236}">
                  <a16:creationId xmlns:a16="http://schemas.microsoft.com/office/drawing/2014/main" id="{F7F2F964-5156-DFF7-56FE-18949F6D7B63}"/>
                </a:ext>
              </a:extLst>
            </p:cNvPr>
            <p:cNvSpPr>
              <a:spLocks noChangeShapeType="1"/>
            </p:cNvSpPr>
            <p:nvPr/>
          </p:nvSpPr>
          <p:spPr bwMode="auto">
            <a:xfrm>
              <a:off x="3442" y="1406"/>
              <a:ext cx="239" cy="240"/>
            </a:xfrm>
            <a:prstGeom prst="line">
              <a:avLst/>
            </a:prstGeom>
            <a:noFill/>
            <a:ln w="28575">
              <a:solidFill>
                <a:srgbClr val="E1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30295" name="Line 183">
              <a:extLst>
                <a:ext uri="{FF2B5EF4-FFF2-40B4-BE49-F238E27FC236}">
                  <a16:creationId xmlns:a16="http://schemas.microsoft.com/office/drawing/2014/main" id="{9661AE03-E826-D7E9-6A68-E6FC7C8273C8}"/>
                </a:ext>
              </a:extLst>
            </p:cNvPr>
            <p:cNvSpPr>
              <a:spLocks noChangeShapeType="1"/>
            </p:cNvSpPr>
            <p:nvPr/>
          </p:nvSpPr>
          <p:spPr bwMode="auto">
            <a:xfrm flipH="1">
              <a:off x="3438" y="1409"/>
              <a:ext cx="239" cy="240"/>
            </a:xfrm>
            <a:prstGeom prst="line">
              <a:avLst/>
            </a:prstGeom>
            <a:noFill/>
            <a:ln w="28575">
              <a:solidFill>
                <a:srgbClr val="E1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730304" name="Oval 192">
            <a:extLst>
              <a:ext uri="{FF2B5EF4-FFF2-40B4-BE49-F238E27FC236}">
                <a16:creationId xmlns:a16="http://schemas.microsoft.com/office/drawing/2014/main" id="{7E44E1EA-1C4E-5E3C-29D2-44FC0AC572DA}"/>
              </a:ext>
            </a:extLst>
          </p:cNvPr>
          <p:cNvSpPr>
            <a:spLocks noChangeArrowheads="1"/>
          </p:cNvSpPr>
          <p:nvPr/>
        </p:nvSpPr>
        <p:spPr bwMode="auto">
          <a:xfrm>
            <a:off x="4189413" y="3978275"/>
            <a:ext cx="293687" cy="282575"/>
          </a:xfrm>
          <a:prstGeom prst="ellipse">
            <a:avLst/>
          </a:prstGeom>
          <a:noFill/>
          <a:ln w="28575" algn="ctr">
            <a:solidFill>
              <a:srgbClr val="E10000"/>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nvGrpSpPr>
          <p:cNvPr id="730308" name="Group 196">
            <a:extLst>
              <a:ext uri="{FF2B5EF4-FFF2-40B4-BE49-F238E27FC236}">
                <a16:creationId xmlns:a16="http://schemas.microsoft.com/office/drawing/2014/main" id="{0433EEA1-012C-162C-3312-E4B46744B147}"/>
              </a:ext>
            </a:extLst>
          </p:cNvPr>
          <p:cNvGrpSpPr>
            <a:grpSpLocks/>
          </p:cNvGrpSpPr>
          <p:nvPr/>
        </p:nvGrpSpPr>
        <p:grpSpPr bwMode="auto">
          <a:xfrm>
            <a:off x="4189413" y="3470275"/>
            <a:ext cx="288925" cy="241300"/>
            <a:chOff x="3438" y="1406"/>
            <a:chExt cx="243" cy="243"/>
          </a:xfrm>
        </p:grpSpPr>
        <p:sp>
          <p:nvSpPr>
            <p:cNvPr id="730309" name="Line 197">
              <a:extLst>
                <a:ext uri="{FF2B5EF4-FFF2-40B4-BE49-F238E27FC236}">
                  <a16:creationId xmlns:a16="http://schemas.microsoft.com/office/drawing/2014/main" id="{1E605E39-7942-ACE4-D1DD-C6309732ED5B}"/>
                </a:ext>
              </a:extLst>
            </p:cNvPr>
            <p:cNvSpPr>
              <a:spLocks noChangeShapeType="1"/>
            </p:cNvSpPr>
            <p:nvPr/>
          </p:nvSpPr>
          <p:spPr bwMode="auto">
            <a:xfrm>
              <a:off x="3442" y="1406"/>
              <a:ext cx="239" cy="240"/>
            </a:xfrm>
            <a:prstGeom prst="line">
              <a:avLst/>
            </a:prstGeom>
            <a:noFill/>
            <a:ln w="28575">
              <a:solidFill>
                <a:srgbClr val="E1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30310" name="Line 198">
              <a:extLst>
                <a:ext uri="{FF2B5EF4-FFF2-40B4-BE49-F238E27FC236}">
                  <a16:creationId xmlns:a16="http://schemas.microsoft.com/office/drawing/2014/main" id="{DC960473-8722-A577-1D6E-C9DFEB6F2088}"/>
                </a:ext>
              </a:extLst>
            </p:cNvPr>
            <p:cNvSpPr>
              <a:spLocks noChangeShapeType="1"/>
            </p:cNvSpPr>
            <p:nvPr/>
          </p:nvSpPr>
          <p:spPr bwMode="auto">
            <a:xfrm flipH="1">
              <a:off x="3438" y="1409"/>
              <a:ext cx="239" cy="240"/>
            </a:xfrm>
            <a:prstGeom prst="line">
              <a:avLst/>
            </a:prstGeom>
            <a:noFill/>
            <a:ln w="28575">
              <a:solidFill>
                <a:srgbClr val="E1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730311" name="Oval 199">
            <a:extLst>
              <a:ext uri="{FF2B5EF4-FFF2-40B4-BE49-F238E27FC236}">
                <a16:creationId xmlns:a16="http://schemas.microsoft.com/office/drawing/2014/main" id="{D1BAF74E-9125-7D4A-D075-8D1C55A79220}"/>
              </a:ext>
            </a:extLst>
          </p:cNvPr>
          <p:cNvSpPr>
            <a:spLocks noChangeArrowheads="1"/>
          </p:cNvSpPr>
          <p:nvPr/>
        </p:nvSpPr>
        <p:spPr bwMode="auto">
          <a:xfrm>
            <a:off x="4189413" y="4498975"/>
            <a:ext cx="293687" cy="282575"/>
          </a:xfrm>
          <a:prstGeom prst="ellipse">
            <a:avLst/>
          </a:prstGeom>
          <a:noFill/>
          <a:ln w="28575" algn="ctr">
            <a:solidFill>
              <a:srgbClr val="E10000"/>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30312" name="Oval 200">
            <a:extLst>
              <a:ext uri="{FF2B5EF4-FFF2-40B4-BE49-F238E27FC236}">
                <a16:creationId xmlns:a16="http://schemas.microsoft.com/office/drawing/2014/main" id="{0BB7735F-ABD1-D30F-7AF3-5BD12851007A}"/>
              </a:ext>
            </a:extLst>
          </p:cNvPr>
          <p:cNvSpPr>
            <a:spLocks noChangeArrowheads="1"/>
          </p:cNvSpPr>
          <p:nvPr/>
        </p:nvSpPr>
        <p:spPr bwMode="auto">
          <a:xfrm>
            <a:off x="4189413" y="5029200"/>
            <a:ext cx="293687" cy="282575"/>
          </a:xfrm>
          <a:prstGeom prst="ellipse">
            <a:avLst/>
          </a:prstGeom>
          <a:noFill/>
          <a:ln w="28575" algn="ctr">
            <a:solidFill>
              <a:srgbClr val="E10000"/>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30313" name="Oval 201">
            <a:extLst>
              <a:ext uri="{FF2B5EF4-FFF2-40B4-BE49-F238E27FC236}">
                <a16:creationId xmlns:a16="http://schemas.microsoft.com/office/drawing/2014/main" id="{28326B2F-4CEA-0423-ADD3-0BA32070E3D0}"/>
              </a:ext>
            </a:extLst>
          </p:cNvPr>
          <p:cNvSpPr>
            <a:spLocks noChangeArrowheads="1"/>
          </p:cNvSpPr>
          <p:nvPr/>
        </p:nvSpPr>
        <p:spPr bwMode="auto">
          <a:xfrm>
            <a:off x="4189413" y="5553075"/>
            <a:ext cx="293687" cy="282575"/>
          </a:xfrm>
          <a:prstGeom prst="ellipse">
            <a:avLst/>
          </a:prstGeom>
          <a:noFill/>
          <a:ln w="28575" algn="ctr">
            <a:solidFill>
              <a:srgbClr val="E10000"/>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30314" name="Line 202">
            <a:extLst>
              <a:ext uri="{FF2B5EF4-FFF2-40B4-BE49-F238E27FC236}">
                <a16:creationId xmlns:a16="http://schemas.microsoft.com/office/drawing/2014/main" id="{327F02CB-DB30-9267-6F32-311140C2B064}"/>
              </a:ext>
            </a:extLst>
          </p:cNvPr>
          <p:cNvSpPr>
            <a:spLocks noChangeShapeType="1"/>
          </p:cNvSpPr>
          <p:nvPr/>
        </p:nvSpPr>
        <p:spPr bwMode="auto">
          <a:xfrm flipV="1">
            <a:off x="3109913" y="3640138"/>
            <a:ext cx="1062037" cy="688975"/>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07763" dir="2700000" algn="ctr" rotWithShape="0">
                    <a:schemeClr val="bg2">
                      <a:alpha val="50000"/>
                    </a:schemeClr>
                  </a:outerShdw>
                </a:effectLst>
              </a14:hiddenEffects>
            </a:ext>
          </a:extLst>
        </p:spPr>
        <p:txBody>
          <a:bodyPr wrap="none" anchor="ctr"/>
          <a:lstStyle/>
          <a:p>
            <a:endParaRPr lang="ja-JP" altLang="en-US"/>
          </a:p>
        </p:txBody>
      </p:sp>
      <p:sp>
        <p:nvSpPr>
          <p:cNvPr id="730315" name="Line 203">
            <a:extLst>
              <a:ext uri="{FF2B5EF4-FFF2-40B4-BE49-F238E27FC236}">
                <a16:creationId xmlns:a16="http://schemas.microsoft.com/office/drawing/2014/main" id="{22222D4E-117A-45A9-6506-414D6D6800BE}"/>
              </a:ext>
            </a:extLst>
          </p:cNvPr>
          <p:cNvSpPr>
            <a:spLocks noChangeShapeType="1"/>
          </p:cNvSpPr>
          <p:nvPr/>
        </p:nvSpPr>
        <p:spPr bwMode="auto">
          <a:xfrm>
            <a:off x="3100388" y="4300538"/>
            <a:ext cx="1023937" cy="1320800"/>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07763" dir="2700000" algn="ctr" rotWithShape="0">
                    <a:schemeClr val="bg2">
                      <a:alpha val="50000"/>
                    </a:schemeClr>
                  </a:outerShdw>
                </a:effectLst>
              </a14:hiddenEffects>
            </a:ext>
          </a:extLst>
        </p:spPr>
        <p:txBody>
          <a:bodyPr wrap="none" anchor="ctr"/>
          <a:lstStyle/>
          <a:p>
            <a:endParaRPr lang="ja-JP" altLang="en-US"/>
          </a:p>
        </p:txBody>
      </p:sp>
      <p:sp>
        <p:nvSpPr>
          <p:cNvPr id="730316" name="Line 204">
            <a:extLst>
              <a:ext uri="{FF2B5EF4-FFF2-40B4-BE49-F238E27FC236}">
                <a16:creationId xmlns:a16="http://schemas.microsoft.com/office/drawing/2014/main" id="{90053115-396B-A2F2-D256-86B992B21C41}"/>
              </a:ext>
            </a:extLst>
          </p:cNvPr>
          <p:cNvSpPr>
            <a:spLocks noChangeShapeType="1"/>
          </p:cNvSpPr>
          <p:nvPr/>
        </p:nvSpPr>
        <p:spPr bwMode="auto">
          <a:xfrm>
            <a:off x="3100388" y="4300538"/>
            <a:ext cx="1052512" cy="796925"/>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07763" dir="2700000" algn="ctr" rotWithShape="0">
                    <a:schemeClr val="bg2">
                      <a:alpha val="50000"/>
                    </a:schemeClr>
                  </a:outerShdw>
                </a:effectLst>
              </a14:hiddenEffects>
            </a:ext>
          </a:extLst>
        </p:spPr>
        <p:txBody>
          <a:bodyPr wrap="none" anchor="ctr"/>
          <a:lstStyle/>
          <a:p>
            <a:endParaRPr lang="ja-JP" altLang="en-US"/>
          </a:p>
        </p:txBody>
      </p:sp>
      <p:sp>
        <p:nvSpPr>
          <p:cNvPr id="730317" name="Line 205">
            <a:extLst>
              <a:ext uri="{FF2B5EF4-FFF2-40B4-BE49-F238E27FC236}">
                <a16:creationId xmlns:a16="http://schemas.microsoft.com/office/drawing/2014/main" id="{6B2242B9-69E6-D338-9C75-0CE4BDA37478}"/>
              </a:ext>
            </a:extLst>
          </p:cNvPr>
          <p:cNvSpPr>
            <a:spLocks noChangeShapeType="1"/>
          </p:cNvSpPr>
          <p:nvPr/>
        </p:nvSpPr>
        <p:spPr bwMode="auto">
          <a:xfrm flipV="1">
            <a:off x="3125788" y="4141788"/>
            <a:ext cx="1004887" cy="193675"/>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07763" dir="2700000" algn="ctr" rotWithShape="0">
                    <a:schemeClr val="bg2">
                      <a:alpha val="50000"/>
                    </a:schemeClr>
                  </a:outerShdw>
                </a:effectLst>
              </a14:hiddenEffects>
            </a:ext>
          </a:extLst>
        </p:spPr>
        <p:txBody>
          <a:bodyPr wrap="none" anchor="ctr"/>
          <a:lstStyle/>
          <a:p>
            <a:endParaRPr lang="ja-JP" altLang="en-US"/>
          </a:p>
        </p:txBody>
      </p:sp>
      <p:sp>
        <p:nvSpPr>
          <p:cNvPr id="730319" name="Line 207">
            <a:extLst>
              <a:ext uri="{FF2B5EF4-FFF2-40B4-BE49-F238E27FC236}">
                <a16:creationId xmlns:a16="http://schemas.microsoft.com/office/drawing/2014/main" id="{CCAFD8A1-151D-D925-E536-FB74588D496D}"/>
              </a:ext>
            </a:extLst>
          </p:cNvPr>
          <p:cNvSpPr>
            <a:spLocks noChangeShapeType="1"/>
          </p:cNvSpPr>
          <p:nvPr/>
        </p:nvSpPr>
        <p:spPr bwMode="auto">
          <a:xfrm>
            <a:off x="3103563" y="4322763"/>
            <a:ext cx="1014412" cy="263525"/>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07763" dir="2700000" algn="ctr" rotWithShape="0">
                    <a:schemeClr val="bg2">
                      <a:alpha val="50000"/>
                    </a:schemeClr>
                  </a:outerShdw>
                </a:effectLst>
              </a14:hiddenEffects>
            </a:ext>
          </a:extLst>
        </p:spPr>
        <p:txBody>
          <a:bodyPr wrap="none" anchor="ctr"/>
          <a:lstStyle/>
          <a:p>
            <a:endParaRPr lang="ja-JP" altLang="en-US"/>
          </a:p>
        </p:txBody>
      </p:sp>
      <p:sp>
        <p:nvSpPr>
          <p:cNvPr id="730320" name="AutoShape 208">
            <a:extLst>
              <a:ext uri="{FF2B5EF4-FFF2-40B4-BE49-F238E27FC236}">
                <a16:creationId xmlns:a16="http://schemas.microsoft.com/office/drawing/2014/main" id="{063493DD-DF02-6D5F-EF55-EB1DE2ADC43F}"/>
              </a:ext>
            </a:extLst>
          </p:cNvPr>
          <p:cNvSpPr>
            <a:spLocks/>
          </p:cNvSpPr>
          <p:nvPr/>
        </p:nvSpPr>
        <p:spPr bwMode="auto">
          <a:xfrm rot="5400000" flipV="1">
            <a:off x="1895475" y="3721101"/>
            <a:ext cx="333375" cy="1943100"/>
          </a:xfrm>
          <a:prstGeom prst="rightBrace">
            <a:avLst>
              <a:gd name="adj1" fmla="val 48571"/>
              <a:gd name="adj2" fmla="val 50000"/>
            </a:avLst>
          </a:prstGeom>
          <a:noFill/>
          <a:ln w="9525">
            <a:solidFill>
              <a:schemeClr val="tx1"/>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30321" name="Text Box 209">
            <a:extLst>
              <a:ext uri="{FF2B5EF4-FFF2-40B4-BE49-F238E27FC236}">
                <a16:creationId xmlns:a16="http://schemas.microsoft.com/office/drawing/2014/main" id="{9567E4C2-8EEE-402A-4030-F0FA146BE2A3}"/>
              </a:ext>
            </a:extLst>
          </p:cNvPr>
          <p:cNvSpPr txBox="1">
            <a:spLocks noChangeArrowheads="1"/>
          </p:cNvSpPr>
          <p:nvPr/>
        </p:nvSpPr>
        <p:spPr bwMode="auto">
          <a:xfrm>
            <a:off x="1698625" y="4803775"/>
            <a:ext cx="11144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latin typeface="MS UI Gothic" panose="020B0600070205080204" pitchFamily="50" charset="-128"/>
              </a:rPr>
              <a:t>4 byte</a:t>
            </a:r>
          </a:p>
        </p:txBody>
      </p:sp>
      <p:sp>
        <p:nvSpPr>
          <p:cNvPr id="730322" name="Text Box 210">
            <a:extLst>
              <a:ext uri="{FF2B5EF4-FFF2-40B4-BE49-F238E27FC236}">
                <a16:creationId xmlns:a16="http://schemas.microsoft.com/office/drawing/2014/main" id="{4DCD414F-B20A-FF4B-5E2F-1E404FDB466F}"/>
              </a:ext>
            </a:extLst>
          </p:cNvPr>
          <p:cNvSpPr txBox="1">
            <a:spLocks noChangeArrowheads="1"/>
          </p:cNvSpPr>
          <p:nvPr/>
        </p:nvSpPr>
        <p:spPr bwMode="auto">
          <a:xfrm>
            <a:off x="3000375" y="3409950"/>
            <a:ext cx="11144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solidFill>
                  <a:srgbClr val="0000FF"/>
                </a:solidFill>
              </a:rPr>
              <a:t>gán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A9A6636A-4AA7-9102-3947-6F52D862DAD1}"/>
              </a:ext>
            </a:extLst>
          </p:cNvPr>
          <p:cNvSpPr>
            <a:spLocks noGrp="1"/>
          </p:cNvSpPr>
          <p:nvPr>
            <p:ph type="sldNum" sz="quarter" idx="10"/>
          </p:nvPr>
        </p:nvSpPr>
        <p:spPr/>
        <p:txBody>
          <a:bodyPr/>
          <a:lstStyle/>
          <a:p>
            <a:fld id="{37AF34E7-6423-4240-9C7E-A396A1A7BFA4}" type="slidenum">
              <a:rPr lang="en-US" altLang="ja-JP"/>
              <a:pPr/>
              <a:t>5</a:t>
            </a:fld>
            <a:endParaRPr lang="en-US" altLang="ja-JP"/>
          </a:p>
        </p:txBody>
      </p:sp>
      <p:sp>
        <p:nvSpPr>
          <p:cNvPr id="754708" name="Rectangle 20">
            <a:extLst>
              <a:ext uri="{FF2B5EF4-FFF2-40B4-BE49-F238E27FC236}">
                <a16:creationId xmlns:a16="http://schemas.microsoft.com/office/drawing/2014/main" id="{9D3DB09A-7879-DE63-8CFE-9AD2DD61428A}"/>
              </a:ext>
            </a:extLst>
          </p:cNvPr>
          <p:cNvSpPr>
            <a:spLocks noChangeArrowheads="1"/>
          </p:cNvSpPr>
          <p:nvPr/>
        </p:nvSpPr>
        <p:spPr bwMode="auto">
          <a:xfrm>
            <a:off x="395288" y="4148138"/>
            <a:ext cx="9069387" cy="15652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en-US" sz="1800" b="0">
                <a:latin typeface="ＭＳ ゴシック" panose="020B0609070205080204" pitchFamily="49" charset="-128"/>
                <a:ea typeface="ＭＳ ゴシック" panose="020B0609070205080204" pitchFamily="49" charset="-128"/>
              </a:rPr>
              <a:t>double  valDouble2 = 10 / 4;</a:t>
            </a:r>
            <a:endParaRPr lang="en-US" altLang="ja-JP" sz="1800" b="0">
              <a:latin typeface="ＭＳ ゴシック" panose="020B0609070205080204" pitchFamily="49" charset="-128"/>
              <a:ea typeface="ＭＳ ゴシック" panose="020B0609070205080204" pitchFamily="49" charset="-128"/>
            </a:endParaRPr>
          </a:p>
          <a:p>
            <a:pPr lvl="1"/>
            <a:endParaRPr lang="en-US" altLang="en-US" sz="1800" b="0">
              <a:latin typeface="ＭＳ ゴシック" panose="020B0609070205080204" pitchFamily="49" charset="-128"/>
              <a:ea typeface="ＭＳ ゴシック" panose="020B0609070205080204" pitchFamily="49" charset="-128"/>
            </a:endParaRPr>
          </a:p>
          <a:p>
            <a:pPr lvl="1"/>
            <a:r>
              <a:rPr lang="en-US" altLang="en-US" sz="1800" b="0">
                <a:latin typeface="ＭＳ ゴシック" panose="020B0609070205080204" pitchFamily="49" charset="-128"/>
                <a:ea typeface="ＭＳ ゴシック" panose="020B0609070205080204" pitchFamily="49" charset="-128"/>
              </a:rPr>
              <a:t>double  valDouble3 = 10 / 4d;</a:t>
            </a:r>
          </a:p>
        </p:txBody>
      </p:sp>
      <p:sp>
        <p:nvSpPr>
          <p:cNvPr id="754690" name="Rectangle 2">
            <a:extLst>
              <a:ext uri="{FF2B5EF4-FFF2-40B4-BE49-F238E27FC236}">
                <a16:creationId xmlns:a16="http://schemas.microsoft.com/office/drawing/2014/main" id="{1307EB28-6FE6-0148-429C-1AC9CDC0D25D}"/>
              </a:ext>
            </a:extLst>
          </p:cNvPr>
          <p:cNvSpPr>
            <a:spLocks noGrp="1" noChangeArrowheads="1"/>
          </p:cNvSpPr>
          <p:nvPr>
            <p:ph type="title"/>
          </p:nvPr>
        </p:nvSpPr>
        <p:spPr>
          <a:xfrm>
            <a:off x="321468" y="364332"/>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Convert </a:t>
            </a:r>
            <a:r>
              <a:rPr lang="en-US" altLang="ja-JP" dirty="0" err="1">
                <a:latin typeface="Arial" panose="020B0604020202020204" pitchFamily="34" charset="0"/>
                <a:ea typeface="MS UI Gothic" panose="020B0600070205080204" pitchFamily="50" charset="-128"/>
              </a:rPr>
              <a:t>kiểu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không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tường</a:t>
            </a:r>
            <a:r>
              <a:rPr lang="en-US" altLang="ja-JP" dirty="0">
                <a:latin typeface="Arial" panose="020B0604020202020204" pitchFamily="34" charset="0"/>
                <a:ea typeface="MS UI Gothic" panose="020B0600070205080204" pitchFamily="50" charset="-128"/>
              </a:rPr>
              <a:t> minh</a:t>
            </a:r>
            <a:r>
              <a:rPr lang="en-US" altLang="en-US" dirty="0">
                <a:latin typeface="Arial" panose="020B0604020202020204" pitchFamily="34" charset="0"/>
                <a:ea typeface="MS UI Gothic" panose="020B0600070205080204" pitchFamily="50" charset="-128"/>
              </a:rPr>
              <a:t>（</a:t>
            </a:r>
            <a:r>
              <a:rPr lang="en-US" altLang="ja-JP" dirty="0">
                <a:latin typeface="Arial" panose="020B0604020202020204" pitchFamily="34" charset="0"/>
                <a:ea typeface="MS UI Gothic" panose="020B0600070205080204" pitchFamily="50" charset="-128"/>
              </a:rPr>
              <a:t>2</a:t>
            </a:r>
            <a:r>
              <a:rPr lang="en-US" altLang="en-US" dirty="0">
                <a:latin typeface="Arial" panose="020B0604020202020204" pitchFamily="34" charset="0"/>
                <a:ea typeface="MS UI Gothic" panose="020B0600070205080204" pitchFamily="50" charset="-128"/>
              </a:rPr>
              <a:t>）</a:t>
            </a:r>
            <a:endParaRPr lang="ja-JP" altLang="en-US" dirty="0">
              <a:latin typeface="Arial" panose="020B0604020202020204" pitchFamily="34" charset="0"/>
              <a:ea typeface="MS UI Gothic" panose="020B0600070205080204" pitchFamily="50" charset="-128"/>
            </a:endParaRPr>
          </a:p>
        </p:txBody>
      </p:sp>
      <p:sp>
        <p:nvSpPr>
          <p:cNvPr id="754693" name="Rectangle 5">
            <a:extLst>
              <a:ext uri="{FF2B5EF4-FFF2-40B4-BE49-F238E27FC236}">
                <a16:creationId xmlns:a16="http://schemas.microsoft.com/office/drawing/2014/main" id="{A1363186-CC3E-0B0A-C76F-A2C18C94B09A}"/>
              </a:ext>
            </a:extLst>
          </p:cNvPr>
          <p:cNvSpPr>
            <a:spLocks noChangeArrowheads="1"/>
          </p:cNvSpPr>
          <p:nvPr/>
        </p:nvSpPr>
        <p:spPr bwMode="auto">
          <a:xfrm>
            <a:off x="344488" y="8826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 về convert kiểu không tường minh</a:t>
            </a:r>
          </a:p>
        </p:txBody>
      </p:sp>
      <p:sp>
        <p:nvSpPr>
          <p:cNvPr id="754702" name="Rectangle 14">
            <a:extLst>
              <a:ext uri="{FF2B5EF4-FFF2-40B4-BE49-F238E27FC236}">
                <a16:creationId xmlns:a16="http://schemas.microsoft.com/office/drawing/2014/main" id="{872D2137-665F-34A4-74C6-F6A6DDBD2A59}"/>
              </a:ext>
            </a:extLst>
          </p:cNvPr>
          <p:cNvSpPr>
            <a:spLocks noChangeArrowheads="1"/>
          </p:cNvSpPr>
          <p:nvPr/>
        </p:nvSpPr>
        <p:spPr bwMode="auto">
          <a:xfrm>
            <a:off x="1447800" y="3835400"/>
            <a:ext cx="838200" cy="330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4703" name="Rectangle 15">
            <a:extLst>
              <a:ext uri="{FF2B5EF4-FFF2-40B4-BE49-F238E27FC236}">
                <a16:creationId xmlns:a16="http://schemas.microsoft.com/office/drawing/2014/main" id="{5B00495E-DDC6-343C-CED1-E2DD8142264D}"/>
              </a:ext>
            </a:extLst>
          </p:cNvPr>
          <p:cNvSpPr>
            <a:spLocks noChangeArrowheads="1"/>
          </p:cNvSpPr>
          <p:nvPr/>
        </p:nvSpPr>
        <p:spPr bwMode="auto">
          <a:xfrm>
            <a:off x="4089400" y="5575300"/>
            <a:ext cx="685800" cy="203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4709" name="Rectangle 21">
            <a:extLst>
              <a:ext uri="{FF2B5EF4-FFF2-40B4-BE49-F238E27FC236}">
                <a16:creationId xmlns:a16="http://schemas.microsoft.com/office/drawing/2014/main" id="{EE88F5A6-AA84-D147-9DD9-FC507DCEE1B4}"/>
              </a:ext>
            </a:extLst>
          </p:cNvPr>
          <p:cNvSpPr>
            <a:spLocks noChangeArrowheads="1"/>
          </p:cNvSpPr>
          <p:nvPr/>
        </p:nvSpPr>
        <p:spPr bwMode="auto">
          <a:xfrm>
            <a:off x="344488" y="356393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 convert khi tính toán</a:t>
            </a:r>
          </a:p>
        </p:txBody>
      </p:sp>
      <p:sp>
        <p:nvSpPr>
          <p:cNvPr id="754695" name="Rectangle 7">
            <a:extLst>
              <a:ext uri="{FF2B5EF4-FFF2-40B4-BE49-F238E27FC236}">
                <a16:creationId xmlns:a16="http://schemas.microsoft.com/office/drawing/2014/main" id="{2AA9F6BE-356D-2248-57B3-E347F183AF2B}"/>
              </a:ext>
            </a:extLst>
          </p:cNvPr>
          <p:cNvSpPr>
            <a:spLocks noChangeArrowheads="1"/>
          </p:cNvSpPr>
          <p:nvPr/>
        </p:nvSpPr>
        <p:spPr bwMode="auto">
          <a:xfrm>
            <a:off x="395288" y="1484313"/>
            <a:ext cx="9069387" cy="17383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b="0">
                <a:latin typeface="ＭＳ ゴシック" panose="020B0609070205080204" pitchFamily="49" charset="-128"/>
                <a:ea typeface="ＭＳ ゴシック" panose="020B0609070205080204" pitchFamily="49" charset="-128"/>
              </a:rPr>
              <a:t>int valInt = 4;</a:t>
            </a:r>
            <a:endParaRPr lang="en-US" altLang="ja-JP" sz="1800" b="0">
              <a:latin typeface="ＭＳ ゴシック" panose="020B0609070205080204" pitchFamily="49" charset="-128"/>
              <a:ea typeface="ＭＳ ゴシック" panose="020B0609070205080204" pitchFamily="49" charset="-128"/>
            </a:endParaRPr>
          </a:p>
          <a:p>
            <a:pPr lvl="1"/>
            <a:endParaRPr lang="en-US" altLang="en-US" sz="1800" b="0">
              <a:latin typeface="ＭＳ ゴシック" panose="020B0609070205080204" pitchFamily="49" charset="-128"/>
              <a:ea typeface="ＭＳ ゴシック" panose="020B0609070205080204" pitchFamily="49" charset="-128"/>
            </a:endParaRPr>
          </a:p>
          <a:p>
            <a:pPr lvl="1"/>
            <a:r>
              <a:rPr lang="en-US" altLang="en-US" sz="1800" b="0">
                <a:latin typeface="ＭＳ ゴシック" panose="020B0609070205080204" pitchFamily="49" charset="-128"/>
                <a:ea typeface="ＭＳ ゴシック" panose="020B0609070205080204" pitchFamily="49" charset="-128"/>
              </a:rPr>
              <a:t>byte valByte = valInt;</a:t>
            </a:r>
          </a:p>
          <a:p>
            <a:pPr lvl="1"/>
            <a:r>
              <a:rPr lang="en-US" altLang="en-US" sz="1800" b="0">
                <a:latin typeface="ＭＳ ゴシック" panose="020B0609070205080204" pitchFamily="49" charset="-128"/>
                <a:ea typeface="ＭＳ ゴシック" panose="020B0609070205080204" pitchFamily="49" charset="-128"/>
              </a:rPr>
              <a:t>long  valLong = valInt;</a:t>
            </a:r>
          </a:p>
          <a:p>
            <a:pPr lvl="1"/>
            <a:r>
              <a:rPr lang="en-US" altLang="en-US" sz="1800" b="0">
                <a:latin typeface="ＭＳ ゴシック" panose="020B0609070205080204" pitchFamily="49" charset="-128"/>
                <a:ea typeface="ＭＳ ゴシック" panose="020B0609070205080204" pitchFamily="49" charset="-128"/>
              </a:rPr>
              <a:t>double valDouble = valInt;</a:t>
            </a:r>
          </a:p>
        </p:txBody>
      </p:sp>
      <p:sp>
        <p:nvSpPr>
          <p:cNvPr id="754696" name="Rectangle 8">
            <a:extLst>
              <a:ext uri="{FF2B5EF4-FFF2-40B4-BE49-F238E27FC236}">
                <a16:creationId xmlns:a16="http://schemas.microsoft.com/office/drawing/2014/main" id="{829D4AE8-D5F6-50FF-5F85-D4DE4F3F2E1C}"/>
              </a:ext>
            </a:extLst>
          </p:cNvPr>
          <p:cNvSpPr>
            <a:spLocks noChangeArrowheads="1"/>
          </p:cNvSpPr>
          <p:nvPr/>
        </p:nvSpPr>
        <p:spPr bwMode="auto">
          <a:xfrm>
            <a:off x="558800" y="2100263"/>
            <a:ext cx="3167063" cy="3238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54698" name="Rectangle 10">
            <a:extLst>
              <a:ext uri="{FF2B5EF4-FFF2-40B4-BE49-F238E27FC236}">
                <a16:creationId xmlns:a16="http://schemas.microsoft.com/office/drawing/2014/main" id="{CCC2815E-B913-8289-95BC-3520D4644858}"/>
              </a:ext>
            </a:extLst>
          </p:cNvPr>
          <p:cNvSpPr>
            <a:spLocks noChangeArrowheads="1"/>
          </p:cNvSpPr>
          <p:nvPr/>
        </p:nvSpPr>
        <p:spPr bwMode="auto">
          <a:xfrm>
            <a:off x="550863" y="2473325"/>
            <a:ext cx="3182937" cy="600075"/>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54700" name="Rectangle 12">
            <a:extLst>
              <a:ext uri="{FF2B5EF4-FFF2-40B4-BE49-F238E27FC236}">
                <a16:creationId xmlns:a16="http://schemas.microsoft.com/office/drawing/2014/main" id="{DAB4ACC9-3D8C-89B7-A418-38D066339878}"/>
              </a:ext>
            </a:extLst>
          </p:cNvPr>
          <p:cNvSpPr>
            <a:spLocks noChangeArrowheads="1"/>
          </p:cNvSpPr>
          <p:nvPr/>
        </p:nvSpPr>
        <p:spPr bwMode="auto">
          <a:xfrm>
            <a:off x="1104900" y="3086100"/>
            <a:ext cx="825500" cy="2413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4710" name="Text Box 22">
            <a:extLst>
              <a:ext uri="{FF2B5EF4-FFF2-40B4-BE49-F238E27FC236}">
                <a16:creationId xmlns:a16="http://schemas.microsoft.com/office/drawing/2014/main" id="{7046B9FC-C181-E516-1210-DA97C7A4C350}"/>
              </a:ext>
            </a:extLst>
          </p:cNvPr>
          <p:cNvSpPr txBox="1">
            <a:spLocks noChangeArrowheads="1"/>
          </p:cNvSpPr>
          <p:nvPr/>
        </p:nvSpPr>
        <p:spPr bwMode="auto">
          <a:xfrm>
            <a:off x="4546600" y="2062163"/>
            <a:ext cx="3087688" cy="369332"/>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dirty="0">
                <a:latin typeface="+mj-lt"/>
              </a:rPr>
              <a:t>Ví dụ bị compile error</a:t>
            </a:r>
          </a:p>
        </p:txBody>
      </p:sp>
      <p:cxnSp>
        <p:nvCxnSpPr>
          <p:cNvPr id="754711" name="AutoShape 23">
            <a:extLst>
              <a:ext uri="{FF2B5EF4-FFF2-40B4-BE49-F238E27FC236}">
                <a16:creationId xmlns:a16="http://schemas.microsoft.com/office/drawing/2014/main" id="{14287611-A75B-9F15-1CC6-1016BCADE3FE}"/>
              </a:ext>
            </a:extLst>
          </p:cNvPr>
          <p:cNvCxnSpPr>
            <a:cxnSpLocks noChangeShapeType="1"/>
            <a:stCxn id="754696" idx="3"/>
            <a:endCxn id="754710" idx="1"/>
          </p:cNvCxnSpPr>
          <p:nvPr/>
        </p:nvCxnSpPr>
        <p:spPr bwMode="auto">
          <a:xfrm flipV="1">
            <a:off x="3725863" y="2246829"/>
            <a:ext cx="820737" cy="15359"/>
          </a:xfrm>
          <a:prstGeom prst="straightConnector1">
            <a:avLst/>
          </a:prstGeom>
          <a:noFill/>
          <a:ln w="2540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4712" name="Text Box 24">
            <a:extLst>
              <a:ext uri="{FF2B5EF4-FFF2-40B4-BE49-F238E27FC236}">
                <a16:creationId xmlns:a16="http://schemas.microsoft.com/office/drawing/2014/main" id="{8B9DE007-880A-FFEF-B146-1584229B7520}"/>
              </a:ext>
            </a:extLst>
          </p:cNvPr>
          <p:cNvSpPr txBox="1">
            <a:spLocks noChangeArrowheads="1"/>
          </p:cNvSpPr>
          <p:nvPr/>
        </p:nvSpPr>
        <p:spPr bwMode="auto">
          <a:xfrm>
            <a:off x="4572000" y="2573338"/>
            <a:ext cx="3060700" cy="66675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dirty="0">
                <a:latin typeface="+mj-lt"/>
              </a:rPr>
              <a:t>Ví dụ có </a:t>
            </a:r>
            <a:r>
              <a:rPr lang="en-US" altLang="ja-JP" sz="1800" b="0" dirty="0" err="1">
                <a:latin typeface="+mj-lt"/>
              </a:rPr>
              <a:t>thê</a:t>
            </a:r>
            <a:r>
              <a:rPr lang="en-US" altLang="ja-JP" sz="1800" b="0" dirty="0">
                <a:latin typeface="+mj-lt"/>
              </a:rPr>
              <a:t>̉ convert </a:t>
            </a:r>
            <a:r>
              <a:rPr lang="en-US" altLang="ja-JP" sz="1800" b="0" dirty="0" err="1">
                <a:latin typeface="+mj-lt"/>
              </a:rPr>
              <a:t>kiểu</a:t>
            </a:r>
            <a:r>
              <a:rPr lang="en-US" altLang="ja-JP" sz="1800" b="0" dirty="0">
                <a:latin typeface="+mj-lt"/>
              </a:rPr>
              <a:t> </a:t>
            </a:r>
            <a:r>
              <a:rPr lang="en-US" altLang="ja-JP" sz="1800" b="0" dirty="0" err="1">
                <a:latin typeface="+mj-lt"/>
              </a:rPr>
              <a:t>không</a:t>
            </a:r>
            <a:r>
              <a:rPr lang="en-US" altLang="ja-JP" sz="1800" b="0" dirty="0">
                <a:latin typeface="+mj-lt"/>
              </a:rPr>
              <a:t> </a:t>
            </a:r>
            <a:r>
              <a:rPr lang="en-US" altLang="ja-JP" sz="1800" b="0" dirty="0" err="1">
                <a:latin typeface="+mj-lt"/>
              </a:rPr>
              <a:t>tường</a:t>
            </a:r>
            <a:r>
              <a:rPr lang="en-US" altLang="ja-JP" sz="1800" b="0" dirty="0">
                <a:latin typeface="+mj-lt"/>
              </a:rPr>
              <a:t> </a:t>
            </a:r>
            <a:r>
              <a:rPr lang="en-US" altLang="ja-JP" sz="1800" b="0" dirty="0" err="1">
                <a:latin typeface="+mj-lt"/>
              </a:rPr>
              <a:t>minh</a:t>
            </a:r>
            <a:endParaRPr lang="en-US" altLang="ja-JP" sz="1800" b="0" dirty="0">
              <a:latin typeface="+mj-lt"/>
            </a:endParaRPr>
          </a:p>
        </p:txBody>
      </p:sp>
      <p:cxnSp>
        <p:nvCxnSpPr>
          <p:cNvPr id="754713" name="AutoShape 25">
            <a:extLst>
              <a:ext uri="{FF2B5EF4-FFF2-40B4-BE49-F238E27FC236}">
                <a16:creationId xmlns:a16="http://schemas.microsoft.com/office/drawing/2014/main" id="{436EB9E8-E3F1-21C1-00EC-43545B9DE19A}"/>
              </a:ext>
            </a:extLst>
          </p:cNvPr>
          <p:cNvCxnSpPr>
            <a:cxnSpLocks noChangeShapeType="1"/>
            <a:stCxn id="754698" idx="3"/>
            <a:endCxn id="754712" idx="1"/>
          </p:cNvCxnSpPr>
          <p:nvPr/>
        </p:nvCxnSpPr>
        <p:spPr bwMode="auto">
          <a:xfrm>
            <a:off x="3746500" y="2773363"/>
            <a:ext cx="812800" cy="133350"/>
          </a:xfrm>
          <a:prstGeom prst="straightConnector1">
            <a:avLst/>
          </a:prstGeom>
          <a:noFill/>
          <a:ln w="25400">
            <a:solidFill>
              <a:srgbClr val="FF6600"/>
            </a:solidFill>
            <a:prstDash val="sysDot"/>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4716" name="Rectangle 28">
            <a:extLst>
              <a:ext uri="{FF2B5EF4-FFF2-40B4-BE49-F238E27FC236}">
                <a16:creationId xmlns:a16="http://schemas.microsoft.com/office/drawing/2014/main" id="{D23E99DC-03B8-BF26-CF5D-B5F1DA8512B1}"/>
              </a:ext>
            </a:extLst>
          </p:cNvPr>
          <p:cNvSpPr>
            <a:spLocks noChangeArrowheads="1"/>
          </p:cNvSpPr>
          <p:nvPr/>
        </p:nvSpPr>
        <p:spPr bwMode="auto">
          <a:xfrm>
            <a:off x="2997200" y="4468813"/>
            <a:ext cx="1019175" cy="3238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54717" name="Text Box 29">
            <a:extLst>
              <a:ext uri="{FF2B5EF4-FFF2-40B4-BE49-F238E27FC236}">
                <a16:creationId xmlns:a16="http://schemas.microsoft.com/office/drawing/2014/main" id="{8DD758FA-B263-9A3F-9A36-89A137BC4D85}"/>
              </a:ext>
            </a:extLst>
          </p:cNvPr>
          <p:cNvSpPr txBox="1">
            <a:spLocks noChangeArrowheads="1"/>
          </p:cNvSpPr>
          <p:nvPr/>
        </p:nvSpPr>
        <p:spPr bwMode="auto">
          <a:xfrm>
            <a:off x="4519613" y="4300538"/>
            <a:ext cx="4735512" cy="6667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spcBef>
                <a:spcPct val="50000"/>
              </a:spcBef>
            </a:pPr>
            <a:r>
              <a:rPr lang="en-US" altLang="ja-JP" sz="1800" b="0" dirty="0">
                <a:latin typeface="+mj-lt"/>
                <a:ea typeface="ＭＳ ゴシック" panose="020B0609070205080204" pitchFamily="49" charset="-128"/>
              </a:rPr>
              <a:t>Sau </a:t>
            </a:r>
            <a:r>
              <a:rPr lang="en-US" altLang="ja-JP" sz="1800" b="0" dirty="0" err="1">
                <a:latin typeface="+mj-lt"/>
                <a:ea typeface="ＭＳ ゴシック" panose="020B0609070205080204" pitchFamily="49" charset="-128"/>
              </a:rPr>
              <a:t>khi</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tính</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toán</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bằng</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kiểu</a:t>
            </a:r>
            <a:r>
              <a:rPr lang="en-US" altLang="ja-JP" sz="1800" b="0" dirty="0">
                <a:latin typeface="+mj-lt"/>
                <a:ea typeface="ＭＳ ゴシック" panose="020B0609070205080204" pitchFamily="49" charset="-128"/>
              </a:rPr>
              <a:t> int </a:t>
            </a:r>
            <a:r>
              <a:rPr lang="en-US" altLang="ja-JP" sz="1800" b="0" dirty="0" err="1">
                <a:latin typeface="+mj-lt"/>
                <a:ea typeface="ＭＳ ゴシック" panose="020B0609070205080204" pitchFamily="49" charset="-128"/>
              </a:rPr>
              <a:t>thi</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gán</a:t>
            </a:r>
            <a:r>
              <a:rPr lang="en-US" altLang="ja-JP" sz="1800" b="0" dirty="0">
                <a:latin typeface="+mj-lt"/>
                <a:ea typeface="ＭＳ ゴシック" panose="020B0609070205080204" pitchFamily="49" charset="-128"/>
              </a:rPr>
              <a:t> sang </a:t>
            </a:r>
            <a:r>
              <a:rPr lang="en-US" altLang="ja-JP" sz="1800" b="0" dirty="0" err="1">
                <a:latin typeface="+mj-lt"/>
                <a:ea typeface="ＭＳ ゴシック" panose="020B0609070205080204" pitchFamily="49" charset="-128"/>
              </a:rPr>
              <a:t>kiểu</a:t>
            </a:r>
            <a:r>
              <a:rPr lang="en-US" altLang="ja-JP" sz="1800" b="0" dirty="0">
                <a:latin typeface="+mj-lt"/>
                <a:ea typeface="ＭＳ ゴシック" panose="020B0609070205080204" pitchFamily="49" charset="-128"/>
              </a:rPr>
              <a:t> double</a:t>
            </a:r>
            <a:endParaRPr lang="en-US" altLang="ja-JP" sz="1800" b="0" dirty="0">
              <a:latin typeface="+mj-lt"/>
            </a:endParaRPr>
          </a:p>
        </p:txBody>
      </p:sp>
      <p:cxnSp>
        <p:nvCxnSpPr>
          <p:cNvPr id="754718" name="AutoShape 30">
            <a:extLst>
              <a:ext uri="{FF2B5EF4-FFF2-40B4-BE49-F238E27FC236}">
                <a16:creationId xmlns:a16="http://schemas.microsoft.com/office/drawing/2014/main" id="{E005DAC4-62D4-2BEC-06FC-47C3167544E3}"/>
              </a:ext>
            </a:extLst>
          </p:cNvPr>
          <p:cNvCxnSpPr>
            <a:cxnSpLocks noChangeShapeType="1"/>
            <a:stCxn id="754716" idx="3"/>
            <a:endCxn id="754717" idx="1"/>
          </p:cNvCxnSpPr>
          <p:nvPr/>
        </p:nvCxnSpPr>
        <p:spPr bwMode="auto">
          <a:xfrm>
            <a:off x="4016375" y="4630738"/>
            <a:ext cx="503238" cy="3175"/>
          </a:xfrm>
          <a:prstGeom prst="straightConnector1">
            <a:avLst/>
          </a:prstGeom>
          <a:noFill/>
          <a:ln w="2540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4719" name="Rectangle 31">
            <a:extLst>
              <a:ext uri="{FF2B5EF4-FFF2-40B4-BE49-F238E27FC236}">
                <a16:creationId xmlns:a16="http://schemas.microsoft.com/office/drawing/2014/main" id="{0B83B58C-AD80-9884-E6CB-EF420C856F40}"/>
              </a:ext>
            </a:extLst>
          </p:cNvPr>
          <p:cNvSpPr>
            <a:spLocks noChangeArrowheads="1"/>
          </p:cNvSpPr>
          <p:nvPr/>
        </p:nvSpPr>
        <p:spPr bwMode="auto">
          <a:xfrm>
            <a:off x="3001963" y="5062538"/>
            <a:ext cx="1019175" cy="32385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54720" name="Text Box 32">
            <a:extLst>
              <a:ext uri="{FF2B5EF4-FFF2-40B4-BE49-F238E27FC236}">
                <a16:creationId xmlns:a16="http://schemas.microsoft.com/office/drawing/2014/main" id="{F7EC1925-9FE9-329B-6E0F-DF368B834010}"/>
              </a:ext>
            </a:extLst>
          </p:cNvPr>
          <p:cNvSpPr txBox="1">
            <a:spLocks noChangeArrowheads="1"/>
          </p:cNvSpPr>
          <p:nvPr/>
        </p:nvSpPr>
        <p:spPr bwMode="auto">
          <a:xfrm>
            <a:off x="4519613" y="5029200"/>
            <a:ext cx="4735512" cy="66675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dirty="0" err="1">
                <a:latin typeface="+mj-lt"/>
                <a:ea typeface="ＭＳ ゴシック" panose="020B0609070205080204" pitchFamily="49" charset="-128"/>
              </a:rPr>
              <a:t>Tính</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toán</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sau</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khi</a:t>
            </a:r>
            <a:r>
              <a:rPr lang="en-US" altLang="ja-JP" sz="1800" b="0" dirty="0">
                <a:latin typeface="+mj-lt"/>
                <a:ea typeface="ＭＳ ゴシック" panose="020B0609070205080204" pitchFamily="49" charset="-128"/>
              </a:rPr>
              <a:t> convert </a:t>
            </a:r>
            <a:r>
              <a:rPr lang="en-US" altLang="ja-JP" sz="1800" b="0" dirty="0" err="1">
                <a:latin typeface="+mj-lt"/>
                <a:ea typeface="ＭＳ ゴシック" panose="020B0609070205080204" pitchFamily="49" charset="-128"/>
              </a:rPr>
              <a:t>thành</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kiểu</a:t>
            </a:r>
            <a:r>
              <a:rPr lang="en-US" altLang="ja-JP" sz="1800" b="0" dirty="0">
                <a:latin typeface="+mj-lt"/>
                <a:ea typeface="ＭＳ ゴシック" panose="020B0609070205080204" pitchFamily="49" charset="-128"/>
              </a:rPr>
              <a:t> </a:t>
            </a:r>
            <a:r>
              <a:rPr lang="en-US" altLang="en-US" sz="1800" b="0" dirty="0">
                <a:latin typeface="+mj-lt"/>
                <a:ea typeface="ＭＳ ゴシック" panose="020B0609070205080204" pitchFamily="49" charset="-128"/>
              </a:rPr>
              <a:t>double</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rồi</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gán</a:t>
            </a:r>
            <a:r>
              <a:rPr lang="en-US" altLang="ja-JP" sz="1800" b="0" dirty="0">
                <a:latin typeface="+mj-lt"/>
                <a:ea typeface="ＭＳ ゴシック" panose="020B0609070205080204" pitchFamily="49" charset="-128"/>
              </a:rPr>
              <a:t> sang </a:t>
            </a:r>
            <a:r>
              <a:rPr lang="en-US" altLang="ja-JP" sz="1800" b="0" dirty="0" err="1">
                <a:latin typeface="+mj-lt"/>
                <a:ea typeface="ＭＳ ゴシック" panose="020B0609070205080204" pitchFamily="49" charset="-128"/>
              </a:rPr>
              <a:t>kiểu</a:t>
            </a:r>
            <a:r>
              <a:rPr lang="en-US" altLang="ja-JP" sz="1800" b="0" dirty="0">
                <a:latin typeface="+mj-lt"/>
                <a:ea typeface="ＭＳ ゴシック" panose="020B0609070205080204" pitchFamily="49" charset="-128"/>
              </a:rPr>
              <a:t> </a:t>
            </a:r>
            <a:r>
              <a:rPr lang="en-US" altLang="en-US" sz="1800" b="0" dirty="0">
                <a:latin typeface="+mj-lt"/>
                <a:ea typeface="ＭＳ ゴシック" panose="020B0609070205080204" pitchFamily="49" charset="-128"/>
              </a:rPr>
              <a:t>double</a:t>
            </a:r>
            <a:endParaRPr lang="en-US" altLang="ja-JP" sz="1800" b="0" dirty="0">
              <a:latin typeface="+mj-lt"/>
            </a:endParaRPr>
          </a:p>
        </p:txBody>
      </p:sp>
      <p:cxnSp>
        <p:nvCxnSpPr>
          <p:cNvPr id="754721" name="AutoShape 33">
            <a:extLst>
              <a:ext uri="{FF2B5EF4-FFF2-40B4-BE49-F238E27FC236}">
                <a16:creationId xmlns:a16="http://schemas.microsoft.com/office/drawing/2014/main" id="{C6236FC8-24CB-A8AC-65C7-6D4E9D821D52}"/>
              </a:ext>
            </a:extLst>
          </p:cNvPr>
          <p:cNvCxnSpPr>
            <a:cxnSpLocks noChangeShapeType="1"/>
            <a:stCxn id="754719" idx="3"/>
            <a:endCxn id="754720" idx="1"/>
          </p:cNvCxnSpPr>
          <p:nvPr/>
        </p:nvCxnSpPr>
        <p:spPr bwMode="auto">
          <a:xfrm>
            <a:off x="4033838" y="5224463"/>
            <a:ext cx="473075" cy="138112"/>
          </a:xfrm>
          <a:prstGeom prst="straightConnector1">
            <a:avLst/>
          </a:prstGeom>
          <a:noFill/>
          <a:ln w="25400">
            <a:solidFill>
              <a:srgbClr val="FF6600"/>
            </a:solidFill>
            <a:prstDash val="sysDot"/>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4722" name="AutoShape 34">
            <a:extLst>
              <a:ext uri="{FF2B5EF4-FFF2-40B4-BE49-F238E27FC236}">
                <a16:creationId xmlns:a16="http://schemas.microsoft.com/office/drawing/2014/main" id="{087FEFBE-79CA-A67A-3219-41BA96E1BB54}"/>
              </a:ext>
            </a:extLst>
          </p:cNvPr>
          <p:cNvSpPr>
            <a:spLocks noChangeArrowheads="1"/>
          </p:cNvSpPr>
          <p:nvPr/>
        </p:nvSpPr>
        <p:spPr bwMode="auto">
          <a:xfrm>
            <a:off x="1787525" y="4022725"/>
            <a:ext cx="708025" cy="319088"/>
          </a:xfrm>
          <a:prstGeom prst="wedgeRoundRectCallout">
            <a:avLst>
              <a:gd name="adj1" fmla="val 3588"/>
              <a:gd name="adj2" fmla="val 88310"/>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b="0">
                <a:latin typeface="MS UI Gothic" panose="020B0600070205080204" pitchFamily="50" charset="-128"/>
              </a:rPr>
              <a:t>2.0</a:t>
            </a:r>
          </a:p>
        </p:txBody>
      </p:sp>
      <p:sp>
        <p:nvSpPr>
          <p:cNvPr id="754724" name="AutoShape 36">
            <a:extLst>
              <a:ext uri="{FF2B5EF4-FFF2-40B4-BE49-F238E27FC236}">
                <a16:creationId xmlns:a16="http://schemas.microsoft.com/office/drawing/2014/main" id="{536ED84E-4F06-6CE6-CD58-E010E69F8445}"/>
              </a:ext>
            </a:extLst>
          </p:cNvPr>
          <p:cNvSpPr>
            <a:spLocks noChangeArrowheads="1"/>
          </p:cNvSpPr>
          <p:nvPr/>
        </p:nvSpPr>
        <p:spPr bwMode="auto">
          <a:xfrm>
            <a:off x="3141663" y="4008438"/>
            <a:ext cx="708025" cy="319087"/>
          </a:xfrm>
          <a:prstGeom prst="wedgeRoundRectCallout">
            <a:avLst>
              <a:gd name="adj1" fmla="val 3588"/>
              <a:gd name="adj2" fmla="val 88310"/>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b="0">
                <a:latin typeface="MS UI Gothic" panose="020B0600070205080204" pitchFamily="50" charset="-128"/>
              </a:rPr>
              <a:t>2</a:t>
            </a:r>
          </a:p>
        </p:txBody>
      </p:sp>
      <p:sp>
        <p:nvSpPr>
          <p:cNvPr id="754725" name="AutoShape 37">
            <a:extLst>
              <a:ext uri="{FF2B5EF4-FFF2-40B4-BE49-F238E27FC236}">
                <a16:creationId xmlns:a16="http://schemas.microsoft.com/office/drawing/2014/main" id="{211C0B09-8F3C-F695-239A-1264CCA94F18}"/>
              </a:ext>
            </a:extLst>
          </p:cNvPr>
          <p:cNvSpPr>
            <a:spLocks noChangeArrowheads="1"/>
          </p:cNvSpPr>
          <p:nvPr/>
        </p:nvSpPr>
        <p:spPr bwMode="auto">
          <a:xfrm>
            <a:off x="1768475" y="5553075"/>
            <a:ext cx="708025" cy="319088"/>
          </a:xfrm>
          <a:prstGeom prst="wedgeRoundRectCallout">
            <a:avLst>
              <a:gd name="adj1" fmla="val 3588"/>
              <a:gd name="adj2" fmla="val -94278"/>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b="0">
                <a:latin typeface="MS UI Gothic" panose="020B0600070205080204" pitchFamily="50" charset="-128"/>
              </a:rPr>
              <a:t>2.5</a:t>
            </a:r>
          </a:p>
        </p:txBody>
      </p:sp>
      <p:sp>
        <p:nvSpPr>
          <p:cNvPr id="754726" name="AutoShape 38">
            <a:extLst>
              <a:ext uri="{FF2B5EF4-FFF2-40B4-BE49-F238E27FC236}">
                <a16:creationId xmlns:a16="http://schemas.microsoft.com/office/drawing/2014/main" id="{C727F14B-F0D8-385E-FFE9-FEA8F16C6273}"/>
              </a:ext>
            </a:extLst>
          </p:cNvPr>
          <p:cNvSpPr>
            <a:spLocks noChangeArrowheads="1"/>
          </p:cNvSpPr>
          <p:nvPr/>
        </p:nvSpPr>
        <p:spPr bwMode="auto">
          <a:xfrm>
            <a:off x="3122613" y="5538788"/>
            <a:ext cx="708025" cy="319087"/>
          </a:xfrm>
          <a:prstGeom prst="wedgeRoundRectCallout">
            <a:avLst>
              <a:gd name="adj1" fmla="val 2241"/>
              <a:gd name="adj2" fmla="val -91792"/>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b="0">
                <a:latin typeface="MS UI Gothic" panose="020B0600070205080204" pitchFamily="50" charset="-128"/>
              </a:rPr>
              <a:t>2.5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51C0BB24-E47A-9A61-ED8C-6D45E41917ED}"/>
              </a:ext>
            </a:extLst>
          </p:cNvPr>
          <p:cNvSpPr>
            <a:spLocks noGrp="1"/>
          </p:cNvSpPr>
          <p:nvPr>
            <p:ph type="sldNum" sz="quarter" idx="10"/>
          </p:nvPr>
        </p:nvSpPr>
        <p:spPr/>
        <p:txBody>
          <a:bodyPr/>
          <a:lstStyle/>
          <a:p>
            <a:fld id="{E2E3E6F1-FB35-481C-833B-77A68494F4EA}" type="slidenum">
              <a:rPr lang="en-US" altLang="ja-JP"/>
              <a:pPr/>
              <a:t>6</a:t>
            </a:fld>
            <a:endParaRPr lang="en-US" altLang="ja-JP"/>
          </a:p>
        </p:txBody>
      </p:sp>
      <p:sp>
        <p:nvSpPr>
          <p:cNvPr id="750594" name="Rectangle 2">
            <a:extLst>
              <a:ext uri="{FF2B5EF4-FFF2-40B4-BE49-F238E27FC236}">
                <a16:creationId xmlns:a16="http://schemas.microsoft.com/office/drawing/2014/main" id="{1EBC22C8-C5E5-8481-8AE1-1ACD6967878A}"/>
              </a:ext>
            </a:extLst>
          </p:cNvPr>
          <p:cNvSpPr>
            <a:spLocks noGrp="1" noChangeArrowheads="1"/>
          </p:cNvSpPr>
          <p:nvPr>
            <p:ph type="title"/>
          </p:nvPr>
        </p:nvSpPr>
        <p:spPr>
          <a:xfrm>
            <a:off x="322262" y="319513"/>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Convert </a:t>
            </a:r>
            <a:r>
              <a:rPr lang="en-US" altLang="ja-JP" dirty="0" err="1">
                <a:latin typeface="Arial" panose="020B0604020202020204" pitchFamily="34" charset="0"/>
                <a:ea typeface="MS UI Gothic" panose="020B0600070205080204" pitchFamily="50" charset="-128"/>
              </a:rPr>
              <a:t>kiểu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tường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minh</a:t>
            </a:r>
            <a:r>
              <a:rPr lang="ja-JP" altLang="en-US" dirty="0">
                <a:latin typeface="Arial" panose="020B0604020202020204" pitchFamily="34" charset="0"/>
              </a:rPr>
              <a:t>（</a:t>
            </a:r>
            <a:r>
              <a:rPr lang="en-US" altLang="ja-JP" dirty="0">
                <a:latin typeface="Arial" panose="020B0604020202020204" pitchFamily="34" charset="0"/>
              </a:rPr>
              <a:t>Cast</a:t>
            </a:r>
            <a:r>
              <a:rPr lang="ja-JP" altLang="en-US" dirty="0">
                <a:latin typeface="Arial" panose="020B0604020202020204" pitchFamily="34" charset="0"/>
              </a:rPr>
              <a:t>）（</a:t>
            </a:r>
            <a:r>
              <a:rPr lang="en-US" altLang="ja-JP" dirty="0">
                <a:latin typeface="Arial" panose="020B0604020202020204" pitchFamily="34" charset="0"/>
              </a:rPr>
              <a:t>1</a:t>
            </a:r>
            <a:r>
              <a:rPr lang="ja-JP" altLang="en-US" dirty="0">
                <a:latin typeface="Arial" panose="020B0604020202020204" pitchFamily="34" charset="0"/>
              </a:rPr>
              <a:t>）</a:t>
            </a:r>
            <a:endParaRPr lang="ja-JP" altLang="en-US" dirty="0">
              <a:latin typeface="Arial" panose="020B0604020202020204" pitchFamily="34" charset="0"/>
              <a:ea typeface="MS UI Gothic" panose="020B0600070205080204" pitchFamily="50" charset="-128"/>
            </a:endParaRPr>
          </a:p>
        </p:txBody>
      </p:sp>
      <p:sp>
        <p:nvSpPr>
          <p:cNvPr id="750595" name="Rectangle 3">
            <a:extLst>
              <a:ext uri="{FF2B5EF4-FFF2-40B4-BE49-F238E27FC236}">
                <a16:creationId xmlns:a16="http://schemas.microsoft.com/office/drawing/2014/main" id="{CA858930-5DE0-AE74-A623-F15BBC8388D4}"/>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Convert kiểu tường minh</a:t>
            </a:r>
            <a:r>
              <a:rPr lang="ja-JP" altLang="en-US" sz="2400" b="0">
                <a:latin typeface="Arial" panose="020B0604020202020204" pitchFamily="34" charset="0"/>
              </a:rPr>
              <a:t>（</a:t>
            </a:r>
            <a:r>
              <a:rPr lang="en-US" altLang="ja-JP" sz="2400" b="0">
                <a:latin typeface="Arial" panose="020B0604020202020204" pitchFamily="34" charset="0"/>
              </a:rPr>
              <a:t>cast</a:t>
            </a:r>
            <a:r>
              <a:rPr lang="ja-JP" altLang="en-US" sz="2400" b="0">
                <a:latin typeface="Arial" panose="020B0604020202020204" pitchFamily="34" charset="0"/>
              </a:rPr>
              <a:t>）</a:t>
            </a:r>
            <a:r>
              <a:rPr lang="en-US" altLang="ja-JP" sz="2400" b="0">
                <a:latin typeface="Arial" panose="020B0604020202020204" pitchFamily="34" charset="0"/>
              </a:rPr>
              <a:t>là gì</a:t>
            </a:r>
          </a:p>
          <a:p>
            <a:endParaRPr lang="en-US" altLang="ja-JP" sz="2400" b="0">
              <a:latin typeface="Arial" panose="020B0604020202020204" pitchFamily="34" charset="0"/>
            </a:endParaRPr>
          </a:p>
          <a:p>
            <a:endParaRPr lang="en-US" altLang="ja-JP" sz="2400" b="0">
              <a:latin typeface="Arial" panose="020B0604020202020204" pitchFamily="34" charset="0"/>
            </a:endParaRPr>
          </a:p>
          <a:p>
            <a:pPr>
              <a:buFont typeface="Wingdings" panose="05000000000000000000" pitchFamily="2" charset="2"/>
              <a:buNone/>
            </a:pPr>
            <a:endParaRPr lang="en-US" altLang="ja-JP" sz="2000" b="0">
              <a:latin typeface="Arial" panose="020B0604020202020204" pitchFamily="34" charset="0"/>
            </a:endParaRPr>
          </a:p>
          <a:p>
            <a:pPr>
              <a:buFont typeface="Wingdings" panose="05000000000000000000" pitchFamily="2" charset="2"/>
              <a:buNone/>
            </a:pPr>
            <a:r>
              <a:rPr lang="en-US" altLang="ja-JP" sz="2000" b="0">
                <a:latin typeface="Arial" panose="020B0604020202020204" pitchFamily="34" charset="0"/>
              </a:rPr>
              <a:t>●Ví dụ convert kiểu tường minh</a:t>
            </a:r>
          </a:p>
        </p:txBody>
      </p:sp>
      <p:sp>
        <p:nvSpPr>
          <p:cNvPr id="750596" name="Rectangle 4">
            <a:extLst>
              <a:ext uri="{FF2B5EF4-FFF2-40B4-BE49-F238E27FC236}">
                <a16:creationId xmlns:a16="http://schemas.microsoft.com/office/drawing/2014/main" id="{769DF151-8F15-8EDE-5FFB-6DB986CF4950}"/>
              </a:ext>
            </a:extLst>
          </p:cNvPr>
          <p:cNvSpPr>
            <a:spLocks noChangeArrowheads="1"/>
          </p:cNvSpPr>
          <p:nvPr/>
        </p:nvSpPr>
        <p:spPr bwMode="auto">
          <a:xfrm>
            <a:off x="344488" y="1533525"/>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Convert cưỡng chế một kiểu data thành một kiểu data khác.</a:t>
            </a:r>
          </a:p>
        </p:txBody>
      </p:sp>
      <p:sp>
        <p:nvSpPr>
          <p:cNvPr id="750631" name="AutoShape 39">
            <a:extLst>
              <a:ext uri="{FF2B5EF4-FFF2-40B4-BE49-F238E27FC236}">
                <a16:creationId xmlns:a16="http://schemas.microsoft.com/office/drawing/2014/main" id="{CEBC0EDD-C4A0-7C79-E62B-3F34B92BC23B}"/>
              </a:ext>
            </a:extLst>
          </p:cNvPr>
          <p:cNvSpPr>
            <a:spLocks noChangeArrowheads="1"/>
          </p:cNvSpPr>
          <p:nvPr/>
        </p:nvSpPr>
        <p:spPr bwMode="auto">
          <a:xfrm>
            <a:off x="5740400" y="715963"/>
            <a:ext cx="3673475" cy="833437"/>
          </a:xfrm>
          <a:prstGeom prst="wedgeRoundRectCallout">
            <a:avLst>
              <a:gd name="adj1" fmla="val -54884"/>
              <a:gd name="adj2" fmla="val 54000"/>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28750"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600">
                <a:ea typeface="MS UI Gothic" panose="020B0600070205080204" pitchFamily="50" charset="-128"/>
              </a:rPr>
              <a:t>Sử dụng trong trường hợp không thể convert không tường minh.v.v…</a:t>
            </a:r>
          </a:p>
        </p:txBody>
      </p:sp>
      <p:sp>
        <p:nvSpPr>
          <p:cNvPr id="750598" name="Rectangle 6">
            <a:extLst>
              <a:ext uri="{FF2B5EF4-FFF2-40B4-BE49-F238E27FC236}">
                <a16:creationId xmlns:a16="http://schemas.microsoft.com/office/drawing/2014/main" id="{FDCB9031-8DD5-31A7-6451-51C5F4F6BF52}"/>
              </a:ext>
            </a:extLst>
          </p:cNvPr>
          <p:cNvSpPr>
            <a:spLocks noChangeArrowheads="1"/>
          </p:cNvSpPr>
          <p:nvPr/>
        </p:nvSpPr>
        <p:spPr bwMode="auto">
          <a:xfrm>
            <a:off x="342900" y="2843213"/>
            <a:ext cx="9117013" cy="316547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0599" name="Text Box 7">
            <a:extLst>
              <a:ext uri="{FF2B5EF4-FFF2-40B4-BE49-F238E27FC236}">
                <a16:creationId xmlns:a16="http://schemas.microsoft.com/office/drawing/2014/main" id="{6EC6575E-9FC1-043A-93E0-B80639B706D4}"/>
              </a:ext>
            </a:extLst>
          </p:cNvPr>
          <p:cNvSpPr txBox="1">
            <a:spLocks noChangeArrowheads="1"/>
          </p:cNvSpPr>
          <p:nvPr/>
        </p:nvSpPr>
        <p:spPr bwMode="auto">
          <a:xfrm>
            <a:off x="2114550" y="4214813"/>
            <a:ext cx="1397000"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ea typeface="ＭＳ ゴシック" panose="020B0609070205080204" pitchFamily="49" charset="-128"/>
              </a:rPr>
              <a:t>Kiểu double</a:t>
            </a:r>
            <a:endParaRPr lang="en-US" altLang="ja-JP" sz="1800" b="0"/>
          </a:p>
        </p:txBody>
      </p:sp>
      <p:sp>
        <p:nvSpPr>
          <p:cNvPr id="750600" name="Line 8">
            <a:extLst>
              <a:ext uri="{FF2B5EF4-FFF2-40B4-BE49-F238E27FC236}">
                <a16:creationId xmlns:a16="http://schemas.microsoft.com/office/drawing/2014/main" id="{AAA2700E-D393-7071-1736-12E35570AAE2}"/>
              </a:ext>
            </a:extLst>
          </p:cNvPr>
          <p:cNvSpPr>
            <a:spLocks noChangeShapeType="1"/>
          </p:cNvSpPr>
          <p:nvPr/>
        </p:nvSpPr>
        <p:spPr bwMode="auto">
          <a:xfrm>
            <a:off x="4630738" y="4616450"/>
            <a:ext cx="4762" cy="635000"/>
          </a:xfrm>
          <a:prstGeom prst="line">
            <a:avLst/>
          </a:prstGeom>
          <a:noFill/>
          <a:ln w="38100">
            <a:solidFill>
              <a:srgbClr val="0000FF"/>
            </a:solidFill>
            <a:round/>
            <a:headEnd/>
            <a:tailEnd type="triangle" w="lg" len="lg"/>
          </a:ln>
          <a:effectLst>
            <a:outerShdw dist="107763" dir="2700000" algn="ctr" rotWithShape="0">
              <a:schemeClr val="bg2">
                <a:alpha val="50000"/>
              </a:schemeClr>
            </a:outerShdw>
          </a:effectLst>
          <a:extLst>
            <a:ext uri="{909E8E84-426E-40DD-AFC4-6F175D3DCCD1}">
              <a14:hiddenFill xmlns:a14="http://schemas.microsoft.com/office/drawing/2010/main">
                <a:noFill/>
              </a14:hiddenFill>
            </a:ext>
          </a:extLst>
        </p:spPr>
        <p:txBody>
          <a:bodyPr wrap="none" anchor="ctr"/>
          <a:lstStyle/>
          <a:p>
            <a:endParaRPr lang="ja-JP" altLang="en-US"/>
          </a:p>
        </p:txBody>
      </p:sp>
      <p:sp>
        <p:nvSpPr>
          <p:cNvPr id="750601" name="Text Box 9">
            <a:extLst>
              <a:ext uri="{FF2B5EF4-FFF2-40B4-BE49-F238E27FC236}">
                <a16:creationId xmlns:a16="http://schemas.microsoft.com/office/drawing/2014/main" id="{0AA8EEC6-109D-ABFE-1943-62D2464391F6}"/>
              </a:ext>
            </a:extLst>
          </p:cNvPr>
          <p:cNvSpPr txBox="1">
            <a:spLocks noChangeArrowheads="1"/>
          </p:cNvSpPr>
          <p:nvPr/>
        </p:nvSpPr>
        <p:spPr bwMode="auto">
          <a:xfrm>
            <a:off x="3663950" y="4706938"/>
            <a:ext cx="1114425"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solidFill>
                  <a:srgbClr val="0000FF"/>
                </a:solidFill>
              </a:rPr>
              <a:t>Gán</a:t>
            </a:r>
          </a:p>
        </p:txBody>
      </p:sp>
      <p:grpSp>
        <p:nvGrpSpPr>
          <p:cNvPr id="750602" name="Group 10">
            <a:extLst>
              <a:ext uri="{FF2B5EF4-FFF2-40B4-BE49-F238E27FC236}">
                <a16:creationId xmlns:a16="http://schemas.microsoft.com/office/drawing/2014/main" id="{2274389C-5F68-5FBB-3226-2BC5F9796859}"/>
              </a:ext>
            </a:extLst>
          </p:cNvPr>
          <p:cNvGrpSpPr>
            <a:grpSpLocks/>
          </p:cNvGrpSpPr>
          <p:nvPr/>
        </p:nvGrpSpPr>
        <p:grpSpPr bwMode="auto">
          <a:xfrm>
            <a:off x="3482975" y="4303713"/>
            <a:ext cx="1873250" cy="254000"/>
            <a:chOff x="726" y="1904"/>
            <a:chExt cx="1180" cy="160"/>
          </a:xfrm>
        </p:grpSpPr>
        <p:sp>
          <p:nvSpPr>
            <p:cNvPr id="750603" name="Rectangle 11">
              <a:extLst>
                <a:ext uri="{FF2B5EF4-FFF2-40B4-BE49-F238E27FC236}">
                  <a16:creationId xmlns:a16="http://schemas.microsoft.com/office/drawing/2014/main" id="{59CB58C6-16D9-31DB-6774-7262B69D3B82}"/>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04" name="Rectangle 12">
              <a:extLst>
                <a:ext uri="{FF2B5EF4-FFF2-40B4-BE49-F238E27FC236}">
                  <a16:creationId xmlns:a16="http://schemas.microsoft.com/office/drawing/2014/main" id="{A3FC66A5-2059-FDE0-1422-0A64FF3549FC}"/>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05" name="Rectangle 13">
              <a:extLst>
                <a:ext uri="{FF2B5EF4-FFF2-40B4-BE49-F238E27FC236}">
                  <a16:creationId xmlns:a16="http://schemas.microsoft.com/office/drawing/2014/main" id="{E18F937A-DE2B-61EF-84A5-77CC8905D96B}"/>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06" name="Rectangle 14">
              <a:extLst>
                <a:ext uri="{FF2B5EF4-FFF2-40B4-BE49-F238E27FC236}">
                  <a16:creationId xmlns:a16="http://schemas.microsoft.com/office/drawing/2014/main" id="{42B8960E-48E0-116D-08E9-2C8FB623A331}"/>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grpSp>
        <p:nvGrpSpPr>
          <p:cNvPr id="750607" name="Group 15">
            <a:extLst>
              <a:ext uri="{FF2B5EF4-FFF2-40B4-BE49-F238E27FC236}">
                <a16:creationId xmlns:a16="http://schemas.microsoft.com/office/drawing/2014/main" id="{F030691A-6B31-D989-D0E2-D58FC0A43DB3}"/>
              </a:ext>
            </a:extLst>
          </p:cNvPr>
          <p:cNvGrpSpPr>
            <a:grpSpLocks/>
          </p:cNvGrpSpPr>
          <p:nvPr/>
        </p:nvGrpSpPr>
        <p:grpSpPr bwMode="auto">
          <a:xfrm>
            <a:off x="5346700" y="4303713"/>
            <a:ext cx="1873250" cy="254000"/>
            <a:chOff x="726" y="1904"/>
            <a:chExt cx="1180" cy="160"/>
          </a:xfrm>
        </p:grpSpPr>
        <p:sp>
          <p:nvSpPr>
            <p:cNvPr id="750608" name="Rectangle 16">
              <a:extLst>
                <a:ext uri="{FF2B5EF4-FFF2-40B4-BE49-F238E27FC236}">
                  <a16:creationId xmlns:a16="http://schemas.microsoft.com/office/drawing/2014/main" id="{88A8A256-2E56-A13A-0852-7A46FEC8BFC6}"/>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09" name="Rectangle 17">
              <a:extLst>
                <a:ext uri="{FF2B5EF4-FFF2-40B4-BE49-F238E27FC236}">
                  <a16:creationId xmlns:a16="http://schemas.microsoft.com/office/drawing/2014/main" id="{60FFDA27-3F11-073A-416F-7A56920FA723}"/>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10" name="Rectangle 18">
              <a:extLst>
                <a:ext uri="{FF2B5EF4-FFF2-40B4-BE49-F238E27FC236}">
                  <a16:creationId xmlns:a16="http://schemas.microsoft.com/office/drawing/2014/main" id="{E3CBEE77-ABBC-F362-427F-01EB305CD1DE}"/>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11" name="Rectangle 19">
              <a:extLst>
                <a:ext uri="{FF2B5EF4-FFF2-40B4-BE49-F238E27FC236}">
                  <a16:creationId xmlns:a16="http://schemas.microsoft.com/office/drawing/2014/main" id="{86CCB779-2B5A-E5B2-5574-F2C7DFE3F95A}"/>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sp>
        <p:nvSpPr>
          <p:cNvPr id="750612" name="AutoShape 20">
            <a:extLst>
              <a:ext uri="{FF2B5EF4-FFF2-40B4-BE49-F238E27FC236}">
                <a16:creationId xmlns:a16="http://schemas.microsoft.com/office/drawing/2014/main" id="{D88B49EA-5E0B-8F3C-A176-AA939B2EEC7B}"/>
              </a:ext>
            </a:extLst>
          </p:cNvPr>
          <p:cNvSpPr>
            <a:spLocks noChangeArrowheads="1"/>
          </p:cNvSpPr>
          <p:nvPr/>
        </p:nvSpPr>
        <p:spPr bwMode="auto">
          <a:xfrm>
            <a:off x="2659063" y="3859213"/>
            <a:ext cx="2154237" cy="312737"/>
          </a:xfrm>
          <a:prstGeom prst="wedgeRoundRectCallout">
            <a:avLst>
              <a:gd name="adj1" fmla="val -1292"/>
              <a:gd name="adj2" fmla="val 95685"/>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28750"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ＭＳ ゴシック" panose="020B0609070205080204" pitchFamily="49" charset="-128"/>
              </a:rPr>
              <a:t>Biến kiểu double</a:t>
            </a:r>
            <a:endParaRPr lang="en-US" altLang="ja-JP" sz="1800" b="0">
              <a:ea typeface="MS UI Gothic" panose="020B0600070205080204" pitchFamily="50" charset="-128"/>
            </a:endParaRPr>
          </a:p>
        </p:txBody>
      </p:sp>
      <p:sp>
        <p:nvSpPr>
          <p:cNvPr id="750613" name="Text Box 21">
            <a:extLst>
              <a:ext uri="{FF2B5EF4-FFF2-40B4-BE49-F238E27FC236}">
                <a16:creationId xmlns:a16="http://schemas.microsoft.com/office/drawing/2014/main" id="{0C4B1FDB-B61B-BFAE-7616-32D16B41E1D0}"/>
              </a:ext>
            </a:extLst>
          </p:cNvPr>
          <p:cNvSpPr txBox="1">
            <a:spLocks noChangeArrowheads="1"/>
          </p:cNvSpPr>
          <p:nvPr/>
        </p:nvSpPr>
        <p:spPr bwMode="auto">
          <a:xfrm>
            <a:off x="2546350" y="5262563"/>
            <a:ext cx="1200150"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ea typeface="ＭＳ ゴシック" panose="020B0609070205080204" pitchFamily="49" charset="-128"/>
              </a:rPr>
              <a:t>Kiểu int</a:t>
            </a:r>
            <a:endParaRPr lang="en-US" altLang="ja-JP" sz="1800" b="0"/>
          </a:p>
        </p:txBody>
      </p:sp>
      <p:grpSp>
        <p:nvGrpSpPr>
          <p:cNvPr id="750614" name="Group 22">
            <a:extLst>
              <a:ext uri="{FF2B5EF4-FFF2-40B4-BE49-F238E27FC236}">
                <a16:creationId xmlns:a16="http://schemas.microsoft.com/office/drawing/2014/main" id="{EB8DF109-23E2-57B9-BE36-85EC453D7DB1}"/>
              </a:ext>
            </a:extLst>
          </p:cNvPr>
          <p:cNvGrpSpPr>
            <a:grpSpLocks/>
          </p:cNvGrpSpPr>
          <p:nvPr/>
        </p:nvGrpSpPr>
        <p:grpSpPr bwMode="auto">
          <a:xfrm>
            <a:off x="3489325" y="5338763"/>
            <a:ext cx="1873250" cy="254000"/>
            <a:chOff x="726" y="1904"/>
            <a:chExt cx="1180" cy="160"/>
          </a:xfrm>
        </p:grpSpPr>
        <p:sp>
          <p:nvSpPr>
            <p:cNvPr id="750615" name="Rectangle 23">
              <a:extLst>
                <a:ext uri="{FF2B5EF4-FFF2-40B4-BE49-F238E27FC236}">
                  <a16:creationId xmlns:a16="http://schemas.microsoft.com/office/drawing/2014/main" id="{66965ECD-8E84-BC40-F9F1-3A55A7FF12D2}"/>
                </a:ext>
              </a:extLst>
            </p:cNvPr>
            <p:cNvSpPr>
              <a:spLocks noChangeArrowheads="1"/>
            </p:cNvSpPr>
            <p:nvPr/>
          </p:nvSpPr>
          <p:spPr bwMode="auto">
            <a:xfrm>
              <a:off x="72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16" name="Rectangle 24">
              <a:extLst>
                <a:ext uri="{FF2B5EF4-FFF2-40B4-BE49-F238E27FC236}">
                  <a16:creationId xmlns:a16="http://schemas.microsoft.com/office/drawing/2014/main" id="{E6D7AD93-1AF0-4CF9-EA13-8C8CA7912626}"/>
                </a:ext>
              </a:extLst>
            </p:cNvPr>
            <p:cNvSpPr>
              <a:spLocks noChangeArrowheads="1"/>
            </p:cNvSpPr>
            <p:nvPr/>
          </p:nvSpPr>
          <p:spPr bwMode="auto">
            <a:xfrm>
              <a:off x="1020"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17" name="Rectangle 25">
              <a:extLst>
                <a:ext uri="{FF2B5EF4-FFF2-40B4-BE49-F238E27FC236}">
                  <a16:creationId xmlns:a16="http://schemas.microsoft.com/office/drawing/2014/main" id="{14056DCF-615A-E1AF-2A08-5A5247CE2E87}"/>
                </a:ext>
              </a:extLst>
            </p:cNvPr>
            <p:cNvSpPr>
              <a:spLocks noChangeArrowheads="1"/>
            </p:cNvSpPr>
            <p:nvPr/>
          </p:nvSpPr>
          <p:spPr bwMode="auto">
            <a:xfrm>
              <a:off x="1316"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sp>
          <p:nvSpPr>
            <p:cNvPr id="750618" name="Rectangle 26">
              <a:extLst>
                <a:ext uri="{FF2B5EF4-FFF2-40B4-BE49-F238E27FC236}">
                  <a16:creationId xmlns:a16="http://schemas.microsoft.com/office/drawing/2014/main" id="{92879EC1-5E22-8418-1EEE-D66F9789142C}"/>
                </a:ext>
              </a:extLst>
            </p:cNvPr>
            <p:cNvSpPr>
              <a:spLocks noChangeArrowheads="1"/>
            </p:cNvSpPr>
            <p:nvPr/>
          </p:nvSpPr>
          <p:spPr bwMode="auto">
            <a:xfrm>
              <a:off x="1608" y="1904"/>
              <a:ext cx="298" cy="160"/>
            </a:xfrm>
            <a:prstGeom prst="rect">
              <a:avLst/>
            </a:prstGeom>
            <a:solidFill>
              <a:srgbClr val="FFFF99"/>
            </a:solidFill>
            <a:ln w="9525" algn="ctr">
              <a:solidFill>
                <a:schemeClr val="tx1"/>
              </a:solidFill>
              <a:miter lim="800000"/>
              <a:headEnd/>
              <a:tailEnd/>
            </a:ln>
            <a:effectLst>
              <a:outerShdw dist="35921" dir="2700000" algn="ctr" rotWithShape="0">
                <a:schemeClr val="bg2"/>
              </a:outerShdw>
            </a:effectLst>
          </p:spPr>
          <p:txBody>
            <a:bodyPr wrap="none" anchor="ctr"/>
            <a:lstStyle/>
            <a:p>
              <a:endParaRPr lang="ja-JP" altLang="en-US"/>
            </a:p>
          </p:txBody>
        </p:sp>
      </p:grpSp>
      <p:sp>
        <p:nvSpPr>
          <p:cNvPr id="750619" name="Text Box 27">
            <a:extLst>
              <a:ext uri="{FF2B5EF4-FFF2-40B4-BE49-F238E27FC236}">
                <a16:creationId xmlns:a16="http://schemas.microsoft.com/office/drawing/2014/main" id="{5AE81B92-DB99-6BBB-0C02-3DE5DA8AD76F}"/>
              </a:ext>
            </a:extLst>
          </p:cNvPr>
          <p:cNvSpPr txBox="1">
            <a:spLocks noChangeArrowheads="1"/>
          </p:cNvSpPr>
          <p:nvPr/>
        </p:nvSpPr>
        <p:spPr bwMode="auto">
          <a:xfrm>
            <a:off x="7200900" y="4214813"/>
            <a:ext cx="1200150"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t>(8 byte)</a:t>
            </a:r>
          </a:p>
        </p:txBody>
      </p:sp>
      <p:sp>
        <p:nvSpPr>
          <p:cNvPr id="750620" name="Text Box 28">
            <a:extLst>
              <a:ext uri="{FF2B5EF4-FFF2-40B4-BE49-F238E27FC236}">
                <a16:creationId xmlns:a16="http://schemas.microsoft.com/office/drawing/2014/main" id="{923AE45E-DCA7-1BA5-1018-7188D0CFA340}"/>
              </a:ext>
            </a:extLst>
          </p:cNvPr>
          <p:cNvSpPr txBox="1">
            <a:spLocks noChangeArrowheads="1"/>
          </p:cNvSpPr>
          <p:nvPr/>
        </p:nvSpPr>
        <p:spPr bwMode="auto">
          <a:xfrm>
            <a:off x="5359400" y="5262563"/>
            <a:ext cx="1200150"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t>(4 byte)</a:t>
            </a:r>
          </a:p>
        </p:txBody>
      </p:sp>
      <p:sp>
        <p:nvSpPr>
          <p:cNvPr id="750621" name="Oval 29">
            <a:extLst>
              <a:ext uri="{FF2B5EF4-FFF2-40B4-BE49-F238E27FC236}">
                <a16:creationId xmlns:a16="http://schemas.microsoft.com/office/drawing/2014/main" id="{C15F2A44-D8C5-D050-AA69-4E5168044A7B}"/>
              </a:ext>
            </a:extLst>
          </p:cNvPr>
          <p:cNvSpPr>
            <a:spLocks noChangeArrowheads="1"/>
          </p:cNvSpPr>
          <p:nvPr/>
        </p:nvSpPr>
        <p:spPr bwMode="auto">
          <a:xfrm>
            <a:off x="4930775" y="4713288"/>
            <a:ext cx="438150" cy="447675"/>
          </a:xfrm>
          <a:prstGeom prst="ellipse">
            <a:avLst/>
          </a:prstGeom>
          <a:noFill/>
          <a:ln w="31750" algn="ctr">
            <a:solidFill>
              <a:srgbClr val="FF0000"/>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0625" name="Rectangle 33">
            <a:extLst>
              <a:ext uri="{FF2B5EF4-FFF2-40B4-BE49-F238E27FC236}">
                <a16:creationId xmlns:a16="http://schemas.microsoft.com/office/drawing/2014/main" id="{626BBCF7-2FC2-0D74-268B-2F1871C4405B}"/>
              </a:ext>
            </a:extLst>
          </p:cNvPr>
          <p:cNvSpPr>
            <a:spLocks noChangeArrowheads="1"/>
          </p:cNvSpPr>
          <p:nvPr/>
        </p:nvSpPr>
        <p:spPr bwMode="auto">
          <a:xfrm>
            <a:off x="528638" y="3571875"/>
            <a:ext cx="1519237" cy="358775"/>
          </a:xfrm>
          <a:prstGeom prst="rect">
            <a:avLst/>
          </a:prstGeom>
          <a:noFill/>
          <a:ln w="317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a:t>Toán tử cast</a:t>
            </a:r>
          </a:p>
        </p:txBody>
      </p:sp>
      <p:sp>
        <p:nvSpPr>
          <p:cNvPr id="750630" name="AutoShape 38">
            <a:extLst>
              <a:ext uri="{FF2B5EF4-FFF2-40B4-BE49-F238E27FC236}">
                <a16:creationId xmlns:a16="http://schemas.microsoft.com/office/drawing/2014/main" id="{E90617E5-0E54-AA98-F031-03B15F2EDF82}"/>
              </a:ext>
            </a:extLst>
          </p:cNvPr>
          <p:cNvSpPr>
            <a:spLocks noChangeArrowheads="1"/>
          </p:cNvSpPr>
          <p:nvPr/>
        </p:nvSpPr>
        <p:spPr bwMode="auto">
          <a:xfrm>
            <a:off x="6434138" y="4729163"/>
            <a:ext cx="2735262" cy="693737"/>
          </a:xfrm>
          <a:prstGeom prst="wedgeRoundRectCallout">
            <a:avLst>
              <a:gd name="adj1" fmla="val -77972"/>
              <a:gd name="adj2" fmla="val -16593"/>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28750"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MS UI Gothic" panose="020B0600070205080204" pitchFamily="50" charset="-128"/>
              </a:rPr>
              <a:t>Cần phải chú ý vì giá trị có thể bị mất nên</a:t>
            </a:r>
          </a:p>
        </p:txBody>
      </p:sp>
      <p:sp>
        <p:nvSpPr>
          <p:cNvPr id="750633" name="AutoShape 41">
            <a:extLst>
              <a:ext uri="{FF2B5EF4-FFF2-40B4-BE49-F238E27FC236}">
                <a16:creationId xmlns:a16="http://schemas.microsoft.com/office/drawing/2014/main" id="{97601D5C-65B0-391C-1C7F-54589D4D7CAE}"/>
              </a:ext>
            </a:extLst>
          </p:cNvPr>
          <p:cNvSpPr>
            <a:spLocks noChangeArrowheads="1"/>
          </p:cNvSpPr>
          <p:nvPr/>
        </p:nvSpPr>
        <p:spPr bwMode="auto">
          <a:xfrm>
            <a:off x="477838" y="3059113"/>
            <a:ext cx="5165725" cy="384175"/>
          </a:xfrm>
          <a:prstGeom prst="roundRect">
            <a:avLst>
              <a:gd name="adj" fmla="val 16667"/>
            </a:avLst>
          </a:prstGeom>
          <a:solidFill>
            <a:srgbClr val="FFFF99">
              <a:alpha val="50000"/>
            </a:srgbClr>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a:ea typeface="ＭＳ ゴシック" panose="020B0609070205080204" pitchFamily="49" charset="-128"/>
              </a:rPr>
              <a:t>Tên biến kiểu int</a:t>
            </a:r>
            <a:r>
              <a:rPr lang="en-US" altLang="ja-JP" sz="1800"/>
              <a:t> =  Tên biến kiểu </a:t>
            </a:r>
            <a:r>
              <a:rPr lang="en-US" altLang="ja-JP" sz="1800">
                <a:ea typeface="ＭＳ ゴシック" panose="020B0609070205080204" pitchFamily="49" charset="-128"/>
              </a:rPr>
              <a:t>(int) double</a:t>
            </a:r>
            <a:r>
              <a:rPr lang="en-US" altLang="ja-JP" sz="1800"/>
              <a:t>;</a:t>
            </a:r>
          </a:p>
        </p:txBody>
      </p:sp>
      <p:sp>
        <p:nvSpPr>
          <p:cNvPr id="750623" name="Rectangle 31">
            <a:extLst>
              <a:ext uri="{FF2B5EF4-FFF2-40B4-BE49-F238E27FC236}">
                <a16:creationId xmlns:a16="http://schemas.microsoft.com/office/drawing/2014/main" id="{2AC07FF7-CDD5-8D72-BA28-30FF03B28E5B}"/>
              </a:ext>
            </a:extLst>
          </p:cNvPr>
          <p:cNvSpPr>
            <a:spLocks noChangeArrowheads="1"/>
          </p:cNvSpPr>
          <p:nvPr/>
        </p:nvSpPr>
        <p:spPr bwMode="auto">
          <a:xfrm>
            <a:off x="4084638" y="3070225"/>
            <a:ext cx="692150" cy="336550"/>
          </a:xfrm>
          <a:prstGeom prst="rect">
            <a:avLst/>
          </a:prstGeom>
          <a:noFill/>
          <a:ln w="317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750634" name="AutoShape 42">
            <a:extLst>
              <a:ext uri="{FF2B5EF4-FFF2-40B4-BE49-F238E27FC236}">
                <a16:creationId xmlns:a16="http://schemas.microsoft.com/office/drawing/2014/main" id="{D588406D-8E6D-4F98-3925-37BA5440B5F0}"/>
              </a:ext>
            </a:extLst>
          </p:cNvPr>
          <p:cNvCxnSpPr>
            <a:cxnSpLocks noChangeShapeType="1"/>
            <a:stCxn id="750625" idx="3"/>
            <a:endCxn id="750623" idx="2"/>
          </p:cNvCxnSpPr>
          <p:nvPr/>
        </p:nvCxnSpPr>
        <p:spPr bwMode="auto">
          <a:xfrm flipV="1">
            <a:off x="2063750" y="3422650"/>
            <a:ext cx="2366963" cy="328613"/>
          </a:xfrm>
          <a:prstGeom prst="bentConnector2">
            <a:avLst/>
          </a:prstGeom>
          <a:noFill/>
          <a:ln w="3175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D9BBD1C1-328F-0598-FFC6-DD9A6C73801D}"/>
              </a:ext>
            </a:extLst>
          </p:cNvPr>
          <p:cNvSpPr>
            <a:spLocks noGrp="1"/>
          </p:cNvSpPr>
          <p:nvPr>
            <p:ph type="sldNum" sz="quarter" idx="10"/>
          </p:nvPr>
        </p:nvSpPr>
        <p:spPr/>
        <p:txBody>
          <a:bodyPr/>
          <a:lstStyle/>
          <a:p>
            <a:fld id="{EEAE1E31-F555-41AF-A82F-525F13C43018}" type="slidenum">
              <a:rPr lang="en-US" altLang="ja-JP"/>
              <a:pPr/>
              <a:t>7</a:t>
            </a:fld>
            <a:endParaRPr lang="en-US" altLang="ja-JP"/>
          </a:p>
        </p:txBody>
      </p:sp>
      <p:sp>
        <p:nvSpPr>
          <p:cNvPr id="758787" name="Rectangle 3">
            <a:extLst>
              <a:ext uri="{FF2B5EF4-FFF2-40B4-BE49-F238E27FC236}">
                <a16:creationId xmlns:a16="http://schemas.microsoft.com/office/drawing/2014/main" id="{C7D4E7AE-5E91-A511-EC93-C70281A95E31}"/>
              </a:ext>
            </a:extLst>
          </p:cNvPr>
          <p:cNvSpPr>
            <a:spLocks noGrp="1" noChangeArrowheads="1"/>
          </p:cNvSpPr>
          <p:nvPr>
            <p:ph type="title"/>
          </p:nvPr>
        </p:nvSpPr>
        <p:spPr>
          <a:xfrm>
            <a:off x="344488" y="337343"/>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Convert </a:t>
            </a:r>
            <a:r>
              <a:rPr lang="en-US" altLang="ja-JP" dirty="0" err="1">
                <a:latin typeface="Arial" panose="020B0604020202020204" pitchFamily="34" charset="0"/>
                <a:ea typeface="MS UI Gothic" panose="020B0600070205080204" pitchFamily="50" charset="-128"/>
              </a:rPr>
              <a:t>kiểu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tường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minh</a:t>
            </a:r>
            <a:r>
              <a:rPr lang="ja-JP" altLang="en-US" dirty="0">
                <a:latin typeface="Arial" panose="020B0604020202020204" pitchFamily="34" charset="0"/>
              </a:rPr>
              <a:t>（</a:t>
            </a:r>
            <a:r>
              <a:rPr lang="en-US" altLang="ja-JP" dirty="0">
                <a:latin typeface="Arial" panose="020B0604020202020204" pitchFamily="34" charset="0"/>
              </a:rPr>
              <a:t>Cast</a:t>
            </a:r>
            <a:r>
              <a:rPr lang="ja-JP" altLang="en-US" dirty="0">
                <a:latin typeface="Arial" panose="020B0604020202020204" pitchFamily="34" charset="0"/>
              </a:rPr>
              <a:t>）（</a:t>
            </a:r>
            <a:r>
              <a:rPr lang="en-US" altLang="ja-JP" dirty="0">
                <a:latin typeface="Arial" panose="020B0604020202020204" pitchFamily="34" charset="0"/>
              </a:rPr>
              <a:t>2</a:t>
            </a:r>
            <a:r>
              <a:rPr lang="ja-JP" altLang="en-US" dirty="0">
                <a:latin typeface="Arial" panose="020B0604020202020204" pitchFamily="34" charset="0"/>
              </a:rPr>
              <a:t>）</a:t>
            </a:r>
          </a:p>
        </p:txBody>
      </p:sp>
      <p:sp>
        <p:nvSpPr>
          <p:cNvPr id="758788" name="Rectangle 4">
            <a:extLst>
              <a:ext uri="{FF2B5EF4-FFF2-40B4-BE49-F238E27FC236}">
                <a16:creationId xmlns:a16="http://schemas.microsoft.com/office/drawing/2014/main" id="{04B66131-B180-B2E1-BBB1-BD10C03C3B04}"/>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58789" name="Rectangle 5">
            <a:extLst>
              <a:ext uri="{FF2B5EF4-FFF2-40B4-BE49-F238E27FC236}">
                <a16:creationId xmlns:a16="http://schemas.microsoft.com/office/drawing/2014/main" id="{5FD5B467-936D-2D6C-8BBD-BE5029AE3167}"/>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Convert kiểu tường minh</a:t>
            </a:r>
            <a:r>
              <a:rPr lang="ja-JP" altLang="en-US" sz="2400" b="0">
                <a:latin typeface="Arial" panose="020B0604020202020204" pitchFamily="34" charset="0"/>
              </a:rPr>
              <a:t>（</a:t>
            </a:r>
            <a:r>
              <a:rPr lang="en-US" altLang="ja-JP" sz="2400" b="0">
                <a:latin typeface="Arial" panose="020B0604020202020204" pitchFamily="34" charset="0"/>
              </a:rPr>
              <a:t>cast</a:t>
            </a:r>
            <a:r>
              <a:rPr lang="ja-JP" altLang="en-US" sz="2400" b="0">
                <a:latin typeface="Arial" panose="020B0604020202020204" pitchFamily="34" charset="0"/>
              </a:rPr>
              <a:t>）</a:t>
            </a:r>
          </a:p>
          <a:p>
            <a:pPr>
              <a:spcBef>
                <a:spcPct val="50000"/>
              </a:spcBef>
              <a:buFont typeface="Wingdings" panose="05000000000000000000" pitchFamily="2" charset="2"/>
              <a:buNone/>
            </a:pPr>
            <a:r>
              <a:rPr lang="ja-JP" altLang="en-US" sz="2000" b="0">
                <a:latin typeface="Arial" panose="020B0604020202020204" pitchFamily="34" charset="0"/>
              </a:rPr>
              <a:t>●</a:t>
            </a:r>
            <a:r>
              <a:rPr lang="en-US" altLang="ja-JP" sz="2000" b="0">
                <a:latin typeface="Arial" panose="020B0604020202020204" pitchFamily="34" charset="0"/>
              </a:rPr>
              <a:t>Cú pháp cơ bản</a:t>
            </a:r>
          </a:p>
          <a:p>
            <a:pPr>
              <a:spcBef>
                <a:spcPct val="50000"/>
              </a:spcBef>
              <a:buFont typeface="Wingdings" panose="05000000000000000000" pitchFamily="2" charset="2"/>
              <a:buNone/>
            </a:pP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758791" name="Rectangle 7">
            <a:extLst>
              <a:ext uri="{FF2B5EF4-FFF2-40B4-BE49-F238E27FC236}">
                <a16:creationId xmlns:a16="http://schemas.microsoft.com/office/drawing/2014/main" id="{F3450DEA-79B8-8754-C8B3-874D74CF8BDD}"/>
              </a:ext>
            </a:extLst>
          </p:cNvPr>
          <p:cNvSpPr>
            <a:spLocks noChangeArrowheads="1"/>
          </p:cNvSpPr>
          <p:nvPr/>
        </p:nvSpPr>
        <p:spPr bwMode="auto">
          <a:xfrm>
            <a:off x="344488" y="24749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758793" name="Text Box 9">
            <a:extLst>
              <a:ext uri="{FF2B5EF4-FFF2-40B4-BE49-F238E27FC236}">
                <a16:creationId xmlns:a16="http://schemas.microsoft.com/office/drawing/2014/main" id="{EA572364-1574-B230-8B24-437DE939297A}"/>
              </a:ext>
            </a:extLst>
          </p:cNvPr>
          <p:cNvSpPr txBox="1">
            <a:spLocks noChangeArrowheads="1"/>
          </p:cNvSpPr>
          <p:nvPr/>
        </p:nvSpPr>
        <p:spPr bwMode="auto">
          <a:xfrm>
            <a:off x="344488" y="1787525"/>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2000">
                <a:ea typeface="MS UI Gothic" panose="020B0600070205080204" pitchFamily="50" charset="-128"/>
              </a:rPr>
              <a:t>　</a:t>
            </a:r>
            <a:r>
              <a:rPr lang="en-US" altLang="ja-JP" sz="2000">
                <a:ea typeface="ＭＳ ゴシック" panose="020B0609070205080204" pitchFamily="49" charset="-128"/>
              </a:rPr>
              <a:t>(Kiểu data mới)giá trị hoặc biểu thức</a:t>
            </a:r>
            <a:endParaRPr lang="en-US" altLang="ja-JP" sz="2000">
              <a:ea typeface="MS UI Gothic" panose="020B0600070205080204" pitchFamily="50" charset="-128"/>
            </a:endParaRPr>
          </a:p>
        </p:txBody>
      </p:sp>
      <p:sp>
        <p:nvSpPr>
          <p:cNvPr id="758794" name="AutoShape 10">
            <a:extLst>
              <a:ext uri="{FF2B5EF4-FFF2-40B4-BE49-F238E27FC236}">
                <a16:creationId xmlns:a16="http://schemas.microsoft.com/office/drawing/2014/main" id="{5AB6DEA7-6ACE-DD19-13FC-176FFCC30EA6}"/>
              </a:ext>
            </a:extLst>
          </p:cNvPr>
          <p:cNvSpPr>
            <a:spLocks noChangeArrowheads="1"/>
          </p:cNvSpPr>
          <p:nvPr/>
        </p:nvSpPr>
        <p:spPr bwMode="auto">
          <a:xfrm>
            <a:off x="4256088" y="1374775"/>
            <a:ext cx="2127250" cy="388938"/>
          </a:xfrm>
          <a:prstGeom prst="wedgeRoundRectCallout">
            <a:avLst>
              <a:gd name="adj1" fmla="val -184856"/>
              <a:gd name="adj2" fmla="val 60611"/>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Toán</a:t>
            </a:r>
            <a:r>
              <a:rPr lang="en-US" altLang="ja-JP" sz="1800" dirty="0">
                <a:latin typeface="+mj-lt"/>
              </a:rPr>
              <a:t> </a:t>
            </a:r>
            <a:r>
              <a:rPr lang="en-US" altLang="ja-JP" sz="1800" dirty="0" err="1">
                <a:latin typeface="+mj-lt"/>
              </a:rPr>
              <a:t>tư</a:t>
            </a:r>
            <a:r>
              <a:rPr lang="en-US" altLang="ja-JP" sz="1800" dirty="0">
                <a:latin typeface="+mj-lt"/>
              </a:rPr>
              <a:t>̉ cast</a:t>
            </a:r>
          </a:p>
        </p:txBody>
      </p:sp>
      <p:sp>
        <p:nvSpPr>
          <p:cNvPr id="758792" name="Rectangle 8">
            <a:extLst>
              <a:ext uri="{FF2B5EF4-FFF2-40B4-BE49-F238E27FC236}">
                <a16:creationId xmlns:a16="http://schemas.microsoft.com/office/drawing/2014/main" id="{EC80651D-B516-A40F-7E11-6E6BA5FC58ED}"/>
              </a:ext>
            </a:extLst>
          </p:cNvPr>
          <p:cNvSpPr>
            <a:spLocks noChangeArrowheads="1"/>
          </p:cNvSpPr>
          <p:nvPr/>
        </p:nvSpPr>
        <p:spPr bwMode="auto">
          <a:xfrm>
            <a:off x="290513" y="2921000"/>
            <a:ext cx="9120187" cy="29559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double valDouble = 1.6;</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int valInt1 =  (int) valDouble ;</a:t>
            </a:r>
          </a:p>
          <a:p>
            <a:pPr lvl="1"/>
            <a:r>
              <a:rPr lang="en-US" altLang="ja-JP" sz="1800" b="0">
                <a:latin typeface="ＭＳ ゴシック" panose="020B0609070205080204" pitchFamily="49" charset="-128"/>
                <a:ea typeface="ＭＳ ゴシック" panose="020B0609070205080204" pitchFamily="49" charset="-128"/>
              </a:rPr>
              <a:t> </a:t>
            </a:r>
          </a:p>
          <a:p>
            <a:pPr lvl="1"/>
            <a:r>
              <a:rPr lang="en-US" altLang="ja-JP" sz="1800" b="0">
                <a:latin typeface="ＭＳ ゴシック" panose="020B0609070205080204" pitchFamily="49" charset="-128"/>
                <a:ea typeface="ＭＳ ゴシック" panose="020B0609070205080204" pitchFamily="49" charset="-128"/>
              </a:rPr>
              <a:t>int valInt2 =  (int) (2 * 1.6) ;</a:t>
            </a:r>
          </a:p>
        </p:txBody>
      </p:sp>
      <p:sp>
        <p:nvSpPr>
          <p:cNvPr id="758795" name="Rectangle 11">
            <a:extLst>
              <a:ext uri="{FF2B5EF4-FFF2-40B4-BE49-F238E27FC236}">
                <a16:creationId xmlns:a16="http://schemas.microsoft.com/office/drawing/2014/main" id="{930AAFB1-31C8-9908-EEFC-AF29B0CBB7E7}"/>
              </a:ext>
            </a:extLst>
          </p:cNvPr>
          <p:cNvSpPr>
            <a:spLocks noChangeArrowheads="1"/>
          </p:cNvSpPr>
          <p:nvPr/>
        </p:nvSpPr>
        <p:spPr bwMode="auto">
          <a:xfrm>
            <a:off x="2220913" y="3875088"/>
            <a:ext cx="641350" cy="3238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58796" name="Text Box 12">
            <a:extLst>
              <a:ext uri="{FF2B5EF4-FFF2-40B4-BE49-F238E27FC236}">
                <a16:creationId xmlns:a16="http://schemas.microsoft.com/office/drawing/2014/main" id="{1934EA53-5E50-19F8-C257-72033F501660}"/>
              </a:ext>
            </a:extLst>
          </p:cNvPr>
          <p:cNvSpPr txBox="1">
            <a:spLocks noChangeArrowheads="1"/>
          </p:cNvSpPr>
          <p:nvPr/>
        </p:nvSpPr>
        <p:spPr bwMode="auto">
          <a:xfrm>
            <a:off x="3990975" y="3425825"/>
            <a:ext cx="5372100" cy="338554"/>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600" b="0" dirty="0">
                <a:latin typeface="+mj-lt"/>
              </a:rPr>
              <a:t>Cast 1.6 </a:t>
            </a:r>
            <a:r>
              <a:rPr lang="en-US" altLang="ja-JP" sz="1600" b="0" dirty="0" err="1">
                <a:latin typeface="+mj-lt"/>
              </a:rPr>
              <a:t>thành</a:t>
            </a:r>
            <a:r>
              <a:rPr lang="en-US" altLang="ja-JP" sz="1600" b="0" dirty="0">
                <a:latin typeface="+mj-lt"/>
              </a:rPr>
              <a:t> </a:t>
            </a:r>
            <a:r>
              <a:rPr lang="en-US" altLang="ja-JP" sz="1600" b="0" dirty="0" err="1">
                <a:latin typeface="+mj-lt"/>
              </a:rPr>
              <a:t>kiểu</a:t>
            </a:r>
            <a:r>
              <a:rPr lang="en-US" altLang="ja-JP" sz="1600" b="0" dirty="0">
                <a:latin typeface="+mj-lt"/>
              </a:rPr>
              <a:t> </a:t>
            </a:r>
            <a:r>
              <a:rPr lang="en-US" altLang="ja-JP" sz="1600" b="0" dirty="0">
                <a:latin typeface="+mj-lt"/>
                <a:ea typeface="ＭＳ ゴシック" panose="020B0609070205080204" pitchFamily="49" charset="-128"/>
              </a:rPr>
              <a:t>int</a:t>
            </a:r>
            <a:r>
              <a:rPr lang="en-US" altLang="ja-JP" sz="1600" b="0" dirty="0">
                <a:latin typeface="+mj-lt"/>
              </a:rPr>
              <a:t>	</a:t>
            </a:r>
            <a:r>
              <a:rPr lang="en-US" altLang="ja-JP" sz="1600" b="0" dirty="0" err="1">
                <a:latin typeface="+mj-lt"/>
              </a:rPr>
              <a:t>Phần</a:t>
            </a:r>
            <a:r>
              <a:rPr lang="en-US" altLang="ja-JP" sz="1600" b="0" dirty="0">
                <a:latin typeface="+mj-lt"/>
              </a:rPr>
              <a:t> </a:t>
            </a:r>
            <a:r>
              <a:rPr lang="en-US" altLang="ja-JP" sz="1600" b="0" dirty="0" err="1">
                <a:latin typeface="+mj-lt"/>
              </a:rPr>
              <a:t>sau</a:t>
            </a:r>
            <a:r>
              <a:rPr lang="en-US" altLang="ja-JP" sz="1600" b="0" dirty="0">
                <a:latin typeface="+mj-lt"/>
              </a:rPr>
              <a:t> </a:t>
            </a:r>
            <a:r>
              <a:rPr lang="en-US" altLang="ja-JP" sz="1600" b="0" dirty="0" err="1">
                <a:latin typeface="+mj-lt"/>
              </a:rPr>
              <a:t>dấu</a:t>
            </a:r>
            <a:r>
              <a:rPr lang="en-US" altLang="ja-JP" sz="1600" b="0" dirty="0">
                <a:latin typeface="+mj-lt"/>
              </a:rPr>
              <a:t> </a:t>
            </a:r>
            <a:r>
              <a:rPr lang="en-US" altLang="ja-JP" sz="1600" b="0" dirty="0" err="1">
                <a:latin typeface="+mj-lt"/>
              </a:rPr>
              <a:t>phẩy</a:t>
            </a:r>
            <a:r>
              <a:rPr lang="en-US" altLang="ja-JP" sz="1600" b="0" dirty="0">
                <a:latin typeface="+mj-lt"/>
              </a:rPr>
              <a:t> bị </a:t>
            </a:r>
            <a:r>
              <a:rPr lang="en-US" altLang="ja-JP" sz="1600" b="0" dirty="0" err="1">
                <a:latin typeface="+mj-lt"/>
              </a:rPr>
              <a:t>cắt</a:t>
            </a:r>
            <a:endParaRPr lang="en-US" altLang="ja-JP" sz="1600" b="0" dirty="0">
              <a:latin typeface="+mj-lt"/>
            </a:endParaRPr>
          </a:p>
        </p:txBody>
      </p:sp>
      <p:cxnSp>
        <p:nvCxnSpPr>
          <p:cNvPr id="758797" name="AutoShape 13">
            <a:extLst>
              <a:ext uri="{FF2B5EF4-FFF2-40B4-BE49-F238E27FC236}">
                <a16:creationId xmlns:a16="http://schemas.microsoft.com/office/drawing/2014/main" id="{1ECF9831-44A0-F24C-4EBC-2F9C03ABCB93}"/>
              </a:ext>
            </a:extLst>
          </p:cNvPr>
          <p:cNvCxnSpPr>
            <a:cxnSpLocks noChangeShapeType="1"/>
            <a:stCxn id="758795" idx="0"/>
            <a:endCxn id="758796" idx="1"/>
          </p:cNvCxnSpPr>
          <p:nvPr/>
        </p:nvCxnSpPr>
        <p:spPr bwMode="auto">
          <a:xfrm rot="5400000" flipH="1" flipV="1">
            <a:off x="3126288" y="3010402"/>
            <a:ext cx="279986" cy="1449387"/>
          </a:xfrm>
          <a:prstGeom prst="bentConnector2">
            <a:avLst/>
          </a:prstGeom>
          <a:noFill/>
          <a:ln w="254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8798" name="Rectangle 14">
            <a:extLst>
              <a:ext uri="{FF2B5EF4-FFF2-40B4-BE49-F238E27FC236}">
                <a16:creationId xmlns:a16="http://schemas.microsoft.com/office/drawing/2014/main" id="{979E62C6-1018-C887-7BBF-6B2E327B96E0}"/>
              </a:ext>
            </a:extLst>
          </p:cNvPr>
          <p:cNvSpPr>
            <a:spLocks noChangeArrowheads="1"/>
          </p:cNvSpPr>
          <p:nvPr/>
        </p:nvSpPr>
        <p:spPr bwMode="auto">
          <a:xfrm>
            <a:off x="2184400" y="4433888"/>
            <a:ext cx="679450" cy="32385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58799" name="Text Box 15">
            <a:extLst>
              <a:ext uri="{FF2B5EF4-FFF2-40B4-BE49-F238E27FC236}">
                <a16:creationId xmlns:a16="http://schemas.microsoft.com/office/drawing/2014/main" id="{5E8B6CE9-D122-284E-50AB-F8AB3627BFAA}"/>
              </a:ext>
            </a:extLst>
          </p:cNvPr>
          <p:cNvSpPr txBox="1">
            <a:spLocks noChangeArrowheads="1"/>
          </p:cNvSpPr>
          <p:nvPr/>
        </p:nvSpPr>
        <p:spPr bwMode="auto">
          <a:xfrm>
            <a:off x="3990975" y="4992688"/>
            <a:ext cx="5138738" cy="66675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dirty="0">
                <a:latin typeface="+mj-lt"/>
              </a:rPr>
              <a:t>Sau </a:t>
            </a:r>
            <a:r>
              <a:rPr lang="en-US" altLang="ja-JP" sz="1800" b="0" dirty="0" err="1">
                <a:latin typeface="+mj-lt"/>
              </a:rPr>
              <a:t>khi</a:t>
            </a:r>
            <a:r>
              <a:rPr lang="en-US" altLang="ja-JP" sz="1800" b="0" dirty="0">
                <a:latin typeface="+mj-lt"/>
              </a:rPr>
              <a:t> </a:t>
            </a:r>
            <a:r>
              <a:rPr lang="en-US" altLang="ja-JP" sz="1800" b="0" dirty="0" err="1">
                <a:latin typeface="+mj-lt"/>
              </a:rPr>
              <a:t>thực</a:t>
            </a:r>
            <a:r>
              <a:rPr lang="en-US" altLang="ja-JP" sz="1800" b="0" dirty="0">
                <a:latin typeface="+mj-lt"/>
              </a:rPr>
              <a:t> </a:t>
            </a:r>
            <a:r>
              <a:rPr lang="en-US" altLang="ja-JP" sz="1800" b="0" dirty="0" err="1">
                <a:latin typeface="+mj-lt"/>
              </a:rPr>
              <a:t>hiện</a:t>
            </a:r>
            <a:r>
              <a:rPr lang="en-US" altLang="ja-JP" sz="1800" b="0" dirty="0">
                <a:latin typeface="+mj-lt"/>
              </a:rPr>
              <a:t> </a:t>
            </a:r>
            <a:r>
              <a:rPr lang="en-US" altLang="ja-JP" sz="1800" b="0" dirty="0" err="1">
                <a:latin typeface="+mj-lt"/>
              </a:rPr>
              <a:t>phép</a:t>
            </a:r>
            <a:r>
              <a:rPr lang="en-US" altLang="ja-JP" sz="1800" b="0" dirty="0">
                <a:latin typeface="+mj-lt"/>
              </a:rPr>
              <a:t> </a:t>
            </a:r>
            <a:r>
              <a:rPr lang="en-US" altLang="ja-JP" sz="1800" b="0" dirty="0" err="1">
                <a:latin typeface="+mj-lt"/>
              </a:rPr>
              <a:t>nhân</a:t>
            </a:r>
            <a:r>
              <a:rPr lang="en-US" altLang="ja-JP" sz="1800" b="0" dirty="0">
                <a:latin typeface="+mj-lt"/>
              </a:rPr>
              <a:t> </a:t>
            </a:r>
            <a:r>
              <a:rPr lang="en-US" altLang="ja-JP" sz="1800" b="0" dirty="0" err="1">
                <a:latin typeface="+mj-lt"/>
              </a:rPr>
              <a:t>thi</a:t>
            </a:r>
            <a:r>
              <a:rPr lang="en-US" altLang="ja-JP" sz="1800" b="0" dirty="0">
                <a:latin typeface="+mj-lt"/>
              </a:rPr>
              <a:t>̀ cast </a:t>
            </a:r>
            <a:r>
              <a:rPr lang="en-US" altLang="ja-JP" sz="1800" b="0" dirty="0" err="1">
                <a:latin typeface="+mj-lt"/>
              </a:rPr>
              <a:t>thành</a:t>
            </a:r>
            <a:r>
              <a:rPr lang="en-US" altLang="ja-JP" sz="1800" b="0" dirty="0">
                <a:latin typeface="+mj-lt"/>
              </a:rPr>
              <a:t> </a:t>
            </a:r>
            <a:r>
              <a:rPr lang="en-US" altLang="ja-JP" sz="1800" b="0" dirty="0" err="1">
                <a:latin typeface="+mj-lt"/>
              </a:rPr>
              <a:t>kiểu</a:t>
            </a:r>
            <a:r>
              <a:rPr lang="en-US" altLang="ja-JP" sz="1800" b="0" dirty="0">
                <a:latin typeface="+mj-lt"/>
              </a:rPr>
              <a:t> </a:t>
            </a:r>
            <a:r>
              <a:rPr lang="en-US" altLang="ja-JP" sz="1800" b="0" dirty="0">
                <a:latin typeface="+mj-lt"/>
                <a:ea typeface="ＭＳ ゴシック" panose="020B0609070205080204" pitchFamily="49" charset="-128"/>
              </a:rPr>
              <a:t>int</a:t>
            </a:r>
            <a:r>
              <a:rPr lang="en-US" altLang="ja-JP" sz="1800" b="0" dirty="0">
                <a:latin typeface="+mj-lt"/>
              </a:rPr>
              <a:t>	</a:t>
            </a:r>
            <a:r>
              <a:rPr lang="en-US" altLang="ja-JP" sz="1800" b="0" dirty="0" err="1">
                <a:latin typeface="+mj-lt"/>
              </a:rPr>
              <a:t>Phần</a:t>
            </a:r>
            <a:r>
              <a:rPr lang="en-US" altLang="ja-JP" sz="1800" b="0" dirty="0">
                <a:latin typeface="+mj-lt"/>
              </a:rPr>
              <a:t> </a:t>
            </a:r>
            <a:r>
              <a:rPr lang="en-US" altLang="ja-JP" sz="1800" b="0" dirty="0" err="1">
                <a:latin typeface="+mj-lt"/>
              </a:rPr>
              <a:t>sau</a:t>
            </a:r>
            <a:r>
              <a:rPr lang="en-US" altLang="ja-JP" sz="1800" b="0" dirty="0">
                <a:latin typeface="+mj-lt"/>
              </a:rPr>
              <a:t> </a:t>
            </a:r>
            <a:r>
              <a:rPr lang="en-US" altLang="ja-JP" sz="1800" b="0" dirty="0" err="1">
                <a:latin typeface="+mj-lt"/>
              </a:rPr>
              <a:t>dấu</a:t>
            </a:r>
            <a:r>
              <a:rPr lang="en-US" altLang="ja-JP" sz="1800" b="0" dirty="0">
                <a:latin typeface="+mj-lt"/>
              </a:rPr>
              <a:t> </a:t>
            </a:r>
            <a:r>
              <a:rPr lang="en-US" altLang="ja-JP" sz="1800" b="0" dirty="0" err="1">
                <a:latin typeface="+mj-lt"/>
              </a:rPr>
              <a:t>phẩy</a:t>
            </a:r>
            <a:r>
              <a:rPr lang="en-US" altLang="ja-JP" sz="1800" b="0" dirty="0">
                <a:latin typeface="+mj-lt"/>
              </a:rPr>
              <a:t> bị </a:t>
            </a:r>
            <a:r>
              <a:rPr lang="en-US" altLang="ja-JP" sz="1800" b="0" dirty="0" err="1">
                <a:latin typeface="+mj-lt"/>
              </a:rPr>
              <a:t>cắt</a:t>
            </a:r>
            <a:endParaRPr lang="en-US" altLang="ja-JP" sz="1800" b="0" dirty="0">
              <a:latin typeface="+mj-lt"/>
            </a:endParaRPr>
          </a:p>
        </p:txBody>
      </p:sp>
      <p:cxnSp>
        <p:nvCxnSpPr>
          <p:cNvPr id="758800" name="AutoShape 16">
            <a:extLst>
              <a:ext uri="{FF2B5EF4-FFF2-40B4-BE49-F238E27FC236}">
                <a16:creationId xmlns:a16="http://schemas.microsoft.com/office/drawing/2014/main" id="{DC45DA62-9055-7B13-C9CD-3C0A94A5D877}"/>
              </a:ext>
            </a:extLst>
          </p:cNvPr>
          <p:cNvCxnSpPr>
            <a:cxnSpLocks noChangeShapeType="1"/>
            <a:stCxn id="758798" idx="2"/>
            <a:endCxn id="758799" idx="1"/>
          </p:cNvCxnSpPr>
          <p:nvPr/>
        </p:nvCxnSpPr>
        <p:spPr bwMode="auto">
          <a:xfrm rot="16200000" flipH="1">
            <a:off x="3041650" y="4252913"/>
            <a:ext cx="419100" cy="1454150"/>
          </a:xfrm>
          <a:prstGeom prst="bentConnector2">
            <a:avLst/>
          </a:prstGeom>
          <a:noFill/>
          <a:ln w="25400">
            <a:solidFill>
              <a:srgbClr val="FF6600"/>
            </a:solidFill>
            <a:prstDash val="sysDot"/>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8801" name="AutoShape 17">
            <a:extLst>
              <a:ext uri="{FF2B5EF4-FFF2-40B4-BE49-F238E27FC236}">
                <a16:creationId xmlns:a16="http://schemas.microsoft.com/office/drawing/2014/main" id="{A731EB04-F5BF-730D-8EDF-B1D4AFD1B34A}"/>
              </a:ext>
            </a:extLst>
          </p:cNvPr>
          <p:cNvSpPr>
            <a:spLocks noChangeArrowheads="1"/>
          </p:cNvSpPr>
          <p:nvPr/>
        </p:nvSpPr>
        <p:spPr bwMode="auto">
          <a:xfrm>
            <a:off x="6383338" y="3524250"/>
            <a:ext cx="374650" cy="196850"/>
          </a:xfrm>
          <a:prstGeom prst="rightArrow">
            <a:avLst>
              <a:gd name="adj1" fmla="val 50000"/>
              <a:gd name="adj2" fmla="val 47581"/>
            </a:avLst>
          </a:prstGeom>
          <a:solidFill>
            <a:srgbClr val="00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8802" name="AutoShape 18">
            <a:extLst>
              <a:ext uri="{FF2B5EF4-FFF2-40B4-BE49-F238E27FC236}">
                <a16:creationId xmlns:a16="http://schemas.microsoft.com/office/drawing/2014/main" id="{8044606E-B61B-BA9A-9F79-11BC358424B3}"/>
              </a:ext>
            </a:extLst>
          </p:cNvPr>
          <p:cNvSpPr>
            <a:spLocks noChangeArrowheads="1"/>
          </p:cNvSpPr>
          <p:nvPr/>
        </p:nvSpPr>
        <p:spPr bwMode="auto">
          <a:xfrm>
            <a:off x="5246688" y="5365750"/>
            <a:ext cx="374650" cy="179388"/>
          </a:xfrm>
          <a:prstGeom prst="rightArrow">
            <a:avLst>
              <a:gd name="adj1" fmla="val 50000"/>
              <a:gd name="adj2" fmla="val 52212"/>
            </a:avLst>
          </a:prstGeom>
          <a:solidFill>
            <a:srgbClr val="00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8804" name="Rectangle 20">
            <a:extLst>
              <a:ext uri="{FF2B5EF4-FFF2-40B4-BE49-F238E27FC236}">
                <a16:creationId xmlns:a16="http://schemas.microsoft.com/office/drawing/2014/main" id="{32F3029C-EC7F-DF69-99E4-0C40C8667270}"/>
              </a:ext>
            </a:extLst>
          </p:cNvPr>
          <p:cNvSpPr>
            <a:spLocks noChangeArrowheads="1"/>
          </p:cNvSpPr>
          <p:nvPr/>
        </p:nvSpPr>
        <p:spPr bwMode="auto">
          <a:xfrm>
            <a:off x="692150" y="1831975"/>
            <a:ext cx="1849438" cy="336550"/>
          </a:xfrm>
          <a:prstGeom prst="rect">
            <a:avLst/>
          </a:prstGeom>
          <a:noFill/>
          <a:ln w="317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8805" name="Rectangle 21">
            <a:extLst>
              <a:ext uri="{FF2B5EF4-FFF2-40B4-BE49-F238E27FC236}">
                <a16:creationId xmlns:a16="http://schemas.microsoft.com/office/drawing/2014/main" id="{CCD2CCB6-22F4-0A34-C56B-DC2CA2BF7643}"/>
              </a:ext>
            </a:extLst>
          </p:cNvPr>
          <p:cNvSpPr>
            <a:spLocks noChangeArrowheads="1"/>
          </p:cNvSpPr>
          <p:nvPr/>
        </p:nvSpPr>
        <p:spPr bwMode="auto">
          <a:xfrm>
            <a:off x="344488" y="5927725"/>
            <a:ext cx="8899525" cy="542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1800" b="0" dirty="0">
                <a:latin typeface="+mj-lt"/>
              </a:rPr>
              <a:t>※ Giá trị </a:t>
            </a:r>
            <a:r>
              <a:rPr lang="en-US" altLang="ja-JP" sz="1800" b="0" dirty="0" err="1">
                <a:latin typeface="+mj-lt"/>
              </a:rPr>
              <a:t>của</a:t>
            </a:r>
            <a:r>
              <a:rPr lang="en-US" altLang="ja-JP" sz="1800" b="0" dirty="0">
                <a:latin typeface="+mj-lt"/>
              </a:rPr>
              <a:t> </a:t>
            </a:r>
            <a:r>
              <a:rPr lang="en-US" altLang="ja-JP" sz="1800" b="0" dirty="0" err="1">
                <a:latin typeface="+mj-lt"/>
              </a:rPr>
              <a:t>valInt</a:t>
            </a:r>
            <a:r>
              <a:rPr lang="en-US" altLang="ja-JP" sz="1800" b="0" dirty="0">
                <a:latin typeface="+mj-lt"/>
              </a:rPr>
              <a:t> </a:t>
            </a:r>
            <a:r>
              <a:rPr lang="en-US" altLang="ja-JP" sz="1800" b="0" dirty="0" err="1">
                <a:latin typeface="+mj-lt"/>
              </a:rPr>
              <a:t>thành</a:t>
            </a:r>
            <a:r>
              <a:rPr lang="en-US" altLang="ja-JP" sz="1800" b="0" dirty="0">
                <a:latin typeface="+mj-lt"/>
              </a:rPr>
              <a:t> </a:t>
            </a:r>
            <a:r>
              <a:rPr lang="ja-JP" altLang="en-US" sz="1800" b="0" dirty="0">
                <a:latin typeface="+mj-lt"/>
              </a:rPr>
              <a:t>「</a:t>
            </a:r>
            <a:r>
              <a:rPr lang="en-US" altLang="ja-JP" sz="1800" b="0" dirty="0">
                <a:latin typeface="+mj-lt"/>
              </a:rPr>
              <a:t>1</a:t>
            </a:r>
            <a:r>
              <a:rPr lang="ja-JP" altLang="en-US" sz="1800" b="0" dirty="0">
                <a:latin typeface="+mj-lt"/>
              </a:rPr>
              <a:t>」 </a:t>
            </a:r>
            <a:r>
              <a:rPr lang="en-US" altLang="ja-JP" sz="1800" b="0" dirty="0" err="1">
                <a:latin typeface="+mj-lt"/>
              </a:rPr>
              <a:t>va</a:t>
            </a:r>
            <a:r>
              <a:rPr lang="en-US" altLang="ja-JP" sz="1800" b="0" dirty="0">
                <a:latin typeface="+mj-lt"/>
              </a:rPr>
              <a:t>̀ </a:t>
            </a:r>
            <a:r>
              <a:rPr lang="en-US" altLang="ja-JP" sz="1800" b="0" dirty="0" err="1">
                <a:latin typeface="+mj-lt"/>
              </a:rPr>
              <a:t>gia</a:t>
            </a:r>
            <a:r>
              <a:rPr lang="en-US" altLang="ja-JP" sz="1800" b="0" dirty="0">
                <a:latin typeface="+mj-lt"/>
              </a:rPr>
              <a:t>́ trị </a:t>
            </a:r>
            <a:r>
              <a:rPr lang="en-US" altLang="ja-JP" sz="1800" b="0" dirty="0" err="1">
                <a:latin typeface="+mj-lt"/>
              </a:rPr>
              <a:t>của</a:t>
            </a:r>
            <a:r>
              <a:rPr lang="en-US" altLang="ja-JP" sz="1800" b="0" dirty="0">
                <a:latin typeface="+mj-lt"/>
              </a:rPr>
              <a:t> vaiInt2 </a:t>
            </a:r>
            <a:r>
              <a:rPr lang="en-US" altLang="ja-JP" sz="1800" b="0" dirty="0" err="1">
                <a:latin typeface="+mj-lt"/>
              </a:rPr>
              <a:t>thành</a:t>
            </a:r>
            <a:r>
              <a:rPr lang="en-US" altLang="ja-JP" sz="1800" b="0" dirty="0">
                <a:latin typeface="+mj-lt"/>
              </a:rPr>
              <a:t> </a:t>
            </a:r>
            <a:r>
              <a:rPr lang="ja-JP" altLang="en-US" sz="1800" b="0" dirty="0">
                <a:latin typeface="+mj-lt"/>
              </a:rPr>
              <a:t>「</a:t>
            </a:r>
            <a:r>
              <a:rPr lang="en-US" altLang="ja-JP" sz="1800" b="0" dirty="0">
                <a:latin typeface="+mj-lt"/>
              </a:rPr>
              <a:t>3</a:t>
            </a:r>
            <a:r>
              <a:rPr lang="ja-JP" altLang="en-US" sz="1800" b="0" dirty="0">
                <a:latin typeface="+mj-lt"/>
              </a:rPr>
              <a:t>」</a:t>
            </a:r>
            <a:r>
              <a:rPr lang="en-US" altLang="ja-JP" sz="1800" b="0" dirty="0">
                <a:latin typeface="+mj-lt"/>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017419BA-EB32-16E1-D943-C88145274A47}"/>
              </a:ext>
            </a:extLst>
          </p:cNvPr>
          <p:cNvSpPr>
            <a:spLocks noGrp="1"/>
          </p:cNvSpPr>
          <p:nvPr>
            <p:ph type="sldNum" sz="quarter" idx="10"/>
          </p:nvPr>
        </p:nvSpPr>
        <p:spPr/>
        <p:txBody>
          <a:bodyPr/>
          <a:lstStyle/>
          <a:p>
            <a:fld id="{AE63D9E0-CA0E-4D0D-B49C-9A4D9A25768D}" type="slidenum">
              <a:rPr lang="en-US" altLang="ja-JP"/>
              <a:pPr/>
              <a:t>8</a:t>
            </a:fld>
            <a:endParaRPr lang="en-US" altLang="ja-JP"/>
          </a:p>
        </p:txBody>
      </p:sp>
      <p:sp>
        <p:nvSpPr>
          <p:cNvPr id="742402" name="Rectangle 2">
            <a:extLst>
              <a:ext uri="{FF2B5EF4-FFF2-40B4-BE49-F238E27FC236}">
                <a16:creationId xmlns:a16="http://schemas.microsoft.com/office/drawing/2014/main" id="{70C5B5B0-73BA-CA89-17ED-B3BD268EAF5F}"/>
              </a:ext>
            </a:extLst>
          </p:cNvPr>
          <p:cNvSpPr>
            <a:spLocks noGrp="1" noChangeArrowheads="1"/>
          </p:cNvSpPr>
          <p:nvPr>
            <p:ph type="title"/>
          </p:nvPr>
        </p:nvSpPr>
        <p:spPr>
          <a:xfrm>
            <a:off x="333847" y="373857"/>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Convert </a:t>
            </a:r>
            <a:r>
              <a:rPr lang="en-US" altLang="ja-JP" dirty="0" err="1">
                <a:latin typeface="Arial" panose="020B0604020202020204" pitchFamily="34" charset="0"/>
                <a:ea typeface="MS UI Gothic" panose="020B0600070205080204" pitchFamily="50" charset="-128"/>
              </a:rPr>
              <a:t>tư</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chuỗi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ky</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thành</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gia</a:t>
            </a:r>
            <a:r>
              <a:rPr lang="en-US" altLang="ja-JP" dirty="0">
                <a:latin typeface="Arial" panose="020B0604020202020204" pitchFamily="34" charset="0"/>
                <a:ea typeface="MS UI Gothic" panose="020B0600070205080204" pitchFamily="50" charset="-128"/>
              </a:rPr>
              <a:t>́ trị </a:t>
            </a:r>
            <a:r>
              <a:rPr lang="en-US" altLang="ja-JP" dirty="0" err="1">
                <a:latin typeface="Arial" panose="020B0604020202020204" pitchFamily="34" charset="0"/>
                <a:ea typeface="MS UI Gothic" panose="020B0600070205080204" pitchFamily="50" charset="-128"/>
              </a:rPr>
              <a:t>sô</a:t>
            </a:r>
            <a:r>
              <a:rPr lang="en-US" altLang="ja-JP" dirty="0">
                <a:latin typeface="Arial" panose="020B0604020202020204" pitchFamily="34" charset="0"/>
                <a:ea typeface="MS UI Gothic" panose="020B0600070205080204" pitchFamily="50" charset="-128"/>
              </a:rPr>
              <a:t>́</a:t>
            </a:r>
            <a:r>
              <a:rPr lang="ja-JP" altLang="en-US" dirty="0">
                <a:latin typeface="Arial" panose="020B0604020202020204" pitchFamily="34" charset="0"/>
              </a:rPr>
              <a:t>（</a:t>
            </a:r>
            <a:r>
              <a:rPr lang="en-US" altLang="ja-JP" dirty="0">
                <a:latin typeface="Arial" panose="020B0604020202020204" pitchFamily="34" charset="0"/>
              </a:rPr>
              <a:t>1</a:t>
            </a:r>
            <a:r>
              <a:rPr lang="ja-JP" altLang="en-US" dirty="0">
                <a:latin typeface="Arial" panose="020B0604020202020204" pitchFamily="34" charset="0"/>
              </a:rPr>
              <a:t>）</a:t>
            </a:r>
          </a:p>
        </p:txBody>
      </p:sp>
      <p:sp>
        <p:nvSpPr>
          <p:cNvPr id="742403" name="Rectangle 3">
            <a:extLst>
              <a:ext uri="{FF2B5EF4-FFF2-40B4-BE49-F238E27FC236}">
                <a16:creationId xmlns:a16="http://schemas.microsoft.com/office/drawing/2014/main" id="{B6B85239-70BD-52CF-F6C1-7ED58DF7A310}"/>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Convert từ chuỗi ký tự thành giá trị số</a:t>
            </a:r>
          </a:p>
          <a:p>
            <a:endParaRPr lang="en-US" altLang="ja-JP" sz="2400" b="0">
              <a:latin typeface="Arial" panose="020B0604020202020204" pitchFamily="34" charset="0"/>
            </a:endParaRPr>
          </a:p>
          <a:p>
            <a:endParaRPr lang="en-US" altLang="ja-JP" sz="2400" b="0">
              <a:latin typeface="Arial" panose="020B0604020202020204" pitchFamily="34" charset="0"/>
            </a:endParaRPr>
          </a:p>
          <a:p>
            <a:pPr>
              <a:buFont typeface="Wingdings" panose="05000000000000000000" pitchFamily="2" charset="2"/>
              <a:buNone/>
            </a:pPr>
            <a:endParaRPr lang="en-US" altLang="ja-JP" sz="2000" b="0">
              <a:latin typeface="Arial" panose="020B0604020202020204" pitchFamily="34" charset="0"/>
            </a:endParaRPr>
          </a:p>
          <a:p>
            <a:pPr>
              <a:buFont typeface="Wingdings" panose="05000000000000000000" pitchFamily="2" charset="2"/>
              <a:buNone/>
            </a:pPr>
            <a:r>
              <a:rPr lang="en-US" altLang="ja-JP" sz="2000" b="0">
                <a:latin typeface="Arial" panose="020B0604020202020204" pitchFamily="34" charset="0"/>
              </a:rPr>
              <a:t>●Ví dụ convert từ chuỗi ký tự thành giá trị số</a:t>
            </a:r>
          </a:p>
        </p:txBody>
      </p:sp>
      <p:sp>
        <p:nvSpPr>
          <p:cNvPr id="742423" name="Rectangle 23">
            <a:extLst>
              <a:ext uri="{FF2B5EF4-FFF2-40B4-BE49-F238E27FC236}">
                <a16:creationId xmlns:a16="http://schemas.microsoft.com/office/drawing/2014/main" id="{D34917C7-FE63-4B17-35EA-AFFB2A0D50B2}"/>
              </a:ext>
            </a:extLst>
          </p:cNvPr>
          <p:cNvSpPr>
            <a:spLocks noChangeArrowheads="1"/>
          </p:cNvSpPr>
          <p:nvPr/>
        </p:nvSpPr>
        <p:spPr bwMode="auto">
          <a:xfrm>
            <a:off x="344488" y="1314450"/>
            <a:ext cx="9120187" cy="9556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Sử dụng </a:t>
            </a:r>
            <a:r>
              <a:rPr lang="en-US" altLang="ja-JP" sz="2000">
                <a:latin typeface="Arial" panose="020B0604020202020204" pitchFamily="34" charset="0"/>
                <a:ea typeface="ＭＳ ゴシック" panose="020B0609070205080204" pitchFamily="49" charset="-128"/>
              </a:rPr>
              <a:t>parse</a:t>
            </a:r>
            <a:r>
              <a:rPr lang="en-US" altLang="ja-JP" sz="2000" i="1">
                <a:latin typeface="Arial" panose="020B0604020202020204" pitchFamily="34" charset="0"/>
                <a:ea typeface="ＭＳ ゴシック" panose="020B0609070205080204" pitchFamily="49" charset="-128"/>
              </a:rPr>
              <a:t>XXX của </a:t>
            </a:r>
            <a:r>
              <a:rPr lang="en-US" altLang="ja-JP" sz="2000">
                <a:latin typeface="Arial" panose="020B0604020202020204" pitchFamily="34" charset="0"/>
                <a:ea typeface="ＭＳ ゴシック" panose="020B0609070205080204" pitchFamily="49" charset="-128"/>
              </a:rPr>
              <a:t>wrapper class</a:t>
            </a:r>
            <a:r>
              <a:rPr lang="en-US" altLang="ja-JP" sz="2000" i="1">
                <a:latin typeface="Arial" panose="020B0604020202020204" pitchFamily="34" charset="0"/>
                <a:ea typeface="ＭＳ ゴシック" panose="020B0609070205080204" pitchFamily="49" charset="-128"/>
              </a:rPr>
              <a:t> </a:t>
            </a:r>
            <a:r>
              <a:rPr lang="en-US" altLang="ja-JP" sz="2000">
                <a:latin typeface="Arial" panose="020B0604020202020204" pitchFamily="34" charset="0"/>
                <a:ea typeface="ＭＳ ゴシック" panose="020B0609070205080204" pitchFamily="49" charset="-128"/>
              </a:rPr>
              <a:t>để sử dụng kiểu data cơ bản như một object.</a:t>
            </a:r>
            <a:r>
              <a:rPr lang="en-US" altLang="ja-JP" sz="2000">
                <a:latin typeface="Arial" panose="020B0604020202020204" pitchFamily="34" charset="0"/>
              </a:rPr>
              <a:t> </a:t>
            </a:r>
            <a:br>
              <a:rPr lang="en-US" altLang="ja-JP" sz="2000">
                <a:latin typeface="Arial" panose="020B0604020202020204" pitchFamily="34" charset="0"/>
              </a:rPr>
            </a:br>
            <a:r>
              <a:rPr lang="en-US" altLang="ja-JP" sz="2000">
                <a:latin typeface="Arial" panose="020B0604020202020204" pitchFamily="34" charset="0"/>
              </a:rPr>
              <a:t>  </a:t>
            </a:r>
            <a:r>
              <a:rPr lang="ja-JP" altLang="en-US" sz="2000">
                <a:latin typeface="Arial" panose="020B0604020202020204" pitchFamily="34" charset="0"/>
              </a:rPr>
              <a:t>（</a:t>
            </a:r>
            <a:r>
              <a:rPr lang="en-US" altLang="ja-JP" sz="2000" i="1">
                <a:latin typeface="Arial" panose="020B0604020202020204" pitchFamily="34" charset="0"/>
                <a:ea typeface="ＭＳ ゴシック" panose="020B0609070205080204" pitchFamily="49" charset="-128"/>
              </a:rPr>
              <a:t>XXX</a:t>
            </a:r>
            <a:r>
              <a:rPr lang="en-US" altLang="ja-JP" sz="2000">
                <a:latin typeface="Arial" panose="020B0604020202020204" pitchFamily="34" charset="0"/>
              </a:rPr>
              <a:t>  là chuỗi ký tự thể hiện kiểu data</a:t>
            </a:r>
            <a:r>
              <a:rPr lang="ja-JP" altLang="en-US" sz="2000">
                <a:latin typeface="Arial" panose="020B0604020202020204" pitchFamily="34" charset="0"/>
              </a:rPr>
              <a:t>）</a:t>
            </a:r>
          </a:p>
        </p:txBody>
      </p:sp>
      <p:sp>
        <p:nvSpPr>
          <p:cNvPr id="742424" name="AutoShape 24">
            <a:extLst>
              <a:ext uri="{FF2B5EF4-FFF2-40B4-BE49-F238E27FC236}">
                <a16:creationId xmlns:a16="http://schemas.microsoft.com/office/drawing/2014/main" id="{DF234E10-D078-89C6-F549-46DB43C7AFAA}"/>
              </a:ext>
            </a:extLst>
          </p:cNvPr>
          <p:cNvSpPr>
            <a:spLocks noChangeArrowheads="1"/>
          </p:cNvSpPr>
          <p:nvPr/>
        </p:nvSpPr>
        <p:spPr bwMode="auto">
          <a:xfrm>
            <a:off x="6156623" y="1756450"/>
            <a:ext cx="3378200" cy="549275"/>
          </a:xfrm>
          <a:prstGeom prst="wedgeRoundRectCallout">
            <a:avLst>
              <a:gd name="adj1" fmla="val -119025"/>
              <a:gd name="adj2" fmla="val -74887"/>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ea typeface="ＭＳ ゴシック" panose="020B0609070205080204" pitchFamily="49" charset="-128"/>
              </a:rPr>
              <a:t>Integer class </a:t>
            </a:r>
            <a:r>
              <a:rPr lang="en-US" altLang="ja-JP" sz="1800" dirty="0" err="1">
                <a:latin typeface="+mj-lt"/>
                <a:ea typeface="ＭＳ ゴシック" panose="020B0609070205080204" pitchFamily="49" charset="-128"/>
              </a:rPr>
              <a:t>của</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kiểu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int.v.v</a:t>
            </a:r>
            <a:r>
              <a:rPr lang="en-US" altLang="ja-JP" sz="1800" dirty="0">
                <a:latin typeface="+mj-lt"/>
                <a:ea typeface="ＭＳ ゴシック" panose="020B0609070205080204" pitchFamily="49" charset="-128"/>
              </a:rPr>
              <a:t>…</a:t>
            </a:r>
            <a:endParaRPr lang="en-US" altLang="ja-JP" sz="1800" dirty="0">
              <a:latin typeface="+mj-lt"/>
            </a:endParaRPr>
          </a:p>
        </p:txBody>
      </p:sp>
      <p:grpSp>
        <p:nvGrpSpPr>
          <p:cNvPr id="742430" name="Group 30">
            <a:extLst>
              <a:ext uri="{FF2B5EF4-FFF2-40B4-BE49-F238E27FC236}">
                <a16:creationId xmlns:a16="http://schemas.microsoft.com/office/drawing/2014/main" id="{665677DD-1662-A7F9-5DB9-88FAB6AB318B}"/>
              </a:ext>
            </a:extLst>
          </p:cNvPr>
          <p:cNvGrpSpPr>
            <a:grpSpLocks/>
          </p:cNvGrpSpPr>
          <p:nvPr/>
        </p:nvGrpSpPr>
        <p:grpSpPr bwMode="auto">
          <a:xfrm>
            <a:off x="342900" y="2751138"/>
            <a:ext cx="9231313" cy="3535362"/>
            <a:chOff x="216" y="1733"/>
            <a:chExt cx="5815" cy="2227"/>
          </a:xfrm>
        </p:grpSpPr>
        <p:sp>
          <p:nvSpPr>
            <p:cNvPr id="742406" name="Rectangle 6">
              <a:extLst>
                <a:ext uri="{FF2B5EF4-FFF2-40B4-BE49-F238E27FC236}">
                  <a16:creationId xmlns:a16="http://schemas.microsoft.com/office/drawing/2014/main" id="{EF07B1EE-E40B-01B8-878C-324980AB76E7}"/>
                </a:ext>
              </a:extLst>
            </p:cNvPr>
            <p:cNvSpPr>
              <a:spLocks noChangeArrowheads="1"/>
            </p:cNvSpPr>
            <p:nvPr/>
          </p:nvSpPr>
          <p:spPr bwMode="auto">
            <a:xfrm>
              <a:off x="216" y="1733"/>
              <a:ext cx="5743" cy="2227"/>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42407" name="Text Box 7">
              <a:extLst>
                <a:ext uri="{FF2B5EF4-FFF2-40B4-BE49-F238E27FC236}">
                  <a16:creationId xmlns:a16="http://schemas.microsoft.com/office/drawing/2014/main" id="{911A7931-ED7B-9AF6-E997-B79F8363AECB}"/>
                </a:ext>
              </a:extLst>
            </p:cNvPr>
            <p:cNvSpPr txBox="1">
              <a:spLocks noChangeArrowheads="1"/>
            </p:cNvSpPr>
            <p:nvPr/>
          </p:nvSpPr>
          <p:spPr bwMode="auto">
            <a:xfrm>
              <a:off x="2135" y="2167"/>
              <a:ext cx="492" cy="237"/>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ＭＳ ゴシック" panose="020B0609070205080204" pitchFamily="49" charset="-128"/>
                  <a:ea typeface="ＭＳ ゴシック" panose="020B0609070205080204" pitchFamily="49" charset="-128"/>
                </a:rPr>
                <a:t>xxxx</a:t>
              </a:r>
            </a:p>
          </p:txBody>
        </p:sp>
        <p:sp>
          <p:nvSpPr>
            <p:cNvPr id="742408" name="Text Box 8">
              <a:extLst>
                <a:ext uri="{FF2B5EF4-FFF2-40B4-BE49-F238E27FC236}">
                  <a16:creationId xmlns:a16="http://schemas.microsoft.com/office/drawing/2014/main" id="{AD852ABD-EEBF-4793-A56A-9145AB4A201D}"/>
                </a:ext>
              </a:extLst>
            </p:cNvPr>
            <p:cNvSpPr txBox="1">
              <a:spLocks noChangeArrowheads="1"/>
            </p:cNvSpPr>
            <p:nvPr/>
          </p:nvSpPr>
          <p:spPr bwMode="auto">
            <a:xfrm>
              <a:off x="1133" y="2159"/>
              <a:ext cx="1062" cy="231"/>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latin typeface="ＭＳ ゴシック" panose="020B0609070205080204" pitchFamily="49" charset="-128"/>
                  <a:ea typeface="ＭＳ ゴシック" panose="020B0609070205080204" pitchFamily="49" charset="-128"/>
                </a:rPr>
                <a:t>strUserEntry</a:t>
              </a:r>
            </a:p>
          </p:txBody>
        </p:sp>
        <p:sp>
          <p:nvSpPr>
            <p:cNvPr id="742409" name="Cloud">
              <a:extLst>
                <a:ext uri="{FF2B5EF4-FFF2-40B4-BE49-F238E27FC236}">
                  <a16:creationId xmlns:a16="http://schemas.microsoft.com/office/drawing/2014/main" id="{D6D4BCB0-3AE1-56F1-AF3B-01C47471128B}"/>
                </a:ext>
              </a:extLst>
            </p:cNvPr>
            <p:cNvSpPr>
              <a:spLocks noChangeAspect="1" noEditPoints="1" noChangeArrowheads="1"/>
            </p:cNvSpPr>
            <p:nvPr/>
          </p:nvSpPr>
          <p:spPr bwMode="auto">
            <a:xfrm>
              <a:off x="4038" y="2041"/>
              <a:ext cx="1641" cy="1010"/>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a:lstStyle/>
            <a:p>
              <a:endParaRPr lang="ja-JP" altLang="en-US"/>
            </a:p>
          </p:txBody>
        </p:sp>
        <p:sp>
          <p:nvSpPr>
            <p:cNvPr id="742410" name="Rectangle 10">
              <a:extLst>
                <a:ext uri="{FF2B5EF4-FFF2-40B4-BE49-F238E27FC236}">
                  <a16:creationId xmlns:a16="http://schemas.microsoft.com/office/drawing/2014/main" id="{18E63131-5765-5AAE-3D3D-AA82EF8CF01B}"/>
                </a:ext>
              </a:extLst>
            </p:cNvPr>
            <p:cNvSpPr>
              <a:spLocks noChangeArrowheads="1"/>
            </p:cNvSpPr>
            <p:nvPr/>
          </p:nvSpPr>
          <p:spPr bwMode="auto">
            <a:xfrm>
              <a:off x="3645" y="2158"/>
              <a:ext cx="584" cy="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ja-JP" sz="1800">
                  <a:latin typeface="ＭＳ ゴシック" panose="020B0609070205080204" pitchFamily="49" charset="-128"/>
                  <a:ea typeface="ＭＳ ゴシック" panose="020B0609070205080204" pitchFamily="49" charset="-128"/>
                </a:rPr>
                <a:t>xxxx</a:t>
              </a:r>
            </a:p>
          </p:txBody>
        </p:sp>
        <p:sp>
          <p:nvSpPr>
            <p:cNvPr id="742411" name="Text Box 11">
              <a:extLst>
                <a:ext uri="{FF2B5EF4-FFF2-40B4-BE49-F238E27FC236}">
                  <a16:creationId xmlns:a16="http://schemas.microsoft.com/office/drawing/2014/main" id="{0E0FD35D-78FD-7ACB-044C-8198FD52CDB4}"/>
                </a:ext>
              </a:extLst>
            </p:cNvPr>
            <p:cNvSpPr txBox="1">
              <a:spLocks noChangeArrowheads="1"/>
            </p:cNvSpPr>
            <p:nvPr/>
          </p:nvSpPr>
          <p:spPr bwMode="auto">
            <a:xfrm>
              <a:off x="2131" y="3083"/>
              <a:ext cx="548" cy="237"/>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ＭＳ ゴシック" panose="020B0609070205080204" pitchFamily="49" charset="-128"/>
                  <a:ea typeface="ＭＳ ゴシック" panose="020B0609070205080204" pitchFamily="49" charset="-128"/>
                </a:rPr>
                <a:t>5250</a:t>
              </a:r>
            </a:p>
          </p:txBody>
        </p:sp>
        <p:sp>
          <p:nvSpPr>
            <p:cNvPr id="742412" name="Text Box 12">
              <a:extLst>
                <a:ext uri="{FF2B5EF4-FFF2-40B4-BE49-F238E27FC236}">
                  <a16:creationId xmlns:a16="http://schemas.microsoft.com/office/drawing/2014/main" id="{2585EDBC-137B-20C9-7297-428F35A46C61}"/>
                </a:ext>
              </a:extLst>
            </p:cNvPr>
            <p:cNvSpPr txBox="1">
              <a:spLocks noChangeArrowheads="1"/>
            </p:cNvSpPr>
            <p:nvPr/>
          </p:nvSpPr>
          <p:spPr bwMode="auto">
            <a:xfrm>
              <a:off x="1313" y="3075"/>
              <a:ext cx="1062" cy="231"/>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latin typeface="ＭＳ ゴシック" panose="020B0609070205080204" pitchFamily="49" charset="-128"/>
                  <a:ea typeface="ＭＳ ゴシック" panose="020B0609070205080204" pitchFamily="49" charset="-128"/>
                </a:rPr>
                <a:t>intAmount</a:t>
              </a:r>
            </a:p>
          </p:txBody>
        </p:sp>
        <p:sp>
          <p:nvSpPr>
            <p:cNvPr id="742413" name="Line 13">
              <a:extLst>
                <a:ext uri="{FF2B5EF4-FFF2-40B4-BE49-F238E27FC236}">
                  <a16:creationId xmlns:a16="http://schemas.microsoft.com/office/drawing/2014/main" id="{42CB6833-5D90-C4DD-2EE0-9BC154DA076D}"/>
                </a:ext>
              </a:extLst>
            </p:cNvPr>
            <p:cNvSpPr>
              <a:spLocks noChangeShapeType="1"/>
            </p:cNvSpPr>
            <p:nvPr/>
          </p:nvSpPr>
          <p:spPr bwMode="auto">
            <a:xfrm flipV="1">
              <a:off x="2645" y="2281"/>
              <a:ext cx="1077" cy="21"/>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42414" name="AutoShape 14">
              <a:extLst>
                <a:ext uri="{FF2B5EF4-FFF2-40B4-BE49-F238E27FC236}">
                  <a16:creationId xmlns:a16="http://schemas.microsoft.com/office/drawing/2014/main" id="{0B07E55A-B2A3-FA9A-5A1E-5B86647E1F12}"/>
                </a:ext>
              </a:extLst>
            </p:cNvPr>
            <p:cNvSpPr>
              <a:spLocks noChangeArrowheads="1"/>
            </p:cNvSpPr>
            <p:nvPr/>
          </p:nvSpPr>
          <p:spPr bwMode="auto">
            <a:xfrm rot="5400000">
              <a:off x="2133" y="2544"/>
              <a:ext cx="429" cy="204"/>
            </a:xfrm>
            <a:prstGeom prst="rightArrow">
              <a:avLst>
                <a:gd name="adj1" fmla="val 50000"/>
                <a:gd name="adj2" fmla="val 52574"/>
              </a:avLst>
            </a:prstGeom>
            <a:solidFill>
              <a:srgbClr val="00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42416" name="Rectangle 16">
              <a:extLst>
                <a:ext uri="{FF2B5EF4-FFF2-40B4-BE49-F238E27FC236}">
                  <a16:creationId xmlns:a16="http://schemas.microsoft.com/office/drawing/2014/main" id="{FA8B8E2C-D3C4-ECB3-5E0F-52F79D696F8D}"/>
                </a:ext>
              </a:extLst>
            </p:cNvPr>
            <p:cNvSpPr>
              <a:spLocks noChangeArrowheads="1"/>
            </p:cNvSpPr>
            <p:nvPr/>
          </p:nvSpPr>
          <p:spPr bwMode="auto">
            <a:xfrm>
              <a:off x="2448" y="2582"/>
              <a:ext cx="560" cy="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ja-JP" sz="1800">
                  <a:solidFill>
                    <a:srgbClr val="0000FF"/>
                  </a:solidFill>
                </a:rPr>
                <a:t>convert</a:t>
              </a:r>
            </a:p>
          </p:txBody>
        </p:sp>
        <p:sp>
          <p:nvSpPr>
            <p:cNvPr id="742417" name="Rectangle 17">
              <a:extLst>
                <a:ext uri="{FF2B5EF4-FFF2-40B4-BE49-F238E27FC236}">
                  <a16:creationId xmlns:a16="http://schemas.microsoft.com/office/drawing/2014/main" id="{ED73B8DA-52E4-1948-1D7C-554BFF1D54BB}"/>
                </a:ext>
              </a:extLst>
            </p:cNvPr>
            <p:cNvSpPr>
              <a:spLocks noChangeArrowheads="1"/>
            </p:cNvSpPr>
            <p:nvPr/>
          </p:nvSpPr>
          <p:spPr bwMode="auto">
            <a:xfrm>
              <a:off x="425" y="1926"/>
              <a:ext cx="5606"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b="0">
                  <a:latin typeface="Arial" panose="020B0604020202020204" pitchFamily="34" charset="0"/>
                </a:rPr>
                <a:t>●Convert kiểu chuỗi ký tự (</a:t>
              </a:r>
              <a:r>
                <a:rPr lang="en-US" altLang="ja-JP" sz="1800" b="0">
                  <a:latin typeface="Arial" panose="020B0604020202020204" pitchFamily="34" charset="0"/>
                  <a:ea typeface="ＭＳ ゴシック" panose="020B0609070205080204" pitchFamily="49" charset="-128"/>
                </a:rPr>
                <a:t>String</a:t>
              </a:r>
              <a:r>
                <a:rPr lang="en-US" altLang="ja-JP" sz="1800" b="0">
                  <a:latin typeface="Arial" panose="020B0604020202020204" pitchFamily="34" charset="0"/>
                </a:rPr>
                <a:t>)</a:t>
              </a:r>
              <a:endParaRPr lang="en-US" altLang="ja-JP" sz="2400" b="0">
                <a:latin typeface="Arial" panose="020B0604020202020204" pitchFamily="34" charset="0"/>
              </a:endParaRPr>
            </a:p>
          </p:txBody>
        </p:sp>
        <p:sp>
          <p:nvSpPr>
            <p:cNvPr id="742418" name="Rectangle 18">
              <a:extLst>
                <a:ext uri="{FF2B5EF4-FFF2-40B4-BE49-F238E27FC236}">
                  <a16:creationId xmlns:a16="http://schemas.microsoft.com/office/drawing/2014/main" id="{5BD9CBA1-50DF-705E-F30E-62B8D9393718}"/>
                </a:ext>
              </a:extLst>
            </p:cNvPr>
            <p:cNvSpPr>
              <a:spLocks noChangeArrowheads="1"/>
            </p:cNvSpPr>
            <p:nvPr/>
          </p:nvSpPr>
          <p:spPr bwMode="auto">
            <a:xfrm>
              <a:off x="425" y="2810"/>
              <a:ext cx="5606"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b="0">
                  <a:latin typeface="Arial" panose="020B0604020202020204" pitchFamily="34" charset="0"/>
                </a:rPr>
                <a:t>●Convert kiểu số nguyên (</a:t>
              </a:r>
              <a:r>
                <a:rPr lang="en-US" altLang="ja-JP" sz="1800" b="0">
                  <a:latin typeface="Arial" panose="020B0604020202020204" pitchFamily="34" charset="0"/>
                  <a:ea typeface="ＭＳ ゴシック" panose="020B0609070205080204" pitchFamily="49" charset="-128"/>
                </a:rPr>
                <a:t>int</a:t>
              </a:r>
              <a:r>
                <a:rPr lang="en-US" altLang="ja-JP" sz="1800" b="0">
                  <a:latin typeface="Arial" panose="020B0604020202020204" pitchFamily="34" charset="0"/>
                </a:rPr>
                <a:t>)</a:t>
              </a:r>
              <a:endParaRPr lang="en-US" altLang="ja-JP" sz="2400" b="0">
                <a:latin typeface="Arial" panose="020B0604020202020204" pitchFamily="34" charset="0"/>
              </a:endParaRPr>
            </a:p>
          </p:txBody>
        </p:sp>
        <p:sp>
          <p:nvSpPr>
            <p:cNvPr id="742419" name="Text Box 19">
              <a:extLst>
                <a:ext uri="{FF2B5EF4-FFF2-40B4-BE49-F238E27FC236}">
                  <a16:creationId xmlns:a16="http://schemas.microsoft.com/office/drawing/2014/main" id="{DB628676-9BA5-C22A-077C-75D039D48A47}"/>
                </a:ext>
              </a:extLst>
            </p:cNvPr>
            <p:cNvSpPr txBox="1">
              <a:spLocks noChangeArrowheads="1"/>
            </p:cNvSpPr>
            <p:nvPr/>
          </p:nvSpPr>
          <p:spPr bwMode="auto">
            <a:xfrm>
              <a:off x="4340" y="2399"/>
              <a:ext cx="1062" cy="231"/>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a:latin typeface="ＭＳ ゴシック" panose="020B0609070205080204" pitchFamily="49" charset="-128"/>
                  <a:ea typeface="ＭＳ ゴシック" panose="020B0609070205080204" pitchFamily="49" charset="-128"/>
                </a:rPr>
                <a:t>"5250"</a:t>
              </a:r>
            </a:p>
          </p:txBody>
        </p:sp>
        <p:sp>
          <p:nvSpPr>
            <p:cNvPr id="742421" name="Oval 21">
              <a:extLst>
                <a:ext uri="{FF2B5EF4-FFF2-40B4-BE49-F238E27FC236}">
                  <a16:creationId xmlns:a16="http://schemas.microsoft.com/office/drawing/2014/main" id="{7485DAF2-0805-B815-D6F4-14FB51FCCFF8}"/>
                </a:ext>
              </a:extLst>
            </p:cNvPr>
            <p:cNvSpPr>
              <a:spLocks noChangeArrowheads="1"/>
            </p:cNvSpPr>
            <p:nvPr/>
          </p:nvSpPr>
          <p:spPr bwMode="auto">
            <a:xfrm>
              <a:off x="1866" y="2553"/>
              <a:ext cx="276" cy="282"/>
            </a:xfrm>
            <a:prstGeom prst="ellipse">
              <a:avLst/>
            </a:prstGeom>
            <a:noFill/>
            <a:ln w="31750" algn="ctr">
              <a:solidFill>
                <a:srgbClr val="FF0000"/>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42426" name="AutoShape 26">
              <a:extLst>
                <a:ext uri="{FF2B5EF4-FFF2-40B4-BE49-F238E27FC236}">
                  <a16:creationId xmlns:a16="http://schemas.microsoft.com/office/drawing/2014/main" id="{EC3112F1-E266-484B-5C3C-61AFDC563631}"/>
                </a:ext>
              </a:extLst>
            </p:cNvPr>
            <p:cNvSpPr>
              <a:spLocks noChangeArrowheads="1"/>
            </p:cNvSpPr>
            <p:nvPr/>
          </p:nvSpPr>
          <p:spPr bwMode="auto">
            <a:xfrm>
              <a:off x="2867" y="3182"/>
              <a:ext cx="2554" cy="687"/>
            </a:xfrm>
            <a:prstGeom prst="wedgeRoundRectCallout">
              <a:avLst>
                <a:gd name="adj1" fmla="val -51685"/>
                <a:gd name="adj2" fmla="val -107935"/>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28750"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ＭＳ ゴシック" panose="020B0609070205080204" pitchFamily="49" charset="-128"/>
                </a:rPr>
                <a:t>Sử dụng method parseInt của Integer class để convert</a:t>
              </a:r>
              <a:endParaRPr lang="en-US" altLang="ja-JP" sz="1800" b="0">
                <a:ea typeface="MS UI Gothic" panose="020B0600070205080204" pitchFamily="50" charset="-128"/>
              </a:endParaRPr>
            </a:p>
            <a:p>
              <a:pPr algn="ctr"/>
              <a:r>
                <a:rPr lang="en-US" altLang="ja-JP" sz="1800">
                  <a:ea typeface="ＭＳ ゴシック" panose="020B0609070205080204" pitchFamily="49" charset="-128"/>
                </a:rPr>
                <a:t>Integer.parseInt(strUserEntry)</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393D3EC4-4CED-0FE7-4CCA-A4BC0EE76451}"/>
              </a:ext>
            </a:extLst>
          </p:cNvPr>
          <p:cNvSpPr>
            <a:spLocks noGrp="1"/>
          </p:cNvSpPr>
          <p:nvPr>
            <p:ph type="sldNum" sz="quarter" idx="10"/>
          </p:nvPr>
        </p:nvSpPr>
        <p:spPr/>
        <p:txBody>
          <a:bodyPr/>
          <a:lstStyle/>
          <a:p>
            <a:fld id="{0C934A85-F066-4469-95AA-32DBA8EFB68B}" type="slidenum">
              <a:rPr lang="en-US" altLang="ja-JP"/>
              <a:pPr/>
              <a:t>9</a:t>
            </a:fld>
            <a:endParaRPr lang="en-US" altLang="ja-JP"/>
          </a:p>
        </p:txBody>
      </p:sp>
      <p:sp>
        <p:nvSpPr>
          <p:cNvPr id="762882" name="Rectangle 2">
            <a:extLst>
              <a:ext uri="{FF2B5EF4-FFF2-40B4-BE49-F238E27FC236}">
                <a16:creationId xmlns:a16="http://schemas.microsoft.com/office/drawing/2014/main" id="{7474EB21-822D-966E-6973-5E700FC2DC2D}"/>
              </a:ext>
            </a:extLst>
          </p:cNvPr>
          <p:cNvSpPr>
            <a:spLocks noGrp="1" noChangeArrowheads="1"/>
          </p:cNvSpPr>
          <p:nvPr>
            <p:ph type="title"/>
          </p:nvPr>
        </p:nvSpPr>
        <p:spPr>
          <a:xfrm>
            <a:off x="344487" y="350045"/>
            <a:ext cx="9217025" cy="490537"/>
          </a:xfrm>
        </p:spPr>
        <p:txBody>
          <a:bodyPr>
            <a:normAutofit fontScale="90000"/>
          </a:bodyPr>
          <a:lstStyle/>
          <a:p>
            <a:r>
              <a:rPr lang="en-US" altLang="ja-JP" dirty="0">
                <a:latin typeface="Arial" panose="020B0604020202020204" pitchFamily="34" charset="0"/>
              </a:rPr>
              <a:t>Convert </a:t>
            </a:r>
            <a:r>
              <a:rPr lang="en-US" altLang="ja-JP" dirty="0" err="1">
                <a:latin typeface="Arial" panose="020B0604020202020204" pitchFamily="34" charset="0"/>
              </a:rPr>
              <a:t>tư</a:t>
            </a:r>
            <a:r>
              <a:rPr lang="en-US" altLang="ja-JP" dirty="0">
                <a:latin typeface="Arial" panose="020B0604020202020204" pitchFamily="34" charset="0"/>
              </a:rPr>
              <a:t>̀ </a:t>
            </a:r>
            <a:r>
              <a:rPr lang="en-US" altLang="ja-JP" dirty="0" err="1">
                <a:latin typeface="Arial" panose="020B0604020202020204" pitchFamily="34" charset="0"/>
              </a:rPr>
              <a:t>chuỗi</a:t>
            </a:r>
            <a:r>
              <a:rPr lang="en-US" altLang="ja-JP" dirty="0">
                <a:latin typeface="Arial" panose="020B0604020202020204" pitchFamily="34" charset="0"/>
              </a:rPr>
              <a:t> </a:t>
            </a:r>
            <a:r>
              <a:rPr lang="en-US" altLang="ja-JP" dirty="0" err="1">
                <a:latin typeface="Arial" panose="020B0604020202020204" pitchFamily="34" charset="0"/>
              </a:rPr>
              <a:t>ky</a:t>
            </a:r>
            <a:r>
              <a:rPr lang="en-US" altLang="ja-JP" dirty="0">
                <a:latin typeface="Arial" panose="020B0604020202020204" pitchFamily="34" charset="0"/>
              </a:rPr>
              <a:t>́ </a:t>
            </a:r>
            <a:r>
              <a:rPr lang="en-US" altLang="ja-JP" dirty="0" err="1">
                <a:latin typeface="Arial" panose="020B0604020202020204" pitchFamily="34" charset="0"/>
              </a:rPr>
              <a:t>tư</a:t>
            </a:r>
            <a:r>
              <a:rPr lang="en-US" altLang="ja-JP" dirty="0">
                <a:latin typeface="Arial" panose="020B0604020202020204" pitchFamily="34" charset="0"/>
              </a:rPr>
              <a:t>̣ </a:t>
            </a:r>
            <a:r>
              <a:rPr lang="en-US" altLang="ja-JP" dirty="0" err="1">
                <a:latin typeface="Arial" panose="020B0604020202020204" pitchFamily="34" charset="0"/>
              </a:rPr>
              <a:t>thành</a:t>
            </a:r>
            <a:r>
              <a:rPr lang="en-US" altLang="ja-JP" dirty="0">
                <a:latin typeface="Arial" panose="020B0604020202020204" pitchFamily="34" charset="0"/>
              </a:rPr>
              <a:t> </a:t>
            </a:r>
            <a:r>
              <a:rPr lang="en-US" altLang="ja-JP" dirty="0" err="1">
                <a:latin typeface="Arial" panose="020B0604020202020204" pitchFamily="34" charset="0"/>
              </a:rPr>
              <a:t>gia</a:t>
            </a:r>
            <a:r>
              <a:rPr lang="en-US" altLang="ja-JP" dirty="0">
                <a:latin typeface="Arial" panose="020B0604020202020204" pitchFamily="34" charset="0"/>
              </a:rPr>
              <a:t>́ trị </a:t>
            </a:r>
            <a:r>
              <a:rPr lang="en-US" altLang="ja-JP" dirty="0" err="1">
                <a:latin typeface="Arial" panose="020B0604020202020204" pitchFamily="34" charset="0"/>
              </a:rPr>
              <a:t>sô</a:t>
            </a:r>
            <a:r>
              <a:rPr lang="en-US" altLang="ja-JP" dirty="0">
                <a:latin typeface="Arial" panose="020B0604020202020204" pitchFamily="34" charset="0"/>
              </a:rPr>
              <a:t>́</a:t>
            </a:r>
            <a:r>
              <a:rPr lang="en-US" altLang="en-US" dirty="0">
                <a:latin typeface="Arial" panose="020B0604020202020204" pitchFamily="34" charset="0"/>
              </a:rPr>
              <a:t>（</a:t>
            </a:r>
            <a:r>
              <a:rPr lang="en-US" altLang="ja-JP" dirty="0">
                <a:latin typeface="Arial" panose="020B0604020202020204" pitchFamily="34" charset="0"/>
              </a:rPr>
              <a:t>2</a:t>
            </a:r>
            <a:r>
              <a:rPr lang="en-US" altLang="en-US" dirty="0">
                <a:latin typeface="Arial" panose="020B0604020202020204" pitchFamily="34" charset="0"/>
              </a:rPr>
              <a:t>）</a:t>
            </a:r>
            <a:endParaRPr lang="ja-JP" altLang="en-US" dirty="0">
              <a:latin typeface="Arial" panose="020B0604020202020204" pitchFamily="34" charset="0"/>
            </a:endParaRPr>
          </a:p>
        </p:txBody>
      </p:sp>
      <p:sp>
        <p:nvSpPr>
          <p:cNvPr id="762883" name="Rectangle 3">
            <a:extLst>
              <a:ext uri="{FF2B5EF4-FFF2-40B4-BE49-F238E27FC236}">
                <a16:creationId xmlns:a16="http://schemas.microsoft.com/office/drawing/2014/main" id="{A6AFE231-9FEC-0E7B-03A2-A1B26F0C9A17}"/>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62884" name="Rectangle 4">
            <a:extLst>
              <a:ext uri="{FF2B5EF4-FFF2-40B4-BE49-F238E27FC236}">
                <a16:creationId xmlns:a16="http://schemas.microsoft.com/office/drawing/2014/main" id="{87A1056F-8269-DE08-183A-3153C660C9B0}"/>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Convert từ chuỗi ký tự thành giá trị số</a:t>
            </a:r>
          </a:p>
          <a:p>
            <a:pPr>
              <a:spcBef>
                <a:spcPct val="50000"/>
              </a:spcBef>
              <a:buFont typeface="Wingdings" panose="05000000000000000000" pitchFamily="2" charset="2"/>
              <a:buNone/>
            </a:pPr>
            <a:r>
              <a:rPr lang="en-US" altLang="ja-JP" sz="2000" b="0">
                <a:latin typeface="Arial" panose="020B0604020202020204" pitchFamily="34" charset="0"/>
              </a:rPr>
              <a:t>●Cú pháp cơ bản</a:t>
            </a:r>
          </a:p>
          <a:p>
            <a:pPr>
              <a:spcBef>
                <a:spcPct val="50000"/>
              </a:spcBef>
              <a:buFont typeface="Wingdings" panose="05000000000000000000" pitchFamily="2" charset="2"/>
              <a:buNone/>
            </a:pP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762885" name="Rectangle 5">
            <a:extLst>
              <a:ext uri="{FF2B5EF4-FFF2-40B4-BE49-F238E27FC236}">
                <a16:creationId xmlns:a16="http://schemas.microsoft.com/office/drawing/2014/main" id="{AA0E95D6-8D2F-B3DA-4F4E-1D86064005B6}"/>
              </a:ext>
            </a:extLst>
          </p:cNvPr>
          <p:cNvSpPr>
            <a:spLocks noChangeArrowheads="1"/>
          </p:cNvSpPr>
          <p:nvPr/>
        </p:nvSpPr>
        <p:spPr bwMode="auto">
          <a:xfrm>
            <a:off x="344488" y="26701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762898" name="Text Box 18">
            <a:extLst>
              <a:ext uri="{FF2B5EF4-FFF2-40B4-BE49-F238E27FC236}">
                <a16:creationId xmlns:a16="http://schemas.microsoft.com/office/drawing/2014/main" id="{AE102E20-81FA-BF42-B13C-E913048BBC70}"/>
              </a:ext>
            </a:extLst>
          </p:cNvPr>
          <p:cNvSpPr txBox="1">
            <a:spLocks noChangeArrowheads="1"/>
          </p:cNvSpPr>
          <p:nvPr/>
        </p:nvSpPr>
        <p:spPr bwMode="auto">
          <a:xfrm>
            <a:off x="344488" y="1811338"/>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MS UI Gothic" panose="020B0600070205080204" pitchFamily="50" charset="-128"/>
              </a:rPr>
              <a:t>Wrapperclassname</a:t>
            </a:r>
            <a:r>
              <a:rPr lang="ja-JP" altLang="ja-JP" sz="2000">
                <a:ea typeface="ＭＳ ゴシック" panose="020B0609070205080204" pitchFamily="49" charset="-128"/>
              </a:rPr>
              <a:t>.parse</a:t>
            </a:r>
            <a:r>
              <a:rPr lang="ja-JP" altLang="ja-JP" sz="2000" i="1">
                <a:ea typeface="ＭＳ ゴシック" panose="020B0609070205080204" pitchFamily="49" charset="-128"/>
              </a:rPr>
              <a:t>XXX</a:t>
            </a:r>
            <a:r>
              <a:rPr lang="ja-JP" altLang="ja-JP" sz="2000">
                <a:ea typeface="ＭＳ ゴシック" panose="020B0609070205080204" pitchFamily="49" charset="-128"/>
              </a:rPr>
              <a:t> (</a:t>
            </a:r>
            <a:r>
              <a:rPr lang="en-US" altLang="ja-JP" sz="2000">
                <a:ea typeface="MS UI Gothic" panose="020B0600070205080204" pitchFamily="50" charset="-128"/>
              </a:rPr>
              <a:t>chuỗi ký tự</a:t>
            </a:r>
            <a:r>
              <a:rPr lang="ja-JP" altLang="ja-JP" sz="2000">
                <a:ea typeface="ＭＳ ゴシック" panose="020B0609070205080204" pitchFamily="49" charset="-128"/>
              </a:rPr>
              <a:t>)</a:t>
            </a:r>
          </a:p>
        </p:txBody>
      </p:sp>
      <p:sp>
        <p:nvSpPr>
          <p:cNvPr id="762899" name="AutoShape 19">
            <a:extLst>
              <a:ext uri="{FF2B5EF4-FFF2-40B4-BE49-F238E27FC236}">
                <a16:creationId xmlns:a16="http://schemas.microsoft.com/office/drawing/2014/main" id="{6E3ACBED-F640-E246-EEC4-A933F0B5BE45}"/>
              </a:ext>
            </a:extLst>
          </p:cNvPr>
          <p:cNvSpPr>
            <a:spLocks noChangeArrowheads="1"/>
          </p:cNvSpPr>
          <p:nvPr/>
        </p:nvSpPr>
        <p:spPr bwMode="auto">
          <a:xfrm>
            <a:off x="3779838" y="1260475"/>
            <a:ext cx="3340100" cy="388938"/>
          </a:xfrm>
          <a:prstGeom prst="wedgeRoundRectCallout">
            <a:avLst>
              <a:gd name="adj1" fmla="val -59222"/>
              <a:gd name="adj2" fmla="val 113671"/>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latin typeface="ＭＳ ゴシック" panose="020B0609070205080204" pitchFamily="49" charset="-128"/>
                <a:ea typeface="ＭＳ ゴシック" panose="020B0609070205080204" pitchFamily="49" charset="-128"/>
              </a:rPr>
              <a:t>parseInt, parseDouble</a:t>
            </a:r>
            <a:r>
              <a:rPr lang="en-US" altLang="ja-JP" sz="1800">
                <a:latin typeface="MS UI Gothic" panose="020B0600070205080204" pitchFamily="50" charset="-128"/>
              </a:rPr>
              <a:t> v.v...</a:t>
            </a:r>
          </a:p>
        </p:txBody>
      </p:sp>
      <p:sp>
        <p:nvSpPr>
          <p:cNvPr id="762889" name="Rectangle 9">
            <a:extLst>
              <a:ext uri="{FF2B5EF4-FFF2-40B4-BE49-F238E27FC236}">
                <a16:creationId xmlns:a16="http://schemas.microsoft.com/office/drawing/2014/main" id="{744A9066-0EEB-A098-C3F0-4B8736C6EC37}"/>
              </a:ext>
            </a:extLst>
          </p:cNvPr>
          <p:cNvSpPr>
            <a:spLocks noChangeArrowheads="1"/>
          </p:cNvSpPr>
          <p:nvPr/>
        </p:nvSpPr>
        <p:spPr bwMode="auto">
          <a:xfrm>
            <a:off x="344488" y="3171825"/>
            <a:ext cx="9120187" cy="297656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String str1 = "17";</a:t>
            </a:r>
          </a:p>
          <a:p>
            <a:pPr lvl="1"/>
            <a:r>
              <a:rPr lang="en-US" altLang="ja-JP" sz="1800" b="0">
                <a:latin typeface="ＭＳ ゴシック" panose="020B0609070205080204" pitchFamily="49" charset="-128"/>
                <a:ea typeface="ＭＳ ゴシック" panose="020B0609070205080204" pitchFamily="49" charset="-128"/>
              </a:rPr>
              <a:t>String str2 = "2.6";</a:t>
            </a:r>
          </a:p>
          <a:p>
            <a:pPr lvl="1"/>
            <a:r>
              <a:rPr lang="en-US" altLang="ja-JP" sz="1800" b="0">
                <a:latin typeface="ＭＳ ゴシック" panose="020B0609070205080204" pitchFamily="49" charset="-128"/>
                <a:ea typeface="ＭＳ ゴシック" panose="020B0609070205080204" pitchFamily="49" charset="-128"/>
              </a:rPr>
              <a:t>    </a:t>
            </a:r>
          </a:p>
          <a:p>
            <a:pPr lvl="1"/>
            <a:r>
              <a:rPr lang="en-US" altLang="ja-JP" sz="1800" b="0">
                <a:latin typeface="ＭＳ ゴシック" panose="020B0609070205080204" pitchFamily="49" charset="-128"/>
                <a:ea typeface="ＭＳ ゴシック" panose="020B0609070205080204" pitchFamily="49" charset="-128"/>
              </a:rPr>
              <a:t>int valInt = Integer.parseInt( str1 );</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long valLong = Long.parseLong( "1200" );</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double valDouble = Double.parseDouble(str2);</a:t>
            </a:r>
          </a:p>
        </p:txBody>
      </p:sp>
      <p:sp>
        <p:nvSpPr>
          <p:cNvPr id="762890" name="Rectangle 10">
            <a:extLst>
              <a:ext uri="{FF2B5EF4-FFF2-40B4-BE49-F238E27FC236}">
                <a16:creationId xmlns:a16="http://schemas.microsoft.com/office/drawing/2014/main" id="{77B0FF45-3D40-8A7D-091C-1D2F3B3A5E09}"/>
              </a:ext>
            </a:extLst>
          </p:cNvPr>
          <p:cNvSpPr>
            <a:spLocks noChangeArrowheads="1"/>
          </p:cNvSpPr>
          <p:nvPr/>
        </p:nvSpPr>
        <p:spPr bwMode="auto">
          <a:xfrm>
            <a:off x="4090988" y="4097338"/>
            <a:ext cx="628650" cy="3238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62891" name="Text Box 11">
            <a:extLst>
              <a:ext uri="{FF2B5EF4-FFF2-40B4-BE49-F238E27FC236}">
                <a16:creationId xmlns:a16="http://schemas.microsoft.com/office/drawing/2014/main" id="{98CE4318-A4E7-4D3B-734B-66FA2B2EF389}"/>
              </a:ext>
            </a:extLst>
          </p:cNvPr>
          <p:cNvSpPr txBox="1">
            <a:spLocks noChangeArrowheads="1"/>
          </p:cNvSpPr>
          <p:nvPr/>
        </p:nvSpPr>
        <p:spPr bwMode="auto">
          <a:xfrm>
            <a:off x="5494338" y="4179888"/>
            <a:ext cx="3768725" cy="941387"/>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dirty="0" err="1">
                <a:latin typeface="+mj-lt"/>
                <a:ea typeface="ＭＳ ゴシック" panose="020B0609070205080204" pitchFamily="49" charset="-128"/>
              </a:rPr>
              <a:t>Chuỗi</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ky</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tư</a:t>
            </a:r>
            <a:r>
              <a:rPr lang="en-US" altLang="ja-JP" sz="1800" b="0" dirty="0">
                <a:latin typeface="+mj-lt"/>
                <a:ea typeface="ＭＳ ゴシック" panose="020B0609070205080204" pitchFamily="49" charset="-128"/>
              </a:rPr>
              <a:t>̣ sẽ </a:t>
            </a:r>
            <a:r>
              <a:rPr lang="en-US" altLang="ja-JP" sz="1800" b="0" dirty="0" err="1">
                <a:latin typeface="+mj-lt"/>
                <a:ea typeface="ＭＳ ゴシック" panose="020B0609070205080204" pitchFamily="49" charset="-128"/>
              </a:rPr>
              <a:t>truyền</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cho</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parse</a:t>
            </a:r>
            <a:r>
              <a:rPr lang="en-US" altLang="ja-JP" sz="1800" b="0" i="1" dirty="0" err="1">
                <a:latin typeface="+mj-lt"/>
                <a:ea typeface="ＭＳ ゴシック" panose="020B0609070205080204" pitchFamily="49" charset="-128"/>
              </a:rPr>
              <a:t>XXX</a:t>
            </a:r>
            <a:r>
              <a:rPr lang="en-US" altLang="ja-JP" sz="1800" b="0" i="1" dirty="0">
                <a:latin typeface="+mj-lt"/>
                <a:ea typeface="ＭＳ ゴシック" panose="020B0609070205080204" pitchFamily="49" charset="-128"/>
              </a:rPr>
              <a:t> </a:t>
            </a:r>
            <a:r>
              <a:rPr lang="en-US" altLang="ja-JP" sz="1800" b="0" dirty="0">
                <a:latin typeface="+mj-lt"/>
                <a:ea typeface="ＭＳ ゴシック" panose="020B0609070205080204" pitchFamily="49" charset="-128"/>
              </a:rPr>
              <a:t>là </a:t>
            </a:r>
            <a:r>
              <a:rPr lang="en-US" altLang="ja-JP" sz="1800" b="0" dirty="0" err="1">
                <a:latin typeface="+mj-lt"/>
                <a:ea typeface="ＭＳ ゴシック" panose="020B0609070205080204" pitchFamily="49" charset="-128"/>
              </a:rPr>
              <a:t>biến</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sô</a:t>
            </a:r>
            <a:r>
              <a:rPr lang="en-US" altLang="ja-JP" sz="1800" b="0" dirty="0">
                <a:latin typeface="+mj-lt"/>
                <a:ea typeface="ＭＳ ゴシック" panose="020B0609070205080204" pitchFamily="49" charset="-128"/>
              </a:rPr>
              <a:t>́ hay literal </a:t>
            </a:r>
            <a:r>
              <a:rPr lang="en-US" altLang="ja-JP" sz="1800" b="0" dirty="0" err="1">
                <a:latin typeface="+mj-lt"/>
                <a:ea typeface="ＭＳ ゴシック" panose="020B0609070205080204" pitchFamily="49" charset="-128"/>
              </a:rPr>
              <a:t>đều</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được</a:t>
            </a:r>
            <a:r>
              <a:rPr lang="en-US" altLang="ja-JP" sz="1800" b="0" dirty="0">
                <a:latin typeface="+mj-lt"/>
                <a:ea typeface="ＭＳ ゴシック" panose="020B0609070205080204" pitchFamily="49" charset="-128"/>
              </a:rPr>
              <a:t>.</a:t>
            </a:r>
            <a:endParaRPr lang="en-US" altLang="ja-JP" sz="1800" b="0" dirty="0">
              <a:latin typeface="+mj-lt"/>
            </a:endParaRPr>
          </a:p>
        </p:txBody>
      </p:sp>
      <p:cxnSp>
        <p:nvCxnSpPr>
          <p:cNvPr id="762892" name="AutoShape 12">
            <a:extLst>
              <a:ext uri="{FF2B5EF4-FFF2-40B4-BE49-F238E27FC236}">
                <a16:creationId xmlns:a16="http://schemas.microsoft.com/office/drawing/2014/main" id="{E485468A-C159-CACB-E612-99F09201F4B5}"/>
              </a:ext>
            </a:extLst>
          </p:cNvPr>
          <p:cNvCxnSpPr>
            <a:cxnSpLocks noChangeShapeType="1"/>
            <a:stCxn id="762891" idx="0"/>
            <a:endCxn id="762890" idx="0"/>
          </p:cNvCxnSpPr>
          <p:nvPr/>
        </p:nvCxnSpPr>
        <p:spPr bwMode="auto">
          <a:xfrm rot="5400000" flipH="1">
            <a:off x="5850732" y="2639219"/>
            <a:ext cx="82550" cy="2973387"/>
          </a:xfrm>
          <a:prstGeom prst="bentConnector3">
            <a:avLst>
              <a:gd name="adj1" fmla="val 361537"/>
            </a:avLst>
          </a:prstGeom>
          <a:noFill/>
          <a:ln w="254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62900" name="Rectangle 20">
            <a:extLst>
              <a:ext uri="{FF2B5EF4-FFF2-40B4-BE49-F238E27FC236}">
                <a16:creationId xmlns:a16="http://schemas.microsoft.com/office/drawing/2014/main" id="{02BA3321-AAD3-A1D1-4882-F6135B219B6A}"/>
              </a:ext>
            </a:extLst>
          </p:cNvPr>
          <p:cNvSpPr>
            <a:spLocks noChangeArrowheads="1"/>
          </p:cNvSpPr>
          <p:nvPr/>
        </p:nvSpPr>
        <p:spPr bwMode="auto">
          <a:xfrm>
            <a:off x="4075113" y="4683125"/>
            <a:ext cx="812800" cy="3238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762901" name="AutoShape 21">
            <a:extLst>
              <a:ext uri="{FF2B5EF4-FFF2-40B4-BE49-F238E27FC236}">
                <a16:creationId xmlns:a16="http://schemas.microsoft.com/office/drawing/2014/main" id="{82A2D4DD-1EAC-0148-5AFA-645B3463F0F5}"/>
              </a:ext>
            </a:extLst>
          </p:cNvPr>
          <p:cNvCxnSpPr>
            <a:cxnSpLocks noChangeShapeType="1"/>
            <a:stCxn id="762891" idx="2"/>
            <a:endCxn id="762900" idx="2"/>
          </p:cNvCxnSpPr>
          <p:nvPr/>
        </p:nvCxnSpPr>
        <p:spPr bwMode="auto">
          <a:xfrm rot="16200000" flipV="1">
            <a:off x="5872957" y="3628231"/>
            <a:ext cx="114300" cy="2897187"/>
          </a:xfrm>
          <a:prstGeom prst="bentConnector3">
            <a:avLst>
              <a:gd name="adj1" fmla="val -187500"/>
            </a:avLst>
          </a:prstGeom>
          <a:noFill/>
          <a:ln w="254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62903" name="AutoShape 23">
            <a:extLst>
              <a:ext uri="{FF2B5EF4-FFF2-40B4-BE49-F238E27FC236}">
                <a16:creationId xmlns:a16="http://schemas.microsoft.com/office/drawing/2014/main" id="{8C1AA7AD-E61A-2B90-18F2-591DD5A19265}"/>
              </a:ext>
            </a:extLst>
          </p:cNvPr>
          <p:cNvSpPr>
            <a:spLocks noChangeArrowheads="1"/>
          </p:cNvSpPr>
          <p:nvPr/>
        </p:nvSpPr>
        <p:spPr bwMode="auto">
          <a:xfrm>
            <a:off x="1492250" y="5786438"/>
            <a:ext cx="955675" cy="339725"/>
          </a:xfrm>
          <a:prstGeom prst="wedgeRoundRectCallout">
            <a:avLst>
              <a:gd name="adj1" fmla="val -3653"/>
              <a:gd name="adj2" fmla="val -103273"/>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latin typeface="ＭＳ ゴシック" panose="020B0609070205080204" pitchFamily="49" charset="-128"/>
                <a:ea typeface="ＭＳ ゴシック" panose="020B0609070205080204" pitchFamily="49" charset="-128"/>
              </a:rPr>
              <a:t>2.6</a:t>
            </a:r>
            <a:endParaRPr lang="en-US" altLang="ja-JP" sz="1800">
              <a:latin typeface="MS UI Gothic" panose="020B0600070205080204" pitchFamily="50" charset="-128"/>
            </a:endParaRPr>
          </a:p>
        </p:txBody>
      </p:sp>
      <p:sp>
        <p:nvSpPr>
          <p:cNvPr id="762905" name="AutoShape 25">
            <a:extLst>
              <a:ext uri="{FF2B5EF4-FFF2-40B4-BE49-F238E27FC236}">
                <a16:creationId xmlns:a16="http://schemas.microsoft.com/office/drawing/2014/main" id="{FDC07DEC-D6C1-0AD7-152A-9F36DA534CC5}"/>
              </a:ext>
            </a:extLst>
          </p:cNvPr>
          <p:cNvSpPr>
            <a:spLocks noChangeArrowheads="1"/>
          </p:cNvSpPr>
          <p:nvPr/>
        </p:nvSpPr>
        <p:spPr bwMode="auto">
          <a:xfrm>
            <a:off x="4740275" y="5786438"/>
            <a:ext cx="955675" cy="339725"/>
          </a:xfrm>
          <a:prstGeom prst="wedgeRoundRectCallout">
            <a:avLst>
              <a:gd name="adj1" fmla="val -3653"/>
              <a:gd name="adj2" fmla="val -103273"/>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latin typeface="ＭＳ ゴシック" panose="020B0609070205080204" pitchFamily="49" charset="-128"/>
                <a:ea typeface="ＭＳ ゴシック" panose="020B0609070205080204" pitchFamily="49" charset="-128"/>
              </a:rPr>
              <a:t>"2.6"</a:t>
            </a:r>
            <a:endParaRPr lang="en-US" altLang="ja-JP" sz="1800">
              <a:latin typeface="MS UI Gothic" panose="020B0600070205080204" pitchFamily="50" charset="-128"/>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B26EA52D-709D-E7A5-CA50-E896A5505F9E}"/>
              </a:ext>
            </a:extLst>
          </p:cNvPr>
          <p:cNvSpPr>
            <a:spLocks noGrp="1"/>
          </p:cNvSpPr>
          <p:nvPr>
            <p:ph type="sldNum" sz="quarter" idx="10"/>
          </p:nvPr>
        </p:nvSpPr>
        <p:spPr/>
        <p:txBody>
          <a:bodyPr/>
          <a:lstStyle/>
          <a:p>
            <a:fld id="{EE0DEE21-5FD2-4A34-A70E-1B9ED605D402}" type="slidenum">
              <a:rPr lang="en-US" altLang="ja-JP"/>
              <a:pPr/>
              <a:t>10</a:t>
            </a:fld>
            <a:endParaRPr lang="en-US" altLang="ja-JP"/>
          </a:p>
        </p:txBody>
      </p:sp>
      <p:sp>
        <p:nvSpPr>
          <p:cNvPr id="746498" name="Rectangle 2">
            <a:extLst>
              <a:ext uri="{FF2B5EF4-FFF2-40B4-BE49-F238E27FC236}">
                <a16:creationId xmlns:a16="http://schemas.microsoft.com/office/drawing/2014/main" id="{6D93A82A-AE82-8BEF-5690-5EF31316FC05}"/>
              </a:ext>
            </a:extLst>
          </p:cNvPr>
          <p:cNvSpPr>
            <a:spLocks noGrp="1" noChangeArrowheads="1"/>
          </p:cNvSpPr>
          <p:nvPr>
            <p:ph type="title"/>
          </p:nvPr>
        </p:nvSpPr>
        <p:spPr>
          <a:xfrm>
            <a:off x="304595" y="338138"/>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Convert </a:t>
            </a:r>
            <a:r>
              <a:rPr lang="en-US" altLang="ja-JP" dirty="0" err="1">
                <a:latin typeface="Arial" panose="020B0604020202020204" pitchFamily="34" charset="0"/>
                <a:ea typeface="MS UI Gothic" panose="020B0600070205080204" pitchFamily="50" charset="-128"/>
              </a:rPr>
              <a:t>tư</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gia</a:t>
            </a:r>
            <a:r>
              <a:rPr lang="en-US" altLang="ja-JP" dirty="0">
                <a:latin typeface="Arial" panose="020B0604020202020204" pitchFamily="34" charset="0"/>
                <a:ea typeface="MS UI Gothic" panose="020B0600070205080204" pitchFamily="50" charset="-128"/>
              </a:rPr>
              <a:t>́ trị </a:t>
            </a:r>
            <a:r>
              <a:rPr lang="en-US" altLang="ja-JP" dirty="0" err="1">
                <a:latin typeface="Arial" panose="020B0604020202020204" pitchFamily="34" charset="0"/>
                <a:ea typeface="MS UI Gothic" panose="020B0600070205080204" pitchFamily="50" charset="-128"/>
              </a:rPr>
              <a:t>sô</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thành</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chuỗi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ky</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a:t>
            </a:r>
            <a:r>
              <a:rPr lang="ja-JP" altLang="en-US" dirty="0">
                <a:latin typeface="Arial" panose="020B0604020202020204" pitchFamily="34" charset="0"/>
              </a:rPr>
              <a:t>（</a:t>
            </a:r>
            <a:r>
              <a:rPr lang="en-US" altLang="ja-JP" dirty="0">
                <a:latin typeface="Arial" panose="020B0604020202020204" pitchFamily="34" charset="0"/>
              </a:rPr>
              <a:t>1</a:t>
            </a:r>
            <a:r>
              <a:rPr lang="ja-JP" altLang="en-US" dirty="0">
                <a:latin typeface="Arial" panose="020B0604020202020204" pitchFamily="34" charset="0"/>
              </a:rPr>
              <a:t>）</a:t>
            </a:r>
          </a:p>
        </p:txBody>
      </p:sp>
      <p:sp>
        <p:nvSpPr>
          <p:cNvPr id="746499" name="Rectangle 3">
            <a:extLst>
              <a:ext uri="{FF2B5EF4-FFF2-40B4-BE49-F238E27FC236}">
                <a16:creationId xmlns:a16="http://schemas.microsoft.com/office/drawing/2014/main" id="{E669AB3C-7858-9A85-68E9-F861A1ACF660}"/>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Convert từ giá trị số thành chuỗi ký tự</a:t>
            </a:r>
          </a:p>
          <a:p>
            <a:endParaRPr lang="en-US" altLang="ja-JP" sz="2400" b="0">
              <a:latin typeface="Arial" panose="020B0604020202020204" pitchFamily="34" charset="0"/>
            </a:endParaRPr>
          </a:p>
          <a:p>
            <a:endParaRPr lang="en-US" altLang="ja-JP" sz="2400" b="0">
              <a:latin typeface="Arial" panose="020B0604020202020204" pitchFamily="34" charset="0"/>
            </a:endParaRPr>
          </a:p>
          <a:p>
            <a:pPr>
              <a:buFont typeface="Wingdings" panose="05000000000000000000" pitchFamily="2" charset="2"/>
              <a:buNone/>
            </a:pPr>
            <a:r>
              <a:rPr lang="en-US" altLang="ja-JP" sz="2000" b="0">
                <a:latin typeface="Arial" panose="020B0604020202020204" pitchFamily="34" charset="0"/>
              </a:rPr>
              <a:t>●Ví dụ</a:t>
            </a:r>
          </a:p>
        </p:txBody>
      </p:sp>
      <p:sp>
        <p:nvSpPr>
          <p:cNvPr id="746500" name="Rectangle 4">
            <a:extLst>
              <a:ext uri="{FF2B5EF4-FFF2-40B4-BE49-F238E27FC236}">
                <a16:creationId xmlns:a16="http://schemas.microsoft.com/office/drawing/2014/main" id="{5D6A76DC-3776-4C23-8200-8DD5B8C4E31F}"/>
              </a:ext>
            </a:extLst>
          </p:cNvPr>
          <p:cNvSpPr>
            <a:spLocks noChangeArrowheads="1"/>
          </p:cNvSpPr>
          <p:nvPr/>
        </p:nvSpPr>
        <p:spPr bwMode="auto">
          <a:xfrm>
            <a:off x="344488" y="12827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900">
                <a:latin typeface="Arial" panose="020B0604020202020204" pitchFamily="34" charset="0"/>
              </a:rPr>
              <a:t>Wrapperclassname</a:t>
            </a:r>
            <a:r>
              <a:rPr lang="en-US" altLang="ja-JP" sz="1900">
                <a:latin typeface="Arial" panose="020B0604020202020204" pitchFamily="34" charset="0"/>
                <a:ea typeface="ＭＳ ゴシック" panose="020B0609070205080204" pitchFamily="49" charset="-128"/>
              </a:rPr>
              <a:t>.toString method</a:t>
            </a:r>
            <a:r>
              <a:rPr lang="en-US" altLang="ja-JP" sz="1900">
                <a:latin typeface="Arial" panose="020B0604020202020204" pitchFamily="34" charset="0"/>
              </a:rPr>
              <a:t>, hoặc, sử dụng </a:t>
            </a:r>
            <a:r>
              <a:rPr lang="en-US" altLang="ja-JP" sz="1900">
                <a:latin typeface="Arial" panose="020B0604020202020204" pitchFamily="34" charset="0"/>
                <a:ea typeface="ＭＳ ゴシック" panose="020B0609070205080204" pitchFamily="49" charset="-128"/>
              </a:rPr>
              <a:t>String.valueOf method.</a:t>
            </a:r>
            <a:endParaRPr lang="en-US" altLang="ja-JP" sz="1900">
              <a:latin typeface="Arial" panose="020B0604020202020204" pitchFamily="34" charset="0"/>
            </a:endParaRPr>
          </a:p>
        </p:txBody>
      </p:sp>
      <p:sp>
        <p:nvSpPr>
          <p:cNvPr id="746502" name="Rectangle 6">
            <a:extLst>
              <a:ext uri="{FF2B5EF4-FFF2-40B4-BE49-F238E27FC236}">
                <a16:creationId xmlns:a16="http://schemas.microsoft.com/office/drawing/2014/main" id="{3ABDBABE-B917-2E82-8E4C-691797B5EE17}"/>
              </a:ext>
            </a:extLst>
          </p:cNvPr>
          <p:cNvSpPr>
            <a:spLocks noChangeArrowheads="1"/>
          </p:cNvSpPr>
          <p:nvPr/>
        </p:nvSpPr>
        <p:spPr bwMode="auto">
          <a:xfrm>
            <a:off x="344488" y="2625724"/>
            <a:ext cx="9117013" cy="3452813"/>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46503" name="Text Box 7">
            <a:extLst>
              <a:ext uri="{FF2B5EF4-FFF2-40B4-BE49-F238E27FC236}">
                <a16:creationId xmlns:a16="http://schemas.microsoft.com/office/drawing/2014/main" id="{6B1E372E-6520-54C5-08F8-78ADB01E9FCD}"/>
              </a:ext>
            </a:extLst>
          </p:cNvPr>
          <p:cNvSpPr txBox="1">
            <a:spLocks noChangeArrowheads="1"/>
          </p:cNvSpPr>
          <p:nvPr/>
        </p:nvSpPr>
        <p:spPr bwMode="auto">
          <a:xfrm>
            <a:off x="3389313" y="4562475"/>
            <a:ext cx="781050" cy="376238"/>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ＭＳ ゴシック" panose="020B0609070205080204" pitchFamily="49" charset="-128"/>
                <a:ea typeface="ＭＳ ゴシック" panose="020B0609070205080204" pitchFamily="49" charset="-128"/>
              </a:rPr>
              <a:t>xxxx</a:t>
            </a:r>
          </a:p>
        </p:txBody>
      </p:sp>
      <p:sp>
        <p:nvSpPr>
          <p:cNvPr id="746504" name="Text Box 8">
            <a:extLst>
              <a:ext uri="{FF2B5EF4-FFF2-40B4-BE49-F238E27FC236}">
                <a16:creationId xmlns:a16="http://schemas.microsoft.com/office/drawing/2014/main" id="{BD69B535-F23B-B570-432B-E24D47DE7BEF}"/>
              </a:ext>
            </a:extLst>
          </p:cNvPr>
          <p:cNvSpPr txBox="1">
            <a:spLocks noChangeArrowheads="1"/>
          </p:cNvSpPr>
          <p:nvPr/>
        </p:nvSpPr>
        <p:spPr bwMode="auto">
          <a:xfrm>
            <a:off x="2139950" y="4549775"/>
            <a:ext cx="1685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latin typeface="ＭＳ ゴシック" panose="020B0609070205080204" pitchFamily="49" charset="-128"/>
                <a:ea typeface="ＭＳ ゴシック" panose="020B0609070205080204" pitchFamily="49" charset="-128"/>
              </a:rPr>
              <a:t>strAmount</a:t>
            </a:r>
          </a:p>
        </p:txBody>
      </p:sp>
      <p:sp>
        <p:nvSpPr>
          <p:cNvPr id="746505" name="Cloud">
            <a:extLst>
              <a:ext uri="{FF2B5EF4-FFF2-40B4-BE49-F238E27FC236}">
                <a16:creationId xmlns:a16="http://schemas.microsoft.com/office/drawing/2014/main" id="{7CE88109-7B45-3D92-7383-A7E6F1573515}"/>
              </a:ext>
            </a:extLst>
          </p:cNvPr>
          <p:cNvSpPr>
            <a:spLocks noChangeAspect="1" noEditPoints="1" noChangeArrowheads="1"/>
          </p:cNvSpPr>
          <p:nvPr/>
        </p:nvSpPr>
        <p:spPr bwMode="auto">
          <a:xfrm>
            <a:off x="6410325" y="4171950"/>
            <a:ext cx="2605088" cy="1603375"/>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a:lstStyle/>
          <a:p>
            <a:endParaRPr lang="ja-JP" altLang="en-US"/>
          </a:p>
        </p:txBody>
      </p:sp>
      <p:sp>
        <p:nvSpPr>
          <p:cNvPr id="746506" name="Rectangle 10">
            <a:extLst>
              <a:ext uri="{FF2B5EF4-FFF2-40B4-BE49-F238E27FC236}">
                <a16:creationId xmlns:a16="http://schemas.microsoft.com/office/drawing/2014/main" id="{59AF8035-1F2E-A561-674B-FE15D3BE7BD1}"/>
              </a:ext>
            </a:extLst>
          </p:cNvPr>
          <p:cNvSpPr>
            <a:spLocks noChangeArrowheads="1"/>
          </p:cNvSpPr>
          <p:nvPr/>
        </p:nvSpPr>
        <p:spPr bwMode="auto">
          <a:xfrm>
            <a:off x="5786438" y="4395788"/>
            <a:ext cx="9271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ja-JP" sz="1800">
                <a:latin typeface="ＭＳ ゴシック" panose="020B0609070205080204" pitchFamily="49" charset="-128"/>
                <a:ea typeface="ＭＳ ゴシック" panose="020B0609070205080204" pitchFamily="49" charset="-128"/>
              </a:rPr>
              <a:t>xxxx</a:t>
            </a:r>
          </a:p>
        </p:txBody>
      </p:sp>
      <p:sp>
        <p:nvSpPr>
          <p:cNvPr id="746507" name="Text Box 11">
            <a:extLst>
              <a:ext uri="{FF2B5EF4-FFF2-40B4-BE49-F238E27FC236}">
                <a16:creationId xmlns:a16="http://schemas.microsoft.com/office/drawing/2014/main" id="{6D40A52D-DB8F-DD2D-FFAB-5439E054ABBE}"/>
              </a:ext>
            </a:extLst>
          </p:cNvPr>
          <p:cNvSpPr txBox="1">
            <a:spLocks noChangeArrowheads="1"/>
          </p:cNvSpPr>
          <p:nvPr/>
        </p:nvSpPr>
        <p:spPr bwMode="auto">
          <a:xfrm>
            <a:off x="3382963" y="3082925"/>
            <a:ext cx="869950" cy="376238"/>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a:latin typeface="ＭＳ ゴシック" panose="020B0609070205080204" pitchFamily="49" charset="-128"/>
                <a:ea typeface="ＭＳ ゴシック" panose="020B0609070205080204" pitchFamily="49" charset="-128"/>
              </a:rPr>
              <a:t>5250</a:t>
            </a:r>
          </a:p>
        </p:txBody>
      </p:sp>
      <p:sp>
        <p:nvSpPr>
          <p:cNvPr id="746508" name="Text Box 12">
            <a:extLst>
              <a:ext uri="{FF2B5EF4-FFF2-40B4-BE49-F238E27FC236}">
                <a16:creationId xmlns:a16="http://schemas.microsoft.com/office/drawing/2014/main" id="{F6B9686E-8D1E-177D-9DAF-928F412E6C77}"/>
              </a:ext>
            </a:extLst>
          </p:cNvPr>
          <p:cNvSpPr txBox="1">
            <a:spLocks noChangeArrowheads="1"/>
          </p:cNvSpPr>
          <p:nvPr/>
        </p:nvSpPr>
        <p:spPr bwMode="auto">
          <a:xfrm>
            <a:off x="2139950" y="3070225"/>
            <a:ext cx="1685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800" b="0">
                <a:latin typeface="ＭＳ ゴシック" panose="020B0609070205080204" pitchFamily="49" charset="-128"/>
                <a:ea typeface="ＭＳ ゴシック" panose="020B0609070205080204" pitchFamily="49" charset="-128"/>
              </a:rPr>
              <a:t>intAmount</a:t>
            </a:r>
          </a:p>
        </p:txBody>
      </p:sp>
      <p:sp>
        <p:nvSpPr>
          <p:cNvPr id="746509" name="Line 13">
            <a:extLst>
              <a:ext uri="{FF2B5EF4-FFF2-40B4-BE49-F238E27FC236}">
                <a16:creationId xmlns:a16="http://schemas.microsoft.com/office/drawing/2014/main" id="{561B4A1E-11C9-3F73-D6FD-5DCC829D19A2}"/>
              </a:ext>
            </a:extLst>
          </p:cNvPr>
          <p:cNvSpPr>
            <a:spLocks noChangeShapeType="1"/>
          </p:cNvSpPr>
          <p:nvPr/>
        </p:nvSpPr>
        <p:spPr bwMode="auto">
          <a:xfrm flipV="1">
            <a:off x="4198938" y="4743450"/>
            <a:ext cx="1709737" cy="33338"/>
          </a:xfrm>
          <a:prstGeom prst="line">
            <a:avLst/>
          </a:prstGeom>
          <a:noFill/>
          <a:ln w="381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46510" name="AutoShape 14">
            <a:extLst>
              <a:ext uri="{FF2B5EF4-FFF2-40B4-BE49-F238E27FC236}">
                <a16:creationId xmlns:a16="http://schemas.microsoft.com/office/drawing/2014/main" id="{AD1FDE0B-343C-AA8C-8C2B-2AA2642E4E35}"/>
              </a:ext>
            </a:extLst>
          </p:cNvPr>
          <p:cNvSpPr>
            <a:spLocks noChangeArrowheads="1"/>
          </p:cNvSpPr>
          <p:nvPr/>
        </p:nvSpPr>
        <p:spPr bwMode="auto">
          <a:xfrm rot="5400000">
            <a:off x="3378200" y="3706813"/>
            <a:ext cx="698500" cy="323850"/>
          </a:xfrm>
          <a:prstGeom prst="rightArrow">
            <a:avLst>
              <a:gd name="adj1" fmla="val 50000"/>
              <a:gd name="adj2" fmla="val 53922"/>
            </a:avLst>
          </a:prstGeom>
          <a:solidFill>
            <a:srgbClr val="00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46511" name="AutoShape 15">
            <a:extLst>
              <a:ext uri="{FF2B5EF4-FFF2-40B4-BE49-F238E27FC236}">
                <a16:creationId xmlns:a16="http://schemas.microsoft.com/office/drawing/2014/main" id="{6B8186F0-A280-E56E-D1C6-75335E0CA9BB}"/>
              </a:ext>
            </a:extLst>
          </p:cNvPr>
          <p:cNvSpPr>
            <a:spLocks noChangeArrowheads="1"/>
          </p:cNvSpPr>
          <p:nvPr/>
        </p:nvSpPr>
        <p:spPr bwMode="auto">
          <a:xfrm>
            <a:off x="5262563" y="2651125"/>
            <a:ext cx="3868737" cy="1460500"/>
          </a:xfrm>
          <a:prstGeom prst="wedgeRoundRectCallout">
            <a:avLst>
              <a:gd name="adj1" fmla="val -67111"/>
              <a:gd name="adj2" fmla="val 19894"/>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28750"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dirty="0" err="1">
                <a:latin typeface="+mj-lt"/>
                <a:ea typeface="ＭＳ ゴシック" panose="020B0609070205080204" pitchFamily="49" charset="-128"/>
              </a:rPr>
              <a:t>Sư</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dụng</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Integer.toString</a:t>
            </a:r>
            <a:r>
              <a:rPr lang="en-US" altLang="ja-JP" sz="1800" b="0" dirty="0">
                <a:latin typeface="+mj-lt"/>
                <a:ea typeface="ＭＳ ゴシック" panose="020B0609070205080204" pitchFamily="49" charset="-128"/>
              </a:rPr>
              <a:t>(</a:t>
            </a:r>
            <a:r>
              <a:rPr lang="en-US" altLang="ja-JP" sz="1800" b="0" dirty="0" err="1">
                <a:latin typeface="+mj-lt"/>
                <a:ea typeface="ＭＳ ゴシック" panose="020B0609070205080204" pitchFamily="49" charset="-128"/>
              </a:rPr>
              <a:t>intAmount</a:t>
            </a:r>
            <a:r>
              <a:rPr lang="en-US" altLang="ja-JP" sz="1800" b="0" dirty="0">
                <a:latin typeface="+mj-lt"/>
                <a:ea typeface="ＭＳ ゴシック" panose="020B0609070205080204" pitchFamily="49" charset="-128"/>
              </a:rPr>
              <a:t>)</a:t>
            </a:r>
            <a:br>
              <a:rPr lang="en-US" altLang="ja-JP" sz="1800" b="0" dirty="0">
                <a:latin typeface="+mj-lt"/>
                <a:ea typeface="ＭＳ ゴシック" panose="020B0609070205080204" pitchFamily="49" charset="-128"/>
              </a:rPr>
            </a:br>
            <a:r>
              <a:rPr lang="en-US" altLang="ja-JP" sz="1800" b="0" dirty="0" err="1">
                <a:latin typeface="+mj-lt"/>
                <a:ea typeface="ＭＳ ゴシック" panose="020B0609070205080204" pitchFamily="49" charset="-128"/>
              </a:rPr>
              <a:t>hoặc</a:t>
            </a:r>
            <a:br>
              <a:rPr lang="en-US" altLang="ja-JP" sz="1800" b="0" dirty="0">
                <a:latin typeface="+mj-lt"/>
                <a:ea typeface="MS UI Gothic" panose="020B0600070205080204" pitchFamily="50" charset="-128"/>
              </a:rPr>
            </a:br>
            <a:r>
              <a:rPr lang="en-US" altLang="ja-JP" sz="1800" b="0" dirty="0" err="1">
                <a:latin typeface="+mj-lt"/>
                <a:ea typeface="ＭＳ ゴシック" panose="020B0609070205080204" pitchFamily="49" charset="-128"/>
              </a:rPr>
              <a:t>String.valueOf</a:t>
            </a:r>
            <a:r>
              <a:rPr lang="en-US" altLang="ja-JP" sz="1800" b="0" dirty="0">
                <a:latin typeface="+mj-lt"/>
                <a:ea typeface="ＭＳ ゴシック" panose="020B0609070205080204" pitchFamily="49" charset="-128"/>
              </a:rPr>
              <a:t>(</a:t>
            </a:r>
            <a:r>
              <a:rPr lang="en-US" altLang="ja-JP" sz="1800" b="0" dirty="0" err="1">
                <a:latin typeface="+mj-lt"/>
                <a:ea typeface="ＭＳ ゴシック" panose="020B0609070205080204" pitchFamily="49" charset="-128"/>
              </a:rPr>
              <a:t>intAmount</a:t>
            </a:r>
            <a:r>
              <a:rPr lang="en-US" altLang="ja-JP" sz="1800" b="0" dirty="0">
                <a:latin typeface="+mj-lt"/>
                <a:ea typeface="ＭＳ ゴシック" panose="020B0609070205080204" pitchFamily="49" charset="-128"/>
              </a:rPr>
              <a:t>)</a:t>
            </a:r>
          </a:p>
          <a:p>
            <a:pPr algn="ctr"/>
            <a:r>
              <a:rPr lang="en-US" altLang="ja-JP" sz="1800" b="0" dirty="0" err="1">
                <a:latin typeface="+mj-lt"/>
                <a:ea typeface="MS UI Gothic" panose="020B0600070205080204" pitchFamily="50" charset="-128"/>
              </a:rPr>
              <a:t>đê</a:t>
            </a:r>
            <a:r>
              <a:rPr lang="en-US" altLang="ja-JP" sz="1800" b="0" dirty="0">
                <a:latin typeface="+mj-lt"/>
                <a:ea typeface="MS UI Gothic" panose="020B0600070205080204" pitchFamily="50" charset="-128"/>
              </a:rPr>
              <a:t>̉ convert</a:t>
            </a:r>
          </a:p>
        </p:txBody>
      </p:sp>
      <p:sp>
        <p:nvSpPr>
          <p:cNvPr id="746512" name="Rectangle 16">
            <a:extLst>
              <a:ext uri="{FF2B5EF4-FFF2-40B4-BE49-F238E27FC236}">
                <a16:creationId xmlns:a16="http://schemas.microsoft.com/office/drawing/2014/main" id="{147FBC8F-5BD4-AA10-EF59-F4267BDD248B}"/>
              </a:ext>
            </a:extLst>
          </p:cNvPr>
          <p:cNvSpPr>
            <a:spLocks noChangeArrowheads="1"/>
          </p:cNvSpPr>
          <p:nvPr/>
        </p:nvSpPr>
        <p:spPr bwMode="auto">
          <a:xfrm>
            <a:off x="3886200" y="3684588"/>
            <a:ext cx="10668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a:r>
              <a:rPr lang="en-US" altLang="ja-JP" sz="1800" dirty="0">
                <a:solidFill>
                  <a:srgbClr val="0000FF"/>
                </a:solidFill>
              </a:rPr>
              <a:t>Convert</a:t>
            </a:r>
          </a:p>
        </p:txBody>
      </p:sp>
      <p:sp>
        <p:nvSpPr>
          <p:cNvPr id="746513" name="Rectangle 17">
            <a:extLst>
              <a:ext uri="{FF2B5EF4-FFF2-40B4-BE49-F238E27FC236}">
                <a16:creationId xmlns:a16="http://schemas.microsoft.com/office/drawing/2014/main" id="{B67F7492-260E-7194-9FB7-5E1C757B1F00}"/>
              </a:ext>
            </a:extLst>
          </p:cNvPr>
          <p:cNvSpPr>
            <a:spLocks noChangeArrowheads="1"/>
          </p:cNvSpPr>
          <p:nvPr/>
        </p:nvSpPr>
        <p:spPr bwMode="auto">
          <a:xfrm>
            <a:off x="674688" y="413543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b="0">
                <a:latin typeface="Arial" panose="020B0604020202020204" pitchFamily="34" charset="0"/>
              </a:rPr>
              <a:t>●Biến số kiểu chuỗi ký tự(</a:t>
            </a:r>
            <a:r>
              <a:rPr lang="en-US" altLang="ja-JP" sz="1800" b="0">
                <a:latin typeface="Arial" panose="020B0604020202020204" pitchFamily="34" charset="0"/>
                <a:ea typeface="ＭＳ ゴシック" panose="020B0609070205080204" pitchFamily="49" charset="-128"/>
              </a:rPr>
              <a:t>String</a:t>
            </a:r>
            <a:r>
              <a:rPr lang="en-US" altLang="ja-JP" sz="1800" b="0">
                <a:latin typeface="Arial" panose="020B0604020202020204" pitchFamily="34" charset="0"/>
              </a:rPr>
              <a:t>)</a:t>
            </a:r>
            <a:endParaRPr lang="en-US" altLang="ja-JP" sz="2400" b="0">
              <a:latin typeface="Arial" panose="020B0604020202020204" pitchFamily="34" charset="0"/>
            </a:endParaRPr>
          </a:p>
        </p:txBody>
      </p:sp>
      <p:sp>
        <p:nvSpPr>
          <p:cNvPr id="746514" name="Rectangle 18">
            <a:extLst>
              <a:ext uri="{FF2B5EF4-FFF2-40B4-BE49-F238E27FC236}">
                <a16:creationId xmlns:a16="http://schemas.microsoft.com/office/drawing/2014/main" id="{CA660843-2637-5AC9-A6E2-94A962C80DA2}"/>
              </a:ext>
            </a:extLst>
          </p:cNvPr>
          <p:cNvSpPr>
            <a:spLocks noChangeArrowheads="1"/>
          </p:cNvSpPr>
          <p:nvPr/>
        </p:nvSpPr>
        <p:spPr bwMode="auto">
          <a:xfrm>
            <a:off x="674688" y="268763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b="0">
                <a:latin typeface="Arial" panose="020B0604020202020204" pitchFamily="34" charset="0"/>
              </a:rPr>
              <a:t>●Biến số kiểu số nguyên (</a:t>
            </a:r>
            <a:r>
              <a:rPr lang="en-US" altLang="ja-JP" sz="1800" b="0">
                <a:latin typeface="Arial" panose="020B0604020202020204" pitchFamily="34" charset="0"/>
                <a:ea typeface="ＭＳ ゴシック" panose="020B0609070205080204" pitchFamily="49" charset="-128"/>
              </a:rPr>
              <a:t>int</a:t>
            </a:r>
            <a:r>
              <a:rPr lang="en-US" altLang="ja-JP" sz="1800" b="0">
                <a:latin typeface="Arial" panose="020B0604020202020204" pitchFamily="34" charset="0"/>
              </a:rPr>
              <a:t>)</a:t>
            </a:r>
            <a:endParaRPr lang="en-US" altLang="ja-JP" sz="2400" b="0">
              <a:latin typeface="Arial" panose="020B0604020202020204" pitchFamily="34" charset="0"/>
            </a:endParaRPr>
          </a:p>
        </p:txBody>
      </p:sp>
      <p:sp>
        <p:nvSpPr>
          <p:cNvPr id="746515" name="Text Box 19">
            <a:extLst>
              <a:ext uri="{FF2B5EF4-FFF2-40B4-BE49-F238E27FC236}">
                <a16:creationId xmlns:a16="http://schemas.microsoft.com/office/drawing/2014/main" id="{24BF08D4-CA32-3A2C-B138-568D5305CCB6}"/>
              </a:ext>
            </a:extLst>
          </p:cNvPr>
          <p:cNvSpPr txBox="1">
            <a:spLocks noChangeArrowheads="1"/>
          </p:cNvSpPr>
          <p:nvPr/>
        </p:nvSpPr>
        <p:spPr bwMode="auto">
          <a:xfrm>
            <a:off x="6889750" y="4740275"/>
            <a:ext cx="1685925" cy="36671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a:latin typeface="ＭＳ ゴシック" panose="020B0609070205080204" pitchFamily="49" charset="-128"/>
                <a:ea typeface="ＭＳ ゴシック" panose="020B0609070205080204" pitchFamily="49" charset="-128"/>
              </a:rPr>
              <a:t>"5250"</a:t>
            </a:r>
          </a:p>
        </p:txBody>
      </p:sp>
      <p:sp>
        <p:nvSpPr>
          <p:cNvPr id="746516" name="Oval 20">
            <a:extLst>
              <a:ext uri="{FF2B5EF4-FFF2-40B4-BE49-F238E27FC236}">
                <a16:creationId xmlns:a16="http://schemas.microsoft.com/office/drawing/2014/main" id="{6B1BF7BE-48CD-81BF-F17F-0B81EDACA1D7}"/>
              </a:ext>
            </a:extLst>
          </p:cNvPr>
          <p:cNvSpPr>
            <a:spLocks noChangeArrowheads="1"/>
          </p:cNvSpPr>
          <p:nvPr/>
        </p:nvSpPr>
        <p:spPr bwMode="auto">
          <a:xfrm>
            <a:off x="2962275" y="3676650"/>
            <a:ext cx="438150" cy="447675"/>
          </a:xfrm>
          <a:prstGeom prst="ellipse">
            <a:avLst/>
          </a:prstGeom>
          <a:noFill/>
          <a:ln w="31750" algn="ctr">
            <a:solidFill>
              <a:srgbClr val="FF0000"/>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4D1635C0-30B4-B640-66C4-4DC87CE9ECB6}"/>
              </a:ext>
            </a:extLst>
          </p:cNvPr>
          <p:cNvSpPr>
            <a:spLocks noGrp="1"/>
          </p:cNvSpPr>
          <p:nvPr>
            <p:ph type="sldNum" sz="quarter" idx="10"/>
          </p:nvPr>
        </p:nvSpPr>
        <p:spPr/>
        <p:txBody>
          <a:bodyPr/>
          <a:lstStyle/>
          <a:p>
            <a:fld id="{BDC94CFF-65FE-49A6-AF2B-128D771294CF}" type="slidenum">
              <a:rPr lang="en-US" altLang="ja-JP"/>
              <a:pPr/>
              <a:t>11</a:t>
            </a:fld>
            <a:endParaRPr lang="en-US" altLang="ja-JP"/>
          </a:p>
        </p:txBody>
      </p:sp>
      <p:sp>
        <p:nvSpPr>
          <p:cNvPr id="764930" name="Rectangle 2">
            <a:extLst>
              <a:ext uri="{FF2B5EF4-FFF2-40B4-BE49-F238E27FC236}">
                <a16:creationId xmlns:a16="http://schemas.microsoft.com/office/drawing/2014/main" id="{EAA36732-B8C7-8C7D-FC05-B3C01AFA47E6}"/>
              </a:ext>
            </a:extLst>
          </p:cNvPr>
          <p:cNvSpPr>
            <a:spLocks noGrp="1" noChangeArrowheads="1"/>
          </p:cNvSpPr>
          <p:nvPr>
            <p:ph type="title"/>
          </p:nvPr>
        </p:nvSpPr>
        <p:spPr>
          <a:xfrm>
            <a:off x="344488" y="311102"/>
            <a:ext cx="9217025" cy="490537"/>
          </a:xfrm>
        </p:spPr>
        <p:txBody>
          <a:bodyPr>
            <a:normAutofit fontScale="90000"/>
          </a:bodyPr>
          <a:lstStyle/>
          <a:p>
            <a:r>
              <a:rPr lang="en-US" altLang="ja-JP" dirty="0">
                <a:latin typeface="Arial" panose="020B0604020202020204" pitchFamily="34" charset="0"/>
              </a:rPr>
              <a:t>Convert </a:t>
            </a:r>
            <a:r>
              <a:rPr lang="en-US" altLang="ja-JP" dirty="0" err="1">
                <a:latin typeface="Arial" panose="020B0604020202020204" pitchFamily="34" charset="0"/>
              </a:rPr>
              <a:t>từ</a:t>
            </a:r>
            <a:r>
              <a:rPr lang="en-US" altLang="ja-JP" dirty="0">
                <a:latin typeface="Arial" panose="020B0604020202020204" pitchFamily="34" charset="0"/>
              </a:rPr>
              <a:t> </a:t>
            </a:r>
            <a:r>
              <a:rPr lang="en-US" altLang="ja-JP" dirty="0" err="1">
                <a:latin typeface="Arial" panose="020B0604020202020204" pitchFamily="34" charset="0"/>
              </a:rPr>
              <a:t>gia</a:t>
            </a:r>
            <a:r>
              <a:rPr lang="en-US" altLang="ja-JP" dirty="0">
                <a:latin typeface="Arial" panose="020B0604020202020204" pitchFamily="34" charset="0"/>
              </a:rPr>
              <a:t>́ trị </a:t>
            </a:r>
            <a:r>
              <a:rPr lang="en-US" altLang="ja-JP" dirty="0" err="1">
                <a:latin typeface="Arial" panose="020B0604020202020204" pitchFamily="34" charset="0"/>
              </a:rPr>
              <a:t>sô</a:t>
            </a:r>
            <a:r>
              <a:rPr lang="en-US" altLang="ja-JP" dirty="0">
                <a:latin typeface="Arial" panose="020B0604020202020204" pitchFamily="34" charset="0"/>
              </a:rPr>
              <a:t>́ </a:t>
            </a:r>
            <a:r>
              <a:rPr lang="en-US" altLang="ja-JP" dirty="0" err="1">
                <a:latin typeface="Arial" panose="020B0604020202020204" pitchFamily="34" charset="0"/>
              </a:rPr>
              <a:t>thành</a:t>
            </a:r>
            <a:r>
              <a:rPr lang="en-US" altLang="ja-JP" dirty="0">
                <a:latin typeface="Arial" panose="020B0604020202020204" pitchFamily="34" charset="0"/>
              </a:rPr>
              <a:t> </a:t>
            </a:r>
            <a:r>
              <a:rPr lang="en-US" altLang="ja-JP" dirty="0" err="1">
                <a:latin typeface="Arial" panose="020B0604020202020204" pitchFamily="34" charset="0"/>
              </a:rPr>
              <a:t>chuỗi</a:t>
            </a:r>
            <a:r>
              <a:rPr lang="en-US" altLang="ja-JP" dirty="0">
                <a:latin typeface="Arial" panose="020B0604020202020204" pitchFamily="34" charset="0"/>
              </a:rPr>
              <a:t> </a:t>
            </a:r>
            <a:r>
              <a:rPr lang="en-US" altLang="ja-JP" dirty="0" err="1">
                <a:latin typeface="Arial" panose="020B0604020202020204" pitchFamily="34" charset="0"/>
              </a:rPr>
              <a:t>ky</a:t>
            </a:r>
            <a:r>
              <a:rPr lang="en-US" altLang="ja-JP" dirty="0">
                <a:latin typeface="Arial" panose="020B0604020202020204" pitchFamily="34" charset="0"/>
              </a:rPr>
              <a:t>́ </a:t>
            </a:r>
            <a:r>
              <a:rPr lang="en-US" altLang="ja-JP" dirty="0" err="1">
                <a:latin typeface="Arial" panose="020B0604020202020204" pitchFamily="34" charset="0"/>
              </a:rPr>
              <a:t>tư</a:t>
            </a:r>
            <a:r>
              <a:rPr lang="en-US" altLang="ja-JP" dirty="0">
                <a:latin typeface="Arial" panose="020B0604020202020204" pitchFamily="34" charset="0"/>
              </a:rPr>
              <a:t>̣</a:t>
            </a:r>
            <a:r>
              <a:rPr lang="en-US" altLang="en-US" dirty="0">
                <a:latin typeface="Arial" panose="020B0604020202020204" pitchFamily="34" charset="0"/>
              </a:rPr>
              <a:t>（</a:t>
            </a:r>
            <a:r>
              <a:rPr lang="en-US" altLang="ja-JP" dirty="0">
                <a:latin typeface="Arial" panose="020B0604020202020204" pitchFamily="34" charset="0"/>
              </a:rPr>
              <a:t>2</a:t>
            </a:r>
            <a:r>
              <a:rPr lang="en-US" altLang="en-US" dirty="0">
                <a:latin typeface="Arial" panose="020B0604020202020204" pitchFamily="34" charset="0"/>
              </a:rPr>
              <a:t>）</a:t>
            </a:r>
            <a:endParaRPr lang="ja-JP" altLang="en-US" dirty="0">
              <a:latin typeface="Arial" panose="020B0604020202020204" pitchFamily="34" charset="0"/>
            </a:endParaRPr>
          </a:p>
        </p:txBody>
      </p:sp>
      <p:sp>
        <p:nvSpPr>
          <p:cNvPr id="764931" name="Rectangle 3">
            <a:extLst>
              <a:ext uri="{FF2B5EF4-FFF2-40B4-BE49-F238E27FC236}">
                <a16:creationId xmlns:a16="http://schemas.microsoft.com/office/drawing/2014/main" id="{1B967E8E-3941-A722-5D40-56F5CA7FB055}"/>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64932" name="Rectangle 4">
            <a:extLst>
              <a:ext uri="{FF2B5EF4-FFF2-40B4-BE49-F238E27FC236}">
                <a16:creationId xmlns:a16="http://schemas.microsoft.com/office/drawing/2014/main" id="{AB58F435-C3A1-E9C3-8350-5DBCB117A758}"/>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Convert từ giá trị số thành chuỗi ký tự</a:t>
            </a:r>
          </a:p>
          <a:p>
            <a:pPr>
              <a:spcBef>
                <a:spcPct val="50000"/>
              </a:spcBef>
              <a:buFont typeface="Wingdings" panose="05000000000000000000" pitchFamily="2" charset="2"/>
              <a:buNone/>
            </a:pPr>
            <a:r>
              <a:rPr lang="en-US" altLang="ja-JP" sz="2000" b="0">
                <a:latin typeface="Arial" panose="020B0604020202020204" pitchFamily="34" charset="0"/>
              </a:rPr>
              <a:t>●Cú pháp cơ bản</a:t>
            </a:r>
          </a:p>
          <a:p>
            <a:pPr>
              <a:spcBef>
                <a:spcPct val="50000"/>
              </a:spcBef>
              <a:buFont typeface="Wingdings" panose="05000000000000000000" pitchFamily="2" charset="2"/>
              <a:buNone/>
            </a:pPr>
            <a:endParaRPr lang="en-US" altLang="ja-JP" sz="2400" b="0">
              <a:latin typeface="Arial" panose="020B0604020202020204" pitchFamily="34" charset="0"/>
            </a:endParaRPr>
          </a:p>
        </p:txBody>
      </p:sp>
      <p:sp>
        <p:nvSpPr>
          <p:cNvPr id="764933" name="Rectangle 5">
            <a:extLst>
              <a:ext uri="{FF2B5EF4-FFF2-40B4-BE49-F238E27FC236}">
                <a16:creationId xmlns:a16="http://schemas.microsoft.com/office/drawing/2014/main" id="{4E471A88-C43D-D780-F62B-D5F40AABE145}"/>
              </a:ext>
            </a:extLst>
          </p:cNvPr>
          <p:cNvSpPr>
            <a:spLocks noChangeArrowheads="1"/>
          </p:cNvSpPr>
          <p:nvPr/>
        </p:nvSpPr>
        <p:spPr bwMode="auto">
          <a:xfrm>
            <a:off x="344488" y="30591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764934" name="Text Box 6">
            <a:extLst>
              <a:ext uri="{FF2B5EF4-FFF2-40B4-BE49-F238E27FC236}">
                <a16:creationId xmlns:a16="http://schemas.microsoft.com/office/drawing/2014/main" id="{ED3FEE45-5C3B-5AE5-60BD-2F2595E4A93E}"/>
              </a:ext>
            </a:extLst>
          </p:cNvPr>
          <p:cNvSpPr txBox="1">
            <a:spLocks noChangeArrowheads="1"/>
          </p:cNvSpPr>
          <p:nvPr/>
        </p:nvSpPr>
        <p:spPr bwMode="auto">
          <a:xfrm>
            <a:off x="344488" y="1811338"/>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1800">
                <a:ea typeface="MS UI Gothic" panose="020B0600070205080204" pitchFamily="50" charset="-128"/>
              </a:rPr>
              <a:t>Wrapperclassname</a:t>
            </a:r>
            <a:r>
              <a:rPr lang="ja-JP" altLang="ja-JP" sz="1800">
                <a:ea typeface="ＭＳ ゴシック" panose="020B0609070205080204" pitchFamily="49" charset="-128"/>
              </a:rPr>
              <a:t>.</a:t>
            </a:r>
            <a:r>
              <a:rPr lang="en-US" altLang="ja-JP" sz="1800">
                <a:ea typeface="ＭＳ ゴシック" panose="020B0609070205080204" pitchFamily="49" charset="-128"/>
              </a:rPr>
              <a:t>toString</a:t>
            </a:r>
            <a:r>
              <a:rPr lang="ja-JP" altLang="ja-JP" sz="1800">
                <a:ea typeface="ＭＳ ゴシック" panose="020B0609070205080204" pitchFamily="49" charset="-128"/>
              </a:rPr>
              <a:t>(</a:t>
            </a:r>
            <a:r>
              <a:rPr lang="en-US" altLang="ja-JP" sz="1800">
                <a:ea typeface="ＭＳ ゴシック" panose="020B0609070205080204" pitchFamily="49" charset="-128"/>
              </a:rPr>
              <a:t>Giá trị số của kiểu data cơ bản của wrapper class.</a:t>
            </a:r>
            <a:r>
              <a:rPr lang="ja-JP" altLang="ja-JP" sz="1800">
                <a:ea typeface="ＭＳ ゴシック" panose="020B0609070205080204" pitchFamily="49" charset="-128"/>
              </a:rPr>
              <a:t>)</a:t>
            </a:r>
          </a:p>
        </p:txBody>
      </p:sp>
      <p:sp>
        <p:nvSpPr>
          <p:cNvPr id="764935" name="AutoShape 7">
            <a:extLst>
              <a:ext uri="{FF2B5EF4-FFF2-40B4-BE49-F238E27FC236}">
                <a16:creationId xmlns:a16="http://schemas.microsoft.com/office/drawing/2014/main" id="{C01BECE5-B860-D8F8-6B19-88D115E97B9C}"/>
              </a:ext>
            </a:extLst>
          </p:cNvPr>
          <p:cNvSpPr>
            <a:spLocks noChangeArrowheads="1"/>
          </p:cNvSpPr>
          <p:nvPr/>
        </p:nvSpPr>
        <p:spPr bwMode="auto">
          <a:xfrm>
            <a:off x="3836988" y="1350963"/>
            <a:ext cx="3340100" cy="388937"/>
          </a:xfrm>
          <a:prstGeom prst="wedgeRoundRectCallout">
            <a:avLst>
              <a:gd name="adj1" fmla="val -103231"/>
              <a:gd name="adj2" fmla="val 83468"/>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latin typeface="ＭＳ ゴシック" panose="020B0609070205080204" pitchFamily="49" charset="-128"/>
                <a:ea typeface="ＭＳ ゴシック" panose="020B0609070205080204" pitchFamily="49" charset="-128"/>
              </a:rPr>
              <a:t>Integer, Double</a:t>
            </a:r>
            <a:r>
              <a:rPr lang="en-US" altLang="ja-JP" sz="1800">
                <a:latin typeface="MS UI Gothic" panose="020B0600070205080204" pitchFamily="50" charset="-128"/>
              </a:rPr>
              <a:t> v.v...</a:t>
            </a:r>
          </a:p>
        </p:txBody>
      </p:sp>
      <p:sp>
        <p:nvSpPr>
          <p:cNvPr id="764937" name="Rectangle 9">
            <a:extLst>
              <a:ext uri="{FF2B5EF4-FFF2-40B4-BE49-F238E27FC236}">
                <a16:creationId xmlns:a16="http://schemas.microsoft.com/office/drawing/2014/main" id="{EA34217D-5D12-C03B-A35A-3ED1F9031A77}"/>
              </a:ext>
            </a:extLst>
          </p:cNvPr>
          <p:cNvSpPr>
            <a:spLocks noChangeArrowheads="1"/>
          </p:cNvSpPr>
          <p:nvPr/>
        </p:nvSpPr>
        <p:spPr bwMode="auto">
          <a:xfrm>
            <a:off x="344488" y="3494088"/>
            <a:ext cx="9120187" cy="287178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String str1 = Integer.toString( 12 );</a:t>
            </a:r>
          </a:p>
          <a:p>
            <a:pPr lvl="1"/>
            <a:r>
              <a:rPr lang="en-US" altLang="ja-JP" sz="1800" b="0">
                <a:latin typeface="ＭＳ ゴシック" panose="020B0609070205080204" pitchFamily="49" charset="-128"/>
                <a:ea typeface="ＭＳ ゴシック" panose="020B0609070205080204" pitchFamily="49" charset="-128"/>
              </a:rPr>
              <a:t>int valInt = 123;</a:t>
            </a:r>
          </a:p>
          <a:p>
            <a:pPr lvl="1"/>
            <a:r>
              <a:rPr lang="en-US" altLang="ja-JP" sz="1800" b="0">
                <a:latin typeface="ＭＳ ゴシック" panose="020B0609070205080204" pitchFamily="49" charset="-128"/>
                <a:ea typeface="ＭＳ ゴシック" panose="020B0609070205080204" pitchFamily="49" charset="-128"/>
              </a:rPr>
              <a:t>String str3 = Integer.toString( valInt );</a:t>
            </a:r>
          </a:p>
          <a:p>
            <a:pPr lvl="1"/>
            <a:endParaRPr lang="en-US" altLang="ja-JP" sz="1800" b="0">
              <a:latin typeface="ＭＳ ゴシック" panose="020B0609070205080204" pitchFamily="49" charset="-128"/>
              <a:ea typeface="ＭＳ ゴシック" panose="020B0609070205080204" pitchFamily="49" charset="-128"/>
            </a:endParaRP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String str2 = String.valueOf( 12 );</a:t>
            </a:r>
          </a:p>
          <a:p>
            <a:pPr lvl="1"/>
            <a:r>
              <a:rPr lang="en-US" altLang="ja-JP" sz="1800" b="0">
                <a:latin typeface="ＭＳ ゴシック" panose="020B0609070205080204" pitchFamily="49" charset="-128"/>
                <a:ea typeface="ＭＳ ゴシック" panose="020B0609070205080204" pitchFamily="49" charset="-128"/>
              </a:rPr>
              <a:t>long valLong = 570000;</a:t>
            </a:r>
          </a:p>
          <a:p>
            <a:pPr lvl="1"/>
            <a:r>
              <a:rPr lang="en-US" altLang="ja-JP" sz="1800" b="0">
                <a:latin typeface="ＭＳ ゴシック" panose="020B0609070205080204" pitchFamily="49" charset="-128"/>
                <a:ea typeface="ＭＳ ゴシック" panose="020B0609070205080204" pitchFamily="49" charset="-128"/>
              </a:rPr>
              <a:t>String str4 = String.valueOf( valLong );</a:t>
            </a:r>
          </a:p>
        </p:txBody>
      </p:sp>
      <p:sp>
        <p:nvSpPr>
          <p:cNvPr id="764938" name="Rectangle 10">
            <a:extLst>
              <a:ext uri="{FF2B5EF4-FFF2-40B4-BE49-F238E27FC236}">
                <a16:creationId xmlns:a16="http://schemas.microsoft.com/office/drawing/2014/main" id="{69AF27A9-2B99-A956-5F3C-31A9590BF7D3}"/>
              </a:ext>
            </a:extLst>
          </p:cNvPr>
          <p:cNvSpPr>
            <a:spLocks noChangeArrowheads="1"/>
          </p:cNvSpPr>
          <p:nvPr/>
        </p:nvSpPr>
        <p:spPr bwMode="auto">
          <a:xfrm>
            <a:off x="4206875" y="3540125"/>
            <a:ext cx="385763" cy="3238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64939" name="Text Box 11">
            <a:extLst>
              <a:ext uri="{FF2B5EF4-FFF2-40B4-BE49-F238E27FC236}">
                <a16:creationId xmlns:a16="http://schemas.microsoft.com/office/drawing/2014/main" id="{B36E1E20-9433-556B-F35D-774470B857D3}"/>
              </a:ext>
            </a:extLst>
          </p:cNvPr>
          <p:cNvSpPr txBox="1">
            <a:spLocks noChangeArrowheads="1"/>
          </p:cNvSpPr>
          <p:nvPr/>
        </p:nvSpPr>
        <p:spPr bwMode="auto">
          <a:xfrm>
            <a:off x="6091238" y="3587750"/>
            <a:ext cx="3159125" cy="941388"/>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dirty="0">
                <a:latin typeface="+mj-lt"/>
                <a:ea typeface="ＭＳ ゴシック" panose="020B0609070205080204" pitchFamily="49" charset="-128"/>
              </a:rPr>
              <a:t>Giá trị </a:t>
            </a:r>
            <a:r>
              <a:rPr lang="en-US" altLang="ja-JP" sz="1800" b="0" dirty="0" err="1">
                <a:latin typeface="+mj-lt"/>
                <a:ea typeface="ＭＳ ゴシック" panose="020B0609070205080204" pitchFamily="49" charset="-128"/>
              </a:rPr>
              <a:t>sô</a:t>
            </a:r>
            <a:r>
              <a:rPr lang="en-US" altLang="ja-JP" sz="1800" b="0" dirty="0">
                <a:latin typeface="+mj-lt"/>
                <a:ea typeface="ＭＳ ゴシック" panose="020B0609070205080204" pitchFamily="49" charset="-128"/>
              </a:rPr>
              <a:t>́ sẽ </a:t>
            </a:r>
            <a:r>
              <a:rPr lang="en-US" altLang="ja-JP" sz="1800" b="0" dirty="0" err="1">
                <a:latin typeface="+mj-lt"/>
                <a:ea typeface="ＭＳ ゴシック" panose="020B0609070205080204" pitchFamily="49" charset="-128"/>
              </a:rPr>
              <a:t>truyền</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vào</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toString</a:t>
            </a:r>
            <a:r>
              <a:rPr lang="en-US" altLang="ja-JP" sz="1800" b="0" dirty="0">
                <a:latin typeface="+mj-lt"/>
              </a:rPr>
              <a:t> là </a:t>
            </a:r>
            <a:r>
              <a:rPr lang="en-US" altLang="ja-JP" sz="1800" b="0" dirty="0" err="1">
                <a:latin typeface="+mj-lt"/>
              </a:rPr>
              <a:t>biến</a:t>
            </a:r>
            <a:r>
              <a:rPr lang="en-US" altLang="ja-JP" sz="1800" b="0" dirty="0">
                <a:latin typeface="+mj-lt"/>
              </a:rPr>
              <a:t> </a:t>
            </a:r>
            <a:r>
              <a:rPr lang="en-US" altLang="ja-JP" sz="1800" b="0" dirty="0" err="1">
                <a:latin typeface="+mj-lt"/>
              </a:rPr>
              <a:t>sô</a:t>
            </a:r>
            <a:r>
              <a:rPr lang="en-US" altLang="ja-JP" sz="1800" b="0" dirty="0">
                <a:latin typeface="+mj-lt"/>
              </a:rPr>
              <a:t>́, literal </a:t>
            </a:r>
            <a:r>
              <a:rPr lang="en-US" altLang="ja-JP" sz="1800" b="0" dirty="0" err="1">
                <a:latin typeface="+mj-lt"/>
              </a:rPr>
              <a:t>đều</a:t>
            </a:r>
            <a:r>
              <a:rPr lang="en-US" altLang="ja-JP" sz="1800" b="0" dirty="0">
                <a:latin typeface="+mj-lt"/>
              </a:rPr>
              <a:t> </a:t>
            </a:r>
            <a:r>
              <a:rPr lang="en-US" altLang="ja-JP" sz="1800" b="0" dirty="0" err="1">
                <a:latin typeface="+mj-lt"/>
              </a:rPr>
              <a:t>được</a:t>
            </a:r>
            <a:r>
              <a:rPr lang="en-US" altLang="ja-JP" sz="1800" b="0" dirty="0">
                <a:latin typeface="+mj-lt"/>
              </a:rPr>
              <a:t>.</a:t>
            </a:r>
          </a:p>
        </p:txBody>
      </p:sp>
      <p:cxnSp>
        <p:nvCxnSpPr>
          <p:cNvPr id="764940" name="AutoShape 12">
            <a:extLst>
              <a:ext uri="{FF2B5EF4-FFF2-40B4-BE49-F238E27FC236}">
                <a16:creationId xmlns:a16="http://schemas.microsoft.com/office/drawing/2014/main" id="{411E57C3-6C55-D9C6-9ED1-709D607B1BA5}"/>
              </a:ext>
            </a:extLst>
          </p:cNvPr>
          <p:cNvCxnSpPr>
            <a:cxnSpLocks noChangeShapeType="1"/>
            <a:stCxn id="764938" idx="0"/>
            <a:endCxn id="764939" idx="0"/>
          </p:cNvCxnSpPr>
          <p:nvPr/>
        </p:nvCxnSpPr>
        <p:spPr bwMode="auto">
          <a:xfrm rot="5400000" flipV="1">
            <a:off x="6011862" y="1916113"/>
            <a:ext cx="47625" cy="3270250"/>
          </a:xfrm>
          <a:prstGeom prst="bentConnector3">
            <a:avLst>
              <a:gd name="adj1" fmla="val -453333"/>
            </a:avLst>
          </a:prstGeom>
          <a:noFill/>
          <a:ln w="25400">
            <a:solidFill>
              <a:srgbClr val="3FB007"/>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64941" name="Rectangle 13">
            <a:extLst>
              <a:ext uri="{FF2B5EF4-FFF2-40B4-BE49-F238E27FC236}">
                <a16:creationId xmlns:a16="http://schemas.microsoft.com/office/drawing/2014/main" id="{CAD6452A-FC1B-27EB-31ED-AC778366EA90}"/>
              </a:ext>
            </a:extLst>
          </p:cNvPr>
          <p:cNvSpPr>
            <a:spLocks noChangeArrowheads="1"/>
          </p:cNvSpPr>
          <p:nvPr/>
        </p:nvSpPr>
        <p:spPr bwMode="auto">
          <a:xfrm>
            <a:off x="4211638" y="4129088"/>
            <a:ext cx="812800" cy="3238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764942" name="AutoShape 14">
            <a:extLst>
              <a:ext uri="{FF2B5EF4-FFF2-40B4-BE49-F238E27FC236}">
                <a16:creationId xmlns:a16="http://schemas.microsoft.com/office/drawing/2014/main" id="{4ED32306-5200-A4FC-D193-24BFE5BC092B}"/>
              </a:ext>
            </a:extLst>
          </p:cNvPr>
          <p:cNvCxnSpPr>
            <a:cxnSpLocks noChangeShapeType="1"/>
            <a:stCxn id="764939" idx="2"/>
            <a:endCxn id="764941" idx="2"/>
          </p:cNvCxnSpPr>
          <p:nvPr/>
        </p:nvCxnSpPr>
        <p:spPr bwMode="auto">
          <a:xfrm rot="16200000" flipV="1">
            <a:off x="6106319" y="2977357"/>
            <a:ext cx="76200" cy="3052762"/>
          </a:xfrm>
          <a:prstGeom prst="bentConnector3">
            <a:avLst>
              <a:gd name="adj1" fmla="val -281250"/>
            </a:avLst>
          </a:prstGeom>
          <a:noFill/>
          <a:ln w="254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64943" name="AutoShape 15">
            <a:extLst>
              <a:ext uri="{FF2B5EF4-FFF2-40B4-BE49-F238E27FC236}">
                <a16:creationId xmlns:a16="http://schemas.microsoft.com/office/drawing/2014/main" id="{7762AD4E-09CD-9417-84E4-8C5872894563}"/>
              </a:ext>
            </a:extLst>
          </p:cNvPr>
          <p:cNvSpPr>
            <a:spLocks noChangeArrowheads="1"/>
          </p:cNvSpPr>
          <p:nvPr/>
        </p:nvSpPr>
        <p:spPr bwMode="auto">
          <a:xfrm>
            <a:off x="2932113" y="6140450"/>
            <a:ext cx="1349375" cy="388938"/>
          </a:xfrm>
          <a:prstGeom prst="wedgeRoundRectCallout">
            <a:avLst>
              <a:gd name="adj1" fmla="val 43648"/>
              <a:gd name="adj2" fmla="val -84694"/>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latin typeface="ＭＳ ゴシック" panose="020B0609070205080204" pitchFamily="49" charset="-128"/>
                <a:ea typeface="ＭＳ ゴシック" panose="020B0609070205080204" pitchFamily="49" charset="-128"/>
              </a:rPr>
              <a:t>570000</a:t>
            </a:r>
            <a:endParaRPr lang="en-US" altLang="ja-JP" sz="1800">
              <a:latin typeface="MS UI Gothic" panose="020B0600070205080204" pitchFamily="50" charset="-128"/>
            </a:endParaRPr>
          </a:p>
        </p:txBody>
      </p:sp>
      <p:sp>
        <p:nvSpPr>
          <p:cNvPr id="764945" name="AutoShape 17">
            <a:extLst>
              <a:ext uri="{FF2B5EF4-FFF2-40B4-BE49-F238E27FC236}">
                <a16:creationId xmlns:a16="http://schemas.microsoft.com/office/drawing/2014/main" id="{547D385E-DE01-87BD-262E-B0FA99519CF9}"/>
              </a:ext>
            </a:extLst>
          </p:cNvPr>
          <p:cNvSpPr>
            <a:spLocks noChangeArrowheads="1"/>
          </p:cNvSpPr>
          <p:nvPr/>
        </p:nvSpPr>
        <p:spPr bwMode="auto">
          <a:xfrm>
            <a:off x="1052513" y="6143625"/>
            <a:ext cx="1349375" cy="388938"/>
          </a:xfrm>
          <a:prstGeom prst="wedgeRoundRectCallout">
            <a:avLst>
              <a:gd name="adj1" fmla="val -6472"/>
              <a:gd name="adj2" fmla="val -108778"/>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latin typeface="ＭＳ ゴシック" panose="020B0609070205080204" pitchFamily="49" charset="-128"/>
                <a:ea typeface="ＭＳ ゴシック" panose="020B0609070205080204" pitchFamily="49" charset="-128"/>
              </a:rPr>
              <a:t>"570000"</a:t>
            </a:r>
            <a:endParaRPr lang="en-US" altLang="ja-JP" sz="1800">
              <a:latin typeface="MS UI Gothic" panose="020B0600070205080204" pitchFamily="50" charset="-128"/>
            </a:endParaRPr>
          </a:p>
        </p:txBody>
      </p:sp>
      <p:sp>
        <p:nvSpPr>
          <p:cNvPr id="764947" name="Text Box 19">
            <a:extLst>
              <a:ext uri="{FF2B5EF4-FFF2-40B4-BE49-F238E27FC236}">
                <a16:creationId xmlns:a16="http://schemas.microsoft.com/office/drawing/2014/main" id="{5C90E2DD-FF88-4793-393F-9CD937AD6AFA}"/>
              </a:ext>
            </a:extLst>
          </p:cNvPr>
          <p:cNvSpPr txBox="1">
            <a:spLocks noChangeArrowheads="1"/>
          </p:cNvSpPr>
          <p:nvPr/>
        </p:nvSpPr>
        <p:spPr bwMode="auto">
          <a:xfrm>
            <a:off x="347663" y="2568575"/>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ＭＳ ゴシック" panose="020B0609070205080204" pitchFamily="49" charset="-128"/>
              </a:rPr>
              <a:t>String</a:t>
            </a:r>
            <a:r>
              <a:rPr lang="ja-JP" altLang="ja-JP" sz="2000">
                <a:ea typeface="ＭＳ ゴシック" panose="020B0609070205080204" pitchFamily="49" charset="-128"/>
              </a:rPr>
              <a:t>.</a:t>
            </a:r>
            <a:r>
              <a:rPr lang="en-US" altLang="ja-JP" sz="2000">
                <a:ea typeface="ＭＳ ゴシック" panose="020B0609070205080204" pitchFamily="49" charset="-128"/>
              </a:rPr>
              <a:t>valueOf</a:t>
            </a:r>
            <a:r>
              <a:rPr lang="ja-JP" altLang="ja-JP" sz="2000">
                <a:ea typeface="ＭＳ ゴシック" panose="020B0609070205080204" pitchFamily="49" charset="-128"/>
              </a:rPr>
              <a:t>(</a:t>
            </a:r>
            <a:r>
              <a:rPr lang="en-US" altLang="ja-JP" sz="2000">
                <a:ea typeface="ＭＳ ゴシック" panose="020B0609070205080204" pitchFamily="49" charset="-128"/>
              </a:rPr>
              <a:t>Giá trị số</a:t>
            </a:r>
            <a:r>
              <a:rPr lang="ja-JP" altLang="ja-JP" sz="2000">
                <a:ea typeface="ＭＳ ゴシック" panose="020B0609070205080204" pitchFamily="49" charset="-128"/>
              </a:rPr>
              <a:t>)</a:t>
            </a:r>
          </a:p>
        </p:txBody>
      </p:sp>
      <p:sp>
        <p:nvSpPr>
          <p:cNvPr id="764948" name="Rectangle 20">
            <a:extLst>
              <a:ext uri="{FF2B5EF4-FFF2-40B4-BE49-F238E27FC236}">
                <a16:creationId xmlns:a16="http://schemas.microsoft.com/office/drawing/2014/main" id="{42F40066-1D8B-3748-1044-277CBFB1A376}"/>
              </a:ext>
            </a:extLst>
          </p:cNvPr>
          <p:cNvSpPr>
            <a:spLocks noChangeArrowheads="1"/>
          </p:cNvSpPr>
          <p:nvPr/>
        </p:nvSpPr>
        <p:spPr bwMode="auto">
          <a:xfrm>
            <a:off x="4006850" y="5048250"/>
            <a:ext cx="319088" cy="323850"/>
          </a:xfrm>
          <a:prstGeom prst="rect">
            <a:avLst/>
          </a:prstGeom>
          <a:noFill/>
          <a:ln w="38100" algn="ctr">
            <a:solidFill>
              <a:srgbClr val="FF99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pPr>
            <a:endParaRPr lang="ja-JP" altLang="ja-JP" sz="1800" b="0">
              <a:latin typeface="ＭＳ ゴシック" panose="020B0609070205080204" pitchFamily="49" charset="-128"/>
              <a:ea typeface="ＭＳ ゴシック" panose="020B0609070205080204" pitchFamily="49" charset="-128"/>
            </a:endParaRPr>
          </a:p>
        </p:txBody>
      </p:sp>
      <p:sp>
        <p:nvSpPr>
          <p:cNvPr id="764949" name="Text Box 21">
            <a:extLst>
              <a:ext uri="{FF2B5EF4-FFF2-40B4-BE49-F238E27FC236}">
                <a16:creationId xmlns:a16="http://schemas.microsoft.com/office/drawing/2014/main" id="{C8F27E93-4CF3-39C9-B642-669318D05CDB}"/>
              </a:ext>
            </a:extLst>
          </p:cNvPr>
          <p:cNvSpPr txBox="1">
            <a:spLocks noChangeArrowheads="1"/>
          </p:cNvSpPr>
          <p:nvPr/>
        </p:nvSpPr>
        <p:spPr bwMode="auto">
          <a:xfrm>
            <a:off x="6078538" y="5046663"/>
            <a:ext cx="3286125" cy="981075"/>
          </a:xfrm>
          <a:prstGeom prst="rect">
            <a:avLst/>
          </a:prstGeom>
          <a:noFill/>
          <a:ln w="38100" algn="ctr">
            <a:solidFill>
              <a:srgbClr val="FF99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pPr>
            <a:r>
              <a:rPr lang="en-US" altLang="ja-JP" sz="1600" b="0" dirty="0">
                <a:latin typeface="+mj-lt"/>
                <a:ea typeface="ＭＳ ゴシック" panose="020B0609070205080204" pitchFamily="49" charset="-128"/>
              </a:rPr>
              <a:t>Giá trị </a:t>
            </a:r>
            <a:r>
              <a:rPr lang="en-US" altLang="ja-JP" sz="1600" b="0" dirty="0" err="1">
                <a:latin typeface="+mj-lt"/>
                <a:ea typeface="ＭＳ ゴシック" panose="020B0609070205080204" pitchFamily="49" charset="-128"/>
              </a:rPr>
              <a:t>sô</a:t>
            </a:r>
            <a:r>
              <a:rPr lang="en-US" altLang="ja-JP" sz="1600" b="0" dirty="0">
                <a:latin typeface="+mj-lt"/>
                <a:ea typeface="ＭＳ ゴシック" panose="020B0609070205080204" pitchFamily="49" charset="-128"/>
              </a:rPr>
              <a:t>́ sẽ </a:t>
            </a:r>
            <a:r>
              <a:rPr lang="en-US" altLang="ja-JP" sz="1600" b="0" dirty="0" err="1">
                <a:latin typeface="+mj-lt"/>
                <a:ea typeface="ＭＳ ゴシック" panose="020B0609070205080204" pitchFamily="49" charset="-128"/>
              </a:rPr>
              <a:t>truyền</a:t>
            </a:r>
            <a:r>
              <a:rPr lang="en-US" altLang="ja-JP" sz="1600" b="0" dirty="0">
                <a:latin typeface="+mj-lt"/>
                <a:ea typeface="ＭＳ ゴシック" panose="020B0609070205080204" pitchFamily="49" charset="-128"/>
              </a:rPr>
              <a:t> </a:t>
            </a:r>
            <a:r>
              <a:rPr lang="en-US" altLang="ja-JP" sz="1600" b="0" dirty="0" err="1">
                <a:latin typeface="+mj-lt"/>
                <a:ea typeface="ＭＳ ゴシック" panose="020B0609070205080204" pitchFamily="49" charset="-128"/>
              </a:rPr>
              <a:t>vào</a:t>
            </a:r>
            <a:r>
              <a:rPr lang="en-US" altLang="ja-JP" sz="1600" b="0" dirty="0">
                <a:latin typeface="+mj-lt"/>
                <a:ea typeface="ＭＳ ゴシック" panose="020B0609070205080204" pitchFamily="49" charset="-128"/>
              </a:rPr>
              <a:t> </a:t>
            </a:r>
          </a:p>
          <a:p>
            <a:pPr algn="ctr">
              <a:spcBef>
                <a:spcPct val="50000"/>
              </a:spcBef>
            </a:pPr>
            <a:r>
              <a:rPr lang="en-US" altLang="ja-JP" sz="1600" b="0" dirty="0" err="1">
                <a:latin typeface="+mj-lt"/>
                <a:ea typeface="ＭＳ ゴシック" panose="020B0609070205080204" pitchFamily="49" charset="-128"/>
              </a:rPr>
              <a:t>valueOf</a:t>
            </a:r>
            <a:r>
              <a:rPr lang="en-US" altLang="ja-JP" sz="1600" b="0" dirty="0">
                <a:latin typeface="+mj-lt"/>
                <a:ea typeface="ＭＳ ゴシック" panose="020B0609070205080204" pitchFamily="49" charset="-128"/>
              </a:rPr>
              <a:t> là </a:t>
            </a:r>
            <a:r>
              <a:rPr lang="en-US" altLang="ja-JP" sz="1600" b="0" dirty="0" err="1">
                <a:latin typeface="+mj-lt"/>
                <a:ea typeface="ＭＳ ゴシック" panose="020B0609070205080204" pitchFamily="49" charset="-128"/>
              </a:rPr>
              <a:t>biến</a:t>
            </a:r>
            <a:r>
              <a:rPr lang="en-US" altLang="ja-JP" sz="1600" b="0" dirty="0">
                <a:latin typeface="+mj-lt"/>
                <a:ea typeface="ＭＳ ゴシック" panose="020B0609070205080204" pitchFamily="49" charset="-128"/>
              </a:rPr>
              <a:t> </a:t>
            </a:r>
            <a:r>
              <a:rPr lang="en-US" altLang="ja-JP" sz="1600" b="0" dirty="0" err="1">
                <a:latin typeface="+mj-lt"/>
                <a:ea typeface="ＭＳ ゴシック" panose="020B0609070205080204" pitchFamily="49" charset="-128"/>
              </a:rPr>
              <a:t>sô</a:t>
            </a:r>
            <a:r>
              <a:rPr lang="en-US" altLang="ja-JP" sz="1600" b="0" dirty="0">
                <a:latin typeface="+mj-lt"/>
                <a:ea typeface="ＭＳ ゴシック" panose="020B0609070205080204" pitchFamily="49" charset="-128"/>
              </a:rPr>
              <a:t>́, literal </a:t>
            </a:r>
          </a:p>
          <a:p>
            <a:pPr algn="ctr">
              <a:spcBef>
                <a:spcPct val="50000"/>
              </a:spcBef>
            </a:pPr>
            <a:r>
              <a:rPr lang="en-US" altLang="ja-JP" sz="1600" b="0" dirty="0" err="1">
                <a:latin typeface="+mj-lt"/>
                <a:ea typeface="ＭＳ ゴシック" panose="020B0609070205080204" pitchFamily="49" charset="-128"/>
              </a:rPr>
              <a:t>đều</a:t>
            </a:r>
            <a:r>
              <a:rPr lang="en-US" altLang="ja-JP" sz="1600" b="0" dirty="0">
                <a:latin typeface="+mj-lt"/>
                <a:ea typeface="ＭＳ ゴシック" panose="020B0609070205080204" pitchFamily="49" charset="-128"/>
              </a:rPr>
              <a:t> </a:t>
            </a:r>
            <a:r>
              <a:rPr lang="en-US" altLang="ja-JP" sz="1600" b="0" dirty="0" err="1">
                <a:latin typeface="+mj-lt"/>
                <a:ea typeface="ＭＳ ゴシック" panose="020B0609070205080204" pitchFamily="49" charset="-128"/>
              </a:rPr>
              <a:t>được</a:t>
            </a:r>
            <a:r>
              <a:rPr lang="en-US" altLang="ja-JP" sz="1600" b="0" dirty="0">
                <a:latin typeface="+mj-lt"/>
                <a:ea typeface="ＭＳ ゴシック" panose="020B0609070205080204" pitchFamily="49" charset="-128"/>
              </a:rPr>
              <a:t>.</a:t>
            </a:r>
            <a:endParaRPr lang="en-US" altLang="ja-JP" sz="1600" b="0" dirty="0">
              <a:latin typeface="+mj-lt"/>
            </a:endParaRPr>
          </a:p>
        </p:txBody>
      </p:sp>
      <p:cxnSp>
        <p:nvCxnSpPr>
          <p:cNvPr id="764950" name="AutoShape 22">
            <a:extLst>
              <a:ext uri="{FF2B5EF4-FFF2-40B4-BE49-F238E27FC236}">
                <a16:creationId xmlns:a16="http://schemas.microsoft.com/office/drawing/2014/main" id="{B5DED2CC-3849-53CE-B915-4ABCF9FBBCB1}"/>
              </a:ext>
            </a:extLst>
          </p:cNvPr>
          <p:cNvCxnSpPr>
            <a:cxnSpLocks noChangeShapeType="1"/>
            <a:stCxn id="764948" idx="0"/>
            <a:endCxn id="764949" idx="0"/>
          </p:cNvCxnSpPr>
          <p:nvPr/>
        </p:nvCxnSpPr>
        <p:spPr bwMode="auto">
          <a:xfrm rot="16200000">
            <a:off x="5943600" y="3251201"/>
            <a:ext cx="1587" cy="3554412"/>
          </a:xfrm>
          <a:prstGeom prst="bentConnector3">
            <a:avLst>
              <a:gd name="adj1" fmla="val 13300000"/>
            </a:avLst>
          </a:prstGeom>
          <a:noFill/>
          <a:ln w="38100">
            <a:solidFill>
              <a:srgbClr val="FF9900"/>
            </a:solidFill>
            <a:prstDash val="sysDot"/>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64951" name="Rectangle 23">
            <a:extLst>
              <a:ext uri="{FF2B5EF4-FFF2-40B4-BE49-F238E27FC236}">
                <a16:creationId xmlns:a16="http://schemas.microsoft.com/office/drawing/2014/main" id="{ECE42686-F9EC-D301-55EE-B18F58971EC5}"/>
              </a:ext>
            </a:extLst>
          </p:cNvPr>
          <p:cNvSpPr>
            <a:spLocks noChangeArrowheads="1"/>
          </p:cNvSpPr>
          <p:nvPr/>
        </p:nvSpPr>
        <p:spPr bwMode="auto">
          <a:xfrm>
            <a:off x="4002088" y="5675313"/>
            <a:ext cx="889000" cy="323850"/>
          </a:xfrm>
          <a:prstGeom prst="rect">
            <a:avLst/>
          </a:prstGeom>
          <a:noFill/>
          <a:ln w="38100" algn="ctr">
            <a:solidFill>
              <a:srgbClr val="FF99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pPr>
            <a:endParaRPr lang="ja-JP" altLang="ja-JP" sz="1800" b="0">
              <a:latin typeface="ＭＳ ゴシック" panose="020B0609070205080204" pitchFamily="49" charset="-128"/>
              <a:ea typeface="ＭＳ ゴシック" panose="020B0609070205080204" pitchFamily="49" charset="-128"/>
            </a:endParaRPr>
          </a:p>
        </p:txBody>
      </p:sp>
      <p:cxnSp>
        <p:nvCxnSpPr>
          <p:cNvPr id="764952" name="AutoShape 24">
            <a:extLst>
              <a:ext uri="{FF2B5EF4-FFF2-40B4-BE49-F238E27FC236}">
                <a16:creationId xmlns:a16="http://schemas.microsoft.com/office/drawing/2014/main" id="{5B52F723-BC38-789E-6188-CB2F7C956510}"/>
              </a:ext>
            </a:extLst>
          </p:cNvPr>
          <p:cNvCxnSpPr>
            <a:cxnSpLocks noChangeShapeType="1"/>
            <a:stCxn id="764949" idx="2"/>
            <a:endCxn id="764951" idx="2"/>
          </p:cNvCxnSpPr>
          <p:nvPr/>
        </p:nvCxnSpPr>
        <p:spPr bwMode="auto">
          <a:xfrm rot="16200000" flipV="1">
            <a:off x="6069806" y="4394995"/>
            <a:ext cx="28575" cy="3275012"/>
          </a:xfrm>
          <a:prstGeom prst="bentConnector3">
            <a:avLst>
              <a:gd name="adj1" fmla="val -733333"/>
            </a:avLst>
          </a:prstGeom>
          <a:noFill/>
          <a:ln w="38100">
            <a:solidFill>
              <a:srgbClr val="FF9900"/>
            </a:solidFill>
            <a:prstDash val="sysDot"/>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FD942B-A945-66BE-2F10-510E942B8FB9}"/>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E0698196-915A-425E-B65E-A623C0A95E4C}" type="slidenum">
              <a:rPr lang="en-US" altLang="ja-JP" smtClean="0"/>
              <a:pPr/>
              <a:t>12</a:t>
            </a:fld>
            <a:endParaRPr lang="en-US" altLang="ja-JP"/>
          </a:p>
        </p:txBody>
      </p:sp>
      <p:sp>
        <p:nvSpPr>
          <p:cNvPr id="256003" name="Text Box 3">
            <a:extLst>
              <a:ext uri="{FF2B5EF4-FFF2-40B4-BE49-F238E27FC236}">
                <a16:creationId xmlns:a16="http://schemas.microsoft.com/office/drawing/2014/main" id="{2C3E37E9-713B-F367-31E9-E12FEB6FC14D}"/>
              </a:ext>
            </a:extLst>
          </p:cNvPr>
          <p:cNvSpPr txBox="1">
            <a:spLocks noChangeArrowheads="1"/>
          </p:cNvSpPr>
          <p:nvPr/>
        </p:nvSpPr>
        <p:spPr bwMode="auto">
          <a:xfrm>
            <a:off x="2273300" y="2336800"/>
            <a:ext cx="5049838" cy="1192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br>
              <a:rPr lang="en-US" altLang="ja-JP" sz="2100" b="0" dirty="0">
                <a:ea typeface="ヒラギノ明朝 Pro W6" pitchFamily="18" charset="-128"/>
              </a:rPr>
            </a:br>
            <a:r>
              <a:rPr lang="en-US" altLang="ja-JP" sz="4700" b="0" dirty="0" err="1">
                <a:ea typeface="ヒラギノ明朝 Pro W6" pitchFamily="18" charset="-128"/>
              </a:rPr>
              <a:t>Câu</a:t>
            </a:r>
            <a:r>
              <a:rPr lang="en-US" altLang="ja-JP" sz="4700" b="0" dirty="0">
                <a:ea typeface="ヒラギノ明朝 Pro W6" pitchFamily="18" charset="-128"/>
              </a:rPr>
              <a:t> </a:t>
            </a:r>
            <a:r>
              <a:rPr lang="en-US" altLang="ja-JP" sz="4700" b="0" dirty="0" err="1">
                <a:ea typeface="ヒラギノ明朝 Pro W6" pitchFamily="18" charset="-128"/>
              </a:rPr>
              <a:t>lệnh</a:t>
            </a:r>
            <a:r>
              <a:rPr lang="en-US" altLang="ja-JP" sz="4700" b="0" dirty="0">
                <a:ea typeface="ヒラギノ明朝 Pro W6" pitchFamily="18" charset="-128"/>
              </a:rPr>
              <a:t> control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302DF5F9-588D-F20A-96C7-2336B4634BB9}"/>
              </a:ext>
            </a:extLst>
          </p:cNvPr>
          <p:cNvSpPr>
            <a:spLocks noGrp="1"/>
          </p:cNvSpPr>
          <p:nvPr>
            <p:ph type="sldNum" sz="quarter" idx="10"/>
          </p:nvPr>
        </p:nvSpPr>
        <p:spPr/>
        <p:txBody>
          <a:bodyPr/>
          <a:lstStyle/>
          <a:p>
            <a:fld id="{A7B8BA64-0EE3-4433-AB90-5E6493BD0698}" type="slidenum">
              <a:rPr lang="en-US" altLang="ja-JP"/>
              <a:pPr/>
              <a:t>13</a:t>
            </a:fld>
            <a:endParaRPr lang="en-US" altLang="ja-JP"/>
          </a:p>
        </p:txBody>
      </p:sp>
      <p:sp>
        <p:nvSpPr>
          <p:cNvPr id="688130" name="Rectangle 2">
            <a:extLst>
              <a:ext uri="{FF2B5EF4-FFF2-40B4-BE49-F238E27FC236}">
                <a16:creationId xmlns:a16="http://schemas.microsoft.com/office/drawing/2014/main" id="{5EFC53F7-F835-565F-CF98-7569401E4137}"/>
              </a:ext>
            </a:extLst>
          </p:cNvPr>
          <p:cNvSpPr>
            <a:spLocks noGrp="1" noChangeArrowheads="1"/>
          </p:cNvSpPr>
          <p:nvPr>
            <p:ph type="title"/>
          </p:nvPr>
        </p:nvSpPr>
        <p:spPr>
          <a:xfrm>
            <a:off x="362743" y="346500"/>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Câu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lệnh</a:t>
            </a:r>
            <a:r>
              <a:rPr lang="en-US" altLang="ja-JP" dirty="0">
                <a:latin typeface="Arial" panose="020B0604020202020204" pitchFamily="34" charset="0"/>
                <a:ea typeface="MS UI Gothic" panose="020B0600070205080204" pitchFamily="50" charset="-128"/>
              </a:rPr>
              <a:t> control </a:t>
            </a:r>
            <a:r>
              <a:rPr lang="en-US" altLang="ja-JP" dirty="0" err="1">
                <a:latin typeface="Arial" panose="020B0604020202020204" pitchFamily="34" charset="0"/>
                <a:ea typeface="MS UI Gothic" panose="020B0600070205080204" pitchFamily="50" charset="-128"/>
              </a:rPr>
              <a:t>là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gì</a:t>
            </a:r>
            <a:endParaRPr lang="en-US" altLang="ja-JP" dirty="0">
              <a:latin typeface="Arial" panose="020B0604020202020204" pitchFamily="34" charset="0"/>
              <a:ea typeface="MS UI Gothic" panose="020B0600070205080204" pitchFamily="50" charset="-128"/>
            </a:endParaRPr>
          </a:p>
        </p:txBody>
      </p:sp>
      <p:sp>
        <p:nvSpPr>
          <p:cNvPr id="688131" name="Rectangle 3">
            <a:extLst>
              <a:ext uri="{FF2B5EF4-FFF2-40B4-BE49-F238E27FC236}">
                <a16:creationId xmlns:a16="http://schemas.microsoft.com/office/drawing/2014/main" id="{9914686D-E7E0-D28A-4437-5FA0FDAFE608}"/>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688132" name="Rectangle 4">
            <a:extLst>
              <a:ext uri="{FF2B5EF4-FFF2-40B4-BE49-F238E27FC236}">
                <a16:creationId xmlns:a16="http://schemas.microsoft.com/office/drawing/2014/main" id="{B8617C17-E5E2-B5B2-E592-AE3430012771}"/>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Câu lệnh control là</a:t>
            </a:r>
          </a:p>
          <a:p>
            <a:endParaRPr lang="en-US" altLang="ja-JP" sz="2400" b="0"/>
          </a:p>
          <a:p>
            <a:endParaRPr lang="en-US" altLang="ja-JP" sz="2400" b="0"/>
          </a:p>
          <a:p>
            <a:endParaRPr lang="en-US" altLang="ja-JP" sz="2400" b="0"/>
          </a:p>
          <a:p>
            <a:r>
              <a:rPr lang="en-US" altLang="zh-TW" sz="2400" b="0">
                <a:latin typeface="Arial" panose="020B0604020202020204" pitchFamily="34" charset="0"/>
              </a:rPr>
              <a:t>3 cấu trúc cơ bản</a:t>
            </a:r>
            <a:endParaRPr lang="en-US" altLang="ja-JP" sz="2400" b="0">
              <a:latin typeface="Arial" panose="020B0604020202020204" pitchFamily="34" charset="0"/>
            </a:endParaRPr>
          </a:p>
          <a:p>
            <a:endParaRPr lang="en-US" altLang="ja-JP" sz="2400" b="0"/>
          </a:p>
          <a:p>
            <a:endParaRPr lang="en-US" altLang="ja-JP" sz="2400" b="0"/>
          </a:p>
        </p:txBody>
      </p:sp>
      <p:sp>
        <p:nvSpPr>
          <p:cNvPr id="688133" name="Rectangle 5">
            <a:extLst>
              <a:ext uri="{FF2B5EF4-FFF2-40B4-BE49-F238E27FC236}">
                <a16:creationId xmlns:a16="http://schemas.microsoft.com/office/drawing/2014/main" id="{C61F846D-8628-284D-1514-4486F3715EEA}"/>
              </a:ext>
            </a:extLst>
          </p:cNvPr>
          <p:cNvSpPr>
            <a:spLocks noChangeArrowheads="1"/>
          </p:cNvSpPr>
          <p:nvPr/>
        </p:nvSpPr>
        <p:spPr bwMode="auto">
          <a:xfrm>
            <a:off x="344488" y="12493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Cú pháp để control flow xử lý của program.</a:t>
            </a:r>
          </a:p>
        </p:txBody>
      </p:sp>
      <p:grpSp>
        <p:nvGrpSpPr>
          <p:cNvPr id="688178" name="Group 50">
            <a:extLst>
              <a:ext uri="{FF2B5EF4-FFF2-40B4-BE49-F238E27FC236}">
                <a16:creationId xmlns:a16="http://schemas.microsoft.com/office/drawing/2014/main" id="{1E108B9B-DCFF-7A9B-AE69-FE1E6F5AF215}"/>
              </a:ext>
            </a:extLst>
          </p:cNvPr>
          <p:cNvGrpSpPr>
            <a:grpSpLocks/>
          </p:cNvGrpSpPr>
          <p:nvPr/>
        </p:nvGrpSpPr>
        <p:grpSpPr bwMode="auto">
          <a:xfrm>
            <a:off x="457200" y="2921000"/>
            <a:ext cx="2887663" cy="3082925"/>
            <a:chOff x="360" y="2208"/>
            <a:chExt cx="1819" cy="1942"/>
          </a:xfrm>
        </p:grpSpPr>
        <p:sp>
          <p:nvSpPr>
            <p:cNvPr id="688153" name="Rectangle 25">
              <a:extLst>
                <a:ext uri="{FF2B5EF4-FFF2-40B4-BE49-F238E27FC236}">
                  <a16:creationId xmlns:a16="http://schemas.microsoft.com/office/drawing/2014/main" id="{4E5F3964-971E-B38A-3CE7-68768D00278C}"/>
                </a:ext>
              </a:extLst>
            </p:cNvPr>
            <p:cNvSpPr>
              <a:spLocks noChangeArrowheads="1"/>
            </p:cNvSpPr>
            <p:nvPr/>
          </p:nvSpPr>
          <p:spPr bwMode="auto">
            <a:xfrm>
              <a:off x="360" y="2208"/>
              <a:ext cx="1819" cy="19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688143" name="Line 15">
              <a:extLst>
                <a:ext uri="{FF2B5EF4-FFF2-40B4-BE49-F238E27FC236}">
                  <a16:creationId xmlns:a16="http://schemas.microsoft.com/office/drawing/2014/main" id="{3B1F6F98-41A9-872B-3914-F59F653BB966}"/>
                </a:ext>
              </a:extLst>
            </p:cNvPr>
            <p:cNvSpPr>
              <a:spLocks noChangeShapeType="1"/>
            </p:cNvSpPr>
            <p:nvPr/>
          </p:nvSpPr>
          <p:spPr bwMode="auto">
            <a:xfrm>
              <a:off x="1268" y="2731"/>
              <a:ext cx="8" cy="130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63" name="Text Box 35">
              <a:extLst>
                <a:ext uri="{FF2B5EF4-FFF2-40B4-BE49-F238E27FC236}">
                  <a16:creationId xmlns:a16="http://schemas.microsoft.com/office/drawing/2014/main" id="{E8CB3F77-B030-4A27-B041-3C77AE276D47}"/>
                </a:ext>
              </a:extLst>
            </p:cNvPr>
            <p:cNvSpPr txBox="1">
              <a:spLocks noChangeArrowheads="1"/>
            </p:cNvSpPr>
            <p:nvPr/>
          </p:nvSpPr>
          <p:spPr bwMode="auto">
            <a:xfrm>
              <a:off x="408" y="2264"/>
              <a:ext cx="1712" cy="2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000" dirty="0" err="1">
                  <a:latin typeface="+mj-lt"/>
                </a:rPr>
                <a:t>Cấu</a:t>
              </a:r>
              <a:r>
                <a:rPr lang="en-US" altLang="ja-JP" sz="2000" dirty="0">
                  <a:latin typeface="+mj-lt"/>
                </a:rPr>
                <a:t> </a:t>
              </a:r>
              <a:r>
                <a:rPr lang="en-US" altLang="ja-JP" sz="2000" dirty="0" err="1">
                  <a:latin typeface="+mj-lt"/>
                </a:rPr>
                <a:t>trúc</a:t>
              </a:r>
              <a:r>
                <a:rPr lang="en-US" altLang="ja-JP" sz="2000" dirty="0">
                  <a:latin typeface="+mj-lt"/>
                </a:rPr>
                <a:t> </a:t>
              </a:r>
              <a:r>
                <a:rPr lang="en-US" altLang="ja-JP" sz="2000" dirty="0" err="1">
                  <a:latin typeface="+mj-lt"/>
                </a:rPr>
                <a:t>tuần</a:t>
              </a:r>
              <a:r>
                <a:rPr lang="en-US" altLang="ja-JP" sz="2000" dirty="0">
                  <a:latin typeface="+mj-lt"/>
                </a:rPr>
                <a:t> </a:t>
              </a:r>
              <a:r>
                <a:rPr lang="en-US" altLang="ja-JP" sz="2000" dirty="0" err="1">
                  <a:latin typeface="+mj-lt"/>
                </a:rPr>
                <a:t>tự</a:t>
              </a:r>
              <a:endParaRPr lang="en-US" altLang="ja-JP" sz="2000" dirty="0">
                <a:latin typeface="+mj-lt"/>
              </a:endParaRPr>
            </a:p>
          </p:txBody>
        </p:sp>
        <p:sp>
          <p:nvSpPr>
            <p:cNvPr id="688175" name="AutoShape 47">
              <a:extLst>
                <a:ext uri="{FF2B5EF4-FFF2-40B4-BE49-F238E27FC236}">
                  <a16:creationId xmlns:a16="http://schemas.microsoft.com/office/drawing/2014/main" id="{0056E3CE-393F-C5B5-86B0-B7B5F477F868}"/>
                </a:ext>
              </a:extLst>
            </p:cNvPr>
            <p:cNvSpPr>
              <a:spLocks noChangeArrowheads="1"/>
            </p:cNvSpPr>
            <p:nvPr/>
          </p:nvSpPr>
          <p:spPr bwMode="auto">
            <a:xfrm>
              <a:off x="843" y="3651"/>
              <a:ext cx="835" cy="281"/>
            </a:xfrm>
            <a:prstGeom prst="flowChartProcess">
              <a:avLst/>
            </a:prstGeom>
            <a:solidFill>
              <a:srgbClr val="FFFFCC"/>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600" b="0"/>
                <a:t>Xử lý</a:t>
              </a:r>
              <a:endParaRPr lang="en-US" altLang="ja-JP" sz="1600"/>
            </a:p>
          </p:txBody>
        </p:sp>
        <p:sp>
          <p:nvSpPr>
            <p:cNvPr id="688176" name="AutoShape 48">
              <a:extLst>
                <a:ext uri="{FF2B5EF4-FFF2-40B4-BE49-F238E27FC236}">
                  <a16:creationId xmlns:a16="http://schemas.microsoft.com/office/drawing/2014/main" id="{7C125609-BAB2-727E-43DA-123A1BBC13A3}"/>
                </a:ext>
              </a:extLst>
            </p:cNvPr>
            <p:cNvSpPr>
              <a:spLocks noChangeArrowheads="1"/>
            </p:cNvSpPr>
            <p:nvPr/>
          </p:nvSpPr>
          <p:spPr bwMode="auto">
            <a:xfrm>
              <a:off x="843" y="3263"/>
              <a:ext cx="835" cy="281"/>
            </a:xfrm>
            <a:prstGeom prst="flowChartProcess">
              <a:avLst/>
            </a:prstGeom>
            <a:solidFill>
              <a:srgbClr val="FFFFCC"/>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600" b="0"/>
                <a:t>Xử lý</a:t>
              </a:r>
              <a:endParaRPr lang="en-US" altLang="ja-JP" sz="1600"/>
            </a:p>
          </p:txBody>
        </p:sp>
        <p:sp>
          <p:nvSpPr>
            <p:cNvPr id="688177" name="AutoShape 49">
              <a:extLst>
                <a:ext uri="{FF2B5EF4-FFF2-40B4-BE49-F238E27FC236}">
                  <a16:creationId xmlns:a16="http://schemas.microsoft.com/office/drawing/2014/main" id="{0A3E1CAB-2A1A-705B-6D54-91CD08CAF325}"/>
                </a:ext>
              </a:extLst>
            </p:cNvPr>
            <p:cNvSpPr>
              <a:spLocks noChangeArrowheads="1"/>
            </p:cNvSpPr>
            <p:nvPr/>
          </p:nvSpPr>
          <p:spPr bwMode="auto">
            <a:xfrm>
              <a:off x="843" y="2875"/>
              <a:ext cx="835" cy="281"/>
            </a:xfrm>
            <a:prstGeom prst="flowChartProcess">
              <a:avLst/>
            </a:prstGeom>
            <a:solidFill>
              <a:srgbClr val="FFFFCC"/>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AU" altLang="ja-JP" sz="1600" b="0"/>
                <a:t>Xử lý</a:t>
              </a:r>
              <a:endParaRPr lang="en-US" altLang="ja-JP" sz="1600"/>
            </a:p>
          </p:txBody>
        </p:sp>
      </p:grpSp>
      <p:grpSp>
        <p:nvGrpSpPr>
          <p:cNvPr id="688197" name="Group 69">
            <a:extLst>
              <a:ext uri="{FF2B5EF4-FFF2-40B4-BE49-F238E27FC236}">
                <a16:creationId xmlns:a16="http://schemas.microsoft.com/office/drawing/2014/main" id="{998D5EA0-1DA4-D071-281C-E1A940335CB2}"/>
              </a:ext>
            </a:extLst>
          </p:cNvPr>
          <p:cNvGrpSpPr>
            <a:grpSpLocks/>
          </p:cNvGrpSpPr>
          <p:nvPr/>
        </p:nvGrpSpPr>
        <p:grpSpPr bwMode="auto">
          <a:xfrm>
            <a:off x="3527425" y="2938463"/>
            <a:ext cx="2887663" cy="3082925"/>
            <a:chOff x="2088" y="2152"/>
            <a:chExt cx="1819" cy="1942"/>
          </a:xfrm>
        </p:grpSpPr>
        <p:sp>
          <p:nvSpPr>
            <p:cNvPr id="688165" name="Rectangle 37">
              <a:extLst>
                <a:ext uri="{FF2B5EF4-FFF2-40B4-BE49-F238E27FC236}">
                  <a16:creationId xmlns:a16="http://schemas.microsoft.com/office/drawing/2014/main" id="{C8F8E8B3-ACFF-22C0-158B-71080D287EBA}"/>
                </a:ext>
              </a:extLst>
            </p:cNvPr>
            <p:cNvSpPr>
              <a:spLocks noChangeArrowheads="1"/>
            </p:cNvSpPr>
            <p:nvPr/>
          </p:nvSpPr>
          <p:spPr bwMode="auto">
            <a:xfrm>
              <a:off x="2088" y="2152"/>
              <a:ext cx="1819" cy="19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688166" name="Line 38">
              <a:extLst>
                <a:ext uri="{FF2B5EF4-FFF2-40B4-BE49-F238E27FC236}">
                  <a16:creationId xmlns:a16="http://schemas.microsoft.com/office/drawing/2014/main" id="{D314B99D-9F22-3F4B-59D3-17C7905899B8}"/>
                </a:ext>
              </a:extLst>
            </p:cNvPr>
            <p:cNvSpPr>
              <a:spLocks noChangeShapeType="1"/>
            </p:cNvSpPr>
            <p:nvPr/>
          </p:nvSpPr>
          <p:spPr bwMode="auto">
            <a:xfrm>
              <a:off x="2676" y="2675"/>
              <a:ext cx="8" cy="130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67" name="AutoShape 39">
              <a:extLst>
                <a:ext uri="{FF2B5EF4-FFF2-40B4-BE49-F238E27FC236}">
                  <a16:creationId xmlns:a16="http://schemas.microsoft.com/office/drawing/2014/main" id="{4A8A1B3D-6207-102F-71E4-30AFA9C14837}"/>
                </a:ext>
              </a:extLst>
            </p:cNvPr>
            <p:cNvSpPr>
              <a:spLocks noChangeArrowheads="1"/>
            </p:cNvSpPr>
            <p:nvPr/>
          </p:nvSpPr>
          <p:spPr bwMode="auto">
            <a:xfrm>
              <a:off x="2159" y="2833"/>
              <a:ext cx="1035" cy="374"/>
            </a:xfrm>
            <a:prstGeom prst="flowChartDecision">
              <a:avLst/>
            </a:prstGeom>
            <a:solidFill>
              <a:srgbClr val="FFCC99"/>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400" b="0" dirty="0" err="1">
                  <a:latin typeface="+mj-lt"/>
                </a:rPr>
                <a:t>Biểu</a:t>
              </a:r>
              <a:r>
                <a:rPr lang="en-US" altLang="ja-JP" sz="1400" b="0" dirty="0">
                  <a:latin typeface="+mj-lt"/>
                </a:rPr>
                <a:t> </a:t>
              </a:r>
              <a:r>
                <a:rPr lang="en-US" altLang="ja-JP" sz="1400" b="0" dirty="0" err="1">
                  <a:latin typeface="+mj-lt"/>
                </a:rPr>
                <a:t>thức</a:t>
              </a:r>
              <a:r>
                <a:rPr lang="en-US" altLang="ja-JP" sz="1400" b="0" dirty="0">
                  <a:latin typeface="+mj-lt"/>
                </a:rPr>
                <a:t> </a:t>
              </a:r>
              <a:r>
                <a:rPr lang="en-US" altLang="ja-JP" sz="1400" b="0" dirty="0" err="1">
                  <a:latin typeface="+mj-lt"/>
                </a:rPr>
                <a:t>điều</a:t>
              </a:r>
              <a:r>
                <a:rPr lang="en-US" altLang="ja-JP" sz="1400" b="0" dirty="0">
                  <a:latin typeface="+mj-lt"/>
                </a:rPr>
                <a:t> </a:t>
              </a:r>
              <a:r>
                <a:rPr lang="en-US" altLang="ja-JP" sz="1400" b="0" dirty="0" err="1">
                  <a:latin typeface="+mj-lt"/>
                </a:rPr>
                <a:t>kiện</a:t>
              </a:r>
              <a:endParaRPr lang="en-US" altLang="ja-JP" sz="1400" dirty="0">
                <a:latin typeface="+mj-lt"/>
              </a:endParaRPr>
            </a:p>
          </p:txBody>
        </p:sp>
        <p:sp>
          <p:nvSpPr>
            <p:cNvPr id="688168" name="AutoShape 40">
              <a:extLst>
                <a:ext uri="{FF2B5EF4-FFF2-40B4-BE49-F238E27FC236}">
                  <a16:creationId xmlns:a16="http://schemas.microsoft.com/office/drawing/2014/main" id="{2E22F953-84DB-8C94-FB9E-04A8AAA84F04}"/>
                </a:ext>
              </a:extLst>
            </p:cNvPr>
            <p:cNvSpPr>
              <a:spLocks noChangeArrowheads="1"/>
            </p:cNvSpPr>
            <p:nvPr/>
          </p:nvSpPr>
          <p:spPr bwMode="auto">
            <a:xfrm>
              <a:off x="2243" y="3395"/>
              <a:ext cx="835" cy="281"/>
            </a:xfrm>
            <a:prstGeom prst="flowChartProcess">
              <a:avLst/>
            </a:prstGeom>
            <a:solidFill>
              <a:srgbClr val="FFFFCC"/>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600" b="0"/>
                <a:t>Xử lý</a:t>
              </a:r>
              <a:endParaRPr lang="en-US" altLang="ja-JP" sz="1600"/>
            </a:p>
          </p:txBody>
        </p:sp>
        <p:sp>
          <p:nvSpPr>
            <p:cNvPr id="688169" name="Line 41">
              <a:extLst>
                <a:ext uri="{FF2B5EF4-FFF2-40B4-BE49-F238E27FC236}">
                  <a16:creationId xmlns:a16="http://schemas.microsoft.com/office/drawing/2014/main" id="{5FA28634-A4C2-ADAD-01A9-CE086408238E}"/>
                </a:ext>
              </a:extLst>
            </p:cNvPr>
            <p:cNvSpPr>
              <a:spLocks noChangeShapeType="1"/>
            </p:cNvSpPr>
            <p:nvPr/>
          </p:nvSpPr>
          <p:spPr bwMode="auto">
            <a:xfrm>
              <a:off x="3192" y="3020"/>
              <a:ext cx="6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70" name="Line 42">
              <a:extLst>
                <a:ext uri="{FF2B5EF4-FFF2-40B4-BE49-F238E27FC236}">
                  <a16:creationId xmlns:a16="http://schemas.microsoft.com/office/drawing/2014/main" id="{F4C43B63-E5D2-1830-0E55-F558CDD5BFD5}"/>
                </a:ext>
              </a:extLst>
            </p:cNvPr>
            <p:cNvSpPr>
              <a:spLocks noChangeShapeType="1"/>
            </p:cNvSpPr>
            <p:nvPr/>
          </p:nvSpPr>
          <p:spPr bwMode="auto">
            <a:xfrm>
              <a:off x="3789" y="3014"/>
              <a:ext cx="8" cy="819"/>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71" name="Text Box 43">
              <a:extLst>
                <a:ext uri="{FF2B5EF4-FFF2-40B4-BE49-F238E27FC236}">
                  <a16:creationId xmlns:a16="http://schemas.microsoft.com/office/drawing/2014/main" id="{77478F8D-CE9B-039A-7785-73D0D81A13C9}"/>
                </a:ext>
              </a:extLst>
            </p:cNvPr>
            <p:cNvSpPr txBox="1">
              <a:spLocks noChangeArrowheads="1"/>
            </p:cNvSpPr>
            <p:nvPr/>
          </p:nvSpPr>
          <p:spPr bwMode="auto">
            <a:xfrm>
              <a:off x="2734" y="3146"/>
              <a:ext cx="333" cy="1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a:latin typeface="MS UI Gothic" panose="020B0600070205080204" pitchFamily="50" charset="-128"/>
                </a:rPr>
                <a:t>true</a:t>
              </a:r>
            </a:p>
          </p:txBody>
        </p:sp>
        <p:sp>
          <p:nvSpPr>
            <p:cNvPr id="688172" name="Text Box 44">
              <a:extLst>
                <a:ext uri="{FF2B5EF4-FFF2-40B4-BE49-F238E27FC236}">
                  <a16:creationId xmlns:a16="http://schemas.microsoft.com/office/drawing/2014/main" id="{AE454188-A19E-7492-DD8D-E0C64B222C99}"/>
                </a:ext>
              </a:extLst>
            </p:cNvPr>
            <p:cNvSpPr txBox="1">
              <a:spLocks noChangeArrowheads="1"/>
            </p:cNvSpPr>
            <p:nvPr/>
          </p:nvSpPr>
          <p:spPr bwMode="auto">
            <a:xfrm>
              <a:off x="3239" y="2820"/>
              <a:ext cx="334" cy="1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a:latin typeface="MS UI Gothic" panose="020B0600070205080204" pitchFamily="50" charset="-128"/>
                </a:rPr>
                <a:t>false</a:t>
              </a:r>
            </a:p>
          </p:txBody>
        </p:sp>
        <p:sp>
          <p:nvSpPr>
            <p:cNvPr id="688174" name="Text Box 46">
              <a:extLst>
                <a:ext uri="{FF2B5EF4-FFF2-40B4-BE49-F238E27FC236}">
                  <a16:creationId xmlns:a16="http://schemas.microsoft.com/office/drawing/2014/main" id="{81DB8DF3-6F15-3C7D-89ED-073525EE13E4}"/>
                </a:ext>
              </a:extLst>
            </p:cNvPr>
            <p:cNvSpPr txBox="1">
              <a:spLocks noChangeArrowheads="1"/>
            </p:cNvSpPr>
            <p:nvPr/>
          </p:nvSpPr>
          <p:spPr bwMode="auto">
            <a:xfrm>
              <a:off x="2136" y="2208"/>
              <a:ext cx="1712" cy="446"/>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000" dirty="0" err="1">
                  <a:latin typeface="+mj-lt"/>
                </a:rPr>
                <a:t>Cấu</a:t>
              </a:r>
              <a:r>
                <a:rPr lang="en-US" altLang="ja-JP" sz="2000" dirty="0">
                  <a:latin typeface="+mj-lt"/>
                </a:rPr>
                <a:t> </a:t>
              </a:r>
              <a:r>
                <a:rPr lang="en-US" altLang="ja-JP" sz="2000" dirty="0" err="1">
                  <a:latin typeface="+mj-lt"/>
                </a:rPr>
                <a:t>trúc</a:t>
              </a:r>
              <a:r>
                <a:rPr lang="en-US" altLang="ja-JP" sz="2000" dirty="0">
                  <a:latin typeface="+mj-lt"/>
                </a:rPr>
                <a:t> </a:t>
              </a:r>
              <a:r>
                <a:rPr lang="en-US" altLang="ja-JP" sz="2000" dirty="0" err="1">
                  <a:latin typeface="+mj-lt"/>
                </a:rPr>
                <a:t>phân</a:t>
              </a:r>
              <a:r>
                <a:rPr lang="en-US" altLang="ja-JP" sz="2000" dirty="0">
                  <a:latin typeface="+mj-lt"/>
                </a:rPr>
                <a:t> </a:t>
              </a:r>
              <a:r>
                <a:rPr lang="en-US" altLang="ja-JP" sz="2000" dirty="0" err="1">
                  <a:latin typeface="+mj-lt"/>
                </a:rPr>
                <a:t>nhánh</a:t>
              </a:r>
              <a:endParaRPr lang="en-US" altLang="ja-JP" sz="2000" dirty="0">
                <a:latin typeface="+mj-lt"/>
              </a:endParaRPr>
            </a:p>
          </p:txBody>
        </p:sp>
        <p:sp>
          <p:nvSpPr>
            <p:cNvPr id="688180" name="Line 52">
              <a:extLst>
                <a:ext uri="{FF2B5EF4-FFF2-40B4-BE49-F238E27FC236}">
                  <a16:creationId xmlns:a16="http://schemas.microsoft.com/office/drawing/2014/main" id="{CA6E2C6B-C4AD-83CC-96AE-BB1E6A737EFA}"/>
                </a:ext>
              </a:extLst>
            </p:cNvPr>
            <p:cNvSpPr>
              <a:spLocks noChangeShapeType="1"/>
            </p:cNvSpPr>
            <p:nvPr/>
          </p:nvSpPr>
          <p:spPr bwMode="auto">
            <a:xfrm>
              <a:off x="2682" y="3828"/>
              <a:ext cx="1118" cy="0"/>
            </a:xfrm>
            <a:prstGeom prst="line">
              <a:avLst/>
            </a:prstGeom>
            <a:noFill/>
            <a:ln w="19050">
              <a:solidFill>
                <a:srgbClr val="000000"/>
              </a:solidFill>
              <a:round/>
              <a:headEnd type="triangle" w="lg"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grpSp>
        <p:nvGrpSpPr>
          <p:cNvPr id="688199" name="Group 71">
            <a:extLst>
              <a:ext uri="{FF2B5EF4-FFF2-40B4-BE49-F238E27FC236}">
                <a16:creationId xmlns:a16="http://schemas.microsoft.com/office/drawing/2014/main" id="{98C256C3-7861-60ED-650A-F687F869269F}"/>
              </a:ext>
            </a:extLst>
          </p:cNvPr>
          <p:cNvGrpSpPr>
            <a:grpSpLocks/>
          </p:cNvGrpSpPr>
          <p:nvPr/>
        </p:nvGrpSpPr>
        <p:grpSpPr bwMode="auto">
          <a:xfrm>
            <a:off x="6578600" y="2921000"/>
            <a:ext cx="2887663" cy="3082925"/>
            <a:chOff x="3984" y="1584"/>
            <a:chExt cx="1819" cy="1942"/>
          </a:xfrm>
        </p:grpSpPr>
        <p:sp>
          <p:nvSpPr>
            <p:cNvPr id="688183" name="Rectangle 55">
              <a:extLst>
                <a:ext uri="{FF2B5EF4-FFF2-40B4-BE49-F238E27FC236}">
                  <a16:creationId xmlns:a16="http://schemas.microsoft.com/office/drawing/2014/main" id="{125C08F2-D356-80C4-B28C-4963FB7B66E4}"/>
                </a:ext>
              </a:extLst>
            </p:cNvPr>
            <p:cNvSpPr>
              <a:spLocks noChangeArrowheads="1"/>
            </p:cNvSpPr>
            <p:nvPr/>
          </p:nvSpPr>
          <p:spPr bwMode="auto">
            <a:xfrm>
              <a:off x="3984" y="1584"/>
              <a:ext cx="1819" cy="19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688184" name="Line 56">
              <a:extLst>
                <a:ext uri="{FF2B5EF4-FFF2-40B4-BE49-F238E27FC236}">
                  <a16:creationId xmlns:a16="http://schemas.microsoft.com/office/drawing/2014/main" id="{8048D6EF-DC7C-1475-F8BD-7F4E98270658}"/>
                </a:ext>
              </a:extLst>
            </p:cNvPr>
            <p:cNvSpPr>
              <a:spLocks noChangeShapeType="1"/>
            </p:cNvSpPr>
            <p:nvPr/>
          </p:nvSpPr>
          <p:spPr bwMode="auto">
            <a:xfrm flipH="1">
              <a:off x="4904" y="2047"/>
              <a:ext cx="8" cy="1203"/>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86" name="AutoShape 58">
              <a:extLst>
                <a:ext uri="{FF2B5EF4-FFF2-40B4-BE49-F238E27FC236}">
                  <a16:creationId xmlns:a16="http://schemas.microsoft.com/office/drawing/2014/main" id="{1DA5B2F1-F91E-E7EB-CFCD-B58E02F48956}"/>
                </a:ext>
              </a:extLst>
            </p:cNvPr>
            <p:cNvSpPr>
              <a:spLocks noChangeArrowheads="1"/>
            </p:cNvSpPr>
            <p:nvPr/>
          </p:nvSpPr>
          <p:spPr bwMode="auto">
            <a:xfrm>
              <a:off x="4475" y="2827"/>
              <a:ext cx="835" cy="281"/>
            </a:xfrm>
            <a:prstGeom prst="flowChartProcess">
              <a:avLst/>
            </a:prstGeom>
            <a:solidFill>
              <a:srgbClr val="FFFFCC"/>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600" b="0"/>
                <a:t>Xử lý</a:t>
              </a:r>
              <a:endParaRPr lang="en-US" altLang="ja-JP" sz="1600"/>
            </a:p>
          </p:txBody>
        </p:sp>
        <p:sp>
          <p:nvSpPr>
            <p:cNvPr id="688187" name="Line 59">
              <a:extLst>
                <a:ext uri="{FF2B5EF4-FFF2-40B4-BE49-F238E27FC236}">
                  <a16:creationId xmlns:a16="http://schemas.microsoft.com/office/drawing/2014/main" id="{45EB1271-018C-CC43-4017-1F22117E2FCD}"/>
                </a:ext>
              </a:extLst>
            </p:cNvPr>
            <p:cNvSpPr>
              <a:spLocks noChangeShapeType="1"/>
            </p:cNvSpPr>
            <p:nvPr/>
          </p:nvSpPr>
          <p:spPr bwMode="auto">
            <a:xfrm>
              <a:off x="5090" y="2452"/>
              <a:ext cx="6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88" name="Line 60">
              <a:extLst>
                <a:ext uri="{FF2B5EF4-FFF2-40B4-BE49-F238E27FC236}">
                  <a16:creationId xmlns:a16="http://schemas.microsoft.com/office/drawing/2014/main" id="{6184A0DD-B40E-62E2-9105-F9B046967F59}"/>
                </a:ext>
              </a:extLst>
            </p:cNvPr>
            <p:cNvSpPr>
              <a:spLocks noChangeShapeType="1"/>
            </p:cNvSpPr>
            <p:nvPr/>
          </p:nvSpPr>
          <p:spPr bwMode="auto">
            <a:xfrm>
              <a:off x="5691" y="2446"/>
              <a:ext cx="8" cy="94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89" name="Text Box 61">
              <a:extLst>
                <a:ext uri="{FF2B5EF4-FFF2-40B4-BE49-F238E27FC236}">
                  <a16:creationId xmlns:a16="http://schemas.microsoft.com/office/drawing/2014/main" id="{DB03416F-191E-4722-06F7-D84D5E84E97F}"/>
                </a:ext>
              </a:extLst>
            </p:cNvPr>
            <p:cNvSpPr txBox="1">
              <a:spLocks noChangeArrowheads="1"/>
            </p:cNvSpPr>
            <p:nvPr/>
          </p:nvSpPr>
          <p:spPr bwMode="auto">
            <a:xfrm>
              <a:off x="4966" y="2578"/>
              <a:ext cx="333" cy="1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a:latin typeface="MS UI Gothic" panose="020B0600070205080204" pitchFamily="50" charset="-128"/>
                </a:rPr>
                <a:t>true</a:t>
              </a:r>
            </a:p>
          </p:txBody>
        </p:sp>
        <p:sp>
          <p:nvSpPr>
            <p:cNvPr id="688190" name="Text Box 62">
              <a:extLst>
                <a:ext uri="{FF2B5EF4-FFF2-40B4-BE49-F238E27FC236}">
                  <a16:creationId xmlns:a16="http://schemas.microsoft.com/office/drawing/2014/main" id="{CDD49DD4-1F5E-0285-EB85-D0FC15C084AC}"/>
                </a:ext>
              </a:extLst>
            </p:cNvPr>
            <p:cNvSpPr txBox="1">
              <a:spLocks noChangeArrowheads="1"/>
            </p:cNvSpPr>
            <p:nvPr/>
          </p:nvSpPr>
          <p:spPr bwMode="auto">
            <a:xfrm>
              <a:off x="5399" y="2236"/>
              <a:ext cx="334" cy="1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a:latin typeface="MS UI Gothic" panose="020B0600070205080204" pitchFamily="50" charset="-128"/>
                </a:rPr>
                <a:t>false</a:t>
              </a:r>
            </a:p>
          </p:txBody>
        </p:sp>
        <p:sp>
          <p:nvSpPr>
            <p:cNvPr id="688191" name="Text Box 63">
              <a:extLst>
                <a:ext uri="{FF2B5EF4-FFF2-40B4-BE49-F238E27FC236}">
                  <a16:creationId xmlns:a16="http://schemas.microsoft.com/office/drawing/2014/main" id="{BE1BB9E4-B6F8-84FC-7453-2B0084DA1EA6}"/>
                </a:ext>
              </a:extLst>
            </p:cNvPr>
            <p:cNvSpPr txBox="1">
              <a:spLocks noChangeArrowheads="1"/>
            </p:cNvSpPr>
            <p:nvPr/>
          </p:nvSpPr>
          <p:spPr bwMode="auto">
            <a:xfrm>
              <a:off x="4032" y="1640"/>
              <a:ext cx="1712" cy="2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000" dirty="0" err="1">
                  <a:latin typeface="+mj-lt"/>
                </a:rPr>
                <a:t>Cấu</a:t>
              </a:r>
              <a:r>
                <a:rPr lang="en-US" altLang="ja-JP" sz="2000" dirty="0">
                  <a:latin typeface="+mj-lt"/>
                </a:rPr>
                <a:t> </a:t>
              </a:r>
              <a:r>
                <a:rPr lang="en-US" altLang="ja-JP" sz="2000" dirty="0" err="1">
                  <a:latin typeface="+mj-lt"/>
                </a:rPr>
                <a:t>trúc</a:t>
              </a:r>
              <a:r>
                <a:rPr lang="en-US" altLang="ja-JP" sz="2000" dirty="0">
                  <a:latin typeface="+mj-lt"/>
                </a:rPr>
                <a:t> </a:t>
              </a:r>
              <a:r>
                <a:rPr lang="en-US" altLang="ja-JP" sz="2000" dirty="0" err="1">
                  <a:latin typeface="+mj-lt"/>
                </a:rPr>
                <a:t>lặp</a:t>
              </a:r>
              <a:endParaRPr lang="en-US" altLang="ja-JP" sz="2000" dirty="0">
                <a:latin typeface="+mj-lt"/>
              </a:endParaRPr>
            </a:p>
          </p:txBody>
        </p:sp>
        <p:sp>
          <p:nvSpPr>
            <p:cNvPr id="688185" name="AutoShape 57">
              <a:extLst>
                <a:ext uri="{FF2B5EF4-FFF2-40B4-BE49-F238E27FC236}">
                  <a16:creationId xmlns:a16="http://schemas.microsoft.com/office/drawing/2014/main" id="{008E45B6-61FF-F191-01CA-5282A8A5899F}"/>
                </a:ext>
              </a:extLst>
            </p:cNvPr>
            <p:cNvSpPr>
              <a:spLocks noChangeArrowheads="1"/>
            </p:cNvSpPr>
            <p:nvPr/>
          </p:nvSpPr>
          <p:spPr bwMode="auto">
            <a:xfrm>
              <a:off x="4391" y="2265"/>
              <a:ext cx="1035" cy="374"/>
            </a:xfrm>
            <a:prstGeom prst="flowChartDecision">
              <a:avLst/>
            </a:prstGeom>
            <a:solidFill>
              <a:srgbClr val="CC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400" b="0" dirty="0" err="1">
                  <a:latin typeface="+mj-lt"/>
                </a:rPr>
                <a:t>Biểu</a:t>
              </a:r>
              <a:r>
                <a:rPr lang="en-US" altLang="ja-JP" sz="1400" b="0" dirty="0">
                  <a:latin typeface="+mj-lt"/>
                </a:rPr>
                <a:t> </a:t>
              </a:r>
              <a:r>
                <a:rPr lang="en-US" altLang="ja-JP" sz="1400" b="0" dirty="0" err="1">
                  <a:latin typeface="+mj-lt"/>
                </a:rPr>
                <a:t>thức</a:t>
              </a:r>
              <a:r>
                <a:rPr lang="en-US" altLang="ja-JP" sz="1400" b="0" dirty="0">
                  <a:latin typeface="+mj-lt"/>
                </a:rPr>
                <a:t> </a:t>
              </a:r>
              <a:r>
                <a:rPr lang="en-US" altLang="ja-JP" sz="1400" b="0" dirty="0" err="1">
                  <a:latin typeface="+mj-lt"/>
                </a:rPr>
                <a:t>điều</a:t>
              </a:r>
              <a:r>
                <a:rPr lang="en-US" altLang="ja-JP" sz="1400" b="0" dirty="0">
                  <a:latin typeface="+mj-lt"/>
                </a:rPr>
                <a:t> </a:t>
              </a:r>
              <a:r>
                <a:rPr lang="en-US" altLang="ja-JP" sz="1400" b="0" dirty="0" err="1">
                  <a:latin typeface="+mj-lt"/>
                </a:rPr>
                <a:t>kiện</a:t>
              </a:r>
              <a:endParaRPr lang="en-US" altLang="ja-JP" sz="1400" dirty="0">
                <a:latin typeface="+mj-lt"/>
              </a:endParaRPr>
            </a:p>
          </p:txBody>
        </p:sp>
        <p:sp>
          <p:nvSpPr>
            <p:cNvPr id="688193" name="Line 65">
              <a:extLst>
                <a:ext uri="{FF2B5EF4-FFF2-40B4-BE49-F238E27FC236}">
                  <a16:creationId xmlns:a16="http://schemas.microsoft.com/office/drawing/2014/main" id="{71182972-3322-C6FA-E4D8-309DA404227B}"/>
                </a:ext>
              </a:extLst>
            </p:cNvPr>
            <p:cNvSpPr>
              <a:spLocks noChangeShapeType="1"/>
            </p:cNvSpPr>
            <p:nvPr/>
          </p:nvSpPr>
          <p:spPr bwMode="auto">
            <a:xfrm>
              <a:off x="4306" y="3244"/>
              <a:ext cx="6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94" name="Line 66">
              <a:extLst>
                <a:ext uri="{FF2B5EF4-FFF2-40B4-BE49-F238E27FC236}">
                  <a16:creationId xmlns:a16="http://schemas.microsoft.com/office/drawing/2014/main" id="{57214B20-F9E6-F422-1B12-83DF1B1F7433}"/>
                </a:ext>
              </a:extLst>
            </p:cNvPr>
            <p:cNvSpPr>
              <a:spLocks noChangeShapeType="1"/>
            </p:cNvSpPr>
            <p:nvPr/>
          </p:nvSpPr>
          <p:spPr bwMode="auto">
            <a:xfrm flipH="1">
              <a:off x="4312" y="2151"/>
              <a:ext cx="8" cy="109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95" name="Line 67">
              <a:extLst>
                <a:ext uri="{FF2B5EF4-FFF2-40B4-BE49-F238E27FC236}">
                  <a16:creationId xmlns:a16="http://schemas.microsoft.com/office/drawing/2014/main" id="{BB86E12F-EC8A-95A2-2356-E72D4AE11FC6}"/>
                </a:ext>
              </a:extLst>
            </p:cNvPr>
            <p:cNvSpPr>
              <a:spLocks noChangeShapeType="1"/>
            </p:cNvSpPr>
            <p:nvPr/>
          </p:nvSpPr>
          <p:spPr bwMode="auto">
            <a:xfrm flipV="1">
              <a:off x="4893" y="3388"/>
              <a:ext cx="806" cy="1"/>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96" name="Line 68">
              <a:extLst>
                <a:ext uri="{FF2B5EF4-FFF2-40B4-BE49-F238E27FC236}">
                  <a16:creationId xmlns:a16="http://schemas.microsoft.com/office/drawing/2014/main" id="{D35B2946-BDAD-20AF-B2DE-1D05F12CB2D5}"/>
                </a:ext>
              </a:extLst>
            </p:cNvPr>
            <p:cNvSpPr>
              <a:spLocks noChangeShapeType="1"/>
            </p:cNvSpPr>
            <p:nvPr/>
          </p:nvSpPr>
          <p:spPr bwMode="auto">
            <a:xfrm flipH="1">
              <a:off x="4895" y="3383"/>
              <a:ext cx="1" cy="129"/>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688198" name="Line 70">
              <a:extLst>
                <a:ext uri="{FF2B5EF4-FFF2-40B4-BE49-F238E27FC236}">
                  <a16:creationId xmlns:a16="http://schemas.microsoft.com/office/drawing/2014/main" id="{2B41D008-3611-E037-8C33-1C211CF235B7}"/>
                </a:ext>
              </a:extLst>
            </p:cNvPr>
            <p:cNvSpPr>
              <a:spLocks noChangeShapeType="1"/>
            </p:cNvSpPr>
            <p:nvPr/>
          </p:nvSpPr>
          <p:spPr bwMode="auto">
            <a:xfrm>
              <a:off x="4320" y="2156"/>
              <a:ext cx="601" cy="0"/>
            </a:xfrm>
            <a:prstGeom prst="line">
              <a:avLst/>
            </a:prstGeom>
            <a:noFill/>
            <a:ln w="19050">
              <a:solidFill>
                <a:srgbClr val="00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sp>
        <p:nvSpPr>
          <p:cNvPr id="688200" name="AutoShape 72">
            <a:extLst>
              <a:ext uri="{FF2B5EF4-FFF2-40B4-BE49-F238E27FC236}">
                <a16:creationId xmlns:a16="http://schemas.microsoft.com/office/drawing/2014/main" id="{C14A6B8C-1F5A-2947-4546-194FF0B67918}"/>
              </a:ext>
            </a:extLst>
          </p:cNvPr>
          <p:cNvSpPr>
            <a:spLocks noChangeArrowheads="1"/>
          </p:cNvSpPr>
          <p:nvPr/>
        </p:nvSpPr>
        <p:spPr bwMode="auto">
          <a:xfrm>
            <a:off x="3025775" y="1793875"/>
            <a:ext cx="3424238" cy="781050"/>
          </a:xfrm>
          <a:prstGeom prst="wedgeRoundRectCallout">
            <a:avLst>
              <a:gd name="adj1" fmla="val 5356"/>
              <a:gd name="adj2" fmla="val 105894"/>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dirty="0">
                <a:latin typeface="+mj-lt"/>
              </a:rPr>
              <a:t>Trường </a:t>
            </a:r>
            <a:r>
              <a:rPr lang="en-US" altLang="ja-JP" sz="1400" dirty="0" err="1">
                <a:latin typeface="+mj-lt"/>
              </a:rPr>
              <a:t>hợp</a:t>
            </a:r>
            <a:r>
              <a:rPr lang="en-US" altLang="ja-JP" sz="1400" dirty="0">
                <a:latin typeface="+mj-lt"/>
              </a:rPr>
              <a:t> </a:t>
            </a:r>
            <a:r>
              <a:rPr lang="en-US" altLang="ja-JP" sz="1400" dirty="0" err="1">
                <a:latin typeface="+mj-lt"/>
              </a:rPr>
              <a:t>phân</a:t>
            </a:r>
            <a:r>
              <a:rPr lang="en-US" altLang="ja-JP" sz="1400" dirty="0">
                <a:latin typeface="+mj-lt"/>
              </a:rPr>
              <a:t> </a:t>
            </a:r>
            <a:r>
              <a:rPr lang="en-US" altLang="ja-JP" sz="1400" dirty="0" err="1">
                <a:latin typeface="+mj-lt"/>
              </a:rPr>
              <a:t>nhánh</a:t>
            </a:r>
            <a:r>
              <a:rPr lang="en-US" altLang="ja-JP" sz="1400" dirty="0">
                <a:latin typeface="+mj-lt"/>
              </a:rPr>
              <a:t> </a:t>
            </a:r>
            <a:r>
              <a:rPr lang="en-US" altLang="ja-JP" sz="1400" dirty="0" err="1">
                <a:latin typeface="+mj-lt"/>
              </a:rPr>
              <a:t>xử</a:t>
            </a:r>
            <a:r>
              <a:rPr lang="en-US" altLang="ja-JP" sz="1400" dirty="0">
                <a:latin typeface="+mj-lt"/>
              </a:rPr>
              <a:t> </a:t>
            </a:r>
            <a:r>
              <a:rPr lang="en-US" altLang="ja-JP" sz="1400" dirty="0" err="1">
                <a:latin typeface="+mj-lt"/>
              </a:rPr>
              <a:t>lý</a:t>
            </a:r>
            <a:r>
              <a:rPr lang="en-US" altLang="ja-JP" sz="1400" dirty="0">
                <a:latin typeface="+mj-lt"/>
              </a:rPr>
              <a:t> </a:t>
            </a:r>
            <a:r>
              <a:rPr lang="en-US" altLang="ja-JP" sz="1400" dirty="0" err="1">
                <a:latin typeface="+mj-lt"/>
              </a:rPr>
              <a:t>theo</a:t>
            </a:r>
            <a:r>
              <a:rPr lang="en-US" altLang="ja-JP" sz="1400" dirty="0">
                <a:latin typeface="+mj-lt"/>
              </a:rPr>
              <a:t> </a:t>
            </a:r>
            <a:r>
              <a:rPr lang="en-US" altLang="ja-JP" sz="1400" dirty="0" err="1">
                <a:latin typeface="+mj-lt"/>
              </a:rPr>
              <a:t>điều</a:t>
            </a:r>
            <a:r>
              <a:rPr lang="en-US" altLang="ja-JP" sz="1400" dirty="0">
                <a:latin typeface="+mj-lt"/>
              </a:rPr>
              <a:t> </a:t>
            </a:r>
            <a:r>
              <a:rPr lang="en-US" altLang="ja-JP" sz="1400" dirty="0" err="1">
                <a:latin typeface="+mj-lt"/>
              </a:rPr>
              <a:t>kiện</a:t>
            </a:r>
            <a:r>
              <a:rPr lang="en-US" altLang="ja-JP" sz="1400" dirty="0">
                <a:latin typeface="+mj-lt"/>
              </a:rPr>
              <a:t> </a:t>
            </a:r>
            <a:r>
              <a:rPr lang="en-US" altLang="ja-JP" sz="1400" dirty="0" err="1">
                <a:latin typeface="+mj-lt"/>
              </a:rPr>
              <a:t>thì</a:t>
            </a:r>
            <a:r>
              <a:rPr lang="en-US" altLang="ja-JP" sz="1400" dirty="0">
                <a:latin typeface="+mj-lt"/>
              </a:rPr>
              <a:t> </a:t>
            </a:r>
            <a:r>
              <a:rPr lang="en-US" altLang="ja-JP" sz="1400" dirty="0" err="1">
                <a:latin typeface="+mj-lt"/>
              </a:rPr>
              <a:t>sẽ</a:t>
            </a:r>
            <a:r>
              <a:rPr lang="en-US" altLang="ja-JP" sz="1400" dirty="0">
                <a:latin typeface="+mj-lt"/>
              </a:rPr>
              <a:t> </a:t>
            </a:r>
            <a:r>
              <a:rPr lang="en-US" altLang="ja-JP" sz="1400" dirty="0" err="1">
                <a:latin typeface="+mj-lt"/>
              </a:rPr>
              <a:t>sử</a:t>
            </a:r>
            <a:r>
              <a:rPr lang="en-US" altLang="ja-JP" sz="1400" dirty="0">
                <a:latin typeface="+mj-lt"/>
              </a:rPr>
              <a:t> </a:t>
            </a:r>
            <a:r>
              <a:rPr lang="en-US" altLang="ja-JP" sz="1400" dirty="0" err="1">
                <a:latin typeface="+mj-lt"/>
              </a:rPr>
              <a:t>dụng</a:t>
            </a:r>
            <a:r>
              <a:rPr lang="en-US" altLang="ja-JP" sz="1400" dirty="0">
                <a:latin typeface="+mj-lt"/>
              </a:rPr>
              <a:t> </a:t>
            </a:r>
            <a:r>
              <a:rPr lang="en-US" altLang="ja-JP" sz="1400" dirty="0" err="1">
                <a:latin typeface="+mj-lt"/>
              </a:rPr>
              <a:t>ví</a:t>
            </a:r>
            <a:r>
              <a:rPr lang="en-US" altLang="ja-JP" sz="1400" dirty="0">
                <a:latin typeface="+mj-lt"/>
              </a:rPr>
              <a:t> </a:t>
            </a:r>
            <a:r>
              <a:rPr lang="en-US" altLang="ja-JP" sz="1400" dirty="0" err="1">
                <a:latin typeface="+mj-lt"/>
              </a:rPr>
              <a:t>dụ</a:t>
            </a:r>
            <a:r>
              <a:rPr lang="en-US" altLang="ja-JP" sz="1400" dirty="0">
                <a:latin typeface="+mj-lt"/>
              </a:rPr>
              <a:t> </a:t>
            </a:r>
            <a:r>
              <a:rPr lang="en-US" altLang="ja-JP" sz="1400" dirty="0" err="1">
                <a:latin typeface="+mj-lt"/>
              </a:rPr>
              <a:t>như</a:t>
            </a:r>
            <a:r>
              <a:rPr lang="en-US" altLang="ja-JP" sz="1400" dirty="0">
                <a:latin typeface="+mj-lt"/>
              </a:rPr>
              <a:t> </a:t>
            </a:r>
            <a:r>
              <a:rPr lang="en-US" altLang="ja-JP" sz="1400" dirty="0" err="1">
                <a:latin typeface="+mj-lt"/>
              </a:rPr>
              <a:t>câu</a:t>
            </a:r>
            <a:r>
              <a:rPr lang="en-US" altLang="ja-JP" sz="1400" dirty="0">
                <a:latin typeface="+mj-lt"/>
              </a:rPr>
              <a:t> </a:t>
            </a:r>
            <a:r>
              <a:rPr lang="en-US" altLang="ja-JP" sz="1400" dirty="0" err="1">
                <a:latin typeface="+mj-lt"/>
              </a:rPr>
              <a:t>lệnh</a:t>
            </a:r>
            <a:r>
              <a:rPr lang="en-US" altLang="ja-JP" sz="1400" dirty="0">
                <a:latin typeface="+mj-lt"/>
              </a:rPr>
              <a:t> if.</a:t>
            </a:r>
          </a:p>
        </p:txBody>
      </p:sp>
      <p:sp>
        <p:nvSpPr>
          <p:cNvPr id="688201" name="AutoShape 73">
            <a:extLst>
              <a:ext uri="{FF2B5EF4-FFF2-40B4-BE49-F238E27FC236}">
                <a16:creationId xmlns:a16="http://schemas.microsoft.com/office/drawing/2014/main" id="{586C99BE-EEEC-DD29-E460-46BE8A39C056}"/>
              </a:ext>
            </a:extLst>
          </p:cNvPr>
          <p:cNvSpPr>
            <a:spLocks noChangeArrowheads="1"/>
          </p:cNvSpPr>
          <p:nvPr/>
        </p:nvSpPr>
        <p:spPr bwMode="auto">
          <a:xfrm>
            <a:off x="6577013" y="1774825"/>
            <a:ext cx="3098800" cy="931863"/>
          </a:xfrm>
          <a:prstGeom prst="wedgeRoundRectCallout">
            <a:avLst>
              <a:gd name="adj1" fmla="val -12245"/>
              <a:gd name="adj2" fmla="val 78620"/>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300" dirty="0">
                <a:latin typeface="+mj-lt"/>
              </a:rPr>
              <a:t>Trường </a:t>
            </a:r>
            <a:r>
              <a:rPr lang="en-US" altLang="ja-JP" sz="1300" dirty="0" err="1">
                <a:latin typeface="+mj-lt"/>
              </a:rPr>
              <a:t>hợp</a:t>
            </a:r>
            <a:r>
              <a:rPr lang="en-US" altLang="ja-JP" sz="1300" dirty="0">
                <a:latin typeface="+mj-lt"/>
              </a:rPr>
              <a:t> </a:t>
            </a:r>
            <a:r>
              <a:rPr lang="en-US" altLang="ja-JP" sz="1300" dirty="0" err="1">
                <a:latin typeface="+mj-lt"/>
              </a:rPr>
              <a:t>thực</a:t>
            </a:r>
            <a:r>
              <a:rPr lang="en-US" altLang="ja-JP" sz="1300" dirty="0">
                <a:latin typeface="+mj-lt"/>
              </a:rPr>
              <a:t> </a:t>
            </a:r>
            <a:r>
              <a:rPr lang="en-US" altLang="ja-JP" sz="1300" dirty="0" err="1">
                <a:latin typeface="+mj-lt"/>
              </a:rPr>
              <a:t>hiện</a:t>
            </a:r>
            <a:r>
              <a:rPr lang="en-US" altLang="ja-JP" sz="1300" dirty="0">
                <a:latin typeface="+mj-lt"/>
              </a:rPr>
              <a:t> </a:t>
            </a:r>
            <a:r>
              <a:rPr lang="en-US" altLang="ja-JP" sz="1300" dirty="0" err="1">
                <a:latin typeface="+mj-lt"/>
              </a:rPr>
              <a:t>xử</a:t>
            </a:r>
            <a:r>
              <a:rPr lang="en-US" altLang="ja-JP" sz="1300" dirty="0">
                <a:latin typeface="+mj-lt"/>
              </a:rPr>
              <a:t> </a:t>
            </a:r>
            <a:r>
              <a:rPr lang="en-US" altLang="ja-JP" sz="1300" dirty="0" err="1">
                <a:latin typeface="+mj-lt"/>
              </a:rPr>
              <a:t>lý</a:t>
            </a:r>
            <a:r>
              <a:rPr lang="en-US" altLang="ja-JP" sz="1300" dirty="0">
                <a:latin typeface="+mj-lt"/>
              </a:rPr>
              <a:t> </a:t>
            </a:r>
            <a:r>
              <a:rPr lang="en-US" altLang="ja-JP" sz="1300" dirty="0" err="1">
                <a:latin typeface="+mj-lt"/>
              </a:rPr>
              <a:t>lặp</a:t>
            </a:r>
            <a:r>
              <a:rPr lang="en-US" altLang="ja-JP" sz="1300" dirty="0">
                <a:latin typeface="+mj-lt"/>
              </a:rPr>
              <a:t> </a:t>
            </a:r>
            <a:r>
              <a:rPr lang="en-US" altLang="ja-JP" sz="1300" dirty="0" err="1">
                <a:latin typeface="+mj-lt"/>
              </a:rPr>
              <a:t>lại</a:t>
            </a:r>
            <a:r>
              <a:rPr lang="en-US" altLang="ja-JP" sz="1300" dirty="0">
                <a:latin typeface="+mj-lt"/>
              </a:rPr>
              <a:t> </a:t>
            </a:r>
            <a:r>
              <a:rPr lang="en-US" altLang="ja-JP" sz="1300" dirty="0" err="1">
                <a:latin typeface="+mj-lt"/>
              </a:rPr>
              <a:t>thì</a:t>
            </a:r>
            <a:r>
              <a:rPr lang="en-US" altLang="ja-JP" sz="1300" dirty="0">
                <a:latin typeface="+mj-lt"/>
              </a:rPr>
              <a:t> </a:t>
            </a:r>
            <a:r>
              <a:rPr lang="en-US" altLang="ja-JP" sz="1300" dirty="0" err="1">
                <a:latin typeface="+mj-lt"/>
              </a:rPr>
              <a:t>sẽ</a:t>
            </a:r>
            <a:r>
              <a:rPr lang="en-US" altLang="ja-JP" sz="1300" dirty="0">
                <a:latin typeface="+mj-lt"/>
              </a:rPr>
              <a:t> </a:t>
            </a:r>
            <a:r>
              <a:rPr lang="en-US" altLang="ja-JP" sz="1300" dirty="0" err="1">
                <a:latin typeface="+mj-lt"/>
              </a:rPr>
              <a:t>sử</a:t>
            </a:r>
            <a:r>
              <a:rPr lang="en-US" altLang="ja-JP" sz="1300" dirty="0">
                <a:latin typeface="+mj-lt"/>
              </a:rPr>
              <a:t> </a:t>
            </a:r>
            <a:r>
              <a:rPr lang="en-US" altLang="ja-JP" sz="1300" dirty="0" err="1">
                <a:latin typeface="+mj-lt"/>
              </a:rPr>
              <a:t>dụng</a:t>
            </a:r>
            <a:r>
              <a:rPr lang="en-US" altLang="ja-JP" sz="1300" dirty="0">
                <a:latin typeface="+mj-lt"/>
              </a:rPr>
              <a:t> </a:t>
            </a:r>
            <a:r>
              <a:rPr lang="en-US" altLang="ja-JP" sz="1300" dirty="0" err="1">
                <a:latin typeface="+mj-lt"/>
              </a:rPr>
              <a:t>ví</a:t>
            </a:r>
            <a:r>
              <a:rPr lang="en-US" altLang="ja-JP" sz="1300" dirty="0">
                <a:latin typeface="+mj-lt"/>
              </a:rPr>
              <a:t> </a:t>
            </a:r>
            <a:r>
              <a:rPr lang="en-US" altLang="ja-JP" sz="1300" dirty="0" err="1">
                <a:latin typeface="+mj-lt"/>
              </a:rPr>
              <a:t>dụ</a:t>
            </a:r>
            <a:r>
              <a:rPr lang="en-US" altLang="ja-JP" sz="1300" dirty="0">
                <a:latin typeface="+mj-lt"/>
              </a:rPr>
              <a:t> </a:t>
            </a:r>
            <a:r>
              <a:rPr lang="en-US" altLang="ja-JP" sz="1300" dirty="0" err="1">
                <a:latin typeface="+mj-lt"/>
              </a:rPr>
              <a:t>như</a:t>
            </a:r>
            <a:r>
              <a:rPr lang="en-US" altLang="ja-JP" sz="1300" dirty="0">
                <a:latin typeface="+mj-lt"/>
              </a:rPr>
              <a:t> </a:t>
            </a:r>
            <a:r>
              <a:rPr lang="en-US" altLang="ja-JP" sz="1300" dirty="0" err="1">
                <a:latin typeface="+mj-lt"/>
              </a:rPr>
              <a:t>câu</a:t>
            </a:r>
            <a:r>
              <a:rPr lang="en-US" altLang="ja-JP" sz="1300" dirty="0">
                <a:latin typeface="+mj-lt"/>
              </a:rPr>
              <a:t> </a:t>
            </a:r>
            <a:r>
              <a:rPr lang="en-US" altLang="ja-JP" sz="1300" dirty="0" err="1">
                <a:latin typeface="+mj-lt"/>
              </a:rPr>
              <a:t>lệnh</a:t>
            </a:r>
            <a:br>
              <a:rPr lang="en-US" altLang="ja-JP" sz="1300" dirty="0">
                <a:latin typeface="+mj-lt"/>
              </a:rPr>
            </a:br>
            <a:r>
              <a:rPr lang="en-US" altLang="ja-JP" sz="1300" dirty="0">
                <a:latin typeface="+mj-lt"/>
              </a:rPr>
              <a:t>while </a:t>
            </a:r>
            <a:r>
              <a:rPr lang="en-US" altLang="ja-JP" sz="1300" dirty="0" err="1">
                <a:latin typeface="+mj-lt"/>
              </a:rPr>
              <a:t>và</a:t>
            </a:r>
            <a:r>
              <a:rPr lang="en-US" altLang="ja-JP" sz="1300" dirty="0">
                <a:latin typeface="+mj-lt"/>
              </a:rPr>
              <a:t> </a:t>
            </a:r>
            <a:r>
              <a:rPr lang="en-US" altLang="ja-JP" sz="1300" dirty="0" err="1">
                <a:latin typeface="+mj-lt"/>
              </a:rPr>
              <a:t>câu</a:t>
            </a:r>
            <a:r>
              <a:rPr lang="en-US" altLang="ja-JP" sz="1300" dirty="0">
                <a:latin typeface="+mj-lt"/>
              </a:rPr>
              <a:t> </a:t>
            </a:r>
            <a:r>
              <a:rPr lang="en-US" altLang="ja-JP" sz="1300" dirty="0" err="1">
                <a:latin typeface="+mj-lt"/>
              </a:rPr>
              <a:t>lệnh</a:t>
            </a:r>
            <a:r>
              <a:rPr lang="en-US" altLang="ja-JP" sz="1300" dirty="0">
                <a:latin typeface="+mj-lt"/>
              </a:rPr>
              <a:t> for.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2F87140-1734-5DFD-4B59-BCBB47DEC5D0}"/>
              </a:ext>
            </a:extLst>
          </p:cNvPr>
          <p:cNvSpPr>
            <a:spLocks noGrp="1" noChangeArrowheads="1"/>
          </p:cNvSpPr>
          <p:nvPr>
            <p:ph type="title"/>
          </p:nvPr>
        </p:nvSpPr>
        <p:spPr>
          <a:xfrm>
            <a:off x="344487" y="290465"/>
            <a:ext cx="9217025" cy="490537"/>
          </a:xfrm>
        </p:spPr>
        <p:txBody>
          <a:bodyPr>
            <a:normAutofit fontScale="90000"/>
          </a:bodyPr>
          <a:lstStyle/>
          <a:p>
            <a:r>
              <a:rPr lang="en-US" altLang="ja-JP" dirty="0" err="1">
                <a:latin typeface="Arial" panose="020B0604020202020204" pitchFamily="34" charset="0"/>
              </a:rPr>
              <a:t>Biểu</a:t>
            </a:r>
            <a:r>
              <a:rPr lang="en-US" altLang="ja-JP" dirty="0">
                <a:latin typeface="Arial" panose="020B0604020202020204" pitchFamily="34" charset="0"/>
              </a:rPr>
              <a:t> </a:t>
            </a:r>
            <a:r>
              <a:rPr lang="en-US" altLang="ja-JP" dirty="0" err="1">
                <a:latin typeface="Arial" panose="020B0604020202020204" pitchFamily="34" charset="0"/>
              </a:rPr>
              <a:t>thức</a:t>
            </a:r>
            <a:r>
              <a:rPr lang="en-US" altLang="ja-JP" dirty="0">
                <a:latin typeface="Arial" panose="020B0604020202020204" pitchFamily="34" charset="0"/>
              </a:rPr>
              <a:t> </a:t>
            </a:r>
            <a:r>
              <a:rPr lang="en-US" altLang="ja-JP" dirty="0" err="1">
                <a:latin typeface="Arial" panose="020B0604020202020204" pitchFamily="34" charset="0"/>
              </a:rPr>
              <a:t>điều</a:t>
            </a:r>
            <a:r>
              <a:rPr lang="en-US" altLang="ja-JP" dirty="0">
                <a:latin typeface="Arial" panose="020B0604020202020204" pitchFamily="34" charset="0"/>
              </a:rPr>
              <a:t> </a:t>
            </a:r>
            <a:r>
              <a:rPr lang="en-US" altLang="ja-JP" dirty="0" err="1">
                <a:latin typeface="Arial" panose="020B0604020202020204" pitchFamily="34" charset="0"/>
              </a:rPr>
              <a:t>kiện</a:t>
            </a:r>
            <a:endParaRPr lang="en-US" altLang="ja-JP" dirty="0">
              <a:latin typeface="Arial" panose="020B0604020202020204" pitchFamily="34" charset="0"/>
              <a:ea typeface="MS UI Gothic" panose="020B0600070205080204" pitchFamily="50" charset="-128"/>
            </a:endParaRPr>
          </a:p>
        </p:txBody>
      </p:sp>
      <p:sp>
        <p:nvSpPr>
          <p:cNvPr id="711683" name="Rectangle 3">
            <a:extLst>
              <a:ext uri="{FF2B5EF4-FFF2-40B4-BE49-F238E27FC236}">
                <a16:creationId xmlns:a16="http://schemas.microsoft.com/office/drawing/2014/main" id="{A5D87BF4-5DBC-0FDA-643E-B98178129A02}"/>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Biểu thức điều kiện là gì</a:t>
            </a:r>
          </a:p>
          <a:p>
            <a:endParaRPr lang="en-US" altLang="ja-JP" sz="2400" b="0"/>
          </a:p>
          <a:p>
            <a:endParaRPr lang="en-US" altLang="ja-JP" sz="2400" b="0"/>
          </a:p>
          <a:p>
            <a:pPr>
              <a:buFont typeface="Wingdings" panose="05000000000000000000" pitchFamily="2" charset="2"/>
              <a:buNone/>
            </a:pPr>
            <a:r>
              <a:rPr lang="en-US" altLang="ja-JP" sz="2000" b="0"/>
              <a:t>●</a:t>
            </a:r>
            <a:r>
              <a:rPr lang="en-US" altLang="ja-JP" sz="2000" b="0">
                <a:latin typeface="Arial" panose="020B0604020202020204" pitchFamily="34" charset="0"/>
              </a:rPr>
              <a:t>Ví dụ của biểu thức điều kiện</a:t>
            </a:r>
          </a:p>
        </p:txBody>
      </p:sp>
      <p:sp>
        <p:nvSpPr>
          <p:cNvPr id="711684" name="Rectangle 4">
            <a:extLst>
              <a:ext uri="{FF2B5EF4-FFF2-40B4-BE49-F238E27FC236}">
                <a16:creationId xmlns:a16="http://schemas.microsoft.com/office/drawing/2014/main" id="{E55EA21B-5E32-355D-A3D9-6A159D697E1B}"/>
              </a:ext>
            </a:extLst>
          </p:cNvPr>
          <p:cNvSpPr>
            <a:spLocks noChangeArrowheads="1"/>
          </p:cNvSpPr>
          <p:nvPr/>
        </p:nvSpPr>
        <p:spPr bwMode="auto">
          <a:xfrm>
            <a:off x="344488" y="12827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biểu thức mà kết quả đánh giá là </a:t>
            </a:r>
            <a:r>
              <a:rPr lang="en-US" altLang="ja-JP" sz="2000">
                <a:latin typeface="Arial" panose="020B0604020202020204" pitchFamily="34" charset="0"/>
                <a:ea typeface="ＭＳ ゴシック" panose="020B0609070205080204" pitchFamily="49" charset="-128"/>
              </a:rPr>
              <a:t>true</a:t>
            </a:r>
            <a:r>
              <a:rPr lang="en-US" altLang="ja-JP" sz="2000">
                <a:latin typeface="Arial" panose="020B0604020202020204" pitchFamily="34" charset="0"/>
              </a:rPr>
              <a:t> hoặc </a:t>
            </a:r>
            <a:r>
              <a:rPr lang="en-US" altLang="ja-JP" sz="2000">
                <a:latin typeface="Arial" panose="020B0604020202020204" pitchFamily="34" charset="0"/>
                <a:ea typeface="ＭＳ ゴシック" panose="020B0609070205080204" pitchFamily="49" charset="-128"/>
              </a:rPr>
              <a:t>false</a:t>
            </a:r>
            <a:r>
              <a:rPr lang="en-US" altLang="ja-JP" sz="2000">
                <a:latin typeface="Arial" panose="020B0604020202020204" pitchFamily="34" charset="0"/>
              </a:rPr>
              <a:t>.</a:t>
            </a:r>
          </a:p>
        </p:txBody>
      </p:sp>
      <p:grpSp>
        <p:nvGrpSpPr>
          <p:cNvPr id="711703" name="Group 23">
            <a:extLst>
              <a:ext uri="{FF2B5EF4-FFF2-40B4-BE49-F238E27FC236}">
                <a16:creationId xmlns:a16="http://schemas.microsoft.com/office/drawing/2014/main" id="{278AEFE0-5885-FB92-7CF6-3FE72AAC6152}"/>
              </a:ext>
            </a:extLst>
          </p:cNvPr>
          <p:cNvGrpSpPr>
            <a:grpSpLocks/>
          </p:cNvGrpSpPr>
          <p:nvPr/>
        </p:nvGrpSpPr>
        <p:grpSpPr bwMode="auto">
          <a:xfrm>
            <a:off x="309563" y="2370138"/>
            <a:ext cx="9118599" cy="4035425"/>
            <a:chOff x="216" y="1537"/>
            <a:chExt cx="5744" cy="2542"/>
          </a:xfrm>
        </p:grpSpPr>
        <p:sp>
          <p:nvSpPr>
            <p:cNvPr id="711686" name="Rectangle 6">
              <a:extLst>
                <a:ext uri="{FF2B5EF4-FFF2-40B4-BE49-F238E27FC236}">
                  <a16:creationId xmlns:a16="http://schemas.microsoft.com/office/drawing/2014/main" id="{8DD4123A-0D21-93CE-429C-56EE9B1661DC}"/>
                </a:ext>
              </a:extLst>
            </p:cNvPr>
            <p:cNvSpPr>
              <a:spLocks noChangeArrowheads="1"/>
            </p:cNvSpPr>
            <p:nvPr/>
          </p:nvSpPr>
          <p:spPr bwMode="auto">
            <a:xfrm>
              <a:off x="216" y="1537"/>
              <a:ext cx="5743" cy="25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87" name="Rectangle 7">
              <a:extLst>
                <a:ext uri="{FF2B5EF4-FFF2-40B4-BE49-F238E27FC236}">
                  <a16:creationId xmlns:a16="http://schemas.microsoft.com/office/drawing/2014/main" id="{4A2CB7CB-620B-E6C3-C931-EBEBEA79D280}"/>
                </a:ext>
              </a:extLst>
            </p:cNvPr>
            <p:cNvSpPr>
              <a:spLocks noChangeArrowheads="1"/>
            </p:cNvSpPr>
            <p:nvPr/>
          </p:nvSpPr>
          <p:spPr bwMode="auto">
            <a:xfrm>
              <a:off x="1464" y="3424"/>
              <a:ext cx="1640" cy="528"/>
            </a:xfrm>
            <a:prstGeom prst="rect">
              <a:avLst/>
            </a:prstGeom>
            <a:solidFill>
              <a:schemeClr val="bg1"/>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88" name="Rectangle 8">
              <a:extLst>
                <a:ext uri="{FF2B5EF4-FFF2-40B4-BE49-F238E27FC236}">
                  <a16:creationId xmlns:a16="http://schemas.microsoft.com/office/drawing/2014/main" id="{4F93D19F-8D48-A55D-D374-0726F9BAC4C1}"/>
                </a:ext>
              </a:extLst>
            </p:cNvPr>
            <p:cNvSpPr>
              <a:spLocks noChangeArrowheads="1"/>
            </p:cNvSpPr>
            <p:nvPr/>
          </p:nvSpPr>
          <p:spPr bwMode="auto">
            <a:xfrm>
              <a:off x="416" y="1768"/>
              <a:ext cx="3425" cy="1376"/>
            </a:xfrm>
            <a:prstGeom prst="rect">
              <a:avLst/>
            </a:prstGeom>
            <a:solidFill>
              <a:schemeClr val="bg1"/>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89" name="Text Box 9">
              <a:extLst>
                <a:ext uri="{FF2B5EF4-FFF2-40B4-BE49-F238E27FC236}">
                  <a16:creationId xmlns:a16="http://schemas.microsoft.com/office/drawing/2014/main" id="{8B2692FA-3AE7-EBC0-7F80-97CC7C8DB54F}"/>
                </a:ext>
              </a:extLst>
            </p:cNvPr>
            <p:cNvSpPr txBox="1">
              <a:spLocks noChangeArrowheads="1"/>
            </p:cNvSpPr>
            <p:nvPr/>
          </p:nvSpPr>
          <p:spPr bwMode="auto">
            <a:xfrm>
              <a:off x="360" y="2328"/>
              <a:ext cx="3568" cy="404"/>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3600" b="0" dirty="0" err="1">
                  <a:latin typeface="+mj-lt"/>
                </a:rPr>
                <a:t>Biến</a:t>
              </a:r>
              <a:r>
                <a:rPr lang="en-US" altLang="ja-JP" sz="3600" b="0" dirty="0">
                  <a:latin typeface="+mj-lt"/>
                </a:rPr>
                <a:t> </a:t>
              </a:r>
              <a:r>
                <a:rPr lang="en-US" altLang="ja-JP" sz="3600" b="0" dirty="0" err="1">
                  <a:latin typeface="+mj-lt"/>
                </a:rPr>
                <a:t>số</a:t>
              </a:r>
              <a:r>
                <a:rPr lang="en-US" altLang="ja-JP" sz="3600" b="0" dirty="0">
                  <a:latin typeface="+mj-lt"/>
                </a:rPr>
                <a:t> 1   </a:t>
              </a:r>
              <a:r>
                <a:rPr lang="en-US" altLang="ja-JP" sz="3600" b="0" dirty="0">
                  <a:latin typeface="+mj-lt"/>
                  <a:ea typeface="ＭＳ ゴシック" panose="020B0609070205080204" pitchFamily="49" charset="-128"/>
                </a:rPr>
                <a:t>&gt;</a:t>
              </a:r>
              <a:r>
                <a:rPr lang="en-US" altLang="ja-JP" sz="3600" b="0" dirty="0">
                  <a:latin typeface="+mj-lt"/>
                </a:rPr>
                <a:t>   </a:t>
              </a:r>
              <a:r>
                <a:rPr lang="en-US" altLang="ja-JP" sz="3600" b="0" dirty="0" err="1">
                  <a:latin typeface="+mj-lt"/>
                </a:rPr>
                <a:t>Biến</a:t>
              </a:r>
              <a:r>
                <a:rPr lang="en-US" altLang="ja-JP" sz="3600" b="0" dirty="0">
                  <a:latin typeface="+mj-lt"/>
                </a:rPr>
                <a:t> </a:t>
              </a:r>
              <a:r>
                <a:rPr lang="en-US" altLang="ja-JP" sz="3600" b="0" dirty="0" err="1">
                  <a:latin typeface="+mj-lt"/>
                </a:rPr>
                <a:t>số</a:t>
              </a:r>
              <a:r>
                <a:rPr lang="en-US" altLang="ja-JP" sz="3600" b="0" dirty="0">
                  <a:latin typeface="+mj-lt"/>
                </a:rPr>
                <a:t> 2</a:t>
              </a:r>
            </a:p>
          </p:txBody>
        </p:sp>
        <p:sp>
          <p:nvSpPr>
            <p:cNvPr id="711690" name="Rectangle 10">
              <a:extLst>
                <a:ext uri="{FF2B5EF4-FFF2-40B4-BE49-F238E27FC236}">
                  <a16:creationId xmlns:a16="http://schemas.microsoft.com/office/drawing/2014/main" id="{8193F5D7-ACE6-6382-7842-73E18D328ABE}"/>
                </a:ext>
              </a:extLst>
            </p:cNvPr>
            <p:cNvSpPr>
              <a:spLocks noChangeArrowheads="1"/>
            </p:cNvSpPr>
            <p:nvPr/>
          </p:nvSpPr>
          <p:spPr bwMode="auto">
            <a:xfrm>
              <a:off x="608" y="2320"/>
              <a:ext cx="1168" cy="648"/>
            </a:xfrm>
            <a:prstGeom prst="rect">
              <a:avLst/>
            </a:prstGeom>
            <a:noFill/>
            <a:ln w="381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91" name="Rectangle 11">
              <a:extLst>
                <a:ext uri="{FF2B5EF4-FFF2-40B4-BE49-F238E27FC236}">
                  <a16:creationId xmlns:a16="http://schemas.microsoft.com/office/drawing/2014/main" id="{3EC49754-F34F-E9B5-29F0-42F8F397FFDC}"/>
                </a:ext>
              </a:extLst>
            </p:cNvPr>
            <p:cNvSpPr>
              <a:spLocks noChangeArrowheads="1"/>
            </p:cNvSpPr>
            <p:nvPr/>
          </p:nvSpPr>
          <p:spPr bwMode="auto">
            <a:xfrm>
              <a:off x="2472" y="2320"/>
              <a:ext cx="1168" cy="648"/>
            </a:xfrm>
            <a:prstGeom prst="rect">
              <a:avLst/>
            </a:prstGeom>
            <a:noFill/>
            <a:ln w="381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92" name="Rectangle 12">
              <a:extLst>
                <a:ext uri="{FF2B5EF4-FFF2-40B4-BE49-F238E27FC236}">
                  <a16:creationId xmlns:a16="http://schemas.microsoft.com/office/drawing/2014/main" id="{74FAE493-1E26-FEF6-2794-662998452A67}"/>
                </a:ext>
              </a:extLst>
            </p:cNvPr>
            <p:cNvSpPr>
              <a:spLocks noChangeArrowheads="1"/>
            </p:cNvSpPr>
            <p:nvPr/>
          </p:nvSpPr>
          <p:spPr bwMode="auto">
            <a:xfrm>
              <a:off x="1928" y="2320"/>
              <a:ext cx="408" cy="648"/>
            </a:xfrm>
            <a:prstGeom prst="rect">
              <a:avLst/>
            </a:prstGeom>
            <a:noFill/>
            <a:ln w="381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93" name="Rectangle 13">
              <a:extLst>
                <a:ext uri="{FF2B5EF4-FFF2-40B4-BE49-F238E27FC236}">
                  <a16:creationId xmlns:a16="http://schemas.microsoft.com/office/drawing/2014/main" id="{7A1108D3-31FE-76D5-0A87-A17A3F8889B6}"/>
                </a:ext>
              </a:extLst>
            </p:cNvPr>
            <p:cNvSpPr>
              <a:spLocks noChangeArrowheads="1"/>
            </p:cNvSpPr>
            <p:nvPr/>
          </p:nvSpPr>
          <p:spPr bwMode="auto">
            <a:xfrm>
              <a:off x="416" y="1768"/>
              <a:ext cx="3408" cy="1376"/>
            </a:xfrm>
            <a:prstGeom prst="rect">
              <a:avLst/>
            </a:prstGeom>
            <a:noFill/>
            <a:ln w="38100" algn="ctr">
              <a:solidFill>
                <a:srgbClr val="FF99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94" name="Line 14">
              <a:extLst>
                <a:ext uri="{FF2B5EF4-FFF2-40B4-BE49-F238E27FC236}">
                  <a16:creationId xmlns:a16="http://schemas.microsoft.com/office/drawing/2014/main" id="{4D3336FF-FA9C-59B6-07E0-CF171E172AAB}"/>
                </a:ext>
              </a:extLst>
            </p:cNvPr>
            <p:cNvSpPr>
              <a:spLocks noChangeShapeType="1"/>
            </p:cNvSpPr>
            <p:nvPr/>
          </p:nvSpPr>
          <p:spPr bwMode="auto">
            <a:xfrm>
              <a:off x="2248" y="3136"/>
              <a:ext cx="0" cy="288"/>
            </a:xfrm>
            <a:prstGeom prst="line">
              <a:avLst/>
            </a:prstGeom>
            <a:noFill/>
            <a:ln w="38100">
              <a:solidFill>
                <a:srgbClr val="FF9900"/>
              </a:solidFill>
              <a:prstDash val="sysDot"/>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95" name="Rectangle 15">
              <a:extLst>
                <a:ext uri="{FF2B5EF4-FFF2-40B4-BE49-F238E27FC236}">
                  <a16:creationId xmlns:a16="http://schemas.microsoft.com/office/drawing/2014/main" id="{77880E40-4CFF-617F-4C58-CA216B39D856}"/>
                </a:ext>
              </a:extLst>
            </p:cNvPr>
            <p:cNvSpPr>
              <a:spLocks noChangeArrowheads="1"/>
            </p:cNvSpPr>
            <p:nvPr/>
          </p:nvSpPr>
          <p:spPr bwMode="auto">
            <a:xfrm>
              <a:off x="1472" y="3432"/>
              <a:ext cx="1648" cy="512"/>
            </a:xfrm>
            <a:prstGeom prst="rect">
              <a:avLst/>
            </a:prstGeom>
            <a:noFill/>
            <a:ln w="38100" algn="ctr">
              <a:solidFill>
                <a:srgbClr val="FF99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696" name="Text Box 16">
              <a:extLst>
                <a:ext uri="{FF2B5EF4-FFF2-40B4-BE49-F238E27FC236}">
                  <a16:creationId xmlns:a16="http://schemas.microsoft.com/office/drawing/2014/main" id="{63673D66-A561-8519-49D7-96465C60091D}"/>
                </a:ext>
              </a:extLst>
            </p:cNvPr>
            <p:cNvSpPr txBox="1">
              <a:spLocks noChangeArrowheads="1"/>
            </p:cNvSpPr>
            <p:nvPr/>
          </p:nvSpPr>
          <p:spPr bwMode="auto">
            <a:xfrm>
              <a:off x="1496" y="3416"/>
              <a:ext cx="1576" cy="52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2400" dirty="0" err="1">
                  <a:latin typeface="+mj-lt"/>
                </a:rPr>
                <a:t>Biểu</a:t>
              </a:r>
              <a:r>
                <a:rPr lang="en-US" altLang="ja-JP" sz="2400" dirty="0">
                  <a:latin typeface="+mj-lt"/>
                </a:rPr>
                <a:t> </a:t>
              </a:r>
              <a:r>
                <a:rPr lang="en-US" altLang="ja-JP" sz="2400" dirty="0" err="1">
                  <a:latin typeface="+mj-lt"/>
                </a:rPr>
                <a:t>thức</a:t>
              </a:r>
              <a:r>
                <a:rPr lang="en-US" altLang="ja-JP" sz="2400" dirty="0">
                  <a:latin typeface="+mj-lt"/>
                </a:rPr>
                <a:t> </a:t>
              </a:r>
              <a:r>
                <a:rPr lang="en-US" altLang="ja-JP" sz="2400" dirty="0" err="1">
                  <a:latin typeface="+mj-lt"/>
                </a:rPr>
                <a:t>điều</a:t>
              </a:r>
              <a:r>
                <a:rPr lang="en-US" altLang="ja-JP" sz="2400" dirty="0">
                  <a:latin typeface="+mj-lt"/>
                </a:rPr>
                <a:t> </a:t>
              </a:r>
              <a:r>
                <a:rPr lang="en-US" altLang="ja-JP" sz="2400" dirty="0" err="1">
                  <a:latin typeface="+mj-lt"/>
                </a:rPr>
                <a:t>kiện</a:t>
              </a:r>
              <a:r>
                <a:rPr lang="en-US" altLang="ja-JP" sz="2400" dirty="0">
                  <a:latin typeface="+mj-lt"/>
                </a:rPr>
                <a:t>.</a:t>
              </a:r>
            </a:p>
          </p:txBody>
        </p:sp>
        <p:sp>
          <p:nvSpPr>
            <p:cNvPr id="711697" name="AutoShape 17">
              <a:extLst>
                <a:ext uri="{FF2B5EF4-FFF2-40B4-BE49-F238E27FC236}">
                  <a16:creationId xmlns:a16="http://schemas.microsoft.com/office/drawing/2014/main" id="{00223354-0141-CCF8-3149-197F06DE6F8A}"/>
                </a:ext>
              </a:extLst>
            </p:cNvPr>
            <p:cNvSpPr>
              <a:spLocks noChangeArrowheads="1"/>
            </p:cNvSpPr>
            <p:nvPr/>
          </p:nvSpPr>
          <p:spPr bwMode="auto">
            <a:xfrm>
              <a:off x="2015" y="1895"/>
              <a:ext cx="723" cy="285"/>
            </a:xfrm>
            <a:prstGeom prst="wedgeRoundRectCallout">
              <a:avLst>
                <a:gd name="adj1" fmla="val -32296"/>
                <a:gd name="adj2" fmla="val 120528"/>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Toán tử</a:t>
              </a:r>
            </a:p>
          </p:txBody>
        </p:sp>
        <p:sp>
          <p:nvSpPr>
            <p:cNvPr id="711698" name="AutoShape 18">
              <a:extLst>
                <a:ext uri="{FF2B5EF4-FFF2-40B4-BE49-F238E27FC236}">
                  <a16:creationId xmlns:a16="http://schemas.microsoft.com/office/drawing/2014/main" id="{4F2C45BE-87C2-B3FE-8708-77D8D8EA832C}"/>
                </a:ext>
              </a:extLst>
            </p:cNvPr>
            <p:cNvSpPr>
              <a:spLocks noChangeArrowheads="1"/>
            </p:cNvSpPr>
            <p:nvPr/>
          </p:nvSpPr>
          <p:spPr bwMode="auto">
            <a:xfrm>
              <a:off x="1159" y="1895"/>
              <a:ext cx="723" cy="285"/>
            </a:xfrm>
            <a:prstGeom prst="wedgeRoundRectCallout">
              <a:avLst>
                <a:gd name="adj1" fmla="val -32296"/>
                <a:gd name="adj2" fmla="val 120528"/>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Operand</a:t>
              </a:r>
            </a:p>
          </p:txBody>
        </p:sp>
        <p:sp>
          <p:nvSpPr>
            <p:cNvPr id="711699" name="AutoShape 19">
              <a:extLst>
                <a:ext uri="{FF2B5EF4-FFF2-40B4-BE49-F238E27FC236}">
                  <a16:creationId xmlns:a16="http://schemas.microsoft.com/office/drawing/2014/main" id="{3DEA2025-A6B3-C41C-3F4F-79C62E2BF94A}"/>
                </a:ext>
              </a:extLst>
            </p:cNvPr>
            <p:cNvSpPr>
              <a:spLocks noChangeArrowheads="1"/>
            </p:cNvSpPr>
            <p:nvPr/>
          </p:nvSpPr>
          <p:spPr bwMode="auto">
            <a:xfrm>
              <a:off x="2863" y="1895"/>
              <a:ext cx="723" cy="285"/>
            </a:xfrm>
            <a:prstGeom prst="wedgeRoundRectCallout">
              <a:avLst>
                <a:gd name="adj1" fmla="val -32296"/>
                <a:gd name="adj2" fmla="val 120528"/>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Operand</a:t>
              </a:r>
            </a:p>
          </p:txBody>
        </p:sp>
        <p:sp>
          <p:nvSpPr>
            <p:cNvPr id="711700" name="AutoShape 20">
              <a:extLst>
                <a:ext uri="{FF2B5EF4-FFF2-40B4-BE49-F238E27FC236}">
                  <a16:creationId xmlns:a16="http://schemas.microsoft.com/office/drawing/2014/main" id="{FE867635-5517-547C-0A13-D8B5EEADA117}"/>
                </a:ext>
              </a:extLst>
            </p:cNvPr>
            <p:cNvSpPr>
              <a:spLocks noChangeArrowheads="1"/>
            </p:cNvSpPr>
            <p:nvPr/>
          </p:nvSpPr>
          <p:spPr bwMode="auto">
            <a:xfrm>
              <a:off x="3967" y="2463"/>
              <a:ext cx="1875" cy="1269"/>
            </a:xfrm>
            <a:prstGeom prst="wedgeRoundRectCallout">
              <a:avLst>
                <a:gd name="adj1" fmla="val -103333"/>
                <a:gd name="adj2" fmla="val 45037"/>
                <a:gd name="adj3" fmla="val 16667"/>
              </a:avLst>
            </a:prstGeom>
            <a:solidFill>
              <a:srgbClr val="FFFF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dirty="0">
                  <a:latin typeface="+mj-lt"/>
                </a:rPr>
                <a:t>① </a:t>
              </a:r>
              <a:r>
                <a:rPr lang="en-US" altLang="ja-JP" sz="1200" dirty="0" err="1">
                  <a:latin typeface="+mj-lt"/>
                </a:rPr>
                <a:t>Biểu</a:t>
              </a:r>
              <a:r>
                <a:rPr lang="en-US" altLang="ja-JP" sz="1200" dirty="0">
                  <a:latin typeface="+mj-lt"/>
                </a:rPr>
                <a:t> </a:t>
              </a:r>
              <a:r>
                <a:rPr lang="en-US" altLang="ja-JP" sz="1200" dirty="0" err="1">
                  <a:latin typeface="+mj-lt"/>
                </a:rPr>
                <a:t>thức</a:t>
              </a:r>
              <a:r>
                <a:rPr lang="en-US" altLang="ja-JP" sz="1200" dirty="0">
                  <a:latin typeface="+mj-lt"/>
                </a:rPr>
                <a:t> </a:t>
              </a:r>
              <a:r>
                <a:rPr lang="en-US" altLang="ja-JP" sz="1200" dirty="0" err="1">
                  <a:latin typeface="+mj-lt"/>
                </a:rPr>
                <a:t>điều</a:t>
              </a:r>
              <a:r>
                <a:rPr lang="en-US" altLang="ja-JP" sz="1200" dirty="0">
                  <a:latin typeface="+mj-lt"/>
                </a:rPr>
                <a:t> </a:t>
              </a:r>
              <a:r>
                <a:rPr lang="en-US" altLang="ja-JP" sz="1200" dirty="0" err="1">
                  <a:latin typeface="+mj-lt"/>
                </a:rPr>
                <a:t>kiện</a:t>
              </a:r>
              <a:r>
                <a:rPr lang="en-US" altLang="ja-JP" sz="1200" dirty="0">
                  <a:latin typeface="+mj-lt"/>
                </a:rPr>
                <a:t> </a:t>
              </a:r>
              <a:r>
                <a:rPr lang="en-US" altLang="ja-JP" sz="1200" dirty="0" err="1">
                  <a:latin typeface="+mj-lt"/>
                </a:rPr>
                <a:t>được</a:t>
              </a:r>
              <a:r>
                <a:rPr lang="en-US" altLang="ja-JP" sz="1200" dirty="0">
                  <a:latin typeface="+mj-lt"/>
                </a:rPr>
                <a:t> </a:t>
              </a:r>
              <a:r>
                <a:rPr lang="en-US" altLang="ja-JP" sz="1200" dirty="0" err="1">
                  <a:latin typeface="+mj-lt"/>
                </a:rPr>
                <a:t>thỏa</a:t>
              </a:r>
              <a:r>
                <a:rPr lang="en-US" altLang="ja-JP" sz="1200" dirty="0">
                  <a:latin typeface="+mj-lt"/>
                </a:rPr>
                <a:t> </a:t>
              </a:r>
              <a:r>
                <a:rPr lang="en-US" altLang="ja-JP" sz="1200" dirty="0" err="1">
                  <a:latin typeface="+mj-lt"/>
                </a:rPr>
                <a:t>mãn</a:t>
              </a:r>
              <a:r>
                <a:rPr lang="en-US" altLang="ja-JP" sz="1200" dirty="0">
                  <a:latin typeface="+mj-lt"/>
                </a:rPr>
                <a:t>.</a:t>
              </a:r>
              <a:br>
                <a:rPr lang="en-US" altLang="ja-JP" sz="1200" dirty="0">
                  <a:latin typeface="+mj-lt"/>
                </a:rPr>
              </a:br>
              <a:endParaRPr lang="en-US" altLang="ja-JP" sz="1200" dirty="0">
                <a:latin typeface="+mj-lt"/>
              </a:endParaRPr>
            </a:p>
            <a:p>
              <a:endParaRPr lang="en-US" altLang="ja-JP" dirty="0">
                <a:latin typeface="+mj-lt"/>
              </a:endParaRPr>
            </a:p>
            <a:p>
              <a:r>
                <a:rPr lang="en-US" altLang="ja-JP" dirty="0">
                  <a:latin typeface="+mj-lt"/>
                </a:rPr>
                <a:t>② </a:t>
              </a:r>
              <a:r>
                <a:rPr lang="en-US" altLang="ja-JP" sz="1200" dirty="0" err="1">
                  <a:latin typeface="+mj-lt"/>
                </a:rPr>
                <a:t>Biểu</a:t>
              </a:r>
              <a:r>
                <a:rPr lang="en-US" altLang="ja-JP" sz="1200" dirty="0">
                  <a:latin typeface="+mj-lt"/>
                </a:rPr>
                <a:t> </a:t>
              </a:r>
              <a:r>
                <a:rPr lang="en-US" altLang="ja-JP" sz="1200" dirty="0" err="1">
                  <a:latin typeface="+mj-lt"/>
                </a:rPr>
                <a:t>thức</a:t>
              </a:r>
              <a:r>
                <a:rPr lang="en-US" altLang="ja-JP" sz="1200" dirty="0">
                  <a:latin typeface="+mj-lt"/>
                </a:rPr>
                <a:t> </a:t>
              </a:r>
              <a:r>
                <a:rPr lang="en-US" altLang="ja-JP" sz="1200" dirty="0" err="1">
                  <a:latin typeface="+mj-lt"/>
                </a:rPr>
                <a:t>điều</a:t>
              </a:r>
              <a:r>
                <a:rPr lang="en-US" altLang="ja-JP" sz="1200" dirty="0">
                  <a:latin typeface="+mj-lt"/>
                </a:rPr>
                <a:t> </a:t>
              </a:r>
              <a:r>
                <a:rPr lang="en-US" altLang="ja-JP" sz="1200" dirty="0" err="1">
                  <a:latin typeface="+mj-lt"/>
                </a:rPr>
                <a:t>kiện</a:t>
              </a:r>
              <a:r>
                <a:rPr lang="en-US" altLang="ja-JP" sz="1200" dirty="0">
                  <a:latin typeface="+mj-lt"/>
                </a:rPr>
                <a:t> </a:t>
              </a:r>
              <a:r>
                <a:rPr lang="en-US" altLang="ja-JP" sz="1200" dirty="0" err="1">
                  <a:latin typeface="+mj-lt"/>
                </a:rPr>
                <a:t>không</a:t>
              </a:r>
              <a:r>
                <a:rPr lang="en-US" altLang="ja-JP" sz="1200" dirty="0">
                  <a:latin typeface="+mj-lt"/>
                </a:rPr>
                <a:t> </a:t>
              </a:r>
              <a:r>
                <a:rPr lang="en-US" altLang="ja-JP" sz="1200" dirty="0" err="1">
                  <a:latin typeface="+mj-lt"/>
                </a:rPr>
                <a:t>được</a:t>
              </a:r>
              <a:r>
                <a:rPr lang="en-US" altLang="ja-JP" sz="1200" dirty="0">
                  <a:latin typeface="+mj-lt"/>
                </a:rPr>
                <a:t> </a:t>
              </a:r>
              <a:r>
                <a:rPr lang="en-US" altLang="ja-JP" sz="1200" dirty="0" err="1">
                  <a:latin typeface="+mj-lt"/>
                </a:rPr>
                <a:t>thỏa</a:t>
              </a:r>
              <a:r>
                <a:rPr lang="en-US" altLang="ja-JP" sz="1200" dirty="0">
                  <a:latin typeface="+mj-lt"/>
                </a:rPr>
                <a:t> </a:t>
              </a:r>
              <a:r>
                <a:rPr lang="en-US" altLang="ja-JP" sz="1200" dirty="0" err="1">
                  <a:latin typeface="+mj-lt"/>
                </a:rPr>
                <a:t>mãn</a:t>
              </a:r>
              <a:r>
                <a:rPr lang="en-US" altLang="ja-JP" dirty="0">
                  <a:latin typeface="+mj-lt"/>
                </a:rPr>
                <a:t>.</a:t>
              </a:r>
            </a:p>
            <a:p>
              <a:endParaRPr lang="en-US" altLang="ja-JP" dirty="0">
                <a:latin typeface="+mj-lt"/>
              </a:endParaRPr>
            </a:p>
            <a:p>
              <a:endParaRPr lang="en-US" altLang="ja-JP" sz="1800" dirty="0">
                <a:latin typeface="+mj-lt"/>
              </a:endParaRPr>
            </a:p>
          </p:txBody>
        </p:sp>
        <p:sp>
          <p:nvSpPr>
            <p:cNvPr id="711701" name="Text Box 21">
              <a:extLst>
                <a:ext uri="{FF2B5EF4-FFF2-40B4-BE49-F238E27FC236}">
                  <a16:creationId xmlns:a16="http://schemas.microsoft.com/office/drawing/2014/main" id="{2F7A02BA-6A19-3B4B-6A55-016E37387BEC}"/>
                </a:ext>
              </a:extLst>
            </p:cNvPr>
            <p:cNvSpPr txBox="1">
              <a:spLocks noChangeArrowheads="1"/>
            </p:cNvSpPr>
            <p:nvPr/>
          </p:nvSpPr>
          <p:spPr bwMode="auto">
            <a:xfrm>
              <a:off x="4360" y="2656"/>
              <a:ext cx="1264" cy="19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400" dirty="0">
                  <a:solidFill>
                    <a:srgbClr val="0000FF"/>
                  </a:solidFill>
                  <a:latin typeface="+mj-lt"/>
                  <a:ea typeface="ＭＳ ゴシック" panose="020B0609070205080204" pitchFamily="49" charset="-128"/>
                </a:rPr>
                <a:t>true</a:t>
              </a:r>
              <a:r>
                <a:rPr lang="en-US" altLang="ja-JP" sz="1400" dirty="0">
                  <a:solidFill>
                    <a:srgbClr val="0000FF"/>
                  </a:solidFill>
                  <a:latin typeface="+mj-lt"/>
                </a:rPr>
                <a:t> (</a:t>
              </a:r>
              <a:r>
                <a:rPr lang="en-US" altLang="ja-JP" sz="1400" dirty="0" err="1">
                  <a:solidFill>
                    <a:srgbClr val="0000FF"/>
                  </a:solidFill>
                  <a:latin typeface="+mj-lt"/>
                </a:rPr>
                <a:t>đúng</a:t>
              </a:r>
              <a:r>
                <a:rPr lang="en-US" altLang="ja-JP" sz="1400" dirty="0">
                  <a:solidFill>
                    <a:srgbClr val="0000FF"/>
                  </a:solidFill>
                  <a:latin typeface="+mj-lt"/>
                </a:rPr>
                <a:t>)</a:t>
              </a:r>
            </a:p>
          </p:txBody>
        </p:sp>
        <p:sp>
          <p:nvSpPr>
            <p:cNvPr id="711702" name="Text Box 22">
              <a:extLst>
                <a:ext uri="{FF2B5EF4-FFF2-40B4-BE49-F238E27FC236}">
                  <a16:creationId xmlns:a16="http://schemas.microsoft.com/office/drawing/2014/main" id="{EB2594D1-6AFD-7660-55FE-D09AA8191169}"/>
                </a:ext>
              </a:extLst>
            </p:cNvPr>
            <p:cNvSpPr txBox="1">
              <a:spLocks noChangeArrowheads="1"/>
            </p:cNvSpPr>
            <p:nvPr/>
          </p:nvSpPr>
          <p:spPr bwMode="auto">
            <a:xfrm>
              <a:off x="4480" y="3229"/>
              <a:ext cx="1480" cy="19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400" dirty="0">
                  <a:solidFill>
                    <a:srgbClr val="0000FF"/>
                  </a:solidFill>
                  <a:latin typeface="+mj-lt"/>
                  <a:ea typeface="ＭＳ ゴシック" panose="020B0609070205080204" pitchFamily="49" charset="-128"/>
                </a:rPr>
                <a:t>false</a:t>
              </a:r>
              <a:r>
                <a:rPr lang="en-US" altLang="ja-JP" sz="1400" dirty="0">
                  <a:solidFill>
                    <a:srgbClr val="0000FF"/>
                  </a:solidFill>
                  <a:latin typeface="+mj-lt"/>
                </a:rPr>
                <a:t> (</a:t>
              </a:r>
              <a:r>
                <a:rPr lang="en-US" altLang="ja-JP" sz="1400" dirty="0" err="1">
                  <a:solidFill>
                    <a:srgbClr val="0000FF"/>
                  </a:solidFill>
                  <a:latin typeface="+mj-lt"/>
                </a:rPr>
                <a:t>sai</a:t>
              </a:r>
              <a:r>
                <a:rPr lang="en-US" altLang="ja-JP" sz="1400" dirty="0">
                  <a:solidFill>
                    <a:srgbClr val="0000FF"/>
                  </a:solidFill>
                  <a:latin typeface="+mj-lt"/>
                </a:rPr>
                <a:t>)</a:t>
              </a: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4274" name="Rectangle 2">
            <a:extLst>
              <a:ext uri="{FF2B5EF4-FFF2-40B4-BE49-F238E27FC236}">
                <a16:creationId xmlns:a16="http://schemas.microsoft.com/office/drawing/2014/main" id="{C11F8934-BC51-5766-ABF2-77301FEF6F72}"/>
              </a:ext>
            </a:extLst>
          </p:cNvPr>
          <p:cNvSpPr>
            <a:spLocks noGrp="1" noChangeArrowheads="1"/>
          </p:cNvSpPr>
          <p:nvPr>
            <p:ph type="title"/>
          </p:nvPr>
        </p:nvSpPr>
        <p:spPr>
          <a:xfrm>
            <a:off x="330531" y="289086"/>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Toán</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tử</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quan</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hệ</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và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biểu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thức</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điều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kiện</a:t>
            </a:r>
            <a:r>
              <a:rPr lang="en-US" altLang="ja-JP" dirty="0">
                <a:latin typeface="Arial" panose="020B0604020202020204" pitchFamily="34" charset="0"/>
                <a:ea typeface="MS UI Gothic" panose="020B0600070205080204" pitchFamily="50" charset="-128"/>
              </a:rPr>
              <a:t>.</a:t>
            </a:r>
          </a:p>
        </p:txBody>
      </p:sp>
      <p:sp>
        <p:nvSpPr>
          <p:cNvPr id="694275" name="Rectangle 3">
            <a:extLst>
              <a:ext uri="{FF2B5EF4-FFF2-40B4-BE49-F238E27FC236}">
                <a16:creationId xmlns:a16="http://schemas.microsoft.com/office/drawing/2014/main" id="{3BEEA2AB-11D0-8EBF-3E9C-C995EE303677}"/>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Toán tử quan hệ.</a:t>
            </a:r>
          </a:p>
          <a:p>
            <a:endParaRPr lang="en-US" altLang="ja-JP" sz="2400" b="0"/>
          </a:p>
          <a:p>
            <a:endParaRPr lang="en-US" altLang="ja-JP" sz="2400" b="0"/>
          </a:p>
          <a:p>
            <a:pPr>
              <a:buFont typeface="Wingdings" panose="05000000000000000000" pitchFamily="2" charset="2"/>
              <a:buNone/>
            </a:pPr>
            <a:r>
              <a:rPr lang="en-US" altLang="ja-JP" sz="2000" b="0"/>
              <a:t>●</a:t>
            </a:r>
            <a:r>
              <a:rPr lang="en-US" altLang="ja-JP" sz="2000" b="0">
                <a:latin typeface="Arial" panose="020B0604020202020204" pitchFamily="34" charset="0"/>
              </a:rPr>
              <a:t>Ví dụ về biểu thức điều kiện đã sử dụng toán tử quan hệ.</a:t>
            </a:r>
          </a:p>
        </p:txBody>
      </p:sp>
      <p:sp>
        <p:nvSpPr>
          <p:cNvPr id="694276" name="Rectangle 4">
            <a:extLst>
              <a:ext uri="{FF2B5EF4-FFF2-40B4-BE49-F238E27FC236}">
                <a16:creationId xmlns:a16="http://schemas.microsoft.com/office/drawing/2014/main" id="{94E8541B-2BD0-8CD7-91CD-97AAE56E7E31}"/>
              </a:ext>
            </a:extLst>
          </p:cNvPr>
          <p:cNvSpPr>
            <a:spLocks noChangeArrowheads="1"/>
          </p:cNvSpPr>
          <p:nvPr/>
        </p:nvSpPr>
        <p:spPr bwMode="auto">
          <a:xfrm>
            <a:off x="344488" y="12827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ＭＳ ゴシック" panose="020B0609070205080204" pitchFamily="49" charset="-128"/>
                <a:ea typeface="ＭＳ ゴシック" panose="020B0609070205080204" pitchFamily="49" charset="-128"/>
              </a:rPr>
              <a:t>&gt;  &gt;=  &lt;  &lt;=  ==  !=</a:t>
            </a:r>
          </a:p>
        </p:txBody>
      </p:sp>
      <p:graphicFrame>
        <p:nvGraphicFramePr>
          <p:cNvPr id="694362" name="Group 90">
            <a:extLst>
              <a:ext uri="{FF2B5EF4-FFF2-40B4-BE49-F238E27FC236}">
                <a16:creationId xmlns:a16="http://schemas.microsoft.com/office/drawing/2014/main" id="{FD5A1F86-2C96-0657-A2F8-A232976A88A3}"/>
              </a:ext>
            </a:extLst>
          </p:cNvPr>
          <p:cNvGraphicFramePr>
            <a:graphicFrameLocks noGrp="1"/>
          </p:cNvGraphicFramePr>
          <p:nvPr>
            <p:ph idx="1"/>
          </p:nvPr>
        </p:nvGraphicFramePr>
        <p:xfrm>
          <a:off x="306388" y="2587625"/>
          <a:ext cx="9264650" cy="3278508"/>
        </p:xfrm>
        <a:graphic>
          <a:graphicData uri="http://schemas.openxmlformats.org/drawingml/2006/table">
            <a:tbl>
              <a:tblPr/>
              <a:tblGrid>
                <a:gridCol w="2017712">
                  <a:extLst>
                    <a:ext uri="{9D8B030D-6E8A-4147-A177-3AD203B41FA5}">
                      <a16:colId xmlns:a16="http://schemas.microsoft.com/office/drawing/2014/main" val="2132756384"/>
                    </a:ext>
                  </a:extLst>
                </a:gridCol>
                <a:gridCol w="2171700">
                  <a:extLst>
                    <a:ext uri="{9D8B030D-6E8A-4147-A177-3AD203B41FA5}">
                      <a16:colId xmlns:a16="http://schemas.microsoft.com/office/drawing/2014/main" val="2640420551"/>
                    </a:ext>
                  </a:extLst>
                </a:gridCol>
                <a:gridCol w="5075238">
                  <a:extLst>
                    <a:ext uri="{9D8B030D-6E8A-4147-A177-3AD203B41FA5}">
                      <a16:colId xmlns:a16="http://schemas.microsoft.com/office/drawing/2014/main" val="833276132"/>
                    </a:ext>
                  </a:extLst>
                </a:gridCol>
              </a:tblGrid>
              <a:tr h="4397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Toán tử quan hệ</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Ví dụ về biểu thức điều kiện</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Ý nghĩa của biểu thức điều kiện.</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585684550"/>
                  </a:ext>
                </a:extLst>
              </a:tr>
              <a:tr h="4397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&gt;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　</a:t>
                      </a: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 &gt;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　</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 lớn hơn B</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946197277"/>
                  </a:ext>
                </a:extLst>
              </a:tr>
              <a:tr h="4397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&gt;=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　</a:t>
                      </a: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 &gt;=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　</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 lớn hơn hoặc bằng B</a:t>
                      </a:r>
                      <a:r>
                        <a:rPr kumimoji="1" lang="ja-JP" altLang="en-US"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　</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40158851"/>
                  </a:ext>
                </a:extLst>
              </a:tr>
              <a:tr h="4397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&lt;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　</a:t>
                      </a: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 &lt;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　</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 nhỏ hơn B</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721704394"/>
                  </a:ext>
                </a:extLst>
              </a:tr>
              <a:tr h="4397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&lt;=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　</a:t>
                      </a: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 &lt;=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　</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 nhỏ hơn hoặc bằng B</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980788646"/>
                  </a:ext>
                </a:extLst>
              </a:tr>
              <a:tr h="4397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　</a:t>
                      </a: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 ==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　</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 bằng B</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78957441"/>
                  </a:ext>
                </a:extLst>
              </a:tr>
              <a:tr h="4397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　</a:t>
                      </a: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 !=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　</a:t>
                      </a: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 không bằng B</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7086393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9A0F8354-DEB7-A101-BF87-B7BD3CDE3046}"/>
              </a:ext>
            </a:extLst>
          </p:cNvPr>
          <p:cNvSpPr>
            <a:spLocks noGrp="1"/>
          </p:cNvSpPr>
          <p:nvPr>
            <p:ph type="sldNum" sz="quarter" idx="10"/>
          </p:nvPr>
        </p:nvSpPr>
        <p:spPr>
          <a:xfrm>
            <a:off x="7616825" y="6254750"/>
            <a:ext cx="2133600" cy="476250"/>
          </a:xfrm>
        </p:spPr>
        <p:txBody>
          <a:bodyPr/>
          <a:lstStyle/>
          <a:p>
            <a:fld id="{B1A51113-8A82-410D-A5D7-163C56A6AF2B}" type="slidenum">
              <a:rPr lang="en-US" altLang="ja-JP"/>
              <a:pPr/>
              <a:t>16</a:t>
            </a:fld>
            <a:endParaRPr lang="en-US" altLang="ja-JP"/>
          </a:p>
        </p:txBody>
      </p:sp>
      <p:sp>
        <p:nvSpPr>
          <p:cNvPr id="696322" name="Rectangle 2">
            <a:extLst>
              <a:ext uri="{FF2B5EF4-FFF2-40B4-BE49-F238E27FC236}">
                <a16:creationId xmlns:a16="http://schemas.microsoft.com/office/drawing/2014/main" id="{366DF8EE-0384-8D58-F2E1-E7350EBA3D21}"/>
              </a:ext>
            </a:extLst>
          </p:cNvPr>
          <p:cNvSpPr>
            <a:spLocks noGrp="1" noChangeArrowheads="1"/>
          </p:cNvSpPr>
          <p:nvPr>
            <p:ph type="title"/>
          </p:nvPr>
        </p:nvSpPr>
        <p:spPr>
          <a:xfrm>
            <a:off x="344487" y="34047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Toán</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tử</a:t>
            </a:r>
            <a:r>
              <a:rPr lang="en-US" altLang="ja-JP" dirty="0">
                <a:latin typeface="Arial" panose="020B0604020202020204" pitchFamily="34" charset="0"/>
                <a:ea typeface="MS UI Gothic" panose="020B0600070205080204" pitchFamily="50" charset="-128"/>
              </a:rPr>
              <a:t> logic </a:t>
            </a:r>
            <a:r>
              <a:rPr lang="en-US" altLang="ja-JP" dirty="0" err="1">
                <a:latin typeface="Arial" panose="020B0604020202020204" pitchFamily="34" charset="0"/>
                <a:ea typeface="MS UI Gothic" panose="020B0600070205080204" pitchFamily="50" charset="-128"/>
              </a:rPr>
              <a:t>và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biểu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thức</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điều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kiện</a:t>
            </a:r>
            <a:endParaRPr lang="en-US" altLang="ja-JP" dirty="0">
              <a:latin typeface="Arial" panose="020B0604020202020204" pitchFamily="34" charset="0"/>
              <a:ea typeface="MS UI Gothic" panose="020B0600070205080204" pitchFamily="50" charset="-128"/>
            </a:endParaRPr>
          </a:p>
        </p:txBody>
      </p:sp>
      <p:graphicFrame>
        <p:nvGraphicFramePr>
          <p:cNvPr id="696880" name="Group 560">
            <a:extLst>
              <a:ext uri="{FF2B5EF4-FFF2-40B4-BE49-F238E27FC236}">
                <a16:creationId xmlns:a16="http://schemas.microsoft.com/office/drawing/2014/main" id="{04F7364A-2BB9-5423-DE19-E15DB020E342}"/>
              </a:ext>
            </a:extLst>
          </p:cNvPr>
          <p:cNvGraphicFramePr>
            <a:graphicFrameLocks noGrp="1"/>
          </p:cNvGraphicFramePr>
          <p:nvPr>
            <p:ph sz="half" idx="1"/>
            <p:extLst>
              <p:ext uri="{D42A27DB-BD31-4B8C-83A1-F6EECF244321}">
                <p14:modId xmlns:p14="http://schemas.microsoft.com/office/powerpoint/2010/main" val="2277586940"/>
              </p:ext>
            </p:extLst>
          </p:nvPr>
        </p:nvGraphicFramePr>
        <p:xfrm>
          <a:off x="344488" y="4297363"/>
          <a:ext cx="3165475" cy="2346643"/>
        </p:xfrm>
        <a:graphic>
          <a:graphicData uri="http://schemas.openxmlformats.org/drawingml/2006/table">
            <a:tbl>
              <a:tblPr/>
              <a:tblGrid>
                <a:gridCol w="468312">
                  <a:extLst>
                    <a:ext uri="{9D8B030D-6E8A-4147-A177-3AD203B41FA5}">
                      <a16:colId xmlns:a16="http://schemas.microsoft.com/office/drawing/2014/main" val="3582166550"/>
                    </a:ext>
                  </a:extLst>
                </a:gridCol>
                <a:gridCol w="757238">
                  <a:extLst>
                    <a:ext uri="{9D8B030D-6E8A-4147-A177-3AD203B41FA5}">
                      <a16:colId xmlns:a16="http://schemas.microsoft.com/office/drawing/2014/main" val="1620834725"/>
                    </a:ext>
                  </a:extLst>
                </a:gridCol>
                <a:gridCol w="960437">
                  <a:extLst>
                    <a:ext uri="{9D8B030D-6E8A-4147-A177-3AD203B41FA5}">
                      <a16:colId xmlns:a16="http://schemas.microsoft.com/office/drawing/2014/main" val="3409673162"/>
                    </a:ext>
                  </a:extLst>
                </a:gridCol>
                <a:gridCol w="979488">
                  <a:extLst>
                    <a:ext uri="{9D8B030D-6E8A-4147-A177-3AD203B41FA5}">
                      <a16:colId xmlns:a16="http://schemas.microsoft.com/office/drawing/2014/main" val="2441467281"/>
                    </a:ext>
                  </a:extLst>
                </a:gridCol>
              </a:tblGrid>
              <a:tr h="403225">
                <a:tc rowSpan="2" grid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Điều kiện AND</a:t>
                      </a:r>
                      <a:b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br>
                      <a:endPar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endParaRPr>
                    </a:p>
                  </a:txBody>
                  <a:tcPr horzOverflow="overflow">
                    <a:lnL w="285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FFFFCC">
                        <a:alpha val="50000"/>
                      </a:srgbClr>
                    </a:solidFill>
                  </a:tcPr>
                </a:tc>
                <a:tc rowSpan="2" hMerge="1">
                  <a:txBody>
                    <a:bodyPr/>
                    <a:lstStyle/>
                    <a:p>
                      <a:endParaRPr kumimoji="1" lang="ja-JP" altLang="en-US"/>
                    </a:p>
                  </a:txBody>
                  <a:tcPr/>
                </a:tc>
                <a:tc grid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Biểu thức điều kiện B</a:t>
                      </a:r>
                    </a:p>
                  </a:txBody>
                  <a:tcPr horzOverflow="overflow">
                    <a:lnL w="1905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hMerge="1">
                  <a:txBody>
                    <a:bodyPr/>
                    <a:lstStyle/>
                    <a:p>
                      <a:endParaRPr kumimoji="1" lang="ja-JP" altLang="en-US"/>
                    </a:p>
                  </a:txBody>
                  <a:tcPr/>
                </a:tc>
                <a:extLst>
                  <a:ext uri="{0D108BD9-81ED-4DB2-BD59-A6C34878D82A}">
                    <a16:rowId xmlns:a16="http://schemas.microsoft.com/office/drawing/2014/main" val="2005414396"/>
                  </a:ext>
                </a:extLst>
              </a:tr>
              <a:tr h="403225">
                <a:tc gridSpan="2" vMerge="1">
                  <a:txBody>
                    <a:bodyPr/>
                    <a:lstStyle/>
                    <a:p>
                      <a:endParaRPr kumimoji="1" lang="ja-JP" altLang="en-US"/>
                    </a:p>
                  </a:txBody>
                  <a:tcPr/>
                </a:tc>
                <a:tc hMerge="1" vMerge="1">
                  <a:txBody>
                    <a:bodyPr/>
                    <a:lstStyle/>
                    <a:p>
                      <a:endParaRPr kumimoji="1" lang="ja-JP" alt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horzOverflow="overflow">
                    <a:lnL w="190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605394318"/>
                  </a:ext>
                </a:extLst>
              </a:tr>
              <a:tr h="635000">
                <a:tc row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Biểu thức điều kiện</a:t>
                      </a:r>
                    </a:p>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a:t>
                      </a:r>
                    </a:p>
                  </a:txBody>
                  <a:tcPr marL="0" marR="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0" marR="0" marT="0" marB="0" anchor="ctr" horzOverflow="overflow">
                    <a:lnL w="1270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1" i="0" u="none" strike="noStrike" cap="none" normalizeH="0" baseline="0">
                          <a:ln>
                            <a:noFill/>
                          </a:ln>
                          <a:solidFill>
                            <a:srgbClr val="E10000"/>
                          </a:solidFill>
                          <a:effectLst/>
                          <a:latin typeface="Arial" panose="020B0604020202020204" pitchFamily="34" charset="0"/>
                          <a:ea typeface="ＭＳ ゴシック" panose="020B0609070205080204" pitchFamily="49" charset="-128"/>
                        </a:rPr>
                        <a:t>true</a:t>
                      </a:r>
                    </a:p>
                  </a:txBody>
                  <a:tcPr marL="90000" marR="90000" marT="46800" marB="46800" anchor="ctr" horzOverflow="overflow">
                    <a:lnL w="190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0000" marR="90000" marT="46800" marB="4680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53039150"/>
                  </a:ext>
                </a:extLst>
              </a:tr>
              <a:tr h="668338">
                <a:tc vMerge="1">
                  <a:txBody>
                    <a:bodyPr/>
                    <a:lstStyle/>
                    <a:p>
                      <a:endParaRPr kumimoji="1" lang="ja-JP" alt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0" marR="0" marT="0" marB="0" anchor="ctr" horzOverflow="overflow">
                    <a:lnL w="1270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0000" marR="90000" marT="46800" marB="46800" anchor="ctr" horzOverflow="overflow">
                    <a:lnL w="190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0000" marR="90000" marT="46800" marB="4680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241454540"/>
                  </a:ext>
                </a:extLst>
              </a:tr>
            </a:tbl>
          </a:graphicData>
        </a:graphic>
      </p:graphicFrame>
      <p:graphicFrame>
        <p:nvGraphicFramePr>
          <p:cNvPr id="696857" name="Group 537">
            <a:extLst>
              <a:ext uri="{FF2B5EF4-FFF2-40B4-BE49-F238E27FC236}">
                <a16:creationId xmlns:a16="http://schemas.microsoft.com/office/drawing/2014/main" id="{C6595511-3261-15B0-CBB9-E4548AF868D7}"/>
              </a:ext>
            </a:extLst>
          </p:cNvPr>
          <p:cNvGraphicFramePr>
            <a:graphicFrameLocks noGrp="1"/>
          </p:cNvGraphicFramePr>
          <p:nvPr>
            <p:ph sz="quarter" idx="2"/>
            <p:extLst>
              <p:ext uri="{D42A27DB-BD31-4B8C-83A1-F6EECF244321}">
                <p14:modId xmlns:p14="http://schemas.microsoft.com/office/powerpoint/2010/main" val="2370252063"/>
              </p:ext>
            </p:extLst>
          </p:nvPr>
        </p:nvGraphicFramePr>
        <p:xfrm>
          <a:off x="381000" y="2209800"/>
          <a:ext cx="9083675" cy="1692276"/>
        </p:xfrm>
        <a:graphic>
          <a:graphicData uri="http://schemas.openxmlformats.org/drawingml/2006/table">
            <a:tbl>
              <a:tblPr/>
              <a:tblGrid>
                <a:gridCol w="1539875">
                  <a:extLst>
                    <a:ext uri="{9D8B030D-6E8A-4147-A177-3AD203B41FA5}">
                      <a16:colId xmlns:a16="http://schemas.microsoft.com/office/drawing/2014/main" val="315409120"/>
                    </a:ext>
                  </a:extLst>
                </a:gridCol>
                <a:gridCol w="2670175">
                  <a:extLst>
                    <a:ext uri="{9D8B030D-6E8A-4147-A177-3AD203B41FA5}">
                      <a16:colId xmlns:a16="http://schemas.microsoft.com/office/drawing/2014/main" val="1355836279"/>
                    </a:ext>
                  </a:extLst>
                </a:gridCol>
                <a:gridCol w="3762375">
                  <a:extLst>
                    <a:ext uri="{9D8B030D-6E8A-4147-A177-3AD203B41FA5}">
                      <a16:colId xmlns:a16="http://schemas.microsoft.com/office/drawing/2014/main" val="2935643347"/>
                    </a:ext>
                  </a:extLst>
                </a:gridCol>
                <a:gridCol w="1111250">
                  <a:extLst>
                    <a:ext uri="{9D8B030D-6E8A-4147-A177-3AD203B41FA5}">
                      <a16:colId xmlns:a16="http://schemas.microsoft.com/office/drawing/2014/main" val="4164813645"/>
                    </a:ext>
                  </a:extLst>
                </a:gridCol>
              </a:tblGrid>
              <a:tr h="3889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Toán tử logics</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Cách sử dụng</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Ý nghĩa của biểu thức điều kiện</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Điều kiện</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367409508"/>
                  </a:ext>
                </a:extLst>
              </a:tr>
              <a:tr h="3889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&amp;&amp;</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　</a:t>
                      </a: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Biểu thức điều kiện A &amp;&amp; biểu thức điều kiện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Thỏa mãn biểu thức điều kiện A và biểu thức điều kiện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AND</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289414240"/>
                  </a:ext>
                </a:extLst>
              </a:tr>
              <a:tr h="3889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　</a:t>
                      </a: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Biểu thức điều kiện A || biểu thức điều kiện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Thỏa mãn biểu thức điều kiện A hoặc biểu thức điều kiện 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OR</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46163271"/>
                  </a:ext>
                </a:extLst>
              </a:tr>
              <a:tr h="3889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　</a:t>
                      </a: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 Biểu thức điều kiện A</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Không thỏa mãn biểu thức điều kiện A.</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NOT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98100946"/>
                  </a:ext>
                </a:extLst>
              </a:tr>
            </a:tbl>
          </a:graphicData>
        </a:graphic>
      </p:graphicFrame>
      <p:sp>
        <p:nvSpPr>
          <p:cNvPr id="696323" name="Rectangle 3">
            <a:extLst>
              <a:ext uri="{FF2B5EF4-FFF2-40B4-BE49-F238E27FC236}">
                <a16:creationId xmlns:a16="http://schemas.microsoft.com/office/drawing/2014/main" id="{8E168B59-9C65-993C-AF9A-5E15C8AA433E}"/>
              </a:ext>
            </a:extLst>
          </p:cNvPr>
          <p:cNvSpPr>
            <a:spLocks noChangeArrowheads="1"/>
          </p:cNvSpPr>
          <p:nvPr/>
        </p:nvSpPr>
        <p:spPr bwMode="auto">
          <a:xfrm>
            <a:off x="344786" y="677816"/>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err="1">
                <a:latin typeface="Arial" panose="020B0604020202020204" pitchFamily="34" charset="0"/>
              </a:rPr>
              <a:t>Toán</a:t>
            </a:r>
            <a:r>
              <a:rPr lang="en-US" altLang="ja-JP" sz="2400" b="0" dirty="0">
                <a:latin typeface="Arial" panose="020B0604020202020204" pitchFamily="34" charset="0"/>
              </a:rPr>
              <a:t> </a:t>
            </a:r>
            <a:r>
              <a:rPr lang="en-US" altLang="ja-JP" sz="2400" b="0" dirty="0" err="1">
                <a:latin typeface="Arial" panose="020B0604020202020204" pitchFamily="34" charset="0"/>
              </a:rPr>
              <a:t>tử</a:t>
            </a:r>
            <a:r>
              <a:rPr lang="en-US" altLang="ja-JP" sz="2400" b="0" dirty="0">
                <a:latin typeface="Arial" panose="020B0604020202020204" pitchFamily="34" charset="0"/>
              </a:rPr>
              <a:t> logic</a:t>
            </a:r>
          </a:p>
          <a:p>
            <a:endParaRPr lang="en-US" altLang="ja-JP" sz="2400" b="0" dirty="0"/>
          </a:p>
          <a:p>
            <a:endParaRPr lang="en-US" altLang="ja-JP" sz="2400" b="0" dirty="0"/>
          </a:p>
          <a:p>
            <a:pPr>
              <a:buFont typeface="Wingdings" panose="05000000000000000000" pitchFamily="2" charset="2"/>
              <a:buNone/>
            </a:pPr>
            <a:r>
              <a:rPr lang="en-US" altLang="ja-JP" sz="2000" b="0" dirty="0"/>
              <a:t>●</a:t>
            </a:r>
            <a:r>
              <a:rPr lang="en-US" altLang="ja-JP" sz="2000" b="0" dirty="0" err="1"/>
              <a:t>Toán</a:t>
            </a:r>
            <a:r>
              <a:rPr lang="en-US" altLang="ja-JP" sz="2000" b="0" dirty="0"/>
              <a:t> </a:t>
            </a:r>
            <a:r>
              <a:rPr lang="en-US" altLang="ja-JP" sz="2000" b="0" dirty="0" err="1"/>
              <a:t>tử</a:t>
            </a:r>
            <a:r>
              <a:rPr lang="en-US" altLang="ja-JP" sz="2000" b="0" dirty="0"/>
              <a:t> logic </a:t>
            </a:r>
            <a:r>
              <a:rPr lang="en-US" altLang="ja-JP" sz="2000" b="0" dirty="0" err="1"/>
              <a:t>và</a:t>
            </a:r>
            <a:r>
              <a:rPr lang="en-US" altLang="ja-JP" sz="2000" b="0" dirty="0"/>
              <a:t> </a:t>
            </a:r>
            <a:r>
              <a:rPr lang="en-US" altLang="ja-JP" sz="2000" b="0" dirty="0" err="1"/>
              <a:t>biểu</a:t>
            </a:r>
            <a:r>
              <a:rPr lang="en-US" altLang="ja-JP" sz="2000" b="0" dirty="0"/>
              <a:t> </a:t>
            </a:r>
            <a:r>
              <a:rPr lang="en-US" altLang="ja-JP" sz="2000" b="0" dirty="0" err="1"/>
              <a:t>thức</a:t>
            </a:r>
            <a:r>
              <a:rPr lang="en-US" altLang="ja-JP" sz="2000" b="0" dirty="0"/>
              <a:t> </a:t>
            </a:r>
            <a:r>
              <a:rPr lang="en-US" altLang="ja-JP" sz="2000" b="0" dirty="0" err="1"/>
              <a:t>điều</a:t>
            </a:r>
            <a:r>
              <a:rPr lang="en-US" altLang="ja-JP" sz="2000" b="0" dirty="0"/>
              <a:t> </a:t>
            </a:r>
            <a:r>
              <a:rPr lang="en-US" altLang="ja-JP" sz="2000" b="0" dirty="0" err="1"/>
              <a:t>kiện</a:t>
            </a:r>
            <a:r>
              <a:rPr lang="en-US" altLang="ja-JP" sz="2000" b="0" dirty="0"/>
              <a:t>.</a:t>
            </a:r>
          </a:p>
          <a:p>
            <a:pPr>
              <a:buFont typeface="Wingdings" panose="05000000000000000000" pitchFamily="2" charset="2"/>
              <a:buNone/>
            </a:pPr>
            <a:r>
              <a:rPr lang="en-US" altLang="ja-JP" sz="2000" b="0" dirty="0"/>
              <a:t>                              </a:t>
            </a:r>
          </a:p>
        </p:txBody>
      </p:sp>
      <p:sp>
        <p:nvSpPr>
          <p:cNvPr id="696324" name="Rectangle 4">
            <a:extLst>
              <a:ext uri="{FF2B5EF4-FFF2-40B4-BE49-F238E27FC236}">
                <a16:creationId xmlns:a16="http://schemas.microsoft.com/office/drawing/2014/main" id="{78248DA5-25E3-5351-53CA-76C2EF1BF07E}"/>
              </a:ext>
            </a:extLst>
          </p:cNvPr>
          <p:cNvSpPr>
            <a:spLocks noChangeArrowheads="1"/>
          </p:cNvSpPr>
          <p:nvPr/>
        </p:nvSpPr>
        <p:spPr bwMode="auto">
          <a:xfrm>
            <a:off x="344488" y="12827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ＭＳ ゴシック" panose="020B0609070205080204" pitchFamily="49" charset="-128"/>
                <a:ea typeface="ＭＳ ゴシック" panose="020B0609070205080204" pitchFamily="49" charset="-128"/>
              </a:rPr>
              <a:t>&amp;&amp;  ||  ! </a:t>
            </a:r>
          </a:p>
        </p:txBody>
      </p:sp>
      <p:sp>
        <p:nvSpPr>
          <p:cNvPr id="696596" name="Text Box 276">
            <a:extLst>
              <a:ext uri="{FF2B5EF4-FFF2-40B4-BE49-F238E27FC236}">
                <a16:creationId xmlns:a16="http://schemas.microsoft.com/office/drawing/2014/main" id="{8602B00B-BFCF-2FF8-7D8B-E92692A24D02}"/>
              </a:ext>
            </a:extLst>
          </p:cNvPr>
          <p:cNvSpPr txBox="1">
            <a:spLocks noChangeArrowheads="1"/>
          </p:cNvSpPr>
          <p:nvPr/>
        </p:nvSpPr>
        <p:spPr bwMode="auto">
          <a:xfrm>
            <a:off x="344488" y="3883025"/>
            <a:ext cx="7504112" cy="27463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200" b="0" dirty="0">
                <a:latin typeface="+mj-lt"/>
              </a:rPr>
              <a:t>【</a:t>
            </a:r>
            <a:r>
              <a:rPr lang="en-US" altLang="ja-JP" sz="1200" b="0" dirty="0" err="1">
                <a:latin typeface="+mj-lt"/>
              </a:rPr>
              <a:t>Kết</a:t>
            </a:r>
            <a:r>
              <a:rPr lang="en-US" altLang="ja-JP" sz="1200" b="0" dirty="0">
                <a:latin typeface="+mj-lt"/>
              </a:rPr>
              <a:t> </a:t>
            </a:r>
            <a:r>
              <a:rPr lang="en-US" altLang="ja-JP" sz="1200" b="0" dirty="0" err="1">
                <a:latin typeface="+mj-lt"/>
              </a:rPr>
              <a:t>quả</a:t>
            </a:r>
            <a:r>
              <a:rPr lang="en-US" altLang="ja-JP" sz="1200" b="0" dirty="0">
                <a:latin typeface="+mj-lt"/>
              </a:rPr>
              <a:t> </a:t>
            </a:r>
            <a:r>
              <a:rPr lang="en-US" altLang="ja-JP" sz="1200" b="0" dirty="0" err="1">
                <a:latin typeface="+mj-lt"/>
              </a:rPr>
              <a:t>đánh</a:t>
            </a:r>
            <a:r>
              <a:rPr lang="en-US" altLang="ja-JP" sz="1200" b="0" dirty="0">
                <a:latin typeface="+mj-lt"/>
              </a:rPr>
              <a:t> </a:t>
            </a:r>
            <a:r>
              <a:rPr lang="en-US" altLang="ja-JP" sz="1200" b="0" dirty="0" err="1">
                <a:latin typeface="+mj-lt"/>
              </a:rPr>
              <a:t>giá</a:t>
            </a:r>
            <a:r>
              <a:rPr lang="en-US" altLang="ja-JP" sz="1200" b="0" dirty="0">
                <a:latin typeface="+mj-lt"/>
              </a:rPr>
              <a:t> </a:t>
            </a:r>
            <a:r>
              <a:rPr lang="en-US" altLang="ja-JP" sz="1200" b="0" dirty="0" err="1">
                <a:latin typeface="+mj-lt"/>
              </a:rPr>
              <a:t>đã</a:t>
            </a:r>
            <a:r>
              <a:rPr lang="en-US" altLang="ja-JP" sz="1200" b="0" dirty="0">
                <a:latin typeface="+mj-lt"/>
              </a:rPr>
              <a:t> </a:t>
            </a:r>
            <a:r>
              <a:rPr lang="en-US" altLang="ja-JP" sz="1200" b="0" dirty="0" err="1">
                <a:latin typeface="+mj-lt"/>
              </a:rPr>
              <a:t>sử</a:t>
            </a:r>
            <a:r>
              <a:rPr lang="en-US" altLang="ja-JP" sz="1200" b="0" dirty="0">
                <a:latin typeface="+mj-lt"/>
              </a:rPr>
              <a:t> </a:t>
            </a:r>
            <a:r>
              <a:rPr lang="en-US" altLang="ja-JP" sz="1200" b="0" dirty="0" err="1">
                <a:latin typeface="+mj-lt"/>
              </a:rPr>
              <a:t>dụng</a:t>
            </a:r>
            <a:r>
              <a:rPr lang="en-US" altLang="ja-JP" sz="1200" b="0" dirty="0">
                <a:latin typeface="+mj-lt"/>
              </a:rPr>
              <a:t> </a:t>
            </a:r>
            <a:r>
              <a:rPr lang="en-US" altLang="ja-JP" sz="1200" b="0" dirty="0" err="1">
                <a:latin typeface="+mj-lt"/>
              </a:rPr>
              <a:t>toán</a:t>
            </a:r>
            <a:r>
              <a:rPr lang="en-US" altLang="ja-JP" sz="1200" b="0" dirty="0">
                <a:latin typeface="+mj-lt"/>
              </a:rPr>
              <a:t> </a:t>
            </a:r>
            <a:r>
              <a:rPr lang="en-US" altLang="ja-JP" sz="1200" b="0" dirty="0" err="1">
                <a:latin typeface="+mj-lt"/>
              </a:rPr>
              <a:t>tử</a:t>
            </a:r>
            <a:r>
              <a:rPr lang="en-US" altLang="ja-JP" sz="1200" b="0" dirty="0">
                <a:latin typeface="+mj-lt"/>
              </a:rPr>
              <a:t> logic </a:t>
            </a:r>
            <a:r>
              <a:rPr lang="en-US" altLang="ja-JP" sz="1200" b="0" dirty="0" err="1">
                <a:latin typeface="+mj-lt"/>
              </a:rPr>
              <a:t>đối</a:t>
            </a:r>
            <a:r>
              <a:rPr lang="en-US" altLang="ja-JP" sz="1200" b="0" dirty="0">
                <a:latin typeface="+mj-lt"/>
              </a:rPr>
              <a:t> </a:t>
            </a:r>
            <a:r>
              <a:rPr lang="en-US" altLang="ja-JP" sz="1200" b="0" dirty="0" err="1">
                <a:latin typeface="+mj-lt"/>
              </a:rPr>
              <a:t>với</a:t>
            </a:r>
            <a:r>
              <a:rPr lang="en-US" altLang="ja-JP" sz="1200" b="0" dirty="0">
                <a:latin typeface="+mj-lt"/>
              </a:rPr>
              <a:t> </a:t>
            </a:r>
            <a:r>
              <a:rPr lang="en-US" altLang="ja-JP" sz="1200" b="0" dirty="0" err="1">
                <a:latin typeface="+mj-lt"/>
              </a:rPr>
              <a:t>biểu</a:t>
            </a:r>
            <a:r>
              <a:rPr lang="en-US" altLang="ja-JP" sz="1200" b="0" dirty="0">
                <a:latin typeface="+mj-lt"/>
              </a:rPr>
              <a:t> </a:t>
            </a:r>
            <a:r>
              <a:rPr lang="en-US" altLang="ja-JP" sz="1200" b="0" dirty="0" err="1">
                <a:latin typeface="+mj-lt"/>
              </a:rPr>
              <a:t>thức</a:t>
            </a:r>
            <a:r>
              <a:rPr lang="en-US" altLang="ja-JP" sz="1200" b="0" dirty="0">
                <a:latin typeface="+mj-lt"/>
              </a:rPr>
              <a:t> </a:t>
            </a:r>
            <a:r>
              <a:rPr lang="en-US" altLang="ja-JP" sz="1200" b="0" dirty="0" err="1">
                <a:latin typeface="+mj-lt"/>
              </a:rPr>
              <a:t>điều</a:t>
            </a:r>
            <a:r>
              <a:rPr lang="en-US" altLang="ja-JP" sz="1200" b="0" dirty="0">
                <a:latin typeface="+mj-lt"/>
              </a:rPr>
              <a:t> </a:t>
            </a:r>
            <a:r>
              <a:rPr lang="en-US" altLang="ja-JP" sz="1200" b="0" dirty="0" err="1">
                <a:latin typeface="+mj-lt"/>
              </a:rPr>
              <a:t>kiện</a:t>
            </a:r>
            <a:r>
              <a:rPr lang="en-US" altLang="ja-JP" sz="1200" b="0" dirty="0">
                <a:latin typeface="+mj-lt"/>
              </a:rPr>
              <a:t> A, B】</a:t>
            </a:r>
          </a:p>
        </p:txBody>
      </p:sp>
      <p:graphicFrame>
        <p:nvGraphicFramePr>
          <p:cNvPr id="696881" name="Group 561">
            <a:extLst>
              <a:ext uri="{FF2B5EF4-FFF2-40B4-BE49-F238E27FC236}">
                <a16:creationId xmlns:a16="http://schemas.microsoft.com/office/drawing/2014/main" id="{0BA887B0-EC63-65BF-D607-E5F3E4AFA597}"/>
              </a:ext>
            </a:extLst>
          </p:cNvPr>
          <p:cNvGraphicFramePr>
            <a:graphicFrameLocks noGrp="1"/>
          </p:cNvGraphicFramePr>
          <p:nvPr>
            <p:extLst>
              <p:ext uri="{D42A27DB-BD31-4B8C-83A1-F6EECF244321}">
                <p14:modId xmlns:p14="http://schemas.microsoft.com/office/powerpoint/2010/main" val="1275807013"/>
              </p:ext>
            </p:extLst>
          </p:nvPr>
        </p:nvGraphicFramePr>
        <p:xfrm>
          <a:off x="3756025" y="4286250"/>
          <a:ext cx="3244850" cy="2373631"/>
        </p:xfrm>
        <a:graphic>
          <a:graphicData uri="http://schemas.openxmlformats.org/drawingml/2006/table">
            <a:tbl>
              <a:tblPr/>
              <a:tblGrid>
                <a:gridCol w="468313">
                  <a:extLst>
                    <a:ext uri="{9D8B030D-6E8A-4147-A177-3AD203B41FA5}">
                      <a16:colId xmlns:a16="http://schemas.microsoft.com/office/drawing/2014/main" val="2003365676"/>
                    </a:ext>
                  </a:extLst>
                </a:gridCol>
                <a:gridCol w="757237">
                  <a:extLst>
                    <a:ext uri="{9D8B030D-6E8A-4147-A177-3AD203B41FA5}">
                      <a16:colId xmlns:a16="http://schemas.microsoft.com/office/drawing/2014/main" val="1469769089"/>
                    </a:ext>
                  </a:extLst>
                </a:gridCol>
                <a:gridCol w="1031875">
                  <a:extLst>
                    <a:ext uri="{9D8B030D-6E8A-4147-A177-3AD203B41FA5}">
                      <a16:colId xmlns:a16="http://schemas.microsoft.com/office/drawing/2014/main" val="2597484600"/>
                    </a:ext>
                  </a:extLst>
                </a:gridCol>
                <a:gridCol w="987425">
                  <a:extLst>
                    <a:ext uri="{9D8B030D-6E8A-4147-A177-3AD203B41FA5}">
                      <a16:colId xmlns:a16="http://schemas.microsoft.com/office/drawing/2014/main" val="3580096306"/>
                    </a:ext>
                  </a:extLst>
                </a:gridCol>
              </a:tblGrid>
              <a:tr h="615950">
                <a:tc rowSpan="2" grid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2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Điều kiện OR</a:t>
                      </a:r>
                      <a:br>
                        <a:rPr kumimoji="1" lang="en-US" altLang="ja-JP" sz="20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br>
                      <a:endParaRPr kumimoji="1" lang="en-US" altLang="ja-JP" sz="20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endParaRPr>
                    </a:p>
                  </a:txBody>
                  <a:tcPr horzOverflow="overflow">
                    <a:lnL w="285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FFFFCC">
                        <a:alpha val="50000"/>
                      </a:srgbClr>
                    </a:solidFill>
                  </a:tcPr>
                </a:tc>
                <a:tc rowSpan="2" hMerge="1">
                  <a:txBody>
                    <a:bodyPr/>
                    <a:lstStyle/>
                    <a:p>
                      <a:endParaRPr kumimoji="1" lang="ja-JP" altLang="en-US"/>
                    </a:p>
                  </a:txBody>
                  <a:tcPr/>
                </a:tc>
                <a:tc grid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Biểu thức điều kiện B</a:t>
                      </a:r>
                    </a:p>
                  </a:txBody>
                  <a:tcPr horzOverflow="overflow">
                    <a:lnL w="1905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hMerge="1">
                  <a:txBody>
                    <a:bodyPr/>
                    <a:lstStyle/>
                    <a:p>
                      <a:endParaRPr kumimoji="1" lang="ja-JP" altLang="en-US"/>
                    </a:p>
                  </a:txBody>
                  <a:tcPr/>
                </a:tc>
                <a:extLst>
                  <a:ext uri="{0D108BD9-81ED-4DB2-BD59-A6C34878D82A}">
                    <a16:rowId xmlns:a16="http://schemas.microsoft.com/office/drawing/2014/main" val="2385335560"/>
                  </a:ext>
                </a:extLst>
              </a:tr>
              <a:tr h="385763">
                <a:tc gridSpan="2" vMerge="1">
                  <a:txBody>
                    <a:bodyPr/>
                    <a:lstStyle/>
                    <a:p>
                      <a:endParaRPr kumimoji="1" lang="ja-JP" altLang="en-US"/>
                    </a:p>
                  </a:txBody>
                  <a:tcPr/>
                </a:tc>
                <a:tc hMerge="1" vMerge="1">
                  <a:txBody>
                    <a:bodyPr/>
                    <a:lstStyle/>
                    <a:p>
                      <a:endParaRPr kumimoji="1" lang="ja-JP" alt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true</a:t>
                      </a:r>
                    </a:p>
                  </a:txBody>
                  <a:tcPr horzOverflow="overflow">
                    <a:lnL w="190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false</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4061481198"/>
                  </a:ext>
                </a:extLst>
              </a:tr>
              <a:tr h="622300">
                <a:tc row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Biểu thức điều kiện</a:t>
                      </a:r>
                    </a:p>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a:t>
                      </a:r>
                    </a:p>
                  </a:txBody>
                  <a:tcPr marL="0" marR="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0" marR="0" marT="0" marB="0" anchor="ctr" horzOverflow="overflow">
                    <a:lnL w="1270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1" i="0" u="none" strike="noStrike" cap="none" normalizeH="0" baseline="0">
                          <a:ln>
                            <a:noFill/>
                          </a:ln>
                          <a:solidFill>
                            <a:srgbClr val="E10000"/>
                          </a:solidFill>
                          <a:effectLst/>
                          <a:latin typeface="Arial" panose="020B0604020202020204" pitchFamily="34" charset="0"/>
                          <a:ea typeface="ＭＳ ゴシック" panose="020B0609070205080204" pitchFamily="49" charset="-128"/>
                        </a:rPr>
                        <a:t>true</a:t>
                      </a:r>
                    </a:p>
                  </a:txBody>
                  <a:tcPr marL="90000" marR="90000" marT="46800" marB="46800" anchor="ctr" horzOverflow="overflow">
                    <a:lnL w="190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1" i="0" u="none" strike="noStrike" cap="none" normalizeH="0" baseline="0">
                          <a:ln>
                            <a:noFill/>
                          </a:ln>
                          <a:solidFill>
                            <a:srgbClr val="E10000"/>
                          </a:solidFill>
                          <a:effectLst/>
                          <a:latin typeface="Arial" panose="020B0604020202020204" pitchFamily="34" charset="0"/>
                          <a:ea typeface="ＭＳ ゴシック" panose="020B0609070205080204" pitchFamily="49" charset="-128"/>
                        </a:rPr>
                        <a:t>true</a:t>
                      </a:r>
                    </a:p>
                  </a:txBody>
                  <a:tcPr marL="90000" marR="90000" marT="46800" marB="4680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21937102"/>
                  </a:ext>
                </a:extLst>
              </a:tr>
              <a:tr h="725488">
                <a:tc vMerge="1">
                  <a:txBody>
                    <a:bodyPr/>
                    <a:lstStyle/>
                    <a:p>
                      <a:endParaRPr kumimoji="1" lang="ja-JP" alt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0" marR="0" marT="0" marB="0" anchor="ctr" horzOverflow="overflow">
                    <a:lnL w="1270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1" i="0" u="none" strike="noStrike" cap="none" normalizeH="0" baseline="0">
                          <a:ln>
                            <a:noFill/>
                          </a:ln>
                          <a:solidFill>
                            <a:srgbClr val="E10000"/>
                          </a:solidFill>
                          <a:effectLst/>
                          <a:latin typeface="Arial" panose="020B0604020202020204" pitchFamily="34" charset="0"/>
                          <a:ea typeface="ＭＳ ゴシック" panose="020B0609070205080204" pitchFamily="49" charset="-128"/>
                        </a:rPr>
                        <a:t>true</a:t>
                      </a:r>
                    </a:p>
                  </a:txBody>
                  <a:tcPr marL="90000" marR="90000" marT="46800" marB="46800" anchor="ctr" horzOverflow="overflow">
                    <a:lnL w="190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0000" marR="90000" marT="46800" marB="4680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486508011"/>
                  </a:ext>
                </a:extLst>
              </a:tr>
            </a:tbl>
          </a:graphicData>
        </a:graphic>
      </p:graphicFrame>
      <p:graphicFrame>
        <p:nvGraphicFramePr>
          <p:cNvPr id="696876" name="Group 556">
            <a:extLst>
              <a:ext uri="{FF2B5EF4-FFF2-40B4-BE49-F238E27FC236}">
                <a16:creationId xmlns:a16="http://schemas.microsoft.com/office/drawing/2014/main" id="{5F45DD06-6F34-B873-D499-AA8127065F97}"/>
              </a:ext>
            </a:extLst>
          </p:cNvPr>
          <p:cNvGraphicFramePr>
            <a:graphicFrameLocks noGrp="1"/>
          </p:cNvGraphicFramePr>
          <p:nvPr>
            <p:extLst>
              <p:ext uri="{D42A27DB-BD31-4B8C-83A1-F6EECF244321}">
                <p14:modId xmlns:p14="http://schemas.microsoft.com/office/powerpoint/2010/main" val="1240276458"/>
              </p:ext>
            </p:extLst>
          </p:nvPr>
        </p:nvGraphicFramePr>
        <p:xfrm>
          <a:off x="7223125" y="4284663"/>
          <a:ext cx="2184400" cy="2382520"/>
        </p:xfrm>
        <a:graphic>
          <a:graphicData uri="http://schemas.openxmlformats.org/drawingml/2006/table">
            <a:tbl>
              <a:tblPr/>
              <a:tblGrid>
                <a:gridCol w="485775">
                  <a:extLst>
                    <a:ext uri="{9D8B030D-6E8A-4147-A177-3AD203B41FA5}">
                      <a16:colId xmlns:a16="http://schemas.microsoft.com/office/drawing/2014/main" val="10446288"/>
                    </a:ext>
                  </a:extLst>
                </a:gridCol>
                <a:gridCol w="812800">
                  <a:extLst>
                    <a:ext uri="{9D8B030D-6E8A-4147-A177-3AD203B41FA5}">
                      <a16:colId xmlns:a16="http://schemas.microsoft.com/office/drawing/2014/main" val="1371794896"/>
                    </a:ext>
                  </a:extLst>
                </a:gridCol>
                <a:gridCol w="885825">
                  <a:extLst>
                    <a:ext uri="{9D8B030D-6E8A-4147-A177-3AD203B41FA5}">
                      <a16:colId xmlns:a16="http://schemas.microsoft.com/office/drawing/2014/main" val="887078882"/>
                    </a:ext>
                  </a:extLst>
                </a:gridCol>
              </a:tblGrid>
              <a:tr h="776288">
                <a:tc grid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2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Điều kiện NOT</a:t>
                      </a:r>
                    </a:p>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endParaRPr kumimoji="1" lang="en-US" altLang="ja-JP" sz="2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endParaRPr>
                    </a:p>
                  </a:txBody>
                  <a:tcPr horzOverflow="overflow">
                    <a:lnL w="285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FFFFCC">
                        <a:alpha val="50000"/>
                      </a:srgbClr>
                    </a:solidFill>
                  </a:tcPr>
                </a:tc>
                <a:tc hMerge="1">
                  <a:txBody>
                    <a:bodyPr/>
                    <a:lstStyle/>
                    <a:p>
                      <a:endParaRPr kumimoji="1" lang="ja-JP" alt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ＭＳ ゴシック" panose="020B0609070205080204" pitchFamily="49" charset="-128"/>
                          <a:ea typeface="ＭＳ ゴシック" panose="020B0609070205080204" pitchFamily="49" charset="-128"/>
                        </a:rPr>
                        <a:t>Đánh giá</a:t>
                      </a:r>
                    </a:p>
                  </a:txBody>
                  <a:tcPr marL="90000" marR="90000" marT="46800" marB="46800" anchor="ctr" horzOverflow="overflow">
                    <a:lnL w="1905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206470677"/>
                  </a:ext>
                </a:extLst>
              </a:tr>
              <a:tr h="625475">
                <a:tc row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Biểu thức điều kiện</a:t>
                      </a:r>
                    </a:p>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A</a:t>
                      </a:r>
                    </a:p>
                  </a:txBody>
                  <a:tcPr marL="0" marR="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true</a:t>
                      </a:r>
                    </a:p>
                  </a:txBody>
                  <a:tcPr marL="0" marR="0" marT="0" marB="0" anchor="ctr" horzOverflow="overflow">
                    <a:lnL w="1270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90000" marR="90000" marT="46800" marB="46800" anchor="ctr" horzOverflow="overflow">
                    <a:lnL w="1905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676736521"/>
                  </a:ext>
                </a:extLst>
              </a:tr>
              <a:tr h="720725">
                <a:tc vMerge="1">
                  <a:txBody>
                    <a:bodyPr/>
                    <a:lstStyle/>
                    <a:p>
                      <a:endParaRPr kumimoji="1" lang="ja-JP" alt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false</a:t>
                      </a:r>
                    </a:p>
                  </a:txBody>
                  <a:tcPr marL="0" marR="0" marT="0" marB="0" anchor="ctr" horzOverflow="overflow">
                    <a:lnL w="1270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1" i="0" u="none" strike="noStrike" cap="none" normalizeH="0" baseline="0">
                          <a:ln>
                            <a:noFill/>
                          </a:ln>
                          <a:solidFill>
                            <a:srgbClr val="E10000"/>
                          </a:solidFill>
                          <a:effectLst/>
                          <a:latin typeface="Arial" panose="020B0604020202020204" pitchFamily="34" charset="0"/>
                          <a:ea typeface="ＭＳ ゴシック" panose="020B0609070205080204" pitchFamily="49" charset="-128"/>
                        </a:rPr>
                        <a:t>true</a:t>
                      </a:r>
                    </a:p>
                  </a:txBody>
                  <a:tcPr marL="90000" marR="90000" marT="46800" marB="46800" anchor="ctr" horzOverflow="overflow">
                    <a:lnL w="1905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6659885"/>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CCE5DAAA-9F13-0C98-4044-262EC0054984}"/>
              </a:ext>
            </a:extLst>
          </p:cNvPr>
          <p:cNvSpPr>
            <a:spLocks noGrp="1"/>
          </p:cNvSpPr>
          <p:nvPr>
            <p:ph type="sldNum" sz="quarter" idx="10"/>
          </p:nvPr>
        </p:nvSpPr>
        <p:spPr/>
        <p:txBody>
          <a:bodyPr/>
          <a:lstStyle/>
          <a:p>
            <a:fld id="{BC7B0F19-C147-4396-8193-19B47F339F4A}" type="slidenum">
              <a:rPr lang="en-US" altLang="ja-JP"/>
              <a:pPr/>
              <a:t>17</a:t>
            </a:fld>
            <a:endParaRPr lang="en-US" altLang="ja-JP"/>
          </a:p>
        </p:txBody>
      </p:sp>
      <p:sp>
        <p:nvSpPr>
          <p:cNvPr id="705647" name="Rectangle 111">
            <a:extLst>
              <a:ext uri="{FF2B5EF4-FFF2-40B4-BE49-F238E27FC236}">
                <a16:creationId xmlns:a16="http://schemas.microsoft.com/office/drawing/2014/main" id="{36BC6204-8769-E0BD-F5C3-6BA916BBDD9D}"/>
              </a:ext>
            </a:extLst>
          </p:cNvPr>
          <p:cNvSpPr>
            <a:spLocks noChangeArrowheads="1"/>
          </p:cNvSpPr>
          <p:nvPr/>
        </p:nvSpPr>
        <p:spPr bwMode="auto">
          <a:xfrm>
            <a:off x="390525" y="2501900"/>
            <a:ext cx="9034463" cy="401002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05538" name="Rectangle 2">
            <a:extLst>
              <a:ext uri="{FF2B5EF4-FFF2-40B4-BE49-F238E27FC236}">
                <a16:creationId xmlns:a16="http://schemas.microsoft.com/office/drawing/2014/main" id="{E0E0CE83-7031-37B9-DA0F-744D7E9D4D47}"/>
              </a:ext>
            </a:extLst>
          </p:cNvPr>
          <p:cNvSpPr>
            <a:spLocks noGrp="1" noChangeArrowheads="1"/>
          </p:cNvSpPr>
          <p:nvPr>
            <p:ph type="title"/>
          </p:nvPr>
        </p:nvSpPr>
        <p:spPr>
          <a:xfrm>
            <a:off x="344488" y="300832"/>
            <a:ext cx="9217025" cy="490537"/>
          </a:xfrm>
        </p:spPr>
        <p:txBody>
          <a:bodyPr>
            <a:normAutofit fontScale="90000"/>
          </a:bodyPr>
          <a:lstStyle/>
          <a:p>
            <a:r>
              <a:rPr lang="en-US" altLang="ja-JP" dirty="0" err="1">
                <a:latin typeface="MS UI Gothic" panose="020B0600070205080204" pitchFamily="50" charset="-128"/>
                <a:ea typeface="MS UI Gothic" panose="020B0600070205080204" pitchFamily="50" charset="-128"/>
              </a:rPr>
              <a:t>C</a:t>
            </a:r>
            <a:r>
              <a:rPr lang="en-US" altLang="ja-JP" dirty="0" err="1">
                <a:latin typeface="Arial" panose="020B0604020202020204" pitchFamily="34" charset="0"/>
                <a:ea typeface="MS UI Gothic" panose="020B0600070205080204" pitchFamily="50" charset="-128"/>
              </a:rPr>
              <a:t>âu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lệnh</a:t>
            </a:r>
            <a:r>
              <a:rPr lang="en-US" altLang="ja-JP" dirty="0">
                <a:latin typeface="Arial" panose="020B0604020202020204" pitchFamily="34" charset="0"/>
                <a:ea typeface="MS UI Gothic" panose="020B0600070205080204" pitchFamily="50" charset="-128"/>
              </a:rPr>
              <a:t> control </a:t>
            </a:r>
            <a:r>
              <a:rPr lang="en-US" altLang="ja-JP" dirty="0" err="1">
                <a:latin typeface="Arial" panose="020B0604020202020204" pitchFamily="34" charset="0"/>
                <a:ea typeface="MS UI Gothic" panose="020B0600070205080204" pitchFamily="50" charset="-128"/>
              </a:rPr>
              <a:t>và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phạm</a:t>
            </a:r>
            <a:r>
              <a:rPr lang="en-US" altLang="ja-JP" dirty="0">
                <a:latin typeface="Arial" panose="020B0604020202020204" pitchFamily="34" charset="0"/>
                <a:ea typeface="MS UI Gothic" panose="020B0600070205080204" pitchFamily="50" charset="-128"/>
              </a:rPr>
              <a:t> vi valid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biến</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số</a:t>
            </a:r>
            <a:endParaRPr lang="en-US" altLang="ja-JP" dirty="0">
              <a:latin typeface="Arial" panose="020B0604020202020204" pitchFamily="34" charset="0"/>
              <a:ea typeface="MS UI Gothic" panose="020B0600070205080204" pitchFamily="50" charset="-128"/>
            </a:endParaRPr>
          </a:p>
        </p:txBody>
      </p:sp>
      <p:sp>
        <p:nvSpPr>
          <p:cNvPr id="705539" name="Rectangle 3">
            <a:extLst>
              <a:ext uri="{FF2B5EF4-FFF2-40B4-BE49-F238E27FC236}">
                <a16:creationId xmlns:a16="http://schemas.microsoft.com/office/drawing/2014/main" id="{5FD1C3CC-2C9D-C083-1CB7-CA197B04004F}"/>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05540" name="Rectangle 4">
            <a:extLst>
              <a:ext uri="{FF2B5EF4-FFF2-40B4-BE49-F238E27FC236}">
                <a16:creationId xmlns:a16="http://schemas.microsoft.com/office/drawing/2014/main" id="{62C2C2F0-5A24-5FF5-2FD7-22B3444E8A2C}"/>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AU" altLang="ja-JP" sz="2400" b="0">
                <a:latin typeface="Arial" panose="020B0604020202020204" pitchFamily="34" charset="0"/>
              </a:rPr>
              <a:t>Phạm vi valid của biến local</a:t>
            </a:r>
            <a:endParaRPr lang="en-US" altLang="ja-JP" sz="2400" b="0">
              <a:latin typeface="Arial" panose="020B0604020202020204" pitchFamily="34" charset="0"/>
            </a:endParaRPr>
          </a:p>
          <a:p>
            <a:endParaRPr lang="en-US" altLang="ja-JP" sz="2400" b="0"/>
          </a:p>
          <a:p>
            <a:endParaRPr lang="en-US" altLang="ja-JP" sz="2400" b="0"/>
          </a:p>
          <a:p>
            <a:pPr>
              <a:buFont typeface="Wingdings" panose="05000000000000000000" pitchFamily="2" charset="2"/>
              <a:buNone/>
            </a:pPr>
            <a:r>
              <a:rPr lang="en-US" altLang="ja-JP" sz="2400" b="0"/>
              <a:t>●</a:t>
            </a:r>
            <a:r>
              <a:rPr lang="en-US" altLang="ja-JP" sz="2400" b="0">
                <a:latin typeface="Arial" panose="020B0604020202020204" pitchFamily="34" charset="0"/>
              </a:rPr>
              <a:t>Nơi khai báo biến số.</a:t>
            </a:r>
          </a:p>
          <a:p>
            <a:pPr>
              <a:buFont typeface="Wingdings" panose="05000000000000000000" pitchFamily="2" charset="2"/>
              <a:buNone/>
            </a:pPr>
            <a:r>
              <a:rPr lang="ja-JP" altLang="en-US" sz="2000" b="0"/>
              <a:t>　</a:t>
            </a:r>
          </a:p>
        </p:txBody>
      </p:sp>
      <p:sp>
        <p:nvSpPr>
          <p:cNvPr id="705543" name="Rectangle 7">
            <a:extLst>
              <a:ext uri="{FF2B5EF4-FFF2-40B4-BE49-F238E27FC236}">
                <a16:creationId xmlns:a16="http://schemas.microsoft.com/office/drawing/2014/main" id="{302538BF-7F1A-F8C5-A6AF-C57529342C8B}"/>
              </a:ext>
            </a:extLst>
          </p:cNvPr>
          <p:cNvSpPr>
            <a:spLocks noChangeArrowheads="1"/>
          </p:cNvSpPr>
          <p:nvPr/>
        </p:nvSpPr>
        <p:spPr bwMode="auto">
          <a:xfrm>
            <a:off x="344488" y="12827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AU" altLang="ja-JP" sz="2000">
                <a:latin typeface="Arial" panose="020B0604020202020204" pitchFamily="34" charset="0"/>
              </a:rPr>
              <a:t>Trong block đã được khai báo.</a:t>
            </a:r>
            <a:endParaRPr lang="en-US" altLang="ja-JP" sz="2000">
              <a:latin typeface="Arial" panose="020B0604020202020204" pitchFamily="34" charset="0"/>
            </a:endParaRPr>
          </a:p>
        </p:txBody>
      </p:sp>
      <p:sp>
        <p:nvSpPr>
          <p:cNvPr id="705547" name="Rectangle 11">
            <a:extLst>
              <a:ext uri="{FF2B5EF4-FFF2-40B4-BE49-F238E27FC236}">
                <a16:creationId xmlns:a16="http://schemas.microsoft.com/office/drawing/2014/main" id="{A9666BAC-55BB-D3B8-7787-9EB08A133960}"/>
              </a:ext>
            </a:extLst>
          </p:cNvPr>
          <p:cNvSpPr>
            <a:spLocks noChangeArrowheads="1"/>
          </p:cNvSpPr>
          <p:nvPr/>
        </p:nvSpPr>
        <p:spPr bwMode="auto">
          <a:xfrm>
            <a:off x="787400" y="2755900"/>
            <a:ext cx="3771900" cy="3517900"/>
          </a:xfrm>
          <a:prstGeom prst="rect">
            <a:avLst/>
          </a:prstGeom>
          <a:solidFill>
            <a:srgbClr val="FFCC99"/>
          </a:solidFill>
          <a:ln w="9525" algn="ctr">
            <a:solidFill>
              <a:schemeClr val="tx1"/>
            </a:solidFill>
            <a:miter lim="800000"/>
            <a:headEnd/>
            <a:tailEnd/>
          </a:ln>
          <a:effectLst>
            <a:outerShdw dist="107763" dir="2700000" algn="ctr" rotWithShape="0">
              <a:schemeClr val="bg2">
                <a:alpha val="50000"/>
              </a:schemeClr>
            </a:outerShdw>
          </a:effectLst>
        </p:spPr>
        <p:txBody>
          <a:bodyPr wrap="none" anchor="ctr"/>
          <a:lstStyle/>
          <a:p>
            <a:endParaRPr lang="ja-JP" altLang="en-US"/>
          </a:p>
        </p:txBody>
      </p:sp>
      <p:sp>
        <p:nvSpPr>
          <p:cNvPr id="705548" name="Text Box 12">
            <a:extLst>
              <a:ext uri="{FF2B5EF4-FFF2-40B4-BE49-F238E27FC236}">
                <a16:creationId xmlns:a16="http://schemas.microsoft.com/office/drawing/2014/main" id="{4227E6E7-A7A8-B52D-B78A-7557D209693E}"/>
              </a:ext>
            </a:extLst>
          </p:cNvPr>
          <p:cNvSpPr txBox="1">
            <a:spLocks noChangeArrowheads="1"/>
          </p:cNvSpPr>
          <p:nvPr/>
        </p:nvSpPr>
        <p:spPr bwMode="auto">
          <a:xfrm>
            <a:off x="839788" y="2755900"/>
            <a:ext cx="3089275"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600" dirty="0"/>
              <a:t>Block </a:t>
            </a:r>
            <a:r>
              <a:rPr lang="en-US" altLang="ja-JP" sz="1600" dirty="0" err="1"/>
              <a:t>của</a:t>
            </a:r>
            <a:r>
              <a:rPr lang="en-US" altLang="ja-JP" sz="1600" dirty="0"/>
              <a:t> method</a:t>
            </a:r>
          </a:p>
        </p:txBody>
      </p:sp>
      <p:sp>
        <p:nvSpPr>
          <p:cNvPr id="705549" name="Text Box 13">
            <a:extLst>
              <a:ext uri="{FF2B5EF4-FFF2-40B4-BE49-F238E27FC236}">
                <a16:creationId xmlns:a16="http://schemas.microsoft.com/office/drawing/2014/main" id="{BADC9012-7732-4A86-5743-3DE4CBC81F06}"/>
              </a:ext>
            </a:extLst>
          </p:cNvPr>
          <p:cNvSpPr txBox="1">
            <a:spLocks noChangeArrowheads="1"/>
          </p:cNvSpPr>
          <p:nvPr/>
        </p:nvSpPr>
        <p:spPr bwMode="auto">
          <a:xfrm>
            <a:off x="1182688" y="3162300"/>
            <a:ext cx="2689224"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600" b="0" dirty="0"/>
              <a:t>Khai </a:t>
            </a:r>
            <a:r>
              <a:rPr lang="en-US" altLang="ja-JP" sz="1600" b="0" dirty="0" err="1"/>
              <a:t>báo</a:t>
            </a:r>
            <a:r>
              <a:rPr lang="en-US" altLang="ja-JP" sz="1600" b="0" dirty="0"/>
              <a:t> </a:t>
            </a:r>
            <a:r>
              <a:rPr lang="en-US" altLang="ja-JP" sz="1600" b="0" dirty="0" err="1"/>
              <a:t>biến</a:t>
            </a:r>
            <a:r>
              <a:rPr lang="en-US" altLang="ja-JP" sz="1600" b="0" dirty="0"/>
              <a:t> </a:t>
            </a:r>
            <a:r>
              <a:rPr lang="en-US" altLang="ja-JP" sz="1600" b="0" dirty="0" err="1"/>
              <a:t>số</a:t>
            </a:r>
            <a:r>
              <a:rPr lang="en-US" altLang="ja-JP" sz="1600" b="0" dirty="0"/>
              <a:t> A</a:t>
            </a:r>
          </a:p>
        </p:txBody>
      </p:sp>
      <p:sp>
        <p:nvSpPr>
          <p:cNvPr id="705550" name="Rectangle 14">
            <a:extLst>
              <a:ext uri="{FF2B5EF4-FFF2-40B4-BE49-F238E27FC236}">
                <a16:creationId xmlns:a16="http://schemas.microsoft.com/office/drawing/2014/main" id="{61DF5629-8527-D125-BD69-4B192C1077EA}"/>
              </a:ext>
            </a:extLst>
          </p:cNvPr>
          <p:cNvSpPr>
            <a:spLocks noChangeArrowheads="1"/>
          </p:cNvSpPr>
          <p:nvPr/>
        </p:nvSpPr>
        <p:spPr bwMode="auto">
          <a:xfrm>
            <a:off x="1108075" y="3654425"/>
            <a:ext cx="3448050" cy="981075"/>
          </a:xfrm>
          <a:prstGeom prst="rect">
            <a:avLst/>
          </a:prstGeom>
          <a:solidFill>
            <a:schemeClr val="bg1"/>
          </a:solidFill>
          <a:ln w="9525" algn="ctr">
            <a:solidFill>
              <a:schemeClr val="tx1"/>
            </a:solidFill>
            <a:miter lim="800000"/>
            <a:headEnd/>
            <a:tailEnd/>
          </a:ln>
          <a:effectLst>
            <a:outerShdw dist="107763" dir="2700000" algn="ctr" rotWithShape="0">
              <a:schemeClr val="bg2">
                <a:alpha val="50000"/>
              </a:schemeClr>
            </a:outerShdw>
          </a:effectLst>
        </p:spPr>
        <p:txBody>
          <a:bodyPr wrap="none" anchor="ctr"/>
          <a:lstStyle/>
          <a:p>
            <a:endParaRPr lang="ja-JP" altLang="en-US"/>
          </a:p>
        </p:txBody>
      </p:sp>
      <p:sp>
        <p:nvSpPr>
          <p:cNvPr id="705551" name="Text Box 15">
            <a:extLst>
              <a:ext uri="{FF2B5EF4-FFF2-40B4-BE49-F238E27FC236}">
                <a16:creationId xmlns:a16="http://schemas.microsoft.com/office/drawing/2014/main" id="{16A92298-0656-2230-6012-D50086376CB4}"/>
              </a:ext>
            </a:extLst>
          </p:cNvPr>
          <p:cNvSpPr txBox="1">
            <a:spLocks noChangeArrowheads="1"/>
          </p:cNvSpPr>
          <p:nvPr/>
        </p:nvSpPr>
        <p:spPr bwMode="auto">
          <a:xfrm>
            <a:off x="1160463" y="3673475"/>
            <a:ext cx="2982912" cy="3048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400"/>
              <a:t>Block 1 của câu lệnh control.</a:t>
            </a:r>
          </a:p>
        </p:txBody>
      </p:sp>
      <p:sp>
        <p:nvSpPr>
          <p:cNvPr id="705552" name="Text Box 16">
            <a:extLst>
              <a:ext uri="{FF2B5EF4-FFF2-40B4-BE49-F238E27FC236}">
                <a16:creationId xmlns:a16="http://schemas.microsoft.com/office/drawing/2014/main" id="{B844C6F3-7513-1F3E-76C8-6060EACC8FA1}"/>
              </a:ext>
            </a:extLst>
          </p:cNvPr>
          <p:cNvSpPr txBox="1">
            <a:spLocks noChangeArrowheads="1"/>
          </p:cNvSpPr>
          <p:nvPr/>
        </p:nvSpPr>
        <p:spPr bwMode="auto">
          <a:xfrm>
            <a:off x="1463675" y="4029075"/>
            <a:ext cx="2679700"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600" b="0" dirty="0"/>
              <a:t>Khai </a:t>
            </a:r>
            <a:r>
              <a:rPr lang="en-US" altLang="ja-JP" sz="1600" b="0" dirty="0" err="1"/>
              <a:t>báo</a:t>
            </a:r>
            <a:r>
              <a:rPr lang="en-US" altLang="ja-JP" sz="1600" b="0" dirty="0"/>
              <a:t> </a:t>
            </a:r>
            <a:r>
              <a:rPr lang="en-US" altLang="ja-JP" sz="1600" b="0" dirty="0" err="1"/>
              <a:t>biến</a:t>
            </a:r>
            <a:r>
              <a:rPr lang="en-US" altLang="ja-JP" sz="1600" b="0" dirty="0"/>
              <a:t> </a:t>
            </a:r>
            <a:r>
              <a:rPr lang="en-US" altLang="ja-JP" sz="1600" b="0" dirty="0" err="1"/>
              <a:t>số</a:t>
            </a:r>
            <a:r>
              <a:rPr lang="en-US" altLang="ja-JP" sz="1600" b="0" dirty="0"/>
              <a:t> B</a:t>
            </a:r>
          </a:p>
        </p:txBody>
      </p:sp>
      <p:sp>
        <p:nvSpPr>
          <p:cNvPr id="705555" name="Rectangle 19">
            <a:extLst>
              <a:ext uri="{FF2B5EF4-FFF2-40B4-BE49-F238E27FC236}">
                <a16:creationId xmlns:a16="http://schemas.microsoft.com/office/drawing/2014/main" id="{89DF7071-2965-1ECB-97E7-D7055A697625}"/>
              </a:ext>
            </a:extLst>
          </p:cNvPr>
          <p:cNvSpPr>
            <a:spLocks noChangeArrowheads="1"/>
          </p:cNvSpPr>
          <p:nvPr/>
        </p:nvSpPr>
        <p:spPr bwMode="auto">
          <a:xfrm>
            <a:off x="1108075" y="4800600"/>
            <a:ext cx="3463925" cy="946150"/>
          </a:xfrm>
          <a:prstGeom prst="rect">
            <a:avLst/>
          </a:prstGeom>
          <a:solidFill>
            <a:schemeClr val="bg1"/>
          </a:solidFill>
          <a:ln w="9525" algn="ctr">
            <a:solidFill>
              <a:schemeClr val="tx1"/>
            </a:solidFill>
            <a:miter lim="800000"/>
            <a:headEnd/>
            <a:tailEnd/>
          </a:ln>
          <a:effectLst>
            <a:outerShdw dist="107763" dir="2700000" algn="ctr" rotWithShape="0">
              <a:schemeClr val="bg2">
                <a:alpha val="50000"/>
              </a:schemeClr>
            </a:outerShdw>
          </a:effectLst>
        </p:spPr>
        <p:txBody>
          <a:bodyPr wrap="none" anchor="ctr"/>
          <a:lstStyle/>
          <a:p>
            <a:endParaRPr lang="ja-JP" altLang="en-US"/>
          </a:p>
        </p:txBody>
      </p:sp>
      <p:sp>
        <p:nvSpPr>
          <p:cNvPr id="705556" name="Text Box 20">
            <a:extLst>
              <a:ext uri="{FF2B5EF4-FFF2-40B4-BE49-F238E27FC236}">
                <a16:creationId xmlns:a16="http://schemas.microsoft.com/office/drawing/2014/main" id="{08D6D43C-A48D-27C9-44BB-99C20A6F8FD0}"/>
              </a:ext>
            </a:extLst>
          </p:cNvPr>
          <p:cNvSpPr txBox="1">
            <a:spLocks noChangeArrowheads="1"/>
          </p:cNvSpPr>
          <p:nvPr/>
        </p:nvSpPr>
        <p:spPr bwMode="auto">
          <a:xfrm>
            <a:off x="1163638" y="4826000"/>
            <a:ext cx="3030537" cy="3048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400"/>
              <a:t>Block 2 của câu lệnh control.</a:t>
            </a:r>
          </a:p>
        </p:txBody>
      </p:sp>
      <p:sp>
        <p:nvSpPr>
          <p:cNvPr id="705557" name="Text Box 21">
            <a:extLst>
              <a:ext uri="{FF2B5EF4-FFF2-40B4-BE49-F238E27FC236}">
                <a16:creationId xmlns:a16="http://schemas.microsoft.com/office/drawing/2014/main" id="{B4B062CB-7F51-4EB0-0FB4-5F7AB21CE815}"/>
              </a:ext>
            </a:extLst>
          </p:cNvPr>
          <p:cNvSpPr txBox="1">
            <a:spLocks noChangeArrowheads="1"/>
          </p:cNvSpPr>
          <p:nvPr/>
        </p:nvSpPr>
        <p:spPr bwMode="auto">
          <a:xfrm>
            <a:off x="1487488" y="5181600"/>
            <a:ext cx="2095500" cy="33655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600" b="0">
                <a:latin typeface="MS UI Gothic" panose="020B0600070205080204" pitchFamily="50" charset="-128"/>
              </a:rPr>
              <a:t>Khai báo biến số C</a:t>
            </a:r>
          </a:p>
        </p:txBody>
      </p:sp>
      <p:graphicFrame>
        <p:nvGraphicFramePr>
          <p:cNvPr id="705674" name="Group 138">
            <a:extLst>
              <a:ext uri="{FF2B5EF4-FFF2-40B4-BE49-F238E27FC236}">
                <a16:creationId xmlns:a16="http://schemas.microsoft.com/office/drawing/2014/main" id="{5DD104B0-6E9B-7EE1-7C2C-0B225C34F759}"/>
              </a:ext>
            </a:extLst>
          </p:cNvPr>
          <p:cNvGraphicFramePr>
            <a:graphicFrameLocks noGrp="1"/>
          </p:cNvGraphicFramePr>
          <p:nvPr>
            <p:ph sz="quarter" idx="2"/>
          </p:nvPr>
        </p:nvGraphicFramePr>
        <p:xfrm>
          <a:off x="4902200" y="3213100"/>
          <a:ext cx="4140200" cy="2352041"/>
        </p:xfrm>
        <a:graphic>
          <a:graphicData uri="http://schemas.openxmlformats.org/drawingml/2006/table">
            <a:tbl>
              <a:tblPr/>
              <a:tblGrid>
                <a:gridCol w="2159000">
                  <a:extLst>
                    <a:ext uri="{9D8B030D-6E8A-4147-A177-3AD203B41FA5}">
                      <a16:colId xmlns:a16="http://schemas.microsoft.com/office/drawing/2014/main" val="3924753571"/>
                    </a:ext>
                  </a:extLst>
                </a:gridCol>
                <a:gridCol w="660400">
                  <a:extLst>
                    <a:ext uri="{9D8B030D-6E8A-4147-A177-3AD203B41FA5}">
                      <a16:colId xmlns:a16="http://schemas.microsoft.com/office/drawing/2014/main" val="1636432512"/>
                    </a:ext>
                  </a:extLst>
                </a:gridCol>
                <a:gridCol w="660400">
                  <a:extLst>
                    <a:ext uri="{9D8B030D-6E8A-4147-A177-3AD203B41FA5}">
                      <a16:colId xmlns:a16="http://schemas.microsoft.com/office/drawing/2014/main" val="3372841621"/>
                    </a:ext>
                  </a:extLst>
                </a:gridCol>
                <a:gridCol w="660400">
                  <a:extLst>
                    <a:ext uri="{9D8B030D-6E8A-4147-A177-3AD203B41FA5}">
                      <a16:colId xmlns:a16="http://schemas.microsoft.com/office/drawing/2014/main" val="1591188111"/>
                    </a:ext>
                  </a:extLst>
                </a:gridCol>
              </a:tblGrid>
              <a:tr h="385763">
                <a:tc rowSpan="2">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Phạm vi valid</a:t>
                      </a:r>
                    </a:p>
                  </a:txBody>
                  <a:tcPr marL="90000" marR="90000" marT="46800" marB="46800"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gridSpan="3">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Biến số</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hMerge="1">
                  <a:txBody>
                    <a:bodyPr/>
                    <a:lstStyle/>
                    <a:p>
                      <a:endParaRPr kumimoji="1" lang="ja-JP" altLang="en-US"/>
                    </a:p>
                  </a:txBody>
                  <a:tcPr/>
                </a:tc>
                <a:tc hMerge="1">
                  <a:txBody>
                    <a:bodyPr/>
                    <a:lstStyle/>
                    <a:p>
                      <a:endParaRPr kumimoji="1" lang="ja-JP" altLang="en-US"/>
                    </a:p>
                  </a:txBody>
                  <a:tcPr/>
                </a:tc>
                <a:extLst>
                  <a:ext uri="{0D108BD9-81ED-4DB2-BD59-A6C34878D82A}">
                    <a16:rowId xmlns:a16="http://schemas.microsoft.com/office/drawing/2014/main" val="3971402931"/>
                  </a:ext>
                </a:extLst>
              </a:tr>
              <a:tr h="385763">
                <a:tc vMerge="1">
                  <a:txBody>
                    <a:bodyPr/>
                    <a:lstStyle/>
                    <a:p>
                      <a:endParaRPr kumimoji="1" lang="ja-JP" altLang="en-US"/>
                    </a:p>
                  </a:txBody>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C</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3747299189"/>
                  </a:ext>
                </a:extLst>
              </a:tr>
              <a:tr h="727075">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Trong block của method ngoài block của câu lệnh control.</a:t>
                      </a:r>
                    </a:p>
                  </a:txBody>
                  <a:tcPr marL="108000" marR="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746283707"/>
                  </a:ext>
                </a:extLst>
              </a:tr>
              <a:tr h="422275">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Trong block 1 của câu lệnh control.</a:t>
                      </a:r>
                    </a:p>
                  </a:txBody>
                  <a:tcPr marL="108000" marR="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290996767"/>
                  </a:ext>
                </a:extLst>
              </a:tr>
              <a:tr h="422275">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4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Trong block 2 của câu lệnh control.</a:t>
                      </a:r>
                    </a:p>
                  </a:txBody>
                  <a:tcPr marL="108000" marR="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a:t>
                      </a:r>
                    </a:p>
                  </a:txBody>
                  <a:tcPr marL="0" marR="0" marT="0" marB="0"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716700916"/>
                  </a:ext>
                </a:extLst>
              </a:tr>
            </a:tbl>
          </a:graphicData>
        </a:graphic>
      </p:graphicFrame>
      <p:sp>
        <p:nvSpPr>
          <p:cNvPr id="705646" name="AutoShape 110">
            <a:extLst>
              <a:ext uri="{FF2B5EF4-FFF2-40B4-BE49-F238E27FC236}">
                <a16:creationId xmlns:a16="http://schemas.microsoft.com/office/drawing/2014/main" id="{51CD6A0F-AD09-801F-9687-A2C2E3B058DA}"/>
              </a:ext>
            </a:extLst>
          </p:cNvPr>
          <p:cNvSpPr>
            <a:spLocks noChangeArrowheads="1"/>
          </p:cNvSpPr>
          <p:nvPr/>
        </p:nvSpPr>
        <p:spPr bwMode="auto">
          <a:xfrm>
            <a:off x="4254500" y="2705100"/>
            <a:ext cx="1117600" cy="546100"/>
          </a:xfrm>
          <a:prstGeom prst="curvedDownArrow">
            <a:avLst>
              <a:gd name="adj1" fmla="val 40930"/>
              <a:gd name="adj2" fmla="val 81860"/>
              <a:gd name="adj3" fmla="val 33333"/>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F772E5A-ED44-F2E7-D924-D6E27FE67569}"/>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9526E322-13AA-445D-9723-AC3C54BFD954}" type="slidenum">
              <a:rPr lang="en-US" altLang="ja-JP" smtClean="0"/>
              <a:pPr/>
              <a:t>18</a:t>
            </a:fld>
            <a:endParaRPr lang="en-US" altLang="ja-JP"/>
          </a:p>
        </p:txBody>
      </p:sp>
      <p:sp>
        <p:nvSpPr>
          <p:cNvPr id="256003" name="Text Box 3">
            <a:extLst>
              <a:ext uri="{FF2B5EF4-FFF2-40B4-BE49-F238E27FC236}">
                <a16:creationId xmlns:a16="http://schemas.microsoft.com/office/drawing/2014/main" id="{15F70023-4F35-0015-B6C9-6FAD399B1C19}"/>
              </a:ext>
            </a:extLst>
          </p:cNvPr>
          <p:cNvSpPr txBox="1">
            <a:spLocks noChangeArrowheads="1"/>
          </p:cNvSpPr>
          <p:nvPr/>
        </p:nvSpPr>
        <p:spPr bwMode="auto">
          <a:xfrm>
            <a:off x="990600" y="2336800"/>
            <a:ext cx="8229600" cy="10986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br>
              <a:rPr lang="en-US" altLang="ja-JP" sz="2000" b="0" dirty="0">
                <a:ea typeface="ヒラギノ明朝 Pro W6" pitchFamily="18" charset="-128"/>
              </a:rPr>
            </a:br>
            <a:r>
              <a:rPr lang="en-US" altLang="ja-JP" sz="4400" b="0" dirty="0" err="1">
                <a:ea typeface="ヒラギノ明朝 Pro W6" pitchFamily="18" charset="-128"/>
              </a:rPr>
              <a:t>Kiểm</a:t>
            </a:r>
            <a:r>
              <a:rPr lang="en-US" altLang="ja-JP" sz="4400" b="0" dirty="0">
                <a:ea typeface="ヒラギノ明朝 Pro W6" pitchFamily="18" charset="-128"/>
              </a:rPr>
              <a:t> </a:t>
            </a:r>
            <a:r>
              <a:rPr lang="en-US" altLang="ja-JP" sz="4400" b="0" dirty="0" err="1">
                <a:ea typeface="ヒラギノ明朝 Pro W6" pitchFamily="18" charset="-128"/>
              </a:rPr>
              <a:t>soát</a:t>
            </a:r>
            <a:r>
              <a:rPr lang="en-US" altLang="ja-JP" sz="4400" b="0" dirty="0">
                <a:ea typeface="ヒラギノ明朝 Pro W6" pitchFamily="18" charset="-128"/>
              </a:rPr>
              <a:t> </a:t>
            </a:r>
            <a:r>
              <a:rPr lang="en-US" altLang="ja-JP" sz="4400" b="0" dirty="0" err="1">
                <a:ea typeface="ヒラギノ明朝 Pro W6" pitchFamily="18" charset="-128"/>
              </a:rPr>
              <a:t>phân</a:t>
            </a:r>
            <a:r>
              <a:rPr lang="en-US" altLang="ja-JP" sz="4400" b="0" dirty="0">
                <a:ea typeface="ヒラギノ明朝 Pro W6" pitchFamily="18" charset="-128"/>
              </a:rPr>
              <a:t> </a:t>
            </a:r>
            <a:r>
              <a:rPr lang="en-US" altLang="ja-JP" sz="4400" b="0" dirty="0" err="1">
                <a:ea typeface="ヒラギノ明朝 Pro W6" pitchFamily="18" charset="-128"/>
              </a:rPr>
              <a:t>nhánh</a:t>
            </a:r>
            <a:r>
              <a:rPr lang="en-US" altLang="ja-JP" sz="4400" b="0" dirty="0">
                <a:ea typeface="ヒラギノ明朝 Pro W6" pitchFamily="18" charset="-128"/>
              </a:rPr>
              <a:t> </a:t>
            </a:r>
            <a:r>
              <a:rPr lang="en-US" altLang="ja-JP" sz="4400" b="0" dirty="0" err="1">
                <a:ea typeface="ヒラギノ明朝 Pro W6" pitchFamily="18" charset="-128"/>
              </a:rPr>
              <a:t>điều</a:t>
            </a:r>
            <a:r>
              <a:rPr lang="en-US" altLang="ja-JP" sz="4400" b="0" dirty="0">
                <a:ea typeface="ヒラギノ明朝 Pro W6" pitchFamily="18" charset="-128"/>
              </a:rPr>
              <a:t> </a:t>
            </a:r>
            <a:r>
              <a:rPr lang="en-US" altLang="ja-JP" sz="4400" b="0" dirty="0" err="1">
                <a:ea typeface="ヒラギノ明朝 Pro W6" pitchFamily="18" charset="-128"/>
              </a:rPr>
              <a:t>kiện</a:t>
            </a:r>
            <a:endParaRPr lang="en-US" altLang="ja-JP" sz="4400" b="0" dirty="0">
              <a:ea typeface="ヒラギノ明朝 Pro W6" pitchFamily="18" charset="-128"/>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445A1636-9526-9511-1519-6DB0818C7E6B}"/>
              </a:ext>
            </a:extLst>
          </p:cNvPr>
          <p:cNvSpPr>
            <a:spLocks noGrp="1"/>
          </p:cNvSpPr>
          <p:nvPr>
            <p:ph type="sldNum" sz="quarter" idx="10"/>
          </p:nvPr>
        </p:nvSpPr>
        <p:spPr/>
        <p:txBody>
          <a:bodyPr/>
          <a:lstStyle/>
          <a:p>
            <a:fld id="{E1B02AB7-8126-4B53-A43E-3B190287E97E}" type="slidenum">
              <a:rPr lang="en-US" altLang="ja-JP"/>
              <a:pPr/>
              <a:t>19</a:t>
            </a:fld>
            <a:endParaRPr lang="en-US" altLang="ja-JP"/>
          </a:p>
        </p:txBody>
      </p:sp>
      <p:sp>
        <p:nvSpPr>
          <p:cNvPr id="688130" name="Rectangle 2">
            <a:extLst>
              <a:ext uri="{FF2B5EF4-FFF2-40B4-BE49-F238E27FC236}">
                <a16:creationId xmlns:a16="http://schemas.microsoft.com/office/drawing/2014/main" id="{D572EAE5-E770-0DEE-2F89-583FF7085194}"/>
              </a:ext>
            </a:extLst>
          </p:cNvPr>
          <p:cNvSpPr>
            <a:spLocks noGrp="1" noChangeArrowheads="1"/>
          </p:cNvSpPr>
          <p:nvPr>
            <p:ph type="title"/>
          </p:nvPr>
        </p:nvSpPr>
        <p:spPr>
          <a:xfrm>
            <a:off x="344487" y="311151"/>
            <a:ext cx="9217025" cy="490537"/>
          </a:xfrm>
        </p:spPr>
        <p:txBody>
          <a:bodyPr>
            <a:normAutofit fontScale="90000"/>
          </a:bodyPr>
          <a:lstStyle/>
          <a:p>
            <a:r>
              <a:rPr lang="en-US" altLang="en-US" dirty="0" err="1">
                <a:latin typeface="Arial" panose="020B0604020202020204" pitchFamily="34" charset="0"/>
                <a:ea typeface="MS UI Gothic" panose="020B0600070205080204" pitchFamily="50" charset="-128"/>
              </a:rPr>
              <a:t>Kiểm</a:t>
            </a:r>
            <a:r>
              <a:rPr lang="en-US" altLang="en-US" dirty="0">
                <a:latin typeface="Arial" panose="020B0604020202020204" pitchFamily="34" charset="0"/>
                <a:ea typeface="MS UI Gothic" panose="020B0600070205080204" pitchFamily="50" charset="-128"/>
              </a:rPr>
              <a:t> </a:t>
            </a:r>
            <a:r>
              <a:rPr lang="en-US" altLang="en-US" dirty="0" err="1">
                <a:latin typeface="Arial" panose="020B0604020202020204" pitchFamily="34" charset="0"/>
                <a:ea typeface="MS UI Gothic" panose="020B0600070205080204" pitchFamily="50" charset="-128"/>
              </a:rPr>
              <a:t>soát</a:t>
            </a:r>
            <a:r>
              <a:rPr lang="en-US" altLang="en-US" dirty="0">
                <a:latin typeface="Arial" panose="020B0604020202020204" pitchFamily="34" charset="0"/>
                <a:ea typeface="MS UI Gothic" panose="020B0600070205080204" pitchFamily="50" charset="-128"/>
              </a:rPr>
              <a:t> </a:t>
            </a:r>
            <a:r>
              <a:rPr lang="en-US" altLang="en-US" dirty="0" err="1">
                <a:latin typeface="Arial" panose="020B0604020202020204" pitchFamily="34" charset="0"/>
                <a:ea typeface="MS UI Gothic" panose="020B0600070205080204" pitchFamily="50" charset="-128"/>
              </a:rPr>
              <a:t>phân</a:t>
            </a:r>
            <a:r>
              <a:rPr lang="en-US" altLang="en-US" dirty="0">
                <a:latin typeface="Arial" panose="020B0604020202020204" pitchFamily="34" charset="0"/>
                <a:ea typeface="MS UI Gothic" panose="020B0600070205080204" pitchFamily="50" charset="-128"/>
              </a:rPr>
              <a:t> </a:t>
            </a:r>
            <a:r>
              <a:rPr lang="en-US" altLang="en-US" dirty="0" err="1">
                <a:latin typeface="Arial" panose="020B0604020202020204" pitchFamily="34" charset="0"/>
                <a:ea typeface="MS UI Gothic" panose="020B0600070205080204" pitchFamily="50" charset="-128"/>
              </a:rPr>
              <a:t>nhánh</a:t>
            </a:r>
            <a:r>
              <a:rPr lang="en-US" altLang="en-US" dirty="0">
                <a:latin typeface="Arial" panose="020B0604020202020204" pitchFamily="34" charset="0"/>
                <a:ea typeface="MS UI Gothic" panose="020B0600070205080204" pitchFamily="50" charset="-128"/>
              </a:rPr>
              <a:t> </a:t>
            </a:r>
            <a:r>
              <a:rPr lang="en-US" altLang="en-US" dirty="0" err="1">
                <a:latin typeface="Arial" panose="020B0604020202020204" pitchFamily="34" charset="0"/>
                <a:ea typeface="MS UI Gothic" panose="020B0600070205080204" pitchFamily="50" charset="-128"/>
              </a:rPr>
              <a:t>điều</a:t>
            </a:r>
            <a:r>
              <a:rPr lang="en-US" altLang="en-US" dirty="0">
                <a:latin typeface="Arial" panose="020B0604020202020204" pitchFamily="34" charset="0"/>
                <a:ea typeface="MS UI Gothic" panose="020B0600070205080204" pitchFamily="50" charset="-128"/>
              </a:rPr>
              <a:t> </a:t>
            </a:r>
            <a:r>
              <a:rPr lang="en-US" altLang="en-US" dirty="0" err="1">
                <a:latin typeface="Arial" panose="020B0604020202020204" pitchFamily="34" charset="0"/>
                <a:ea typeface="MS UI Gothic" panose="020B0600070205080204" pitchFamily="50" charset="-128"/>
              </a:rPr>
              <a:t>kiện</a:t>
            </a:r>
            <a:r>
              <a:rPr lang="en-US" altLang="en-US" dirty="0">
                <a:latin typeface="Arial" panose="020B0604020202020204" pitchFamily="34" charset="0"/>
                <a:ea typeface="MS UI Gothic" panose="020B0600070205080204" pitchFamily="50" charset="-128"/>
              </a:rPr>
              <a:t> </a:t>
            </a:r>
            <a:r>
              <a:rPr lang="en-US" altLang="en-US" dirty="0" err="1">
                <a:latin typeface="Arial" panose="020B0604020202020204" pitchFamily="34" charset="0"/>
                <a:ea typeface="MS UI Gothic" panose="020B0600070205080204" pitchFamily="50" charset="-128"/>
              </a:rPr>
              <a:t>là</a:t>
            </a:r>
            <a:r>
              <a:rPr lang="en-US" altLang="en-US" dirty="0">
                <a:latin typeface="Arial" panose="020B0604020202020204" pitchFamily="34" charset="0"/>
                <a:ea typeface="MS UI Gothic" panose="020B0600070205080204" pitchFamily="50" charset="-128"/>
              </a:rPr>
              <a:t> </a:t>
            </a:r>
            <a:r>
              <a:rPr lang="en-US" altLang="en-US" dirty="0" err="1">
                <a:latin typeface="Arial" panose="020B0604020202020204" pitchFamily="34" charset="0"/>
                <a:ea typeface="MS UI Gothic" panose="020B0600070205080204" pitchFamily="50" charset="-128"/>
              </a:rPr>
              <a:t>gì</a:t>
            </a:r>
            <a:endParaRPr lang="en-US" altLang="ja-JP" dirty="0">
              <a:latin typeface="Arial" panose="020B0604020202020204" pitchFamily="34" charset="0"/>
              <a:ea typeface="MS UI Gothic" panose="020B0600070205080204" pitchFamily="50" charset="-128"/>
            </a:endParaRPr>
          </a:p>
        </p:txBody>
      </p:sp>
      <p:sp>
        <p:nvSpPr>
          <p:cNvPr id="688131" name="Rectangle 3">
            <a:extLst>
              <a:ext uri="{FF2B5EF4-FFF2-40B4-BE49-F238E27FC236}">
                <a16:creationId xmlns:a16="http://schemas.microsoft.com/office/drawing/2014/main" id="{3D76AB1D-EDC0-B369-4B44-96A1D7FF7C25}"/>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688132" name="Rectangle 4">
            <a:extLst>
              <a:ext uri="{FF2B5EF4-FFF2-40B4-BE49-F238E27FC236}">
                <a16:creationId xmlns:a16="http://schemas.microsoft.com/office/drawing/2014/main" id="{9C9AF6CC-86B7-09F2-C787-E144CABBA08E}"/>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Kiểm soát phân nhánh điều kiện là</a:t>
            </a:r>
          </a:p>
          <a:p>
            <a:endParaRPr lang="en-US" altLang="ja-JP" sz="2400" b="0">
              <a:latin typeface="Arial" panose="020B0604020202020204" pitchFamily="34" charset="0"/>
            </a:endParaRPr>
          </a:p>
          <a:p>
            <a:endParaRPr lang="en-US" altLang="ja-JP" sz="2400" b="0">
              <a:latin typeface="Arial" panose="020B0604020202020204" pitchFamily="34" charset="0"/>
            </a:endParaRPr>
          </a:p>
          <a:p>
            <a:r>
              <a:rPr lang="en-US" altLang="ja-JP" sz="2400" b="0">
                <a:latin typeface="Arial" panose="020B0604020202020204" pitchFamily="34" charset="0"/>
              </a:rPr>
              <a:t>Câu lệnh kiểm soát của phân nhánh điều kiện</a:t>
            </a:r>
          </a:p>
        </p:txBody>
      </p:sp>
      <p:sp>
        <p:nvSpPr>
          <p:cNvPr id="688133" name="Rectangle 5">
            <a:extLst>
              <a:ext uri="{FF2B5EF4-FFF2-40B4-BE49-F238E27FC236}">
                <a16:creationId xmlns:a16="http://schemas.microsoft.com/office/drawing/2014/main" id="{588F7380-5619-2F87-4F92-88F5370937A7}"/>
              </a:ext>
            </a:extLst>
          </p:cNvPr>
          <p:cNvSpPr>
            <a:spLocks noChangeArrowheads="1"/>
          </p:cNvSpPr>
          <p:nvPr/>
        </p:nvSpPr>
        <p:spPr bwMode="auto">
          <a:xfrm>
            <a:off x="344488" y="13128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Suy nghĩ chu trình xử lý theo điều kiện</a:t>
            </a:r>
          </a:p>
        </p:txBody>
      </p:sp>
      <p:sp>
        <p:nvSpPr>
          <p:cNvPr id="688135" name="Rectangle 7">
            <a:extLst>
              <a:ext uri="{FF2B5EF4-FFF2-40B4-BE49-F238E27FC236}">
                <a16:creationId xmlns:a16="http://schemas.microsoft.com/office/drawing/2014/main" id="{EA4891AA-C9B7-5A12-C6FE-6EA73EFAEFDC}"/>
              </a:ext>
            </a:extLst>
          </p:cNvPr>
          <p:cNvSpPr>
            <a:spLocks noChangeArrowheads="1"/>
          </p:cNvSpPr>
          <p:nvPr/>
        </p:nvSpPr>
        <p:spPr bwMode="auto">
          <a:xfrm>
            <a:off x="344488" y="24638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●Câu lệnh </a:t>
            </a:r>
            <a:r>
              <a:rPr lang="en-US" altLang="ja-JP" sz="2000" b="0">
                <a:latin typeface="Arial" panose="020B0604020202020204" pitchFamily="34" charset="0"/>
                <a:ea typeface="ＭＳ ゴシック" panose="020B0609070205080204" pitchFamily="49" charset="-128"/>
              </a:rPr>
              <a:t>if</a:t>
            </a:r>
            <a:br>
              <a:rPr lang="en-US" altLang="ja-JP" sz="2000" b="0">
                <a:latin typeface="Arial" panose="020B0604020202020204" pitchFamily="34" charset="0"/>
              </a:rPr>
            </a:b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r>
              <a:rPr lang="ja-JP" altLang="en-US" sz="2000" b="0">
                <a:latin typeface="Arial" panose="020B0604020202020204" pitchFamily="34" charset="0"/>
                <a:ea typeface="ＭＳ ゴシック" panose="020B0609070205080204" pitchFamily="49" charset="-128"/>
              </a:rPr>
              <a:t>　　・</a:t>
            </a:r>
            <a:r>
              <a:rPr lang="en-US" altLang="ja-JP" sz="2000" b="0">
                <a:latin typeface="Arial" panose="020B0604020202020204" pitchFamily="34" charset="0"/>
                <a:ea typeface="ＭＳ ゴシック" panose="020B0609070205080204" pitchFamily="49" charset="-128"/>
              </a:rPr>
              <a:t>Câu lệnh if</a:t>
            </a:r>
          </a:p>
          <a:p>
            <a:pPr>
              <a:spcBef>
                <a:spcPct val="50000"/>
              </a:spcBef>
              <a:buFont typeface="Wingdings" panose="05000000000000000000" pitchFamily="2" charset="2"/>
              <a:buNone/>
            </a:pPr>
            <a:r>
              <a:rPr lang="ja-JP" altLang="en-US" sz="2000" b="0">
                <a:latin typeface="Arial" panose="020B0604020202020204" pitchFamily="34" charset="0"/>
                <a:ea typeface="ＭＳ ゴシック" panose="020B0609070205080204" pitchFamily="49" charset="-128"/>
              </a:rPr>
              <a:t>　　・</a:t>
            </a:r>
            <a:r>
              <a:rPr lang="en-US" altLang="ja-JP" sz="2000" b="0">
                <a:latin typeface="Arial" panose="020B0604020202020204" pitchFamily="34" charset="0"/>
                <a:ea typeface="ＭＳ ゴシック" panose="020B0609070205080204" pitchFamily="49" charset="-128"/>
              </a:rPr>
              <a:t>Câu lệnh if-else</a:t>
            </a:r>
          </a:p>
          <a:p>
            <a:pPr>
              <a:spcBef>
                <a:spcPct val="50000"/>
              </a:spcBef>
              <a:buFont typeface="Wingdings" panose="05000000000000000000" pitchFamily="2" charset="2"/>
              <a:buNone/>
            </a:pPr>
            <a:r>
              <a:rPr lang="ja-JP" altLang="en-US" sz="2000" b="0">
                <a:latin typeface="Arial" panose="020B0604020202020204" pitchFamily="34" charset="0"/>
                <a:ea typeface="ＭＳ ゴシック" panose="020B0609070205080204" pitchFamily="49" charset="-128"/>
              </a:rPr>
              <a:t>　　・</a:t>
            </a:r>
            <a:r>
              <a:rPr lang="en-US" altLang="ja-JP" sz="2000" b="0">
                <a:latin typeface="Arial" panose="020B0604020202020204" pitchFamily="34" charset="0"/>
                <a:ea typeface="ＭＳ ゴシック" panose="020B0609070205080204" pitchFamily="49" charset="-128"/>
              </a:rPr>
              <a:t>Câu lệnh </a:t>
            </a:r>
            <a:r>
              <a:rPr lang="en-US" altLang="en-US" sz="2000" b="0">
                <a:latin typeface="Arial" panose="020B0604020202020204" pitchFamily="34" charset="0"/>
                <a:ea typeface="ＭＳ ゴシック" panose="020B0609070205080204" pitchFamily="49" charset="-128"/>
              </a:rPr>
              <a:t>if-else if-else</a:t>
            </a:r>
            <a:endParaRPr lang="en-US" altLang="ja-JP" sz="2000" b="0">
              <a:latin typeface="Arial" panose="020B0604020202020204" pitchFamily="34" charset="0"/>
              <a:ea typeface="ＭＳ ゴシック" panose="020B0609070205080204" pitchFamily="49" charset="-128"/>
            </a:endParaRPr>
          </a:p>
          <a:p>
            <a:pPr>
              <a:spcBef>
                <a:spcPct val="50000"/>
              </a:spcBef>
              <a:buFont typeface="Wingdings" panose="05000000000000000000" pitchFamily="2" charset="2"/>
              <a:buNone/>
            </a:pPr>
            <a:r>
              <a:rPr lang="en-US" altLang="ja-JP" sz="2000" b="0">
                <a:latin typeface="Arial" panose="020B0604020202020204" pitchFamily="34" charset="0"/>
              </a:rPr>
              <a:t>●Câu lệnh </a:t>
            </a:r>
            <a:r>
              <a:rPr lang="en-US" altLang="ja-JP" sz="2000" b="0">
                <a:latin typeface="Arial" panose="020B0604020202020204" pitchFamily="34" charset="0"/>
                <a:ea typeface="ＭＳ ゴシック" panose="020B0609070205080204" pitchFamily="49" charset="-128"/>
              </a:rPr>
              <a:t>switch</a:t>
            </a: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p:txBody>
      </p:sp>
      <p:sp>
        <p:nvSpPr>
          <p:cNvPr id="688140" name="AutoShape 12">
            <a:extLst>
              <a:ext uri="{FF2B5EF4-FFF2-40B4-BE49-F238E27FC236}">
                <a16:creationId xmlns:a16="http://schemas.microsoft.com/office/drawing/2014/main" id="{E6A67483-4DE7-6EF9-C4AE-E057473ECFBB}"/>
              </a:ext>
            </a:extLst>
          </p:cNvPr>
          <p:cNvSpPr>
            <a:spLocks noChangeArrowheads="1"/>
          </p:cNvSpPr>
          <p:nvPr/>
        </p:nvSpPr>
        <p:spPr bwMode="auto">
          <a:xfrm>
            <a:off x="5356225" y="965200"/>
            <a:ext cx="4111625" cy="503238"/>
          </a:xfrm>
          <a:prstGeom prst="wedgeRoundRectCallout">
            <a:avLst>
              <a:gd name="adj1" fmla="val -39921"/>
              <a:gd name="adj2" fmla="val 91009"/>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Câu</a:t>
            </a:r>
            <a:r>
              <a:rPr lang="en-US" altLang="ja-JP" sz="1800" dirty="0">
                <a:latin typeface="+mj-lt"/>
              </a:rPr>
              <a:t> </a:t>
            </a:r>
            <a:r>
              <a:rPr lang="en-US" altLang="ja-JP" sz="1800" dirty="0" err="1">
                <a:latin typeface="+mj-lt"/>
              </a:rPr>
              <a:t>lệnh</a:t>
            </a:r>
            <a:r>
              <a:rPr lang="en-US" altLang="ja-JP" sz="1800" dirty="0">
                <a:latin typeface="+mj-lt"/>
              </a:rPr>
              <a:t> </a:t>
            </a:r>
            <a:r>
              <a:rPr lang="en-US" altLang="ja-JP" sz="1800" dirty="0" err="1">
                <a:latin typeface="+mj-lt"/>
              </a:rPr>
              <a:t>kiểm</a:t>
            </a:r>
            <a:r>
              <a:rPr lang="en-US" altLang="ja-JP" sz="1800" dirty="0">
                <a:latin typeface="+mj-lt"/>
              </a:rPr>
              <a:t> </a:t>
            </a:r>
            <a:r>
              <a:rPr lang="en-US" altLang="ja-JP" sz="1800" dirty="0" err="1">
                <a:latin typeface="+mj-lt"/>
              </a:rPr>
              <a:t>soát</a:t>
            </a:r>
            <a:r>
              <a:rPr lang="en-US" altLang="ja-JP" sz="1800" dirty="0">
                <a:latin typeface="+mj-lt"/>
              </a:rPr>
              <a:t> </a:t>
            </a:r>
            <a:r>
              <a:rPr lang="en-US" altLang="ja-JP" sz="1800" dirty="0" err="1">
                <a:latin typeface="+mj-lt"/>
              </a:rPr>
              <a:t>sẽ</a:t>
            </a:r>
            <a:r>
              <a:rPr lang="en-US" altLang="ja-JP" sz="1800" dirty="0">
                <a:latin typeface="+mj-lt"/>
              </a:rPr>
              <a:t> </a:t>
            </a:r>
            <a:r>
              <a:rPr lang="en-US" altLang="ja-JP" sz="1800" dirty="0" err="1">
                <a:latin typeface="+mj-lt"/>
              </a:rPr>
              <a:t>mô</a:t>
            </a:r>
            <a:r>
              <a:rPr lang="en-US" altLang="ja-JP" sz="1800" dirty="0">
                <a:latin typeface="+mj-lt"/>
              </a:rPr>
              <a:t> </a:t>
            </a:r>
            <a:r>
              <a:rPr lang="en-US" altLang="ja-JP" sz="1800" dirty="0" err="1">
                <a:latin typeface="+mj-lt"/>
              </a:rPr>
              <a:t>tả</a:t>
            </a:r>
            <a:r>
              <a:rPr lang="en-US" altLang="ja-JP" sz="1800" dirty="0">
                <a:latin typeface="+mj-lt"/>
              </a:rPr>
              <a:t> </a:t>
            </a:r>
            <a:r>
              <a:rPr lang="en-US" altLang="ja-JP" sz="1800" dirty="0" err="1">
                <a:latin typeface="+mj-lt"/>
              </a:rPr>
              <a:t>trong</a:t>
            </a:r>
            <a:r>
              <a:rPr lang="en-US" altLang="ja-JP" sz="1800" dirty="0">
                <a:latin typeface="+mj-lt"/>
              </a:rPr>
              <a:t> method</a:t>
            </a:r>
          </a:p>
        </p:txBody>
      </p:sp>
      <p:sp>
        <p:nvSpPr>
          <p:cNvPr id="688203" name="Rectangle 75">
            <a:extLst>
              <a:ext uri="{FF2B5EF4-FFF2-40B4-BE49-F238E27FC236}">
                <a16:creationId xmlns:a16="http://schemas.microsoft.com/office/drawing/2014/main" id="{EBFEDAEB-64A3-3ED3-EDCD-E10CA2F4074F}"/>
              </a:ext>
            </a:extLst>
          </p:cNvPr>
          <p:cNvSpPr>
            <a:spLocks noChangeArrowheads="1"/>
          </p:cNvSpPr>
          <p:nvPr/>
        </p:nvSpPr>
        <p:spPr bwMode="auto">
          <a:xfrm>
            <a:off x="344488" y="29638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Có thể chỉ định biểu thức điều kiện của số tùy ý, và phân nhánh xử lý theo biểu thức điều kiện</a:t>
            </a:r>
          </a:p>
        </p:txBody>
      </p:sp>
      <p:sp>
        <p:nvSpPr>
          <p:cNvPr id="688204" name="Rectangle 76">
            <a:extLst>
              <a:ext uri="{FF2B5EF4-FFF2-40B4-BE49-F238E27FC236}">
                <a16:creationId xmlns:a16="http://schemas.microsoft.com/office/drawing/2014/main" id="{419CE45E-6AB9-4EA2-9484-00810FBDF353}"/>
              </a:ext>
            </a:extLst>
          </p:cNvPr>
          <p:cNvSpPr>
            <a:spLocks noChangeArrowheads="1"/>
          </p:cNvSpPr>
          <p:nvPr/>
        </p:nvSpPr>
        <p:spPr bwMode="auto">
          <a:xfrm>
            <a:off x="344488" y="55800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Phân nhánh xử lý theo giá trị của kết quả đánh giá của một biểu thức điều kiện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AD73D25A-8C01-3CAF-1499-043DB4FCF34C}"/>
              </a:ext>
            </a:extLst>
          </p:cNvPr>
          <p:cNvSpPr>
            <a:spLocks noGrp="1"/>
          </p:cNvSpPr>
          <p:nvPr>
            <p:ph type="sldNum" sz="quarter" idx="10"/>
          </p:nvPr>
        </p:nvSpPr>
        <p:spPr/>
        <p:txBody>
          <a:bodyPr/>
          <a:lstStyle/>
          <a:p>
            <a:fld id="{9B0329B3-844C-47FE-ABEB-FDC7E9A1144D}" type="slidenum">
              <a:rPr lang="en-US" altLang="ja-JP"/>
              <a:pPr/>
              <a:t>20</a:t>
            </a:fld>
            <a:endParaRPr lang="en-US" altLang="ja-JP"/>
          </a:p>
        </p:txBody>
      </p:sp>
      <p:sp>
        <p:nvSpPr>
          <p:cNvPr id="709634" name="Rectangle 2">
            <a:extLst>
              <a:ext uri="{FF2B5EF4-FFF2-40B4-BE49-F238E27FC236}">
                <a16:creationId xmlns:a16="http://schemas.microsoft.com/office/drawing/2014/main" id="{B6F77C9B-AE51-BABC-7968-26CE3140DD05}"/>
              </a:ext>
            </a:extLst>
          </p:cNvPr>
          <p:cNvSpPr>
            <a:spLocks noGrp="1" noChangeArrowheads="1"/>
          </p:cNvSpPr>
          <p:nvPr>
            <p:ph type="title"/>
          </p:nvPr>
        </p:nvSpPr>
        <p:spPr>
          <a:xfrm>
            <a:off x="362595" y="351632"/>
            <a:ext cx="9217025" cy="490537"/>
          </a:xfrm>
        </p:spPr>
        <p:txBody>
          <a:bodyPr>
            <a:normAutofit fontScale="90000"/>
          </a:bodyPr>
          <a:lstStyle/>
          <a:p>
            <a:r>
              <a:rPr lang="en-US" altLang="ja-JP" dirty="0" err="1">
                <a:latin typeface="MS UI Gothic" panose="020B0600070205080204" pitchFamily="50" charset="-128"/>
                <a:ea typeface="MS UI Gothic" panose="020B0600070205080204" pitchFamily="50" charset="-128"/>
              </a:rPr>
              <a:t>Câu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lệnh</a:t>
            </a:r>
            <a:r>
              <a:rPr lang="en-US" altLang="ja-JP" dirty="0">
                <a:latin typeface="MS UI Gothic" panose="020B0600070205080204" pitchFamily="50" charset="-128"/>
                <a:ea typeface="MS UI Gothic" panose="020B0600070205080204" pitchFamily="50" charset="-128"/>
              </a:rPr>
              <a:t> </a:t>
            </a:r>
            <a:r>
              <a:rPr lang="en-US" altLang="ja-JP" dirty="0">
                <a:latin typeface="ＭＳ ゴシック" panose="020B0609070205080204" pitchFamily="49" charset="-128"/>
                <a:ea typeface="ＭＳ ゴシック" panose="020B0609070205080204" pitchFamily="49" charset="-128"/>
              </a:rPr>
              <a:t>if</a:t>
            </a:r>
            <a:endParaRPr lang="en-US" altLang="ja-JP" dirty="0">
              <a:latin typeface="MS UI Gothic" panose="020B0600070205080204" pitchFamily="50" charset="-128"/>
              <a:ea typeface="MS UI Gothic" panose="020B0600070205080204" pitchFamily="50" charset="-128"/>
            </a:endParaRPr>
          </a:p>
        </p:txBody>
      </p:sp>
      <p:sp>
        <p:nvSpPr>
          <p:cNvPr id="709635" name="Rectangle 3">
            <a:extLst>
              <a:ext uri="{FF2B5EF4-FFF2-40B4-BE49-F238E27FC236}">
                <a16:creationId xmlns:a16="http://schemas.microsoft.com/office/drawing/2014/main" id="{F8AAB527-B69F-890A-5932-30A8B58382D2}"/>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09636" name="Rectangle 4">
            <a:extLst>
              <a:ext uri="{FF2B5EF4-FFF2-40B4-BE49-F238E27FC236}">
                <a16:creationId xmlns:a16="http://schemas.microsoft.com/office/drawing/2014/main" id="{A5DE85AA-216B-7398-D71D-6990C621C214}"/>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ea typeface="ＭＳ ゴシック" panose="020B0609070205080204" pitchFamily="49" charset="-128"/>
              </a:rPr>
              <a:t>Câu lệnh if</a:t>
            </a:r>
            <a:endParaRPr lang="en-US" altLang="ja-JP" sz="2400" b="0">
              <a:latin typeface="Arial" panose="020B0604020202020204" pitchFamily="34" charset="0"/>
            </a:endParaRP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709637" name="Text Box 5">
            <a:extLst>
              <a:ext uri="{FF2B5EF4-FFF2-40B4-BE49-F238E27FC236}">
                <a16:creationId xmlns:a16="http://schemas.microsoft.com/office/drawing/2014/main" id="{1AA38B4B-1851-3E0F-B543-27DCF221AC3B}"/>
              </a:ext>
            </a:extLst>
          </p:cNvPr>
          <p:cNvSpPr txBox="1">
            <a:spLocks noChangeArrowheads="1"/>
          </p:cNvSpPr>
          <p:nvPr/>
        </p:nvSpPr>
        <p:spPr bwMode="auto">
          <a:xfrm>
            <a:off x="344488" y="1751013"/>
            <a:ext cx="9120187" cy="12763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ＭＳ ゴシック" panose="020B0609070205080204" pitchFamily="49" charset="-128"/>
              </a:rPr>
              <a:t>if (Biểu thức điều kiện) {</a:t>
            </a:r>
          </a:p>
          <a:p>
            <a:pPr lvl="1" algn="just">
              <a:lnSpc>
                <a:spcPct val="112000"/>
              </a:lnSpc>
            </a:pPr>
            <a:r>
              <a:rPr lang="en-US" altLang="ja-JP" sz="2000">
                <a:ea typeface="MS UI Gothic" panose="020B0600070205080204" pitchFamily="50" charset="-128"/>
              </a:rPr>
              <a:t>    Xử lý trong trường hợp thỏa mãn biểu thức điều kiện</a:t>
            </a:r>
            <a:r>
              <a:rPr lang="en-US" altLang="ja-JP" sz="2000">
                <a:ea typeface="ＭＳ ゴシック" panose="020B0609070205080204" pitchFamily="49" charset="-128"/>
              </a:rPr>
              <a:t>}</a:t>
            </a:r>
          </a:p>
        </p:txBody>
      </p:sp>
      <p:sp>
        <p:nvSpPr>
          <p:cNvPr id="709638" name="Rectangle 6">
            <a:extLst>
              <a:ext uri="{FF2B5EF4-FFF2-40B4-BE49-F238E27FC236}">
                <a16:creationId xmlns:a16="http://schemas.microsoft.com/office/drawing/2014/main" id="{61C7F6F9-2021-1694-DEB0-80F092539711}"/>
              </a:ext>
            </a:extLst>
          </p:cNvPr>
          <p:cNvSpPr>
            <a:spLocks noChangeArrowheads="1"/>
          </p:cNvSpPr>
          <p:nvPr/>
        </p:nvSpPr>
        <p:spPr bwMode="auto">
          <a:xfrm>
            <a:off x="344488" y="32099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●Ví dụ</a:t>
            </a:r>
            <a:endParaRPr lang="en-US" altLang="ja-JP" sz="2400" b="0">
              <a:latin typeface="Arial" panose="020B0604020202020204" pitchFamily="34" charset="0"/>
            </a:endParaRPr>
          </a:p>
        </p:txBody>
      </p:sp>
      <p:sp>
        <p:nvSpPr>
          <p:cNvPr id="709639" name="Rectangle 7">
            <a:extLst>
              <a:ext uri="{FF2B5EF4-FFF2-40B4-BE49-F238E27FC236}">
                <a16:creationId xmlns:a16="http://schemas.microsoft.com/office/drawing/2014/main" id="{3D77CCBC-AACF-FE19-26E3-75CDB111E5D5}"/>
              </a:ext>
            </a:extLst>
          </p:cNvPr>
          <p:cNvSpPr>
            <a:spLocks noChangeArrowheads="1"/>
          </p:cNvSpPr>
          <p:nvPr/>
        </p:nvSpPr>
        <p:spPr bwMode="auto">
          <a:xfrm>
            <a:off x="344488" y="3706813"/>
            <a:ext cx="5538787" cy="26781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b="0">
                <a:latin typeface="Arial" panose="020B0604020202020204" pitchFamily="34" charset="0"/>
                <a:ea typeface="ＭＳ ゴシック" panose="020B0609070205080204" pitchFamily="49" charset="-128"/>
              </a:rPr>
              <a:t>int x = 5;</a:t>
            </a:r>
            <a:endParaRPr lang="en-US" altLang="ja-JP" sz="1800" b="0">
              <a:latin typeface="Arial" panose="020B0604020202020204" pitchFamily="34" charset="0"/>
              <a:ea typeface="ＭＳ ゴシック" panose="020B0609070205080204" pitchFamily="49" charset="-128"/>
            </a:endParaRPr>
          </a:p>
          <a:p>
            <a:pPr lvl="1"/>
            <a:endParaRPr lang="en-US" altLang="en-US" sz="1800" b="0">
              <a:latin typeface="Arial" panose="020B0604020202020204" pitchFamily="34" charset="0"/>
              <a:ea typeface="ＭＳ ゴシック" panose="020B0609070205080204" pitchFamily="49" charset="-128"/>
            </a:endParaRPr>
          </a:p>
          <a:p>
            <a:pPr lvl="1"/>
            <a:r>
              <a:rPr lang="en-US" altLang="en-US" sz="1800" b="0">
                <a:latin typeface="Arial" panose="020B0604020202020204" pitchFamily="34" charset="0"/>
                <a:ea typeface="ＭＳ ゴシック" panose="020B0609070205080204" pitchFamily="49" charset="-128"/>
              </a:rPr>
              <a:t>if (x % 2 == 1) {</a:t>
            </a:r>
          </a:p>
          <a:p>
            <a:pPr lvl="1"/>
            <a:r>
              <a:rPr lang="en-US" altLang="en-US" sz="1800" b="0">
                <a:latin typeface="Arial" panose="020B0604020202020204" pitchFamily="34" charset="0"/>
                <a:ea typeface="ＭＳ ゴシック" panose="020B0609070205080204" pitchFamily="49" charset="-128"/>
              </a:rPr>
              <a:t>    System.out.println(“Số lẻ");</a:t>
            </a:r>
          </a:p>
          <a:p>
            <a:pPr lvl="1"/>
            <a:r>
              <a:rPr lang="en-US" altLang="en-US" sz="1800" b="0">
                <a:latin typeface="Arial" panose="020B0604020202020204" pitchFamily="34" charset="0"/>
                <a:ea typeface="ＭＳ ゴシック" panose="020B0609070205080204" pitchFamily="49" charset="-128"/>
              </a:rPr>
              <a:t>}</a:t>
            </a:r>
          </a:p>
        </p:txBody>
      </p:sp>
      <p:grpSp>
        <p:nvGrpSpPr>
          <p:cNvPr id="709657" name="Group 25">
            <a:extLst>
              <a:ext uri="{FF2B5EF4-FFF2-40B4-BE49-F238E27FC236}">
                <a16:creationId xmlns:a16="http://schemas.microsoft.com/office/drawing/2014/main" id="{BC7808DA-B9B6-1FCE-4019-9034CB982337}"/>
              </a:ext>
            </a:extLst>
          </p:cNvPr>
          <p:cNvGrpSpPr>
            <a:grpSpLocks/>
          </p:cNvGrpSpPr>
          <p:nvPr/>
        </p:nvGrpSpPr>
        <p:grpSpPr bwMode="auto">
          <a:xfrm>
            <a:off x="6096000" y="3302000"/>
            <a:ext cx="3370263" cy="3082925"/>
            <a:chOff x="3840" y="2080"/>
            <a:chExt cx="2123" cy="1942"/>
          </a:xfrm>
        </p:grpSpPr>
        <p:sp>
          <p:nvSpPr>
            <p:cNvPr id="709655" name="Rectangle 23">
              <a:extLst>
                <a:ext uri="{FF2B5EF4-FFF2-40B4-BE49-F238E27FC236}">
                  <a16:creationId xmlns:a16="http://schemas.microsoft.com/office/drawing/2014/main" id="{36686BE3-2A2F-389C-E3BF-B04D26A80DDB}"/>
                </a:ext>
              </a:extLst>
            </p:cNvPr>
            <p:cNvSpPr>
              <a:spLocks noChangeArrowheads="1"/>
            </p:cNvSpPr>
            <p:nvPr/>
          </p:nvSpPr>
          <p:spPr bwMode="auto">
            <a:xfrm>
              <a:off x="3840" y="2080"/>
              <a:ext cx="2123" cy="19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09645" name="Line 13">
              <a:extLst>
                <a:ext uri="{FF2B5EF4-FFF2-40B4-BE49-F238E27FC236}">
                  <a16:creationId xmlns:a16="http://schemas.microsoft.com/office/drawing/2014/main" id="{D684C724-A52C-7A3F-BA6A-EECBC4940410}"/>
                </a:ext>
              </a:extLst>
            </p:cNvPr>
            <p:cNvSpPr>
              <a:spLocks noChangeShapeType="1"/>
            </p:cNvSpPr>
            <p:nvPr/>
          </p:nvSpPr>
          <p:spPr bwMode="auto">
            <a:xfrm>
              <a:off x="4572" y="2255"/>
              <a:ext cx="0" cy="165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46" name="AutoShape 14">
              <a:extLst>
                <a:ext uri="{FF2B5EF4-FFF2-40B4-BE49-F238E27FC236}">
                  <a16:creationId xmlns:a16="http://schemas.microsoft.com/office/drawing/2014/main" id="{82AE5253-C137-19FD-1276-30F1ED9D165B}"/>
                </a:ext>
              </a:extLst>
            </p:cNvPr>
            <p:cNvSpPr>
              <a:spLocks noChangeArrowheads="1"/>
            </p:cNvSpPr>
            <p:nvPr/>
          </p:nvSpPr>
          <p:spPr bwMode="auto">
            <a:xfrm>
              <a:off x="3981" y="2431"/>
              <a:ext cx="1181" cy="421"/>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nSpc>
                  <a:spcPct val="96000"/>
                </a:lnSpc>
              </a:pPr>
              <a:r>
                <a:rPr lang="en-US" altLang="ja-JP" sz="1800" b="0" dirty="0">
                  <a:latin typeface="+mj-lt"/>
                </a:rPr>
                <a:t>x </a:t>
              </a:r>
              <a:r>
                <a:rPr lang="en-US" altLang="ja-JP" sz="1800" b="0" dirty="0" err="1">
                  <a:latin typeface="+mj-lt"/>
                </a:rPr>
                <a:t>là</a:t>
              </a:r>
              <a:r>
                <a:rPr lang="en-US" altLang="ja-JP" sz="1800" b="0" dirty="0">
                  <a:latin typeface="+mj-lt"/>
                </a:rPr>
                <a:t> </a:t>
              </a:r>
              <a:r>
                <a:rPr lang="en-US" altLang="ja-JP" sz="1800" b="0" dirty="0" err="1">
                  <a:latin typeface="+mj-lt"/>
                </a:rPr>
                <a:t>số</a:t>
              </a:r>
              <a:r>
                <a:rPr lang="en-US" altLang="ja-JP" sz="1800" b="0" dirty="0">
                  <a:latin typeface="+mj-lt"/>
                </a:rPr>
                <a:t> </a:t>
              </a:r>
              <a:r>
                <a:rPr lang="en-US" altLang="ja-JP" sz="1800" b="0" dirty="0" err="1">
                  <a:latin typeface="+mj-lt"/>
                </a:rPr>
                <a:t>lẻ</a:t>
              </a:r>
              <a:r>
                <a:rPr lang="en-US" altLang="ja-JP" sz="1800" b="0" dirty="0">
                  <a:latin typeface="+mj-lt"/>
                </a:rPr>
                <a:t>?</a:t>
              </a:r>
              <a:endParaRPr lang="en-US" altLang="ja-JP" sz="1800" dirty="0">
                <a:latin typeface="+mj-lt"/>
              </a:endParaRPr>
            </a:p>
          </p:txBody>
        </p:sp>
        <p:sp>
          <p:nvSpPr>
            <p:cNvPr id="709647" name="AutoShape 15">
              <a:extLst>
                <a:ext uri="{FF2B5EF4-FFF2-40B4-BE49-F238E27FC236}">
                  <a16:creationId xmlns:a16="http://schemas.microsoft.com/office/drawing/2014/main" id="{7C71678D-D212-207C-7957-FB1BE44351BA}"/>
                </a:ext>
              </a:extLst>
            </p:cNvPr>
            <p:cNvSpPr>
              <a:spLocks noChangeArrowheads="1"/>
            </p:cNvSpPr>
            <p:nvPr/>
          </p:nvSpPr>
          <p:spPr bwMode="auto">
            <a:xfrm>
              <a:off x="3913" y="3080"/>
              <a:ext cx="1346" cy="315"/>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b="0" dirty="0">
                  <a:latin typeface="+mj-lt"/>
                </a:rPr>
                <a:t>Hiển </a:t>
              </a:r>
              <a:r>
                <a:rPr lang="en-US" altLang="ja-JP" sz="1800" b="0" dirty="0" err="1">
                  <a:latin typeface="+mj-lt"/>
                </a:rPr>
                <a:t>thị</a:t>
              </a:r>
              <a:r>
                <a:rPr lang="en-US" altLang="ja-JP" sz="1800" b="0" dirty="0">
                  <a:latin typeface="+mj-lt"/>
                </a:rPr>
                <a:t> </a:t>
              </a:r>
              <a:r>
                <a:rPr lang="en-US" altLang="ja-JP" sz="1800" b="0" dirty="0" err="1">
                  <a:latin typeface="+mj-lt"/>
                </a:rPr>
                <a:t>là</a:t>
              </a:r>
              <a:r>
                <a:rPr lang="en-US" altLang="ja-JP" sz="1800" b="0" dirty="0">
                  <a:latin typeface="+mj-lt"/>
                </a:rPr>
                <a:t> </a:t>
              </a:r>
              <a:r>
                <a:rPr lang="ja-JP" altLang="en-US" sz="1800" b="0" dirty="0">
                  <a:latin typeface="+mj-lt"/>
                </a:rPr>
                <a:t>「</a:t>
              </a:r>
              <a:r>
                <a:rPr lang="en-US" altLang="ja-JP" sz="1800" b="0" dirty="0" err="1">
                  <a:latin typeface="+mj-lt"/>
                </a:rPr>
                <a:t>Số</a:t>
              </a:r>
              <a:r>
                <a:rPr lang="en-US" altLang="ja-JP" sz="1800" b="0" dirty="0">
                  <a:latin typeface="+mj-lt"/>
                </a:rPr>
                <a:t> </a:t>
              </a:r>
              <a:r>
                <a:rPr lang="en-US" altLang="ja-JP" sz="1800" b="0" dirty="0" err="1">
                  <a:latin typeface="+mj-lt"/>
                </a:rPr>
                <a:t>lẻ</a:t>
              </a:r>
              <a:r>
                <a:rPr lang="ja-JP" altLang="en-US" sz="1800" b="0" dirty="0">
                  <a:latin typeface="+mj-lt"/>
                </a:rPr>
                <a:t>」</a:t>
              </a:r>
              <a:endParaRPr lang="ja-JP" altLang="en-US" sz="1800" dirty="0">
                <a:latin typeface="+mj-lt"/>
              </a:endParaRPr>
            </a:p>
          </p:txBody>
        </p:sp>
        <p:sp>
          <p:nvSpPr>
            <p:cNvPr id="709648" name="Line 16">
              <a:extLst>
                <a:ext uri="{FF2B5EF4-FFF2-40B4-BE49-F238E27FC236}">
                  <a16:creationId xmlns:a16="http://schemas.microsoft.com/office/drawing/2014/main" id="{D2192C2F-24D4-1E5F-B949-7BEA58DD9689}"/>
                </a:ext>
              </a:extLst>
            </p:cNvPr>
            <p:cNvSpPr>
              <a:spLocks noChangeShapeType="1"/>
            </p:cNvSpPr>
            <p:nvPr/>
          </p:nvSpPr>
          <p:spPr bwMode="auto">
            <a:xfrm>
              <a:off x="5162" y="2641"/>
              <a:ext cx="687"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49" name="Line 17">
              <a:extLst>
                <a:ext uri="{FF2B5EF4-FFF2-40B4-BE49-F238E27FC236}">
                  <a16:creationId xmlns:a16="http://schemas.microsoft.com/office/drawing/2014/main" id="{79CBCFF2-1D40-E01F-F0AE-6C0DBE8EFA35}"/>
                </a:ext>
              </a:extLst>
            </p:cNvPr>
            <p:cNvSpPr>
              <a:spLocks noChangeShapeType="1"/>
            </p:cNvSpPr>
            <p:nvPr/>
          </p:nvSpPr>
          <p:spPr bwMode="auto">
            <a:xfrm>
              <a:off x="5842" y="2639"/>
              <a:ext cx="0" cy="937"/>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50" name="Line 18">
              <a:extLst>
                <a:ext uri="{FF2B5EF4-FFF2-40B4-BE49-F238E27FC236}">
                  <a16:creationId xmlns:a16="http://schemas.microsoft.com/office/drawing/2014/main" id="{55F4912C-FA97-21BD-5879-39CA1C1AEDA8}"/>
                </a:ext>
              </a:extLst>
            </p:cNvPr>
            <p:cNvSpPr>
              <a:spLocks noChangeShapeType="1"/>
            </p:cNvSpPr>
            <p:nvPr/>
          </p:nvSpPr>
          <p:spPr bwMode="auto">
            <a:xfrm>
              <a:off x="4581" y="3571"/>
              <a:ext cx="1264"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51" name="Text Box 19">
              <a:extLst>
                <a:ext uri="{FF2B5EF4-FFF2-40B4-BE49-F238E27FC236}">
                  <a16:creationId xmlns:a16="http://schemas.microsoft.com/office/drawing/2014/main" id="{A192DF9E-3EEC-4335-438A-5AEA06DA5D72}"/>
                </a:ext>
              </a:extLst>
            </p:cNvPr>
            <p:cNvSpPr txBox="1">
              <a:spLocks noChangeArrowheads="1"/>
            </p:cNvSpPr>
            <p:nvPr/>
          </p:nvSpPr>
          <p:spPr bwMode="auto">
            <a:xfrm>
              <a:off x="4637" y="2900"/>
              <a:ext cx="381" cy="15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b="0"/>
                <a:t>true</a:t>
              </a:r>
              <a:endParaRPr lang="en-US" altLang="ja-JP" sz="1800"/>
            </a:p>
          </p:txBody>
        </p:sp>
        <p:sp>
          <p:nvSpPr>
            <p:cNvPr id="709652" name="Text Box 20">
              <a:extLst>
                <a:ext uri="{FF2B5EF4-FFF2-40B4-BE49-F238E27FC236}">
                  <a16:creationId xmlns:a16="http://schemas.microsoft.com/office/drawing/2014/main" id="{4997F746-2240-1EE4-8681-00EDAD11AF96}"/>
                </a:ext>
              </a:extLst>
            </p:cNvPr>
            <p:cNvSpPr txBox="1">
              <a:spLocks noChangeArrowheads="1"/>
            </p:cNvSpPr>
            <p:nvPr/>
          </p:nvSpPr>
          <p:spPr bwMode="auto">
            <a:xfrm>
              <a:off x="5213" y="2418"/>
              <a:ext cx="382" cy="15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b="0"/>
                <a:t>false</a:t>
              </a:r>
              <a:endParaRPr lang="en-US" altLang="ja-JP" sz="1800"/>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89667B81-3FA5-A401-5ECA-8325C7A86DF7}"/>
              </a:ext>
            </a:extLst>
          </p:cNvPr>
          <p:cNvSpPr>
            <a:spLocks noGrp="1"/>
          </p:cNvSpPr>
          <p:nvPr>
            <p:ph type="sldNum" sz="quarter" idx="10"/>
          </p:nvPr>
        </p:nvSpPr>
        <p:spPr/>
        <p:txBody>
          <a:bodyPr/>
          <a:lstStyle/>
          <a:p>
            <a:fld id="{3261F01C-2149-4A65-ABB1-BE5D871F6879}" type="slidenum">
              <a:rPr lang="en-US" altLang="ja-JP"/>
              <a:pPr/>
              <a:t>21</a:t>
            </a:fld>
            <a:endParaRPr lang="en-US" altLang="ja-JP"/>
          </a:p>
        </p:txBody>
      </p:sp>
      <p:sp>
        <p:nvSpPr>
          <p:cNvPr id="711682" name="Rectangle 2">
            <a:extLst>
              <a:ext uri="{FF2B5EF4-FFF2-40B4-BE49-F238E27FC236}">
                <a16:creationId xmlns:a16="http://schemas.microsoft.com/office/drawing/2014/main" id="{9CC7CCD8-6AEF-032C-D6CA-B3D41D011F29}"/>
              </a:ext>
            </a:extLst>
          </p:cNvPr>
          <p:cNvSpPr>
            <a:spLocks noGrp="1" noChangeArrowheads="1"/>
          </p:cNvSpPr>
          <p:nvPr>
            <p:ph type="title"/>
          </p:nvPr>
        </p:nvSpPr>
        <p:spPr>
          <a:xfrm>
            <a:off x="344488" y="377826"/>
            <a:ext cx="9217025" cy="490537"/>
          </a:xfrm>
        </p:spPr>
        <p:txBody>
          <a:bodyPr>
            <a:normAutofit fontScale="90000"/>
          </a:bodyPr>
          <a:lstStyle/>
          <a:p>
            <a:r>
              <a:rPr lang="en-US" altLang="ja-JP" dirty="0" err="1">
                <a:latin typeface="MS UI Gothic" panose="020B0600070205080204" pitchFamily="50" charset="-128"/>
                <a:ea typeface="MS UI Gothic" panose="020B0600070205080204" pitchFamily="50" charset="-128"/>
              </a:rPr>
              <a:t>Câu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lệnh</a:t>
            </a:r>
            <a:r>
              <a:rPr lang="en-US" altLang="ja-JP" dirty="0">
                <a:latin typeface="MS UI Gothic" panose="020B0600070205080204" pitchFamily="50" charset="-128"/>
                <a:ea typeface="MS UI Gothic" panose="020B0600070205080204" pitchFamily="50" charset="-128"/>
              </a:rPr>
              <a:t> </a:t>
            </a:r>
            <a:r>
              <a:rPr lang="en-US" altLang="ja-JP" dirty="0">
                <a:latin typeface="ＭＳ ゴシック" panose="020B0609070205080204" pitchFamily="49" charset="-128"/>
                <a:ea typeface="ＭＳ ゴシック" panose="020B0609070205080204" pitchFamily="49" charset="-128"/>
              </a:rPr>
              <a:t>if-else</a:t>
            </a:r>
            <a:endParaRPr lang="en-US" altLang="ja-JP" dirty="0">
              <a:latin typeface="MS UI Gothic" panose="020B0600070205080204" pitchFamily="50" charset="-128"/>
              <a:ea typeface="MS UI Gothic" panose="020B0600070205080204" pitchFamily="50" charset="-128"/>
            </a:endParaRPr>
          </a:p>
        </p:txBody>
      </p:sp>
      <p:sp>
        <p:nvSpPr>
          <p:cNvPr id="711683" name="Rectangle 3">
            <a:extLst>
              <a:ext uri="{FF2B5EF4-FFF2-40B4-BE49-F238E27FC236}">
                <a16:creationId xmlns:a16="http://schemas.microsoft.com/office/drawing/2014/main" id="{099301D3-8020-4F9B-4D3B-F493D2810BBA}"/>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11684" name="Rectangle 4">
            <a:extLst>
              <a:ext uri="{FF2B5EF4-FFF2-40B4-BE49-F238E27FC236}">
                <a16:creationId xmlns:a16="http://schemas.microsoft.com/office/drawing/2014/main" id="{8CA692EE-8315-05E9-49F5-5F212911191B}"/>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ea typeface="ＭＳ ゴシック" panose="020B0609070205080204" pitchFamily="49" charset="-128"/>
              </a:rPr>
              <a:t>Câu lệnh if-else</a:t>
            </a:r>
            <a:endParaRPr lang="en-US" altLang="ja-JP" sz="2400" b="0">
              <a:latin typeface="Arial" panose="020B0604020202020204" pitchFamily="34" charset="0"/>
            </a:endParaRP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711685" name="Text Box 5">
            <a:extLst>
              <a:ext uri="{FF2B5EF4-FFF2-40B4-BE49-F238E27FC236}">
                <a16:creationId xmlns:a16="http://schemas.microsoft.com/office/drawing/2014/main" id="{2DDAD56C-21CB-CDB0-0B9C-F520397EBD7F}"/>
              </a:ext>
            </a:extLst>
          </p:cNvPr>
          <p:cNvSpPr txBox="1">
            <a:spLocks noChangeArrowheads="1"/>
          </p:cNvSpPr>
          <p:nvPr/>
        </p:nvSpPr>
        <p:spPr bwMode="auto">
          <a:xfrm>
            <a:off x="344488" y="1712913"/>
            <a:ext cx="9120187" cy="17843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MS UI Gothic" panose="020B0600070205080204" pitchFamily="50" charset="-128"/>
              </a:rPr>
              <a:t> </a:t>
            </a:r>
            <a:r>
              <a:rPr lang="en-US" altLang="ja-JP" sz="2000">
                <a:ea typeface="ＭＳ ゴシック" panose="020B0609070205080204" pitchFamily="49" charset="-128"/>
              </a:rPr>
              <a:t>if (</a:t>
            </a:r>
            <a:r>
              <a:rPr lang="en-US" altLang="ja-JP" sz="2000">
                <a:ea typeface="MS UI Gothic" panose="020B0600070205080204" pitchFamily="50" charset="-128"/>
              </a:rPr>
              <a:t>Biểu thức điều kiện</a:t>
            </a:r>
            <a:r>
              <a:rPr lang="en-US" altLang="ja-JP" sz="2000">
                <a:ea typeface="ＭＳ ゴシック" panose="020B0609070205080204" pitchFamily="49" charset="-128"/>
              </a:rPr>
              <a:t>) {</a:t>
            </a:r>
          </a:p>
          <a:p>
            <a:pPr lvl="1" algn="just">
              <a:lnSpc>
                <a:spcPct val="112000"/>
              </a:lnSpc>
            </a:pPr>
            <a:r>
              <a:rPr lang="en-US" altLang="ja-JP" sz="2000">
                <a:ea typeface="MS UI Gothic" panose="020B0600070205080204" pitchFamily="50" charset="-128"/>
              </a:rPr>
              <a:t>    Xử lý trong trường hợp đã thỏa mãn biểu thức điều kiện</a:t>
            </a:r>
          </a:p>
          <a:p>
            <a:pPr lvl="1" algn="just">
              <a:lnSpc>
                <a:spcPct val="112000"/>
              </a:lnSpc>
            </a:pPr>
            <a:r>
              <a:rPr lang="en-US" altLang="ja-JP" sz="2000">
                <a:ea typeface="ＭＳ ゴシック" panose="020B0609070205080204" pitchFamily="49" charset="-128"/>
              </a:rPr>
              <a:t> } else { </a:t>
            </a:r>
          </a:p>
          <a:p>
            <a:pPr lvl="1" algn="just">
              <a:lnSpc>
                <a:spcPct val="112000"/>
              </a:lnSpc>
            </a:pPr>
            <a:r>
              <a:rPr lang="en-US" altLang="ja-JP" sz="2000">
                <a:ea typeface="MS UI Gothic" panose="020B0600070205080204" pitchFamily="50" charset="-128"/>
              </a:rPr>
              <a:t>    Xử lý trong trường hợp không thỏa mãn biểu thức điều kiện</a:t>
            </a:r>
          </a:p>
          <a:p>
            <a:pPr lvl="1" algn="just">
              <a:lnSpc>
                <a:spcPct val="112000"/>
              </a:lnSpc>
            </a:pPr>
            <a:r>
              <a:rPr lang="en-US" altLang="ja-JP" sz="2000">
                <a:ea typeface="MS UI Gothic" panose="020B0600070205080204" pitchFamily="50" charset="-128"/>
              </a:rPr>
              <a:t> </a:t>
            </a:r>
            <a:r>
              <a:rPr lang="en-US" altLang="ja-JP" sz="2000">
                <a:ea typeface="ＭＳ ゴシック" panose="020B0609070205080204" pitchFamily="49" charset="-128"/>
              </a:rPr>
              <a:t>}</a:t>
            </a:r>
          </a:p>
        </p:txBody>
      </p:sp>
      <p:sp>
        <p:nvSpPr>
          <p:cNvPr id="711686" name="Rectangle 6">
            <a:extLst>
              <a:ext uri="{FF2B5EF4-FFF2-40B4-BE49-F238E27FC236}">
                <a16:creationId xmlns:a16="http://schemas.microsoft.com/office/drawing/2014/main" id="{F3BDD30C-DACD-91E2-454F-18188CBBF4CD}"/>
              </a:ext>
            </a:extLst>
          </p:cNvPr>
          <p:cNvSpPr>
            <a:spLocks noChangeArrowheads="1"/>
          </p:cNvSpPr>
          <p:nvPr/>
        </p:nvSpPr>
        <p:spPr bwMode="auto">
          <a:xfrm>
            <a:off x="344488" y="36163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●Ví dụ</a:t>
            </a:r>
            <a:endParaRPr lang="en-US" altLang="ja-JP" sz="2400" b="0">
              <a:latin typeface="Arial" panose="020B0604020202020204" pitchFamily="34" charset="0"/>
            </a:endParaRPr>
          </a:p>
        </p:txBody>
      </p:sp>
      <p:sp>
        <p:nvSpPr>
          <p:cNvPr id="711687" name="Rectangle 7">
            <a:extLst>
              <a:ext uri="{FF2B5EF4-FFF2-40B4-BE49-F238E27FC236}">
                <a16:creationId xmlns:a16="http://schemas.microsoft.com/office/drawing/2014/main" id="{B80FD277-834D-89DF-8979-497562E93322}"/>
              </a:ext>
            </a:extLst>
          </p:cNvPr>
          <p:cNvSpPr>
            <a:spLocks noChangeArrowheads="1"/>
          </p:cNvSpPr>
          <p:nvPr/>
        </p:nvSpPr>
        <p:spPr bwMode="auto">
          <a:xfrm>
            <a:off x="344488" y="4037013"/>
            <a:ext cx="4687887" cy="23987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Arial" panose="020B0604020202020204" pitchFamily="34" charset="0"/>
                <a:ea typeface="ＭＳ ゴシック" panose="020B0609070205080204" pitchFamily="49" charset="-128"/>
              </a:rPr>
              <a:t>int x = 4;</a:t>
            </a:r>
          </a:p>
          <a:p>
            <a:pPr lvl="1"/>
            <a:endParaRPr lang="en-US" altLang="ja-JP"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if (x % 2 == 1) {</a:t>
            </a:r>
          </a:p>
          <a:p>
            <a:pPr lvl="1"/>
            <a:r>
              <a:rPr lang="en-US" altLang="ja-JP" sz="1800" b="0">
                <a:latin typeface="Arial" panose="020B0604020202020204" pitchFamily="34" charset="0"/>
                <a:ea typeface="ＭＳ ゴシック" panose="020B0609070205080204" pitchFamily="49" charset="-128"/>
              </a:rPr>
              <a:t>    System.out.println(“Số lẻ");</a:t>
            </a:r>
          </a:p>
          <a:p>
            <a:pPr lvl="1"/>
            <a:r>
              <a:rPr lang="en-US" altLang="ja-JP" sz="1800" b="0">
                <a:latin typeface="Arial" panose="020B0604020202020204" pitchFamily="34" charset="0"/>
                <a:ea typeface="ＭＳ ゴシック" panose="020B0609070205080204" pitchFamily="49" charset="-128"/>
              </a:rPr>
              <a:t>} else {</a:t>
            </a:r>
          </a:p>
          <a:p>
            <a:pPr lvl="1"/>
            <a:r>
              <a:rPr lang="en-US" altLang="ja-JP" sz="1800" b="0">
                <a:latin typeface="Arial" panose="020B0604020202020204" pitchFamily="34" charset="0"/>
                <a:ea typeface="ＭＳ ゴシック" panose="020B0609070205080204" pitchFamily="49" charset="-128"/>
              </a:rPr>
              <a:t>    System.out.println(“Số chẵn");</a:t>
            </a:r>
          </a:p>
          <a:p>
            <a:pPr lvl="1"/>
            <a:r>
              <a:rPr lang="en-US" altLang="ja-JP" sz="1800" b="0">
                <a:latin typeface="Arial" panose="020B0604020202020204" pitchFamily="34" charset="0"/>
                <a:ea typeface="ＭＳ ゴシック" panose="020B0609070205080204" pitchFamily="49" charset="-128"/>
              </a:rPr>
              <a:t>}</a:t>
            </a:r>
            <a:endParaRPr lang="en-US" altLang="en-US" sz="1800" b="0">
              <a:latin typeface="Arial" panose="020B0604020202020204" pitchFamily="34" charset="0"/>
              <a:ea typeface="ＭＳ ゴシック" panose="020B0609070205080204" pitchFamily="49" charset="-128"/>
            </a:endParaRPr>
          </a:p>
        </p:txBody>
      </p:sp>
      <p:grpSp>
        <p:nvGrpSpPr>
          <p:cNvPr id="711710" name="Group 30">
            <a:extLst>
              <a:ext uri="{FF2B5EF4-FFF2-40B4-BE49-F238E27FC236}">
                <a16:creationId xmlns:a16="http://schemas.microsoft.com/office/drawing/2014/main" id="{14177F6A-5BD1-7493-B7A4-6CDC2C9D884A}"/>
              </a:ext>
            </a:extLst>
          </p:cNvPr>
          <p:cNvGrpSpPr>
            <a:grpSpLocks/>
          </p:cNvGrpSpPr>
          <p:nvPr/>
        </p:nvGrpSpPr>
        <p:grpSpPr bwMode="auto">
          <a:xfrm>
            <a:off x="5489575" y="3695700"/>
            <a:ext cx="3967163" cy="2765425"/>
            <a:chOff x="3458" y="2296"/>
            <a:chExt cx="2499" cy="1742"/>
          </a:xfrm>
        </p:grpSpPr>
        <p:sp>
          <p:nvSpPr>
            <p:cNvPr id="711689" name="Rectangle 9">
              <a:extLst>
                <a:ext uri="{FF2B5EF4-FFF2-40B4-BE49-F238E27FC236}">
                  <a16:creationId xmlns:a16="http://schemas.microsoft.com/office/drawing/2014/main" id="{54840F16-D5CA-39C0-B250-8A956D50410D}"/>
                </a:ext>
              </a:extLst>
            </p:cNvPr>
            <p:cNvSpPr>
              <a:spLocks noChangeArrowheads="1"/>
            </p:cNvSpPr>
            <p:nvPr/>
          </p:nvSpPr>
          <p:spPr bwMode="auto">
            <a:xfrm>
              <a:off x="3458" y="2296"/>
              <a:ext cx="2499" cy="17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11700" name="Line 20">
              <a:extLst>
                <a:ext uri="{FF2B5EF4-FFF2-40B4-BE49-F238E27FC236}">
                  <a16:creationId xmlns:a16="http://schemas.microsoft.com/office/drawing/2014/main" id="{43A618C2-B6B0-7242-CBDE-523EAAB5F18F}"/>
                </a:ext>
              </a:extLst>
            </p:cNvPr>
            <p:cNvSpPr>
              <a:spLocks noChangeShapeType="1"/>
            </p:cNvSpPr>
            <p:nvPr/>
          </p:nvSpPr>
          <p:spPr bwMode="auto">
            <a:xfrm>
              <a:off x="4236" y="2392"/>
              <a:ext cx="0" cy="1612"/>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11701" name="AutoShape 21">
              <a:extLst>
                <a:ext uri="{FF2B5EF4-FFF2-40B4-BE49-F238E27FC236}">
                  <a16:creationId xmlns:a16="http://schemas.microsoft.com/office/drawing/2014/main" id="{F2F6E16A-C9F7-446B-A600-7D555F6C3E78}"/>
                </a:ext>
              </a:extLst>
            </p:cNvPr>
            <p:cNvSpPr>
              <a:spLocks noChangeArrowheads="1"/>
            </p:cNvSpPr>
            <p:nvPr/>
          </p:nvSpPr>
          <p:spPr bwMode="auto">
            <a:xfrm>
              <a:off x="3724" y="2563"/>
              <a:ext cx="1022" cy="410"/>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just">
                <a:lnSpc>
                  <a:spcPct val="96000"/>
                </a:lnSpc>
              </a:pPr>
              <a:r>
                <a:rPr lang="ja-JP" altLang="en-US" sz="1800" b="0" dirty="0">
                  <a:latin typeface="+mj-lt"/>
                </a:rPr>
                <a:t>ｘ </a:t>
              </a:r>
              <a:r>
                <a:rPr lang="en-US" altLang="ja-JP" sz="1800" b="0" dirty="0" err="1">
                  <a:latin typeface="+mj-lt"/>
                </a:rPr>
                <a:t>là</a:t>
              </a:r>
              <a:r>
                <a:rPr lang="en-US" altLang="ja-JP" sz="1800" b="0" dirty="0">
                  <a:latin typeface="+mj-lt"/>
                </a:rPr>
                <a:t> </a:t>
              </a:r>
              <a:r>
                <a:rPr lang="en-US" altLang="ja-JP" sz="1800" b="0" dirty="0" err="1">
                  <a:latin typeface="+mj-lt"/>
                </a:rPr>
                <a:t>số</a:t>
              </a:r>
              <a:r>
                <a:rPr lang="en-US" altLang="ja-JP" sz="1800" b="0" dirty="0">
                  <a:latin typeface="+mj-lt"/>
                </a:rPr>
                <a:t> </a:t>
              </a:r>
              <a:r>
                <a:rPr lang="en-US" altLang="ja-JP" sz="1800" b="0" dirty="0" err="1">
                  <a:latin typeface="+mj-lt"/>
                </a:rPr>
                <a:t>lẻ</a:t>
              </a:r>
              <a:r>
                <a:rPr lang="en-US" altLang="ja-JP" sz="1800" b="0" dirty="0">
                  <a:latin typeface="+mj-lt"/>
                </a:rPr>
                <a:t>?</a:t>
              </a:r>
              <a:endParaRPr lang="en-US" altLang="ja-JP" sz="1800" dirty="0">
                <a:latin typeface="+mj-lt"/>
              </a:endParaRPr>
            </a:p>
          </p:txBody>
        </p:sp>
        <p:sp>
          <p:nvSpPr>
            <p:cNvPr id="711702" name="AutoShape 22">
              <a:extLst>
                <a:ext uri="{FF2B5EF4-FFF2-40B4-BE49-F238E27FC236}">
                  <a16:creationId xmlns:a16="http://schemas.microsoft.com/office/drawing/2014/main" id="{3EBA8080-1311-7E02-7E65-E6F583FB8254}"/>
                </a:ext>
              </a:extLst>
            </p:cNvPr>
            <p:cNvSpPr>
              <a:spLocks noChangeArrowheads="1"/>
            </p:cNvSpPr>
            <p:nvPr/>
          </p:nvSpPr>
          <p:spPr bwMode="auto">
            <a:xfrm>
              <a:off x="3770" y="3212"/>
              <a:ext cx="918" cy="307"/>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b="0"/>
                <a:t>Hiển thị là </a:t>
              </a:r>
              <a:r>
                <a:rPr lang="ja-JP" altLang="en-US" sz="1800" b="0"/>
                <a:t>「</a:t>
              </a:r>
              <a:r>
                <a:rPr lang="en-US" altLang="ja-JP" sz="1800" b="0"/>
                <a:t>Số lẻ</a:t>
              </a:r>
              <a:r>
                <a:rPr lang="ja-JP" altLang="en-US" sz="1800" b="0"/>
                <a:t>」</a:t>
              </a:r>
              <a:endParaRPr lang="ja-JP" altLang="en-US" sz="1800"/>
            </a:p>
          </p:txBody>
        </p:sp>
        <p:sp>
          <p:nvSpPr>
            <p:cNvPr id="711703" name="Line 23">
              <a:extLst>
                <a:ext uri="{FF2B5EF4-FFF2-40B4-BE49-F238E27FC236}">
                  <a16:creationId xmlns:a16="http://schemas.microsoft.com/office/drawing/2014/main" id="{17F2FEC2-30CF-63DE-52FB-9320D5DC2DE6}"/>
                </a:ext>
              </a:extLst>
            </p:cNvPr>
            <p:cNvSpPr>
              <a:spLocks noChangeShapeType="1"/>
            </p:cNvSpPr>
            <p:nvPr/>
          </p:nvSpPr>
          <p:spPr bwMode="auto">
            <a:xfrm>
              <a:off x="4744" y="2767"/>
              <a:ext cx="593"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11704" name="Line 24">
              <a:extLst>
                <a:ext uri="{FF2B5EF4-FFF2-40B4-BE49-F238E27FC236}">
                  <a16:creationId xmlns:a16="http://schemas.microsoft.com/office/drawing/2014/main" id="{B21C69AD-0CB7-4E73-EC08-F4708DD6DCAD}"/>
                </a:ext>
              </a:extLst>
            </p:cNvPr>
            <p:cNvSpPr>
              <a:spLocks noChangeShapeType="1"/>
            </p:cNvSpPr>
            <p:nvPr/>
          </p:nvSpPr>
          <p:spPr bwMode="auto">
            <a:xfrm>
              <a:off x="5330" y="2766"/>
              <a:ext cx="0" cy="911"/>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11705" name="Line 25">
              <a:extLst>
                <a:ext uri="{FF2B5EF4-FFF2-40B4-BE49-F238E27FC236}">
                  <a16:creationId xmlns:a16="http://schemas.microsoft.com/office/drawing/2014/main" id="{B5E964BB-352B-2379-0B2A-1FA913E849A1}"/>
                </a:ext>
              </a:extLst>
            </p:cNvPr>
            <p:cNvSpPr>
              <a:spLocks noChangeShapeType="1"/>
            </p:cNvSpPr>
            <p:nvPr/>
          </p:nvSpPr>
          <p:spPr bwMode="auto">
            <a:xfrm>
              <a:off x="4241" y="3672"/>
              <a:ext cx="1091"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11706" name="Text Box 26">
              <a:extLst>
                <a:ext uri="{FF2B5EF4-FFF2-40B4-BE49-F238E27FC236}">
                  <a16:creationId xmlns:a16="http://schemas.microsoft.com/office/drawing/2014/main" id="{05E19CD9-B2F1-B96B-437D-E9817A059A22}"/>
                </a:ext>
              </a:extLst>
            </p:cNvPr>
            <p:cNvSpPr txBox="1">
              <a:spLocks noChangeArrowheads="1"/>
            </p:cNvSpPr>
            <p:nvPr/>
          </p:nvSpPr>
          <p:spPr bwMode="auto">
            <a:xfrm>
              <a:off x="4293" y="3019"/>
              <a:ext cx="329" cy="1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b="0"/>
                <a:t>true</a:t>
              </a:r>
              <a:endParaRPr lang="en-US" altLang="ja-JP" sz="1800"/>
            </a:p>
          </p:txBody>
        </p:sp>
        <p:sp>
          <p:nvSpPr>
            <p:cNvPr id="711707" name="Text Box 27">
              <a:extLst>
                <a:ext uri="{FF2B5EF4-FFF2-40B4-BE49-F238E27FC236}">
                  <a16:creationId xmlns:a16="http://schemas.microsoft.com/office/drawing/2014/main" id="{70EDCA9D-52F9-1F1B-F963-7B888AC14235}"/>
                </a:ext>
              </a:extLst>
            </p:cNvPr>
            <p:cNvSpPr txBox="1">
              <a:spLocks noChangeArrowheads="1"/>
            </p:cNvSpPr>
            <p:nvPr/>
          </p:nvSpPr>
          <p:spPr bwMode="auto">
            <a:xfrm>
              <a:off x="4790" y="2550"/>
              <a:ext cx="329" cy="1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b="0"/>
                <a:t>false</a:t>
              </a:r>
              <a:endParaRPr lang="en-US" altLang="ja-JP" sz="1800"/>
            </a:p>
          </p:txBody>
        </p:sp>
        <p:sp>
          <p:nvSpPr>
            <p:cNvPr id="711708" name="AutoShape 28">
              <a:extLst>
                <a:ext uri="{FF2B5EF4-FFF2-40B4-BE49-F238E27FC236}">
                  <a16:creationId xmlns:a16="http://schemas.microsoft.com/office/drawing/2014/main" id="{ED2EB402-C28C-8ACA-9789-58886249AC6C}"/>
                </a:ext>
              </a:extLst>
            </p:cNvPr>
            <p:cNvSpPr>
              <a:spLocks noChangeArrowheads="1"/>
            </p:cNvSpPr>
            <p:nvPr/>
          </p:nvSpPr>
          <p:spPr bwMode="auto">
            <a:xfrm>
              <a:off x="4854" y="3206"/>
              <a:ext cx="918" cy="307"/>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b="0"/>
                <a:t>Hiển thị là </a:t>
              </a:r>
              <a:r>
                <a:rPr lang="ja-JP" altLang="en-US" sz="1800" b="0"/>
                <a:t>「</a:t>
              </a:r>
              <a:r>
                <a:rPr lang="en-US" altLang="ja-JP" sz="1800" b="0"/>
                <a:t>số chẵn</a:t>
              </a:r>
              <a:r>
                <a:rPr lang="ja-JP" altLang="en-US" sz="1800" b="0"/>
                <a:t>」</a:t>
              </a:r>
              <a:endParaRPr lang="ja-JP" altLang="en-US" sz="1800"/>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836AF782-6D2A-68FF-11F4-2E120BB5C0C7}"/>
              </a:ext>
            </a:extLst>
          </p:cNvPr>
          <p:cNvSpPr>
            <a:spLocks noGrp="1"/>
          </p:cNvSpPr>
          <p:nvPr>
            <p:ph type="sldNum" sz="quarter" idx="10"/>
          </p:nvPr>
        </p:nvSpPr>
        <p:spPr/>
        <p:txBody>
          <a:bodyPr/>
          <a:lstStyle/>
          <a:p>
            <a:fld id="{A552BFD9-A516-448D-AF66-453F84317FB4}" type="slidenum">
              <a:rPr lang="en-US" altLang="ja-JP"/>
              <a:pPr/>
              <a:t>22</a:t>
            </a:fld>
            <a:endParaRPr lang="en-US" altLang="ja-JP"/>
          </a:p>
        </p:txBody>
      </p:sp>
      <p:sp>
        <p:nvSpPr>
          <p:cNvPr id="713730" name="Rectangle 2">
            <a:extLst>
              <a:ext uri="{FF2B5EF4-FFF2-40B4-BE49-F238E27FC236}">
                <a16:creationId xmlns:a16="http://schemas.microsoft.com/office/drawing/2014/main" id="{389CCBCD-2699-A1FA-B7B2-7A93FCD0541B}"/>
              </a:ext>
            </a:extLst>
          </p:cNvPr>
          <p:cNvSpPr>
            <a:spLocks noGrp="1" noChangeArrowheads="1"/>
          </p:cNvSpPr>
          <p:nvPr>
            <p:ph type="title"/>
          </p:nvPr>
        </p:nvSpPr>
        <p:spPr>
          <a:xfrm>
            <a:off x="344487" y="324644"/>
            <a:ext cx="9217025" cy="490537"/>
          </a:xfrm>
        </p:spPr>
        <p:txBody>
          <a:bodyPr>
            <a:normAutofit fontScale="90000"/>
          </a:bodyPr>
          <a:lstStyle/>
          <a:p>
            <a:r>
              <a:rPr lang="en-US" altLang="ja-JP" dirty="0" err="1">
                <a:latin typeface="MS UI Gothic" panose="020B0600070205080204" pitchFamily="50" charset="-128"/>
                <a:ea typeface="MS UI Gothic" panose="020B0600070205080204" pitchFamily="50" charset="-128"/>
              </a:rPr>
              <a:t>Câu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lệnh</a:t>
            </a:r>
            <a:r>
              <a:rPr lang="en-US" altLang="ja-JP" dirty="0">
                <a:latin typeface="MS UI Gothic" panose="020B0600070205080204" pitchFamily="50" charset="-128"/>
                <a:ea typeface="MS UI Gothic" panose="020B0600070205080204" pitchFamily="50" charset="-128"/>
              </a:rPr>
              <a:t> </a:t>
            </a:r>
            <a:r>
              <a:rPr lang="en-US" altLang="ja-JP" dirty="0">
                <a:latin typeface="ＭＳ ゴシック" panose="020B0609070205080204" pitchFamily="49" charset="-128"/>
                <a:ea typeface="ＭＳ ゴシック" panose="020B0609070205080204" pitchFamily="49" charset="-128"/>
              </a:rPr>
              <a:t>if-else</a:t>
            </a:r>
            <a:r>
              <a:rPr lang="en-US" altLang="en-US" dirty="0">
                <a:latin typeface="ＭＳ ゴシック" panose="020B0609070205080204" pitchFamily="49" charset="-128"/>
                <a:ea typeface="ＭＳ ゴシック" panose="020B0609070205080204" pitchFamily="49" charset="-128"/>
              </a:rPr>
              <a:t> </a:t>
            </a:r>
            <a:r>
              <a:rPr lang="en-US" altLang="en-US" dirty="0" err="1">
                <a:latin typeface="ＭＳ ゴシック" panose="020B0609070205080204" pitchFamily="49" charset="-128"/>
                <a:ea typeface="ＭＳ ゴシック" panose="020B0609070205080204" pitchFamily="49" charset="-128"/>
              </a:rPr>
              <a:t>if</a:t>
            </a:r>
            <a:r>
              <a:rPr lang="en-US" altLang="ja-JP" dirty="0" err="1">
                <a:latin typeface="ＭＳ ゴシック" panose="020B0609070205080204" pitchFamily="49" charset="-128"/>
                <a:ea typeface="ＭＳ ゴシック" panose="020B0609070205080204" pitchFamily="49" charset="-128"/>
              </a:rPr>
              <a:t>-</a:t>
            </a:r>
            <a:r>
              <a:rPr lang="en-US" altLang="en-US" dirty="0" err="1">
                <a:latin typeface="ＭＳ ゴシック" panose="020B0609070205080204" pitchFamily="49" charset="-128"/>
                <a:ea typeface="ＭＳ ゴシック" panose="020B0609070205080204" pitchFamily="49" charset="-128"/>
              </a:rPr>
              <a:t>else</a:t>
            </a:r>
            <a:r>
              <a:rPr lang="ja-JP" altLang="en-US" dirty="0">
                <a:latin typeface="MS UI Gothic" panose="020B0600070205080204" pitchFamily="50" charset="-128"/>
                <a:ea typeface="MS UI Gothic" panose="020B0600070205080204" pitchFamily="50" charset="-128"/>
              </a:rPr>
              <a:t>（</a:t>
            </a:r>
            <a:r>
              <a:rPr lang="en-US" altLang="ja-JP" dirty="0">
                <a:latin typeface="MS UI Gothic" panose="020B0600070205080204" pitchFamily="50" charset="-128"/>
                <a:ea typeface="MS UI Gothic" panose="020B0600070205080204" pitchFamily="50" charset="-128"/>
              </a:rPr>
              <a:t>1</a:t>
            </a:r>
            <a:r>
              <a:rPr lang="ja-JP" altLang="en-US" dirty="0">
                <a:latin typeface="MS UI Gothic" panose="020B0600070205080204" pitchFamily="50" charset="-128"/>
                <a:ea typeface="MS UI Gothic" panose="020B0600070205080204" pitchFamily="50" charset="-128"/>
              </a:rPr>
              <a:t>）</a:t>
            </a:r>
          </a:p>
        </p:txBody>
      </p:sp>
      <p:sp>
        <p:nvSpPr>
          <p:cNvPr id="713731" name="Rectangle 3">
            <a:extLst>
              <a:ext uri="{FF2B5EF4-FFF2-40B4-BE49-F238E27FC236}">
                <a16:creationId xmlns:a16="http://schemas.microsoft.com/office/drawing/2014/main" id="{FB4AFAF9-60AA-9B1B-B883-730E0AD82624}"/>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13732" name="Rectangle 4">
            <a:extLst>
              <a:ext uri="{FF2B5EF4-FFF2-40B4-BE49-F238E27FC236}">
                <a16:creationId xmlns:a16="http://schemas.microsoft.com/office/drawing/2014/main" id="{466B858B-9C1C-6223-376F-1930F4A8B4E8}"/>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en-US" sz="2400" b="0">
                <a:latin typeface="ＭＳ ゴシック" panose="020B0609070205080204" pitchFamily="49" charset="-128"/>
                <a:ea typeface="ＭＳ ゴシック" panose="020B0609070205080204" pitchFamily="49" charset="-128"/>
              </a:rPr>
              <a:t>Câu lệnh if</a:t>
            </a:r>
            <a:r>
              <a:rPr lang="en-US" altLang="ja-JP" sz="2400" b="0">
                <a:latin typeface="ＭＳ ゴシック" panose="020B0609070205080204" pitchFamily="49" charset="-128"/>
                <a:ea typeface="ＭＳ ゴシック" panose="020B0609070205080204" pitchFamily="49" charset="-128"/>
              </a:rPr>
              <a:t>-</a:t>
            </a:r>
            <a:r>
              <a:rPr lang="en-US" altLang="en-US" sz="2400" b="0">
                <a:latin typeface="ＭＳ ゴシック" panose="020B0609070205080204" pitchFamily="49" charset="-128"/>
                <a:ea typeface="ＭＳ ゴシック" panose="020B0609070205080204" pitchFamily="49" charset="-128"/>
              </a:rPr>
              <a:t>else if</a:t>
            </a:r>
            <a:r>
              <a:rPr lang="en-US" altLang="ja-JP" sz="2400" b="0">
                <a:latin typeface="ＭＳ ゴシック" panose="020B0609070205080204" pitchFamily="49" charset="-128"/>
                <a:ea typeface="ＭＳ ゴシック" panose="020B0609070205080204" pitchFamily="49" charset="-128"/>
              </a:rPr>
              <a:t>-</a:t>
            </a:r>
            <a:r>
              <a:rPr lang="en-US" altLang="en-US" sz="2400" b="0">
                <a:latin typeface="ＭＳ ゴシック" panose="020B0609070205080204" pitchFamily="49" charset="-128"/>
                <a:ea typeface="ＭＳ ゴシック" panose="020B0609070205080204" pitchFamily="49" charset="-128"/>
              </a:rPr>
              <a:t>else</a:t>
            </a:r>
            <a:endParaRPr lang="en-US" altLang="ja-JP" sz="2400" b="0"/>
          </a:p>
          <a:p>
            <a:pPr>
              <a:spcBef>
                <a:spcPct val="50000"/>
              </a:spcBef>
              <a:buFont typeface="Wingdings" panose="05000000000000000000" pitchFamily="2" charset="2"/>
              <a:buNone/>
            </a:pPr>
            <a:r>
              <a:rPr lang="en-US" altLang="ja-JP" sz="2000" b="0"/>
              <a:t>●Cú pháp đơn giản</a:t>
            </a:r>
            <a:endParaRPr lang="en-US" altLang="ja-JP" sz="2400" b="0"/>
          </a:p>
          <a:p>
            <a:pPr lvl="1"/>
            <a:endParaRPr lang="en-US" altLang="ja-JP" sz="2400" b="0"/>
          </a:p>
        </p:txBody>
      </p:sp>
      <p:sp>
        <p:nvSpPr>
          <p:cNvPr id="713733" name="Text Box 5">
            <a:extLst>
              <a:ext uri="{FF2B5EF4-FFF2-40B4-BE49-F238E27FC236}">
                <a16:creationId xmlns:a16="http://schemas.microsoft.com/office/drawing/2014/main" id="{161808F0-2EEC-AECC-85C4-B685D144E361}"/>
              </a:ext>
            </a:extLst>
          </p:cNvPr>
          <p:cNvSpPr txBox="1">
            <a:spLocks noChangeArrowheads="1"/>
          </p:cNvSpPr>
          <p:nvPr/>
        </p:nvSpPr>
        <p:spPr bwMode="auto">
          <a:xfrm>
            <a:off x="344488" y="1751013"/>
            <a:ext cx="9120187" cy="40449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dirty="0">
                <a:latin typeface="+mj-lt"/>
                <a:ea typeface="ＭＳ ゴシック" panose="020B0609070205080204" pitchFamily="49" charset="-128"/>
              </a:rPr>
              <a:t>if (</a:t>
            </a:r>
            <a:r>
              <a:rPr lang="en-US" altLang="ja-JP" sz="2000" dirty="0" err="1">
                <a:latin typeface="+mj-lt"/>
                <a:ea typeface="ＭＳ ゴシック" panose="020B0609070205080204" pitchFamily="49" charset="-128"/>
              </a:rPr>
              <a:t>Biểu</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thức</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điều</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kiện</a:t>
            </a:r>
            <a:r>
              <a:rPr lang="en-US" altLang="ja-JP" sz="2000" dirty="0">
                <a:latin typeface="+mj-lt"/>
                <a:ea typeface="ＭＳ ゴシック" panose="020B0609070205080204" pitchFamily="49" charset="-128"/>
              </a:rPr>
              <a:t> </a:t>
            </a:r>
            <a:r>
              <a:rPr lang="en-US" altLang="ja-JP" sz="2000" dirty="0">
                <a:latin typeface="+mj-lt"/>
                <a:ea typeface="MS UI Gothic" panose="020B0600070205080204" pitchFamily="50" charset="-128"/>
              </a:rPr>
              <a:t>1</a:t>
            </a:r>
            <a:r>
              <a:rPr lang="en-US" altLang="ja-JP" sz="2000" dirty="0">
                <a:latin typeface="+mj-lt"/>
                <a:ea typeface="ＭＳ ゴシック" panose="020B0609070205080204" pitchFamily="49" charset="-128"/>
              </a:rPr>
              <a:t>) {</a:t>
            </a:r>
          </a:p>
          <a:p>
            <a:pPr lvl="1" algn="just">
              <a:lnSpc>
                <a:spcPct val="112000"/>
              </a:lnSpc>
            </a:pP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Xử</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lý</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trong</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trường</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hợp</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đã</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thỏa</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mãn</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biểu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thức</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điều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kiện</a:t>
            </a:r>
            <a:r>
              <a:rPr lang="en-US" altLang="ja-JP" sz="2000" dirty="0">
                <a:latin typeface="+mj-lt"/>
                <a:ea typeface="MS UI Gothic" panose="020B0600070205080204" pitchFamily="50" charset="-128"/>
              </a:rPr>
              <a:t> 1</a:t>
            </a:r>
          </a:p>
          <a:p>
            <a:pPr lvl="1" algn="just">
              <a:lnSpc>
                <a:spcPct val="112000"/>
              </a:lnSpc>
            </a:pPr>
            <a:r>
              <a:rPr lang="en-US" altLang="ja-JP" sz="2000" dirty="0">
                <a:latin typeface="+mj-lt"/>
                <a:ea typeface="ＭＳ ゴシック" panose="020B0609070205080204" pitchFamily="49" charset="-128"/>
              </a:rPr>
              <a:t>}</a:t>
            </a:r>
          </a:p>
          <a:p>
            <a:pPr lvl="1" algn="just">
              <a:lnSpc>
                <a:spcPct val="112000"/>
              </a:lnSpc>
            </a:pPr>
            <a:r>
              <a:rPr lang="en-US" altLang="ja-JP" sz="2000" dirty="0">
                <a:latin typeface="+mj-lt"/>
                <a:ea typeface="MS UI Gothic" panose="020B0600070205080204" pitchFamily="50" charset="-128"/>
              </a:rPr>
              <a:t> </a:t>
            </a:r>
            <a:r>
              <a:rPr lang="en-US" altLang="ja-JP" sz="2000" dirty="0">
                <a:latin typeface="+mj-lt"/>
                <a:ea typeface="ＭＳ ゴシック" panose="020B0609070205080204" pitchFamily="49" charset="-128"/>
              </a:rPr>
              <a:t>else if (</a:t>
            </a:r>
            <a:r>
              <a:rPr lang="en-US" altLang="ja-JP" sz="2000" dirty="0" err="1">
                <a:latin typeface="+mj-lt"/>
                <a:ea typeface="ＭＳ ゴシック" panose="020B0609070205080204" pitchFamily="49" charset="-128"/>
              </a:rPr>
              <a:t>Biểu</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thức</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điều</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kiện</a:t>
            </a:r>
            <a:r>
              <a:rPr lang="en-US" altLang="ja-JP" sz="2000" dirty="0">
                <a:latin typeface="+mj-lt"/>
                <a:ea typeface="ＭＳ ゴシック" panose="020B0609070205080204" pitchFamily="49" charset="-128"/>
              </a:rPr>
              <a:t> </a:t>
            </a:r>
            <a:r>
              <a:rPr lang="en-US" altLang="ja-JP" sz="2000" dirty="0">
                <a:latin typeface="+mj-lt"/>
                <a:ea typeface="MS UI Gothic" panose="020B0600070205080204" pitchFamily="50" charset="-128"/>
              </a:rPr>
              <a:t>2</a:t>
            </a:r>
            <a:r>
              <a:rPr lang="en-US" altLang="ja-JP" sz="2000" dirty="0">
                <a:latin typeface="+mj-lt"/>
                <a:ea typeface="ＭＳ ゴシック" panose="020B0609070205080204" pitchFamily="49" charset="-128"/>
              </a:rPr>
              <a:t>) {</a:t>
            </a:r>
          </a:p>
          <a:p>
            <a:pPr lvl="1" algn="just">
              <a:lnSpc>
                <a:spcPct val="112000"/>
              </a:lnSpc>
            </a:pP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Xử</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lý</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trong</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trường</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hợp</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thỏa</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mãn</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biểu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thức</a:t>
            </a:r>
            <a:endParaRPr lang="en-US" altLang="ja-JP" sz="2000" dirty="0">
              <a:latin typeface="+mj-lt"/>
              <a:ea typeface="MS UI Gothic" panose="020B0600070205080204" pitchFamily="50" charset="-128"/>
            </a:endParaRPr>
          </a:p>
          <a:p>
            <a:pPr lvl="1" algn="just">
              <a:lnSpc>
                <a:spcPct val="112000"/>
              </a:lnSpc>
            </a:pP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điều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kiện</a:t>
            </a:r>
            <a:r>
              <a:rPr lang="en-US" altLang="ja-JP" sz="2000" dirty="0">
                <a:latin typeface="+mj-lt"/>
                <a:ea typeface="MS UI Gothic" panose="020B0600070205080204" pitchFamily="50" charset="-128"/>
              </a:rPr>
              <a:t> 2</a:t>
            </a:r>
          </a:p>
          <a:p>
            <a:pPr lvl="1" algn="just">
              <a:lnSpc>
                <a:spcPct val="112000"/>
              </a:lnSpc>
            </a:pPr>
            <a:r>
              <a:rPr lang="en-US" altLang="ja-JP" sz="2000" dirty="0">
                <a:latin typeface="+mj-lt"/>
                <a:ea typeface="ＭＳ ゴシック" panose="020B0609070205080204" pitchFamily="49" charset="-128"/>
              </a:rPr>
              <a:t>}</a:t>
            </a:r>
          </a:p>
          <a:p>
            <a:pPr lvl="1" algn="just">
              <a:lnSpc>
                <a:spcPct val="112000"/>
              </a:lnSpc>
            </a:pPr>
            <a:r>
              <a:rPr lang="en-US" altLang="ja-JP" sz="2000" dirty="0">
                <a:latin typeface="+mj-lt"/>
                <a:ea typeface="ＭＳ ゴシック" panose="020B0609070205080204" pitchFamily="49" charset="-128"/>
              </a:rPr>
              <a:t> else { </a:t>
            </a:r>
          </a:p>
          <a:p>
            <a:pPr lvl="1" algn="just">
              <a:lnSpc>
                <a:spcPct val="112000"/>
              </a:lnSpc>
            </a:pP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Xử</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lý</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trường</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hợp</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không</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thỏa</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mãn</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cả</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hai</a:t>
            </a:r>
            <a:r>
              <a:rPr lang="en-US" altLang="ja-JP" sz="2000" dirty="0">
                <a:latin typeface="+mj-lt"/>
                <a:ea typeface="MS UI Gothic" panose="020B0600070205080204" pitchFamily="50" charset="-128"/>
              </a:rPr>
              <a:t> </a:t>
            </a:r>
          </a:p>
          <a:p>
            <a:pPr lvl="1" algn="just">
              <a:lnSpc>
                <a:spcPct val="112000"/>
              </a:lnSpc>
            </a:pPr>
            <a:r>
              <a:rPr lang="en-US" altLang="ja-JP" sz="2000" dirty="0" err="1">
                <a:latin typeface="+mj-lt"/>
                <a:ea typeface="MS UI Gothic" panose="020B0600070205080204" pitchFamily="50" charset="-128"/>
              </a:rPr>
              <a:t>biểu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thức</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điều</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kiện</a:t>
            </a:r>
            <a:r>
              <a:rPr lang="en-US" altLang="ja-JP" sz="2000" dirty="0">
                <a:latin typeface="+mj-lt"/>
                <a:ea typeface="MS UI Gothic" panose="020B0600070205080204" pitchFamily="50" charset="-128"/>
              </a:rPr>
              <a:t> 1, 2</a:t>
            </a:r>
          </a:p>
          <a:p>
            <a:pPr lvl="1" algn="just">
              <a:lnSpc>
                <a:spcPct val="112000"/>
              </a:lnSpc>
            </a:pPr>
            <a:r>
              <a:rPr lang="en-US" altLang="ja-JP" sz="2000" dirty="0">
                <a:latin typeface="+mj-lt"/>
                <a:ea typeface="ＭＳ ゴシック" panose="020B0609070205080204" pitchFamily="49" charset="-128"/>
              </a:rPr>
              <a:t>}</a:t>
            </a:r>
          </a:p>
        </p:txBody>
      </p:sp>
      <p:sp>
        <p:nvSpPr>
          <p:cNvPr id="713748" name="Rectangle 20">
            <a:extLst>
              <a:ext uri="{FF2B5EF4-FFF2-40B4-BE49-F238E27FC236}">
                <a16:creationId xmlns:a16="http://schemas.microsoft.com/office/drawing/2014/main" id="{7894DE07-332A-AE21-1721-1B314F01A726}"/>
              </a:ext>
            </a:extLst>
          </p:cNvPr>
          <p:cNvSpPr>
            <a:spLocks noChangeArrowheads="1"/>
          </p:cNvSpPr>
          <p:nvPr/>
        </p:nvSpPr>
        <p:spPr bwMode="auto">
          <a:xfrm>
            <a:off x="436563" y="2833688"/>
            <a:ext cx="5810250" cy="106680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13749" name="Rectangle 21">
            <a:extLst>
              <a:ext uri="{FF2B5EF4-FFF2-40B4-BE49-F238E27FC236}">
                <a16:creationId xmlns:a16="http://schemas.microsoft.com/office/drawing/2014/main" id="{2C0A9357-0410-6ACC-1DB2-95D42EBBADF8}"/>
              </a:ext>
            </a:extLst>
          </p:cNvPr>
          <p:cNvSpPr>
            <a:spLocks noChangeArrowheads="1"/>
          </p:cNvSpPr>
          <p:nvPr/>
        </p:nvSpPr>
        <p:spPr bwMode="auto">
          <a:xfrm>
            <a:off x="457200" y="4127500"/>
            <a:ext cx="5500688" cy="1143000"/>
          </a:xfrm>
          <a:prstGeom prst="rect">
            <a:avLst/>
          </a:prstGeom>
          <a:noFill/>
          <a:ln w="2540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13750" name="AutoShape 22">
            <a:extLst>
              <a:ext uri="{FF2B5EF4-FFF2-40B4-BE49-F238E27FC236}">
                <a16:creationId xmlns:a16="http://schemas.microsoft.com/office/drawing/2014/main" id="{8E432728-2E5D-39C7-3BF9-4A99DD760E2A}"/>
              </a:ext>
            </a:extLst>
          </p:cNvPr>
          <p:cNvSpPr>
            <a:spLocks noChangeArrowheads="1"/>
          </p:cNvSpPr>
          <p:nvPr/>
        </p:nvSpPr>
        <p:spPr bwMode="auto">
          <a:xfrm>
            <a:off x="6230450" y="2587626"/>
            <a:ext cx="3217862" cy="969963"/>
          </a:xfrm>
          <a:prstGeom prst="wedgeRoundRectCallout">
            <a:avLst>
              <a:gd name="adj1" fmla="val -70426"/>
              <a:gd name="adj2" fmla="val -3847"/>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400" dirty="0">
                <a:latin typeface="+mj-lt"/>
                <a:ea typeface="ＭＳ ゴシック" panose="020B0609070205080204" pitchFamily="49" charset="-128"/>
              </a:rPr>
              <a:t>Block else if </a:t>
            </a:r>
            <a:r>
              <a:rPr lang="en-US" altLang="ja-JP" sz="1400" dirty="0" err="1">
                <a:latin typeface="+mj-lt"/>
                <a:ea typeface="ＭＳ ゴシック" panose="020B0609070205080204" pitchFamily="49" charset="-128"/>
              </a:rPr>
              <a:t>sử</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dụng</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trong</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trường</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hợp</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muốn</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chỉ</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định</a:t>
            </a:r>
            <a:r>
              <a:rPr lang="en-US" altLang="ja-JP" sz="1400" dirty="0">
                <a:latin typeface="+mj-lt"/>
                <a:ea typeface="ＭＳ ゴシック" panose="020B0609070205080204" pitchFamily="49" charset="-128"/>
              </a:rPr>
              <a:t> &gt;= 3 </a:t>
            </a:r>
            <a:r>
              <a:rPr lang="en-US" altLang="ja-JP" sz="1400" dirty="0" err="1">
                <a:latin typeface="+mj-lt"/>
                <a:ea typeface="ＭＳ ゴシック" panose="020B0609070205080204" pitchFamily="49" charset="-128"/>
              </a:rPr>
              <a:t>vị</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trí</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phân</a:t>
            </a:r>
            <a:r>
              <a:rPr lang="en-US" altLang="ja-JP" sz="1400" dirty="0">
                <a:latin typeface="+mj-lt"/>
                <a:ea typeface="ＭＳ ゴシック" panose="020B0609070205080204" pitchFamily="49" charset="-128"/>
              </a:rPr>
              <a:t> </a:t>
            </a:r>
            <a:r>
              <a:rPr lang="en-US" altLang="ja-JP" sz="1400" dirty="0" err="1">
                <a:latin typeface="+mj-lt"/>
                <a:ea typeface="ＭＳ ゴシック" panose="020B0609070205080204" pitchFamily="49" charset="-128"/>
              </a:rPr>
              <a:t>nhánh</a:t>
            </a:r>
            <a:r>
              <a:rPr lang="ja-JP" altLang="en-US" sz="1400" dirty="0">
                <a:latin typeface="+mj-lt"/>
              </a:rPr>
              <a:t>（</a:t>
            </a:r>
            <a:r>
              <a:rPr lang="en-US" altLang="ja-JP" sz="1400" dirty="0" err="1">
                <a:latin typeface="+mj-lt"/>
              </a:rPr>
              <a:t>Có</a:t>
            </a:r>
            <a:r>
              <a:rPr lang="en-US" altLang="ja-JP" sz="1400" dirty="0">
                <a:latin typeface="+mj-lt"/>
              </a:rPr>
              <a:t> </a:t>
            </a:r>
            <a:r>
              <a:rPr lang="en-US" altLang="ja-JP" sz="1400" dirty="0" err="1">
                <a:latin typeface="+mj-lt"/>
              </a:rPr>
              <a:t>thể</a:t>
            </a:r>
            <a:r>
              <a:rPr lang="en-US" altLang="ja-JP" sz="1400" dirty="0">
                <a:latin typeface="+mj-lt"/>
              </a:rPr>
              <a:t> </a:t>
            </a:r>
            <a:r>
              <a:rPr lang="en-US" altLang="ja-JP" sz="1400" dirty="0" err="1">
                <a:latin typeface="+mj-lt"/>
              </a:rPr>
              <a:t>mô</a:t>
            </a:r>
            <a:r>
              <a:rPr lang="en-US" altLang="ja-JP" sz="1400" dirty="0">
                <a:latin typeface="+mj-lt"/>
              </a:rPr>
              <a:t> </a:t>
            </a:r>
            <a:r>
              <a:rPr lang="en-US" altLang="ja-JP" sz="1400" dirty="0" err="1">
                <a:latin typeface="+mj-lt"/>
              </a:rPr>
              <a:t>tả</a:t>
            </a:r>
            <a:r>
              <a:rPr lang="en-US" altLang="ja-JP" sz="1400" dirty="0">
                <a:latin typeface="+mj-lt"/>
              </a:rPr>
              <a:t> </a:t>
            </a:r>
            <a:r>
              <a:rPr lang="en-US" altLang="ja-JP" sz="1400" dirty="0" err="1">
                <a:latin typeface="+mj-lt"/>
              </a:rPr>
              <a:t>nhiều</a:t>
            </a:r>
            <a:r>
              <a:rPr lang="ja-JP" altLang="en-US" sz="1400" dirty="0">
                <a:latin typeface="+mj-lt"/>
              </a:rPr>
              <a:t>）</a:t>
            </a:r>
          </a:p>
        </p:txBody>
      </p:sp>
      <p:sp>
        <p:nvSpPr>
          <p:cNvPr id="713752" name="AutoShape 24">
            <a:extLst>
              <a:ext uri="{FF2B5EF4-FFF2-40B4-BE49-F238E27FC236}">
                <a16:creationId xmlns:a16="http://schemas.microsoft.com/office/drawing/2014/main" id="{DC96EB98-EDB6-D2D1-7FA5-22C6449E7F02}"/>
              </a:ext>
            </a:extLst>
          </p:cNvPr>
          <p:cNvSpPr>
            <a:spLocks noChangeArrowheads="1"/>
          </p:cNvSpPr>
          <p:nvPr/>
        </p:nvSpPr>
        <p:spPr bwMode="auto">
          <a:xfrm>
            <a:off x="6284928" y="4127500"/>
            <a:ext cx="3322637" cy="965200"/>
          </a:xfrm>
          <a:prstGeom prst="wedgeRoundRectCallout">
            <a:avLst>
              <a:gd name="adj1" fmla="val -65574"/>
              <a:gd name="adj2" fmla="val -13815"/>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400" dirty="0" err="1">
                <a:latin typeface="+mj-lt"/>
              </a:rPr>
              <a:t>Nếu</a:t>
            </a:r>
            <a:r>
              <a:rPr lang="en-US" altLang="ja-JP" sz="1400" dirty="0">
                <a:latin typeface="+mj-lt"/>
              </a:rPr>
              <a:t> </a:t>
            </a:r>
            <a:r>
              <a:rPr lang="en-US" altLang="ja-JP" sz="1400" dirty="0" err="1">
                <a:latin typeface="+mj-lt"/>
              </a:rPr>
              <a:t>không</a:t>
            </a:r>
            <a:r>
              <a:rPr lang="en-US" altLang="ja-JP" sz="1400" dirty="0">
                <a:latin typeface="+mj-lt"/>
              </a:rPr>
              <a:t> </a:t>
            </a:r>
            <a:r>
              <a:rPr lang="en-US" altLang="ja-JP" sz="1400" dirty="0" err="1">
                <a:latin typeface="+mj-lt"/>
              </a:rPr>
              <a:t>cần</a:t>
            </a:r>
            <a:r>
              <a:rPr lang="en-US" altLang="ja-JP" sz="1400" dirty="0">
                <a:latin typeface="+mj-lt"/>
              </a:rPr>
              <a:t> </a:t>
            </a:r>
            <a:r>
              <a:rPr lang="en-US" altLang="ja-JP" sz="1400" dirty="0" err="1">
                <a:latin typeface="+mj-lt"/>
              </a:rPr>
              <a:t>xử</a:t>
            </a:r>
            <a:r>
              <a:rPr lang="en-US" altLang="ja-JP" sz="1400" dirty="0">
                <a:latin typeface="+mj-lt"/>
              </a:rPr>
              <a:t> </a:t>
            </a:r>
            <a:r>
              <a:rPr lang="en-US" altLang="ja-JP" sz="1400" dirty="0" err="1">
                <a:latin typeface="+mj-lt"/>
              </a:rPr>
              <a:t>lý</a:t>
            </a:r>
            <a:r>
              <a:rPr lang="en-US" altLang="ja-JP" sz="1400" dirty="0">
                <a:latin typeface="+mj-lt"/>
              </a:rPr>
              <a:t> </a:t>
            </a:r>
            <a:r>
              <a:rPr lang="en-US" altLang="ja-JP" sz="1400" dirty="0" err="1">
                <a:latin typeface="+mj-lt"/>
              </a:rPr>
              <a:t>trường</a:t>
            </a:r>
            <a:r>
              <a:rPr lang="en-US" altLang="ja-JP" sz="1400" dirty="0">
                <a:latin typeface="+mj-lt"/>
              </a:rPr>
              <a:t> </a:t>
            </a:r>
            <a:r>
              <a:rPr lang="en-US" altLang="ja-JP" sz="1400" dirty="0" err="1">
                <a:latin typeface="+mj-lt"/>
              </a:rPr>
              <a:t>hợp</a:t>
            </a:r>
            <a:r>
              <a:rPr lang="en-US" altLang="ja-JP" sz="1400" dirty="0">
                <a:latin typeface="+mj-lt"/>
              </a:rPr>
              <a:t> </a:t>
            </a:r>
            <a:r>
              <a:rPr lang="en-US" altLang="ja-JP" sz="1400" dirty="0" err="1">
                <a:latin typeface="+mj-lt"/>
              </a:rPr>
              <a:t>không</a:t>
            </a:r>
            <a:r>
              <a:rPr lang="en-US" altLang="ja-JP" sz="1400" dirty="0">
                <a:latin typeface="+mj-lt"/>
              </a:rPr>
              <a:t> </a:t>
            </a:r>
            <a:r>
              <a:rPr lang="en-US" altLang="ja-JP" sz="1400" dirty="0" err="1">
                <a:latin typeface="+mj-lt"/>
              </a:rPr>
              <a:t>thỏa</a:t>
            </a:r>
            <a:r>
              <a:rPr lang="en-US" altLang="ja-JP" sz="1400" dirty="0">
                <a:latin typeface="+mj-lt"/>
              </a:rPr>
              <a:t> </a:t>
            </a:r>
            <a:r>
              <a:rPr lang="en-US" altLang="ja-JP" sz="1400" dirty="0" err="1">
                <a:latin typeface="+mj-lt"/>
              </a:rPr>
              <a:t>mãn</a:t>
            </a:r>
            <a:r>
              <a:rPr lang="en-US" altLang="ja-JP" sz="1400" dirty="0">
                <a:latin typeface="+mj-lt"/>
              </a:rPr>
              <a:t> </a:t>
            </a:r>
            <a:r>
              <a:rPr lang="en-US" altLang="ja-JP" sz="1400" dirty="0" err="1">
                <a:latin typeface="+mj-lt"/>
              </a:rPr>
              <a:t>tất</a:t>
            </a:r>
            <a:r>
              <a:rPr lang="en-US" altLang="ja-JP" sz="1400" dirty="0">
                <a:latin typeface="+mj-lt"/>
              </a:rPr>
              <a:t> </a:t>
            </a:r>
            <a:r>
              <a:rPr lang="en-US" altLang="ja-JP" sz="1400" dirty="0" err="1">
                <a:latin typeface="+mj-lt"/>
              </a:rPr>
              <a:t>cả</a:t>
            </a:r>
            <a:r>
              <a:rPr lang="en-US" altLang="ja-JP" sz="1400" dirty="0">
                <a:latin typeface="+mj-lt"/>
              </a:rPr>
              <a:t> </a:t>
            </a:r>
            <a:r>
              <a:rPr lang="en-US" altLang="ja-JP" sz="1400" dirty="0" err="1">
                <a:latin typeface="+mj-lt"/>
              </a:rPr>
              <a:t>biểu</a:t>
            </a:r>
            <a:r>
              <a:rPr lang="en-US" altLang="ja-JP" sz="1400" dirty="0">
                <a:latin typeface="+mj-lt"/>
              </a:rPr>
              <a:t> </a:t>
            </a:r>
            <a:r>
              <a:rPr lang="en-US" altLang="ja-JP" sz="1400" dirty="0" err="1">
                <a:latin typeface="+mj-lt"/>
              </a:rPr>
              <a:t>thức</a:t>
            </a:r>
            <a:r>
              <a:rPr lang="en-US" altLang="ja-JP" sz="1400" dirty="0">
                <a:latin typeface="+mj-lt"/>
              </a:rPr>
              <a:t> </a:t>
            </a:r>
            <a:r>
              <a:rPr lang="en-US" altLang="ja-JP" sz="1400" dirty="0" err="1">
                <a:latin typeface="+mj-lt"/>
              </a:rPr>
              <a:t>điều</a:t>
            </a:r>
            <a:r>
              <a:rPr lang="en-US" altLang="ja-JP" sz="1400" dirty="0">
                <a:latin typeface="+mj-lt"/>
              </a:rPr>
              <a:t> </a:t>
            </a:r>
            <a:r>
              <a:rPr lang="en-US" altLang="ja-JP" sz="1400" dirty="0" err="1">
                <a:latin typeface="+mj-lt"/>
              </a:rPr>
              <a:t>kiện</a:t>
            </a:r>
            <a:r>
              <a:rPr lang="en-US" altLang="ja-JP" sz="1400" dirty="0">
                <a:latin typeface="+mj-lt"/>
              </a:rPr>
              <a:t> </a:t>
            </a:r>
            <a:r>
              <a:rPr lang="en-US" altLang="ja-JP" sz="1400" dirty="0" err="1">
                <a:latin typeface="+mj-lt"/>
              </a:rPr>
              <a:t>thì</a:t>
            </a:r>
            <a:r>
              <a:rPr lang="en-US" altLang="ja-JP" sz="1400" dirty="0">
                <a:latin typeface="+mj-lt"/>
              </a:rPr>
              <a:t> </a:t>
            </a:r>
            <a:r>
              <a:rPr lang="en-US" altLang="ja-JP" sz="1400" dirty="0" err="1">
                <a:latin typeface="+mj-lt"/>
              </a:rPr>
              <a:t>có</a:t>
            </a:r>
            <a:r>
              <a:rPr lang="en-US" altLang="ja-JP" sz="1400" dirty="0">
                <a:latin typeface="+mj-lt"/>
              </a:rPr>
              <a:t> </a:t>
            </a:r>
            <a:r>
              <a:rPr lang="en-US" altLang="ja-JP" sz="1400" dirty="0" err="1">
                <a:latin typeface="+mj-lt"/>
              </a:rPr>
              <a:t>thể</a:t>
            </a:r>
            <a:r>
              <a:rPr lang="en-US" altLang="ja-JP" sz="1400" dirty="0">
                <a:latin typeface="+mj-lt"/>
              </a:rPr>
              <a:t> </a:t>
            </a:r>
            <a:r>
              <a:rPr lang="en-US" altLang="ja-JP" sz="1400" dirty="0" err="1">
                <a:latin typeface="+mj-lt"/>
              </a:rPr>
              <a:t>lược</a:t>
            </a:r>
            <a:r>
              <a:rPr lang="en-US" altLang="ja-JP" sz="1400" dirty="0">
                <a:latin typeface="+mj-lt"/>
              </a:rPr>
              <a:t> </a:t>
            </a:r>
            <a:r>
              <a:rPr lang="en-US" altLang="ja-JP" sz="1400" dirty="0" err="1">
                <a:latin typeface="+mj-lt"/>
              </a:rPr>
              <a:t>bỏ</a:t>
            </a:r>
            <a:r>
              <a:rPr lang="en-US" altLang="ja-JP" sz="1400" dirty="0">
                <a:latin typeface="+mj-lt"/>
              </a:rPr>
              <a:t> block else.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1618" name="Rectangle 2">
            <a:extLst>
              <a:ext uri="{FF2B5EF4-FFF2-40B4-BE49-F238E27FC236}">
                <a16:creationId xmlns:a16="http://schemas.microsoft.com/office/drawing/2014/main" id="{8B1535CE-902E-D5DB-42E5-740A45153BF5}"/>
              </a:ext>
            </a:extLst>
          </p:cNvPr>
          <p:cNvSpPr>
            <a:spLocks noGrp="1" noChangeArrowheads="1"/>
          </p:cNvSpPr>
          <p:nvPr>
            <p:ph type="title"/>
          </p:nvPr>
        </p:nvSpPr>
        <p:spPr>
          <a:xfrm>
            <a:off x="284618" y="334963"/>
            <a:ext cx="9217025" cy="490537"/>
          </a:xfrm>
        </p:spPr>
        <p:txBody>
          <a:bodyPr>
            <a:normAutofit fontScale="90000"/>
          </a:bodyPr>
          <a:lstStyle/>
          <a:p>
            <a:r>
              <a:rPr lang="en-US" altLang="en-US" dirty="0" err="1">
                <a:latin typeface="Arial" panose="020B0604020202020204" pitchFamily="34" charset="0"/>
              </a:rPr>
              <a:t>Câu</a:t>
            </a:r>
            <a:r>
              <a:rPr lang="en-US" altLang="en-US" dirty="0">
                <a:latin typeface="Arial" panose="020B0604020202020204" pitchFamily="34" charset="0"/>
              </a:rPr>
              <a:t> </a:t>
            </a:r>
            <a:r>
              <a:rPr lang="en-US" altLang="en-US" dirty="0" err="1">
                <a:latin typeface="Arial" panose="020B0604020202020204" pitchFamily="34" charset="0"/>
              </a:rPr>
              <a:t>lệnh</a:t>
            </a:r>
            <a:r>
              <a:rPr lang="en-US" altLang="en-US" dirty="0">
                <a:latin typeface="Arial" panose="020B0604020202020204" pitchFamily="34" charset="0"/>
              </a:rPr>
              <a:t> </a:t>
            </a:r>
            <a:r>
              <a:rPr lang="en-US" altLang="ja-JP" dirty="0">
                <a:latin typeface="Arial" panose="020B0604020202020204" pitchFamily="34" charset="0"/>
                <a:ea typeface="ＭＳ ゴシック" panose="020B0609070205080204" pitchFamily="49" charset="-128"/>
              </a:rPr>
              <a:t>if-else</a:t>
            </a:r>
            <a:r>
              <a:rPr lang="en-US" altLang="en-US" dirty="0">
                <a:latin typeface="Arial" panose="020B0604020202020204" pitchFamily="34" charset="0"/>
                <a:ea typeface="ＭＳ ゴシック" panose="020B0609070205080204" pitchFamily="49" charset="-128"/>
              </a:rPr>
              <a:t> if</a:t>
            </a:r>
            <a:r>
              <a:rPr lang="en-US" altLang="ja-JP" dirty="0">
                <a:latin typeface="Arial" panose="020B0604020202020204" pitchFamily="34" charset="0"/>
                <a:ea typeface="ＭＳ ゴシック" panose="020B0609070205080204" pitchFamily="49" charset="-128"/>
              </a:rPr>
              <a:t>-</a:t>
            </a:r>
            <a:r>
              <a:rPr lang="en-US" altLang="en-US" dirty="0">
                <a:latin typeface="Arial" panose="020B0604020202020204" pitchFamily="34" charset="0"/>
                <a:ea typeface="ＭＳ ゴシック" panose="020B0609070205080204" pitchFamily="49" charset="-128"/>
              </a:rPr>
              <a:t>else</a:t>
            </a:r>
            <a:r>
              <a:rPr lang="en-US" altLang="en-US" dirty="0">
                <a:latin typeface="Arial" panose="020B0604020202020204" pitchFamily="34" charset="0"/>
              </a:rPr>
              <a:t>（</a:t>
            </a:r>
            <a:r>
              <a:rPr lang="en-US" altLang="ja-JP" dirty="0">
                <a:latin typeface="Arial" panose="020B0604020202020204" pitchFamily="34" charset="0"/>
              </a:rPr>
              <a:t>2</a:t>
            </a:r>
            <a:r>
              <a:rPr lang="en-US" altLang="en-US" dirty="0">
                <a:latin typeface="Arial" panose="020B0604020202020204" pitchFamily="34" charset="0"/>
              </a:rPr>
              <a:t>）</a:t>
            </a:r>
            <a:endParaRPr lang="ja-JP" altLang="en-US" dirty="0">
              <a:latin typeface="Arial" panose="020B0604020202020204" pitchFamily="34" charset="0"/>
            </a:endParaRPr>
          </a:p>
        </p:txBody>
      </p:sp>
      <p:sp>
        <p:nvSpPr>
          <p:cNvPr id="751619" name="Rectangle 3">
            <a:extLst>
              <a:ext uri="{FF2B5EF4-FFF2-40B4-BE49-F238E27FC236}">
                <a16:creationId xmlns:a16="http://schemas.microsoft.com/office/drawing/2014/main" id="{5370CBF4-17E5-BA97-854C-FEA765B06BD1}"/>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51620" name="Rectangle 4">
            <a:extLst>
              <a:ext uri="{FF2B5EF4-FFF2-40B4-BE49-F238E27FC236}">
                <a16:creationId xmlns:a16="http://schemas.microsoft.com/office/drawing/2014/main" id="{C76CF10D-AFBE-2DB4-75C5-006E37CBEB6D}"/>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en-US" sz="2400" b="0">
                <a:latin typeface="Arial" panose="020B0604020202020204" pitchFamily="34" charset="0"/>
                <a:ea typeface="ＭＳ ゴシック" panose="020B0609070205080204" pitchFamily="49" charset="-128"/>
              </a:rPr>
              <a:t>Câu lệnh if-else if-else</a:t>
            </a:r>
            <a:endParaRPr lang="en-US" altLang="ja-JP" sz="2400" b="0">
              <a:latin typeface="Arial" panose="020B0604020202020204" pitchFamily="34" charset="0"/>
            </a:endParaRPr>
          </a:p>
          <a:p>
            <a:pPr>
              <a:spcBef>
                <a:spcPct val="50000"/>
              </a:spcBef>
              <a:buFont typeface="Wingdings" panose="05000000000000000000" pitchFamily="2" charset="2"/>
              <a:buNone/>
            </a:pPr>
            <a:r>
              <a:rPr lang="en-US" altLang="ja-JP" sz="2000" b="0">
                <a:latin typeface="Arial" panose="020B0604020202020204" pitchFamily="34" charset="0"/>
              </a:rPr>
              <a:t>●Ví dụ: Nếu x &lt; 0 thì sẽ hiển thị </a:t>
            </a:r>
            <a:r>
              <a:rPr lang="ja-JP" altLang="en-US" sz="2000" b="0">
                <a:latin typeface="Arial" panose="020B0604020202020204" pitchFamily="34" charset="0"/>
              </a:rPr>
              <a:t>「</a:t>
            </a:r>
            <a:r>
              <a:rPr lang="en-US" altLang="ja-JP" sz="2000" b="0">
                <a:latin typeface="Arial" panose="020B0604020202020204" pitchFamily="34" charset="0"/>
              </a:rPr>
              <a:t>số âm</a:t>
            </a:r>
            <a:r>
              <a:rPr lang="ja-JP" altLang="en-US" sz="2000" b="0">
                <a:latin typeface="Arial" panose="020B0604020202020204" pitchFamily="34" charset="0"/>
              </a:rPr>
              <a:t>」</a:t>
            </a:r>
            <a:r>
              <a:rPr lang="en-US" altLang="ja-JP" sz="2000" b="0">
                <a:latin typeface="Arial" panose="020B0604020202020204" pitchFamily="34" charset="0"/>
              </a:rPr>
              <a:t>, nếu là 0 thì sẽ hiển thị là </a:t>
            </a:r>
            <a:r>
              <a:rPr lang="ja-JP" altLang="en-US" sz="2000" b="0">
                <a:latin typeface="Arial" panose="020B0604020202020204" pitchFamily="34" charset="0"/>
              </a:rPr>
              <a:t>「</a:t>
            </a:r>
            <a:r>
              <a:rPr lang="en-US" altLang="ja-JP" sz="2000" b="0">
                <a:latin typeface="Arial" panose="020B0604020202020204" pitchFamily="34" charset="0"/>
              </a:rPr>
              <a:t>0</a:t>
            </a:r>
            <a:r>
              <a:rPr lang="ja-JP" altLang="en-US" sz="2000" b="0">
                <a:latin typeface="Arial" panose="020B0604020202020204" pitchFamily="34" charset="0"/>
              </a:rPr>
              <a:t>」</a:t>
            </a:r>
            <a:r>
              <a:rPr lang="en-US" altLang="ja-JP" sz="2000" b="0">
                <a:latin typeface="Arial" panose="020B0604020202020204" pitchFamily="34" charset="0"/>
              </a:rPr>
              <a:t>, ngoài ra sẽ hiển thị là </a:t>
            </a:r>
            <a:r>
              <a:rPr lang="ja-JP" altLang="en-US" sz="2000" b="0">
                <a:latin typeface="Arial" panose="020B0604020202020204" pitchFamily="34" charset="0"/>
              </a:rPr>
              <a:t>「</a:t>
            </a:r>
            <a:r>
              <a:rPr lang="en-US" altLang="ja-JP" sz="2000" b="0">
                <a:latin typeface="Arial" panose="020B0604020202020204" pitchFamily="34" charset="0"/>
              </a:rPr>
              <a:t>số dương</a:t>
            </a:r>
            <a:r>
              <a:rPr lang="ja-JP" altLang="en-US" sz="2000" b="0">
                <a:latin typeface="Arial" panose="020B0604020202020204" pitchFamily="34" charset="0"/>
              </a:rPr>
              <a:t>」</a:t>
            </a:r>
          </a:p>
          <a:p>
            <a:pPr>
              <a:spcBef>
                <a:spcPct val="50000"/>
              </a:spcBef>
              <a:buFont typeface="Wingdings" panose="05000000000000000000" pitchFamily="2" charset="2"/>
              <a:buNone/>
            </a:pPr>
            <a:endParaRPr lang="en-US" altLang="ja-JP" sz="2400" b="0">
              <a:latin typeface="Arial" panose="020B0604020202020204" pitchFamily="34" charset="0"/>
            </a:endParaRPr>
          </a:p>
        </p:txBody>
      </p:sp>
      <p:sp>
        <p:nvSpPr>
          <p:cNvPr id="751625" name="Rectangle 9">
            <a:extLst>
              <a:ext uri="{FF2B5EF4-FFF2-40B4-BE49-F238E27FC236}">
                <a16:creationId xmlns:a16="http://schemas.microsoft.com/office/drawing/2014/main" id="{37F2AABA-C1A1-E0A4-DEB3-CEEEAC1E09DE}"/>
              </a:ext>
            </a:extLst>
          </p:cNvPr>
          <p:cNvSpPr>
            <a:spLocks noChangeArrowheads="1"/>
          </p:cNvSpPr>
          <p:nvPr/>
        </p:nvSpPr>
        <p:spPr bwMode="auto">
          <a:xfrm>
            <a:off x="344488" y="1990725"/>
            <a:ext cx="9120187" cy="42259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endParaRPr lang="en-US" altLang="ja-JP"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int x = 5;</a:t>
            </a:r>
          </a:p>
          <a:p>
            <a:pPr lvl="1"/>
            <a:endParaRPr lang="en-US" altLang="ja-JP"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if ( x &lt; 0 ) {</a:t>
            </a:r>
          </a:p>
          <a:p>
            <a:pPr lvl="1"/>
            <a:r>
              <a:rPr lang="en-US" altLang="ja-JP" sz="1800" b="0">
                <a:latin typeface="Arial" panose="020B0604020202020204" pitchFamily="34" charset="0"/>
                <a:ea typeface="ＭＳ ゴシック" panose="020B0609070205080204" pitchFamily="49" charset="-128"/>
              </a:rPr>
              <a:t>    System.out.println(“Số âm");</a:t>
            </a:r>
          </a:p>
          <a:p>
            <a:pPr lvl="1"/>
            <a:endParaRPr lang="en-US" altLang="ja-JP"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 else if ( x == 0 ) {</a:t>
            </a:r>
          </a:p>
          <a:p>
            <a:pPr lvl="1"/>
            <a:r>
              <a:rPr lang="en-US" altLang="ja-JP" sz="1800" b="0">
                <a:latin typeface="Arial" panose="020B0604020202020204" pitchFamily="34" charset="0"/>
                <a:ea typeface="ＭＳ ゴシック" panose="020B0609070205080204" pitchFamily="49" charset="-128"/>
              </a:rPr>
              <a:t>    System.out.println("0");</a:t>
            </a:r>
          </a:p>
          <a:p>
            <a:pPr lvl="1"/>
            <a:endParaRPr lang="en-US" altLang="ja-JP"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  else {</a:t>
            </a:r>
          </a:p>
          <a:p>
            <a:pPr lvl="1"/>
            <a:r>
              <a:rPr lang="en-US" altLang="ja-JP" sz="1800" b="0">
                <a:latin typeface="Arial" panose="020B0604020202020204" pitchFamily="34" charset="0"/>
                <a:ea typeface="ＭＳ ゴシック" panose="020B0609070205080204" pitchFamily="49" charset="-128"/>
              </a:rPr>
              <a:t>    System.out.println(“Số dương");  // Hiển thị số này</a:t>
            </a:r>
          </a:p>
          <a:p>
            <a:pPr lvl="1"/>
            <a:endParaRPr lang="en-US" altLang="ja-JP"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a:t>
            </a:r>
          </a:p>
        </p:txBody>
      </p:sp>
      <p:sp>
        <p:nvSpPr>
          <p:cNvPr id="751626" name="Rectangle 10">
            <a:extLst>
              <a:ext uri="{FF2B5EF4-FFF2-40B4-BE49-F238E27FC236}">
                <a16:creationId xmlns:a16="http://schemas.microsoft.com/office/drawing/2014/main" id="{6631E22B-7D54-F899-AB01-B030774DE37C}"/>
              </a:ext>
            </a:extLst>
          </p:cNvPr>
          <p:cNvSpPr>
            <a:spLocks noChangeArrowheads="1"/>
          </p:cNvSpPr>
          <p:nvPr/>
        </p:nvSpPr>
        <p:spPr bwMode="auto">
          <a:xfrm>
            <a:off x="838200" y="2982913"/>
            <a:ext cx="730250" cy="293687"/>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1627" name="Text Box 11">
            <a:extLst>
              <a:ext uri="{FF2B5EF4-FFF2-40B4-BE49-F238E27FC236}">
                <a16:creationId xmlns:a16="http://schemas.microsoft.com/office/drawing/2014/main" id="{87667991-20F0-D282-B9DA-8773CCD5D462}"/>
              </a:ext>
            </a:extLst>
          </p:cNvPr>
          <p:cNvSpPr txBox="1">
            <a:spLocks noChangeArrowheads="1"/>
          </p:cNvSpPr>
          <p:nvPr/>
        </p:nvSpPr>
        <p:spPr bwMode="auto">
          <a:xfrm>
            <a:off x="4246562" y="2573338"/>
            <a:ext cx="2611438" cy="369332"/>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spcBef>
                <a:spcPct val="50000"/>
              </a:spcBef>
            </a:pPr>
            <a:r>
              <a:rPr lang="en-US" altLang="ja-JP" sz="1800" b="0" dirty="0">
                <a:latin typeface="+mj-lt"/>
              </a:rPr>
              <a:t>Trong </a:t>
            </a:r>
            <a:r>
              <a:rPr lang="en-US" altLang="ja-JP" sz="1800" b="0" dirty="0" err="1">
                <a:latin typeface="+mj-lt"/>
              </a:rPr>
              <a:t>ví</a:t>
            </a:r>
            <a:r>
              <a:rPr lang="en-US" altLang="ja-JP" sz="1800" b="0" dirty="0">
                <a:latin typeface="+mj-lt"/>
              </a:rPr>
              <a:t> </a:t>
            </a:r>
            <a:r>
              <a:rPr lang="en-US" altLang="ja-JP" sz="1800" b="0" dirty="0" err="1">
                <a:latin typeface="+mj-lt"/>
              </a:rPr>
              <a:t>dụ</a:t>
            </a:r>
            <a:r>
              <a:rPr lang="en-US" altLang="ja-JP" sz="1800" b="0" dirty="0">
                <a:latin typeface="+mj-lt"/>
              </a:rPr>
              <a:t> </a:t>
            </a:r>
            <a:r>
              <a:rPr lang="en-US" altLang="ja-JP" sz="1800" b="0" dirty="0" err="1">
                <a:latin typeface="+mj-lt"/>
              </a:rPr>
              <a:t>này</a:t>
            </a:r>
            <a:r>
              <a:rPr lang="en-US" altLang="ja-JP" sz="1800" b="0" dirty="0">
                <a:latin typeface="+mj-lt"/>
              </a:rPr>
              <a:t> </a:t>
            </a:r>
            <a:r>
              <a:rPr lang="en-US" altLang="ja-JP" sz="1800" b="0" dirty="0" err="1">
                <a:latin typeface="+mj-lt"/>
              </a:rPr>
              <a:t>là</a:t>
            </a:r>
            <a:r>
              <a:rPr lang="en-US" altLang="ja-JP" sz="1800" b="0" dirty="0">
                <a:latin typeface="+mj-lt"/>
              </a:rPr>
              <a:t> false</a:t>
            </a:r>
          </a:p>
        </p:txBody>
      </p:sp>
      <p:cxnSp>
        <p:nvCxnSpPr>
          <p:cNvPr id="751628" name="AutoShape 12">
            <a:extLst>
              <a:ext uri="{FF2B5EF4-FFF2-40B4-BE49-F238E27FC236}">
                <a16:creationId xmlns:a16="http://schemas.microsoft.com/office/drawing/2014/main" id="{7CD2754A-87AA-B8C7-2D8B-CBD8BE6E7341}"/>
              </a:ext>
            </a:extLst>
          </p:cNvPr>
          <p:cNvCxnSpPr>
            <a:cxnSpLocks noChangeShapeType="1"/>
            <a:stCxn id="751626" idx="0"/>
            <a:endCxn id="751627" idx="1"/>
          </p:cNvCxnSpPr>
          <p:nvPr/>
        </p:nvCxnSpPr>
        <p:spPr bwMode="auto">
          <a:xfrm rot="5400000" flipH="1" flipV="1">
            <a:off x="2612489" y="1348841"/>
            <a:ext cx="224909" cy="3043237"/>
          </a:xfrm>
          <a:prstGeom prst="bentConnector2">
            <a:avLst/>
          </a:prstGeom>
          <a:noFill/>
          <a:ln w="25400">
            <a:solidFill>
              <a:srgbClr val="3FB007"/>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1629" name="Rectangle 13">
            <a:extLst>
              <a:ext uri="{FF2B5EF4-FFF2-40B4-BE49-F238E27FC236}">
                <a16:creationId xmlns:a16="http://schemas.microsoft.com/office/drawing/2014/main" id="{7B1B6B12-93D0-3BF6-2C94-7A8FB201818E}"/>
              </a:ext>
            </a:extLst>
          </p:cNvPr>
          <p:cNvSpPr>
            <a:spLocks noChangeArrowheads="1"/>
          </p:cNvSpPr>
          <p:nvPr/>
        </p:nvSpPr>
        <p:spPr bwMode="auto">
          <a:xfrm>
            <a:off x="1446213" y="3881437"/>
            <a:ext cx="806450" cy="295275"/>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1630" name="Text Box 14">
            <a:extLst>
              <a:ext uri="{FF2B5EF4-FFF2-40B4-BE49-F238E27FC236}">
                <a16:creationId xmlns:a16="http://schemas.microsoft.com/office/drawing/2014/main" id="{18A87EDC-DAF3-FBD7-4A3A-0DE8BD74F71A}"/>
              </a:ext>
            </a:extLst>
          </p:cNvPr>
          <p:cNvSpPr txBox="1">
            <a:spLocks noChangeArrowheads="1"/>
          </p:cNvSpPr>
          <p:nvPr/>
        </p:nvSpPr>
        <p:spPr bwMode="auto">
          <a:xfrm>
            <a:off x="4521200" y="3275013"/>
            <a:ext cx="1868488" cy="66675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dirty="0">
                <a:latin typeface="+mj-lt"/>
              </a:rPr>
              <a:t>Trong </a:t>
            </a:r>
            <a:r>
              <a:rPr lang="en-US" altLang="ja-JP" sz="1800" b="0" dirty="0" err="1">
                <a:latin typeface="+mj-lt"/>
              </a:rPr>
              <a:t>ví</a:t>
            </a:r>
            <a:r>
              <a:rPr lang="en-US" altLang="ja-JP" sz="1800" b="0" dirty="0">
                <a:latin typeface="+mj-lt"/>
              </a:rPr>
              <a:t> </a:t>
            </a:r>
            <a:r>
              <a:rPr lang="en-US" altLang="ja-JP" sz="1800" b="0" dirty="0" err="1">
                <a:latin typeface="+mj-lt"/>
              </a:rPr>
              <a:t>dụ</a:t>
            </a:r>
            <a:r>
              <a:rPr lang="en-US" altLang="ja-JP" sz="1800" b="0" dirty="0">
                <a:latin typeface="+mj-lt"/>
              </a:rPr>
              <a:t> </a:t>
            </a:r>
            <a:r>
              <a:rPr lang="en-US" altLang="ja-JP" sz="1800" b="0" dirty="0" err="1">
                <a:latin typeface="+mj-lt"/>
              </a:rPr>
              <a:t>này</a:t>
            </a:r>
            <a:r>
              <a:rPr lang="en-US" altLang="ja-JP" sz="1800" b="0" dirty="0">
                <a:latin typeface="+mj-lt"/>
              </a:rPr>
              <a:t> </a:t>
            </a:r>
            <a:r>
              <a:rPr lang="en-US" altLang="ja-JP" sz="1800" b="0" dirty="0" err="1">
                <a:latin typeface="+mj-lt"/>
              </a:rPr>
              <a:t>là</a:t>
            </a:r>
            <a:r>
              <a:rPr lang="en-US" altLang="ja-JP" sz="1800" b="0" dirty="0">
                <a:latin typeface="+mj-lt"/>
              </a:rPr>
              <a:t> false</a:t>
            </a:r>
          </a:p>
        </p:txBody>
      </p:sp>
      <p:cxnSp>
        <p:nvCxnSpPr>
          <p:cNvPr id="751631" name="AutoShape 15">
            <a:extLst>
              <a:ext uri="{FF2B5EF4-FFF2-40B4-BE49-F238E27FC236}">
                <a16:creationId xmlns:a16="http://schemas.microsoft.com/office/drawing/2014/main" id="{D581C4E2-871F-FD86-05F0-6F75A7E77B52}"/>
              </a:ext>
            </a:extLst>
          </p:cNvPr>
          <p:cNvCxnSpPr>
            <a:cxnSpLocks noChangeShapeType="1"/>
          </p:cNvCxnSpPr>
          <p:nvPr/>
        </p:nvCxnSpPr>
        <p:spPr bwMode="auto">
          <a:xfrm rot="16200000">
            <a:off x="3405187" y="2850853"/>
            <a:ext cx="22225" cy="2209800"/>
          </a:xfrm>
          <a:prstGeom prst="bentConnector2">
            <a:avLst/>
          </a:prstGeom>
          <a:noFill/>
          <a:ln w="25400">
            <a:solidFill>
              <a:srgbClr val="FF6600"/>
            </a:solidFill>
            <a:prstDash val="sysDot"/>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1634" name="Rectangle 18">
            <a:extLst>
              <a:ext uri="{FF2B5EF4-FFF2-40B4-BE49-F238E27FC236}">
                <a16:creationId xmlns:a16="http://schemas.microsoft.com/office/drawing/2014/main" id="{A3E7EA33-C591-6036-7F94-12354246235C}"/>
              </a:ext>
            </a:extLst>
          </p:cNvPr>
          <p:cNvSpPr>
            <a:spLocks noChangeArrowheads="1"/>
          </p:cNvSpPr>
          <p:nvPr/>
        </p:nvSpPr>
        <p:spPr bwMode="auto">
          <a:xfrm>
            <a:off x="546100" y="4516438"/>
            <a:ext cx="5854700" cy="892175"/>
          </a:xfrm>
          <a:prstGeom prst="rect">
            <a:avLst/>
          </a:prstGeom>
          <a:noFill/>
          <a:ln w="25400" algn="ctr">
            <a:solidFill>
              <a:srgbClr val="673EC1"/>
            </a:solidFill>
            <a:prstDash val="dash"/>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249AF5CC-AD47-3632-4E70-3CEF8A8B3A02}"/>
              </a:ext>
            </a:extLst>
          </p:cNvPr>
          <p:cNvSpPr>
            <a:spLocks noGrp="1"/>
          </p:cNvSpPr>
          <p:nvPr>
            <p:ph type="sldNum" sz="quarter" idx="10"/>
          </p:nvPr>
        </p:nvSpPr>
        <p:spPr/>
        <p:txBody>
          <a:bodyPr/>
          <a:lstStyle/>
          <a:p>
            <a:fld id="{3D5907CC-B027-45D1-A75A-159AAF7F5A55}" type="slidenum">
              <a:rPr lang="en-US" altLang="ja-JP"/>
              <a:pPr/>
              <a:t>24</a:t>
            </a:fld>
            <a:endParaRPr lang="en-US" altLang="ja-JP"/>
          </a:p>
        </p:txBody>
      </p:sp>
      <p:sp>
        <p:nvSpPr>
          <p:cNvPr id="717826" name="Rectangle 2">
            <a:extLst>
              <a:ext uri="{FF2B5EF4-FFF2-40B4-BE49-F238E27FC236}">
                <a16:creationId xmlns:a16="http://schemas.microsoft.com/office/drawing/2014/main" id="{85B9BB81-158C-5406-10CB-5D91B5B383C1}"/>
              </a:ext>
            </a:extLst>
          </p:cNvPr>
          <p:cNvSpPr>
            <a:spLocks noGrp="1" noChangeArrowheads="1"/>
          </p:cNvSpPr>
          <p:nvPr>
            <p:ph type="title"/>
          </p:nvPr>
        </p:nvSpPr>
        <p:spPr>
          <a:xfrm>
            <a:off x="272547" y="319514"/>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Nesting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câu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lệnh</a:t>
            </a:r>
            <a:r>
              <a:rPr lang="en-US" altLang="ja-JP" dirty="0">
                <a:latin typeface="Arial" panose="020B0604020202020204" pitchFamily="34" charset="0"/>
                <a:ea typeface="MS UI Gothic" panose="020B0600070205080204" pitchFamily="50" charset="-128"/>
              </a:rPr>
              <a:t> </a:t>
            </a:r>
            <a:r>
              <a:rPr lang="en-US" altLang="en-US" dirty="0">
                <a:latin typeface="Arial" panose="020B0604020202020204" pitchFamily="34" charset="0"/>
                <a:ea typeface="ＭＳ ゴシック" panose="020B0609070205080204" pitchFamily="49" charset="-128"/>
              </a:rPr>
              <a:t>if</a:t>
            </a:r>
            <a:r>
              <a:rPr lang="en-US" altLang="ja-JP" dirty="0">
                <a:latin typeface="Arial" panose="020B0604020202020204" pitchFamily="34" charset="0"/>
                <a:ea typeface="MS UI Gothic" panose="020B0600070205080204" pitchFamily="50" charset="-128"/>
              </a:rPr>
              <a:t> </a:t>
            </a:r>
            <a:r>
              <a:rPr lang="en-US" altLang="ja-JP" dirty="0">
                <a:latin typeface="Arial" panose="020B0604020202020204" pitchFamily="34" charset="0"/>
                <a:ea typeface="ＭＳ ゴシック" panose="020B0609070205080204" pitchFamily="49" charset="-128"/>
              </a:rPr>
              <a:t>(</a:t>
            </a:r>
            <a:r>
              <a:rPr lang="en-US" altLang="ja-JP" dirty="0" err="1">
                <a:latin typeface="Arial" panose="020B0604020202020204" pitchFamily="34" charset="0"/>
                <a:ea typeface="ＭＳ ゴシック" panose="020B0609070205080204" pitchFamily="49" charset="-128"/>
              </a:rPr>
              <a:t>Lồng</a:t>
            </a:r>
            <a:r>
              <a:rPr lang="en-US" altLang="ja-JP" dirty="0">
                <a:latin typeface="Arial" panose="020B0604020202020204" pitchFamily="34" charset="0"/>
                <a:ea typeface="ＭＳ ゴシック" panose="020B0609070205080204" pitchFamily="49" charset="-128"/>
              </a:rPr>
              <a:t>)</a:t>
            </a:r>
            <a:r>
              <a:rPr lang="ja-JP" altLang="en-US" dirty="0">
                <a:latin typeface="Arial" panose="020B0604020202020204" pitchFamily="34" charset="0"/>
                <a:ea typeface="ＭＳ ゴシック" panose="020B0609070205080204" pitchFamily="49" charset="-128"/>
              </a:rPr>
              <a:t>（</a:t>
            </a:r>
            <a:r>
              <a:rPr lang="en-US" altLang="ja-JP" dirty="0">
                <a:latin typeface="Arial" panose="020B0604020202020204" pitchFamily="34" charset="0"/>
                <a:ea typeface="ＭＳ ゴシック" panose="020B0609070205080204" pitchFamily="49" charset="-128"/>
              </a:rPr>
              <a:t>1</a:t>
            </a:r>
            <a:r>
              <a:rPr lang="ja-JP" altLang="en-US" dirty="0">
                <a:latin typeface="Arial" panose="020B0604020202020204" pitchFamily="34" charset="0"/>
                <a:ea typeface="ＭＳ ゴシック" panose="020B0609070205080204" pitchFamily="49" charset="-128"/>
              </a:rPr>
              <a:t>）</a:t>
            </a:r>
          </a:p>
        </p:txBody>
      </p:sp>
      <p:sp>
        <p:nvSpPr>
          <p:cNvPr id="717827" name="Rectangle 3">
            <a:extLst>
              <a:ext uri="{FF2B5EF4-FFF2-40B4-BE49-F238E27FC236}">
                <a16:creationId xmlns:a16="http://schemas.microsoft.com/office/drawing/2014/main" id="{CC5746C6-3100-8EE7-C218-07C5EDEB06E6}"/>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17828" name="Rectangle 4">
            <a:extLst>
              <a:ext uri="{FF2B5EF4-FFF2-40B4-BE49-F238E27FC236}">
                <a16:creationId xmlns:a16="http://schemas.microsoft.com/office/drawing/2014/main" id="{5829DDC2-4717-6A7D-044A-B2D5A080ED2F}"/>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en-US" sz="2400" b="0">
                <a:latin typeface="Arial" panose="020B0604020202020204" pitchFamily="34" charset="0"/>
                <a:ea typeface="ＭＳ ゴシック" panose="020B0609070205080204" pitchFamily="49" charset="-128"/>
              </a:rPr>
              <a:t>Nest của câu lệnh if (lồng)</a:t>
            </a:r>
            <a:endParaRPr lang="en-US" altLang="ja-JP" sz="2400" b="0">
              <a:latin typeface="Arial" panose="020B0604020202020204" pitchFamily="34" charset="0"/>
              <a:ea typeface="ＭＳ ゴシック" panose="020B0609070205080204" pitchFamily="49" charset="-128"/>
            </a:endParaRPr>
          </a:p>
          <a:p>
            <a:pPr>
              <a:spcBef>
                <a:spcPct val="50000"/>
              </a:spcBef>
              <a:buFont typeface="Wingdings" panose="05000000000000000000" pitchFamily="2" charset="2"/>
              <a:buNone/>
            </a:pPr>
            <a:r>
              <a:rPr lang="en-US" altLang="ja-JP" sz="2000" b="0">
                <a:latin typeface="Arial" panose="020B0604020202020204" pitchFamily="34" charset="0"/>
              </a:rPr>
              <a:t>●Ví dụ</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grpSp>
        <p:nvGrpSpPr>
          <p:cNvPr id="717846" name="Group 22">
            <a:extLst>
              <a:ext uri="{FF2B5EF4-FFF2-40B4-BE49-F238E27FC236}">
                <a16:creationId xmlns:a16="http://schemas.microsoft.com/office/drawing/2014/main" id="{886CE3A9-8751-031B-FCAE-56DEB34DE3BF}"/>
              </a:ext>
            </a:extLst>
          </p:cNvPr>
          <p:cNvGrpSpPr>
            <a:grpSpLocks/>
          </p:cNvGrpSpPr>
          <p:nvPr/>
        </p:nvGrpSpPr>
        <p:grpSpPr bwMode="auto">
          <a:xfrm>
            <a:off x="344488" y="1751013"/>
            <a:ext cx="9120187" cy="4552950"/>
            <a:chOff x="217" y="1103"/>
            <a:chExt cx="5745" cy="2868"/>
          </a:xfrm>
        </p:grpSpPr>
        <p:sp>
          <p:nvSpPr>
            <p:cNvPr id="717830" name="Text Box 6">
              <a:extLst>
                <a:ext uri="{FF2B5EF4-FFF2-40B4-BE49-F238E27FC236}">
                  <a16:creationId xmlns:a16="http://schemas.microsoft.com/office/drawing/2014/main" id="{B7AA7758-4FCC-9306-EEE1-3B86AB22DBBF}"/>
                </a:ext>
              </a:extLst>
            </p:cNvPr>
            <p:cNvSpPr txBox="1">
              <a:spLocks noChangeArrowheads="1"/>
            </p:cNvSpPr>
            <p:nvPr/>
          </p:nvSpPr>
          <p:spPr bwMode="auto">
            <a:xfrm>
              <a:off x="217" y="1103"/>
              <a:ext cx="5745" cy="2868"/>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ＭＳ ゴシック" panose="020B0609070205080204" pitchFamily="49" charset="-128"/>
                </a:rPr>
                <a:t>if (Biểu thức điều kiện </a:t>
              </a:r>
              <a:r>
                <a:rPr lang="en-US" altLang="ja-JP" sz="2000">
                  <a:ea typeface="MS UI Gothic" panose="020B0600070205080204" pitchFamily="50" charset="-128"/>
                </a:rPr>
                <a:t>1</a:t>
              </a:r>
              <a:r>
                <a:rPr lang="en-US" altLang="ja-JP" sz="2000">
                  <a:ea typeface="ＭＳ ゴシック" panose="020B0609070205080204" pitchFamily="49" charset="-128"/>
                </a:rPr>
                <a:t>) {</a:t>
              </a:r>
            </a:p>
            <a:p>
              <a:pPr lvl="1" algn="just">
                <a:lnSpc>
                  <a:spcPct val="112000"/>
                </a:lnSpc>
              </a:pPr>
              <a:r>
                <a:rPr lang="en-US" altLang="ja-JP" sz="2000">
                  <a:ea typeface="ＭＳ ゴシック" panose="020B0609070205080204" pitchFamily="49" charset="-128"/>
                </a:rPr>
                <a:t>    if (</a:t>
              </a:r>
              <a:r>
                <a:rPr lang="en-US" altLang="ja-JP" sz="2000">
                  <a:ea typeface="MS UI Gothic" panose="020B0600070205080204" pitchFamily="50" charset="-128"/>
                </a:rPr>
                <a:t>Biểu thức điều kiện </a:t>
              </a:r>
              <a:r>
                <a:rPr lang="en-US" altLang="ja-JP">
                  <a:ea typeface="MS UI Gothic" panose="020B0600070205080204" pitchFamily="50" charset="-128"/>
                </a:rPr>
                <a:t> </a:t>
              </a:r>
              <a:r>
                <a:rPr lang="en-US" altLang="ja-JP" sz="2000">
                  <a:ea typeface="MS UI Gothic" panose="020B0600070205080204" pitchFamily="50" charset="-128"/>
                </a:rPr>
                <a:t>2</a:t>
              </a:r>
              <a:r>
                <a:rPr lang="en-US" altLang="ja-JP" sz="2000">
                  <a:ea typeface="ＭＳ ゴシック" panose="020B0609070205080204" pitchFamily="49" charset="-128"/>
                </a:rPr>
                <a:t>) {</a:t>
              </a:r>
            </a:p>
            <a:p>
              <a:pPr lvl="1" algn="just">
                <a:lnSpc>
                  <a:spcPct val="112000"/>
                </a:lnSpc>
              </a:pPr>
              <a:r>
                <a:rPr lang="en-US" altLang="ja-JP" sz="2000">
                  <a:ea typeface="ＭＳ ゴシック" panose="020B0609070205080204" pitchFamily="49" charset="-128"/>
                </a:rPr>
                <a:t>        Xử lý khi thỏa mãn biểu thức điều kiện 2</a:t>
              </a:r>
              <a:endParaRPr lang="en-US" altLang="ja-JP" sz="2000">
                <a:ea typeface="MS UI Gothic" panose="020B0600070205080204" pitchFamily="50" charset="-128"/>
              </a:endParaRPr>
            </a:p>
            <a:p>
              <a:pPr lvl="1" algn="just">
                <a:lnSpc>
                  <a:spcPct val="112000"/>
                </a:lnSpc>
              </a:pPr>
              <a:r>
                <a:rPr lang="en-US" altLang="ja-JP" sz="2000">
                  <a:ea typeface="ＭＳ ゴシック" panose="020B0609070205080204" pitchFamily="49" charset="-128"/>
                </a:rPr>
                <a:t>    }</a:t>
              </a:r>
            </a:p>
            <a:p>
              <a:pPr lvl="1" algn="just">
                <a:lnSpc>
                  <a:spcPct val="112000"/>
                </a:lnSpc>
              </a:pPr>
              <a:r>
                <a:rPr lang="en-US" altLang="ja-JP" sz="2000">
                  <a:ea typeface="ＭＳ ゴシック" panose="020B0609070205080204" pitchFamily="49" charset="-128"/>
                </a:rPr>
                <a:t>}</a:t>
              </a:r>
              <a:r>
                <a:rPr lang="en-US" altLang="ja-JP" sz="2000">
                  <a:ea typeface="MS UI Gothic" panose="020B0600070205080204" pitchFamily="50" charset="-128"/>
                </a:rPr>
                <a:t> </a:t>
              </a:r>
              <a:r>
                <a:rPr lang="en-US" altLang="ja-JP" sz="2000">
                  <a:ea typeface="ＭＳ ゴシック" panose="020B0609070205080204" pitchFamily="49" charset="-128"/>
                </a:rPr>
                <a:t>else {</a:t>
              </a:r>
            </a:p>
            <a:p>
              <a:pPr lvl="1" algn="just">
                <a:lnSpc>
                  <a:spcPct val="112000"/>
                </a:lnSpc>
              </a:pPr>
              <a:r>
                <a:rPr lang="en-US" altLang="ja-JP" sz="2000">
                  <a:ea typeface="ＭＳ ゴシック" panose="020B0609070205080204" pitchFamily="49" charset="-128"/>
                </a:rPr>
                <a:t>    if (</a:t>
              </a:r>
              <a:r>
                <a:rPr lang="en-US" altLang="ja-JP" sz="2000">
                  <a:ea typeface="MS UI Gothic" panose="020B0600070205080204" pitchFamily="50" charset="-128"/>
                </a:rPr>
                <a:t>Biểu thức điều kiện 3</a:t>
              </a:r>
              <a:r>
                <a:rPr lang="en-US" altLang="ja-JP" sz="2000">
                  <a:ea typeface="ＭＳ ゴシック" panose="020B0609070205080204" pitchFamily="49" charset="-128"/>
                </a:rPr>
                <a:t>) {</a:t>
              </a:r>
            </a:p>
            <a:p>
              <a:pPr lvl="1" algn="just">
                <a:lnSpc>
                  <a:spcPct val="112000"/>
                </a:lnSpc>
              </a:pPr>
              <a:r>
                <a:rPr lang="en-US" altLang="ja-JP" sz="2000">
                  <a:ea typeface="ＭＳ ゴシック" panose="020B0609070205080204" pitchFamily="49" charset="-128"/>
                </a:rPr>
                <a:t>        Xử lý khi thỏa mãn b</a:t>
              </a:r>
              <a:r>
                <a:rPr lang="en-US" altLang="ja-JP" sz="2000">
                  <a:ea typeface="MS UI Gothic" panose="020B0600070205080204" pitchFamily="50" charset="-128"/>
                </a:rPr>
                <a:t>iểu thức điều kiện 3</a:t>
              </a:r>
            </a:p>
            <a:p>
              <a:pPr lvl="1" algn="just">
                <a:lnSpc>
                  <a:spcPct val="112000"/>
                </a:lnSpc>
              </a:pPr>
              <a:r>
                <a:rPr lang="en-US" altLang="ja-JP" sz="2000">
                  <a:ea typeface="ＭＳ ゴシック" panose="020B0609070205080204" pitchFamily="49" charset="-128"/>
                </a:rPr>
                <a:t>    } else {</a:t>
              </a:r>
            </a:p>
            <a:p>
              <a:pPr lvl="1" algn="just">
                <a:lnSpc>
                  <a:spcPct val="112000"/>
                </a:lnSpc>
              </a:pPr>
              <a:r>
                <a:rPr lang="en-US" altLang="ja-JP" sz="2000">
                  <a:ea typeface="ＭＳ ゴシック" panose="020B0609070205080204" pitchFamily="49" charset="-128"/>
                </a:rPr>
                <a:t>        Xử lý trong trường hợp không thỏa mãn</a:t>
              </a:r>
            </a:p>
            <a:p>
              <a:pPr lvl="1" algn="just">
                <a:lnSpc>
                  <a:spcPct val="112000"/>
                </a:lnSpc>
              </a:pPr>
              <a:r>
                <a:rPr lang="en-US" altLang="ja-JP" sz="2000">
                  <a:ea typeface="ＭＳ ゴシック" panose="020B0609070205080204" pitchFamily="49" charset="-128"/>
                </a:rPr>
                <a:t>   </a:t>
              </a:r>
              <a:r>
                <a:rPr lang="en-US" altLang="ja-JP" sz="2000">
                  <a:ea typeface="MS UI Gothic" panose="020B0600070205080204" pitchFamily="50" charset="-128"/>
                </a:rPr>
                <a:t>biểu thức điều kiện 3</a:t>
              </a:r>
            </a:p>
            <a:p>
              <a:pPr lvl="1" algn="just">
                <a:lnSpc>
                  <a:spcPct val="112000"/>
                </a:lnSpc>
              </a:pPr>
              <a:r>
                <a:rPr lang="en-US" altLang="ja-JP" sz="2000">
                  <a:ea typeface="ＭＳ ゴシック" panose="020B0609070205080204" pitchFamily="49" charset="-128"/>
                </a:rPr>
                <a:t>    }</a:t>
              </a:r>
            </a:p>
            <a:p>
              <a:pPr lvl="1" algn="just">
                <a:lnSpc>
                  <a:spcPct val="112000"/>
                </a:lnSpc>
              </a:pPr>
              <a:r>
                <a:rPr lang="en-US" altLang="ja-JP" sz="2000">
                  <a:ea typeface="ＭＳ ゴシック" panose="020B0609070205080204" pitchFamily="49" charset="-128"/>
                </a:rPr>
                <a:t>}</a:t>
              </a:r>
            </a:p>
          </p:txBody>
        </p:sp>
        <p:sp>
          <p:nvSpPr>
            <p:cNvPr id="717831" name="Rectangle 7">
              <a:extLst>
                <a:ext uri="{FF2B5EF4-FFF2-40B4-BE49-F238E27FC236}">
                  <a16:creationId xmlns:a16="http://schemas.microsoft.com/office/drawing/2014/main" id="{CBE21876-9D30-08CE-6105-295B903D32F3}"/>
                </a:ext>
              </a:extLst>
            </p:cNvPr>
            <p:cNvSpPr>
              <a:spLocks noChangeArrowheads="1"/>
            </p:cNvSpPr>
            <p:nvPr/>
          </p:nvSpPr>
          <p:spPr bwMode="auto">
            <a:xfrm>
              <a:off x="449" y="1346"/>
              <a:ext cx="3335" cy="663"/>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17833" name="AutoShape 9">
              <a:extLst>
                <a:ext uri="{FF2B5EF4-FFF2-40B4-BE49-F238E27FC236}">
                  <a16:creationId xmlns:a16="http://schemas.microsoft.com/office/drawing/2014/main" id="{A29089B0-3053-9B2F-E418-E660D1231346}"/>
                </a:ext>
              </a:extLst>
            </p:cNvPr>
            <p:cNvSpPr>
              <a:spLocks noChangeArrowheads="1"/>
            </p:cNvSpPr>
            <p:nvPr/>
          </p:nvSpPr>
          <p:spPr bwMode="auto">
            <a:xfrm>
              <a:off x="4502" y="1216"/>
              <a:ext cx="1382" cy="653"/>
            </a:xfrm>
            <a:prstGeom prst="wedgeRoundRectCallout">
              <a:avLst>
                <a:gd name="adj1" fmla="val -42111"/>
                <a:gd name="adj2" fmla="val 77259"/>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Có</a:t>
              </a:r>
              <a:r>
                <a:rPr lang="en-US" altLang="ja-JP" sz="1800" dirty="0">
                  <a:latin typeface="+mj-lt"/>
                </a:rPr>
                <a:t> </a:t>
              </a:r>
              <a:r>
                <a:rPr lang="en-US" altLang="ja-JP" sz="1800" dirty="0" err="1">
                  <a:latin typeface="+mj-lt"/>
                </a:rPr>
                <a:t>thể</a:t>
              </a:r>
              <a:r>
                <a:rPr lang="en-US" altLang="ja-JP" sz="1800" dirty="0">
                  <a:latin typeface="+mj-lt"/>
                </a:rPr>
                <a:t> nesting </a:t>
              </a:r>
              <a:r>
                <a:rPr lang="en-US" altLang="ja-JP" sz="1800" dirty="0" err="1">
                  <a:latin typeface="+mj-lt"/>
                </a:rPr>
                <a:t>câu</a:t>
              </a:r>
              <a:r>
                <a:rPr lang="en-US" altLang="ja-JP" sz="1800" dirty="0">
                  <a:latin typeface="+mj-lt"/>
                </a:rPr>
                <a:t> </a:t>
              </a:r>
              <a:r>
                <a:rPr lang="en-US" altLang="ja-JP" sz="1800" dirty="0" err="1">
                  <a:latin typeface="+mj-lt"/>
                </a:rPr>
                <a:t>lệnh</a:t>
              </a:r>
              <a:r>
                <a:rPr lang="en-US" altLang="ja-JP" sz="1800" dirty="0">
                  <a:latin typeface="+mj-lt"/>
                </a:rPr>
                <a:t> if </a:t>
              </a:r>
              <a:r>
                <a:rPr lang="en-US" altLang="ja-JP" sz="1800" dirty="0" err="1">
                  <a:latin typeface="+mj-lt"/>
                </a:rPr>
                <a:t>trong</a:t>
              </a:r>
              <a:r>
                <a:rPr lang="en-US" altLang="ja-JP" sz="1800" dirty="0">
                  <a:latin typeface="+mj-lt"/>
                </a:rPr>
                <a:t> </a:t>
              </a:r>
              <a:r>
                <a:rPr lang="en-US" altLang="ja-JP" sz="1800" dirty="0" err="1">
                  <a:latin typeface="+mj-lt"/>
                </a:rPr>
                <a:t>câu</a:t>
              </a:r>
              <a:r>
                <a:rPr lang="en-US" altLang="ja-JP" sz="1800" dirty="0">
                  <a:latin typeface="+mj-lt"/>
                </a:rPr>
                <a:t> </a:t>
              </a:r>
              <a:r>
                <a:rPr lang="en-US" altLang="ja-JP" sz="1800" dirty="0" err="1">
                  <a:latin typeface="+mj-lt"/>
                </a:rPr>
                <a:t>lệnh</a:t>
              </a:r>
              <a:r>
                <a:rPr lang="en-US" altLang="ja-JP" sz="1800" dirty="0">
                  <a:latin typeface="+mj-lt"/>
                </a:rPr>
                <a:t> if </a:t>
              </a:r>
              <a:r>
                <a:rPr lang="en-US" altLang="ja-JP" sz="1800" dirty="0" err="1">
                  <a:latin typeface="+mj-lt"/>
                </a:rPr>
                <a:t>đã</a:t>
              </a:r>
              <a:r>
                <a:rPr lang="en-US" altLang="ja-JP" sz="1800" dirty="0">
                  <a:latin typeface="+mj-lt"/>
                </a:rPr>
                <a:t> nesting</a:t>
              </a:r>
            </a:p>
          </p:txBody>
        </p:sp>
        <p:sp>
          <p:nvSpPr>
            <p:cNvPr id="717835" name="Rectangle 11">
              <a:extLst>
                <a:ext uri="{FF2B5EF4-FFF2-40B4-BE49-F238E27FC236}">
                  <a16:creationId xmlns:a16="http://schemas.microsoft.com/office/drawing/2014/main" id="{106D735F-5D37-DA0B-C9E8-A64EE5E1B0A8}"/>
                </a:ext>
              </a:extLst>
            </p:cNvPr>
            <p:cNvSpPr>
              <a:spLocks noChangeArrowheads="1"/>
            </p:cNvSpPr>
            <p:nvPr/>
          </p:nvSpPr>
          <p:spPr bwMode="auto">
            <a:xfrm>
              <a:off x="455" y="2194"/>
              <a:ext cx="3329" cy="1119"/>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17837" name="Rectangle 13">
              <a:extLst>
                <a:ext uri="{FF2B5EF4-FFF2-40B4-BE49-F238E27FC236}">
                  <a16:creationId xmlns:a16="http://schemas.microsoft.com/office/drawing/2014/main" id="{4FD84ED9-E054-01BB-CA8A-7614284A2F9D}"/>
                </a:ext>
              </a:extLst>
            </p:cNvPr>
            <p:cNvSpPr>
              <a:spLocks noChangeArrowheads="1"/>
            </p:cNvSpPr>
            <p:nvPr/>
          </p:nvSpPr>
          <p:spPr bwMode="auto">
            <a:xfrm>
              <a:off x="3978" y="1953"/>
              <a:ext cx="877" cy="42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ＭＳ ゴシック" panose="020B0609070205080204" pitchFamily="49" charset="-128"/>
                </a:rPr>
                <a:t>Nest của câu lệnh if</a:t>
              </a:r>
              <a:endParaRPr lang="en-US" altLang="ja-JP" sz="1800" b="0">
                <a:ea typeface="MS UI Gothic" panose="020B0600070205080204" pitchFamily="50" charset="-128"/>
              </a:endParaRPr>
            </a:p>
          </p:txBody>
        </p:sp>
        <p:cxnSp>
          <p:nvCxnSpPr>
            <p:cNvPr id="717840" name="AutoShape 16">
              <a:extLst>
                <a:ext uri="{FF2B5EF4-FFF2-40B4-BE49-F238E27FC236}">
                  <a16:creationId xmlns:a16="http://schemas.microsoft.com/office/drawing/2014/main" id="{0F32D645-9BB0-BA69-6286-2A23CDAF8CCB}"/>
                </a:ext>
              </a:extLst>
            </p:cNvPr>
            <p:cNvCxnSpPr>
              <a:cxnSpLocks noChangeShapeType="1"/>
              <a:stCxn id="717837" idx="2"/>
            </p:cNvCxnSpPr>
            <p:nvPr/>
          </p:nvCxnSpPr>
          <p:spPr bwMode="auto">
            <a:xfrm rot="5400000">
              <a:off x="3918" y="2255"/>
              <a:ext cx="373" cy="625"/>
            </a:xfrm>
            <a:prstGeom prst="bentConnector2">
              <a:avLst/>
            </a:prstGeom>
            <a:noFill/>
            <a:ln w="25400">
              <a:solidFill>
                <a:srgbClr val="3FB007"/>
              </a:solidFill>
              <a:miter lim="800000"/>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17842" name="AutoShape 18">
              <a:extLst>
                <a:ext uri="{FF2B5EF4-FFF2-40B4-BE49-F238E27FC236}">
                  <a16:creationId xmlns:a16="http://schemas.microsoft.com/office/drawing/2014/main" id="{899F5B92-1496-DFC2-4773-62255EE3F3F1}"/>
                </a:ext>
              </a:extLst>
            </p:cNvPr>
            <p:cNvCxnSpPr>
              <a:cxnSpLocks noChangeShapeType="1"/>
              <a:stCxn id="717837" idx="0"/>
            </p:cNvCxnSpPr>
            <p:nvPr/>
          </p:nvCxnSpPr>
          <p:spPr bwMode="auto">
            <a:xfrm rot="5400000" flipH="1">
              <a:off x="3971" y="1499"/>
              <a:ext cx="267" cy="625"/>
            </a:xfrm>
            <a:prstGeom prst="bentConnector2">
              <a:avLst/>
            </a:prstGeom>
            <a:noFill/>
            <a:ln w="25400">
              <a:solidFill>
                <a:srgbClr val="3FB007"/>
              </a:solidFill>
              <a:miter lim="800000"/>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17844" name="AutoShape 20">
              <a:extLst>
                <a:ext uri="{FF2B5EF4-FFF2-40B4-BE49-F238E27FC236}">
                  <a16:creationId xmlns:a16="http://schemas.microsoft.com/office/drawing/2014/main" id="{B846BA06-4158-2867-5FE6-20222F048A09}"/>
                </a:ext>
              </a:extLst>
            </p:cNvPr>
            <p:cNvSpPr>
              <a:spLocks noChangeArrowheads="1"/>
            </p:cNvSpPr>
            <p:nvPr/>
          </p:nvSpPr>
          <p:spPr bwMode="auto">
            <a:xfrm>
              <a:off x="270" y="3560"/>
              <a:ext cx="5348" cy="301"/>
            </a:xfrm>
            <a:prstGeom prst="wedgeRoundRectCallout">
              <a:avLst>
                <a:gd name="adj1" fmla="val -40185"/>
                <a:gd name="adj2" fmla="val -167278"/>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Trường </a:t>
              </a:r>
              <a:r>
                <a:rPr lang="en-US" altLang="ja-JP" sz="1800" dirty="0" err="1">
                  <a:latin typeface="+mj-lt"/>
                </a:rPr>
                <a:t>hợp</a:t>
              </a:r>
              <a:r>
                <a:rPr lang="en-US" altLang="ja-JP" sz="1800" dirty="0">
                  <a:latin typeface="+mj-lt"/>
                </a:rPr>
                <a:t> block </a:t>
              </a:r>
              <a:r>
                <a:rPr lang="en-US" altLang="ja-JP" sz="1800" dirty="0" err="1">
                  <a:latin typeface="+mj-lt"/>
                </a:rPr>
                <a:t>bị</a:t>
              </a:r>
              <a:r>
                <a:rPr lang="en-US" altLang="ja-JP" sz="1800" dirty="0">
                  <a:latin typeface="+mj-lt"/>
                </a:rPr>
                <a:t> </a:t>
              </a:r>
              <a:r>
                <a:rPr lang="en-US" altLang="ja-JP" sz="1800" dirty="0" err="1">
                  <a:latin typeface="+mj-lt"/>
                </a:rPr>
                <a:t>lồng</a:t>
              </a:r>
              <a:r>
                <a:rPr lang="en-US" altLang="ja-JP" sz="1800" dirty="0">
                  <a:latin typeface="+mj-lt"/>
                </a:rPr>
                <a:t>, </a:t>
              </a:r>
              <a:r>
                <a:rPr lang="en-US" altLang="ja-JP" sz="1800" dirty="0" err="1">
                  <a:latin typeface="+mj-lt"/>
                </a:rPr>
                <a:t>nếu</a:t>
              </a:r>
              <a:r>
                <a:rPr lang="en-US" altLang="ja-JP" sz="1800" dirty="0">
                  <a:latin typeface="+mj-lt"/>
                </a:rPr>
                <a:t> </a:t>
              </a:r>
              <a:r>
                <a:rPr lang="en-US" altLang="ja-JP" sz="1800" dirty="0" err="1">
                  <a:latin typeface="+mj-lt"/>
                </a:rPr>
                <a:t>xuống</a:t>
              </a:r>
              <a:r>
                <a:rPr lang="en-US" altLang="ja-JP" sz="1800" dirty="0">
                  <a:latin typeface="+mj-lt"/>
                </a:rPr>
                <a:t> </a:t>
              </a:r>
              <a:r>
                <a:rPr lang="en-US" altLang="ja-JP" sz="1800" dirty="0" err="1">
                  <a:latin typeface="+mj-lt"/>
                </a:rPr>
                <a:t>dòng</a:t>
              </a:r>
              <a:r>
                <a:rPr lang="en-US" altLang="ja-JP" sz="1800" dirty="0">
                  <a:latin typeface="+mj-lt"/>
                </a:rPr>
                <a:t> (indent) </a:t>
              </a:r>
              <a:r>
                <a:rPr lang="en-US" altLang="ja-JP" sz="1800" dirty="0" err="1">
                  <a:latin typeface="+mj-lt"/>
                </a:rPr>
                <a:t>thì</a:t>
              </a:r>
              <a:r>
                <a:rPr lang="en-US" altLang="ja-JP" sz="1800" dirty="0">
                  <a:latin typeface="+mj-lt"/>
                </a:rPr>
                <a:t> code </a:t>
              </a:r>
              <a:r>
                <a:rPr lang="en-US" altLang="ja-JP" sz="1800" dirty="0" err="1">
                  <a:latin typeface="+mj-lt"/>
                </a:rPr>
                <a:t>sẽ</a:t>
              </a:r>
              <a:r>
                <a:rPr lang="en-US" altLang="ja-JP" sz="1800" dirty="0">
                  <a:latin typeface="+mj-lt"/>
                </a:rPr>
                <a:t> </a:t>
              </a:r>
              <a:r>
                <a:rPr lang="en-US" altLang="ja-JP" sz="1800" dirty="0" err="1">
                  <a:latin typeface="+mj-lt"/>
                </a:rPr>
                <a:t>dễ</a:t>
              </a:r>
              <a:r>
                <a:rPr lang="en-US" altLang="ja-JP" sz="1800" dirty="0">
                  <a:latin typeface="+mj-lt"/>
                </a:rPr>
                <a:t> </a:t>
              </a:r>
              <a:r>
                <a:rPr lang="en-US" altLang="ja-JP" sz="1800" dirty="0" err="1">
                  <a:latin typeface="+mj-lt"/>
                </a:rPr>
                <a:t>nhìn</a:t>
              </a:r>
              <a:r>
                <a:rPr lang="en-US" altLang="ja-JP" sz="1800" dirty="0">
                  <a:latin typeface="+mj-lt"/>
                </a:rPr>
                <a:t>.</a:t>
              </a: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541AEF4D-9ABC-A474-8237-5305086A4BBB}"/>
              </a:ext>
            </a:extLst>
          </p:cNvPr>
          <p:cNvSpPr>
            <a:spLocks noGrp="1"/>
          </p:cNvSpPr>
          <p:nvPr>
            <p:ph type="sldNum" sz="quarter" idx="10"/>
          </p:nvPr>
        </p:nvSpPr>
        <p:spPr/>
        <p:txBody>
          <a:bodyPr/>
          <a:lstStyle/>
          <a:p>
            <a:fld id="{3BAE28ED-9B95-4434-BEA1-58C4DE9C3C7F}" type="slidenum">
              <a:rPr lang="en-US" altLang="ja-JP"/>
              <a:pPr/>
              <a:t>25</a:t>
            </a:fld>
            <a:endParaRPr lang="en-US" altLang="ja-JP"/>
          </a:p>
        </p:txBody>
      </p:sp>
      <p:sp>
        <p:nvSpPr>
          <p:cNvPr id="753666" name="Rectangle 2">
            <a:extLst>
              <a:ext uri="{FF2B5EF4-FFF2-40B4-BE49-F238E27FC236}">
                <a16:creationId xmlns:a16="http://schemas.microsoft.com/office/drawing/2014/main" id="{9D7A8D32-0C5F-FCB5-9E9C-2DAF6495D41C}"/>
              </a:ext>
            </a:extLst>
          </p:cNvPr>
          <p:cNvSpPr>
            <a:spLocks noGrp="1" noChangeArrowheads="1"/>
          </p:cNvSpPr>
          <p:nvPr>
            <p:ph type="title"/>
          </p:nvPr>
        </p:nvSpPr>
        <p:spPr>
          <a:xfrm>
            <a:off x="344488" y="319882"/>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Nest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câu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lệnh</a:t>
            </a:r>
            <a:r>
              <a:rPr lang="en-US" altLang="ja-JP" dirty="0">
                <a:latin typeface="Arial" panose="020B0604020202020204" pitchFamily="34" charset="0"/>
                <a:ea typeface="MS UI Gothic" panose="020B0600070205080204" pitchFamily="50" charset="-128"/>
              </a:rPr>
              <a:t> </a:t>
            </a:r>
            <a:r>
              <a:rPr lang="en-US" altLang="en-US" dirty="0">
                <a:latin typeface="Arial" panose="020B0604020202020204" pitchFamily="34" charset="0"/>
                <a:ea typeface="ＭＳ ゴシック" panose="020B0609070205080204" pitchFamily="49" charset="-128"/>
              </a:rPr>
              <a:t>if</a:t>
            </a:r>
            <a:r>
              <a:rPr lang="en-US" altLang="ja-JP" dirty="0">
                <a:latin typeface="Arial" panose="020B0604020202020204" pitchFamily="34" charset="0"/>
                <a:ea typeface="MS UI Gothic" panose="020B0600070205080204" pitchFamily="50" charset="-128"/>
              </a:rPr>
              <a:t> </a:t>
            </a:r>
            <a:r>
              <a:rPr lang="en-US" altLang="ja-JP" dirty="0">
                <a:latin typeface="Arial" panose="020B0604020202020204" pitchFamily="34" charset="0"/>
                <a:ea typeface="ＭＳ ゴシック" panose="020B0609070205080204" pitchFamily="49" charset="-128"/>
              </a:rPr>
              <a:t>(</a:t>
            </a:r>
            <a:r>
              <a:rPr lang="en-US" altLang="ja-JP" dirty="0" err="1">
                <a:latin typeface="Arial" panose="020B0604020202020204" pitchFamily="34" charset="0"/>
                <a:ea typeface="ＭＳ ゴシック" panose="020B0609070205080204" pitchFamily="49" charset="-128"/>
              </a:rPr>
              <a:t>lồng</a:t>
            </a:r>
            <a:r>
              <a:rPr lang="en-US" altLang="ja-JP" dirty="0">
                <a:latin typeface="Arial" panose="020B0604020202020204" pitchFamily="34" charset="0"/>
                <a:ea typeface="ＭＳ ゴシック" panose="020B0609070205080204" pitchFamily="49" charset="-128"/>
              </a:rPr>
              <a:t>)</a:t>
            </a:r>
            <a:r>
              <a:rPr lang="ja-JP" altLang="en-US" dirty="0">
                <a:latin typeface="Arial" panose="020B0604020202020204" pitchFamily="34" charset="0"/>
                <a:ea typeface="ＭＳ ゴシック" panose="020B0609070205080204" pitchFamily="49" charset="-128"/>
              </a:rPr>
              <a:t>（</a:t>
            </a:r>
            <a:r>
              <a:rPr lang="en-US" altLang="ja-JP" dirty="0">
                <a:latin typeface="Arial" panose="020B0604020202020204" pitchFamily="34" charset="0"/>
                <a:ea typeface="ＭＳ ゴシック" panose="020B0609070205080204" pitchFamily="49" charset="-128"/>
              </a:rPr>
              <a:t>2</a:t>
            </a:r>
            <a:r>
              <a:rPr lang="ja-JP" altLang="en-US" dirty="0">
                <a:latin typeface="Arial" panose="020B0604020202020204" pitchFamily="34" charset="0"/>
                <a:ea typeface="ＭＳ ゴシック" panose="020B0609070205080204" pitchFamily="49" charset="-128"/>
              </a:rPr>
              <a:t>）</a:t>
            </a:r>
          </a:p>
        </p:txBody>
      </p:sp>
      <p:sp>
        <p:nvSpPr>
          <p:cNvPr id="753667" name="Rectangle 3">
            <a:extLst>
              <a:ext uri="{FF2B5EF4-FFF2-40B4-BE49-F238E27FC236}">
                <a16:creationId xmlns:a16="http://schemas.microsoft.com/office/drawing/2014/main" id="{99AAB26C-0538-2523-B816-B811C46B9B8A}"/>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53668" name="Rectangle 4">
            <a:extLst>
              <a:ext uri="{FF2B5EF4-FFF2-40B4-BE49-F238E27FC236}">
                <a16:creationId xmlns:a16="http://schemas.microsoft.com/office/drawing/2014/main" id="{4BC370C4-280F-9E04-810B-5D8B0F6F92CF}"/>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en-US" sz="2400" b="0">
                <a:latin typeface="Arial" panose="020B0604020202020204" pitchFamily="34" charset="0"/>
                <a:ea typeface="ＭＳ ゴシック" panose="020B0609070205080204" pitchFamily="49" charset="-128"/>
              </a:rPr>
              <a:t>Nest của câu lệnh if </a:t>
            </a:r>
            <a:r>
              <a:rPr lang="en-US" altLang="en-US" sz="2400" b="0">
                <a:latin typeface="Arial" panose="020B0604020202020204" pitchFamily="34" charset="0"/>
              </a:rPr>
              <a:t>(lồng)</a:t>
            </a:r>
            <a:endParaRPr lang="en-US" altLang="ja-JP" sz="2400" b="0">
              <a:latin typeface="Arial" panose="020B0604020202020204" pitchFamily="34" charset="0"/>
            </a:endParaRPr>
          </a:p>
          <a:p>
            <a:pPr>
              <a:buFont typeface="Wingdings" panose="05000000000000000000" pitchFamily="2" charset="2"/>
              <a:buNone/>
            </a:pPr>
            <a:r>
              <a:rPr lang="en-US" altLang="ja-JP" sz="2000" b="0">
                <a:latin typeface="Arial" panose="020B0604020202020204" pitchFamily="34" charset="0"/>
              </a:rPr>
              <a:t>●Ví dụ: Biểu thị việc x và y có lớn hơn 0 không?</a:t>
            </a:r>
          </a:p>
          <a:p>
            <a:pPr>
              <a:spcBef>
                <a:spcPct val="50000"/>
              </a:spcBef>
              <a:buFont typeface="Wingdings" panose="05000000000000000000" pitchFamily="2" charset="2"/>
              <a:buNone/>
            </a:pPr>
            <a:endParaRPr lang="en-US" altLang="ja-JP" sz="2400" b="0">
              <a:latin typeface="Arial" panose="020B0604020202020204" pitchFamily="34" charset="0"/>
            </a:endParaRPr>
          </a:p>
        </p:txBody>
      </p:sp>
      <p:sp>
        <p:nvSpPr>
          <p:cNvPr id="753670" name="Rectangle 6">
            <a:extLst>
              <a:ext uri="{FF2B5EF4-FFF2-40B4-BE49-F238E27FC236}">
                <a16:creationId xmlns:a16="http://schemas.microsoft.com/office/drawing/2014/main" id="{1B859A22-7F99-6250-90ED-FEB4305DD8F8}"/>
              </a:ext>
            </a:extLst>
          </p:cNvPr>
          <p:cNvSpPr>
            <a:spLocks noChangeArrowheads="1"/>
          </p:cNvSpPr>
          <p:nvPr/>
        </p:nvSpPr>
        <p:spPr bwMode="auto">
          <a:xfrm>
            <a:off x="344488" y="1565275"/>
            <a:ext cx="8980487" cy="49085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spcBef>
                <a:spcPct val="0"/>
              </a:spcBef>
            </a:pPr>
            <a:r>
              <a:rPr lang="en-US" altLang="ja-JP" sz="1800" b="0">
                <a:latin typeface="Arial" panose="020B0604020202020204" pitchFamily="34" charset="0"/>
                <a:ea typeface="ＭＳ ゴシック" panose="020B0609070205080204" pitchFamily="49" charset="-128"/>
              </a:rPr>
              <a:t>int x = 5;</a:t>
            </a:r>
          </a:p>
          <a:p>
            <a:pPr lvl="1">
              <a:spcBef>
                <a:spcPct val="0"/>
              </a:spcBef>
            </a:pPr>
            <a:r>
              <a:rPr lang="en-US" altLang="ja-JP" sz="1800" b="0">
                <a:latin typeface="Arial" panose="020B0604020202020204" pitchFamily="34" charset="0"/>
                <a:ea typeface="ＭＳ ゴシック" panose="020B0609070205080204" pitchFamily="49" charset="-128"/>
              </a:rPr>
              <a:t>int y = -2;</a:t>
            </a:r>
          </a:p>
          <a:p>
            <a:pPr lvl="1">
              <a:lnSpc>
                <a:spcPct val="130000"/>
              </a:lnSpc>
              <a:spcBef>
                <a:spcPct val="50000"/>
              </a:spcBef>
            </a:pPr>
            <a:r>
              <a:rPr lang="en-US" altLang="ja-JP" sz="1800" b="0">
                <a:latin typeface="Arial" panose="020B0604020202020204" pitchFamily="34" charset="0"/>
                <a:ea typeface="ＭＳ ゴシック" panose="020B0609070205080204" pitchFamily="49" charset="-128"/>
              </a:rPr>
              <a:t>if ( x &gt; 0 ) {</a:t>
            </a:r>
          </a:p>
          <a:p>
            <a:pPr lvl="1">
              <a:lnSpc>
                <a:spcPct val="130000"/>
              </a:lnSpc>
              <a:spcBef>
                <a:spcPct val="30000"/>
              </a:spcBef>
            </a:pPr>
            <a:r>
              <a:rPr lang="en-US" altLang="ja-JP" sz="1800" b="0">
                <a:latin typeface="Arial" panose="020B0604020202020204" pitchFamily="34" charset="0"/>
                <a:ea typeface="ＭＳ ゴシック" panose="020B0609070205080204" pitchFamily="49" charset="-128"/>
              </a:rPr>
              <a:t>    if ( y &gt; 0 ) {</a:t>
            </a:r>
          </a:p>
          <a:p>
            <a:pPr lvl="1">
              <a:lnSpc>
                <a:spcPct val="130000"/>
              </a:lnSpc>
              <a:spcBef>
                <a:spcPct val="0"/>
              </a:spcBef>
            </a:pPr>
            <a:r>
              <a:rPr lang="en-US" altLang="ja-JP" sz="1800" b="0">
                <a:latin typeface="Arial" panose="020B0604020202020204" pitchFamily="34" charset="0"/>
                <a:ea typeface="ＭＳ ゴシック" panose="020B0609070205080204" pitchFamily="49" charset="-128"/>
              </a:rPr>
              <a:t>        System.out.println(“Cả x và y đều &gt; 0");</a:t>
            </a:r>
          </a:p>
          <a:p>
            <a:pPr lvl="1">
              <a:lnSpc>
                <a:spcPct val="130000"/>
              </a:lnSpc>
              <a:spcBef>
                <a:spcPct val="0"/>
              </a:spcBef>
            </a:pPr>
            <a:r>
              <a:rPr lang="en-US" altLang="ja-JP" sz="1800" b="0">
                <a:latin typeface="Arial" panose="020B0604020202020204" pitchFamily="34" charset="0"/>
                <a:ea typeface="ＭＳ ゴシック" panose="020B0609070205080204" pitchFamily="49" charset="-128"/>
              </a:rPr>
              <a:t>    }  else {</a:t>
            </a:r>
          </a:p>
          <a:p>
            <a:pPr lvl="1">
              <a:lnSpc>
                <a:spcPct val="130000"/>
              </a:lnSpc>
              <a:spcBef>
                <a:spcPct val="0"/>
              </a:spcBef>
            </a:pPr>
            <a:r>
              <a:rPr lang="en-US" altLang="ja-JP" sz="1800" b="0">
                <a:latin typeface="Arial" panose="020B0604020202020204" pitchFamily="34" charset="0"/>
                <a:ea typeface="ＭＳ ゴシック" panose="020B0609070205080204" pitchFamily="49" charset="-128"/>
              </a:rPr>
              <a:t>        System.out.println("x &gt; 0, và y &lt;=0");</a:t>
            </a:r>
            <a:r>
              <a:rPr lang="ja-JP" altLang="en-US" sz="1800" b="0">
                <a:latin typeface="Arial" panose="020B0604020202020204" pitchFamily="34" charset="0"/>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//Hiển thị câu này</a:t>
            </a:r>
          </a:p>
          <a:p>
            <a:pPr lvl="1">
              <a:lnSpc>
                <a:spcPct val="130000"/>
              </a:lnSpc>
              <a:spcBef>
                <a:spcPct val="0"/>
              </a:spcBef>
            </a:pPr>
            <a:r>
              <a:rPr lang="en-US" altLang="ja-JP" sz="1800" b="0">
                <a:latin typeface="Arial" panose="020B0604020202020204" pitchFamily="34" charset="0"/>
                <a:ea typeface="ＭＳ ゴシック" panose="020B0609070205080204" pitchFamily="49" charset="-128"/>
              </a:rPr>
              <a:t>    }</a:t>
            </a:r>
          </a:p>
          <a:p>
            <a:pPr lvl="1">
              <a:spcBef>
                <a:spcPct val="0"/>
              </a:spcBef>
            </a:pPr>
            <a:r>
              <a:rPr lang="en-US" altLang="ja-JP" sz="1800" b="0">
                <a:latin typeface="Arial" panose="020B0604020202020204" pitchFamily="34" charset="0"/>
                <a:ea typeface="ＭＳ ゴシック" panose="020B0609070205080204" pitchFamily="49" charset="-128"/>
              </a:rPr>
              <a:t>} else {</a:t>
            </a:r>
          </a:p>
          <a:p>
            <a:pPr lvl="1">
              <a:spcBef>
                <a:spcPct val="0"/>
              </a:spcBef>
            </a:pPr>
            <a:r>
              <a:rPr lang="en-US" altLang="ja-JP" sz="1800" b="0">
                <a:latin typeface="Arial" panose="020B0604020202020204" pitchFamily="34" charset="0"/>
                <a:ea typeface="ＭＳ ゴシック" panose="020B0609070205080204" pitchFamily="49" charset="-128"/>
              </a:rPr>
              <a:t>    if (y &gt; 0) {</a:t>
            </a:r>
          </a:p>
          <a:p>
            <a:pPr lvl="1">
              <a:spcBef>
                <a:spcPct val="0"/>
              </a:spcBef>
            </a:pPr>
            <a:r>
              <a:rPr lang="en-US" altLang="ja-JP" sz="1800" b="0">
                <a:latin typeface="Arial" panose="020B0604020202020204" pitchFamily="34" charset="0"/>
                <a:ea typeface="ＭＳ ゴシック" panose="020B0609070205080204" pitchFamily="49" charset="-128"/>
              </a:rPr>
              <a:t>        System.out.println("x&lt;=0, và y &gt; 0");</a:t>
            </a:r>
          </a:p>
          <a:p>
            <a:pPr lvl="1">
              <a:spcBef>
                <a:spcPct val="0"/>
              </a:spcBef>
            </a:pPr>
            <a:r>
              <a:rPr lang="en-US" altLang="ja-JP" sz="1800" b="0">
                <a:latin typeface="Arial" panose="020B0604020202020204" pitchFamily="34" charset="0"/>
                <a:ea typeface="ＭＳ ゴシック" panose="020B0609070205080204" pitchFamily="49" charset="-128"/>
              </a:rPr>
              <a:t>    } else {</a:t>
            </a:r>
          </a:p>
          <a:p>
            <a:pPr lvl="1">
              <a:spcBef>
                <a:spcPct val="0"/>
              </a:spcBef>
            </a:pPr>
            <a:r>
              <a:rPr lang="en-US" altLang="ja-JP" sz="1800" b="0">
                <a:latin typeface="Arial" panose="020B0604020202020204" pitchFamily="34" charset="0"/>
                <a:ea typeface="ＭＳ ゴシック" panose="020B0609070205080204" pitchFamily="49" charset="-128"/>
              </a:rPr>
              <a:t>        System.out.println(“Cả x và y đều &lt;= 0");</a:t>
            </a:r>
          </a:p>
          <a:p>
            <a:pPr lvl="1">
              <a:spcBef>
                <a:spcPct val="0"/>
              </a:spcBef>
            </a:pPr>
            <a:r>
              <a:rPr lang="en-US" altLang="ja-JP" sz="1800" b="0">
                <a:latin typeface="Arial" panose="020B0604020202020204" pitchFamily="34" charset="0"/>
                <a:ea typeface="ＭＳ ゴシック" panose="020B0609070205080204" pitchFamily="49" charset="-128"/>
              </a:rPr>
              <a:t>    }</a:t>
            </a:r>
          </a:p>
          <a:p>
            <a:pPr lvl="1">
              <a:spcBef>
                <a:spcPct val="0"/>
              </a:spcBef>
            </a:pPr>
            <a:r>
              <a:rPr lang="en-US" altLang="ja-JP" sz="1800" b="0">
                <a:latin typeface="Arial" panose="020B0604020202020204" pitchFamily="34" charset="0"/>
                <a:ea typeface="ＭＳ ゴシック" panose="020B0609070205080204" pitchFamily="49" charset="-128"/>
              </a:rPr>
              <a:t>}</a:t>
            </a:r>
          </a:p>
        </p:txBody>
      </p:sp>
      <p:sp>
        <p:nvSpPr>
          <p:cNvPr id="753671" name="Rectangle 7">
            <a:extLst>
              <a:ext uri="{FF2B5EF4-FFF2-40B4-BE49-F238E27FC236}">
                <a16:creationId xmlns:a16="http://schemas.microsoft.com/office/drawing/2014/main" id="{4B9F0711-07F0-449A-E33F-1A5A3C590C81}"/>
              </a:ext>
            </a:extLst>
          </p:cNvPr>
          <p:cNvSpPr>
            <a:spLocks noChangeArrowheads="1"/>
          </p:cNvSpPr>
          <p:nvPr/>
        </p:nvSpPr>
        <p:spPr bwMode="auto">
          <a:xfrm>
            <a:off x="919163" y="2398713"/>
            <a:ext cx="555625" cy="255587"/>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3672" name="Text Box 8">
            <a:extLst>
              <a:ext uri="{FF2B5EF4-FFF2-40B4-BE49-F238E27FC236}">
                <a16:creationId xmlns:a16="http://schemas.microsoft.com/office/drawing/2014/main" id="{E4737D64-49DF-5810-1568-C3BB0A0D0520}"/>
              </a:ext>
            </a:extLst>
          </p:cNvPr>
          <p:cNvSpPr txBox="1">
            <a:spLocks noChangeArrowheads="1"/>
          </p:cNvSpPr>
          <p:nvPr/>
        </p:nvSpPr>
        <p:spPr bwMode="auto">
          <a:xfrm>
            <a:off x="3957638" y="1976438"/>
            <a:ext cx="2733676" cy="369332"/>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spcBef>
                <a:spcPct val="50000"/>
              </a:spcBef>
            </a:pPr>
            <a:r>
              <a:rPr lang="en-US" altLang="ja-JP" sz="1800" b="0" dirty="0">
                <a:latin typeface="+mj-lt"/>
              </a:rPr>
              <a:t>Trong VD </a:t>
            </a:r>
            <a:r>
              <a:rPr lang="en-US" altLang="ja-JP" sz="1800" b="0" dirty="0" err="1">
                <a:latin typeface="+mj-lt"/>
              </a:rPr>
              <a:t>này</a:t>
            </a:r>
            <a:r>
              <a:rPr lang="en-US" altLang="ja-JP" sz="1800" b="0" dirty="0">
                <a:latin typeface="+mj-lt"/>
              </a:rPr>
              <a:t> </a:t>
            </a:r>
            <a:r>
              <a:rPr lang="en-US" altLang="ja-JP" sz="1800" b="0" dirty="0" err="1">
                <a:latin typeface="+mj-lt"/>
              </a:rPr>
              <a:t>là</a:t>
            </a:r>
            <a:r>
              <a:rPr lang="en-US" altLang="ja-JP" sz="1800" b="0" dirty="0">
                <a:latin typeface="+mj-lt"/>
              </a:rPr>
              <a:t> true</a:t>
            </a:r>
          </a:p>
        </p:txBody>
      </p:sp>
      <p:cxnSp>
        <p:nvCxnSpPr>
          <p:cNvPr id="753673" name="AutoShape 9">
            <a:extLst>
              <a:ext uri="{FF2B5EF4-FFF2-40B4-BE49-F238E27FC236}">
                <a16:creationId xmlns:a16="http://schemas.microsoft.com/office/drawing/2014/main" id="{61B04621-51EB-486C-A9E1-77D7FBE3326E}"/>
              </a:ext>
            </a:extLst>
          </p:cNvPr>
          <p:cNvCxnSpPr>
            <a:cxnSpLocks noChangeShapeType="1"/>
            <a:stCxn id="753671" idx="0"/>
          </p:cNvCxnSpPr>
          <p:nvPr/>
        </p:nvCxnSpPr>
        <p:spPr bwMode="auto">
          <a:xfrm rot="16200000">
            <a:off x="2468563" y="923925"/>
            <a:ext cx="190500" cy="2733675"/>
          </a:xfrm>
          <a:prstGeom prst="bentConnector2">
            <a:avLst/>
          </a:prstGeom>
          <a:noFill/>
          <a:ln w="25400">
            <a:solidFill>
              <a:srgbClr val="3FB007"/>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3674" name="Rectangle 10">
            <a:extLst>
              <a:ext uri="{FF2B5EF4-FFF2-40B4-BE49-F238E27FC236}">
                <a16:creationId xmlns:a16="http://schemas.microsoft.com/office/drawing/2014/main" id="{1F1B1557-EC8B-C79C-608E-CB5F9AEF7C79}"/>
              </a:ext>
            </a:extLst>
          </p:cNvPr>
          <p:cNvSpPr>
            <a:spLocks noChangeArrowheads="1"/>
          </p:cNvSpPr>
          <p:nvPr/>
        </p:nvSpPr>
        <p:spPr bwMode="auto">
          <a:xfrm>
            <a:off x="1584325" y="2846388"/>
            <a:ext cx="685800" cy="27940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3675" name="Text Box 11">
            <a:extLst>
              <a:ext uri="{FF2B5EF4-FFF2-40B4-BE49-F238E27FC236}">
                <a16:creationId xmlns:a16="http://schemas.microsoft.com/office/drawing/2014/main" id="{BD99FE37-1661-776B-342B-9D111C72964C}"/>
              </a:ext>
            </a:extLst>
          </p:cNvPr>
          <p:cNvSpPr txBox="1">
            <a:spLocks noChangeArrowheads="1"/>
          </p:cNvSpPr>
          <p:nvPr/>
        </p:nvSpPr>
        <p:spPr bwMode="auto">
          <a:xfrm>
            <a:off x="3956050" y="2522538"/>
            <a:ext cx="2439988" cy="369332"/>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b="0" dirty="0">
                <a:latin typeface="+mj-lt"/>
              </a:rPr>
              <a:t>Trong VD </a:t>
            </a:r>
            <a:r>
              <a:rPr lang="en-US" altLang="ja-JP" sz="1800" b="0" dirty="0" err="1">
                <a:latin typeface="+mj-lt"/>
              </a:rPr>
              <a:t>này</a:t>
            </a:r>
            <a:r>
              <a:rPr lang="en-US" altLang="ja-JP" sz="1800" b="0" dirty="0">
                <a:latin typeface="+mj-lt"/>
              </a:rPr>
              <a:t> </a:t>
            </a:r>
            <a:r>
              <a:rPr lang="en-US" altLang="ja-JP" sz="1800" b="0" dirty="0" err="1">
                <a:latin typeface="+mj-lt"/>
              </a:rPr>
              <a:t>là</a:t>
            </a:r>
            <a:r>
              <a:rPr lang="en-US" altLang="ja-JP" sz="1800" b="0" dirty="0">
                <a:latin typeface="+mj-lt"/>
              </a:rPr>
              <a:t> false</a:t>
            </a:r>
          </a:p>
        </p:txBody>
      </p:sp>
      <p:sp>
        <p:nvSpPr>
          <p:cNvPr id="753677" name="Rectangle 13">
            <a:extLst>
              <a:ext uri="{FF2B5EF4-FFF2-40B4-BE49-F238E27FC236}">
                <a16:creationId xmlns:a16="http://schemas.microsoft.com/office/drawing/2014/main" id="{09ECC715-E0A6-4F3A-9C6B-4F95F62E4C13}"/>
              </a:ext>
            </a:extLst>
          </p:cNvPr>
          <p:cNvSpPr>
            <a:spLocks noChangeArrowheads="1"/>
          </p:cNvSpPr>
          <p:nvPr/>
        </p:nvSpPr>
        <p:spPr bwMode="auto">
          <a:xfrm>
            <a:off x="798513" y="3535363"/>
            <a:ext cx="8128000" cy="1012825"/>
          </a:xfrm>
          <a:prstGeom prst="rect">
            <a:avLst/>
          </a:prstGeom>
          <a:noFill/>
          <a:ln w="25400" algn="ctr">
            <a:solidFill>
              <a:srgbClr val="673EC1"/>
            </a:solidFill>
            <a:prstDash val="dash"/>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cxnSp>
        <p:nvCxnSpPr>
          <p:cNvPr id="753678" name="AutoShape 14">
            <a:extLst>
              <a:ext uri="{FF2B5EF4-FFF2-40B4-BE49-F238E27FC236}">
                <a16:creationId xmlns:a16="http://schemas.microsoft.com/office/drawing/2014/main" id="{9FCF602D-0B13-0F79-B326-65491D68E552}"/>
              </a:ext>
            </a:extLst>
          </p:cNvPr>
          <p:cNvCxnSpPr>
            <a:cxnSpLocks noChangeShapeType="1"/>
            <a:stCxn id="753674" idx="0"/>
            <a:endCxn id="753675" idx="1"/>
          </p:cNvCxnSpPr>
          <p:nvPr/>
        </p:nvCxnSpPr>
        <p:spPr bwMode="auto">
          <a:xfrm rot="5400000" flipH="1" flipV="1">
            <a:off x="2872045" y="1762384"/>
            <a:ext cx="139184" cy="2028825"/>
          </a:xfrm>
          <a:prstGeom prst="bentConnector2">
            <a:avLst/>
          </a:prstGeom>
          <a:noFill/>
          <a:ln w="25400">
            <a:solidFill>
              <a:srgbClr val="FF6600"/>
            </a:solidFill>
            <a:prstDash val="sysDot"/>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3682" name="Rectangle 18">
            <a:extLst>
              <a:ext uri="{FF2B5EF4-FFF2-40B4-BE49-F238E27FC236}">
                <a16:creationId xmlns:a16="http://schemas.microsoft.com/office/drawing/2014/main" id="{C2678425-A1AC-9118-D428-3F618698251C}"/>
              </a:ext>
            </a:extLst>
          </p:cNvPr>
          <p:cNvSpPr>
            <a:spLocks noChangeArrowheads="1"/>
          </p:cNvSpPr>
          <p:nvPr/>
        </p:nvSpPr>
        <p:spPr bwMode="auto">
          <a:xfrm>
            <a:off x="1108743" y="2799659"/>
            <a:ext cx="685800" cy="27940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9D7BED77-E07F-7577-EA4B-0D29AFE46B48}"/>
              </a:ext>
            </a:extLst>
          </p:cNvPr>
          <p:cNvSpPr>
            <a:spLocks noGrp="1"/>
          </p:cNvSpPr>
          <p:nvPr>
            <p:ph type="sldNum" sz="quarter" idx="10"/>
          </p:nvPr>
        </p:nvSpPr>
        <p:spPr/>
        <p:txBody>
          <a:bodyPr/>
          <a:lstStyle/>
          <a:p>
            <a:fld id="{4A102B31-002C-490D-A7A0-19EF26B90375}" type="slidenum">
              <a:rPr lang="en-US" altLang="ja-JP"/>
              <a:pPr/>
              <a:t>26</a:t>
            </a:fld>
            <a:endParaRPr lang="en-US" altLang="ja-JP"/>
          </a:p>
        </p:txBody>
      </p:sp>
      <p:sp>
        <p:nvSpPr>
          <p:cNvPr id="726024" name="Rectangle 8">
            <a:extLst>
              <a:ext uri="{FF2B5EF4-FFF2-40B4-BE49-F238E27FC236}">
                <a16:creationId xmlns:a16="http://schemas.microsoft.com/office/drawing/2014/main" id="{D335AF6C-466F-6714-FE5C-FD7EE1B31194}"/>
              </a:ext>
            </a:extLst>
          </p:cNvPr>
          <p:cNvSpPr>
            <a:spLocks noChangeArrowheads="1"/>
          </p:cNvSpPr>
          <p:nvPr/>
        </p:nvSpPr>
        <p:spPr bwMode="auto">
          <a:xfrm>
            <a:off x="395288" y="2462213"/>
            <a:ext cx="9069387" cy="39608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b="0">
                <a:latin typeface="Arial" panose="020B0604020202020204" pitchFamily="34" charset="0"/>
                <a:ea typeface="ＭＳ ゴシック" panose="020B0609070205080204" pitchFamily="49" charset="-128"/>
              </a:rPr>
              <a:t>int x = </a:t>
            </a:r>
            <a:r>
              <a:rPr lang="en-US" altLang="ja-JP" sz="1800" b="0">
                <a:latin typeface="Arial" panose="020B0604020202020204" pitchFamily="34" charset="0"/>
                <a:ea typeface="ＭＳ ゴシック" panose="020B0609070205080204" pitchFamily="49" charset="-128"/>
              </a:rPr>
              <a:t>2</a:t>
            </a:r>
            <a:r>
              <a:rPr lang="en-US" altLang="en-US" sz="1800" b="0">
                <a:latin typeface="Arial" panose="020B0604020202020204" pitchFamily="34" charset="0"/>
                <a:ea typeface="ＭＳ ゴシック" panose="020B0609070205080204" pitchFamily="49" charset="-128"/>
              </a:rPr>
              <a:t>;</a:t>
            </a:r>
          </a:p>
          <a:p>
            <a:pPr lvl="1"/>
            <a:r>
              <a:rPr lang="en-US" altLang="en-US" sz="1800" b="0">
                <a:latin typeface="Arial" panose="020B0604020202020204" pitchFamily="34" charset="0"/>
                <a:ea typeface="ＭＳ ゴシック" panose="020B0609070205080204" pitchFamily="49" charset="-128"/>
              </a:rPr>
              <a:t>switch (x) {</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case </a:t>
            </a:r>
            <a:r>
              <a:rPr lang="en-US" altLang="ja-JP" sz="1800" b="0">
                <a:latin typeface="Arial" panose="020B0604020202020204" pitchFamily="34" charset="0"/>
                <a:ea typeface="ＭＳ ゴシック" panose="020B0609070205080204" pitchFamily="49" charset="-128"/>
              </a:rPr>
              <a:t>1</a:t>
            </a:r>
            <a:r>
              <a:rPr lang="en-US" altLang="en-US" sz="1800" b="0">
                <a:latin typeface="Arial" panose="020B0604020202020204" pitchFamily="34" charset="0"/>
                <a:ea typeface="ＭＳ ゴシック" panose="020B0609070205080204" pitchFamily="49" charset="-128"/>
              </a:rPr>
              <a:t>:</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System.out.println(“Là </a:t>
            </a:r>
            <a:r>
              <a:rPr lang="en-US" altLang="ja-JP" sz="1800" b="0">
                <a:latin typeface="Arial" panose="020B0604020202020204" pitchFamily="34" charset="0"/>
                <a:ea typeface="ＭＳ ゴシック" panose="020B0609070205080204" pitchFamily="49" charset="-128"/>
              </a:rPr>
              <a:t>1</a:t>
            </a:r>
            <a:r>
              <a:rPr lang="en-US" altLang="en-US" sz="1800" b="0">
                <a:latin typeface="Arial" panose="020B0604020202020204" pitchFamily="34" charset="0"/>
                <a:ea typeface="ＭＳ ゴシック" panose="020B0609070205080204" pitchFamily="49" charset="-128"/>
              </a:rPr>
              <a:t>");</a:t>
            </a:r>
            <a:endParaRPr lang="en-US" altLang="ja-JP"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break;</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case </a:t>
            </a:r>
            <a:r>
              <a:rPr lang="en-US" altLang="ja-JP" sz="1800" b="0">
                <a:latin typeface="Arial" panose="020B0604020202020204" pitchFamily="34" charset="0"/>
                <a:ea typeface="ＭＳ ゴシック" panose="020B0609070205080204" pitchFamily="49" charset="-128"/>
              </a:rPr>
              <a:t>2</a:t>
            </a:r>
            <a:r>
              <a:rPr lang="en-US" altLang="en-US" sz="1800" b="0">
                <a:latin typeface="Arial" panose="020B0604020202020204" pitchFamily="34" charset="0"/>
                <a:ea typeface="ＭＳ ゴシック" panose="020B0609070205080204" pitchFamily="49" charset="-128"/>
              </a:rPr>
              <a:t>:</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System.out.println(“Là </a:t>
            </a:r>
            <a:r>
              <a:rPr lang="en-US" altLang="ja-JP" sz="1800" b="0">
                <a:latin typeface="Arial" panose="020B0604020202020204" pitchFamily="34" charset="0"/>
                <a:ea typeface="ＭＳ ゴシック" panose="020B0609070205080204" pitchFamily="49" charset="-128"/>
              </a:rPr>
              <a:t>2</a:t>
            </a:r>
            <a:r>
              <a:rPr lang="en-US" altLang="en-US" sz="1800" b="0">
                <a:latin typeface="Arial" panose="020B0604020202020204" pitchFamily="34" charset="0"/>
                <a:ea typeface="ＭＳ ゴシック" panose="020B0609070205080204" pitchFamily="49" charset="-128"/>
              </a:rPr>
              <a:t>"); </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break;</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default:</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System.out.println</a:t>
            </a:r>
            <a:br>
              <a:rPr lang="en-US" altLang="ja-JP" sz="1800" b="0">
                <a:latin typeface="Arial" panose="020B0604020202020204" pitchFamily="34" charset="0"/>
                <a:ea typeface="ＭＳ ゴシック" panose="020B0609070205080204" pitchFamily="49" charset="-128"/>
              </a:rPr>
            </a:br>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(“Khác </a:t>
            </a:r>
            <a:r>
              <a:rPr lang="en-US" altLang="ja-JP" sz="1800" b="0">
                <a:latin typeface="Arial" panose="020B0604020202020204" pitchFamily="34" charset="0"/>
                <a:ea typeface="ＭＳ ゴシック" panose="020B0609070205080204" pitchFamily="49" charset="-128"/>
              </a:rPr>
              <a:t>1 và 2</a:t>
            </a:r>
            <a:r>
              <a:rPr lang="en-US" altLang="en-US" sz="1800" b="0">
                <a:latin typeface="Arial" panose="020B0604020202020204" pitchFamily="34" charset="0"/>
                <a:ea typeface="ＭＳ ゴシック" panose="020B0609070205080204" pitchFamily="49" charset="-128"/>
              </a:rPr>
              <a:t>");</a:t>
            </a:r>
          </a:p>
          <a:p>
            <a:pPr lvl="1"/>
            <a:r>
              <a:rPr lang="en-US" altLang="en-US" sz="1800" b="0">
                <a:latin typeface="Arial" panose="020B0604020202020204" pitchFamily="34" charset="0"/>
                <a:ea typeface="ＭＳ ゴシック" panose="020B0609070205080204" pitchFamily="49" charset="-128"/>
              </a:rPr>
              <a:t>}</a:t>
            </a:r>
          </a:p>
        </p:txBody>
      </p:sp>
      <p:sp>
        <p:nvSpPr>
          <p:cNvPr id="726018" name="Rectangle 2">
            <a:extLst>
              <a:ext uri="{FF2B5EF4-FFF2-40B4-BE49-F238E27FC236}">
                <a16:creationId xmlns:a16="http://schemas.microsoft.com/office/drawing/2014/main" id="{7A60FF23-95F1-416B-4C40-FEC6CACF5660}"/>
              </a:ext>
            </a:extLst>
          </p:cNvPr>
          <p:cNvSpPr>
            <a:spLocks noGrp="1" noChangeArrowheads="1"/>
          </p:cNvSpPr>
          <p:nvPr>
            <p:ph type="title"/>
          </p:nvPr>
        </p:nvSpPr>
        <p:spPr>
          <a:xfrm>
            <a:off x="321468" y="328095"/>
            <a:ext cx="9217025" cy="490537"/>
          </a:xfrm>
        </p:spPr>
        <p:txBody>
          <a:bodyPr>
            <a:normAutofit fontScale="90000"/>
          </a:bodyPr>
          <a:lstStyle/>
          <a:p>
            <a:r>
              <a:rPr lang="en-US" altLang="en-US" dirty="0" err="1">
                <a:latin typeface="Arial" panose="020B0604020202020204" pitchFamily="34" charset="0"/>
                <a:ea typeface="MS UI Gothic" panose="020B0600070205080204" pitchFamily="50" charset="-128"/>
              </a:rPr>
              <a:t>Câu</a:t>
            </a:r>
            <a:r>
              <a:rPr lang="en-US" altLang="en-US" dirty="0">
                <a:latin typeface="Arial" panose="020B0604020202020204" pitchFamily="34" charset="0"/>
                <a:ea typeface="MS UI Gothic" panose="020B0600070205080204" pitchFamily="50" charset="-128"/>
              </a:rPr>
              <a:t> </a:t>
            </a:r>
            <a:r>
              <a:rPr lang="en-US" altLang="en-US" dirty="0" err="1">
                <a:latin typeface="Arial" panose="020B0604020202020204" pitchFamily="34" charset="0"/>
                <a:ea typeface="MS UI Gothic" panose="020B0600070205080204" pitchFamily="50" charset="-128"/>
              </a:rPr>
              <a:t>lệnh</a:t>
            </a:r>
            <a:r>
              <a:rPr lang="en-US" altLang="en-US" dirty="0">
                <a:latin typeface="Arial" panose="020B0604020202020204" pitchFamily="34" charset="0"/>
                <a:ea typeface="MS UI Gothic" panose="020B0600070205080204" pitchFamily="50" charset="-128"/>
              </a:rPr>
              <a:t> </a:t>
            </a:r>
            <a:r>
              <a:rPr lang="en-US" altLang="ja-JP" dirty="0">
                <a:latin typeface="Arial" panose="020B0604020202020204" pitchFamily="34" charset="0"/>
                <a:ea typeface="ＭＳ ゴシック" panose="020B0609070205080204" pitchFamily="49" charset="-128"/>
              </a:rPr>
              <a:t>switch</a:t>
            </a:r>
            <a:endParaRPr lang="en-US" altLang="ja-JP" dirty="0">
              <a:latin typeface="Arial" panose="020B0604020202020204" pitchFamily="34" charset="0"/>
              <a:ea typeface="MS UI Gothic" panose="020B0600070205080204" pitchFamily="50" charset="-128"/>
            </a:endParaRPr>
          </a:p>
        </p:txBody>
      </p:sp>
      <p:sp>
        <p:nvSpPr>
          <p:cNvPr id="726019" name="Rectangle 3">
            <a:extLst>
              <a:ext uri="{FF2B5EF4-FFF2-40B4-BE49-F238E27FC236}">
                <a16:creationId xmlns:a16="http://schemas.microsoft.com/office/drawing/2014/main" id="{089A7C28-4A2E-EB9E-BACF-7DF7A6458D2E}"/>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ea typeface="ＭＳ ゴシック" panose="020B0609070205080204" pitchFamily="49" charset="-128"/>
              </a:rPr>
              <a:t>Câu lệnh switch là</a:t>
            </a:r>
            <a:endParaRPr lang="en-US" altLang="ja-JP" sz="2400" b="0">
              <a:latin typeface="Arial" panose="020B0604020202020204" pitchFamily="34" charset="0"/>
            </a:endParaRPr>
          </a:p>
          <a:p>
            <a:endParaRPr lang="en-US" altLang="ja-JP" sz="2400" b="0">
              <a:latin typeface="Arial" panose="020B0604020202020204" pitchFamily="34" charset="0"/>
            </a:endParaRPr>
          </a:p>
        </p:txBody>
      </p:sp>
      <p:sp>
        <p:nvSpPr>
          <p:cNvPr id="726020" name="Rectangle 4">
            <a:extLst>
              <a:ext uri="{FF2B5EF4-FFF2-40B4-BE49-F238E27FC236}">
                <a16:creationId xmlns:a16="http://schemas.microsoft.com/office/drawing/2014/main" id="{86876273-ED21-FB2A-04AA-38B271E0DCA5}"/>
              </a:ext>
            </a:extLst>
          </p:cNvPr>
          <p:cNvSpPr>
            <a:spLocks noChangeArrowheads="1"/>
          </p:cNvSpPr>
          <p:nvPr/>
        </p:nvSpPr>
        <p:spPr bwMode="auto">
          <a:xfrm>
            <a:off x="344488" y="13128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câu lệnh kiểm soát phân nhánh chu trình xử lý thành nhiều nhánh tùy theo kết quả đánh giá của 1 biểu thức điều kiện</a:t>
            </a:r>
          </a:p>
        </p:txBody>
      </p:sp>
      <p:sp>
        <p:nvSpPr>
          <p:cNvPr id="726022" name="Rectangle 6">
            <a:extLst>
              <a:ext uri="{FF2B5EF4-FFF2-40B4-BE49-F238E27FC236}">
                <a16:creationId xmlns:a16="http://schemas.microsoft.com/office/drawing/2014/main" id="{8A3F21D0-34B5-C8CA-49DB-A14297F95560}"/>
              </a:ext>
            </a:extLst>
          </p:cNvPr>
          <p:cNvSpPr>
            <a:spLocks noChangeArrowheads="1"/>
          </p:cNvSpPr>
          <p:nvPr/>
        </p:nvSpPr>
        <p:spPr bwMode="auto">
          <a:xfrm>
            <a:off x="344488" y="19939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●Ví dụ</a:t>
            </a:r>
          </a:p>
        </p:txBody>
      </p:sp>
      <p:sp>
        <p:nvSpPr>
          <p:cNvPr id="726028" name="Rectangle 12">
            <a:extLst>
              <a:ext uri="{FF2B5EF4-FFF2-40B4-BE49-F238E27FC236}">
                <a16:creationId xmlns:a16="http://schemas.microsoft.com/office/drawing/2014/main" id="{9EB09C02-2843-C86A-E5BA-B9C149512AD7}"/>
              </a:ext>
            </a:extLst>
          </p:cNvPr>
          <p:cNvSpPr>
            <a:spLocks noChangeArrowheads="1"/>
          </p:cNvSpPr>
          <p:nvPr/>
        </p:nvSpPr>
        <p:spPr bwMode="auto">
          <a:xfrm>
            <a:off x="1333814" y="2850960"/>
            <a:ext cx="458787" cy="277813"/>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26029" name="AutoShape 13">
            <a:extLst>
              <a:ext uri="{FF2B5EF4-FFF2-40B4-BE49-F238E27FC236}">
                <a16:creationId xmlns:a16="http://schemas.microsoft.com/office/drawing/2014/main" id="{68726F43-9C5F-9926-3FEE-9F8C97C0A980}"/>
              </a:ext>
            </a:extLst>
          </p:cNvPr>
          <p:cNvSpPr>
            <a:spLocks noChangeArrowheads="1"/>
          </p:cNvSpPr>
          <p:nvPr/>
        </p:nvSpPr>
        <p:spPr bwMode="auto">
          <a:xfrm>
            <a:off x="2003425" y="2092325"/>
            <a:ext cx="2917825" cy="465138"/>
          </a:xfrm>
          <a:prstGeom prst="wedgeRoundRectCallout">
            <a:avLst>
              <a:gd name="adj1" fmla="val -55278"/>
              <a:gd name="adj2" fmla="val 105630"/>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600" dirty="0" err="1">
                <a:latin typeface="+mj-lt"/>
              </a:rPr>
              <a:t>Giá</a:t>
            </a:r>
            <a:r>
              <a:rPr lang="en-US" altLang="ja-JP" sz="1600" dirty="0">
                <a:latin typeface="+mj-lt"/>
              </a:rPr>
              <a:t> </a:t>
            </a:r>
            <a:r>
              <a:rPr lang="en-US" altLang="ja-JP" sz="1600" dirty="0" err="1">
                <a:latin typeface="+mj-lt"/>
              </a:rPr>
              <a:t>trị</a:t>
            </a:r>
            <a:r>
              <a:rPr lang="en-US" altLang="ja-JP" sz="1600" dirty="0">
                <a:latin typeface="+mj-lt"/>
              </a:rPr>
              <a:t> </a:t>
            </a:r>
            <a:r>
              <a:rPr lang="en-US" altLang="ja-JP" sz="1600" dirty="0" err="1">
                <a:latin typeface="+mj-lt"/>
              </a:rPr>
              <a:t>hoặc</a:t>
            </a:r>
            <a:r>
              <a:rPr lang="en-US" altLang="ja-JP" sz="1600" dirty="0">
                <a:latin typeface="+mj-lt"/>
              </a:rPr>
              <a:t> </a:t>
            </a:r>
            <a:r>
              <a:rPr lang="en-US" altLang="ja-JP" sz="1600" dirty="0" err="1">
                <a:latin typeface="+mj-lt"/>
              </a:rPr>
              <a:t>biểu</a:t>
            </a:r>
            <a:r>
              <a:rPr lang="en-US" altLang="ja-JP" sz="1600" dirty="0">
                <a:latin typeface="+mj-lt"/>
              </a:rPr>
              <a:t> </a:t>
            </a:r>
            <a:r>
              <a:rPr lang="en-US" altLang="ja-JP" sz="1600" dirty="0" err="1">
                <a:latin typeface="+mj-lt"/>
              </a:rPr>
              <a:t>thức</a:t>
            </a:r>
            <a:r>
              <a:rPr lang="en-US" altLang="ja-JP" sz="1600" dirty="0">
                <a:latin typeface="+mj-lt"/>
              </a:rPr>
              <a:t> </a:t>
            </a:r>
            <a:r>
              <a:rPr lang="en-US" altLang="ja-JP" sz="1600" dirty="0" err="1">
                <a:latin typeface="+mj-lt"/>
              </a:rPr>
              <a:t>muốn</a:t>
            </a:r>
            <a:r>
              <a:rPr lang="en-US" altLang="ja-JP" sz="1600" dirty="0">
                <a:latin typeface="+mj-lt"/>
              </a:rPr>
              <a:t> </a:t>
            </a:r>
            <a:r>
              <a:rPr lang="en-US" altLang="ja-JP" sz="1600" dirty="0" err="1">
                <a:latin typeface="+mj-lt"/>
              </a:rPr>
              <a:t>đánh</a:t>
            </a:r>
            <a:r>
              <a:rPr lang="en-US" altLang="ja-JP" sz="1600" dirty="0">
                <a:latin typeface="+mj-lt"/>
              </a:rPr>
              <a:t> </a:t>
            </a:r>
            <a:r>
              <a:rPr lang="en-US" altLang="ja-JP" sz="1600" dirty="0" err="1">
                <a:latin typeface="+mj-lt"/>
              </a:rPr>
              <a:t>giá</a:t>
            </a:r>
            <a:endParaRPr lang="en-US" altLang="ja-JP" sz="1600" dirty="0">
              <a:latin typeface="+mj-lt"/>
            </a:endParaRPr>
          </a:p>
        </p:txBody>
      </p:sp>
      <p:sp>
        <p:nvSpPr>
          <p:cNvPr id="726032" name="Rectangle 16">
            <a:extLst>
              <a:ext uri="{FF2B5EF4-FFF2-40B4-BE49-F238E27FC236}">
                <a16:creationId xmlns:a16="http://schemas.microsoft.com/office/drawing/2014/main" id="{8092511B-2740-1984-515B-51C2AF2A83CF}"/>
              </a:ext>
            </a:extLst>
          </p:cNvPr>
          <p:cNvSpPr>
            <a:spLocks noChangeArrowheads="1"/>
          </p:cNvSpPr>
          <p:nvPr/>
        </p:nvSpPr>
        <p:spPr bwMode="auto">
          <a:xfrm>
            <a:off x="1058863" y="4041775"/>
            <a:ext cx="3875087" cy="912813"/>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cxnSp>
        <p:nvCxnSpPr>
          <p:cNvPr id="726033" name="AutoShape 17">
            <a:extLst>
              <a:ext uri="{FF2B5EF4-FFF2-40B4-BE49-F238E27FC236}">
                <a16:creationId xmlns:a16="http://schemas.microsoft.com/office/drawing/2014/main" id="{98686C89-FAF6-5E05-E7CB-7DF9E862A1BE}"/>
              </a:ext>
            </a:extLst>
          </p:cNvPr>
          <p:cNvCxnSpPr>
            <a:cxnSpLocks noChangeShapeType="1"/>
            <a:stCxn id="726028" idx="1"/>
            <a:endCxn id="726037" idx="1"/>
          </p:cNvCxnSpPr>
          <p:nvPr/>
        </p:nvCxnSpPr>
        <p:spPr bwMode="auto">
          <a:xfrm rot="10800000" flipV="1">
            <a:off x="1104900" y="2989866"/>
            <a:ext cx="228914" cy="1194783"/>
          </a:xfrm>
          <a:prstGeom prst="curvedConnector3">
            <a:avLst>
              <a:gd name="adj1" fmla="val 199863"/>
            </a:avLst>
          </a:prstGeom>
          <a:noFill/>
          <a:ln w="25400">
            <a:solidFill>
              <a:srgbClr val="3FB007"/>
            </a:solidFill>
            <a:prstDash val="sysDot"/>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26037" name="Rectangle 21">
            <a:extLst>
              <a:ext uri="{FF2B5EF4-FFF2-40B4-BE49-F238E27FC236}">
                <a16:creationId xmlns:a16="http://schemas.microsoft.com/office/drawing/2014/main" id="{06DC67FA-585E-E846-6C98-1A876B4CB6AB}"/>
              </a:ext>
            </a:extLst>
          </p:cNvPr>
          <p:cNvSpPr>
            <a:spLocks noChangeArrowheads="1"/>
          </p:cNvSpPr>
          <p:nvPr/>
        </p:nvSpPr>
        <p:spPr bwMode="auto">
          <a:xfrm>
            <a:off x="1104900" y="4064000"/>
            <a:ext cx="825500" cy="2413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26038" name="Line 22">
            <a:extLst>
              <a:ext uri="{FF2B5EF4-FFF2-40B4-BE49-F238E27FC236}">
                <a16:creationId xmlns:a16="http://schemas.microsoft.com/office/drawing/2014/main" id="{F061A598-B39C-FF99-65D0-47B0281DD7F1}"/>
              </a:ext>
            </a:extLst>
          </p:cNvPr>
          <p:cNvSpPr>
            <a:spLocks noChangeShapeType="1"/>
          </p:cNvSpPr>
          <p:nvPr/>
        </p:nvSpPr>
        <p:spPr bwMode="auto">
          <a:xfrm>
            <a:off x="1346200" y="4292600"/>
            <a:ext cx="0" cy="584200"/>
          </a:xfrm>
          <a:prstGeom prst="line">
            <a:avLst/>
          </a:prstGeom>
          <a:noFill/>
          <a:ln w="25400">
            <a:solidFill>
              <a:srgbClr val="3FB007"/>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26039" name="Rectangle 23">
            <a:extLst>
              <a:ext uri="{FF2B5EF4-FFF2-40B4-BE49-F238E27FC236}">
                <a16:creationId xmlns:a16="http://schemas.microsoft.com/office/drawing/2014/main" id="{26815133-7A4E-6562-204A-B65739EF125D}"/>
              </a:ext>
            </a:extLst>
          </p:cNvPr>
          <p:cNvSpPr>
            <a:spLocks noChangeArrowheads="1"/>
          </p:cNvSpPr>
          <p:nvPr/>
        </p:nvSpPr>
        <p:spPr bwMode="auto">
          <a:xfrm>
            <a:off x="1447800" y="4635500"/>
            <a:ext cx="838200" cy="330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26040" name="Rectangle 24">
            <a:extLst>
              <a:ext uri="{FF2B5EF4-FFF2-40B4-BE49-F238E27FC236}">
                <a16:creationId xmlns:a16="http://schemas.microsoft.com/office/drawing/2014/main" id="{B266EB35-4906-5F4D-8221-444E3F7F974E}"/>
              </a:ext>
            </a:extLst>
          </p:cNvPr>
          <p:cNvSpPr>
            <a:spLocks noChangeArrowheads="1"/>
          </p:cNvSpPr>
          <p:nvPr/>
        </p:nvSpPr>
        <p:spPr bwMode="auto">
          <a:xfrm>
            <a:off x="4089400" y="6375400"/>
            <a:ext cx="685800" cy="203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726041" name="AutoShape 25">
            <a:extLst>
              <a:ext uri="{FF2B5EF4-FFF2-40B4-BE49-F238E27FC236}">
                <a16:creationId xmlns:a16="http://schemas.microsoft.com/office/drawing/2014/main" id="{417A82CA-C18D-E765-697A-88C6938AB2B3}"/>
              </a:ext>
            </a:extLst>
          </p:cNvPr>
          <p:cNvCxnSpPr>
            <a:cxnSpLocks noChangeShapeType="1"/>
            <a:stCxn id="726039" idx="3"/>
            <a:endCxn id="726040" idx="0"/>
          </p:cNvCxnSpPr>
          <p:nvPr/>
        </p:nvCxnSpPr>
        <p:spPr bwMode="auto">
          <a:xfrm>
            <a:off x="2286000" y="4800600"/>
            <a:ext cx="2146300" cy="1574800"/>
          </a:xfrm>
          <a:prstGeom prst="curvedConnector2">
            <a:avLst/>
          </a:prstGeom>
          <a:noFill/>
          <a:ln w="25400">
            <a:solidFill>
              <a:srgbClr val="3FB007"/>
            </a:solidFill>
            <a:prstDash val="sysDot"/>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26043" name="Rectangle 27">
            <a:extLst>
              <a:ext uri="{FF2B5EF4-FFF2-40B4-BE49-F238E27FC236}">
                <a16:creationId xmlns:a16="http://schemas.microsoft.com/office/drawing/2014/main" id="{822EDF9B-E3F9-F493-1D1E-09662C40F621}"/>
              </a:ext>
            </a:extLst>
          </p:cNvPr>
          <p:cNvSpPr>
            <a:spLocks noChangeArrowheads="1"/>
          </p:cNvSpPr>
          <p:nvPr/>
        </p:nvSpPr>
        <p:spPr bwMode="auto">
          <a:xfrm>
            <a:off x="538163" y="2847975"/>
            <a:ext cx="7735887" cy="3262313"/>
          </a:xfrm>
          <a:prstGeom prst="rect">
            <a:avLst/>
          </a:prstGeom>
          <a:noFill/>
          <a:ln w="25400" algn="ctr">
            <a:solidFill>
              <a:srgbClr val="673EC1"/>
            </a:solidFill>
            <a:prstDash val="dash"/>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26036" name="AutoShape 20">
            <a:extLst>
              <a:ext uri="{FF2B5EF4-FFF2-40B4-BE49-F238E27FC236}">
                <a16:creationId xmlns:a16="http://schemas.microsoft.com/office/drawing/2014/main" id="{5298AEEF-1DAB-59BF-AEC4-5D0AC615DEF8}"/>
              </a:ext>
            </a:extLst>
          </p:cNvPr>
          <p:cNvSpPr>
            <a:spLocks noChangeArrowheads="1"/>
          </p:cNvSpPr>
          <p:nvPr/>
        </p:nvSpPr>
        <p:spPr bwMode="auto">
          <a:xfrm>
            <a:off x="4473575" y="4591050"/>
            <a:ext cx="2689225" cy="1030288"/>
          </a:xfrm>
          <a:prstGeom prst="wedgeRoundRectCallout">
            <a:avLst>
              <a:gd name="adj1" fmla="val -52301"/>
              <a:gd name="adj2" fmla="val 97148"/>
              <a:gd name="adj3" fmla="val 16667"/>
            </a:avLst>
          </a:prstGeom>
          <a:solidFill>
            <a:srgbClr val="CCFFCC"/>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ea typeface="ＭＳ ゴシック" panose="020B0609070205080204" pitchFamily="49" charset="-128"/>
              </a:rPr>
              <a:t>Kết</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thúc</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câu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lệnh</a:t>
            </a:r>
            <a:r>
              <a:rPr lang="en-US" altLang="ja-JP" sz="1800" dirty="0">
                <a:latin typeface="+mj-lt"/>
                <a:ea typeface="ＭＳ ゴシック" panose="020B0609070205080204" pitchFamily="49" charset="-128"/>
              </a:rPr>
              <a:t> </a:t>
            </a:r>
            <a:r>
              <a:rPr lang="en-US" altLang="ja-JP" sz="1800" dirty="0">
                <a:latin typeface="+mj-lt"/>
              </a:rPr>
              <a:t>switch </a:t>
            </a:r>
            <a:r>
              <a:rPr lang="en-US" altLang="ja-JP" sz="1800" dirty="0" err="1">
                <a:latin typeface="+mj-lt"/>
              </a:rPr>
              <a:t>bằng</a:t>
            </a:r>
            <a:r>
              <a:rPr lang="en-US" altLang="ja-JP" sz="1800" dirty="0">
                <a:latin typeface="+mj-lt"/>
              </a:rPr>
              <a:t> </a:t>
            </a:r>
            <a:r>
              <a:rPr lang="en-US" altLang="ja-JP" sz="1800" dirty="0" err="1">
                <a:latin typeface="+mj-lt"/>
              </a:rPr>
              <a:t>câu</a:t>
            </a:r>
            <a:r>
              <a:rPr lang="en-US" altLang="ja-JP" sz="1800" dirty="0">
                <a:latin typeface="+mj-lt"/>
              </a:rPr>
              <a:t> </a:t>
            </a:r>
            <a:r>
              <a:rPr lang="en-US" altLang="ja-JP" sz="1800" dirty="0" err="1">
                <a:latin typeface="+mj-lt"/>
              </a:rPr>
              <a:t>lệnh</a:t>
            </a:r>
            <a:r>
              <a:rPr lang="en-US" altLang="ja-JP" sz="1800" dirty="0">
                <a:latin typeface="+mj-lt"/>
              </a:rPr>
              <a:t> break</a:t>
            </a:r>
          </a:p>
        </p:txBody>
      </p:sp>
      <p:sp>
        <p:nvSpPr>
          <p:cNvPr id="726034" name="AutoShape 18">
            <a:extLst>
              <a:ext uri="{FF2B5EF4-FFF2-40B4-BE49-F238E27FC236}">
                <a16:creationId xmlns:a16="http://schemas.microsoft.com/office/drawing/2014/main" id="{0C62315E-C8B3-152A-6526-139AB9A1861B}"/>
              </a:ext>
            </a:extLst>
          </p:cNvPr>
          <p:cNvSpPr>
            <a:spLocks noChangeArrowheads="1"/>
          </p:cNvSpPr>
          <p:nvPr/>
        </p:nvSpPr>
        <p:spPr bwMode="auto">
          <a:xfrm>
            <a:off x="5045075" y="3086100"/>
            <a:ext cx="2689225" cy="782638"/>
          </a:xfrm>
          <a:prstGeom prst="wedgeRoundRectCallout">
            <a:avLst>
              <a:gd name="adj1" fmla="val -55606"/>
              <a:gd name="adj2" fmla="val 125051"/>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Thực</a:t>
            </a:r>
            <a:r>
              <a:rPr lang="en-US" altLang="ja-JP" sz="1800" dirty="0">
                <a:latin typeface="+mj-lt"/>
              </a:rPr>
              <a:t> </a:t>
            </a:r>
            <a:r>
              <a:rPr lang="en-US" altLang="ja-JP" sz="1800" dirty="0" err="1">
                <a:latin typeface="+mj-lt"/>
              </a:rPr>
              <a:t>hiện</a:t>
            </a:r>
            <a:r>
              <a:rPr lang="en-US" altLang="ja-JP" sz="1800" dirty="0">
                <a:latin typeface="+mj-lt"/>
              </a:rPr>
              <a:t> </a:t>
            </a:r>
            <a:r>
              <a:rPr lang="en-US" altLang="ja-JP" sz="1800" dirty="0" err="1">
                <a:latin typeface="+mj-lt"/>
              </a:rPr>
              <a:t>xử</a:t>
            </a:r>
            <a:r>
              <a:rPr lang="en-US" altLang="ja-JP" sz="1800" dirty="0">
                <a:latin typeface="+mj-lt"/>
              </a:rPr>
              <a:t> </a:t>
            </a:r>
            <a:r>
              <a:rPr lang="en-US" altLang="ja-JP" sz="1800" dirty="0" err="1">
                <a:latin typeface="+mj-lt"/>
              </a:rPr>
              <a:t>lý</a:t>
            </a:r>
            <a:r>
              <a:rPr lang="en-US" altLang="ja-JP" sz="1800" dirty="0">
                <a:latin typeface="+mj-lt"/>
              </a:rPr>
              <a:t> ở label case </a:t>
            </a:r>
            <a:r>
              <a:rPr lang="en-US" altLang="ja-JP" sz="1800" dirty="0" err="1">
                <a:latin typeface="+mj-lt"/>
              </a:rPr>
              <a:t>phù</a:t>
            </a:r>
            <a:r>
              <a:rPr lang="en-US" altLang="ja-JP" sz="1800" dirty="0">
                <a:latin typeface="+mj-lt"/>
              </a:rPr>
              <a:t> </a:t>
            </a:r>
            <a:r>
              <a:rPr lang="en-US" altLang="ja-JP" sz="1800" dirty="0" err="1">
                <a:latin typeface="+mj-lt"/>
              </a:rPr>
              <a:t>hợp</a:t>
            </a:r>
            <a:endParaRPr lang="en-US" altLang="ja-JP" sz="1800" dirty="0">
              <a:latin typeface="+mj-l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41CED405-2423-1187-4F19-2BE11ABD9594}"/>
              </a:ext>
            </a:extLst>
          </p:cNvPr>
          <p:cNvSpPr>
            <a:spLocks noGrp="1"/>
          </p:cNvSpPr>
          <p:nvPr>
            <p:ph type="sldNum" sz="quarter" idx="10"/>
          </p:nvPr>
        </p:nvSpPr>
        <p:spPr/>
        <p:txBody>
          <a:bodyPr/>
          <a:lstStyle/>
          <a:p>
            <a:fld id="{9F87828E-59F9-4257-97B6-3DD2D57460F6}" type="slidenum">
              <a:rPr lang="en-US" altLang="ja-JP"/>
              <a:pPr/>
              <a:t>27</a:t>
            </a:fld>
            <a:endParaRPr lang="en-US" altLang="ja-JP"/>
          </a:p>
        </p:txBody>
      </p:sp>
      <p:sp>
        <p:nvSpPr>
          <p:cNvPr id="723970" name="Rectangle 2">
            <a:extLst>
              <a:ext uri="{FF2B5EF4-FFF2-40B4-BE49-F238E27FC236}">
                <a16:creationId xmlns:a16="http://schemas.microsoft.com/office/drawing/2014/main" id="{F17E69F4-94A5-A7CC-A41D-293362DFF3CF}"/>
              </a:ext>
            </a:extLst>
          </p:cNvPr>
          <p:cNvSpPr>
            <a:spLocks noGrp="1" noChangeArrowheads="1"/>
          </p:cNvSpPr>
          <p:nvPr>
            <p:ph type="title"/>
          </p:nvPr>
        </p:nvSpPr>
        <p:spPr/>
        <p:txBody>
          <a:bodyPr>
            <a:normAutofit fontScale="90000"/>
          </a:bodyPr>
          <a:lstStyle/>
          <a:p>
            <a:r>
              <a:rPr lang="en-US" altLang="ja-JP">
                <a:latin typeface="Arial" panose="020B0604020202020204" pitchFamily="34" charset="0"/>
                <a:ea typeface="MS UI Gothic" panose="020B0600070205080204" pitchFamily="50" charset="-128"/>
              </a:rPr>
              <a:t>7.7</a:t>
            </a:r>
            <a:r>
              <a:rPr lang="ja-JP" altLang="en-US">
                <a:latin typeface="Arial" panose="020B0604020202020204" pitchFamily="34" charset="0"/>
                <a:ea typeface="MS UI Gothic" panose="020B0600070205080204" pitchFamily="50" charset="-128"/>
              </a:rPr>
              <a:t>　</a:t>
            </a:r>
            <a:r>
              <a:rPr lang="en-US" altLang="ja-JP">
                <a:latin typeface="Arial" panose="020B0604020202020204" pitchFamily="34" charset="0"/>
                <a:ea typeface="MS UI Gothic" panose="020B0600070205080204" pitchFamily="50" charset="-128"/>
              </a:rPr>
              <a:t>Câu lệnh switch có chứa câu lệnh </a:t>
            </a:r>
            <a:r>
              <a:rPr lang="en-US" altLang="ja-JP">
                <a:latin typeface="Arial" panose="020B0604020202020204" pitchFamily="34" charset="0"/>
                <a:ea typeface="ＭＳ ゴシック" panose="020B0609070205080204" pitchFamily="49" charset="-128"/>
              </a:rPr>
              <a:t>break</a:t>
            </a:r>
            <a:endParaRPr lang="en-US" altLang="ja-JP">
              <a:latin typeface="Arial" panose="020B0604020202020204" pitchFamily="34" charset="0"/>
              <a:ea typeface="MS UI Gothic" panose="020B0600070205080204" pitchFamily="50" charset="-128"/>
            </a:endParaRPr>
          </a:p>
        </p:txBody>
      </p:sp>
      <p:sp>
        <p:nvSpPr>
          <p:cNvPr id="723971" name="Rectangle 3">
            <a:extLst>
              <a:ext uri="{FF2B5EF4-FFF2-40B4-BE49-F238E27FC236}">
                <a16:creationId xmlns:a16="http://schemas.microsoft.com/office/drawing/2014/main" id="{A6FFBB09-A700-4506-8D73-4352C8853C74}"/>
              </a:ext>
            </a:extLst>
          </p:cNvPr>
          <p:cNvSpPr>
            <a:spLocks noChangeArrowheads="1"/>
          </p:cNvSpPr>
          <p:nvPr/>
        </p:nvSpPr>
        <p:spPr bwMode="auto">
          <a:xfrm>
            <a:off x="-979488" y="18700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23972" name="Rectangle 4">
            <a:extLst>
              <a:ext uri="{FF2B5EF4-FFF2-40B4-BE49-F238E27FC236}">
                <a16:creationId xmlns:a16="http://schemas.microsoft.com/office/drawing/2014/main" id="{1283BF0E-4786-3521-D921-040C195CD06D}"/>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ea typeface="ＭＳ ゴシック" panose="020B0609070205080204" pitchFamily="49" charset="-128"/>
              </a:rPr>
              <a:t>Câu lệnh switch chứa câu lệnh </a:t>
            </a:r>
            <a:r>
              <a:rPr lang="en-US" altLang="en-US" sz="2400" b="0">
                <a:latin typeface="Arial" panose="020B0604020202020204" pitchFamily="34" charset="0"/>
                <a:ea typeface="ＭＳ ゴシック" panose="020B0609070205080204" pitchFamily="49" charset="-128"/>
              </a:rPr>
              <a:t>break</a:t>
            </a:r>
            <a:endParaRPr lang="en-US" altLang="ja-JP" sz="2400" b="0">
              <a:latin typeface="Arial" panose="020B0604020202020204" pitchFamily="34" charset="0"/>
            </a:endParaRPr>
          </a:p>
          <a:p>
            <a:pPr>
              <a:spcBef>
                <a:spcPct val="50000"/>
              </a:spcBef>
              <a:buFont typeface="Wingdings" panose="05000000000000000000" pitchFamily="2" charset="2"/>
              <a:buNone/>
            </a:pPr>
            <a:r>
              <a:rPr lang="en-US" altLang="ja-JP" sz="2000" b="0">
                <a:latin typeface="Arial" panose="020B0604020202020204" pitchFamily="34" charset="0"/>
              </a:rPr>
              <a:t>●</a:t>
            </a:r>
            <a:r>
              <a:rPr lang="en-US" altLang="ja-JP" sz="1800" b="0">
                <a:latin typeface="Arial" panose="020B0604020202020204" pitchFamily="34" charset="0"/>
              </a:rPr>
              <a:t>Cú pháp cơ bản</a:t>
            </a:r>
          </a:p>
          <a:p>
            <a:pPr lvl="1"/>
            <a:endParaRPr lang="en-US" altLang="ja-JP" sz="2400" b="0">
              <a:latin typeface="Arial" panose="020B0604020202020204" pitchFamily="34" charset="0"/>
            </a:endParaRPr>
          </a:p>
        </p:txBody>
      </p:sp>
      <p:grpSp>
        <p:nvGrpSpPr>
          <p:cNvPr id="724007" name="Group 39">
            <a:extLst>
              <a:ext uri="{FF2B5EF4-FFF2-40B4-BE49-F238E27FC236}">
                <a16:creationId xmlns:a16="http://schemas.microsoft.com/office/drawing/2014/main" id="{ED8D6230-0E91-7E51-0E38-DA80C708AFD2}"/>
              </a:ext>
            </a:extLst>
          </p:cNvPr>
          <p:cNvGrpSpPr>
            <a:grpSpLocks/>
          </p:cNvGrpSpPr>
          <p:nvPr/>
        </p:nvGrpSpPr>
        <p:grpSpPr bwMode="auto">
          <a:xfrm>
            <a:off x="344488" y="1252538"/>
            <a:ext cx="9120187" cy="4884737"/>
            <a:chOff x="217" y="789"/>
            <a:chExt cx="5745" cy="3077"/>
          </a:xfrm>
        </p:grpSpPr>
        <p:sp>
          <p:nvSpPr>
            <p:cNvPr id="723974" name="Text Box 6">
              <a:extLst>
                <a:ext uri="{FF2B5EF4-FFF2-40B4-BE49-F238E27FC236}">
                  <a16:creationId xmlns:a16="http://schemas.microsoft.com/office/drawing/2014/main" id="{31CAE5FF-8270-733A-696F-022EEA45B478}"/>
                </a:ext>
              </a:extLst>
            </p:cNvPr>
            <p:cNvSpPr txBox="1">
              <a:spLocks noChangeArrowheads="1"/>
            </p:cNvSpPr>
            <p:nvPr/>
          </p:nvSpPr>
          <p:spPr bwMode="auto">
            <a:xfrm>
              <a:off x="217" y="1197"/>
              <a:ext cx="5745" cy="2669"/>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1800">
                  <a:ea typeface="ＭＳ ゴシック" panose="020B0609070205080204" pitchFamily="49" charset="-128"/>
                </a:rPr>
                <a:t>switch (Giá trị hoặc biểu thức muốn đánh giá) {</a:t>
              </a:r>
            </a:p>
            <a:p>
              <a:pPr lvl="1" algn="just">
                <a:lnSpc>
                  <a:spcPct val="112000"/>
                </a:lnSpc>
              </a:pPr>
              <a:endParaRPr lang="en-US" altLang="ja-JP" sz="1800">
                <a:ea typeface="ＭＳ ゴシック" panose="020B0609070205080204" pitchFamily="49" charset="-128"/>
              </a:endParaRPr>
            </a:p>
            <a:p>
              <a:pPr lvl="1" algn="just">
                <a:lnSpc>
                  <a:spcPct val="112000"/>
                </a:lnSpc>
              </a:pPr>
              <a:r>
                <a:rPr lang="en-US" altLang="ja-JP" sz="1800">
                  <a:ea typeface="ＭＳ ゴシック" panose="020B0609070205080204" pitchFamily="49" charset="-128"/>
                </a:rPr>
                <a:t>    case Biểu thức hằng số </a:t>
              </a:r>
              <a:r>
                <a:rPr lang="ja-JP" altLang="en-US" sz="1800">
                  <a:ea typeface="MS UI Gothic" panose="020B0600070205080204" pitchFamily="50" charset="-128"/>
                </a:rPr>
                <a:t>１</a:t>
              </a:r>
              <a:r>
                <a:rPr lang="en-US" altLang="ja-JP" sz="1800">
                  <a:ea typeface="ＭＳ ゴシック" panose="020B0609070205080204" pitchFamily="49" charset="-128"/>
                </a:rPr>
                <a:t>:</a:t>
              </a:r>
            </a:p>
            <a:p>
              <a:pPr lvl="1" algn="just">
                <a:lnSpc>
                  <a:spcPct val="112000"/>
                </a:lnSpc>
              </a:pPr>
              <a:r>
                <a:rPr lang="en-US" altLang="ja-JP" sz="1800">
                  <a:ea typeface="ＭＳ ゴシック" panose="020B0609070205080204" pitchFamily="49" charset="-128"/>
                </a:rPr>
                <a:t>        Xử lý của trường hợp giá trị hoặc biểu thức muốn đánh giá bằng với biểu thức hằng số 1</a:t>
              </a:r>
              <a:endParaRPr lang="en-US" altLang="ja-JP" sz="1800">
                <a:ea typeface="MS UI Gothic" panose="020B0600070205080204" pitchFamily="50" charset="-128"/>
              </a:endParaRPr>
            </a:p>
            <a:p>
              <a:pPr lvl="1" algn="just">
                <a:lnSpc>
                  <a:spcPct val="112000"/>
                </a:lnSpc>
              </a:pPr>
              <a:r>
                <a:rPr lang="en-US" altLang="ja-JP" sz="1800">
                  <a:ea typeface="ＭＳ ゴシック" panose="020B0609070205080204" pitchFamily="49" charset="-128"/>
                </a:rPr>
                <a:t>        break;</a:t>
              </a:r>
            </a:p>
            <a:p>
              <a:pPr lvl="1" algn="just">
                <a:lnSpc>
                  <a:spcPct val="112000"/>
                </a:lnSpc>
              </a:pPr>
              <a:r>
                <a:rPr lang="en-US" altLang="ja-JP" sz="1800">
                  <a:ea typeface="ＭＳ ゴシック" panose="020B0609070205080204" pitchFamily="49" charset="-128"/>
                </a:rPr>
                <a:t>            </a:t>
              </a:r>
              <a:r>
                <a:rPr lang="ja-JP" altLang="en-US" sz="1800">
                  <a:ea typeface="ＭＳ ゴシック" panose="020B0609070205080204" pitchFamily="49" charset="-128"/>
                </a:rPr>
                <a:t>：</a:t>
              </a:r>
            </a:p>
            <a:p>
              <a:pPr lvl="1" algn="just">
                <a:lnSpc>
                  <a:spcPct val="112000"/>
                </a:lnSpc>
              </a:pPr>
              <a:r>
                <a:rPr lang="ja-JP" altLang="en-US" sz="1800">
                  <a:ea typeface="ＭＳ ゴシック" panose="020B0609070205080204" pitchFamily="49" charset="-128"/>
                </a:rPr>
                <a:t>    </a:t>
              </a:r>
              <a:r>
                <a:rPr lang="en-US" altLang="ja-JP" sz="1800">
                  <a:ea typeface="ＭＳ ゴシック" panose="020B0609070205080204" pitchFamily="49" charset="-128"/>
                </a:rPr>
                <a:t>case Biểu thức hằng số </a:t>
              </a:r>
              <a:r>
                <a:rPr lang="ja-JP" altLang="en-US" sz="1800">
                  <a:ea typeface="MS UI Gothic" panose="020B0600070205080204" pitchFamily="50" charset="-128"/>
                </a:rPr>
                <a:t>ｎ</a:t>
              </a:r>
              <a:r>
                <a:rPr lang="en-US" altLang="ja-JP" sz="1800">
                  <a:ea typeface="ＭＳ ゴシック" panose="020B0609070205080204" pitchFamily="49" charset="-128"/>
                </a:rPr>
                <a:t>:</a:t>
              </a:r>
            </a:p>
            <a:p>
              <a:pPr lvl="1" algn="just">
                <a:lnSpc>
                  <a:spcPct val="112000"/>
                </a:lnSpc>
              </a:pPr>
              <a:r>
                <a:rPr lang="en-US" altLang="ja-JP" sz="1800">
                  <a:ea typeface="ＭＳ ゴシック" panose="020B0609070205080204" pitchFamily="49" charset="-128"/>
                </a:rPr>
                <a:t>        Xử lý của trường hợp giá trị hoặc biểu thức muốn đánh giá bằng biểu thức hằng số n</a:t>
              </a:r>
              <a:endParaRPr lang="en-US" altLang="ja-JP" sz="1800">
                <a:ea typeface="MS UI Gothic" panose="020B0600070205080204" pitchFamily="50" charset="-128"/>
              </a:endParaRPr>
            </a:p>
            <a:p>
              <a:pPr lvl="1" algn="just">
                <a:lnSpc>
                  <a:spcPct val="112000"/>
                </a:lnSpc>
              </a:pPr>
              <a:r>
                <a:rPr lang="en-US" altLang="ja-JP" sz="1800">
                  <a:ea typeface="ＭＳ ゴシック" panose="020B0609070205080204" pitchFamily="49" charset="-128"/>
                </a:rPr>
                <a:t>        break;</a:t>
              </a:r>
            </a:p>
            <a:p>
              <a:pPr lvl="1" algn="just">
                <a:lnSpc>
                  <a:spcPct val="112000"/>
                </a:lnSpc>
              </a:pPr>
              <a:r>
                <a:rPr lang="en-US" altLang="ja-JP" sz="1800">
                  <a:ea typeface="ＭＳ ゴシック" panose="020B0609070205080204" pitchFamily="49" charset="-128"/>
                </a:rPr>
                <a:t>    default:</a:t>
              </a:r>
            </a:p>
            <a:p>
              <a:pPr lvl="1" algn="just">
                <a:lnSpc>
                  <a:spcPct val="112000"/>
                </a:lnSpc>
              </a:pPr>
              <a:r>
                <a:rPr lang="en-US" altLang="ja-JP" sz="1800">
                  <a:ea typeface="ＭＳ ゴシック" panose="020B0609070205080204" pitchFamily="49" charset="-128"/>
                </a:rPr>
                <a:t>     Xử lý của trường hợp không phù hợp với toàn bộ case</a:t>
              </a:r>
              <a:endParaRPr lang="en-US" altLang="ja-JP" sz="1800">
                <a:ea typeface="MS UI Gothic" panose="020B0600070205080204" pitchFamily="50" charset="-128"/>
              </a:endParaRPr>
            </a:p>
            <a:p>
              <a:pPr lvl="1" algn="just">
                <a:lnSpc>
                  <a:spcPct val="112000"/>
                </a:lnSpc>
              </a:pPr>
              <a:r>
                <a:rPr lang="en-US" altLang="ja-JP" sz="1800">
                  <a:ea typeface="ＭＳ ゴシック" panose="020B0609070205080204" pitchFamily="49" charset="-128"/>
                </a:rPr>
                <a:t>}</a:t>
              </a:r>
            </a:p>
          </p:txBody>
        </p:sp>
        <p:sp>
          <p:nvSpPr>
            <p:cNvPr id="723975" name="Rectangle 7">
              <a:extLst>
                <a:ext uri="{FF2B5EF4-FFF2-40B4-BE49-F238E27FC236}">
                  <a16:creationId xmlns:a16="http://schemas.microsoft.com/office/drawing/2014/main" id="{EC106F4F-5001-86C5-A2B9-E49B2904ACC1}"/>
                </a:ext>
              </a:extLst>
            </p:cNvPr>
            <p:cNvSpPr>
              <a:spLocks noChangeArrowheads="1"/>
            </p:cNvSpPr>
            <p:nvPr/>
          </p:nvSpPr>
          <p:spPr bwMode="auto">
            <a:xfrm>
              <a:off x="846" y="1640"/>
              <a:ext cx="1612" cy="201"/>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23976" name="Rectangle 8">
              <a:extLst>
                <a:ext uri="{FF2B5EF4-FFF2-40B4-BE49-F238E27FC236}">
                  <a16:creationId xmlns:a16="http://schemas.microsoft.com/office/drawing/2014/main" id="{E94AD9B5-7060-87D5-E484-1152C230BB2E}"/>
                </a:ext>
              </a:extLst>
            </p:cNvPr>
            <p:cNvSpPr>
              <a:spLocks noChangeArrowheads="1"/>
            </p:cNvSpPr>
            <p:nvPr/>
          </p:nvSpPr>
          <p:spPr bwMode="auto">
            <a:xfrm>
              <a:off x="494" y="3309"/>
              <a:ext cx="3774" cy="492"/>
            </a:xfrm>
            <a:prstGeom prst="rect">
              <a:avLst/>
            </a:prstGeom>
            <a:noFill/>
            <a:ln w="25400" algn="ctr">
              <a:solidFill>
                <a:srgbClr val="673EC1"/>
              </a:solidFill>
              <a:prstDash val="dash"/>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pPr>
              <a:endParaRPr lang="ja-JP" altLang="ja-JP" sz="1800"/>
            </a:p>
          </p:txBody>
        </p:sp>
        <p:sp>
          <p:nvSpPr>
            <p:cNvPr id="723977" name="AutoShape 9">
              <a:extLst>
                <a:ext uri="{FF2B5EF4-FFF2-40B4-BE49-F238E27FC236}">
                  <a16:creationId xmlns:a16="http://schemas.microsoft.com/office/drawing/2014/main" id="{B939D1B9-58E6-18CA-2A8B-7147A8A0AA95}"/>
                </a:ext>
              </a:extLst>
            </p:cNvPr>
            <p:cNvSpPr>
              <a:spLocks noChangeArrowheads="1"/>
            </p:cNvSpPr>
            <p:nvPr/>
          </p:nvSpPr>
          <p:spPr bwMode="auto">
            <a:xfrm>
              <a:off x="1580" y="789"/>
              <a:ext cx="2527" cy="293"/>
            </a:xfrm>
            <a:prstGeom prst="wedgeRoundRectCallout">
              <a:avLst>
                <a:gd name="adj1" fmla="val -43153"/>
                <a:gd name="adj2" fmla="val 105292"/>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a:ea typeface="ＭＳ ゴシック" panose="020B0609070205080204" pitchFamily="49" charset="-128"/>
                </a:rPr>
                <a:t>Giá trị hoặc biểu thức có thể convert ngầm thành kiểu int</a:t>
              </a:r>
            </a:p>
          </p:txBody>
        </p:sp>
        <p:sp>
          <p:nvSpPr>
            <p:cNvPr id="723980" name="Rectangle 12">
              <a:extLst>
                <a:ext uri="{FF2B5EF4-FFF2-40B4-BE49-F238E27FC236}">
                  <a16:creationId xmlns:a16="http://schemas.microsoft.com/office/drawing/2014/main" id="{21BC40C0-429E-97BE-3020-9566FA3DC9AA}"/>
                </a:ext>
              </a:extLst>
            </p:cNvPr>
            <p:cNvSpPr>
              <a:spLocks noChangeArrowheads="1"/>
            </p:cNvSpPr>
            <p:nvPr/>
          </p:nvSpPr>
          <p:spPr bwMode="auto">
            <a:xfrm>
              <a:off x="616" y="2188"/>
              <a:ext cx="630" cy="204"/>
            </a:xfrm>
            <a:prstGeom prst="rect">
              <a:avLst/>
            </a:prstGeom>
            <a:noFill/>
            <a:ln w="2540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23988" name="Text Box 20">
              <a:extLst>
                <a:ext uri="{FF2B5EF4-FFF2-40B4-BE49-F238E27FC236}">
                  <a16:creationId xmlns:a16="http://schemas.microsoft.com/office/drawing/2014/main" id="{6E16C7A2-F718-FB8A-9148-5AFAAEEE73BC}"/>
                </a:ext>
              </a:extLst>
            </p:cNvPr>
            <p:cNvSpPr txBox="1">
              <a:spLocks noChangeArrowheads="1"/>
            </p:cNvSpPr>
            <p:nvPr/>
          </p:nvSpPr>
          <p:spPr bwMode="auto">
            <a:xfrm>
              <a:off x="4464" y="3259"/>
              <a:ext cx="1474" cy="593"/>
            </a:xfrm>
            <a:prstGeom prst="rect">
              <a:avLst/>
            </a:prstGeom>
            <a:noFill/>
            <a:ln w="25400" algn="ctr">
              <a:solidFill>
                <a:srgbClr val="673EC1"/>
              </a:solidFill>
              <a:prstDash val="dash"/>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r>
                <a:rPr lang="en-US" altLang="ja-JP" sz="1800">
                  <a:ea typeface="ＭＳ ゴシック" panose="020B0609070205080204" pitchFamily="49" charset="-128"/>
                </a:rPr>
                <a:t>Tương ứng với block else của câu lệnh if</a:t>
              </a:r>
              <a:endParaRPr lang="en-US" altLang="ja-JP" sz="1800"/>
            </a:p>
          </p:txBody>
        </p:sp>
        <p:cxnSp>
          <p:nvCxnSpPr>
            <p:cNvPr id="723990" name="AutoShape 22">
              <a:extLst>
                <a:ext uri="{FF2B5EF4-FFF2-40B4-BE49-F238E27FC236}">
                  <a16:creationId xmlns:a16="http://schemas.microsoft.com/office/drawing/2014/main" id="{28C7C998-FF6C-7511-D4C6-CAF4FAE53645}"/>
                </a:ext>
              </a:extLst>
            </p:cNvPr>
            <p:cNvCxnSpPr>
              <a:cxnSpLocks noChangeShapeType="1"/>
              <a:stCxn id="723976" idx="3"/>
              <a:endCxn id="723988" idx="1"/>
            </p:cNvCxnSpPr>
            <p:nvPr/>
          </p:nvCxnSpPr>
          <p:spPr bwMode="auto">
            <a:xfrm>
              <a:off x="4276" y="3555"/>
              <a:ext cx="180" cy="1"/>
            </a:xfrm>
            <a:prstGeom prst="straightConnector1">
              <a:avLst/>
            </a:prstGeom>
            <a:noFill/>
            <a:ln w="25400">
              <a:solidFill>
                <a:srgbClr val="673EC1"/>
              </a:solidFill>
              <a:prstDash val="dash"/>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23991" name="Text Box 23">
              <a:extLst>
                <a:ext uri="{FF2B5EF4-FFF2-40B4-BE49-F238E27FC236}">
                  <a16:creationId xmlns:a16="http://schemas.microsoft.com/office/drawing/2014/main" id="{143CC2FA-4188-7597-3A66-21356DAB6E20}"/>
                </a:ext>
              </a:extLst>
            </p:cNvPr>
            <p:cNvSpPr txBox="1">
              <a:spLocks noChangeArrowheads="1"/>
            </p:cNvSpPr>
            <p:nvPr/>
          </p:nvSpPr>
          <p:spPr bwMode="auto">
            <a:xfrm>
              <a:off x="2615" y="2194"/>
              <a:ext cx="2936" cy="188"/>
            </a:xfrm>
            <a:prstGeom prst="rect">
              <a:avLst/>
            </a:prstGeom>
            <a:noFill/>
            <a:ln w="2540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a:ea typeface="ＭＳ ゴシック" panose="020B0609070205080204" pitchFamily="49" charset="-128"/>
                </a:rPr>
                <a:t>Thoát khỏi switch bloc</a:t>
              </a:r>
              <a:r>
                <a:rPr lang="en-US" altLang="ja-JP" sz="1800">
                  <a:ea typeface="MS UI Gothic" panose="020B0600070205080204" pitchFamily="50" charset="-128"/>
                </a:rPr>
                <a:t>k</a:t>
              </a:r>
            </a:p>
          </p:txBody>
        </p:sp>
        <p:cxnSp>
          <p:nvCxnSpPr>
            <p:cNvPr id="723993" name="AutoShape 25">
              <a:extLst>
                <a:ext uri="{FF2B5EF4-FFF2-40B4-BE49-F238E27FC236}">
                  <a16:creationId xmlns:a16="http://schemas.microsoft.com/office/drawing/2014/main" id="{921A6FB1-E11F-BEB3-4DB8-46669B72A052}"/>
                </a:ext>
              </a:extLst>
            </p:cNvPr>
            <p:cNvCxnSpPr>
              <a:cxnSpLocks noChangeShapeType="1"/>
              <a:stCxn id="723980" idx="3"/>
              <a:endCxn id="723991" idx="1"/>
            </p:cNvCxnSpPr>
            <p:nvPr/>
          </p:nvCxnSpPr>
          <p:spPr bwMode="auto">
            <a:xfrm flipV="1">
              <a:off x="1254" y="2288"/>
              <a:ext cx="1353" cy="2"/>
            </a:xfrm>
            <a:prstGeom prst="straightConnector1">
              <a:avLst/>
            </a:prstGeom>
            <a:noFill/>
            <a:ln w="25400">
              <a:solidFill>
                <a:srgbClr val="FF8519"/>
              </a:solidFill>
              <a:prstDash val="sysDot"/>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23994" name="Text Box 26">
              <a:extLst>
                <a:ext uri="{FF2B5EF4-FFF2-40B4-BE49-F238E27FC236}">
                  <a16:creationId xmlns:a16="http://schemas.microsoft.com/office/drawing/2014/main" id="{C8C0DC73-8CA7-2601-FAA5-F43D174B9A5A}"/>
                </a:ext>
              </a:extLst>
            </p:cNvPr>
            <p:cNvSpPr txBox="1">
              <a:spLocks noChangeArrowheads="1"/>
            </p:cNvSpPr>
            <p:nvPr/>
          </p:nvSpPr>
          <p:spPr bwMode="auto">
            <a:xfrm>
              <a:off x="2604" y="1384"/>
              <a:ext cx="3008" cy="42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r>
                <a:rPr lang="en-US" altLang="ja-JP" sz="1800"/>
                <a:t>Literal hoặc biểu thức mà kết quả đánh giá là literal</a:t>
              </a:r>
            </a:p>
          </p:txBody>
        </p:sp>
        <p:cxnSp>
          <p:nvCxnSpPr>
            <p:cNvPr id="723995" name="AutoShape 27">
              <a:extLst>
                <a:ext uri="{FF2B5EF4-FFF2-40B4-BE49-F238E27FC236}">
                  <a16:creationId xmlns:a16="http://schemas.microsoft.com/office/drawing/2014/main" id="{EF855169-3C11-7781-7472-4BE0A5B661D8}"/>
                </a:ext>
              </a:extLst>
            </p:cNvPr>
            <p:cNvCxnSpPr>
              <a:cxnSpLocks noChangeShapeType="1"/>
              <a:stCxn id="723975" idx="0"/>
            </p:cNvCxnSpPr>
            <p:nvPr/>
          </p:nvCxnSpPr>
          <p:spPr bwMode="auto">
            <a:xfrm rot="16200000">
              <a:off x="2078" y="1120"/>
              <a:ext cx="86" cy="938"/>
            </a:xfrm>
            <a:prstGeom prst="bentConnector2">
              <a:avLst/>
            </a:prstGeom>
            <a:noFill/>
            <a:ln w="25400">
              <a:solidFill>
                <a:srgbClr val="3FB007"/>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7D27E396-5180-D867-B388-447A7B83A566}"/>
              </a:ext>
            </a:extLst>
          </p:cNvPr>
          <p:cNvSpPr>
            <a:spLocks noGrp="1"/>
          </p:cNvSpPr>
          <p:nvPr>
            <p:ph type="sldNum" sz="quarter" idx="10"/>
          </p:nvPr>
        </p:nvSpPr>
        <p:spPr/>
        <p:txBody>
          <a:bodyPr/>
          <a:lstStyle/>
          <a:p>
            <a:fld id="{CD950AC2-44EF-4A86-A4F0-463B8EDCAC16}" type="slidenum">
              <a:rPr lang="en-US" altLang="ja-JP"/>
              <a:pPr/>
              <a:t>28</a:t>
            </a:fld>
            <a:endParaRPr lang="en-US" altLang="ja-JP"/>
          </a:p>
        </p:txBody>
      </p:sp>
      <p:sp>
        <p:nvSpPr>
          <p:cNvPr id="730114" name="Rectangle 2">
            <a:extLst>
              <a:ext uri="{FF2B5EF4-FFF2-40B4-BE49-F238E27FC236}">
                <a16:creationId xmlns:a16="http://schemas.microsoft.com/office/drawing/2014/main" id="{9DD4EF78-0FC8-125B-2DD4-1FFB88ADC367}"/>
              </a:ext>
            </a:extLst>
          </p:cNvPr>
          <p:cNvSpPr>
            <a:spLocks noGrp="1" noChangeArrowheads="1"/>
          </p:cNvSpPr>
          <p:nvPr>
            <p:ph type="title"/>
          </p:nvPr>
        </p:nvSpPr>
        <p:spPr>
          <a:xfrm>
            <a:off x="344488" y="320157"/>
            <a:ext cx="9217025" cy="490537"/>
          </a:xfrm>
        </p:spPr>
        <p:txBody>
          <a:bodyPr>
            <a:normAutofit fontScale="90000"/>
          </a:bodyPr>
          <a:lstStyle/>
          <a:p>
            <a:r>
              <a:rPr lang="en-US" altLang="ja-JP" dirty="0" err="1">
                <a:latin typeface="MS UI Gothic" panose="020B0600070205080204" pitchFamily="50" charset="-128"/>
                <a:ea typeface="MS UI Gothic" panose="020B0600070205080204" pitchFamily="50" charset="-128"/>
              </a:rPr>
              <a:t>Câu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lệnh</a:t>
            </a:r>
            <a:r>
              <a:rPr lang="en-US" altLang="ja-JP" dirty="0">
                <a:latin typeface="MS UI Gothic" panose="020B0600070205080204" pitchFamily="50" charset="-128"/>
                <a:ea typeface="MS UI Gothic" panose="020B0600070205080204" pitchFamily="50" charset="-128"/>
              </a:rPr>
              <a:t> switch </a:t>
            </a:r>
            <a:r>
              <a:rPr lang="en-US" altLang="ja-JP" dirty="0" err="1">
                <a:latin typeface="MS UI Gothic" panose="020B0600070205080204" pitchFamily="50" charset="-128"/>
                <a:ea typeface="MS UI Gothic" panose="020B0600070205080204" pitchFamily="50" charset="-128"/>
              </a:rPr>
              <a:t>không</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chứa</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câu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lệnh</a:t>
            </a:r>
            <a:r>
              <a:rPr lang="en-US" altLang="ja-JP" dirty="0">
                <a:latin typeface="MS UI Gothic" panose="020B0600070205080204" pitchFamily="50" charset="-128"/>
                <a:ea typeface="MS UI Gothic" panose="020B0600070205080204" pitchFamily="50" charset="-128"/>
              </a:rPr>
              <a:t> </a:t>
            </a:r>
            <a:r>
              <a:rPr lang="en-US" altLang="ja-JP" dirty="0">
                <a:latin typeface="ＭＳ ゴシック" panose="020B0609070205080204" pitchFamily="49" charset="-128"/>
                <a:ea typeface="ＭＳ ゴシック" panose="020B0609070205080204" pitchFamily="49" charset="-128"/>
              </a:rPr>
              <a:t>break</a:t>
            </a:r>
            <a:r>
              <a:rPr lang="ja-JP" altLang="en-US" dirty="0">
                <a:latin typeface="MS UI Gothic" panose="020B0600070205080204" pitchFamily="50" charset="-128"/>
                <a:ea typeface="MS UI Gothic" panose="020B0600070205080204" pitchFamily="50" charset="-128"/>
              </a:rPr>
              <a:t>（</a:t>
            </a:r>
            <a:r>
              <a:rPr lang="en-US" altLang="ja-JP" dirty="0">
                <a:latin typeface="MS UI Gothic" panose="020B0600070205080204" pitchFamily="50" charset="-128"/>
                <a:ea typeface="MS UI Gothic" panose="020B0600070205080204" pitchFamily="50" charset="-128"/>
              </a:rPr>
              <a:t>1</a:t>
            </a:r>
            <a:r>
              <a:rPr lang="ja-JP" altLang="en-US" dirty="0">
                <a:latin typeface="MS UI Gothic" panose="020B0600070205080204" pitchFamily="50" charset="-128"/>
                <a:ea typeface="MS UI Gothic" panose="020B0600070205080204" pitchFamily="50" charset="-128"/>
              </a:rPr>
              <a:t>）</a:t>
            </a:r>
          </a:p>
        </p:txBody>
      </p:sp>
      <p:sp>
        <p:nvSpPr>
          <p:cNvPr id="730116" name="Rectangle 4">
            <a:extLst>
              <a:ext uri="{FF2B5EF4-FFF2-40B4-BE49-F238E27FC236}">
                <a16:creationId xmlns:a16="http://schemas.microsoft.com/office/drawing/2014/main" id="{5F868BFD-3B5B-D22B-D09D-A8E48DAC00EE}"/>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ea typeface="ＭＳ ゴシック" panose="020B0609070205080204" pitchFamily="49" charset="-128"/>
              </a:rPr>
              <a:t>Câu lệnh </a:t>
            </a:r>
            <a:r>
              <a:rPr lang="en-US" altLang="en-US" sz="2400" b="0">
                <a:latin typeface="Arial" panose="020B0604020202020204" pitchFamily="34" charset="0"/>
                <a:ea typeface="ＭＳ ゴシック" panose="020B0609070205080204" pitchFamily="49" charset="-128"/>
              </a:rPr>
              <a:t>switch</a:t>
            </a:r>
            <a:r>
              <a:rPr lang="en-US" altLang="ja-JP" sz="2400" b="0">
                <a:latin typeface="Arial" panose="020B0604020202020204" pitchFamily="34" charset="0"/>
                <a:ea typeface="ＭＳ ゴシック" panose="020B0609070205080204" pitchFamily="49" charset="-128"/>
              </a:rPr>
              <a:t>  không chứa câu lệnh </a:t>
            </a:r>
            <a:r>
              <a:rPr lang="en-US" altLang="en-US" sz="2400" b="0">
                <a:latin typeface="Arial" panose="020B0604020202020204" pitchFamily="34" charset="0"/>
                <a:ea typeface="ＭＳ ゴシック" panose="020B0609070205080204" pitchFamily="49" charset="-128"/>
              </a:rPr>
              <a:t>break</a:t>
            </a:r>
            <a:endParaRPr lang="en-US" altLang="ja-JP" sz="2400" b="0">
              <a:latin typeface="Arial" panose="020B0604020202020204" pitchFamily="34" charset="0"/>
            </a:endParaRP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grpSp>
        <p:nvGrpSpPr>
          <p:cNvPr id="730131" name="Group 19">
            <a:extLst>
              <a:ext uri="{FF2B5EF4-FFF2-40B4-BE49-F238E27FC236}">
                <a16:creationId xmlns:a16="http://schemas.microsoft.com/office/drawing/2014/main" id="{86B5265E-3688-CAB9-6519-DB4092DC817A}"/>
              </a:ext>
            </a:extLst>
          </p:cNvPr>
          <p:cNvGrpSpPr>
            <a:grpSpLocks/>
          </p:cNvGrpSpPr>
          <p:nvPr/>
        </p:nvGrpSpPr>
        <p:grpSpPr bwMode="auto">
          <a:xfrm>
            <a:off x="344488" y="1176338"/>
            <a:ext cx="9120187" cy="5210175"/>
            <a:chOff x="217" y="741"/>
            <a:chExt cx="5745" cy="3282"/>
          </a:xfrm>
        </p:grpSpPr>
        <p:sp>
          <p:nvSpPr>
            <p:cNvPr id="730118" name="Text Box 6">
              <a:extLst>
                <a:ext uri="{FF2B5EF4-FFF2-40B4-BE49-F238E27FC236}">
                  <a16:creationId xmlns:a16="http://schemas.microsoft.com/office/drawing/2014/main" id="{00CC925C-B179-B032-3AE5-2BDB5D89618D}"/>
                </a:ext>
              </a:extLst>
            </p:cNvPr>
            <p:cNvSpPr txBox="1">
              <a:spLocks noChangeArrowheads="1"/>
            </p:cNvSpPr>
            <p:nvPr/>
          </p:nvSpPr>
          <p:spPr bwMode="auto">
            <a:xfrm>
              <a:off x="217" y="1207"/>
              <a:ext cx="5745" cy="2816"/>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ＭＳ ゴシック" panose="020B0609070205080204" pitchFamily="49" charset="-128"/>
                </a:rPr>
                <a:t>switch (Giá trị hoặc biểu thức muốn đánh giá) {</a:t>
              </a:r>
            </a:p>
            <a:p>
              <a:pPr lvl="1" algn="just">
                <a:lnSpc>
                  <a:spcPct val="112000"/>
                </a:lnSpc>
              </a:pPr>
              <a:endParaRPr lang="en-US" altLang="ja-JP" sz="2000">
                <a:ea typeface="ＭＳ ゴシック" panose="020B0609070205080204" pitchFamily="49" charset="-128"/>
              </a:endParaRPr>
            </a:p>
            <a:p>
              <a:pPr lvl="1" algn="just">
                <a:lnSpc>
                  <a:spcPct val="112000"/>
                </a:lnSpc>
              </a:pPr>
              <a:r>
                <a:rPr lang="en-US" altLang="ja-JP" sz="2000">
                  <a:ea typeface="ＭＳ ゴシック" panose="020B0609070205080204" pitchFamily="49" charset="-128"/>
                </a:rPr>
                <a:t>    case Biểu thức hằng số </a:t>
              </a:r>
              <a:r>
                <a:rPr lang="en-US" altLang="ja-JP" sz="2000">
                  <a:ea typeface="MS UI Gothic" panose="020B0600070205080204" pitchFamily="50" charset="-128"/>
                </a:rPr>
                <a:t>1</a:t>
              </a:r>
              <a:r>
                <a:rPr lang="en-US" altLang="ja-JP" sz="2000">
                  <a:ea typeface="ＭＳ ゴシック" panose="020B0609070205080204" pitchFamily="49" charset="-128"/>
                </a:rPr>
                <a:t>:</a:t>
              </a:r>
            </a:p>
            <a:p>
              <a:pPr lvl="1" algn="just">
                <a:lnSpc>
                  <a:spcPct val="112000"/>
                </a:lnSpc>
              </a:pPr>
              <a:r>
                <a:rPr lang="en-US" altLang="ja-JP" sz="2000">
                  <a:ea typeface="ＭＳ ゴシック" panose="020B0609070205080204" pitchFamily="49" charset="-128"/>
                </a:rPr>
                <a:t>        Xử lý của trường hợp giá trị hoặc biểu thức muốn đánh giá bằng biểu thức hằng số 1</a:t>
              </a:r>
              <a:endParaRPr lang="en-US" altLang="ja-JP" sz="2000">
                <a:ea typeface="MS UI Gothic" panose="020B0600070205080204" pitchFamily="50" charset="-128"/>
              </a:endParaRPr>
            </a:p>
            <a:p>
              <a:pPr lvl="1" algn="just">
                <a:lnSpc>
                  <a:spcPct val="112000"/>
                </a:lnSpc>
              </a:pPr>
              <a:r>
                <a:rPr lang="en-US" altLang="ja-JP" sz="2000">
                  <a:ea typeface="ＭＳ ゴシック" panose="020B0609070205080204" pitchFamily="49" charset="-128"/>
                </a:rPr>
                <a:t>           </a:t>
              </a:r>
              <a:r>
                <a:rPr lang="ja-JP" altLang="en-US" sz="2000">
                  <a:ea typeface="ＭＳ ゴシック" panose="020B0609070205080204" pitchFamily="49" charset="-128"/>
                </a:rPr>
                <a:t>：</a:t>
              </a:r>
            </a:p>
            <a:p>
              <a:pPr lvl="1" algn="just">
                <a:lnSpc>
                  <a:spcPct val="112000"/>
                </a:lnSpc>
              </a:pPr>
              <a:r>
                <a:rPr lang="ja-JP" altLang="en-US" sz="2000">
                  <a:ea typeface="ＭＳ ゴシック" panose="020B0609070205080204" pitchFamily="49" charset="-128"/>
                </a:rPr>
                <a:t>    </a:t>
              </a:r>
              <a:r>
                <a:rPr lang="en-US" altLang="ja-JP" sz="2000">
                  <a:ea typeface="ＭＳ ゴシック" panose="020B0609070205080204" pitchFamily="49" charset="-128"/>
                </a:rPr>
                <a:t>case Biểu thức hằng số </a:t>
              </a:r>
              <a:r>
                <a:rPr lang="en-US" altLang="ja-JP" sz="2000">
                  <a:ea typeface="MS UI Gothic" panose="020B0600070205080204" pitchFamily="50" charset="-128"/>
                </a:rPr>
                <a:t>n</a:t>
              </a:r>
              <a:r>
                <a:rPr lang="en-US" altLang="ja-JP" sz="2000">
                  <a:ea typeface="ＭＳ ゴシック" panose="020B0609070205080204" pitchFamily="49" charset="-128"/>
                </a:rPr>
                <a:t>:</a:t>
              </a:r>
            </a:p>
            <a:p>
              <a:pPr lvl="1" algn="just">
                <a:lnSpc>
                  <a:spcPct val="112000"/>
                </a:lnSpc>
              </a:pPr>
              <a:r>
                <a:rPr lang="en-US" altLang="ja-JP" sz="2000">
                  <a:ea typeface="ＭＳ ゴシック" panose="020B0609070205080204" pitchFamily="49" charset="-128"/>
                </a:rPr>
                <a:t>        Xử lý của trường hợp giá trị hoặc biểu thức muốn đánh giá bằng biểu thức hằng số n.</a:t>
              </a:r>
              <a:endParaRPr lang="en-US" altLang="ja-JP" sz="2000">
                <a:ea typeface="MS UI Gothic" panose="020B0600070205080204" pitchFamily="50" charset="-128"/>
              </a:endParaRPr>
            </a:p>
            <a:p>
              <a:pPr lvl="1" algn="just">
                <a:lnSpc>
                  <a:spcPct val="112000"/>
                </a:lnSpc>
              </a:pPr>
              <a:r>
                <a:rPr lang="ja-JP" altLang="en-US" sz="2000">
                  <a:ea typeface="ＭＳ ゴシック" panose="020B0609070205080204" pitchFamily="49" charset="-128"/>
                </a:rPr>
                <a:t>　　</a:t>
              </a:r>
              <a:r>
                <a:rPr lang="en-US" altLang="ja-JP" sz="2000">
                  <a:ea typeface="ＭＳ ゴシック" panose="020B0609070205080204" pitchFamily="49" charset="-128"/>
                </a:rPr>
                <a:t>default:</a:t>
              </a:r>
            </a:p>
            <a:p>
              <a:pPr lvl="1" algn="just">
                <a:lnSpc>
                  <a:spcPct val="112000"/>
                </a:lnSpc>
              </a:pPr>
              <a:r>
                <a:rPr lang="en-US" altLang="ja-JP" sz="2000">
                  <a:ea typeface="ＭＳ ゴシック" panose="020B0609070205080204" pitchFamily="49" charset="-128"/>
                </a:rPr>
                <a:t>     Xử lý của trường hợp không khớp với </a:t>
              </a:r>
            </a:p>
            <a:p>
              <a:pPr lvl="1" algn="just">
                <a:lnSpc>
                  <a:spcPct val="112000"/>
                </a:lnSpc>
              </a:pPr>
              <a:r>
                <a:rPr lang="en-US" altLang="ja-JP" sz="2000">
                  <a:ea typeface="ＭＳ ゴシック" panose="020B0609070205080204" pitchFamily="49" charset="-128"/>
                </a:rPr>
                <a:t>  toàn bộ case</a:t>
              </a:r>
              <a:endParaRPr lang="en-US" altLang="ja-JP" sz="2000">
                <a:ea typeface="MS UI Gothic" panose="020B0600070205080204" pitchFamily="50" charset="-128"/>
              </a:endParaRPr>
            </a:p>
            <a:p>
              <a:pPr lvl="1" algn="just">
                <a:lnSpc>
                  <a:spcPct val="112000"/>
                </a:lnSpc>
              </a:pPr>
              <a:r>
                <a:rPr lang="en-US" altLang="ja-JP" sz="2000">
                  <a:ea typeface="ＭＳ ゴシック" panose="020B0609070205080204" pitchFamily="49" charset="-128"/>
                </a:rPr>
                <a:t>}</a:t>
              </a:r>
            </a:p>
          </p:txBody>
        </p:sp>
        <p:sp>
          <p:nvSpPr>
            <p:cNvPr id="730119" name="Rectangle 7">
              <a:extLst>
                <a:ext uri="{FF2B5EF4-FFF2-40B4-BE49-F238E27FC236}">
                  <a16:creationId xmlns:a16="http://schemas.microsoft.com/office/drawing/2014/main" id="{3D6A2AC9-339D-0995-52FD-6862A3C98819}"/>
                </a:ext>
              </a:extLst>
            </p:cNvPr>
            <p:cNvSpPr>
              <a:spLocks noChangeArrowheads="1"/>
            </p:cNvSpPr>
            <p:nvPr/>
          </p:nvSpPr>
          <p:spPr bwMode="auto">
            <a:xfrm>
              <a:off x="864" y="1634"/>
              <a:ext cx="1826" cy="255"/>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30120" name="Rectangle 8">
              <a:extLst>
                <a:ext uri="{FF2B5EF4-FFF2-40B4-BE49-F238E27FC236}">
                  <a16:creationId xmlns:a16="http://schemas.microsoft.com/office/drawing/2014/main" id="{992DAD91-60E5-7415-6EE8-C19FD72F7CD4}"/>
                </a:ext>
              </a:extLst>
            </p:cNvPr>
            <p:cNvSpPr>
              <a:spLocks noChangeArrowheads="1"/>
            </p:cNvSpPr>
            <p:nvPr/>
          </p:nvSpPr>
          <p:spPr bwMode="auto">
            <a:xfrm>
              <a:off x="398" y="3164"/>
              <a:ext cx="3606" cy="629"/>
            </a:xfrm>
            <a:prstGeom prst="rect">
              <a:avLst/>
            </a:prstGeom>
            <a:noFill/>
            <a:ln w="2540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30123" name="Text Box 11">
              <a:extLst>
                <a:ext uri="{FF2B5EF4-FFF2-40B4-BE49-F238E27FC236}">
                  <a16:creationId xmlns:a16="http://schemas.microsoft.com/office/drawing/2014/main" id="{4BDBA66B-4481-FCEF-EE17-AC0EEFD7ED9E}"/>
                </a:ext>
              </a:extLst>
            </p:cNvPr>
            <p:cNvSpPr txBox="1">
              <a:spLocks noChangeArrowheads="1"/>
            </p:cNvSpPr>
            <p:nvPr/>
          </p:nvSpPr>
          <p:spPr bwMode="auto">
            <a:xfrm>
              <a:off x="4512" y="3178"/>
              <a:ext cx="1326" cy="593"/>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dirty="0" err="1">
                  <a:latin typeface="+mj-lt"/>
                  <a:ea typeface="ＭＳ ゴシック" panose="020B0609070205080204" pitchFamily="49" charset="-128"/>
                </a:rPr>
                <a:t>Tương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ứng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với</a:t>
              </a:r>
              <a:r>
                <a:rPr lang="en-US" altLang="ja-JP" sz="1800" dirty="0">
                  <a:latin typeface="+mj-lt"/>
                  <a:ea typeface="ＭＳ ゴシック" panose="020B0609070205080204" pitchFamily="49" charset="-128"/>
                </a:rPr>
                <a:t> block else </a:t>
              </a:r>
              <a:r>
                <a:rPr lang="en-US" altLang="ja-JP" sz="1800" dirty="0" err="1">
                  <a:latin typeface="+mj-lt"/>
                  <a:ea typeface="ＭＳ ゴシック" panose="020B0609070205080204" pitchFamily="49" charset="-128"/>
                </a:rPr>
                <a:t>của</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câu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lệnh</a:t>
              </a:r>
              <a:r>
                <a:rPr lang="en-US" altLang="ja-JP" sz="1800" dirty="0">
                  <a:latin typeface="+mj-lt"/>
                  <a:ea typeface="ＭＳ ゴシック" panose="020B0609070205080204" pitchFamily="49" charset="-128"/>
                </a:rPr>
                <a:t> if</a:t>
              </a:r>
              <a:endParaRPr lang="en-US" altLang="ja-JP" sz="1800" dirty="0">
                <a:latin typeface="+mj-lt"/>
              </a:endParaRPr>
            </a:p>
          </p:txBody>
        </p:sp>
        <p:cxnSp>
          <p:nvCxnSpPr>
            <p:cNvPr id="730124" name="AutoShape 12">
              <a:extLst>
                <a:ext uri="{FF2B5EF4-FFF2-40B4-BE49-F238E27FC236}">
                  <a16:creationId xmlns:a16="http://schemas.microsoft.com/office/drawing/2014/main" id="{76B5F81D-CC77-56C6-7908-803A88EF2CFC}"/>
                </a:ext>
              </a:extLst>
            </p:cNvPr>
            <p:cNvCxnSpPr>
              <a:cxnSpLocks noChangeShapeType="1"/>
              <a:stCxn id="730120" idx="3"/>
              <a:endCxn id="730123" idx="1"/>
            </p:cNvCxnSpPr>
            <p:nvPr/>
          </p:nvCxnSpPr>
          <p:spPr bwMode="auto">
            <a:xfrm flipV="1">
              <a:off x="4012" y="3475"/>
              <a:ext cx="492" cy="4"/>
            </a:xfrm>
            <a:prstGeom prst="straightConnector1">
              <a:avLst/>
            </a:prstGeom>
            <a:noFill/>
            <a:ln w="25400">
              <a:solidFill>
                <a:srgbClr val="FF6600"/>
              </a:solidFill>
              <a:prstDash val="sysDot"/>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30127" name="Text Box 15">
              <a:extLst>
                <a:ext uri="{FF2B5EF4-FFF2-40B4-BE49-F238E27FC236}">
                  <a16:creationId xmlns:a16="http://schemas.microsoft.com/office/drawing/2014/main" id="{1A9256C7-CB56-1551-4D15-594B70BCDCAD}"/>
                </a:ext>
              </a:extLst>
            </p:cNvPr>
            <p:cNvSpPr txBox="1">
              <a:spLocks noChangeArrowheads="1"/>
            </p:cNvSpPr>
            <p:nvPr/>
          </p:nvSpPr>
          <p:spPr bwMode="auto">
            <a:xfrm>
              <a:off x="2826" y="1432"/>
              <a:ext cx="3008" cy="42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r>
                <a:rPr lang="en-US" altLang="ja-JP" sz="1800" dirty="0">
                  <a:latin typeface="+mj-lt"/>
                </a:rPr>
                <a:t>Literal </a:t>
              </a:r>
              <a:r>
                <a:rPr lang="en-US" altLang="ja-JP" sz="1800" dirty="0" err="1">
                  <a:latin typeface="+mj-lt"/>
                </a:rPr>
                <a:t>hoặc</a:t>
              </a:r>
              <a:r>
                <a:rPr lang="en-US" altLang="ja-JP" sz="1800" dirty="0">
                  <a:latin typeface="+mj-lt"/>
                </a:rPr>
                <a:t> </a:t>
              </a:r>
              <a:r>
                <a:rPr lang="en-US" altLang="ja-JP" sz="1800" dirty="0" err="1">
                  <a:latin typeface="+mj-lt"/>
                </a:rPr>
                <a:t>biểu</a:t>
              </a:r>
              <a:r>
                <a:rPr lang="en-US" altLang="ja-JP" sz="1800" dirty="0">
                  <a:latin typeface="+mj-lt"/>
                </a:rPr>
                <a:t> </a:t>
              </a:r>
              <a:r>
                <a:rPr lang="en-US" altLang="ja-JP" sz="1800" dirty="0" err="1">
                  <a:latin typeface="+mj-lt"/>
                </a:rPr>
                <a:t>thức</a:t>
              </a:r>
              <a:r>
                <a:rPr lang="en-US" altLang="ja-JP" sz="1800" dirty="0">
                  <a:latin typeface="+mj-lt"/>
                </a:rPr>
                <a:t> </a:t>
              </a:r>
              <a:r>
                <a:rPr lang="en-US" altLang="ja-JP" sz="1800" dirty="0" err="1">
                  <a:latin typeface="+mj-lt"/>
                </a:rPr>
                <a:t>có</a:t>
              </a:r>
              <a:r>
                <a:rPr lang="en-US" altLang="ja-JP" sz="1800" dirty="0">
                  <a:latin typeface="+mj-lt"/>
                </a:rPr>
                <a:t> </a:t>
              </a:r>
              <a:r>
                <a:rPr lang="en-US" altLang="ja-JP" sz="1800" dirty="0" err="1">
                  <a:latin typeface="+mj-lt"/>
                </a:rPr>
                <a:t>kết</a:t>
              </a:r>
              <a:r>
                <a:rPr lang="en-US" altLang="ja-JP" sz="1800" dirty="0">
                  <a:latin typeface="+mj-lt"/>
                </a:rPr>
                <a:t> </a:t>
              </a:r>
              <a:r>
                <a:rPr lang="en-US" altLang="ja-JP" sz="1800" dirty="0" err="1">
                  <a:latin typeface="+mj-lt"/>
                </a:rPr>
                <a:t>quả</a:t>
              </a:r>
              <a:r>
                <a:rPr lang="en-US" altLang="ja-JP" sz="1800" dirty="0">
                  <a:latin typeface="+mj-lt"/>
                </a:rPr>
                <a:t> </a:t>
              </a:r>
              <a:r>
                <a:rPr lang="en-US" altLang="ja-JP" sz="1800" dirty="0" err="1">
                  <a:latin typeface="+mj-lt"/>
                </a:rPr>
                <a:t>đánh</a:t>
              </a:r>
              <a:r>
                <a:rPr lang="en-US" altLang="ja-JP" sz="1800" dirty="0">
                  <a:latin typeface="+mj-lt"/>
                </a:rPr>
                <a:t> </a:t>
              </a:r>
              <a:r>
                <a:rPr lang="en-US" altLang="ja-JP" sz="1800" dirty="0" err="1">
                  <a:latin typeface="+mj-lt"/>
                </a:rPr>
                <a:t>giá</a:t>
              </a:r>
              <a:r>
                <a:rPr lang="en-US" altLang="ja-JP" sz="1800" dirty="0">
                  <a:latin typeface="+mj-lt"/>
                </a:rPr>
                <a:t> </a:t>
              </a:r>
              <a:r>
                <a:rPr lang="en-US" altLang="ja-JP" sz="1800" dirty="0" err="1">
                  <a:latin typeface="+mj-lt"/>
                </a:rPr>
                <a:t>là</a:t>
              </a:r>
              <a:r>
                <a:rPr lang="en-US" altLang="ja-JP" sz="1800" dirty="0">
                  <a:latin typeface="+mj-lt"/>
                </a:rPr>
                <a:t> literal</a:t>
              </a:r>
            </a:p>
          </p:txBody>
        </p:sp>
        <p:cxnSp>
          <p:nvCxnSpPr>
            <p:cNvPr id="730128" name="AutoShape 16">
              <a:extLst>
                <a:ext uri="{FF2B5EF4-FFF2-40B4-BE49-F238E27FC236}">
                  <a16:creationId xmlns:a16="http://schemas.microsoft.com/office/drawing/2014/main" id="{4BC92263-9940-7918-D43B-87496650C924}"/>
                </a:ext>
              </a:extLst>
            </p:cNvPr>
            <p:cNvCxnSpPr>
              <a:cxnSpLocks noChangeShapeType="1"/>
              <a:stCxn id="730119" idx="0"/>
            </p:cNvCxnSpPr>
            <p:nvPr/>
          </p:nvCxnSpPr>
          <p:spPr bwMode="auto">
            <a:xfrm rot="5400000" flipH="1" flipV="1">
              <a:off x="2241" y="1057"/>
              <a:ext cx="113" cy="1041"/>
            </a:xfrm>
            <a:prstGeom prst="bentConnector2">
              <a:avLst/>
            </a:prstGeom>
            <a:noFill/>
            <a:ln w="25400">
              <a:solidFill>
                <a:srgbClr val="3FB007"/>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30129" name="AutoShape 17">
              <a:extLst>
                <a:ext uri="{FF2B5EF4-FFF2-40B4-BE49-F238E27FC236}">
                  <a16:creationId xmlns:a16="http://schemas.microsoft.com/office/drawing/2014/main" id="{1E77F379-06EE-6D71-BCCF-76B9C088CA79}"/>
                </a:ext>
              </a:extLst>
            </p:cNvPr>
            <p:cNvSpPr>
              <a:spLocks noChangeArrowheads="1"/>
            </p:cNvSpPr>
            <p:nvPr/>
          </p:nvSpPr>
          <p:spPr bwMode="auto">
            <a:xfrm>
              <a:off x="2517" y="741"/>
              <a:ext cx="3303" cy="397"/>
            </a:xfrm>
            <a:prstGeom prst="wedgeRoundRectCallout">
              <a:avLst>
                <a:gd name="adj1" fmla="val -36050"/>
                <a:gd name="adj2" fmla="val 72731"/>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600" dirty="0">
                  <a:latin typeface="+mj-lt"/>
                </a:rPr>
                <a:t>Trường </a:t>
              </a:r>
              <a:r>
                <a:rPr lang="en-US" altLang="ja-JP" sz="1600" dirty="0" err="1">
                  <a:latin typeface="+mj-lt"/>
                </a:rPr>
                <a:t>hợp</a:t>
              </a:r>
              <a:r>
                <a:rPr lang="en-US" altLang="ja-JP" sz="1600" dirty="0">
                  <a:latin typeface="+mj-lt"/>
                </a:rPr>
                <a:t> </a:t>
              </a:r>
              <a:r>
                <a:rPr lang="en-US" altLang="ja-JP" sz="1600" dirty="0" err="1">
                  <a:latin typeface="+mj-lt"/>
                </a:rPr>
                <a:t>thỏa</a:t>
              </a:r>
              <a:r>
                <a:rPr lang="en-US" altLang="ja-JP" sz="1600" dirty="0">
                  <a:latin typeface="+mj-lt"/>
                </a:rPr>
                <a:t> </a:t>
              </a:r>
              <a:r>
                <a:rPr lang="en-US" altLang="ja-JP" sz="1600" dirty="0" err="1">
                  <a:latin typeface="+mj-lt"/>
                </a:rPr>
                <a:t>mã</a:t>
              </a:r>
              <a:r>
                <a:rPr lang="en-US" altLang="ja-JP" sz="1600" dirty="0">
                  <a:latin typeface="+mj-lt"/>
                </a:rPr>
                <a:t> </a:t>
              </a:r>
              <a:r>
                <a:rPr lang="en-US" altLang="ja-JP" sz="1600" dirty="0" err="1">
                  <a:latin typeface="+mj-lt"/>
                </a:rPr>
                <a:t>điều</a:t>
              </a:r>
              <a:r>
                <a:rPr lang="en-US" altLang="ja-JP" sz="1600" dirty="0">
                  <a:latin typeface="+mj-lt"/>
                </a:rPr>
                <a:t> </a:t>
              </a:r>
              <a:r>
                <a:rPr lang="en-US" altLang="ja-JP" sz="1600" dirty="0" err="1">
                  <a:latin typeface="+mj-lt"/>
                </a:rPr>
                <a:t>kiện</a:t>
              </a:r>
              <a:r>
                <a:rPr lang="en-US" altLang="ja-JP" sz="1600" dirty="0">
                  <a:latin typeface="+mj-lt"/>
                </a:rPr>
                <a:t> </a:t>
              </a:r>
              <a:r>
                <a:rPr lang="en-US" altLang="ja-JP" sz="1600" dirty="0" err="1">
                  <a:latin typeface="+mj-lt"/>
                </a:rPr>
                <a:t>nào</a:t>
              </a:r>
              <a:r>
                <a:rPr lang="en-US" altLang="ja-JP" sz="1600" dirty="0">
                  <a:latin typeface="+mj-lt"/>
                </a:rPr>
                <a:t> </a:t>
              </a:r>
              <a:r>
                <a:rPr lang="en-US" altLang="ja-JP" sz="1600" dirty="0" err="1">
                  <a:latin typeface="+mj-lt"/>
                </a:rPr>
                <a:t>đó</a:t>
              </a:r>
              <a:r>
                <a:rPr lang="en-US" altLang="ja-JP" sz="1600" dirty="0">
                  <a:latin typeface="+mj-lt"/>
                </a:rPr>
                <a:t> </a:t>
              </a:r>
              <a:r>
                <a:rPr lang="en-US" altLang="ja-JP" sz="1600" dirty="0" err="1">
                  <a:latin typeface="+mj-lt"/>
                </a:rPr>
                <a:t>thì</a:t>
              </a:r>
              <a:r>
                <a:rPr lang="en-US" altLang="ja-JP" sz="1600" dirty="0">
                  <a:latin typeface="+mj-lt"/>
                </a:rPr>
                <a:t> </a:t>
              </a:r>
              <a:r>
                <a:rPr lang="en-US" altLang="ja-JP" sz="1600" dirty="0" err="1">
                  <a:latin typeface="+mj-lt"/>
                </a:rPr>
                <a:t>sẽ</a:t>
              </a:r>
              <a:r>
                <a:rPr lang="en-US" altLang="ja-JP" sz="1600" dirty="0">
                  <a:latin typeface="+mj-lt"/>
                </a:rPr>
                <a:t> </a:t>
              </a:r>
              <a:r>
                <a:rPr lang="en-US" altLang="ja-JP" sz="1600" dirty="0" err="1">
                  <a:latin typeface="+mj-lt"/>
                </a:rPr>
                <a:t>thực</a:t>
              </a:r>
              <a:r>
                <a:rPr lang="en-US" altLang="ja-JP" sz="1600" dirty="0">
                  <a:latin typeface="+mj-lt"/>
                </a:rPr>
                <a:t> </a:t>
              </a:r>
              <a:r>
                <a:rPr lang="en-US" altLang="ja-JP" sz="1600" dirty="0" err="1">
                  <a:latin typeface="+mj-lt"/>
                </a:rPr>
                <a:t>hiện</a:t>
              </a:r>
              <a:r>
                <a:rPr lang="en-US" altLang="ja-JP" sz="1600" dirty="0">
                  <a:latin typeface="+mj-lt"/>
                </a:rPr>
                <a:t> </a:t>
              </a:r>
              <a:r>
                <a:rPr lang="en-US" altLang="ja-JP" sz="1600" dirty="0" err="1">
                  <a:latin typeface="+mj-lt"/>
                </a:rPr>
                <a:t>cả</a:t>
              </a:r>
              <a:r>
                <a:rPr lang="en-US" altLang="ja-JP" sz="1600" dirty="0">
                  <a:latin typeface="+mj-lt"/>
                </a:rPr>
                <a:t> </a:t>
              </a:r>
              <a:r>
                <a:rPr lang="en-US" altLang="ja-JP" sz="1600" dirty="0" err="1">
                  <a:latin typeface="+mj-lt"/>
                </a:rPr>
                <a:t>xử</a:t>
              </a:r>
              <a:r>
                <a:rPr lang="en-US" altLang="ja-JP" sz="1600" dirty="0">
                  <a:latin typeface="+mj-lt"/>
                </a:rPr>
                <a:t> </a:t>
              </a:r>
              <a:r>
                <a:rPr lang="en-US" altLang="ja-JP" sz="1600" dirty="0" err="1">
                  <a:latin typeface="+mj-lt"/>
                </a:rPr>
                <a:t>lý</a:t>
              </a:r>
              <a:r>
                <a:rPr lang="en-US" altLang="ja-JP" sz="1600" dirty="0">
                  <a:latin typeface="+mj-lt"/>
                </a:rPr>
                <a:t> </a:t>
              </a:r>
              <a:r>
                <a:rPr lang="en-US" altLang="ja-JP" sz="1600" dirty="0" err="1">
                  <a:latin typeface="+mj-lt"/>
                </a:rPr>
                <a:t>của</a:t>
              </a:r>
              <a:r>
                <a:rPr lang="en-US" altLang="ja-JP" sz="1600" dirty="0">
                  <a:latin typeface="+mj-lt"/>
                </a:rPr>
                <a:t> case </a:t>
              </a:r>
              <a:r>
                <a:rPr lang="en-US" altLang="ja-JP" sz="1600" dirty="0" err="1">
                  <a:latin typeface="+mj-lt"/>
                </a:rPr>
                <a:t>phía</a:t>
              </a:r>
              <a:r>
                <a:rPr lang="en-US" altLang="ja-JP" sz="1600" dirty="0">
                  <a:latin typeface="+mj-lt"/>
                </a:rPr>
                <a:t> </a:t>
              </a:r>
              <a:r>
                <a:rPr lang="en-US" altLang="ja-JP" sz="1600" dirty="0" err="1">
                  <a:latin typeface="+mj-lt"/>
                </a:rPr>
                <a:t>sau</a:t>
              </a:r>
              <a:r>
                <a:rPr lang="en-US" altLang="ja-JP" sz="1600" dirty="0">
                  <a:latin typeface="+mj-lt"/>
                </a:rPr>
                <a:t> </a:t>
              </a:r>
              <a:r>
                <a:rPr lang="en-US" altLang="ja-JP" sz="1600" dirty="0" err="1">
                  <a:latin typeface="+mj-lt"/>
                </a:rPr>
                <a:t>đó</a:t>
              </a:r>
              <a:r>
                <a:rPr lang="en-US" altLang="ja-JP" sz="1600" dirty="0">
                  <a:latin typeface="+mj-lt"/>
                </a:rPr>
                <a:t> </a:t>
              </a:r>
              <a:r>
                <a:rPr lang="en-US" altLang="ja-JP" sz="1600" dirty="0" err="1">
                  <a:latin typeface="+mj-lt"/>
                </a:rPr>
                <a:t>vô</a:t>
              </a:r>
              <a:r>
                <a:rPr lang="en-US" altLang="ja-JP" sz="1600" dirty="0">
                  <a:latin typeface="+mj-lt"/>
                </a:rPr>
                <a:t> </a:t>
              </a:r>
              <a:r>
                <a:rPr lang="en-US" altLang="ja-JP" sz="1600" dirty="0" err="1">
                  <a:latin typeface="+mj-lt"/>
                </a:rPr>
                <a:t>điều</a:t>
              </a:r>
              <a:r>
                <a:rPr lang="en-US" altLang="ja-JP" sz="1600" dirty="0">
                  <a:latin typeface="+mj-lt"/>
                </a:rPr>
                <a:t> </a:t>
              </a:r>
              <a:r>
                <a:rPr lang="en-US" altLang="ja-JP" sz="1600" dirty="0" err="1">
                  <a:latin typeface="+mj-lt"/>
                </a:rPr>
                <a:t>kiện</a:t>
              </a:r>
              <a:endParaRPr lang="en-US" altLang="ja-JP" sz="1600" dirty="0">
                <a:latin typeface="+mj-lt"/>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8399D269-92AA-1934-BE67-8C5C7E2232CA}"/>
              </a:ext>
            </a:extLst>
          </p:cNvPr>
          <p:cNvSpPr>
            <a:spLocks noGrp="1"/>
          </p:cNvSpPr>
          <p:nvPr>
            <p:ph type="sldNum" sz="quarter" idx="10"/>
          </p:nvPr>
        </p:nvSpPr>
        <p:spPr/>
        <p:txBody>
          <a:bodyPr/>
          <a:lstStyle/>
          <a:p>
            <a:fld id="{FB823344-FB79-4748-904B-D24D64D1D5AB}" type="slidenum">
              <a:rPr lang="en-US" altLang="ja-JP"/>
              <a:pPr/>
              <a:t>29</a:t>
            </a:fld>
            <a:endParaRPr lang="en-US" altLang="ja-JP"/>
          </a:p>
        </p:txBody>
      </p:sp>
      <p:sp>
        <p:nvSpPr>
          <p:cNvPr id="755738" name="Rectangle 26">
            <a:extLst>
              <a:ext uri="{FF2B5EF4-FFF2-40B4-BE49-F238E27FC236}">
                <a16:creationId xmlns:a16="http://schemas.microsoft.com/office/drawing/2014/main" id="{AB325B9C-E535-DFF3-A1E5-8A52323287AF}"/>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err="1">
                <a:latin typeface="Arial" panose="020B0604020202020204" pitchFamily="34" charset="0"/>
              </a:rPr>
              <a:t>Câu</a:t>
            </a:r>
            <a:r>
              <a:rPr lang="en-US" altLang="ja-JP" sz="2400" b="0" dirty="0">
                <a:latin typeface="Arial" panose="020B0604020202020204" pitchFamily="34" charset="0"/>
              </a:rPr>
              <a:t> </a:t>
            </a:r>
            <a:r>
              <a:rPr lang="en-US" altLang="ja-JP" sz="2400" b="0" dirty="0" err="1">
                <a:latin typeface="Arial" panose="020B0604020202020204" pitchFamily="34" charset="0"/>
              </a:rPr>
              <a:t>lệnh</a:t>
            </a:r>
            <a:r>
              <a:rPr lang="en-US" altLang="ja-JP" sz="2400" b="0" dirty="0">
                <a:latin typeface="Arial" panose="020B0604020202020204" pitchFamily="34" charset="0"/>
              </a:rPr>
              <a:t> </a:t>
            </a:r>
            <a:r>
              <a:rPr lang="en-US" altLang="ja-JP" sz="2400" b="0" dirty="0">
                <a:latin typeface="Arial" panose="020B0604020202020204" pitchFamily="34" charset="0"/>
                <a:ea typeface="ＭＳ ゴシック" panose="020B0609070205080204" pitchFamily="49" charset="-128"/>
              </a:rPr>
              <a:t>switch</a:t>
            </a:r>
            <a:r>
              <a:rPr lang="en-US" altLang="ja-JP" sz="2400" b="0" dirty="0">
                <a:latin typeface="Arial" panose="020B0604020202020204" pitchFamily="34" charset="0"/>
              </a:rPr>
              <a:t> </a:t>
            </a:r>
            <a:r>
              <a:rPr lang="en-US" altLang="ja-JP" sz="2400" b="0" dirty="0" err="1">
                <a:latin typeface="Arial" panose="020B0604020202020204" pitchFamily="34" charset="0"/>
              </a:rPr>
              <a:t>không</a:t>
            </a:r>
            <a:r>
              <a:rPr lang="en-US" altLang="ja-JP" sz="2400" b="0" dirty="0">
                <a:latin typeface="Arial" panose="020B0604020202020204" pitchFamily="34" charset="0"/>
              </a:rPr>
              <a:t> </a:t>
            </a:r>
            <a:r>
              <a:rPr lang="en-US" altLang="ja-JP" sz="2400" b="0" dirty="0" err="1">
                <a:latin typeface="Arial" panose="020B0604020202020204" pitchFamily="34" charset="0"/>
              </a:rPr>
              <a:t>chứa</a:t>
            </a:r>
            <a:r>
              <a:rPr lang="en-US" altLang="ja-JP" sz="2400" b="0" dirty="0">
                <a:latin typeface="Arial" panose="020B0604020202020204" pitchFamily="34" charset="0"/>
              </a:rPr>
              <a:t> </a:t>
            </a:r>
            <a:r>
              <a:rPr lang="en-US" altLang="ja-JP" sz="2400" b="0" dirty="0" err="1">
                <a:latin typeface="Arial" panose="020B0604020202020204" pitchFamily="34" charset="0"/>
              </a:rPr>
              <a:t>câu</a:t>
            </a:r>
            <a:r>
              <a:rPr lang="en-US" altLang="ja-JP" sz="2400" b="0" dirty="0">
                <a:latin typeface="Arial" panose="020B0604020202020204" pitchFamily="34" charset="0"/>
              </a:rPr>
              <a:t> </a:t>
            </a:r>
            <a:r>
              <a:rPr lang="en-US" altLang="ja-JP" sz="2400" b="0" dirty="0" err="1">
                <a:latin typeface="Arial" panose="020B0604020202020204" pitchFamily="34" charset="0"/>
              </a:rPr>
              <a:t>lệnh</a:t>
            </a:r>
            <a:r>
              <a:rPr lang="en-US" altLang="ja-JP" sz="2400" b="0" dirty="0">
                <a:latin typeface="Arial" panose="020B0604020202020204" pitchFamily="34" charset="0"/>
              </a:rPr>
              <a:t> break</a:t>
            </a:r>
          </a:p>
          <a:p>
            <a:pPr>
              <a:buFont typeface="Wingdings" panose="05000000000000000000" pitchFamily="2" charset="2"/>
              <a:buNone/>
            </a:pPr>
            <a:r>
              <a:rPr lang="en-US" altLang="ja-JP" sz="2000" b="0" dirty="0">
                <a:latin typeface="Arial" panose="020B0604020202020204" pitchFamily="34" charset="0"/>
              </a:rPr>
              <a:t>●</a:t>
            </a:r>
            <a:r>
              <a:rPr lang="en-US" altLang="ja-JP" sz="2000" b="0" dirty="0" err="1">
                <a:latin typeface="Arial" panose="020B0604020202020204" pitchFamily="34" charset="0"/>
              </a:rPr>
              <a:t>Ví</a:t>
            </a:r>
            <a:r>
              <a:rPr lang="en-US" altLang="ja-JP" sz="2000" b="0" dirty="0">
                <a:latin typeface="Arial" panose="020B0604020202020204" pitchFamily="34" charset="0"/>
              </a:rPr>
              <a:t> </a:t>
            </a:r>
            <a:r>
              <a:rPr lang="en-US" altLang="ja-JP" sz="2000" b="0" dirty="0" err="1">
                <a:latin typeface="Arial" panose="020B0604020202020204" pitchFamily="34" charset="0"/>
              </a:rPr>
              <a:t>dụ</a:t>
            </a:r>
            <a:r>
              <a:rPr lang="en-US" altLang="ja-JP" sz="2000" b="0" dirty="0">
                <a:latin typeface="Arial" panose="020B0604020202020204" pitchFamily="34" charset="0"/>
              </a:rPr>
              <a:t> </a:t>
            </a:r>
            <a:r>
              <a:rPr lang="ja-JP" altLang="en-US" sz="2000" b="0" dirty="0">
                <a:latin typeface="Arial" panose="020B0604020202020204" pitchFamily="34" charset="0"/>
              </a:rPr>
              <a:t>： </a:t>
            </a:r>
            <a:r>
              <a:rPr lang="en-US" altLang="ja-JP" sz="2000" b="0" dirty="0" err="1">
                <a:latin typeface="Arial" panose="020B0604020202020204" pitchFamily="34" charset="0"/>
              </a:rPr>
              <a:t>Dự</a:t>
            </a:r>
            <a:r>
              <a:rPr lang="en-US" altLang="ja-JP" sz="2000" b="0" dirty="0">
                <a:latin typeface="Arial" panose="020B0604020202020204" pitchFamily="34" charset="0"/>
              </a:rPr>
              <a:t> </a:t>
            </a:r>
            <a:r>
              <a:rPr lang="en-US" altLang="ja-JP" sz="2000" b="0" dirty="0" err="1">
                <a:latin typeface="Arial" panose="020B0604020202020204" pitchFamily="34" charset="0"/>
              </a:rPr>
              <a:t>định</a:t>
            </a:r>
            <a:r>
              <a:rPr lang="en-US" altLang="ja-JP" sz="2000" b="0" dirty="0">
                <a:latin typeface="Arial" panose="020B0604020202020204" pitchFamily="34" charset="0"/>
              </a:rPr>
              <a:t> </a:t>
            </a:r>
            <a:r>
              <a:rPr lang="en-US" altLang="ja-JP" sz="2000" b="0" dirty="0" err="1">
                <a:latin typeface="Arial" panose="020B0604020202020204" pitchFamily="34" charset="0"/>
              </a:rPr>
              <a:t>nếu</a:t>
            </a:r>
            <a:r>
              <a:rPr lang="en-US" altLang="ja-JP" sz="2000" b="0" dirty="0">
                <a:latin typeface="Arial" panose="020B0604020202020204" pitchFamily="34" charset="0"/>
              </a:rPr>
              <a:t> x </a:t>
            </a:r>
            <a:r>
              <a:rPr lang="en-US" altLang="ja-JP" sz="2000" b="0" dirty="0" err="1">
                <a:latin typeface="Arial" panose="020B0604020202020204" pitchFamily="34" charset="0"/>
              </a:rPr>
              <a:t>là</a:t>
            </a:r>
            <a:r>
              <a:rPr lang="en-US" altLang="ja-JP" sz="2000" b="0" dirty="0">
                <a:latin typeface="Arial" panose="020B0604020202020204" pitchFamily="34" charset="0"/>
              </a:rPr>
              <a:t> 1 </a:t>
            </a:r>
            <a:r>
              <a:rPr lang="en-US" altLang="ja-JP" sz="2000" b="0" dirty="0" err="1">
                <a:latin typeface="Arial" panose="020B0604020202020204" pitchFamily="34" charset="0"/>
              </a:rPr>
              <a:t>thì</a:t>
            </a:r>
            <a:r>
              <a:rPr lang="en-US" altLang="ja-JP" sz="2000" b="0" dirty="0">
                <a:latin typeface="Arial" panose="020B0604020202020204" pitchFamily="34" charset="0"/>
              </a:rPr>
              <a:t> </a:t>
            </a:r>
            <a:r>
              <a:rPr lang="en-US" altLang="ja-JP" sz="2000" b="0" dirty="0" err="1">
                <a:latin typeface="Arial" panose="020B0604020202020204" pitchFamily="34" charset="0"/>
              </a:rPr>
              <a:t>hiển</a:t>
            </a:r>
            <a:r>
              <a:rPr lang="en-US" altLang="ja-JP" sz="2000" b="0" dirty="0">
                <a:latin typeface="Arial" panose="020B0604020202020204" pitchFamily="34" charset="0"/>
              </a:rPr>
              <a:t> </a:t>
            </a:r>
            <a:r>
              <a:rPr lang="en-US" altLang="ja-JP" sz="2000" b="0" dirty="0" err="1">
                <a:latin typeface="Arial" panose="020B0604020202020204" pitchFamily="34" charset="0"/>
              </a:rPr>
              <a:t>thị</a:t>
            </a:r>
            <a:r>
              <a:rPr lang="en-US" altLang="ja-JP" sz="2000" b="0" dirty="0">
                <a:latin typeface="Arial" panose="020B0604020202020204" pitchFamily="34" charset="0"/>
              </a:rPr>
              <a:t> </a:t>
            </a:r>
            <a:r>
              <a:rPr lang="en-US" altLang="ja-JP" sz="2000" b="0" dirty="0" err="1">
                <a:latin typeface="Arial" panose="020B0604020202020204" pitchFamily="34" charset="0"/>
              </a:rPr>
              <a:t>là</a:t>
            </a:r>
            <a:r>
              <a:rPr lang="en-US" altLang="ja-JP" sz="2000" b="0" dirty="0">
                <a:latin typeface="Arial" panose="020B0604020202020204" pitchFamily="34" charset="0"/>
              </a:rPr>
              <a:t> </a:t>
            </a:r>
            <a:r>
              <a:rPr lang="ja-JP" altLang="en-US" sz="2000" b="0" dirty="0">
                <a:latin typeface="Arial" panose="020B0604020202020204" pitchFamily="34" charset="0"/>
              </a:rPr>
              <a:t>「</a:t>
            </a:r>
            <a:r>
              <a:rPr lang="en-US" altLang="ja-JP" sz="2000" b="0" dirty="0">
                <a:latin typeface="Arial" panose="020B0604020202020204" pitchFamily="34" charset="0"/>
              </a:rPr>
              <a:t>1</a:t>
            </a:r>
            <a:r>
              <a:rPr lang="ja-JP" altLang="en-US" sz="2000" b="0" dirty="0">
                <a:latin typeface="Arial" panose="020B0604020202020204" pitchFamily="34" charset="0"/>
              </a:rPr>
              <a:t>」</a:t>
            </a:r>
            <a:r>
              <a:rPr lang="en-US" altLang="ja-JP" sz="2000" b="0" dirty="0">
                <a:latin typeface="Arial" panose="020B0604020202020204" pitchFamily="34" charset="0"/>
              </a:rPr>
              <a:t>, </a:t>
            </a:r>
            <a:r>
              <a:rPr lang="en-US" altLang="ja-JP" sz="2000" b="0" dirty="0" err="1">
                <a:latin typeface="Arial" panose="020B0604020202020204" pitchFamily="34" charset="0"/>
              </a:rPr>
              <a:t>nếu</a:t>
            </a:r>
            <a:r>
              <a:rPr lang="en-US" altLang="ja-JP" sz="2000" b="0" dirty="0">
                <a:latin typeface="Arial" panose="020B0604020202020204" pitchFamily="34" charset="0"/>
              </a:rPr>
              <a:t> </a:t>
            </a:r>
            <a:r>
              <a:rPr lang="en-US" altLang="ja-JP" sz="2000" b="0" dirty="0" err="1">
                <a:latin typeface="Arial" panose="020B0604020202020204" pitchFamily="34" charset="0"/>
              </a:rPr>
              <a:t>là</a:t>
            </a:r>
            <a:r>
              <a:rPr lang="en-US" altLang="ja-JP" sz="2000" b="0" dirty="0">
                <a:latin typeface="Arial" panose="020B0604020202020204" pitchFamily="34" charset="0"/>
              </a:rPr>
              <a:t> 2 </a:t>
            </a:r>
            <a:r>
              <a:rPr lang="en-US" altLang="ja-JP" sz="2000" b="0" dirty="0" err="1">
                <a:latin typeface="Arial" panose="020B0604020202020204" pitchFamily="34" charset="0"/>
              </a:rPr>
              <a:t>thì</a:t>
            </a:r>
            <a:r>
              <a:rPr lang="en-US" altLang="ja-JP" sz="2000" b="0" dirty="0">
                <a:latin typeface="Arial" panose="020B0604020202020204" pitchFamily="34" charset="0"/>
              </a:rPr>
              <a:t> </a:t>
            </a:r>
            <a:r>
              <a:rPr lang="en-US" altLang="ja-JP" sz="2000" b="0" dirty="0" err="1">
                <a:latin typeface="Arial" panose="020B0604020202020204" pitchFamily="34" charset="0"/>
              </a:rPr>
              <a:t>hiển</a:t>
            </a:r>
            <a:r>
              <a:rPr lang="en-US" altLang="ja-JP" sz="2000" b="0" dirty="0">
                <a:latin typeface="Arial" panose="020B0604020202020204" pitchFamily="34" charset="0"/>
              </a:rPr>
              <a:t> </a:t>
            </a:r>
            <a:r>
              <a:rPr lang="en-US" altLang="ja-JP" sz="2000" b="0" dirty="0" err="1">
                <a:latin typeface="Arial" panose="020B0604020202020204" pitchFamily="34" charset="0"/>
              </a:rPr>
              <a:t>thị</a:t>
            </a:r>
            <a:r>
              <a:rPr lang="en-US" altLang="ja-JP" sz="2000" b="0" dirty="0">
                <a:latin typeface="Arial" panose="020B0604020202020204" pitchFamily="34" charset="0"/>
              </a:rPr>
              <a:t> </a:t>
            </a:r>
            <a:r>
              <a:rPr lang="en-US" altLang="ja-JP" sz="2000" b="0" dirty="0" err="1">
                <a:latin typeface="Arial" panose="020B0604020202020204" pitchFamily="34" charset="0"/>
              </a:rPr>
              <a:t>là</a:t>
            </a:r>
            <a:r>
              <a:rPr lang="en-US" altLang="ja-JP" sz="2000" b="0" dirty="0">
                <a:latin typeface="Arial" panose="020B0604020202020204" pitchFamily="34" charset="0"/>
              </a:rPr>
              <a:t> </a:t>
            </a:r>
            <a:r>
              <a:rPr lang="ja-JP" altLang="en-US" sz="2000" b="0" dirty="0">
                <a:latin typeface="Arial" panose="020B0604020202020204" pitchFamily="34" charset="0"/>
              </a:rPr>
              <a:t>「</a:t>
            </a:r>
            <a:r>
              <a:rPr lang="en-US" altLang="ja-JP" sz="2000" b="0" dirty="0">
                <a:latin typeface="Arial" panose="020B0604020202020204" pitchFamily="34" charset="0"/>
              </a:rPr>
              <a:t>2</a:t>
            </a:r>
            <a:r>
              <a:rPr lang="ja-JP" altLang="en-US" sz="2000" b="0" dirty="0">
                <a:latin typeface="Arial" panose="020B0604020202020204" pitchFamily="34" charset="0"/>
              </a:rPr>
              <a:t>」</a:t>
            </a:r>
            <a:r>
              <a:rPr lang="en-US" altLang="ja-JP" sz="2000" b="0" dirty="0">
                <a:latin typeface="Arial" panose="020B0604020202020204" pitchFamily="34" charset="0"/>
              </a:rPr>
              <a:t>, </a:t>
            </a:r>
            <a:r>
              <a:rPr lang="en-US" altLang="ja-JP" sz="2000" b="0" dirty="0" err="1">
                <a:latin typeface="Arial" panose="020B0604020202020204" pitchFamily="34" charset="0"/>
              </a:rPr>
              <a:t>ngoài</a:t>
            </a:r>
            <a:r>
              <a:rPr lang="en-US" altLang="ja-JP" sz="2000" b="0" dirty="0">
                <a:latin typeface="Arial" panose="020B0604020202020204" pitchFamily="34" charset="0"/>
              </a:rPr>
              <a:t> </a:t>
            </a:r>
            <a:r>
              <a:rPr lang="en-US" altLang="ja-JP" sz="2000" b="0" dirty="0" err="1">
                <a:latin typeface="Arial" panose="020B0604020202020204" pitchFamily="34" charset="0"/>
              </a:rPr>
              <a:t>ra</a:t>
            </a:r>
            <a:r>
              <a:rPr lang="en-US" altLang="ja-JP" sz="2000" b="0" dirty="0">
                <a:latin typeface="Arial" panose="020B0604020202020204" pitchFamily="34" charset="0"/>
              </a:rPr>
              <a:t> </a:t>
            </a:r>
            <a:r>
              <a:rPr lang="en-US" altLang="ja-JP" sz="2000" b="0" dirty="0" err="1">
                <a:latin typeface="Arial" panose="020B0604020202020204" pitchFamily="34" charset="0"/>
              </a:rPr>
              <a:t>thì</a:t>
            </a:r>
            <a:r>
              <a:rPr lang="en-US" altLang="ja-JP" sz="2000" b="0" dirty="0">
                <a:latin typeface="Arial" panose="020B0604020202020204" pitchFamily="34" charset="0"/>
              </a:rPr>
              <a:t> </a:t>
            </a:r>
            <a:r>
              <a:rPr lang="en-US" altLang="ja-JP" sz="2000" b="0" dirty="0" err="1">
                <a:latin typeface="Arial" panose="020B0604020202020204" pitchFamily="34" charset="0"/>
              </a:rPr>
              <a:t>hiển</a:t>
            </a:r>
            <a:r>
              <a:rPr lang="en-US" altLang="ja-JP" sz="2000" b="0" dirty="0">
                <a:latin typeface="Arial" panose="020B0604020202020204" pitchFamily="34" charset="0"/>
              </a:rPr>
              <a:t> </a:t>
            </a:r>
            <a:r>
              <a:rPr lang="en-US" altLang="ja-JP" sz="2000" b="0" dirty="0" err="1">
                <a:latin typeface="Arial" panose="020B0604020202020204" pitchFamily="34" charset="0"/>
              </a:rPr>
              <a:t>thị</a:t>
            </a:r>
            <a:r>
              <a:rPr lang="en-US" altLang="ja-JP" sz="2000" b="0" dirty="0">
                <a:latin typeface="Arial" panose="020B0604020202020204" pitchFamily="34" charset="0"/>
              </a:rPr>
              <a:t> </a:t>
            </a:r>
            <a:r>
              <a:rPr lang="en-US" altLang="ja-JP" sz="2000" b="0" dirty="0" err="1">
                <a:latin typeface="Arial" panose="020B0604020202020204" pitchFamily="34" charset="0"/>
              </a:rPr>
              <a:t>là</a:t>
            </a:r>
            <a:r>
              <a:rPr lang="en-US" altLang="ja-JP" sz="2000" b="0" dirty="0">
                <a:latin typeface="Arial" panose="020B0604020202020204" pitchFamily="34" charset="0"/>
              </a:rPr>
              <a:t> </a:t>
            </a:r>
            <a:r>
              <a:rPr lang="ja-JP" altLang="en-US" sz="2000" b="0" dirty="0">
                <a:latin typeface="Arial" panose="020B0604020202020204" pitchFamily="34" charset="0"/>
              </a:rPr>
              <a:t>「</a:t>
            </a:r>
            <a:r>
              <a:rPr lang="en-US" altLang="ja-JP" sz="2000" b="0" dirty="0" err="1">
                <a:latin typeface="Arial" panose="020B0604020202020204" pitchFamily="34" charset="0"/>
              </a:rPr>
              <a:t>khác</a:t>
            </a:r>
            <a:r>
              <a:rPr lang="en-US" altLang="ja-JP" sz="2000" b="0" dirty="0">
                <a:latin typeface="Arial" panose="020B0604020202020204" pitchFamily="34" charset="0"/>
              </a:rPr>
              <a:t> 1, 2</a:t>
            </a:r>
            <a:r>
              <a:rPr lang="ja-JP" altLang="en-US" sz="2000" b="0" dirty="0">
                <a:latin typeface="Arial" panose="020B0604020202020204" pitchFamily="34" charset="0"/>
              </a:rPr>
              <a:t>」</a:t>
            </a:r>
            <a:r>
              <a:rPr lang="en-US" altLang="ja-JP" sz="2000" b="0" dirty="0">
                <a:latin typeface="Arial" panose="020B0604020202020204" pitchFamily="34" charset="0"/>
              </a:rPr>
              <a:t>, </a:t>
            </a:r>
            <a:r>
              <a:rPr lang="en-US" altLang="ja-JP" sz="2000" b="0" dirty="0" err="1">
                <a:latin typeface="Arial" panose="020B0604020202020204" pitchFamily="34" charset="0"/>
              </a:rPr>
              <a:t>nhưng</a:t>
            </a:r>
            <a:r>
              <a:rPr lang="en-US" altLang="ja-JP" sz="2000" b="0" dirty="0">
                <a:latin typeface="Arial" panose="020B0604020202020204" pitchFamily="34" charset="0"/>
              </a:rPr>
              <a:t> </a:t>
            </a:r>
            <a:r>
              <a:rPr lang="en-US" altLang="ja-JP" sz="2000" b="0" dirty="0" err="1">
                <a:latin typeface="Arial" panose="020B0604020202020204" pitchFamily="34" charset="0"/>
              </a:rPr>
              <a:t>lại</a:t>
            </a:r>
            <a:r>
              <a:rPr lang="en-US" altLang="ja-JP" sz="2000" b="0" dirty="0">
                <a:latin typeface="Arial" panose="020B0604020202020204" pitchFamily="34" charset="0"/>
              </a:rPr>
              <a:t> </a:t>
            </a:r>
            <a:r>
              <a:rPr lang="en-US" altLang="ja-JP" sz="2000" b="0" dirty="0" err="1">
                <a:latin typeface="Arial" panose="020B0604020202020204" pitchFamily="34" charset="0"/>
              </a:rPr>
              <a:t>quên</a:t>
            </a:r>
            <a:r>
              <a:rPr lang="en-US" altLang="ja-JP" sz="2000" b="0" dirty="0">
                <a:latin typeface="Arial" panose="020B0604020202020204" pitchFamily="34" charset="0"/>
              </a:rPr>
              <a:t> </a:t>
            </a:r>
            <a:r>
              <a:rPr lang="en-US" altLang="ja-JP" sz="2000" b="0" dirty="0" err="1">
                <a:latin typeface="Arial" panose="020B0604020202020204" pitchFamily="34" charset="0"/>
              </a:rPr>
              <a:t>viết</a:t>
            </a:r>
            <a:r>
              <a:rPr lang="en-US" altLang="ja-JP" sz="2000" b="0" dirty="0">
                <a:latin typeface="Arial" panose="020B0604020202020204" pitchFamily="34" charset="0"/>
              </a:rPr>
              <a:t> </a:t>
            </a:r>
            <a:r>
              <a:rPr lang="en-US" altLang="ja-JP" sz="2000" b="0" dirty="0" err="1">
                <a:latin typeface="Arial" panose="020B0604020202020204" pitchFamily="34" charset="0"/>
              </a:rPr>
              <a:t>câu</a:t>
            </a:r>
            <a:r>
              <a:rPr lang="en-US" altLang="ja-JP" sz="2000" b="0" dirty="0">
                <a:latin typeface="Arial" panose="020B0604020202020204" pitchFamily="34" charset="0"/>
              </a:rPr>
              <a:t> </a:t>
            </a:r>
            <a:r>
              <a:rPr lang="en-US" altLang="ja-JP" sz="2000" b="0" dirty="0" err="1">
                <a:latin typeface="Arial" panose="020B0604020202020204" pitchFamily="34" charset="0"/>
              </a:rPr>
              <a:t>lệnh</a:t>
            </a:r>
            <a:r>
              <a:rPr lang="en-US" altLang="ja-JP" sz="2000" b="0" dirty="0">
                <a:latin typeface="Arial" panose="020B0604020202020204" pitchFamily="34" charset="0"/>
              </a:rPr>
              <a:t> break .</a:t>
            </a: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endParaRPr lang="en-US" altLang="ja-JP" sz="2000" b="0" dirty="0">
              <a:latin typeface="Arial" panose="020B0604020202020204" pitchFamily="34" charset="0"/>
            </a:endParaRPr>
          </a:p>
          <a:p>
            <a:pPr>
              <a:buFont typeface="Wingdings" panose="05000000000000000000" pitchFamily="2" charset="2"/>
              <a:buNone/>
            </a:pPr>
            <a:r>
              <a:rPr lang="en-US" altLang="ja-JP" sz="2000" b="0" dirty="0">
                <a:latin typeface="Arial" panose="020B0604020202020204" pitchFamily="34" charset="0"/>
              </a:rPr>
              <a:t>●</a:t>
            </a:r>
            <a:r>
              <a:rPr lang="en-US" altLang="ja-JP" sz="2000" b="0" dirty="0" err="1">
                <a:latin typeface="Arial" panose="020B0604020202020204" pitchFamily="34" charset="0"/>
              </a:rPr>
              <a:t>Ví</a:t>
            </a:r>
            <a:r>
              <a:rPr lang="en-US" altLang="ja-JP" sz="2000" b="0" dirty="0">
                <a:latin typeface="Arial" panose="020B0604020202020204" pitchFamily="34" charset="0"/>
              </a:rPr>
              <a:t> </a:t>
            </a:r>
            <a:r>
              <a:rPr lang="en-US" altLang="ja-JP" sz="2000" b="0" dirty="0" err="1">
                <a:latin typeface="Arial" panose="020B0604020202020204" pitchFamily="34" charset="0"/>
              </a:rPr>
              <a:t>dụ</a:t>
            </a:r>
            <a:r>
              <a:rPr lang="en-US" altLang="ja-JP" sz="2000" b="0" dirty="0">
                <a:latin typeface="Arial" panose="020B0604020202020204" pitchFamily="34" charset="0"/>
              </a:rPr>
              <a:t> </a:t>
            </a:r>
            <a:r>
              <a:rPr lang="en-US" altLang="ja-JP" sz="2000" b="0" dirty="0" err="1">
                <a:latin typeface="Arial" panose="020B0604020202020204" pitchFamily="34" charset="0"/>
              </a:rPr>
              <a:t>thực</a:t>
            </a:r>
            <a:r>
              <a:rPr lang="en-US" altLang="ja-JP" sz="2000" b="0" dirty="0">
                <a:latin typeface="Arial" panose="020B0604020202020204" pitchFamily="34" charset="0"/>
              </a:rPr>
              <a:t> </a:t>
            </a:r>
            <a:r>
              <a:rPr lang="en-US" altLang="ja-JP" sz="2000" b="0" dirty="0" err="1">
                <a:latin typeface="Arial" panose="020B0604020202020204" pitchFamily="34" charset="0"/>
              </a:rPr>
              <a:t>hiện</a:t>
            </a:r>
            <a:endParaRPr lang="en-US" altLang="ja-JP" sz="2000" b="0" dirty="0">
              <a:latin typeface="Arial" panose="020B0604020202020204" pitchFamily="34" charset="0"/>
            </a:endParaRPr>
          </a:p>
        </p:txBody>
      </p:sp>
      <p:sp>
        <p:nvSpPr>
          <p:cNvPr id="755714" name="Rectangle 2">
            <a:extLst>
              <a:ext uri="{FF2B5EF4-FFF2-40B4-BE49-F238E27FC236}">
                <a16:creationId xmlns:a16="http://schemas.microsoft.com/office/drawing/2014/main" id="{B0F2E2D5-4FB6-D9A3-321A-F459044B93C5}"/>
              </a:ext>
            </a:extLst>
          </p:cNvPr>
          <p:cNvSpPr>
            <a:spLocks noGrp="1" noChangeArrowheads="1"/>
          </p:cNvSpPr>
          <p:nvPr>
            <p:ph type="title"/>
          </p:nvPr>
        </p:nvSpPr>
        <p:spPr>
          <a:xfrm>
            <a:off x="344487" y="300831"/>
            <a:ext cx="9217025" cy="490537"/>
          </a:xfrm>
        </p:spPr>
        <p:txBody>
          <a:bodyPr>
            <a:normAutofit fontScale="90000"/>
          </a:bodyPr>
          <a:lstStyle/>
          <a:p>
            <a:r>
              <a:rPr lang="en-US" altLang="ja-JP" sz="2800" dirty="0" err="1">
                <a:latin typeface="+mj-lt"/>
                <a:ea typeface="ＭＳ ゴシック" panose="020B0609070205080204" pitchFamily="49" charset="-128"/>
              </a:rPr>
              <a:t>Câu</a:t>
            </a:r>
            <a:r>
              <a:rPr lang="en-US" altLang="ja-JP" sz="2800" dirty="0">
                <a:latin typeface="+mj-lt"/>
                <a:ea typeface="ＭＳ ゴシック" panose="020B0609070205080204" pitchFamily="49" charset="-128"/>
              </a:rPr>
              <a:t> </a:t>
            </a:r>
            <a:r>
              <a:rPr lang="en-US" altLang="ja-JP" sz="2800" dirty="0" err="1">
                <a:latin typeface="+mj-lt"/>
                <a:ea typeface="ＭＳ ゴシック" panose="020B0609070205080204" pitchFamily="49" charset="-128"/>
              </a:rPr>
              <a:t>lệnh</a:t>
            </a:r>
            <a:r>
              <a:rPr lang="en-US" altLang="ja-JP" sz="2800" dirty="0">
                <a:latin typeface="+mj-lt"/>
                <a:ea typeface="ＭＳ ゴシック" panose="020B0609070205080204" pitchFamily="49" charset="-128"/>
              </a:rPr>
              <a:t> </a:t>
            </a:r>
            <a:r>
              <a:rPr lang="en-US" altLang="en-US" sz="2800" dirty="0">
                <a:latin typeface="+mj-lt"/>
                <a:ea typeface="ＭＳ ゴシック" panose="020B0609070205080204" pitchFamily="49" charset="-128"/>
              </a:rPr>
              <a:t>switch</a:t>
            </a:r>
            <a:r>
              <a:rPr lang="en-US" altLang="ja-JP" sz="2800" dirty="0">
                <a:latin typeface="+mj-lt"/>
                <a:ea typeface="ＭＳ ゴシック" panose="020B0609070205080204" pitchFamily="49" charset="-128"/>
              </a:rPr>
              <a:t>  </a:t>
            </a:r>
            <a:r>
              <a:rPr lang="en-US" altLang="ja-JP" sz="2800" dirty="0" err="1">
                <a:latin typeface="+mj-lt"/>
                <a:ea typeface="ＭＳ ゴシック" panose="020B0609070205080204" pitchFamily="49" charset="-128"/>
              </a:rPr>
              <a:t>không</a:t>
            </a:r>
            <a:r>
              <a:rPr lang="en-US" altLang="ja-JP" sz="2800" dirty="0">
                <a:latin typeface="+mj-lt"/>
                <a:ea typeface="ＭＳ ゴシック" panose="020B0609070205080204" pitchFamily="49" charset="-128"/>
              </a:rPr>
              <a:t> </a:t>
            </a:r>
            <a:r>
              <a:rPr lang="en-US" altLang="ja-JP" sz="2800" dirty="0" err="1">
                <a:latin typeface="+mj-lt"/>
                <a:ea typeface="ＭＳ ゴシック" panose="020B0609070205080204" pitchFamily="49" charset="-128"/>
              </a:rPr>
              <a:t>chứa</a:t>
            </a:r>
            <a:r>
              <a:rPr lang="en-US" altLang="ja-JP" sz="2800" dirty="0">
                <a:latin typeface="+mj-lt"/>
                <a:ea typeface="ＭＳ ゴシック" panose="020B0609070205080204" pitchFamily="49" charset="-128"/>
              </a:rPr>
              <a:t> </a:t>
            </a:r>
            <a:r>
              <a:rPr lang="en-US" altLang="ja-JP" sz="2800" dirty="0" err="1">
                <a:latin typeface="+mj-lt"/>
                <a:ea typeface="ＭＳ ゴシック" panose="020B0609070205080204" pitchFamily="49" charset="-128"/>
              </a:rPr>
              <a:t>câu</a:t>
            </a:r>
            <a:r>
              <a:rPr lang="en-US" altLang="ja-JP" sz="2800" dirty="0">
                <a:latin typeface="+mj-lt"/>
                <a:ea typeface="ＭＳ ゴシック" panose="020B0609070205080204" pitchFamily="49" charset="-128"/>
              </a:rPr>
              <a:t> </a:t>
            </a:r>
            <a:r>
              <a:rPr lang="en-US" altLang="ja-JP" sz="2800" dirty="0" err="1">
                <a:latin typeface="+mj-lt"/>
                <a:ea typeface="ＭＳ ゴシック" panose="020B0609070205080204" pitchFamily="49" charset="-128"/>
              </a:rPr>
              <a:t>lệnh</a:t>
            </a:r>
            <a:r>
              <a:rPr lang="en-US" altLang="ja-JP" sz="2800" dirty="0">
                <a:latin typeface="+mj-lt"/>
                <a:ea typeface="ＭＳ ゴシック" panose="020B0609070205080204" pitchFamily="49" charset="-128"/>
              </a:rPr>
              <a:t> </a:t>
            </a:r>
            <a:r>
              <a:rPr lang="en-US" altLang="en-US" sz="2800" dirty="0">
                <a:latin typeface="+mj-lt"/>
                <a:ea typeface="ＭＳ ゴシック" panose="020B0609070205080204" pitchFamily="49" charset="-128"/>
              </a:rPr>
              <a:t>break</a:t>
            </a:r>
            <a:r>
              <a:rPr lang="en-US" altLang="ja-JP" sz="2800" dirty="0">
                <a:latin typeface="+mj-lt"/>
                <a:ea typeface="MS UI Gothic" panose="020B0600070205080204" pitchFamily="50" charset="-128"/>
              </a:rPr>
              <a:t> </a:t>
            </a:r>
            <a:r>
              <a:rPr lang="ja-JP" altLang="en-US" sz="2800" dirty="0">
                <a:latin typeface="+mj-lt"/>
                <a:ea typeface="MS UI Gothic" panose="020B0600070205080204" pitchFamily="50" charset="-128"/>
              </a:rPr>
              <a:t>（</a:t>
            </a:r>
            <a:r>
              <a:rPr lang="en-US" altLang="ja-JP" sz="2800" dirty="0">
                <a:latin typeface="+mj-lt"/>
                <a:ea typeface="MS UI Gothic" panose="020B0600070205080204" pitchFamily="50" charset="-128"/>
              </a:rPr>
              <a:t>2</a:t>
            </a:r>
            <a:r>
              <a:rPr lang="ja-JP" altLang="en-US" sz="2800" dirty="0">
                <a:latin typeface="+mj-lt"/>
                <a:ea typeface="MS UI Gothic" panose="020B0600070205080204" pitchFamily="50" charset="-128"/>
              </a:rPr>
              <a:t>）</a:t>
            </a:r>
          </a:p>
        </p:txBody>
      </p:sp>
      <p:sp>
        <p:nvSpPr>
          <p:cNvPr id="755726" name="Rectangle 14">
            <a:extLst>
              <a:ext uri="{FF2B5EF4-FFF2-40B4-BE49-F238E27FC236}">
                <a16:creationId xmlns:a16="http://schemas.microsoft.com/office/drawing/2014/main" id="{8FFAF22F-DAF5-759D-0298-259875082AED}"/>
              </a:ext>
            </a:extLst>
          </p:cNvPr>
          <p:cNvSpPr>
            <a:spLocks noChangeArrowheads="1"/>
          </p:cNvSpPr>
          <p:nvPr/>
        </p:nvSpPr>
        <p:spPr bwMode="auto">
          <a:xfrm>
            <a:off x="4089400" y="6375400"/>
            <a:ext cx="685800" cy="203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5718" name="Rectangle 6">
            <a:extLst>
              <a:ext uri="{FF2B5EF4-FFF2-40B4-BE49-F238E27FC236}">
                <a16:creationId xmlns:a16="http://schemas.microsoft.com/office/drawing/2014/main" id="{1F6F2948-88E6-C8AB-7FA1-072A8C63DCD9}"/>
              </a:ext>
            </a:extLst>
          </p:cNvPr>
          <p:cNvSpPr>
            <a:spLocks noChangeArrowheads="1"/>
          </p:cNvSpPr>
          <p:nvPr/>
        </p:nvSpPr>
        <p:spPr bwMode="auto">
          <a:xfrm>
            <a:off x="395288" y="1916113"/>
            <a:ext cx="9069387" cy="33258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b="0">
                <a:latin typeface="Arial" panose="020B0604020202020204" pitchFamily="34" charset="0"/>
                <a:ea typeface="ＭＳ ゴシック" panose="020B0609070205080204" pitchFamily="49" charset="-128"/>
              </a:rPr>
              <a:t>int x = 2;</a:t>
            </a:r>
            <a:endParaRPr lang="en-US" altLang="ja-JP" sz="1800" b="0">
              <a:latin typeface="Arial" panose="020B0604020202020204" pitchFamily="34" charset="0"/>
              <a:ea typeface="ＭＳ ゴシック" panose="020B0609070205080204" pitchFamily="49" charset="-128"/>
            </a:endParaRPr>
          </a:p>
          <a:p>
            <a:pPr lvl="1"/>
            <a:endParaRPr lang="en-US" altLang="en-US" sz="1800" b="0">
              <a:latin typeface="Arial" panose="020B0604020202020204" pitchFamily="34" charset="0"/>
              <a:ea typeface="ＭＳ ゴシック" panose="020B0609070205080204" pitchFamily="49" charset="-128"/>
            </a:endParaRPr>
          </a:p>
          <a:p>
            <a:pPr lvl="1"/>
            <a:r>
              <a:rPr lang="en-US" altLang="en-US" sz="1800" b="0">
                <a:latin typeface="Arial" panose="020B0604020202020204" pitchFamily="34" charset="0"/>
                <a:ea typeface="ＭＳ ゴシック" panose="020B0609070205080204" pitchFamily="49" charset="-128"/>
              </a:rPr>
              <a:t>switch (x) {</a:t>
            </a:r>
          </a:p>
          <a:p>
            <a:pPr lvl="1"/>
            <a:r>
              <a:rPr lang="en-US" altLang="en-US" sz="1800" b="0">
                <a:latin typeface="Arial" panose="020B0604020202020204" pitchFamily="34" charset="0"/>
                <a:ea typeface="ＭＳ ゴシック" panose="020B0609070205080204" pitchFamily="49" charset="-128"/>
              </a:rPr>
              <a:t>    case 1:</a:t>
            </a:r>
          </a:p>
          <a:p>
            <a:pPr lvl="1"/>
            <a:r>
              <a:rPr lang="en-US" altLang="en-US" sz="1800" b="0">
                <a:latin typeface="Arial" panose="020B0604020202020204" pitchFamily="34" charset="0"/>
                <a:ea typeface="ＭＳ ゴシック" panose="020B0609070205080204" pitchFamily="49" charset="-128"/>
              </a:rPr>
              <a:t>        System.out.println("</a:t>
            </a:r>
            <a:r>
              <a:rPr lang="en-US" altLang="ja-JP" sz="1800" b="0">
                <a:latin typeface="Arial" panose="020B0604020202020204" pitchFamily="34" charset="0"/>
                <a:ea typeface="ＭＳ ゴシック" panose="020B0609070205080204" pitchFamily="49" charset="-128"/>
              </a:rPr>
              <a:t>1</a:t>
            </a:r>
            <a:r>
              <a:rPr lang="en-US" altLang="en-US" sz="1800" b="0">
                <a:latin typeface="Arial" panose="020B0604020202020204" pitchFamily="34" charset="0"/>
                <a:ea typeface="ＭＳ ゴシック" panose="020B0609070205080204" pitchFamily="49" charset="-128"/>
              </a:rPr>
              <a:t>");</a:t>
            </a:r>
          </a:p>
          <a:p>
            <a:pPr lvl="1"/>
            <a:r>
              <a:rPr lang="en-US" altLang="en-US" sz="1800" b="0">
                <a:latin typeface="Arial" panose="020B0604020202020204" pitchFamily="34" charset="0"/>
                <a:ea typeface="ＭＳ ゴシック" panose="020B0609070205080204" pitchFamily="49" charset="-128"/>
              </a:rPr>
              <a:t>    case 2:</a:t>
            </a:r>
          </a:p>
          <a:p>
            <a:pPr lvl="1"/>
            <a:r>
              <a:rPr lang="en-US" altLang="en-US" sz="1800" b="0">
                <a:latin typeface="Arial" panose="020B0604020202020204" pitchFamily="34" charset="0"/>
                <a:ea typeface="ＭＳ ゴシック" panose="020B0609070205080204" pitchFamily="49" charset="-128"/>
              </a:rPr>
              <a:t>        System.out.println("</a:t>
            </a:r>
            <a:r>
              <a:rPr lang="en-US" altLang="ja-JP" sz="1800" b="0">
                <a:latin typeface="Arial" panose="020B0604020202020204" pitchFamily="34" charset="0"/>
                <a:ea typeface="ＭＳ ゴシック" panose="020B0609070205080204" pitchFamily="49" charset="-128"/>
              </a:rPr>
              <a:t>2</a:t>
            </a:r>
            <a:r>
              <a:rPr lang="en-US" altLang="en-US" sz="1800" b="0">
                <a:latin typeface="Arial" panose="020B0604020202020204" pitchFamily="34" charset="0"/>
                <a:ea typeface="ＭＳ ゴシック" panose="020B0609070205080204" pitchFamily="49" charset="-128"/>
              </a:rPr>
              <a:t>");</a:t>
            </a:r>
          </a:p>
          <a:p>
            <a:pPr lvl="1"/>
            <a:r>
              <a:rPr lang="en-US" altLang="en-US" sz="1800" b="0">
                <a:latin typeface="Arial" panose="020B0604020202020204" pitchFamily="34" charset="0"/>
                <a:ea typeface="ＭＳ ゴシック" panose="020B0609070205080204" pitchFamily="49" charset="-128"/>
              </a:rPr>
              <a:t>    default:</a:t>
            </a:r>
          </a:p>
          <a:p>
            <a:pPr lvl="1"/>
            <a:r>
              <a:rPr lang="en-US" altLang="en-US" sz="1800" b="0">
                <a:latin typeface="Arial" panose="020B0604020202020204" pitchFamily="34" charset="0"/>
                <a:ea typeface="ＭＳ ゴシック" panose="020B0609070205080204" pitchFamily="49" charset="-128"/>
              </a:rPr>
              <a:t>        System.out.println(“</a:t>
            </a:r>
            <a:r>
              <a:rPr lang="en-US" altLang="ja-JP" sz="1800" b="0">
                <a:latin typeface="Arial" panose="020B0604020202020204" pitchFamily="34" charset="0"/>
                <a:ea typeface="ＭＳ ゴシック" panose="020B0609070205080204" pitchFamily="49" charset="-128"/>
              </a:rPr>
              <a:t>Khác 1, 2</a:t>
            </a:r>
            <a:r>
              <a:rPr lang="en-US" altLang="en-US" sz="1800" b="0">
                <a:latin typeface="Arial" panose="020B0604020202020204" pitchFamily="34" charset="0"/>
                <a:ea typeface="ＭＳ ゴシック" panose="020B0609070205080204" pitchFamily="49" charset="-128"/>
              </a:rPr>
              <a:t>");</a:t>
            </a:r>
          </a:p>
          <a:p>
            <a:pPr lvl="1"/>
            <a:r>
              <a:rPr lang="en-US" altLang="en-US" sz="1800" b="0">
                <a:latin typeface="Arial" panose="020B0604020202020204" pitchFamily="34" charset="0"/>
                <a:ea typeface="ＭＳ ゴシック" panose="020B0609070205080204" pitchFamily="49" charset="-128"/>
              </a:rPr>
              <a:t>}</a:t>
            </a:r>
          </a:p>
        </p:txBody>
      </p:sp>
      <p:sp>
        <p:nvSpPr>
          <p:cNvPr id="755719" name="Rectangle 7">
            <a:extLst>
              <a:ext uri="{FF2B5EF4-FFF2-40B4-BE49-F238E27FC236}">
                <a16:creationId xmlns:a16="http://schemas.microsoft.com/office/drawing/2014/main" id="{A2638D2A-9E2B-ECDD-ACB0-9D51BCAFBAD1}"/>
              </a:ext>
            </a:extLst>
          </p:cNvPr>
          <p:cNvSpPr>
            <a:spLocks noChangeArrowheads="1"/>
          </p:cNvSpPr>
          <p:nvPr/>
        </p:nvSpPr>
        <p:spPr bwMode="auto">
          <a:xfrm>
            <a:off x="1344613" y="2593975"/>
            <a:ext cx="458787" cy="277813"/>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5721" name="Rectangle 9">
            <a:extLst>
              <a:ext uri="{FF2B5EF4-FFF2-40B4-BE49-F238E27FC236}">
                <a16:creationId xmlns:a16="http://schemas.microsoft.com/office/drawing/2014/main" id="{AE081B00-A5F1-6D1E-D8FF-F8485A5F36AE}"/>
              </a:ext>
            </a:extLst>
          </p:cNvPr>
          <p:cNvSpPr>
            <a:spLocks noChangeArrowheads="1"/>
          </p:cNvSpPr>
          <p:nvPr/>
        </p:nvSpPr>
        <p:spPr bwMode="auto">
          <a:xfrm>
            <a:off x="817563" y="3495675"/>
            <a:ext cx="5233987" cy="1408113"/>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cxnSp>
        <p:nvCxnSpPr>
          <p:cNvPr id="755722" name="AutoShape 10">
            <a:extLst>
              <a:ext uri="{FF2B5EF4-FFF2-40B4-BE49-F238E27FC236}">
                <a16:creationId xmlns:a16="http://schemas.microsoft.com/office/drawing/2014/main" id="{2DD8539B-9520-FE5D-E684-FEF50409BF1A}"/>
              </a:ext>
            </a:extLst>
          </p:cNvPr>
          <p:cNvCxnSpPr>
            <a:cxnSpLocks noChangeShapeType="1"/>
            <a:stCxn id="755719" idx="1"/>
            <a:endCxn id="755723" idx="1"/>
          </p:cNvCxnSpPr>
          <p:nvPr/>
        </p:nvCxnSpPr>
        <p:spPr bwMode="auto">
          <a:xfrm rot="10800000" flipV="1">
            <a:off x="1066800" y="2733675"/>
            <a:ext cx="265113" cy="917575"/>
          </a:xfrm>
          <a:prstGeom prst="curvedConnector3">
            <a:avLst>
              <a:gd name="adj1" fmla="val 186227"/>
            </a:avLst>
          </a:prstGeom>
          <a:noFill/>
          <a:ln w="25400">
            <a:solidFill>
              <a:srgbClr val="3FB007"/>
            </a:solidFill>
            <a:prstDash val="sysDot"/>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5723" name="Rectangle 11">
            <a:extLst>
              <a:ext uri="{FF2B5EF4-FFF2-40B4-BE49-F238E27FC236}">
                <a16:creationId xmlns:a16="http://schemas.microsoft.com/office/drawing/2014/main" id="{75435067-73C1-16AF-96A7-3EF5BB9D5D37}"/>
              </a:ext>
            </a:extLst>
          </p:cNvPr>
          <p:cNvSpPr>
            <a:spLocks noChangeArrowheads="1"/>
          </p:cNvSpPr>
          <p:nvPr/>
        </p:nvSpPr>
        <p:spPr bwMode="auto">
          <a:xfrm>
            <a:off x="1066800" y="3530600"/>
            <a:ext cx="825500" cy="2413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5724" name="Line 12">
            <a:extLst>
              <a:ext uri="{FF2B5EF4-FFF2-40B4-BE49-F238E27FC236}">
                <a16:creationId xmlns:a16="http://schemas.microsoft.com/office/drawing/2014/main" id="{CE5A4190-BBBD-1632-CCFF-9DCEA98D979A}"/>
              </a:ext>
            </a:extLst>
          </p:cNvPr>
          <p:cNvSpPr>
            <a:spLocks noChangeShapeType="1"/>
          </p:cNvSpPr>
          <p:nvPr/>
        </p:nvSpPr>
        <p:spPr bwMode="auto">
          <a:xfrm>
            <a:off x="908050" y="3708400"/>
            <a:ext cx="0" cy="1028700"/>
          </a:xfrm>
          <a:prstGeom prst="line">
            <a:avLst/>
          </a:prstGeom>
          <a:noFill/>
          <a:ln w="25400">
            <a:solidFill>
              <a:srgbClr val="3FB007"/>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5725" name="Rectangle 13">
            <a:extLst>
              <a:ext uri="{FF2B5EF4-FFF2-40B4-BE49-F238E27FC236}">
                <a16:creationId xmlns:a16="http://schemas.microsoft.com/office/drawing/2014/main" id="{DFA9AC22-7A16-FCB9-B402-C9E987974D41}"/>
              </a:ext>
            </a:extLst>
          </p:cNvPr>
          <p:cNvSpPr>
            <a:spLocks noChangeArrowheads="1"/>
          </p:cNvSpPr>
          <p:nvPr/>
        </p:nvSpPr>
        <p:spPr bwMode="auto">
          <a:xfrm>
            <a:off x="1447800" y="4254500"/>
            <a:ext cx="838200" cy="330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5728" name="Rectangle 16">
            <a:extLst>
              <a:ext uri="{FF2B5EF4-FFF2-40B4-BE49-F238E27FC236}">
                <a16:creationId xmlns:a16="http://schemas.microsoft.com/office/drawing/2014/main" id="{54AE5437-EF5B-28FA-2526-D4172FEE5EC1}"/>
              </a:ext>
            </a:extLst>
          </p:cNvPr>
          <p:cNvSpPr>
            <a:spLocks noChangeArrowheads="1"/>
          </p:cNvSpPr>
          <p:nvPr/>
        </p:nvSpPr>
        <p:spPr bwMode="auto">
          <a:xfrm>
            <a:off x="538163" y="2378075"/>
            <a:ext cx="7735887" cy="2728913"/>
          </a:xfrm>
          <a:prstGeom prst="rect">
            <a:avLst/>
          </a:prstGeom>
          <a:noFill/>
          <a:ln w="25400" algn="ctr">
            <a:solidFill>
              <a:srgbClr val="673EC1"/>
            </a:solidFill>
            <a:prstDash val="dash"/>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5730" name="AutoShape 18">
            <a:extLst>
              <a:ext uri="{FF2B5EF4-FFF2-40B4-BE49-F238E27FC236}">
                <a16:creationId xmlns:a16="http://schemas.microsoft.com/office/drawing/2014/main" id="{DD512F89-B6C6-75CA-8379-9363ED849C0C}"/>
              </a:ext>
            </a:extLst>
          </p:cNvPr>
          <p:cNvSpPr>
            <a:spLocks noChangeArrowheads="1"/>
          </p:cNvSpPr>
          <p:nvPr/>
        </p:nvSpPr>
        <p:spPr bwMode="auto">
          <a:xfrm>
            <a:off x="5095875" y="3098800"/>
            <a:ext cx="4225925" cy="782638"/>
          </a:xfrm>
          <a:prstGeom prst="wedgeRoundRectCallout">
            <a:avLst>
              <a:gd name="adj1" fmla="val -55671"/>
              <a:gd name="adj2" fmla="val 99088"/>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600" dirty="0" err="1">
                <a:latin typeface="+mj-lt"/>
                <a:ea typeface="ＭＳ ゴシック" panose="020B0609070205080204" pitchFamily="49" charset="-128"/>
              </a:rPr>
              <a:t>Vì</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không</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có</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câu</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lệnh</a:t>
            </a:r>
            <a:r>
              <a:rPr lang="en-US" altLang="ja-JP" sz="1600" dirty="0">
                <a:latin typeface="+mj-lt"/>
                <a:ea typeface="ＭＳ ゴシック" panose="020B0609070205080204" pitchFamily="49" charset="-128"/>
              </a:rPr>
              <a:t> break </a:t>
            </a:r>
            <a:r>
              <a:rPr lang="en-US" altLang="ja-JP" sz="1600" dirty="0" err="1">
                <a:latin typeface="+mj-lt"/>
                <a:ea typeface="ＭＳ ゴシック" panose="020B0609070205080204" pitchFamily="49" charset="-128"/>
              </a:rPr>
              <a:t>nên</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sẽ</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tiếp</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tục</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thực</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hiện</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xử</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lý</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phía</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sau</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lable</a:t>
            </a:r>
            <a:r>
              <a:rPr lang="en-US" altLang="ja-JP" sz="1600" dirty="0">
                <a:latin typeface="+mj-lt"/>
                <a:ea typeface="ＭＳ ゴシック" panose="020B0609070205080204" pitchFamily="49" charset="-128"/>
              </a:rPr>
              <a:t> case </a:t>
            </a:r>
            <a:r>
              <a:rPr lang="en-US" altLang="ja-JP" sz="1600" dirty="0" err="1">
                <a:latin typeface="+mj-lt"/>
                <a:ea typeface="ＭＳ ゴシック" panose="020B0609070205080204" pitchFamily="49" charset="-128"/>
              </a:rPr>
              <a:t>thỏa</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mãn</a:t>
            </a:r>
            <a:r>
              <a:rPr lang="en-US" altLang="ja-JP" sz="1600" dirty="0">
                <a:latin typeface="+mj-lt"/>
                <a:ea typeface="ＭＳ ゴシック" panose="020B0609070205080204" pitchFamily="49" charset="-128"/>
              </a:rPr>
              <a:t>.</a:t>
            </a:r>
            <a:endParaRPr lang="en-US" altLang="ja-JP" sz="1600" dirty="0">
              <a:latin typeface="+mj-lt"/>
            </a:endParaRPr>
          </a:p>
        </p:txBody>
      </p:sp>
      <p:sp>
        <p:nvSpPr>
          <p:cNvPr id="755739" name="Text Box 27">
            <a:extLst>
              <a:ext uri="{FF2B5EF4-FFF2-40B4-BE49-F238E27FC236}">
                <a16:creationId xmlns:a16="http://schemas.microsoft.com/office/drawing/2014/main" id="{339E3581-57FE-DD83-2137-4AB22849ADF8}"/>
              </a:ext>
            </a:extLst>
          </p:cNvPr>
          <p:cNvSpPr txBox="1">
            <a:spLocks noChangeArrowheads="1"/>
          </p:cNvSpPr>
          <p:nvPr/>
        </p:nvSpPr>
        <p:spPr bwMode="auto">
          <a:xfrm>
            <a:off x="441325" y="5903913"/>
            <a:ext cx="9069388" cy="687387"/>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38" tIns="20478" rIns="10238" bIns="10238"/>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3200"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sz="1800" b="0" dirty="0">
                <a:latin typeface="+mj-lt"/>
                <a:ea typeface="ＭＳ ゴシック" panose="020B0609070205080204" pitchFamily="49" charset="-128"/>
              </a:rPr>
              <a:t>2</a:t>
            </a:r>
          </a:p>
          <a:p>
            <a:pPr lvl="1" algn="just"/>
            <a:r>
              <a:rPr lang="en-US" altLang="ja-JP" sz="1800" b="0" dirty="0" err="1">
                <a:latin typeface="+mj-lt"/>
                <a:ea typeface="ＭＳ ゴシック" panose="020B0609070205080204" pitchFamily="49" charset="-128"/>
              </a:rPr>
              <a:t>Khác</a:t>
            </a:r>
            <a:r>
              <a:rPr lang="en-US" altLang="ja-JP" sz="1800" b="0" dirty="0">
                <a:latin typeface="+mj-lt"/>
                <a:ea typeface="ＭＳ ゴシック" panose="020B0609070205080204" pitchFamily="49" charset="-128"/>
              </a:rPr>
              <a:t> 1</a:t>
            </a:r>
            <a:r>
              <a:rPr lang="ja-JP" altLang="en-US" sz="1800" b="0" dirty="0">
                <a:latin typeface="+mj-lt"/>
                <a:ea typeface="ＭＳ ゴシック" panose="020B0609070205080204" pitchFamily="49" charset="-128"/>
              </a:rPr>
              <a:t>、</a:t>
            </a:r>
            <a:r>
              <a:rPr lang="en-US" altLang="ja-JP" sz="1800" b="0" dirty="0">
                <a:latin typeface="+mj-lt"/>
                <a:ea typeface="ＭＳ ゴシック" panose="020B0609070205080204" pitchFamily="49" charset="-128"/>
              </a:rPr>
              <a:t>2</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8E09F0FB-CA41-8AC1-C7C4-6E5A70C702E8}"/>
              </a:ext>
            </a:extLst>
          </p:cNvPr>
          <p:cNvSpPr>
            <a:spLocks noGrp="1"/>
          </p:cNvSpPr>
          <p:nvPr>
            <p:ph type="sldNum" sz="quarter" idx="10"/>
          </p:nvPr>
        </p:nvSpPr>
        <p:spPr/>
        <p:txBody>
          <a:bodyPr/>
          <a:lstStyle/>
          <a:p>
            <a:fld id="{77966452-4169-40EF-B1DF-224F0E7F5FDF}" type="slidenum">
              <a:rPr lang="en-US" altLang="ja-JP"/>
              <a:pPr/>
              <a:t>30</a:t>
            </a:fld>
            <a:endParaRPr lang="en-US" altLang="ja-JP"/>
          </a:p>
        </p:txBody>
      </p:sp>
      <p:sp>
        <p:nvSpPr>
          <p:cNvPr id="736258" name="Rectangle 2">
            <a:extLst>
              <a:ext uri="{FF2B5EF4-FFF2-40B4-BE49-F238E27FC236}">
                <a16:creationId xmlns:a16="http://schemas.microsoft.com/office/drawing/2014/main" id="{73280CA0-F04D-4416-DC35-CBDC6306957B}"/>
              </a:ext>
            </a:extLst>
          </p:cNvPr>
          <p:cNvSpPr>
            <a:spLocks noGrp="1" noChangeArrowheads="1"/>
          </p:cNvSpPr>
          <p:nvPr>
            <p:ph type="title"/>
          </p:nvPr>
        </p:nvSpPr>
        <p:spPr>
          <a:xfrm>
            <a:off x="313476" y="300831"/>
            <a:ext cx="9217025" cy="490537"/>
          </a:xfrm>
        </p:spPr>
        <p:txBody>
          <a:bodyPr>
            <a:normAutofit fontScale="90000"/>
          </a:bodyPr>
          <a:lstStyle/>
          <a:p>
            <a:r>
              <a:rPr lang="en-US" altLang="ja-JP" dirty="0" err="1">
                <a:latin typeface="MS UI Gothic" panose="020B0600070205080204" pitchFamily="50" charset="-128"/>
                <a:ea typeface="MS UI Gothic" panose="020B0600070205080204" pitchFamily="50" charset="-128"/>
              </a:rPr>
              <a:t>Điều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kiện</a:t>
            </a:r>
            <a:r>
              <a:rPr lang="en-US" altLang="ja-JP" dirty="0">
                <a:latin typeface="MS UI Gothic" panose="020B0600070205080204" pitchFamily="50" charset="-128"/>
                <a:ea typeface="MS UI Gothic" panose="020B0600070205080204" pitchFamily="50" charset="-128"/>
              </a:rPr>
              <a:t> </a:t>
            </a:r>
            <a:r>
              <a:rPr lang="en-US" altLang="ja-JP" dirty="0">
                <a:latin typeface="ＭＳ ゴシック" panose="020B0609070205080204" pitchFamily="49" charset="-128"/>
                <a:ea typeface="ＭＳ ゴシック" panose="020B0609070205080204" pitchFamily="49" charset="-128"/>
              </a:rPr>
              <a:t>OR </a:t>
            </a:r>
            <a:r>
              <a:rPr lang="en-US" altLang="ja-JP" dirty="0" err="1">
                <a:latin typeface="ＭＳ ゴシック" panose="020B0609070205080204" pitchFamily="49" charset="-128"/>
                <a:ea typeface="ＭＳ ゴシック" panose="020B0609070205080204" pitchFamily="49" charset="-128"/>
              </a:rPr>
              <a:t>và</a:t>
            </a:r>
            <a:r>
              <a:rPr lang="en-US" altLang="ja-JP" dirty="0">
                <a:latin typeface="ＭＳ ゴシック" panose="020B0609070205080204" pitchFamily="49" charset="-128"/>
                <a:ea typeface="ＭＳ ゴシック" panose="020B0609070205080204" pitchFamily="49" charset="-128"/>
              </a:rPr>
              <a:t> </a:t>
            </a:r>
            <a:r>
              <a:rPr lang="en-US" altLang="ja-JP" dirty="0" err="1">
                <a:latin typeface="ＭＳ ゴシック" panose="020B0609070205080204" pitchFamily="49" charset="-128"/>
                <a:ea typeface="ＭＳ ゴシック" panose="020B0609070205080204" pitchFamily="49" charset="-128"/>
              </a:rPr>
              <a:t>câu</a:t>
            </a:r>
            <a:r>
              <a:rPr lang="en-US" altLang="ja-JP" dirty="0">
                <a:latin typeface="ＭＳ ゴシック" panose="020B0609070205080204" pitchFamily="49" charset="-128"/>
                <a:ea typeface="ＭＳ ゴシック" panose="020B0609070205080204" pitchFamily="49" charset="-128"/>
              </a:rPr>
              <a:t> </a:t>
            </a:r>
            <a:r>
              <a:rPr lang="en-US" altLang="ja-JP" dirty="0" err="1">
                <a:latin typeface="ＭＳ ゴシック" panose="020B0609070205080204" pitchFamily="49" charset="-128"/>
                <a:ea typeface="ＭＳ ゴシック" panose="020B0609070205080204" pitchFamily="49" charset="-128"/>
              </a:rPr>
              <a:t>lệnh</a:t>
            </a:r>
            <a:r>
              <a:rPr lang="en-US" altLang="ja-JP" dirty="0">
                <a:latin typeface="ＭＳ ゴシック" panose="020B0609070205080204" pitchFamily="49" charset="-128"/>
                <a:ea typeface="ＭＳ ゴシック" panose="020B0609070205080204" pitchFamily="49" charset="-128"/>
              </a:rPr>
              <a:t> switch </a:t>
            </a:r>
            <a:r>
              <a:rPr lang="ja-JP" altLang="en-US" dirty="0">
                <a:latin typeface="MS UI Gothic" panose="020B0600070205080204" pitchFamily="50" charset="-128"/>
                <a:ea typeface="MS UI Gothic" panose="020B0600070205080204" pitchFamily="50" charset="-128"/>
              </a:rPr>
              <a:t>（</a:t>
            </a:r>
            <a:r>
              <a:rPr lang="en-US" altLang="ja-JP" dirty="0">
                <a:latin typeface="MS UI Gothic" panose="020B0600070205080204" pitchFamily="50" charset="-128"/>
                <a:ea typeface="MS UI Gothic" panose="020B0600070205080204" pitchFamily="50" charset="-128"/>
              </a:rPr>
              <a:t>1</a:t>
            </a:r>
            <a:r>
              <a:rPr lang="ja-JP" altLang="en-US" dirty="0">
                <a:latin typeface="MS UI Gothic" panose="020B0600070205080204" pitchFamily="50" charset="-128"/>
                <a:ea typeface="MS UI Gothic" panose="020B0600070205080204" pitchFamily="50" charset="-128"/>
              </a:rPr>
              <a:t>）</a:t>
            </a:r>
          </a:p>
        </p:txBody>
      </p:sp>
      <p:sp>
        <p:nvSpPr>
          <p:cNvPr id="736259" name="Rectangle 3">
            <a:extLst>
              <a:ext uri="{FF2B5EF4-FFF2-40B4-BE49-F238E27FC236}">
                <a16:creationId xmlns:a16="http://schemas.microsoft.com/office/drawing/2014/main" id="{8C4DAC36-D80C-ED7C-86F5-C1EF0B1450B5}"/>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36260" name="Rectangle 4">
            <a:extLst>
              <a:ext uri="{FF2B5EF4-FFF2-40B4-BE49-F238E27FC236}">
                <a16:creationId xmlns:a16="http://schemas.microsoft.com/office/drawing/2014/main" id="{7CAE4D6E-33D4-A03C-649F-A7F3B1B71E28}"/>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ea typeface="ＭＳ ゴシック" panose="020B0609070205080204" pitchFamily="49" charset="-128"/>
              </a:rPr>
              <a:t>Điều kiện OR và câu lệnh switch</a:t>
            </a:r>
            <a:endParaRPr lang="en-US" altLang="ja-JP" sz="2400" b="0">
              <a:latin typeface="Arial" panose="020B0604020202020204" pitchFamily="34" charset="0"/>
            </a:endParaRP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grpSp>
        <p:nvGrpSpPr>
          <p:cNvPr id="736276" name="Group 20">
            <a:extLst>
              <a:ext uri="{FF2B5EF4-FFF2-40B4-BE49-F238E27FC236}">
                <a16:creationId xmlns:a16="http://schemas.microsoft.com/office/drawing/2014/main" id="{CD05250D-B289-772E-6F12-79C739F80E62}"/>
              </a:ext>
            </a:extLst>
          </p:cNvPr>
          <p:cNvGrpSpPr>
            <a:grpSpLocks/>
          </p:cNvGrpSpPr>
          <p:nvPr/>
        </p:nvGrpSpPr>
        <p:grpSpPr bwMode="auto">
          <a:xfrm>
            <a:off x="342900" y="1878013"/>
            <a:ext cx="9121775" cy="4105275"/>
            <a:chOff x="216" y="1183"/>
            <a:chExt cx="5746" cy="2586"/>
          </a:xfrm>
        </p:grpSpPr>
        <p:sp>
          <p:nvSpPr>
            <p:cNvPr id="736262" name="Text Box 6">
              <a:extLst>
                <a:ext uri="{FF2B5EF4-FFF2-40B4-BE49-F238E27FC236}">
                  <a16:creationId xmlns:a16="http://schemas.microsoft.com/office/drawing/2014/main" id="{C57E19C9-6A31-2AA7-635D-4A9F5ABBC957}"/>
                </a:ext>
              </a:extLst>
            </p:cNvPr>
            <p:cNvSpPr txBox="1">
              <a:spLocks noChangeArrowheads="1"/>
            </p:cNvSpPr>
            <p:nvPr/>
          </p:nvSpPr>
          <p:spPr bwMode="auto">
            <a:xfrm>
              <a:off x="217" y="1183"/>
              <a:ext cx="5745" cy="1628"/>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nchor="ctr"/>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ＭＳ ゴシック" panose="020B0609070205080204" pitchFamily="49" charset="-128"/>
                </a:rPr>
                <a:t>switch (Giá trị hoặc biểu thức muốn đánh giá) {</a:t>
              </a:r>
            </a:p>
            <a:p>
              <a:pPr lvl="1" algn="just">
                <a:lnSpc>
                  <a:spcPct val="112000"/>
                </a:lnSpc>
              </a:pPr>
              <a:r>
                <a:rPr lang="en-US" altLang="ja-JP" sz="2000">
                  <a:ea typeface="ＭＳ ゴシック" panose="020B0609070205080204" pitchFamily="49" charset="-128"/>
                </a:rPr>
                <a:t>    case Biểu thức hằng số </a:t>
              </a:r>
              <a:r>
                <a:rPr lang="en-US" altLang="ja-JP" sz="2000">
                  <a:ea typeface="MS UI Gothic" panose="020B0600070205080204" pitchFamily="50" charset="-128"/>
                </a:rPr>
                <a:t>1</a:t>
              </a:r>
              <a:r>
                <a:rPr lang="en-US" altLang="ja-JP" sz="2000">
                  <a:ea typeface="ＭＳ ゴシック" panose="020B0609070205080204" pitchFamily="49" charset="-128"/>
                </a:rPr>
                <a:t>:</a:t>
              </a:r>
            </a:p>
            <a:p>
              <a:pPr lvl="1" algn="just">
                <a:lnSpc>
                  <a:spcPct val="112000"/>
                </a:lnSpc>
              </a:pPr>
              <a:r>
                <a:rPr lang="ja-JP" altLang="en-US" sz="2000">
                  <a:ea typeface="ＭＳ ゴシック" panose="020B0609070205080204" pitchFamily="49" charset="-128"/>
                </a:rPr>
                <a:t>　</a:t>
              </a:r>
              <a:r>
                <a:rPr lang="en-US" altLang="ja-JP" sz="2000">
                  <a:ea typeface="ＭＳ ゴシック" panose="020B0609070205080204" pitchFamily="49" charset="-128"/>
                </a:rPr>
                <a:t>case </a:t>
              </a:r>
              <a:r>
                <a:rPr lang="en-US" altLang="ja-JP" sz="2000">
                  <a:ea typeface="MS UI Gothic" panose="020B0600070205080204" pitchFamily="50" charset="-128"/>
                </a:rPr>
                <a:t>Biểu thức hằng số</a:t>
              </a:r>
              <a:r>
                <a:rPr lang="en-US" altLang="ja-JP">
                  <a:ea typeface="MS UI Gothic" panose="020B0600070205080204" pitchFamily="50" charset="-128"/>
                </a:rPr>
                <a:t>  </a:t>
              </a:r>
              <a:r>
                <a:rPr lang="en-US" altLang="ja-JP" sz="2000">
                  <a:ea typeface="MS UI Gothic" panose="020B0600070205080204" pitchFamily="50" charset="-128"/>
                </a:rPr>
                <a:t>2</a:t>
              </a:r>
              <a:r>
                <a:rPr lang="en-US" altLang="ja-JP" sz="2000">
                  <a:ea typeface="ＭＳ ゴシック" panose="020B0609070205080204" pitchFamily="49" charset="-128"/>
                </a:rPr>
                <a:t>:</a:t>
              </a:r>
            </a:p>
            <a:p>
              <a:pPr lvl="1" algn="just">
                <a:lnSpc>
                  <a:spcPct val="112000"/>
                </a:lnSpc>
              </a:pPr>
              <a:r>
                <a:rPr lang="ja-JP" altLang="en-US" sz="2000">
                  <a:ea typeface="ＭＳ ゴシック" panose="020B0609070205080204" pitchFamily="49" charset="-128"/>
                </a:rPr>
                <a:t>　　　　：</a:t>
              </a:r>
            </a:p>
            <a:p>
              <a:pPr lvl="1" algn="just">
                <a:lnSpc>
                  <a:spcPct val="112000"/>
                </a:lnSpc>
              </a:pPr>
              <a:r>
                <a:rPr lang="ja-JP" altLang="en-US" sz="2000">
                  <a:ea typeface="ＭＳ ゴシック" panose="020B0609070205080204" pitchFamily="49" charset="-128"/>
                </a:rPr>
                <a:t>    </a:t>
              </a:r>
              <a:r>
                <a:rPr lang="en-US" altLang="ja-JP" sz="2000">
                  <a:ea typeface="ＭＳ ゴシック" panose="020B0609070205080204" pitchFamily="49" charset="-128"/>
                </a:rPr>
                <a:t>case Biểu thức hằng số n:</a:t>
              </a:r>
            </a:p>
            <a:p>
              <a:pPr lvl="1" algn="just">
                <a:lnSpc>
                  <a:spcPct val="112000"/>
                </a:lnSpc>
              </a:pPr>
              <a:r>
                <a:rPr lang="en-US" altLang="ja-JP" sz="2000">
                  <a:ea typeface="ＭＳ ゴシック" panose="020B0609070205080204" pitchFamily="49" charset="-128"/>
                </a:rPr>
                <a:t>        Giá trị hoặc biểu thức muốn đánh giá bằng biểu thức hằng số</a:t>
              </a:r>
              <a:endParaRPr lang="en-US" altLang="ja-JP" sz="2000">
                <a:ea typeface="MS UI Gothic" panose="020B0600070205080204" pitchFamily="50" charset="-128"/>
              </a:endParaRPr>
            </a:p>
            <a:p>
              <a:pPr lvl="1" algn="just">
                <a:lnSpc>
                  <a:spcPct val="112000"/>
                </a:lnSpc>
              </a:pPr>
              <a:r>
                <a:rPr lang="en-US" altLang="ja-JP" sz="2000">
                  <a:ea typeface="ＭＳ ゴシック" panose="020B0609070205080204" pitchFamily="49" charset="-128"/>
                </a:rPr>
                <a:t>}</a:t>
              </a:r>
            </a:p>
          </p:txBody>
        </p:sp>
        <p:sp>
          <p:nvSpPr>
            <p:cNvPr id="736263" name="Rectangle 7">
              <a:extLst>
                <a:ext uri="{FF2B5EF4-FFF2-40B4-BE49-F238E27FC236}">
                  <a16:creationId xmlns:a16="http://schemas.microsoft.com/office/drawing/2014/main" id="{4E2689D4-0A70-17A2-E4D3-D6FC0AFE39D9}"/>
                </a:ext>
              </a:extLst>
            </p:cNvPr>
            <p:cNvSpPr>
              <a:spLocks noChangeArrowheads="1"/>
            </p:cNvSpPr>
            <p:nvPr/>
          </p:nvSpPr>
          <p:spPr bwMode="auto">
            <a:xfrm>
              <a:off x="507" y="1474"/>
              <a:ext cx="2179" cy="855"/>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36269" name="AutoShape 13">
              <a:extLst>
                <a:ext uri="{FF2B5EF4-FFF2-40B4-BE49-F238E27FC236}">
                  <a16:creationId xmlns:a16="http://schemas.microsoft.com/office/drawing/2014/main" id="{4F55944F-A9D0-EEAC-DCAE-C8657455AA96}"/>
                </a:ext>
              </a:extLst>
            </p:cNvPr>
            <p:cNvSpPr>
              <a:spLocks noChangeArrowheads="1"/>
            </p:cNvSpPr>
            <p:nvPr/>
          </p:nvSpPr>
          <p:spPr bwMode="auto">
            <a:xfrm>
              <a:off x="2858" y="1541"/>
              <a:ext cx="2907" cy="531"/>
            </a:xfrm>
            <a:prstGeom prst="wedgeRoundRectCallout">
              <a:avLst>
                <a:gd name="adj1" fmla="val -62593"/>
                <a:gd name="adj2" fmla="val 15537"/>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600" dirty="0" err="1">
                  <a:latin typeface="+mj-lt"/>
                  <a:ea typeface="ＭＳ ゴシック" panose="020B0609070205080204" pitchFamily="49" charset="-128"/>
                </a:rPr>
                <a:t>Chỉ</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định</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liên</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tục</a:t>
              </a:r>
              <a:r>
                <a:rPr lang="en-US" altLang="ja-JP" sz="1600" dirty="0">
                  <a:latin typeface="+mj-lt"/>
                  <a:ea typeface="ＭＳ ゴシック" panose="020B0609070205080204" pitchFamily="49" charset="-128"/>
                </a:rPr>
                <a:t> case </a:t>
              </a:r>
              <a:r>
                <a:rPr lang="en-US" altLang="ja-JP" sz="1600" dirty="0" err="1">
                  <a:latin typeface="+mj-lt"/>
                  <a:ea typeface="ＭＳ ゴシック" panose="020B0609070205080204" pitchFamily="49" charset="-128"/>
                </a:rPr>
                <a:t>biểu</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thức</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hằng</a:t>
              </a:r>
              <a:r>
                <a:rPr lang="en-US" altLang="ja-JP" sz="1600" dirty="0">
                  <a:latin typeface="+mj-lt"/>
                  <a:ea typeface="ＭＳ ゴシック" panose="020B0609070205080204" pitchFamily="49" charset="-128"/>
                </a:rPr>
                <a:t> </a:t>
              </a:r>
              <a:r>
                <a:rPr lang="en-US" altLang="ja-JP" sz="1600" dirty="0" err="1">
                  <a:latin typeface="+mj-lt"/>
                  <a:ea typeface="ＭＳ ゴシック" panose="020B0609070205080204" pitchFamily="49" charset="-128"/>
                </a:rPr>
                <a:t>số</a:t>
              </a:r>
              <a:r>
                <a:rPr lang="ja-JP" altLang="en-US" sz="1600" dirty="0">
                  <a:latin typeface="+mj-lt"/>
                  <a:ea typeface="ＭＳ ゴシック" panose="020B0609070205080204" pitchFamily="49" charset="-128"/>
                </a:rPr>
                <a:t>：</a:t>
              </a:r>
              <a:br>
                <a:rPr lang="ja-JP" altLang="en-US" sz="1600" dirty="0">
                  <a:latin typeface="+mj-lt"/>
                </a:rPr>
              </a:br>
              <a:r>
                <a:rPr lang="ja-JP" altLang="en-US" sz="1600" dirty="0">
                  <a:latin typeface="+mj-lt"/>
                </a:rPr>
                <a:t>　 </a:t>
              </a:r>
              <a:r>
                <a:rPr lang="en-US" altLang="ja-JP" sz="1600" dirty="0" err="1">
                  <a:latin typeface="+mj-lt"/>
                </a:rPr>
                <a:t>Điều</a:t>
              </a:r>
              <a:r>
                <a:rPr lang="en-US" altLang="ja-JP" sz="1600" dirty="0">
                  <a:latin typeface="+mj-lt"/>
                </a:rPr>
                <a:t> </a:t>
              </a:r>
              <a:r>
                <a:rPr lang="en-US" altLang="ja-JP" sz="1600" dirty="0" err="1">
                  <a:latin typeface="+mj-lt"/>
                </a:rPr>
                <a:t>kiện</a:t>
              </a:r>
              <a:r>
                <a:rPr lang="en-US" altLang="ja-JP" sz="1600" dirty="0">
                  <a:latin typeface="+mj-lt"/>
                </a:rPr>
                <a:t> </a:t>
              </a:r>
              <a:r>
                <a:rPr lang="en-US" altLang="ja-JP" sz="1600" dirty="0">
                  <a:latin typeface="+mj-lt"/>
                  <a:ea typeface="ＭＳ ゴシック" panose="020B0609070205080204" pitchFamily="49" charset="-128"/>
                </a:rPr>
                <a:t>OR</a:t>
              </a:r>
            </a:p>
          </p:txBody>
        </p:sp>
        <p:sp>
          <p:nvSpPr>
            <p:cNvPr id="736270" name="AutoShape 14">
              <a:extLst>
                <a:ext uri="{FF2B5EF4-FFF2-40B4-BE49-F238E27FC236}">
                  <a16:creationId xmlns:a16="http://schemas.microsoft.com/office/drawing/2014/main" id="{2D77CBF2-27BF-0CE4-6111-1E26DA109E93}"/>
                </a:ext>
              </a:extLst>
            </p:cNvPr>
            <p:cNvSpPr>
              <a:spLocks noChangeArrowheads="1"/>
            </p:cNvSpPr>
            <p:nvPr/>
          </p:nvSpPr>
          <p:spPr bwMode="auto">
            <a:xfrm>
              <a:off x="3668" y="1836"/>
              <a:ext cx="294" cy="134"/>
            </a:xfrm>
            <a:prstGeom prst="rightArrow">
              <a:avLst>
                <a:gd name="adj1" fmla="val 50000"/>
                <a:gd name="adj2" fmla="val 54851"/>
              </a:avLst>
            </a:prstGeom>
            <a:solidFill>
              <a:srgbClr val="00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36273" name="AutoShape 17">
              <a:extLst>
                <a:ext uri="{FF2B5EF4-FFF2-40B4-BE49-F238E27FC236}">
                  <a16:creationId xmlns:a16="http://schemas.microsoft.com/office/drawing/2014/main" id="{FE371AEB-4894-201E-F93E-368DBFB1A2E4}"/>
                </a:ext>
              </a:extLst>
            </p:cNvPr>
            <p:cNvSpPr>
              <a:spLocks noChangeArrowheads="1"/>
            </p:cNvSpPr>
            <p:nvPr/>
          </p:nvSpPr>
          <p:spPr bwMode="auto">
            <a:xfrm>
              <a:off x="216" y="3260"/>
              <a:ext cx="4064" cy="509"/>
            </a:xfrm>
            <a:prstGeom prst="wedgeRoundRectCallout">
              <a:avLst>
                <a:gd name="adj1" fmla="val -35162"/>
                <a:gd name="adj2" fmla="val -192042"/>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dirty="0" err="1">
                  <a:latin typeface="+mj-lt"/>
                  <a:ea typeface="ＭＳ ゴシック" panose="020B0609070205080204" pitchFamily="49" charset="-128"/>
                </a:rPr>
                <a:t>Tùy</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theo</a:t>
              </a:r>
              <a:r>
                <a:rPr lang="en-US" altLang="ja-JP" sz="1800" dirty="0">
                  <a:latin typeface="+mj-lt"/>
                  <a:ea typeface="ＭＳ ゴシック" panose="020B0609070205080204" pitchFamily="49" charset="-128"/>
                </a:rPr>
                <a:t> case, </a:t>
              </a:r>
              <a:r>
                <a:rPr lang="en-US" altLang="ja-JP" sz="1800" dirty="0" err="1">
                  <a:latin typeface="+mj-lt"/>
                  <a:ea typeface="ＭＳ ゴシック" panose="020B0609070205080204" pitchFamily="49" charset="-128"/>
                </a:rPr>
                <a:t>có</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thể</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tồn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tại</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cả</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loại</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có</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chỉ</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định</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câu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lệnh</a:t>
              </a:r>
              <a:r>
                <a:rPr lang="en-US" altLang="ja-JP" sz="1800" dirty="0">
                  <a:latin typeface="+mj-lt"/>
                  <a:ea typeface="ＭＳ ゴシック" panose="020B0609070205080204" pitchFamily="49" charset="-128"/>
                </a:rPr>
                <a:t> break </a:t>
              </a:r>
              <a:r>
                <a:rPr lang="en-US" altLang="ja-JP" sz="1800" dirty="0" err="1">
                  <a:latin typeface="+mj-lt"/>
                  <a:ea typeface="ＭＳ ゴシック" panose="020B0609070205080204" pitchFamily="49" charset="-128"/>
                </a:rPr>
                <a:t>và</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loại</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không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chỉ</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định</a:t>
              </a:r>
              <a:endParaRPr lang="en-US" altLang="ja-JP" sz="1800" dirty="0">
                <a:latin typeface="+mj-lt"/>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FAD71E8C-E0D8-B0A4-669D-BA7FA724F9E4}"/>
              </a:ext>
            </a:extLst>
          </p:cNvPr>
          <p:cNvSpPr>
            <a:spLocks noGrp="1"/>
          </p:cNvSpPr>
          <p:nvPr>
            <p:ph type="sldNum" sz="quarter" idx="10"/>
          </p:nvPr>
        </p:nvSpPr>
        <p:spPr/>
        <p:txBody>
          <a:bodyPr/>
          <a:lstStyle/>
          <a:p>
            <a:fld id="{0D20841B-5F1E-438B-986E-AF5C89AC559E}" type="slidenum">
              <a:rPr lang="en-US" altLang="ja-JP"/>
              <a:pPr/>
              <a:t>31</a:t>
            </a:fld>
            <a:endParaRPr lang="en-US" altLang="ja-JP"/>
          </a:p>
        </p:txBody>
      </p:sp>
      <p:sp>
        <p:nvSpPr>
          <p:cNvPr id="759810" name="Rectangle 2">
            <a:extLst>
              <a:ext uri="{FF2B5EF4-FFF2-40B4-BE49-F238E27FC236}">
                <a16:creationId xmlns:a16="http://schemas.microsoft.com/office/drawing/2014/main" id="{D6E08F58-F28A-F377-B10F-B8600CBB6227}"/>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ea typeface="ＭＳ ゴシック" panose="020B0609070205080204" pitchFamily="49" charset="-128"/>
              </a:rPr>
              <a:t>Điều kiện OR và câu lệnh switch</a:t>
            </a:r>
            <a:endParaRPr lang="en-US" altLang="ja-JP" sz="2400" b="0">
              <a:latin typeface="Arial" panose="020B0604020202020204" pitchFamily="34" charset="0"/>
            </a:endParaRPr>
          </a:p>
          <a:p>
            <a:pPr>
              <a:buFont typeface="Wingdings" panose="05000000000000000000" pitchFamily="2" charset="2"/>
              <a:buNone/>
            </a:pPr>
            <a:r>
              <a:rPr lang="en-US" altLang="ja-JP" sz="2000" b="0">
                <a:latin typeface="Arial" panose="020B0604020202020204" pitchFamily="34" charset="0"/>
              </a:rPr>
              <a:t>●Ví dụ</a:t>
            </a:r>
            <a:r>
              <a:rPr lang="ja-JP" altLang="en-US" sz="2000" b="0">
                <a:latin typeface="Arial" panose="020B0604020202020204" pitchFamily="34" charset="0"/>
              </a:rPr>
              <a:t>： </a:t>
            </a:r>
            <a:r>
              <a:rPr lang="en-US" altLang="ja-JP" sz="2000" b="0">
                <a:latin typeface="Arial" panose="020B0604020202020204" pitchFamily="34" charset="0"/>
              </a:rPr>
              <a:t>Nếu </a:t>
            </a:r>
            <a:r>
              <a:rPr lang="ja-JP" altLang="en-US" sz="2000" b="0">
                <a:latin typeface="Arial" panose="020B0604020202020204" pitchFamily="34" charset="0"/>
              </a:rPr>
              <a:t>ｘ </a:t>
            </a:r>
            <a:r>
              <a:rPr lang="en-US" altLang="ja-JP" sz="2000" b="0">
                <a:latin typeface="Arial" panose="020B0604020202020204" pitchFamily="34" charset="0"/>
              </a:rPr>
              <a:t>là </a:t>
            </a:r>
            <a:r>
              <a:rPr lang="ja-JP" altLang="en-US" sz="2000" b="0">
                <a:latin typeface="Arial" panose="020B0604020202020204" pitchFamily="34" charset="0"/>
              </a:rPr>
              <a:t>１ </a:t>
            </a:r>
            <a:r>
              <a:rPr lang="en-US" altLang="ja-JP" sz="2000" b="0">
                <a:latin typeface="Arial" panose="020B0604020202020204" pitchFamily="34" charset="0"/>
              </a:rPr>
              <a:t>hoặc </a:t>
            </a:r>
            <a:r>
              <a:rPr lang="ja-JP" altLang="en-US" sz="2000" b="0">
                <a:latin typeface="Arial" panose="020B0604020202020204" pitchFamily="34" charset="0"/>
              </a:rPr>
              <a:t>２ </a:t>
            </a:r>
            <a:r>
              <a:rPr lang="en-US" altLang="ja-JP" sz="2000" b="0">
                <a:latin typeface="Arial" panose="020B0604020202020204" pitchFamily="34" charset="0"/>
              </a:rPr>
              <a:t>thì sẽ hiển thị là </a:t>
            </a:r>
            <a:r>
              <a:rPr lang="ja-JP" altLang="en-US" sz="2000" b="0">
                <a:latin typeface="Arial" panose="020B0604020202020204" pitchFamily="34" charset="0"/>
              </a:rPr>
              <a:t>「</a:t>
            </a:r>
            <a:r>
              <a:rPr lang="en-US" altLang="ja-JP" sz="2000" b="0">
                <a:latin typeface="Arial" panose="020B0604020202020204" pitchFamily="34" charset="0"/>
              </a:rPr>
              <a:t>Là 1 hoặc </a:t>
            </a:r>
            <a:r>
              <a:rPr lang="ja-JP" altLang="en-US" sz="2000" b="0">
                <a:latin typeface="Arial" panose="020B0604020202020204" pitchFamily="34" charset="0"/>
              </a:rPr>
              <a:t>２」</a:t>
            </a: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endParaRPr lang="ja-JP" altLang="en-US" sz="2000" b="0">
              <a:latin typeface="Arial" panose="020B0604020202020204" pitchFamily="34" charset="0"/>
            </a:endParaRPr>
          </a:p>
          <a:p>
            <a:pPr>
              <a:buFont typeface="Wingdings" panose="05000000000000000000" pitchFamily="2" charset="2"/>
              <a:buNone/>
            </a:pPr>
            <a:r>
              <a:rPr lang="ja-JP" altLang="en-US" sz="2000" b="0">
                <a:latin typeface="Arial" panose="020B0604020202020204" pitchFamily="34" charset="0"/>
              </a:rPr>
              <a:t>●</a:t>
            </a:r>
            <a:r>
              <a:rPr lang="en-US" altLang="ja-JP" sz="2000" b="0">
                <a:latin typeface="Arial" panose="020B0604020202020204" pitchFamily="34" charset="0"/>
              </a:rPr>
              <a:t>Ví dụ thực hiện</a:t>
            </a:r>
          </a:p>
        </p:txBody>
      </p:sp>
      <p:sp>
        <p:nvSpPr>
          <p:cNvPr id="759811" name="Rectangle 3">
            <a:extLst>
              <a:ext uri="{FF2B5EF4-FFF2-40B4-BE49-F238E27FC236}">
                <a16:creationId xmlns:a16="http://schemas.microsoft.com/office/drawing/2014/main" id="{E809D975-A203-2CE7-81B0-44534D10433A}"/>
              </a:ext>
            </a:extLst>
          </p:cNvPr>
          <p:cNvSpPr>
            <a:spLocks noGrp="1" noChangeArrowheads="1"/>
          </p:cNvSpPr>
          <p:nvPr>
            <p:ph type="title"/>
          </p:nvPr>
        </p:nvSpPr>
        <p:spPr>
          <a:xfrm>
            <a:off x="412656" y="337148"/>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Điều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kiện</a:t>
            </a:r>
            <a:r>
              <a:rPr lang="en-US" altLang="ja-JP" dirty="0">
                <a:latin typeface="Arial" panose="020B0604020202020204" pitchFamily="34" charset="0"/>
                <a:ea typeface="MS UI Gothic" panose="020B0600070205080204" pitchFamily="50" charset="-128"/>
              </a:rPr>
              <a:t> OR </a:t>
            </a:r>
            <a:r>
              <a:rPr lang="en-US" altLang="ja-JP" dirty="0" err="1">
                <a:latin typeface="Arial" panose="020B0604020202020204" pitchFamily="34" charset="0"/>
                <a:ea typeface="MS UI Gothic" panose="020B0600070205080204" pitchFamily="50" charset="-128"/>
              </a:rPr>
              <a:t>và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câu</a:t>
            </a:r>
            <a:r>
              <a:rPr lang="en-US" altLang="ja-JP" dirty="0">
                <a:latin typeface="Arial" panose="020B0604020202020204" pitchFamily="34" charset="0"/>
                <a:ea typeface="MS UI Gothic" panose="020B0600070205080204" pitchFamily="50" charset="-128"/>
              </a:rPr>
              <a:t> switch </a:t>
            </a:r>
            <a:r>
              <a:rPr lang="en-US" altLang="en-US" dirty="0">
                <a:latin typeface="Arial" panose="020B0604020202020204" pitchFamily="34" charset="0"/>
                <a:ea typeface="MS UI Gothic" panose="020B0600070205080204" pitchFamily="50" charset="-128"/>
              </a:rPr>
              <a:t>（</a:t>
            </a:r>
            <a:r>
              <a:rPr lang="en-US" altLang="ja-JP" dirty="0">
                <a:latin typeface="Arial" panose="020B0604020202020204" pitchFamily="34" charset="0"/>
                <a:ea typeface="MS UI Gothic" panose="020B0600070205080204" pitchFamily="50" charset="-128"/>
              </a:rPr>
              <a:t>2</a:t>
            </a:r>
            <a:r>
              <a:rPr lang="en-US" altLang="en-US" dirty="0">
                <a:latin typeface="Arial" panose="020B0604020202020204" pitchFamily="34" charset="0"/>
                <a:ea typeface="MS UI Gothic" panose="020B0600070205080204" pitchFamily="50" charset="-128"/>
              </a:rPr>
              <a:t>）</a:t>
            </a:r>
            <a:endParaRPr lang="ja-JP" altLang="en-US" dirty="0">
              <a:latin typeface="Arial" panose="020B0604020202020204" pitchFamily="34" charset="0"/>
              <a:ea typeface="MS UI Gothic" panose="020B0600070205080204" pitchFamily="50" charset="-128"/>
            </a:endParaRPr>
          </a:p>
        </p:txBody>
      </p:sp>
      <p:sp>
        <p:nvSpPr>
          <p:cNvPr id="759812" name="Rectangle 4">
            <a:extLst>
              <a:ext uri="{FF2B5EF4-FFF2-40B4-BE49-F238E27FC236}">
                <a16:creationId xmlns:a16="http://schemas.microsoft.com/office/drawing/2014/main" id="{5E0A4BD2-237B-2CCB-B865-25811EAE1062}"/>
              </a:ext>
            </a:extLst>
          </p:cNvPr>
          <p:cNvSpPr>
            <a:spLocks noChangeArrowheads="1"/>
          </p:cNvSpPr>
          <p:nvPr/>
        </p:nvSpPr>
        <p:spPr bwMode="auto">
          <a:xfrm>
            <a:off x="4089400" y="6375400"/>
            <a:ext cx="685800" cy="203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9823" name="Text Box 15">
            <a:extLst>
              <a:ext uri="{FF2B5EF4-FFF2-40B4-BE49-F238E27FC236}">
                <a16:creationId xmlns:a16="http://schemas.microsoft.com/office/drawing/2014/main" id="{34512E49-7752-745E-960F-ED15F53A8891}"/>
              </a:ext>
            </a:extLst>
          </p:cNvPr>
          <p:cNvSpPr txBox="1">
            <a:spLocks noChangeArrowheads="1"/>
          </p:cNvSpPr>
          <p:nvPr/>
        </p:nvSpPr>
        <p:spPr bwMode="auto">
          <a:xfrm>
            <a:off x="441325" y="5954713"/>
            <a:ext cx="9069388" cy="433387"/>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10238" tIns="20478" rIns="10238" bIns="10238"/>
          <a:lstStyle>
            <a:lvl1pPr defTabSz="982663">
              <a:defRPr kumimoji="1">
                <a:solidFill>
                  <a:schemeClr val="tx1"/>
                </a:solidFill>
                <a:latin typeface="Arial" panose="020B0604020202020204" pitchFamily="34" charset="0"/>
                <a:ea typeface="ＭＳ Ｐゴシック" panose="020B0600070205080204" pitchFamily="50" charset="-128"/>
              </a:defRPr>
            </a:lvl1pPr>
            <a:lvl2pPr marL="193675" defTabSz="982663">
              <a:defRPr kumimoji="1">
                <a:solidFill>
                  <a:schemeClr val="tx1"/>
                </a:solidFill>
                <a:latin typeface="Arial" panose="020B0604020202020204" pitchFamily="34" charset="0"/>
                <a:ea typeface="ＭＳ Ｐゴシック" panose="020B0600070205080204" pitchFamily="50" charset="-128"/>
              </a:defRPr>
            </a:lvl2pPr>
            <a:lvl3pPr marL="982663" defTabSz="982663">
              <a:defRPr kumimoji="1">
                <a:solidFill>
                  <a:schemeClr val="tx1"/>
                </a:solidFill>
                <a:latin typeface="Arial" panose="020B0604020202020204" pitchFamily="34" charset="0"/>
                <a:ea typeface="ＭＳ Ｐゴシック" panose="020B0600070205080204" pitchFamily="50" charset="-128"/>
              </a:defRPr>
            </a:lvl3pPr>
            <a:lvl4pPr marL="1473200" defTabSz="982663">
              <a:defRPr kumimoji="1">
                <a:solidFill>
                  <a:schemeClr val="tx1"/>
                </a:solidFill>
                <a:latin typeface="Arial" panose="020B0604020202020204" pitchFamily="34" charset="0"/>
                <a:ea typeface="ＭＳ Ｐゴシック" panose="020B0600070205080204" pitchFamily="50" charset="-128"/>
              </a:defRPr>
            </a:lvl4pPr>
            <a:lvl5pPr marL="1966913" defTabSz="982663">
              <a:defRPr kumimoji="1">
                <a:solidFill>
                  <a:schemeClr val="tx1"/>
                </a:solidFill>
                <a:latin typeface="Arial" panose="020B0604020202020204" pitchFamily="34" charset="0"/>
                <a:ea typeface="ＭＳ Ｐゴシック" panose="020B0600070205080204" pitchFamily="50" charset="-128"/>
              </a:defRPr>
            </a:lvl5pPr>
            <a:lvl6pPr marL="24241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813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3385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95713" defTabSz="9826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sz="1800" b="0">
                <a:ea typeface="ＭＳ ゴシック" panose="020B0609070205080204" pitchFamily="49" charset="-128"/>
              </a:rPr>
              <a:t>Là 1 hoặc 2</a:t>
            </a:r>
          </a:p>
        </p:txBody>
      </p:sp>
      <p:sp>
        <p:nvSpPr>
          <p:cNvPr id="759825" name="Rectangle 17">
            <a:extLst>
              <a:ext uri="{FF2B5EF4-FFF2-40B4-BE49-F238E27FC236}">
                <a16:creationId xmlns:a16="http://schemas.microsoft.com/office/drawing/2014/main" id="{25B2D251-4FD7-570F-9ABC-C064BF6545FE}"/>
              </a:ext>
            </a:extLst>
          </p:cNvPr>
          <p:cNvSpPr>
            <a:spLocks noChangeArrowheads="1"/>
          </p:cNvSpPr>
          <p:nvPr/>
        </p:nvSpPr>
        <p:spPr bwMode="auto">
          <a:xfrm>
            <a:off x="5168900" y="5295900"/>
            <a:ext cx="685800" cy="203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9814" name="Rectangle 6">
            <a:extLst>
              <a:ext uri="{FF2B5EF4-FFF2-40B4-BE49-F238E27FC236}">
                <a16:creationId xmlns:a16="http://schemas.microsoft.com/office/drawing/2014/main" id="{036F2BC5-0E8F-A4D8-3599-961A2CE57CE1}"/>
              </a:ext>
            </a:extLst>
          </p:cNvPr>
          <p:cNvSpPr>
            <a:spLocks noChangeArrowheads="1"/>
          </p:cNvSpPr>
          <p:nvPr/>
        </p:nvSpPr>
        <p:spPr bwMode="auto">
          <a:xfrm>
            <a:off x="395288" y="1598613"/>
            <a:ext cx="9069387" cy="382746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Arial" panose="020B0604020202020204" pitchFamily="34" charset="0"/>
                <a:ea typeface="ＭＳ ゴシック" panose="020B0609070205080204" pitchFamily="49" charset="-128"/>
              </a:rPr>
              <a:t> int x = 1;</a:t>
            </a:r>
          </a:p>
          <a:p>
            <a:pPr lvl="1"/>
            <a:r>
              <a:rPr lang="en-US" altLang="ja-JP" sz="1800" b="0">
                <a:latin typeface="Arial" panose="020B0604020202020204" pitchFamily="34" charset="0"/>
                <a:ea typeface="ＭＳ ゴシック" panose="020B0609070205080204" pitchFamily="49" charset="-128"/>
              </a:rPr>
              <a:t> switch  (x) {</a:t>
            </a:r>
          </a:p>
          <a:p>
            <a:pPr lvl="1"/>
            <a:r>
              <a:rPr lang="en-US" altLang="ja-JP" sz="1800" b="0">
                <a:latin typeface="Arial" panose="020B0604020202020204" pitchFamily="34" charset="0"/>
                <a:ea typeface="ＭＳ ゴシック" panose="020B0609070205080204" pitchFamily="49" charset="-128"/>
              </a:rPr>
              <a:t>     case 1:</a:t>
            </a:r>
          </a:p>
          <a:p>
            <a:pPr lvl="1"/>
            <a:r>
              <a:rPr lang="en-US" altLang="ja-JP" sz="1800" b="0">
                <a:latin typeface="Arial" panose="020B0604020202020204" pitchFamily="34" charset="0"/>
                <a:ea typeface="ＭＳ ゴシック" panose="020B0609070205080204" pitchFamily="49" charset="-128"/>
              </a:rPr>
              <a:t>     case 2:</a:t>
            </a:r>
          </a:p>
          <a:p>
            <a:pPr lvl="1"/>
            <a:r>
              <a:rPr lang="en-US" altLang="ja-JP" sz="1800" b="0">
                <a:latin typeface="Arial" panose="020B0604020202020204" pitchFamily="34" charset="0"/>
                <a:ea typeface="ＭＳ ゴシック" panose="020B0609070205080204" pitchFamily="49" charset="-128"/>
              </a:rPr>
              <a:t>         System.out.println(“Là</a:t>
            </a:r>
            <a:r>
              <a:rPr lang="ja-JP" altLang="en-US" sz="1800" b="0">
                <a:latin typeface="Arial" panose="020B0604020202020204" pitchFamily="34" charset="0"/>
                <a:ea typeface="ＭＳ ゴシック" panose="020B0609070205080204" pitchFamily="49" charset="-128"/>
              </a:rPr>
              <a:t>１ </a:t>
            </a:r>
            <a:r>
              <a:rPr lang="en-US" altLang="ja-JP" sz="1800" b="0">
                <a:latin typeface="Arial" panose="020B0604020202020204" pitchFamily="34" charset="0"/>
                <a:ea typeface="ＭＳ ゴシック" panose="020B0609070205080204" pitchFamily="49" charset="-128"/>
              </a:rPr>
              <a:t>hoặc </a:t>
            </a:r>
            <a:r>
              <a:rPr lang="ja-JP" altLang="en-US" sz="1800" b="0">
                <a:latin typeface="Arial" panose="020B0604020202020204" pitchFamily="34" charset="0"/>
                <a:ea typeface="ＭＳ ゴシック" panose="020B0609070205080204" pitchFamily="49" charset="-128"/>
              </a:rPr>
              <a:t>２</a:t>
            </a:r>
            <a:r>
              <a:rPr lang="en-US" altLang="ja-JP" sz="1800" b="0">
                <a:latin typeface="Arial" panose="020B0604020202020204" pitchFamily="34" charset="0"/>
                <a:ea typeface="ＭＳ ゴシック" panose="020B0609070205080204" pitchFamily="49" charset="-128"/>
              </a:rPr>
              <a:t>");</a:t>
            </a:r>
          </a:p>
          <a:p>
            <a:pPr lvl="1"/>
            <a:r>
              <a:rPr lang="en-US" altLang="ja-JP" sz="1800" b="0">
                <a:latin typeface="Arial" panose="020B0604020202020204" pitchFamily="34" charset="0"/>
                <a:ea typeface="ＭＳ ゴシック" panose="020B0609070205080204" pitchFamily="49" charset="-128"/>
              </a:rPr>
              <a:t>         break;</a:t>
            </a:r>
          </a:p>
          <a:p>
            <a:pPr lvl="1"/>
            <a:r>
              <a:rPr lang="en-US" altLang="ja-JP" sz="1800" b="0">
                <a:latin typeface="Arial" panose="020B0604020202020204" pitchFamily="34" charset="0"/>
                <a:ea typeface="ＭＳ ゴシック" panose="020B0609070205080204" pitchFamily="49" charset="-128"/>
              </a:rPr>
              <a:t>     case 3:</a:t>
            </a:r>
          </a:p>
          <a:p>
            <a:pPr lvl="1"/>
            <a:r>
              <a:rPr lang="en-US" altLang="ja-JP" sz="1800" b="0">
                <a:latin typeface="Arial" panose="020B0604020202020204" pitchFamily="34" charset="0"/>
                <a:ea typeface="ＭＳ ゴシック" panose="020B0609070205080204" pitchFamily="49" charset="-128"/>
              </a:rPr>
              <a:t>         System.out.println(“Là 3");</a:t>
            </a:r>
          </a:p>
          <a:p>
            <a:pPr lvl="1"/>
            <a:r>
              <a:rPr lang="en-US" altLang="ja-JP" sz="1800" b="0">
                <a:latin typeface="Arial" panose="020B0604020202020204" pitchFamily="34" charset="0"/>
                <a:ea typeface="ＭＳ ゴシック" panose="020B0609070205080204" pitchFamily="49" charset="-128"/>
              </a:rPr>
              <a:t>         break;</a:t>
            </a:r>
          </a:p>
          <a:p>
            <a:pPr lvl="1"/>
            <a:r>
              <a:rPr lang="en-US" altLang="ja-JP" sz="1800" b="0">
                <a:latin typeface="Arial" panose="020B0604020202020204" pitchFamily="34" charset="0"/>
                <a:ea typeface="ＭＳ ゴシック" panose="020B0609070205080204" pitchFamily="49" charset="-128"/>
              </a:rPr>
              <a:t>     default :</a:t>
            </a:r>
          </a:p>
          <a:p>
            <a:pPr lvl="1"/>
            <a:r>
              <a:rPr lang="en-US" altLang="ja-JP" sz="1800" b="0">
                <a:latin typeface="Arial" panose="020B0604020202020204" pitchFamily="34" charset="0"/>
                <a:ea typeface="ＭＳ ゴシック" panose="020B0609070205080204" pitchFamily="49" charset="-128"/>
              </a:rPr>
              <a:t>         System.out.println(“Khác 1, 2, 3");</a:t>
            </a:r>
          </a:p>
          <a:p>
            <a:pPr lvl="1"/>
            <a:r>
              <a:rPr lang="en-US" altLang="ja-JP" sz="1800" b="0">
                <a:latin typeface="Arial" panose="020B0604020202020204" pitchFamily="34" charset="0"/>
                <a:ea typeface="ＭＳ ゴシック" panose="020B0609070205080204" pitchFamily="49" charset="-128"/>
              </a:rPr>
              <a:t> }</a:t>
            </a:r>
          </a:p>
        </p:txBody>
      </p:sp>
      <p:sp>
        <p:nvSpPr>
          <p:cNvPr id="759815" name="Rectangle 7">
            <a:extLst>
              <a:ext uri="{FF2B5EF4-FFF2-40B4-BE49-F238E27FC236}">
                <a16:creationId xmlns:a16="http://schemas.microsoft.com/office/drawing/2014/main" id="{952170B6-A5D7-2CC5-5939-4323AB2D4112}"/>
              </a:ext>
            </a:extLst>
          </p:cNvPr>
          <p:cNvSpPr>
            <a:spLocks noChangeArrowheads="1"/>
          </p:cNvSpPr>
          <p:nvPr/>
        </p:nvSpPr>
        <p:spPr bwMode="auto">
          <a:xfrm>
            <a:off x="1458913" y="1958975"/>
            <a:ext cx="344487" cy="277813"/>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9816" name="Rectangle 8">
            <a:extLst>
              <a:ext uri="{FF2B5EF4-FFF2-40B4-BE49-F238E27FC236}">
                <a16:creationId xmlns:a16="http://schemas.microsoft.com/office/drawing/2014/main" id="{57814E27-F051-1734-1E80-3EC8520D4A5C}"/>
              </a:ext>
            </a:extLst>
          </p:cNvPr>
          <p:cNvSpPr>
            <a:spLocks noChangeArrowheads="1"/>
          </p:cNvSpPr>
          <p:nvPr/>
        </p:nvSpPr>
        <p:spPr bwMode="auto">
          <a:xfrm>
            <a:off x="817563" y="2289175"/>
            <a:ext cx="5233987" cy="1166813"/>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cxnSp>
        <p:nvCxnSpPr>
          <p:cNvPr id="759817" name="AutoShape 9">
            <a:extLst>
              <a:ext uri="{FF2B5EF4-FFF2-40B4-BE49-F238E27FC236}">
                <a16:creationId xmlns:a16="http://schemas.microsoft.com/office/drawing/2014/main" id="{F565180E-D69A-72A7-534D-69E07E6F7722}"/>
              </a:ext>
            </a:extLst>
          </p:cNvPr>
          <p:cNvCxnSpPr>
            <a:cxnSpLocks noChangeShapeType="1"/>
            <a:stCxn id="759815" idx="1"/>
            <a:endCxn id="759818" idx="1"/>
          </p:cNvCxnSpPr>
          <p:nvPr/>
        </p:nvCxnSpPr>
        <p:spPr bwMode="auto">
          <a:xfrm rot="10800000" flipV="1">
            <a:off x="1066800" y="2098675"/>
            <a:ext cx="379413" cy="498475"/>
          </a:xfrm>
          <a:prstGeom prst="curvedConnector3">
            <a:avLst>
              <a:gd name="adj1" fmla="val 160250"/>
            </a:avLst>
          </a:prstGeom>
          <a:noFill/>
          <a:ln w="25400">
            <a:solidFill>
              <a:srgbClr val="3FB007"/>
            </a:solidFill>
            <a:prstDash val="sysDot"/>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9818" name="Rectangle 10">
            <a:extLst>
              <a:ext uri="{FF2B5EF4-FFF2-40B4-BE49-F238E27FC236}">
                <a16:creationId xmlns:a16="http://schemas.microsoft.com/office/drawing/2014/main" id="{2FED0753-4AAB-6615-0555-F9A546B700C2}"/>
              </a:ext>
            </a:extLst>
          </p:cNvPr>
          <p:cNvSpPr>
            <a:spLocks noChangeArrowheads="1"/>
          </p:cNvSpPr>
          <p:nvPr/>
        </p:nvSpPr>
        <p:spPr bwMode="auto">
          <a:xfrm>
            <a:off x="1066800" y="2476500"/>
            <a:ext cx="825500" cy="2413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9819" name="Line 11">
            <a:extLst>
              <a:ext uri="{FF2B5EF4-FFF2-40B4-BE49-F238E27FC236}">
                <a16:creationId xmlns:a16="http://schemas.microsoft.com/office/drawing/2014/main" id="{D95E61CC-6584-3897-8A48-C78B67585897}"/>
              </a:ext>
            </a:extLst>
          </p:cNvPr>
          <p:cNvSpPr>
            <a:spLocks noChangeShapeType="1"/>
          </p:cNvSpPr>
          <p:nvPr/>
        </p:nvSpPr>
        <p:spPr bwMode="auto">
          <a:xfrm>
            <a:off x="1016000" y="2819400"/>
            <a:ext cx="0" cy="558800"/>
          </a:xfrm>
          <a:prstGeom prst="line">
            <a:avLst/>
          </a:prstGeom>
          <a:noFill/>
          <a:ln w="25400">
            <a:solidFill>
              <a:srgbClr val="3FB007"/>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9820" name="Rectangle 12">
            <a:extLst>
              <a:ext uri="{FF2B5EF4-FFF2-40B4-BE49-F238E27FC236}">
                <a16:creationId xmlns:a16="http://schemas.microsoft.com/office/drawing/2014/main" id="{AE260B93-04ED-865F-F09E-20D9A253C83C}"/>
              </a:ext>
            </a:extLst>
          </p:cNvPr>
          <p:cNvSpPr>
            <a:spLocks noChangeArrowheads="1"/>
          </p:cNvSpPr>
          <p:nvPr/>
        </p:nvSpPr>
        <p:spPr bwMode="auto">
          <a:xfrm>
            <a:off x="1447800" y="4254500"/>
            <a:ext cx="838200" cy="330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9821" name="Rectangle 13">
            <a:extLst>
              <a:ext uri="{FF2B5EF4-FFF2-40B4-BE49-F238E27FC236}">
                <a16:creationId xmlns:a16="http://schemas.microsoft.com/office/drawing/2014/main" id="{9A6F7A69-BC8D-65BD-5798-148588B979CB}"/>
              </a:ext>
            </a:extLst>
          </p:cNvPr>
          <p:cNvSpPr>
            <a:spLocks noChangeArrowheads="1"/>
          </p:cNvSpPr>
          <p:nvPr/>
        </p:nvSpPr>
        <p:spPr bwMode="auto">
          <a:xfrm>
            <a:off x="538163" y="1958975"/>
            <a:ext cx="7735887" cy="3340100"/>
          </a:xfrm>
          <a:prstGeom prst="rect">
            <a:avLst/>
          </a:prstGeom>
          <a:noFill/>
          <a:ln w="25400" algn="ctr">
            <a:solidFill>
              <a:srgbClr val="673EC1"/>
            </a:solidFill>
            <a:prstDash val="dash"/>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759822" name="AutoShape 14">
            <a:extLst>
              <a:ext uri="{FF2B5EF4-FFF2-40B4-BE49-F238E27FC236}">
                <a16:creationId xmlns:a16="http://schemas.microsoft.com/office/drawing/2014/main" id="{E9CB8D47-7A35-BCE8-E45D-5FA8BE3B43FF}"/>
              </a:ext>
            </a:extLst>
          </p:cNvPr>
          <p:cNvSpPr>
            <a:spLocks noChangeArrowheads="1"/>
          </p:cNvSpPr>
          <p:nvPr/>
        </p:nvSpPr>
        <p:spPr bwMode="auto">
          <a:xfrm>
            <a:off x="2759075" y="1778000"/>
            <a:ext cx="4225925" cy="782638"/>
          </a:xfrm>
          <a:prstGeom prst="wedgeRoundRectCallout">
            <a:avLst>
              <a:gd name="adj1" fmla="val -65287"/>
              <a:gd name="adj2" fmla="val 47162"/>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ea typeface="ＭＳ ゴシック" panose="020B0609070205080204" pitchFamily="49" charset="-128"/>
              </a:rPr>
              <a:t>Nếu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thỏa</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mãn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một</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trong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số</a:t>
            </a:r>
            <a:r>
              <a:rPr lang="en-US" altLang="ja-JP" sz="1800" dirty="0">
                <a:latin typeface="+mj-lt"/>
                <a:ea typeface="ＭＳ ゴシック" panose="020B0609070205080204" pitchFamily="49" charset="-128"/>
              </a:rPr>
              <a:t> case label </a:t>
            </a:r>
            <a:r>
              <a:rPr lang="en-US" altLang="ja-JP" sz="1800" dirty="0" err="1">
                <a:latin typeface="+mj-lt"/>
                <a:ea typeface="ＭＳ ゴシック" panose="020B0609070205080204" pitchFamily="49" charset="-128"/>
              </a:rPr>
              <a:t>liên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tục</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thì</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sẽ</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thực</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hiện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xử</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lý</a:t>
            </a:r>
            <a:endParaRPr lang="en-US" altLang="ja-JP" sz="1800" dirty="0">
              <a:latin typeface="+mj-lt"/>
            </a:endParaRPr>
          </a:p>
        </p:txBody>
      </p:sp>
      <p:sp>
        <p:nvSpPr>
          <p:cNvPr id="759824" name="Rectangle 16">
            <a:extLst>
              <a:ext uri="{FF2B5EF4-FFF2-40B4-BE49-F238E27FC236}">
                <a16:creationId xmlns:a16="http://schemas.microsoft.com/office/drawing/2014/main" id="{23222B97-B0C6-44CC-EF58-A5E08AFF9C11}"/>
              </a:ext>
            </a:extLst>
          </p:cNvPr>
          <p:cNvSpPr>
            <a:spLocks noChangeArrowheads="1"/>
          </p:cNvSpPr>
          <p:nvPr/>
        </p:nvSpPr>
        <p:spPr bwMode="auto">
          <a:xfrm>
            <a:off x="1625600" y="3149600"/>
            <a:ext cx="838200" cy="3302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759826" name="AutoShape 18">
            <a:extLst>
              <a:ext uri="{FF2B5EF4-FFF2-40B4-BE49-F238E27FC236}">
                <a16:creationId xmlns:a16="http://schemas.microsoft.com/office/drawing/2014/main" id="{4FB17773-3791-F660-6A23-477B181E4658}"/>
              </a:ext>
            </a:extLst>
          </p:cNvPr>
          <p:cNvCxnSpPr>
            <a:cxnSpLocks noChangeShapeType="1"/>
            <a:stCxn id="759824" idx="3"/>
            <a:endCxn id="759825" idx="0"/>
          </p:cNvCxnSpPr>
          <p:nvPr/>
        </p:nvCxnSpPr>
        <p:spPr bwMode="auto">
          <a:xfrm>
            <a:off x="2463800" y="3314700"/>
            <a:ext cx="3048000" cy="1981200"/>
          </a:xfrm>
          <a:prstGeom prst="curvedConnector2">
            <a:avLst/>
          </a:prstGeom>
          <a:noFill/>
          <a:ln w="25400">
            <a:solidFill>
              <a:srgbClr val="3FB007"/>
            </a:solidFill>
            <a:prstDash val="sysDot"/>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9827" name="AutoShape 19">
            <a:extLst>
              <a:ext uri="{FF2B5EF4-FFF2-40B4-BE49-F238E27FC236}">
                <a16:creationId xmlns:a16="http://schemas.microsoft.com/office/drawing/2014/main" id="{0DCFF0A8-F9BF-D754-12CF-3EF240384ED9}"/>
              </a:ext>
            </a:extLst>
          </p:cNvPr>
          <p:cNvSpPr>
            <a:spLocks noChangeArrowheads="1"/>
          </p:cNvSpPr>
          <p:nvPr/>
        </p:nvSpPr>
        <p:spPr bwMode="auto">
          <a:xfrm>
            <a:off x="5370513" y="3595688"/>
            <a:ext cx="2797175" cy="782637"/>
          </a:xfrm>
          <a:prstGeom prst="wedgeRoundRectCallout">
            <a:avLst>
              <a:gd name="adj1" fmla="val -105222"/>
              <a:gd name="adj2" fmla="val -53042"/>
              <a:gd name="adj3" fmla="val 16667"/>
            </a:avLst>
          </a:prstGeom>
          <a:solidFill>
            <a:srgbClr val="CCFFCC"/>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ea typeface="ＭＳ ゴシック" panose="020B0609070205080204" pitchFamily="49" charset="-128"/>
              </a:rPr>
              <a:t>Kết</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thúc</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câu</a:t>
            </a:r>
            <a:r>
              <a:rPr lang="en-US" altLang="ja-JP" sz="1800" dirty="0">
                <a:latin typeface="+mj-lt"/>
                <a:ea typeface="ＭＳ ゴシック" panose="020B0609070205080204" pitchFamily="49" charset="-128"/>
              </a:rPr>
              <a:t> </a:t>
            </a:r>
            <a:br>
              <a:rPr lang="en-US" altLang="ja-JP" sz="1800" dirty="0">
                <a:latin typeface="+mj-lt"/>
              </a:rPr>
            </a:br>
            <a:r>
              <a:rPr lang="en-US" altLang="ja-JP" sz="1800" dirty="0">
                <a:latin typeface="+mj-lt"/>
                <a:ea typeface="ＭＳ ゴシック" panose="020B0609070205080204" pitchFamily="49" charset="-128"/>
              </a:rPr>
              <a:t>switch</a:t>
            </a:r>
            <a:r>
              <a:rPr lang="en-US" altLang="ja-JP" sz="1800" dirty="0">
                <a:latin typeface="+mj-lt"/>
              </a:rPr>
              <a:t> </a:t>
            </a:r>
            <a:r>
              <a:rPr lang="en-US" altLang="ja-JP" sz="1800" dirty="0" err="1">
                <a:latin typeface="+mj-lt"/>
              </a:rPr>
              <a:t>bằng</a:t>
            </a:r>
            <a:r>
              <a:rPr lang="en-US" altLang="ja-JP" sz="1800" dirty="0">
                <a:latin typeface="+mj-lt"/>
              </a:rPr>
              <a:t> </a:t>
            </a:r>
            <a:r>
              <a:rPr lang="en-US" altLang="ja-JP" sz="1800" dirty="0" err="1">
                <a:latin typeface="+mj-lt"/>
              </a:rPr>
              <a:t>câu</a:t>
            </a:r>
            <a:r>
              <a:rPr lang="en-US" altLang="ja-JP" sz="1800" dirty="0">
                <a:latin typeface="+mj-lt"/>
              </a:rPr>
              <a:t> break</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BB42FDF-F56E-7344-A32A-0F573E88A3C5}"/>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8A4366CF-BB93-4A2D-BAC1-FAE9A84AD59D}" type="slidenum">
              <a:rPr lang="en-US" altLang="ja-JP" smtClean="0"/>
              <a:pPr/>
              <a:t>32</a:t>
            </a:fld>
            <a:endParaRPr lang="en-US" altLang="ja-JP"/>
          </a:p>
        </p:txBody>
      </p:sp>
      <p:sp>
        <p:nvSpPr>
          <p:cNvPr id="256003" name="Text Box 3">
            <a:extLst>
              <a:ext uri="{FF2B5EF4-FFF2-40B4-BE49-F238E27FC236}">
                <a16:creationId xmlns:a16="http://schemas.microsoft.com/office/drawing/2014/main" id="{9591ABB4-B33C-BB92-E085-08E2A5247D40}"/>
              </a:ext>
            </a:extLst>
          </p:cNvPr>
          <p:cNvSpPr txBox="1">
            <a:spLocks noChangeArrowheads="1"/>
          </p:cNvSpPr>
          <p:nvPr/>
        </p:nvSpPr>
        <p:spPr bwMode="auto">
          <a:xfrm>
            <a:off x="3519488" y="2336800"/>
            <a:ext cx="3536950" cy="8370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4700" b="0" dirty="0">
                <a:latin typeface="+mj-lt"/>
                <a:ea typeface="ヒラギノ明朝 Pro W6" pitchFamily="18" charset="-128"/>
              </a:rPr>
              <a:t>Control </a:t>
            </a:r>
            <a:r>
              <a:rPr lang="en-US" altLang="ja-JP" sz="4700" b="0" dirty="0" err="1">
                <a:latin typeface="+mj-lt"/>
                <a:ea typeface="ヒラギノ明朝 Pro W6" pitchFamily="18" charset="-128"/>
              </a:rPr>
              <a:t>lặp</a:t>
            </a:r>
            <a:endParaRPr lang="en-US" altLang="ja-JP" sz="4700" b="0" dirty="0">
              <a:latin typeface="+mj-lt"/>
              <a:ea typeface="ヒラギノ明朝 Pro W6" pitchFamily="18" charset="-128"/>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03BF7D8F-1955-FEEF-4CDC-028BA2B69A80}"/>
              </a:ext>
            </a:extLst>
          </p:cNvPr>
          <p:cNvSpPr>
            <a:spLocks noGrp="1"/>
          </p:cNvSpPr>
          <p:nvPr>
            <p:ph type="sldNum" sz="quarter" idx="10"/>
          </p:nvPr>
        </p:nvSpPr>
        <p:spPr/>
        <p:txBody>
          <a:bodyPr/>
          <a:lstStyle/>
          <a:p>
            <a:fld id="{C70C158C-208A-4282-AB32-BB44C59CF8D9}" type="slidenum">
              <a:rPr lang="en-US" altLang="ja-JP"/>
              <a:pPr/>
              <a:t>33</a:t>
            </a:fld>
            <a:endParaRPr lang="en-US" altLang="ja-JP"/>
          </a:p>
        </p:txBody>
      </p:sp>
      <p:sp>
        <p:nvSpPr>
          <p:cNvPr id="688130" name="Rectangle 2">
            <a:extLst>
              <a:ext uri="{FF2B5EF4-FFF2-40B4-BE49-F238E27FC236}">
                <a16:creationId xmlns:a16="http://schemas.microsoft.com/office/drawing/2014/main" id="{882E88A8-91EF-26CF-08A0-285B0B3CC2E4}"/>
              </a:ext>
            </a:extLst>
          </p:cNvPr>
          <p:cNvSpPr>
            <a:spLocks noGrp="1" noChangeArrowheads="1"/>
          </p:cNvSpPr>
          <p:nvPr>
            <p:ph type="title"/>
          </p:nvPr>
        </p:nvSpPr>
        <p:spPr>
          <a:xfrm>
            <a:off x="324243" y="365077"/>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Control </a:t>
            </a:r>
            <a:r>
              <a:rPr lang="en-US" altLang="ja-JP" dirty="0" err="1">
                <a:latin typeface="Arial" panose="020B0604020202020204" pitchFamily="34" charset="0"/>
                <a:ea typeface="MS UI Gothic" panose="020B0600070205080204" pitchFamily="50" charset="-128"/>
              </a:rPr>
              <a:t>lặp</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gì</a:t>
            </a:r>
            <a:endParaRPr lang="en-US" altLang="ja-JP" dirty="0">
              <a:latin typeface="Arial" panose="020B0604020202020204" pitchFamily="34" charset="0"/>
              <a:ea typeface="MS UI Gothic" panose="020B0600070205080204" pitchFamily="50" charset="-128"/>
            </a:endParaRPr>
          </a:p>
        </p:txBody>
      </p:sp>
      <p:sp>
        <p:nvSpPr>
          <p:cNvPr id="688131" name="Rectangle 3">
            <a:extLst>
              <a:ext uri="{FF2B5EF4-FFF2-40B4-BE49-F238E27FC236}">
                <a16:creationId xmlns:a16="http://schemas.microsoft.com/office/drawing/2014/main" id="{928721E3-BE20-E397-0853-9A4B98BC0D1D}"/>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688132" name="Rectangle 4">
            <a:extLst>
              <a:ext uri="{FF2B5EF4-FFF2-40B4-BE49-F238E27FC236}">
                <a16:creationId xmlns:a16="http://schemas.microsoft.com/office/drawing/2014/main" id="{8C6FF8B3-6FB8-C83F-40DC-38B732193FA9}"/>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Control lặp là </a:t>
            </a:r>
          </a:p>
          <a:p>
            <a:endParaRPr lang="en-US" altLang="ja-JP" sz="2400" b="0">
              <a:latin typeface="Arial" panose="020B0604020202020204" pitchFamily="34" charset="0"/>
            </a:endParaRPr>
          </a:p>
          <a:p>
            <a:endParaRPr lang="en-US" altLang="ja-JP" sz="2400" b="0">
              <a:latin typeface="Arial" panose="020B0604020202020204" pitchFamily="34" charset="0"/>
            </a:endParaRPr>
          </a:p>
          <a:p>
            <a:r>
              <a:rPr lang="en-US" altLang="ja-JP" sz="2400" b="0">
                <a:latin typeface="Arial" panose="020B0604020202020204" pitchFamily="34" charset="0"/>
              </a:rPr>
              <a:t>Các loại của câu lệnh control lặp</a:t>
            </a:r>
          </a:p>
        </p:txBody>
      </p:sp>
      <p:sp>
        <p:nvSpPr>
          <p:cNvPr id="688133" name="Rectangle 5">
            <a:extLst>
              <a:ext uri="{FF2B5EF4-FFF2-40B4-BE49-F238E27FC236}">
                <a16:creationId xmlns:a16="http://schemas.microsoft.com/office/drawing/2014/main" id="{EEB5FE89-F513-CE0F-2CB7-8DAF403BAF7F}"/>
              </a:ext>
            </a:extLst>
          </p:cNvPr>
          <p:cNvSpPr>
            <a:spLocks noChangeArrowheads="1"/>
          </p:cNvSpPr>
          <p:nvPr/>
        </p:nvSpPr>
        <p:spPr bwMode="auto">
          <a:xfrm>
            <a:off x="344488" y="13128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Control để thực hiện xử lí lặp giống nhau</a:t>
            </a:r>
          </a:p>
        </p:txBody>
      </p:sp>
      <p:sp>
        <p:nvSpPr>
          <p:cNvPr id="688135" name="Rectangle 7">
            <a:extLst>
              <a:ext uri="{FF2B5EF4-FFF2-40B4-BE49-F238E27FC236}">
                <a16:creationId xmlns:a16="http://schemas.microsoft.com/office/drawing/2014/main" id="{6F012453-A751-86F0-FB12-FEA7C512ED7D}"/>
              </a:ext>
            </a:extLst>
          </p:cNvPr>
          <p:cNvSpPr>
            <a:spLocks noChangeArrowheads="1"/>
          </p:cNvSpPr>
          <p:nvPr/>
        </p:nvSpPr>
        <p:spPr bwMode="auto">
          <a:xfrm>
            <a:off x="344488" y="24638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●Câu lệnh </a:t>
            </a:r>
            <a:r>
              <a:rPr lang="en-US" altLang="ja-JP" sz="2000" b="0">
                <a:latin typeface="Arial" panose="020B0604020202020204" pitchFamily="34" charset="0"/>
                <a:ea typeface="ＭＳ ゴシック" panose="020B0609070205080204" pitchFamily="49" charset="-128"/>
              </a:rPr>
              <a:t>while</a:t>
            </a: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p:txBody>
      </p:sp>
      <p:sp>
        <p:nvSpPr>
          <p:cNvPr id="688140" name="AutoShape 12">
            <a:extLst>
              <a:ext uri="{FF2B5EF4-FFF2-40B4-BE49-F238E27FC236}">
                <a16:creationId xmlns:a16="http://schemas.microsoft.com/office/drawing/2014/main" id="{FD3244C7-221C-8528-5A28-A19E2BBFEB3E}"/>
              </a:ext>
            </a:extLst>
          </p:cNvPr>
          <p:cNvSpPr>
            <a:spLocks noChangeArrowheads="1"/>
          </p:cNvSpPr>
          <p:nvPr/>
        </p:nvSpPr>
        <p:spPr bwMode="auto">
          <a:xfrm>
            <a:off x="4757738" y="965200"/>
            <a:ext cx="4694237" cy="431800"/>
          </a:xfrm>
          <a:prstGeom prst="wedgeRoundRectCallout">
            <a:avLst>
              <a:gd name="adj1" fmla="val -29801"/>
              <a:gd name="adj2" fmla="val 9117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Câu</a:t>
            </a:r>
            <a:r>
              <a:rPr lang="en-US" altLang="ja-JP" sz="1800" dirty="0">
                <a:latin typeface="+mj-lt"/>
              </a:rPr>
              <a:t> </a:t>
            </a:r>
            <a:r>
              <a:rPr lang="en-US" altLang="ja-JP" sz="1800" dirty="0" err="1">
                <a:latin typeface="+mj-lt"/>
              </a:rPr>
              <a:t>lệnh</a:t>
            </a:r>
            <a:r>
              <a:rPr lang="en-US" altLang="ja-JP" sz="1800" dirty="0">
                <a:latin typeface="+mj-lt"/>
              </a:rPr>
              <a:t> control, </a:t>
            </a:r>
            <a:r>
              <a:rPr lang="en-US" altLang="ja-JP" sz="1800" dirty="0" err="1">
                <a:latin typeface="+mj-lt"/>
              </a:rPr>
              <a:t>sẽ</a:t>
            </a:r>
            <a:r>
              <a:rPr lang="en-US" altLang="ja-JP" sz="1800" dirty="0">
                <a:latin typeface="+mj-lt"/>
              </a:rPr>
              <a:t> </a:t>
            </a:r>
            <a:r>
              <a:rPr lang="en-US" altLang="ja-JP" sz="1800" dirty="0" err="1">
                <a:latin typeface="+mj-lt"/>
              </a:rPr>
              <a:t>mô</a:t>
            </a:r>
            <a:r>
              <a:rPr lang="en-US" altLang="ja-JP" sz="1800" dirty="0">
                <a:latin typeface="+mj-lt"/>
              </a:rPr>
              <a:t> </a:t>
            </a:r>
            <a:r>
              <a:rPr lang="en-US" altLang="ja-JP" sz="1800" dirty="0" err="1">
                <a:latin typeface="+mj-lt"/>
              </a:rPr>
              <a:t>tả</a:t>
            </a:r>
            <a:r>
              <a:rPr lang="en-US" altLang="ja-JP" sz="1800" dirty="0">
                <a:latin typeface="+mj-lt"/>
              </a:rPr>
              <a:t> </a:t>
            </a:r>
            <a:r>
              <a:rPr lang="en-US" altLang="ja-JP" sz="1800" dirty="0" err="1">
                <a:latin typeface="+mj-lt"/>
              </a:rPr>
              <a:t>trong</a:t>
            </a:r>
            <a:r>
              <a:rPr lang="en-US" altLang="ja-JP" sz="1800" dirty="0">
                <a:latin typeface="+mj-lt"/>
              </a:rPr>
              <a:t> method</a:t>
            </a:r>
          </a:p>
        </p:txBody>
      </p:sp>
      <p:sp>
        <p:nvSpPr>
          <p:cNvPr id="688203" name="Rectangle 75">
            <a:extLst>
              <a:ext uri="{FF2B5EF4-FFF2-40B4-BE49-F238E27FC236}">
                <a16:creationId xmlns:a16="http://schemas.microsoft.com/office/drawing/2014/main" id="{C4307F5E-BD98-FC48-53F5-755712B8DC1E}"/>
              </a:ext>
            </a:extLst>
          </p:cNvPr>
          <p:cNvSpPr>
            <a:spLocks noChangeArrowheads="1"/>
          </p:cNvSpPr>
          <p:nvPr/>
        </p:nvSpPr>
        <p:spPr bwMode="auto">
          <a:xfrm>
            <a:off x="344488" y="28749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Thực hiện xử lí lặp trong khi biểu thức điều kiện là true (phán đoán trước điều kiện)</a:t>
            </a:r>
          </a:p>
        </p:txBody>
      </p:sp>
      <p:sp>
        <p:nvSpPr>
          <p:cNvPr id="688204" name="Rectangle 76">
            <a:extLst>
              <a:ext uri="{FF2B5EF4-FFF2-40B4-BE49-F238E27FC236}">
                <a16:creationId xmlns:a16="http://schemas.microsoft.com/office/drawing/2014/main" id="{44749CFB-1B09-1EA0-2953-B97CA7564F20}"/>
              </a:ext>
            </a:extLst>
          </p:cNvPr>
          <p:cNvSpPr>
            <a:spLocks noChangeArrowheads="1"/>
          </p:cNvSpPr>
          <p:nvPr/>
        </p:nvSpPr>
        <p:spPr bwMode="auto">
          <a:xfrm>
            <a:off x="344488" y="48180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Chỉ định bắt đầu và kết thúc của xử lí lặp, thực hiện xử lí lặp </a:t>
            </a:r>
          </a:p>
        </p:txBody>
      </p:sp>
      <p:sp>
        <p:nvSpPr>
          <p:cNvPr id="688205" name="Rectangle 77">
            <a:extLst>
              <a:ext uri="{FF2B5EF4-FFF2-40B4-BE49-F238E27FC236}">
                <a16:creationId xmlns:a16="http://schemas.microsoft.com/office/drawing/2014/main" id="{150C0BAC-8F15-6F97-0E93-F0846224AC81}"/>
              </a:ext>
            </a:extLst>
          </p:cNvPr>
          <p:cNvSpPr>
            <a:spLocks noChangeArrowheads="1"/>
          </p:cNvSpPr>
          <p:nvPr/>
        </p:nvSpPr>
        <p:spPr bwMode="auto">
          <a:xfrm>
            <a:off x="344488" y="3416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 Câu lệnh do-</a:t>
            </a:r>
            <a:r>
              <a:rPr lang="en-US" altLang="ja-JP" sz="2000" b="0">
                <a:latin typeface="Arial" panose="020B0604020202020204" pitchFamily="34" charset="0"/>
                <a:ea typeface="ＭＳ ゴシック" panose="020B0609070205080204" pitchFamily="49" charset="-128"/>
              </a:rPr>
              <a:t>while</a:t>
            </a: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p:txBody>
      </p:sp>
      <p:sp>
        <p:nvSpPr>
          <p:cNvPr id="688206" name="Rectangle 78">
            <a:extLst>
              <a:ext uri="{FF2B5EF4-FFF2-40B4-BE49-F238E27FC236}">
                <a16:creationId xmlns:a16="http://schemas.microsoft.com/office/drawing/2014/main" id="{55598A1A-4AD1-18C6-AC5C-6F7BBC467FF3}"/>
              </a:ext>
            </a:extLst>
          </p:cNvPr>
          <p:cNvSpPr>
            <a:spLocks noChangeArrowheads="1"/>
          </p:cNvSpPr>
          <p:nvPr/>
        </p:nvSpPr>
        <p:spPr bwMode="auto">
          <a:xfrm>
            <a:off x="331788" y="38655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Thực hiện xử lí lặp trong khi biểu thức điều kiện là true (phán đoán sau điều kiện)</a:t>
            </a:r>
          </a:p>
        </p:txBody>
      </p:sp>
      <p:sp>
        <p:nvSpPr>
          <p:cNvPr id="688207" name="Rectangle 79">
            <a:extLst>
              <a:ext uri="{FF2B5EF4-FFF2-40B4-BE49-F238E27FC236}">
                <a16:creationId xmlns:a16="http://schemas.microsoft.com/office/drawing/2014/main" id="{489537EC-BF19-4B9B-566F-2C3BE411EB61}"/>
              </a:ext>
            </a:extLst>
          </p:cNvPr>
          <p:cNvSpPr>
            <a:spLocks noChangeArrowheads="1"/>
          </p:cNvSpPr>
          <p:nvPr/>
        </p:nvSpPr>
        <p:spPr bwMode="auto">
          <a:xfrm>
            <a:off x="344488" y="43942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 Câu lệnh </a:t>
            </a:r>
            <a:r>
              <a:rPr lang="en-US" altLang="ja-JP" sz="2000" b="0">
                <a:latin typeface="Arial" panose="020B0604020202020204" pitchFamily="34" charset="0"/>
                <a:ea typeface="ＭＳ ゴシック" panose="020B0609070205080204" pitchFamily="49" charset="-128"/>
              </a:rPr>
              <a:t>for</a:t>
            </a:r>
            <a:r>
              <a:rPr lang="ja-JP" altLang="en-US" sz="2000" b="0">
                <a:latin typeface="Arial" panose="020B0604020202020204" pitchFamily="34" charset="0"/>
              </a:rPr>
              <a:t>（</a:t>
            </a:r>
            <a:r>
              <a:rPr lang="en-US" altLang="ja-JP" sz="2000" b="0">
                <a:latin typeface="Arial" panose="020B0604020202020204" pitchFamily="34" charset="0"/>
              </a:rPr>
              <a:t>1</a:t>
            </a:r>
            <a:r>
              <a:rPr lang="ja-JP" altLang="en-US" sz="2000" b="0">
                <a:latin typeface="Arial" panose="020B0604020202020204" pitchFamily="34" charset="0"/>
              </a:rPr>
              <a:t>）： </a:t>
            </a:r>
            <a:r>
              <a:rPr lang="en-US" altLang="ja-JP" sz="2000" b="0">
                <a:latin typeface="Arial" panose="020B0604020202020204" pitchFamily="34" charset="0"/>
              </a:rPr>
              <a:t>Câu lệnh </a:t>
            </a:r>
            <a:r>
              <a:rPr lang="en-US" altLang="ja-JP" sz="2000" b="0">
                <a:latin typeface="Arial" panose="020B0604020202020204" pitchFamily="34" charset="0"/>
                <a:ea typeface="ＭＳ ゴシック" panose="020B0609070205080204" pitchFamily="49" charset="-128"/>
              </a:rPr>
              <a:t>for</a:t>
            </a:r>
            <a:endParaRPr lang="en-US" altLang="ja-JP" sz="2000" b="0">
              <a:latin typeface="Arial" panose="020B0604020202020204" pitchFamily="34" charset="0"/>
            </a:endParaRPr>
          </a:p>
        </p:txBody>
      </p:sp>
      <p:sp>
        <p:nvSpPr>
          <p:cNvPr id="688208" name="Rectangle 80">
            <a:extLst>
              <a:ext uri="{FF2B5EF4-FFF2-40B4-BE49-F238E27FC236}">
                <a16:creationId xmlns:a16="http://schemas.microsoft.com/office/drawing/2014/main" id="{F58154D8-D21F-7F61-2FE1-3EA6D0ACD16B}"/>
              </a:ext>
            </a:extLst>
          </p:cNvPr>
          <p:cNvSpPr>
            <a:spLocks noChangeArrowheads="1"/>
          </p:cNvSpPr>
          <p:nvPr/>
        </p:nvSpPr>
        <p:spPr bwMode="auto">
          <a:xfrm>
            <a:off x="344488" y="5770563"/>
            <a:ext cx="9120187" cy="5286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Thực hiện xử lí lặp đối với element của mảng hoặc collection</a:t>
            </a:r>
          </a:p>
        </p:txBody>
      </p:sp>
      <p:sp>
        <p:nvSpPr>
          <p:cNvPr id="688209" name="Rectangle 81">
            <a:extLst>
              <a:ext uri="{FF2B5EF4-FFF2-40B4-BE49-F238E27FC236}">
                <a16:creationId xmlns:a16="http://schemas.microsoft.com/office/drawing/2014/main" id="{BC884D34-0746-8061-512E-09B0BD56C382}"/>
              </a:ext>
            </a:extLst>
          </p:cNvPr>
          <p:cNvSpPr>
            <a:spLocks noChangeArrowheads="1"/>
          </p:cNvSpPr>
          <p:nvPr/>
        </p:nvSpPr>
        <p:spPr bwMode="auto">
          <a:xfrm>
            <a:off x="344488" y="53467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 Câu lệnh </a:t>
            </a:r>
            <a:r>
              <a:rPr lang="en-US" altLang="ja-JP" sz="2000" b="0">
                <a:latin typeface="Arial" panose="020B0604020202020204" pitchFamily="34" charset="0"/>
                <a:ea typeface="ＭＳ ゴシック" panose="020B0609070205080204" pitchFamily="49" charset="-128"/>
              </a:rPr>
              <a:t>for</a:t>
            </a:r>
            <a:r>
              <a:rPr lang="ja-JP" altLang="en-US" sz="2000" b="0">
                <a:latin typeface="Arial" panose="020B0604020202020204" pitchFamily="34" charset="0"/>
              </a:rPr>
              <a:t>（</a:t>
            </a:r>
            <a:r>
              <a:rPr lang="en-US" altLang="ja-JP" sz="2000" b="0">
                <a:latin typeface="Arial" panose="020B0604020202020204" pitchFamily="34" charset="0"/>
              </a:rPr>
              <a:t>2</a:t>
            </a:r>
            <a:r>
              <a:rPr lang="ja-JP" altLang="en-US" sz="2000" b="0">
                <a:latin typeface="Arial" panose="020B0604020202020204" pitchFamily="34" charset="0"/>
              </a:rPr>
              <a:t>）： </a:t>
            </a:r>
            <a:r>
              <a:rPr lang="en-US" altLang="ja-JP" sz="2000" b="0">
                <a:latin typeface="Arial" panose="020B0604020202020204" pitchFamily="34" charset="0"/>
              </a:rPr>
              <a:t>Câu lệnh </a:t>
            </a:r>
            <a:r>
              <a:rPr lang="en-US" altLang="ja-JP" sz="2000" b="0">
                <a:latin typeface="Arial" panose="020B0604020202020204" pitchFamily="34" charset="0"/>
                <a:ea typeface="ＭＳ ゴシック" panose="020B0609070205080204" pitchFamily="49" charset="-128"/>
              </a:rPr>
              <a:t>foreach</a:t>
            </a:r>
            <a:endParaRPr lang="en-US" altLang="ja-JP" sz="2000" b="0">
              <a:latin typeface="Arial" panose="020B0604020202020204" pitchFamily="34"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8C52AFA1-B159-50BF-CA73-06972ADF25B6}"/>
              </a:ext>
            </a:extLst>
          </p:cNvPr>
          <p:cNvSpPr>
            <a:spLocks noGrp="1"/>
          </p:cNvSpPr>
          <p:nvPr>
            <p:ph type="sldNum" sz="quarter" idx="10"/>
          </p:nvPr>
        </p:nvSpPr>
        <p:spPr/>
        <p:txBody>
          <a:bodyPr/>
          <a:lstStyle/>
          <a:p>
            <a:fld id="{FC9BCC0F-A1DE-4FAC-98B1-CDE3F389CBA7}" type="slidenum">
              <a:rPr lang="en-US" altLang="ja-JP"/>
              <a:pPr/>
              <a:t>34</a:t>
            </a:fld>
            <a:endParaRPr lang="en-US" altLang="ja-JP"/>
          </a:p>
        </p:txBody>
      </p:sp>
      <p:sp>
        <p:nvSpPr>
          <p:cNvPr id="709634" name="Rectangle 2">
            <a:extLst>
              <a:ext uri="{FF2B5EF4-FFF2-40B4-BE49-F238E27FC236}">
                <a16:creationId xmlns:a16="http://schemas.microsoft.com/office/drawing/2014/main" id="{47F11697-9C31-1F9B-B421-55E6ECE75C50}"/>
              </a:ext>
            </a:extLst>
          </p:cNvPr>
          <p:cNvSpPr>
            <a:spLocks noGrp="1" noChangeArrowheads="1"/>
          </p:cNvSpPr>
          <p:nvPr>
            <p:ph type="title"/>
          </p:nvPr>
        </p:nvSpPr>
        <p:spPr>
          <a:xfrm>
            <a:off x="344488" y="273051"/>
            <a:ext cx="9217025" cy="490537"/>
          </a:xfrm>
        </p:spPr>
        <p:txBody>
          <a:bodyPr>
            <a:normAutofit fontScale="90000"/>
          </a:bodyPr>
          <a:lstStyle/>
          <a:p>
            <a:r>
              <a:rPr lang="en-US" altLang="ja-JP" dirty="0" err="1">
                <a:latin typeface="+mj-lt"/>
                <a:ea typeface="MS UI Gothic" panose="020B0600070205080204" pitchFamily="50" charset="-128"/>
              </a:rPr>
              <a:t>Câu</a:t>
            </a:r>
            <a:r>
              <a:rPr lang="en-US" altLang="ja-JP" dirty="0">
                <a:latin typeface="+mj-lt"/>
                <a:ea typeface="MS UI Gothic" panose="020B0600070205080204" pitchFamily="50" charset="-128"/>
              </a:rPr>
              <a:t> </a:t>
            </a:r>
            <a:r>
              <a:rPr lang="en-US" altLang="ja-JP" dirty="0" err="1">
                <a:latin typeface="+mj-lt"/>
                <a:ea typeface="MS UI Gothic" panose="020B0600070205080204" pitchFamily="50" charset="-128"/>
              </a:rPr>
              <a:t>lệnh</a:t>
            </a:r>
            <a:r>
              <a:rPr lang="en-US" altLang="ja-JP" dirty="0">
                <a:latin typeface="+mj-lt"/>
                <a:ea typeface="MS UI Gothic" panose="020B0600070205080204" pitchFamily="50" charset="-128"/>
              </a:rPr>
              <a:t> </a:t>
            </a:r>
            <a:r>
              <a:rPr lang="en-US" altLang="ja-JP" dirty="0">
                <a:latin typeface="+mj-lt"/>
                <a:ea typeface="ＭＳ ゴシック" panose="020B0609070205080204" pitchFamily="49" charset="-128"/>
              </a:rPr>
              <a:t>while</a:t>
            </a:r>
            <a:endParaRPr lang="en-US" altLang="ja-JP" dirty="0">
              <a:latin typeface="+mj-lt"/>
              <a:ea typeface="MS UI Gothic" panose="020B0600070205080204" pitchFamily="50" charset="-128"/>
            </a:endParaRPr>
          </a:p>
        </p:txBody>
      </p:sp>
      <p:sp>
        <p:nvSpPr>
          <p:cNvPr id="709635" name="Rectangle 3">
            <a:extLst>
              <a:ext uri="{FF2B5EF4-FFF2-40B4-BE49-F238E27FC236}">
                <a16:creationId xmlns:a16="http://schemas.microsoft.com/office/drawing/2014/main" id="{4A7C86AD-EC28-BB2A-BED8-AD215D3F5DA5}"/>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09636" name="Rectangle 4">
            <a:extLst>
              <a:ext uri="{FF2B5EF4-FFF2-40B4-BE49-F238E27FC236}">
                <a16:creationId xmlns:a16="http://schemas.microsoft.com/office/drawing/2014/main" id="{60239674-D347-95B5-6928-52EF18E92B25}"/>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ＭＳ ゴシック" panose="020B0609070205080204" pitchFamily="49" charset="-128"/>
                <a:ea typeface="ＭＳ ゴシック" panose="020B0609070205080204" pitchFamily="49" charset="-128"/>
              </a:rPr>
              <a:t>Câu lệnh while</a:t>
            </a:r>
            <a:endParaRPr lang="en-US" altLang="ja-JP" sz="2400" b="0"/>
          </a:p>
          <a:p>
            <a:pPr>
              <a:spcBef>
                <a:spcPct val="50000"/>
              </a:spcBef>
              <a:buFont typeface="Wingdings" panose="05000000000000000000" pitchFamily="2" charset="2"/>
              <a:buNone/>
            </a:pPr>
            <a:r>
              <a:rPr lang="en-US" altLang="ja-JP" sz="2000" b="0"/>
              <a:t>●Cú pháp  cơ bản</a:t>
            </a:r>
            <a:endParaRPr lang="en-US" altLang="ja-JP" sz="2400" b="0"/>
          </a:p>
          <a:p>
            <a:pPr lvl="1"/>
            <a:endParaRPr lang="en-US" altLang="ja-JP" sz="2400" b="0"/>
          </a:p>
        </p:txBody>
      </p:sp>
      <p:sp>
        <p:nvSpPr>
          <p:cNvPr id="709637" name="Text Box 5">
            <a:extLst>
              <a:ext uri="{FF2B5EF4-FFF2-40B4-BE49-F238E27FC236}">
                <a16:creationId xmlns:a16="http://schemas.microsoft.com/office/drawing/2014/main" id="{A7CDD764-EA18-F3BA-3073-75A80A018686}"/>
              </a:ext>
            </a:extLst>
          </p:cNvPr>
          <p:cNvSpPr txBox="1">
            <a:spLocks noChangeArrowheads="1"/>
          </p:cNvSpPr>
          <p:nvPr/>
        </p:nvSpPr>
        <p:spPr bwMode="auto">
          <a:xfrm>
            <a:off x="344488" y="1751013"/>
            <a:ext cx="9120187" cy="12763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latin typeface="ＭＳ ゴシック" panose="020B0609070205080204" pitchFamily="49" charset="-128"/>
                <a:ea typeface="ＭＳ ゴシック" panose="020B0609070205080204" pitchFamily="49" charset="-128"/>
              </a:rPr>
              <a:t>while (Điều kiện lặp) {</a:t>
            </a:r>
          </a:p>
          <a:p>
            <a:pPr lvl="1" algn="just">
              <a:lnSpc>
                <a:spcPct val="112000"/>
              </a:lnSpc>
            </a:pPr>
            <a:r>
              <a:rPr lang="en-US" altLang="ja-JP" sz="2000">
                <a:latin typeface="MS UI Gothic" panose="020B0600070205080204" pitchFamily="50" charset="-128"/>
                <a:ea typeface="MS UI Gothic" panose="020B0600070205080204" pitchFamily="50" charset="-128"/>
              </a:rPr>
              <a:t>    Xử lí muốn lặp khi điều kiện là </a:t>
            </a:r>
            <a:r>
              <a:rPr lang="en-US" altLang="ja-JP" sz="2000">
                <a:latin typeface="ＭＳ ゴシック" panose="020B0609070205080204" pitchFamily="49" charset="-128"/>
                <a:ea typeface="ＭＳ ゴシック" panose="020B0609070205080204" pitchFamily="49" charset="-128"/>
              </a:rPr>
              <a:t>true</a:t>
            </a:r>
            <a:endParaRPr lang="en-US" altLang="ja-JP" sz="2000">
              <a:latin typeface="MS UI Gothic" panose="020B0600070205080204" pitchFamily="50" charset="-128"/>
              <a:ea typeface="MS UI Gothic" panose="020B0600070205080204" pitchFamily="50" charset="-128"/>
            </a:endParaRPr>
          </a:p>
          <a:p>
            <a:pPr lvl="1" algn="just">
              <a:lnSpc>
                <a:spcPct val="112000"/>
              </a:lnSpc>
            </a:pPr>
            <a:r>
              <a:rPr lang="en-US" altLang="ja-JP" sz="2000">
                <a:latin typeface="ＭＳ ゴシック" panose="020B0609070205080204" pitchFamily="49" charset="-128"/>
                <a:ea typeface="ＭＳ ゴシック" panose="020B0609070205080204" pitchFamily="49" charset="-128"/>
              </a:rPr>
              <a:t>}</a:t>
            </a:r>
          </a:p>
        </p:txBody>
      </p:sp>
      <p:sp>
        <p:nvSpPr>
          <p:cNvPr id="709638" name="Rectangle 6">
            <a:extLst>
              <a:ext uri="{FF2B5EF4-FFF2-40B4-BE49-F238E27FC236}">
                <a16:creationId xmlns:a16="http://schemas.microsoft.com/office/drawing/2014/main" id="{AF3F7CAA-A996-3D17-5BEE-410DE92B637A}"/>
              </a:ext>
            </a:extLst>
          </p:cNvPr>
          <p:cNvSpPr>
            <a:spLocks noChangeArrowheads="1"/>
          </p:cNvSpPr>
          <p:nvPr/>
        </p:nvSpPr>
        <p:spPr bwMode="auto">
          <a:xfrm>
            <a:off x="344488" y="32099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●Ví dụ</a:t>
            </a:r>
            <a:endParaRPr lang="en-US" altLang="ja-JP" sz="2400" b="0"/>
          </a:p>
        </p:txBody>
      </p:sp>
      <p:sp>
        <p:nvSpPr>
          <p:cNvPr id="709658" name="AutoShape 26">
            <a:extLst>
              <a:ext uri="{FF2B5EF4-FFF2-40B4-BE49-F238E27FC236}">
                <a16:creationId xmlns:a16="http://schemas.microsoft.com/office/drawing/2014/main" id="{DA3BFF0C-5BE1-FBBA-428B-B41DDDAF496C}"/>
              </a:ext>
            </a:extLst>
          </p:cNvPr>
          <p:cNvSpPr>
            <a:spLocks noChangeArrowheads="1"/>
          </p:cNvSpPr>
          <p:nvPr/>
        </p:nvSpPr>
        <p:spPr bwMode="auto">
          <a:xfrm>
            <a:off x="3606800" y="1090613"/>
            <a:ext cx="2865438" cy="503237"/>
          </a:xfrm>
          <a:prstGeom prst="wedgeRoundRectCallout">
            <a:avLst>
              <a:gd name="adj1" fmla="val -92824"/>
              <a:gd name="adj2" fmla="val 91324"/>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a:latin typeface="MS UI Gothic" panose="020B0600070205080204" pitchFamily="50" charset="-128"/>
              </a:rPr>
              <a:t>Phán đoán trước điều kiện</a:t>
            </a:r>
          </a:p>
        </p:txBody>
      </p:sp>
      <p:grpSp>
        <p:nvGrpSpPr>
          <p:cNvPr id="709683" name="Group 51">
            <a:extLst>
              <a:ext uri="{FF2B5EF4-FFF2-40B4-BE49-F238E27FC236}">
                <a16:creationId xmlns:a16="http://schemas.microsoft.com/office/drawing/2014/main" id="{AD4CEFD3-548C-F3CF-E9BC-F919BDEB9F11}"/>
              </a:ext>
            </a:extLst>
          </p:cNvPr>
          <p:cNvGrpSpPr>
            <a:grpSpLocks/>
          </p:cNvGrpSpPr>
          <p:nvPr/>
        </p:nvGrpSpPr>
        <p:grpSpPr bwMode="auto">
          <a:xfrm>
            <a:off x="6094413" y="3305175"/>
            <a:ext cx="3370262" cy="3082925"/>
            <a:chOff x="3839" y="2082"/>
            <a:chExt cx="2123" cy="1942"/>
          </a:xfrm>
        </p:grpSpPr>
        <p:sp>
          <p:nvSpPr>
            <p:cNvPr id="709655" name="Rectangle 23">
              <a:extLst>
                <a:ext uri="{FF2B5EF4-FFF2-40B4-BE49-F238E27FC236}">
                  <a16:creationId xmlns:a16="http://schemas.microsoft.com/office/drawing/2014/main" id="{F6368384-3EBB-3C47-8E0F-0DA7CD1FEA29}"/>
                </a:ext>
              </a:extLst>
            </p:cNvPr>
            <p:cNvSpPr>
              <a:spLocks noChangeArrowheads="1"/>
            </p:cNvSpPr>
            <p:nvPr/>
          </p:nvSpPr>
          <p:spPr bwMode="auto">
            <a:xfrm>
              <a:off x="3839" y="2082"/>
              <a:ext cx="2123" cy="19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09659" name="Line 27">
              <a:extLst>
                <a:ext uri="{FF2B5EF4-FFF2-40B4-BE49-F238E27FC236}">
                  <a16:creationId xmlns:a16="http://schemas.microsoft.com/office/drawing/2014/main" id="{8D1063EA-DCA5-D15B-24F1-F0AC7A818159}"/>
                </a:ext>
              </a:extLst>
            </p:cNvPr>
            <p:cNvSpPr>
              <a:spLocks noChangeShapeType="1"/>
            </p:cNvSpPr>
            <p:nvPr/>
          </p:nvSpPr>
          <p:spPr bwMode="auto">
            <a:xfrm>
              <a:off x="4873" y="2751"/>
              <a:ext cx="0" cy="771"/>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60" name="AutoShape 28">
              <a:extLst>
                <a:ext uri="{FF2B5EF4-FFF2-40B4-BE49-F238E27FC236}">
                  <a16:creationId xmlns:a16="http://schemas.microsoft.com/office/drawing/2014/main" id="{E4DB15A8-A8C2-09D7-95B1-096B75C913D9}"/>
                </a:ext>
              </a:extLst>
            </p:cNvPr>
            <p:cNvSpPr>
              <a:spLocks noChangeArrowheads="1"/>
            </p:cNvSpPr>
            <p:nvPr/>
          </p:nvSpPr>
          <p:spPr bwMode="auto">
            <a:xfrm>
              <a:off x="4163" y="2447"/>
              <a:ext cx="1414" cy="439"/>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nchor="ctr"/>
            <a:lstStyle/>
            <a:p>
              <a:pPr>
                <a:lnSpc>
                  <a:spcPct val="96000"/>
                </a:lnSpc>
              </a:pPr>
              <a:r>
                <a:rPr lang="en-US" altLang="ja-JP" sz="1800" b="0">
                  <a:latin typeface="MS UI Gothic" panose="020B0600070205080204" pitchFamily="50" charset="-128"/>
                </a:rPr>
                <a:t>Cnt &lt;=10</a:t>
              </a:r>
              <a:endParaRPr lang="en-US" altLang="ja-JP" sz="1800">
                <a:latin typeface="MS UI Gothic" panose="020B0600070205080204" pitchFamily="50" charset="-128"/>
              </a:endParaRPr>
            </a:p>
          </p:txBody>
        </p:sp>
        <p:sp>
          <p:nvSpPr>
            <p:cNvPr id="709661" name="AutoShape 29">
              <a:extLst>
                <a:ext uri="{FF2B5EF4-FFF2-40B4-BE49-F238E27FC236}">
                  <a16:creationId xmlns:a16="http://schemas.microsoft.com/office/drawing/2014/main" id="{EED517AD-AA18-D670-56FC-E9E1C6D69E6F}"/>
                </a:ext>
              </a:extLst>
            </p:cNvPr>
            <p:cNvSpPr>
              <a:spLocks noChangeArrowheads="1"/>
            </p:cNvSpPr>
            <p:nvPr/>
          </p:nvSpPr>
          <p:spPr bwMode="auto">
            <a:xfrm>
              <a:off x="4323" y="3051"/>
              <a:ext cx="1057" cy="258"/>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b="0">
                  <a:latin typeface="MS UI Gothic" panose="020B0600070205080204" pitchFamily="50" charset="-128"/>
                </a:rPr>
                <a:t>Xử lí lặp</a:t>
              </a:r>
              <a:endParaRPr lang="en-US" altLang="ja-JP" sz="1800">
                <a:latin typeface="MS UI Gothic" panose="020B0600070205080204" pitchFamily="50" charset="-128"/>
              </a:endParaRPr>
            </a:p>
          </p:txBody>
        </p:sp>
        <p:sp>
          <p:nvSpPr>
            <p:cNvPr id="709662" name="Line 30">
              <a:extLst>
                <a:ext uri="{FF2B5EF4-FFF2-40B4-BE49-F238E27FC236}">
                  <a16:creationId xmlns:a16="http://schemas.microsoft.com/office/drawing/2014/main" id="{BA949A6C-ACE2-7186-53A0-78CB9D965D62}"/>
                </a:ext>
              </a:extLst>
            </p:cNvPr>
            <p:cNvSpPr>
              <a:spLocks noChangeShapeType="1"/>
            </p:cNvSpPr>
            <p:nvPr/>
          </p:nvSpPr>
          <p:spPr bwMode="auto">
            <a:xfrm flipV="1">
              <a:off x="5555" y="2666"/>
              <a:ext cx="256"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63" name="Line 31">
              <a:extLst>
                <a:ext uri="{FF2B5EF4-FFF2-40B4-BE49-F238E27FC236}">
                  <a16:creationId xmlns:a16="http://schemas.microsoft.com/office/drawing/2014/main" id="{BD6FF3DD-38E6-A2DD-DF08-FC54821F5728}"/>
                </a:ext>
              </a:extLst>
            </p:cNvPr>
            <p:cNvSpPr>
              <a:spLocks noChangeShapeType="1"/>
            </p:cNvSpPr>
            <p:nvPr/>
          </p:nvSpPr>
          <p:spPr bwMode="auto">
            <a:xfrm>
              <a:off x="4100" y="2250"/>
              <a:ext cx="0" cy="1263"/>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65" name="Text Box 33">
              <a:extLst>
                <a:ext uri="{FF2B5EF4-FFF2-40B4-BE49-F238E27FC236}">
                  <a16:creationId xmlns:a16="http://schemas.microsoft.com/office/drawing/2014/main" id="{883AEF46-455C-F039-DCF8-F3DE59E9E825}"/>
                </a:ext>
              </a:extLst>
            </p:cNvPr>
            <p:cNvSpPr txBox="1">
              <a:spLocks noChangeArrowheads="1"/>
            </p:cNvSpPr>
            <p:nvPr/>
          </p:nvSpPr>
          <p:spPr bwMode="auto">
            <a:xfrm>
              <a:off x="4933" y="2830"/>
              <a:ext cx="424" cy="1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b="0">
                  <a:latin typeface="MS UI Gothic" panose="020B0600070205080204" pitchFamily="50" charset="-128"/>
                </a:rPr>
                <a:t>true</a:t>
              </a:r>
              <a:endParaRPr lang="en-US" altLang="ja-JP" sz="1800">
                <a:latin typeface="MS UI Gothic" panose="020B0600070205080204" pitchFamily="50" charset="-128"/>
              </a:endParaRPr>
            </a:p>
          </p:txBody>
        </p:sp>
        <p:sp>
          <p:nvSpPr>
            <p:cNvPr id="709666" name="Text Box 34">
              <a:extLst>
                <a:ext uri="{FF2B5EF4-FFF2-40B4-BE49-F238E27FC236}">
                  <a16:creationId xmlns:a16="http://schemas.microsoft.com/office/drawing/2014/main" id="{D4C804FE-CDE9-50F8-9216-429083B94CFE}"/>
                </a:ext>
              </a:extLst>
            </p:cNvPr>
            <p:cNvSpPr txBox="1">
              <a:spLocks noChangeArrowheads="1"/>
            </p:cNvSpPr>
            <p:nvPr/>
          </p:nvSpPr>
          <p:spPr bwMode="auto">
            <a:xfrm>
              <a:off x="5464" y="2420"/>
              <a:ext cx="422" cy="1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b="0">
                  <a:latin typeface="MS UI Gothic" panose="020B0600070205080204" pitchFamily="50" charset="-128"/>
                </a:rPr>
                <a:t>false</a:t>
              </a:r>
              <a:endParaRPr lang="en-US" altLang="ja-JP" sz="1800">
                <a:latin typeface="MS UI Gothic" panose="020B0600070205080204" pitchFamily="50" charset="-128"/>
              </a:endParaRPr>
            </a:p>
          </p:txBody>
        </p:sp>
        <p:sp>
          <p:nvSpPr>
            <p:cNvPr id="709668" name="Line 36">
              <a:extLst>
                <a:ext uri="{FF2B5EF4-FFF2-40B4-BE49-F238E27FC236}">
                  <a16:creationId xmlns:a16="http://schemas.microsoft.com/office/drawing/2014/main" id="{548FD18D-681D-CC7A-8D44-171C461409BD}"/>
                </a:ext>
              </a:extLst>
            </p:cNvPr>
            <p:cNvSpPr>
              <a:spLocks noChangeShapeType="1"/>
            </p:cNvSpPr>
            <p:nvPr/>
          </p:nvSpPr>
          <p:spPr bwMode="auto">
            <a:xfrm>
              <a:off x="5815" y="2660"/>
              <a:ext cx="0" cy="982"/>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69" name="Line 37">
              <a:extLst>
                <a:ext uri="{FF2B5EF4-FFF2-40B4-BE49-F238E27FC236}">
                  <a16:creationId xmlns:a16="http://schemas.microsoft.com/office/drawing/2014/main" id="{59E59212-B820-9D01-6990-4208141951E8}"/>
                </a:ext>
              </a:extLst>
            </p:cNvPr>
            <p:cNvSpPr>
              <a:spLocks noChangeShapeType="1"/>
            </p:cNvSpPr>
            <p:nvPr/>
          </p:nvSpPr>
          <p:spPr bwMode="auto">
            <a:xfrm>
              <a:off x="4872" y="3637"/>
              <a:ext cx="948"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70" name="Line 38">
              <a:extLst>
                <a:ext uri="{FF2B5EF4-FFF2-40B4-BE49-F238E27FC236}">
                  <a16:creationId xmlns:a16="http://schemas.microsoft.com/office/drawing/2014/main" id="{E67E0A18-42C0-AA9F-807D-294AF31A8DDB}"/>
                </a:ext>
              </a:extLst>
            </p:cNvPr>
            <p:cNvSpPr>
              <a:spLocks noChangeShapeType="1"/>
            </p:cNvSpPr>
            <p:nvPr/>
          </p:nvSpPr>
          <p:spPr bwMode="auto">
            <a:xfrm>
              <a:off x="4874" y="3630"/>
              <a:ext cx="0" cy="270"/>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71" name="Line 39">
              <a:extLst>
                <a:ext uri="{FF2B5EF4-FFF2-40B4-BE49-F238E27FC236}">
                  <a16:creationId xmlns:a16="http://schemas.microsoft.com/office/drawing/2014/main" id="{7E9D8D3B-8959-E1E8-40F3-44DFFFAC3D91}"/>
                </a:ext>
              </a:extLst>
            </p:cNvPr>
            <p:cNvSpPr>
              <a:spLocks noChangeShapeType="1"/>
            </p:cNvSpPr>
            <p:nvPr/>
          </p:nvSpPr>
          <p:spPr bwMode="auto">
            <a:xfrm>
              <a:off x="4871" y="2138"/>
              <a:ext cx="0" cy="314"/>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74" name="Line 42">
              <a:extLst>
                <a:ext uri="{FF2B5EF4-FFF2-40B4-BE49-F238E27FC236}">
                  <a16:creationId xmlns:a16="http://schemas.microsoft.com/office/drawing/2014/main" id="{7CCB7631-5047-695A-0DCE-576C424A7660}"/>
                </a:ext>
              </a:extLst>
            </p:cNvPr>
            <p:cNvSpPr>
              <a:spLocks noChangeShapeType="1"/>
            </p:cNvSpPr>
            <p:nvPr/>
          </p:nvSpPr>
          <p:spPr bwMode="auto">
            <a:xfrm flipV="1">
              <a:off x="4093" y="3516"/>
              <a:ext cx="778"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09675" name="Line 43">
              <a:extLst>
                <a:ext uri="{FF2B5EF4-FFF2-40B4-BE49-F238E27FC236}">
                  <a16:creationId xmlns:a16="http://schemas.microsoft.com/office/drawing/2014/main" id="{DF9B7D12-6FAC-27E7-FDD9-A259624C9554}"/>
                </a:ext>
              </a:extLst>
            </p:cNvPr>
            <p:cNvSpPr>
              <a:spLocks noChangeShapeType="1"/>
            </p:cNvSpPr>
            <p:nvPr/>
          </p:nvSpPr>
          <p:spPr bwMode="auto">
            <a:xfrm flipV="1">
              <a:off x="4095" y="2256"/>
              <a:ext cx="778" cy="0"/>
            </a:xfrm>
            <a:prstGeom prst="line">
              <a:avLst/>
            </a:prstGeom>
            <a:noFill/>
            <a:ln w="19050">
              <a:solidFill>
                <a:srgbClr val="00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sp>
        <p:nvSpPr>
          <p:cNvPr id="709639" name="Rectangle 7">
            <a:extLst>
              <a:ext uri="{FF2B5EF4-FFF2-40B4-BE49-F238E27FC236}">
                <a16:creationId xmlns:a16="http://schemas.microsoft.com/office/drawing/2014/main" id="{B480D5CA-6FF9-5701-16F3-91A4B9AB85A2}"/>
              </a:ext>
            </a:extLst>
          </p:cNvPr>
          <p:cNvSpPr>
            <a:spLocks noChangeArrowheads="1"/>
          </p:cNvSpPr>
          <p:nvPr/>
        </p:nvSpPr>
        <p:spPr bwMode="auto">
          <a:xfrm>
            <a:off x="344488" y="3709988"/>
            <a:ext cx="5538787" cy="26781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int cnt = 1;</a:t>
            </a:r>
          </a:p>
          <a:p>
            <a:pPr lvl="1"/>
            <a:r>
              <a:rPr lang="en-US" altLang="ja-JP" sz="1800" b="0">
                <a:latin typeface="ＭＳ ゴシック" panose="020B0609070205080204" pitchFamily="49" charset="-128"/>
                <a:ea typeface="ＭＳ ゴシック" panose="020B0609070205080204" pitchFamily="49" charset="-128"/>
              </a:rPr>
              <a:t>int ans = 0;</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while (cnt &lt;= 10) {</a:t>
            </a:r>
          </a:p>
          <a:p>
            <a:pPr lvl="1"/>
            <a:r>
              <a:rPr lang="en-US" altLang="ja-JP" sz="1800" b="0">
                <a:latin typeface="ＭＳ ゴシック" panose="020B0609070205080204" pitchFamily="49" charset="-128"/>
                <a:ea typeface="ＭＳ ゴシック" panose="020B0609070205080204" pitchFamily="49" charset="-128"/>
              </a:rPr>
              <a:t>    ans += cnt;</a:t>
            </a:r>
          </a:p>
          <a:p>
            <a:pPr lvl="1"/>
            <a:r>
              <a:rPr lang="en-US" altLang="ja-JP" sz="1800" b="0">
                <a:latin typeface="ＭＳ ゴシック" panose="020B0609070205080204" pitchFamily="49" charset="-128"/>
                <a:ea typeface="ＭＳ ゴシック" panose="020B0609070205080204" pitchFamily="49" charset="-128"/>
              </a:rPr>
              <a:t>    cnt++;</a:t>
            </a:r>
          </a:p>
          <a:p>
            <a:pPr lvl="1"/>
            <a:r>
              <a:rPr lang="en-US" altLang="ja-JP" sz="1800" b="0">
                <a:latin typeface="ＭＳ ゴシック" panose="020B0609070205080204" pitchFamily="49" charset="-128"/>
                <a:ea typeface="ＭＳ ゴシック" panose="020B0609070205080204" pitchFamily="49" charset="-128"/>
              </a:rPr>
              <a:t>}</a:t>
            </a:r>
          </a:p>
          <a:p>
            <a:pPr lvl="1"/>
            <a:r>
              <a:rPr lang="en-US" altLang="ja-JP" sz="1800" b="0">
                <a:latin typeface="ＭＳ ゴシック" panose="020B0609070205080204" pitchFamily="49" charset="-128"/>
                <a:ea typeface="ＭＳ ゴシック" panose="020B0609070205080204" pitchFamily="49" charset="-128"/>
              </a:rPr>
              <a:t>System.out.println(cnt + "," + ans);	</a:t>
            </a:r>
          </a:p>
        </p:txBody>
      </p:sp>
      <p:sp>
        <p:nvSpPr>
          <p:cNvPr id="709677" name="Rectangle 45">
            <a:extLst>
              <a:ext uri="{FF2B5EF4-FFF2-40B4-BE49-F238E27FC236}">
                <a16:creationId xmlns:a16="http://schemas.microsoft.com/office/drawing/2014/main" id="{C63146A2-FB08-8311-CC97-CA3DC6745EE7}"/>
              </a:ext>
            </a:extLst>
          </p:cNvPr>
          <p:cNvSpPr>
            <a:spLocks noChangeArrowheads="1"/>
          </p:cNvSpPr>
          <p:nvPr/>
        </p:nvSpPr>
        <p:spPr bwMode="auto">
          <a:xfrm>
            <a:off x="989013" y="5273675"/>
            <a:ext cx="968375" cy="3460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09680" name="AutoShape 48">
            <a:extLst>
              <a:ext uri="{FF2B5EF4-FFF2-40B4-BE49-F238E27FC236}">
                <a16:creationId xmlns:a16="http://schemas.microsoft.com/office/drawing/2014/main" id="{11C1EC16-2DA3-79B6-7468-E3337D52A02E}"/>
              </a:ext>
            </a:extLst>
          </p:cNvPr>
          <p:cNvSpPr>
            <a:spLocks noChangeArrowheads="1"/>
          </p:cNvSpPr>
          <p:nvPr/>
        </p:nvSpPr>
        <p:spPr bwMode="auto">
          <a:xfrm>
            <a:off x="2692400" y="4940300"/>
            <a:ext cx="3098800" cy="787400"/>
          </a:xfrm>
          <a:prstGeom prst="wedgeRoundRectCallout">
            <a:avLst>
              <a:gd name="adj1" fmla="val -76486"/>
              <a:gd name="adj2" fmla="val 22176"/>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dirty="0" err="1">
                <a:latin typeface="+mj-lt"/>
              </a:rPr>
              <a:t>Xử</a:t>
            </a:r>
            <a:r>
              <a:rPr lang="en-US" altLang="ja-JP" sz="1800" dirty="0">
                <a:latin typeface="+mj-lt"/>
              </a:rPr>
              <a:t> </a:t>
            </a:r>
            <a:r>
              <a:rPr lang="en-US" altLang="ja-JP" sz="1800" dirty="0" err="1">
                <a:latin typeface="+mj-lt"/>
              </a:rPr>
              <a:t>lí</a:t>
            </a:r>
            <a:r>
              <a:rPr lang="en-US" altLang="ja-JP" sz="1800" dirty="0">
                <a:latin typeface="+mj-lt"/>
              </a:rPr>
              <a:t> </a:t>
            </a:r>
            <a:r>
              <a:rPr lang="en-US" altLang="ja-JP" sz="1800" dirty="0" err="1">
                <a:latin typeface="+mj-lt"/>
              </a:rPr>
              <a:t>để</a:t>
            </a:r>
            <a:r>
              <a:rPr lang="en-US" altLang="ja-JP" sz="1800" dirty="0">
                <a:latin typeface="+mj-lt"/>
              </a:rPr>
              <a:t> </a:t>
            </a:r>
            <a:r>
              <a:rPr lang="en-US" altLang="ja-JP" sz="1800" dirty="0" err="1">
                <a:latin typeface="+mj-lt"/>
              </a:rPr>
              <a:t>thay</a:t>
            </a:r>
            <a:r>
              <a:rPr lang="en-US" altLang="ja-JP" sz="1800" dirty="0">
                <a:latin typeface="+mj-lt"/>
              </a:rPr>
              <a:t> </a:t>
            </a:r>
            <a:r>
              <a:rPr lang="en-US" altLang="ja-JP" sz="1800" dirty="0" err="1">
                <a:latin typeface="+mj-lt"/>
              </a:rPr>
              <a:t>đổi</a:t>
            </a:r>
            <a:r>
              <a:rPr lang="en-US" altLang="ja-JP" sz="1800" dirty="0">
                <a:latin typeface="+mj-lt"/>
              </a:rPr>
              <a:t> </a:t>
            </a:r>
            <a:r>
              <a:rPr lang="en-US" altLang="ja-JP" sz="1800" dirty="0" err="1">
                <a:latin typeface="+mj-lt"/>
              </a:rPr>
              <a:t>điều</a:t>
            </a:r>
            <a:r>
              <a:rPr lang="en-US" altLang="ja-JP" sz="1800" dirty="0">
                <a:latin typeface="+mj-lt"/>
              </a:rPr>
              <a:t> </a:t>
            </a:r>
            <a:r>
              <a:rPr lang="en-US" altLang="ja-JP" sz="1800" dirty="0" err="1">
                <a:latin typeface="+mj-lt"/>
              </a:rPr>
              <a:t>kiện</a:t>
            </a:r>
            <a:r>
              <a:rPr lang="en-US" altLang="ja-JP" sz="1800" dirty="0">
                <a:latin typeface="+mj-lt"/>
              </a:rPr>
              <a:t> </a:t>
            </a:r>
            <a:r>
              <a:rPr lang="en-US" altLang="ja-JP" sz="1800" dirty="0" err="1">
                <a:latin typeface="+mj-lt"/>
              </a:rPr>
              <a:t>lặp</a:t>
            </a:r>
            <a:r>
              <a:rPr lang="en-US" altLang="ja-JP" sz="1800" dirty="0">
                <a:latin typeface="+mj-lt"/>
              </a:rPr>
              <a:t> </a:t>
            </a:r>
            <a:r>
              <a:rPr lang="en-US" altLang="ja-JP" sz="1800" dirty="0" err="1">
                <a:latin typeface="+mj-lt"/>
              </a:rPr>
              <a:t>từ</a:t>
            </a:r>
            <a:r>
              <a:rPr lang="en-US" altLang="ja-JP" sz="1800" dirty="0">
                <a:latin typeface="+mj-lt"/>
              </a:rPr>
              <a:t> t</a:t>
            </a:r>
            <a:r>
              <a:rPr lang="en-US" altLang="ja-JP" sz="1800" dirty="0">
                <a:latin typeface="+mj-lt"/>
                <a:ea typeface="ＭＳ ゴシック" panose="020B0609070205080204" pitchFamily="49" charset="-128"/>
              </a:rPr>
              <a:t>rue sang false</a:t>
            </a:r>
            <a:endParaRPr lang="en-US" altLang="ja-JP" sz="1800" dirty="0">
              <a:latin typeface="+mj-lt"/>
            </a:endParaRPr>
          </a:p>
        </p:txBody>
      </p:sp>
      <p:sp>
        <p:nvSpPr>
          <p:cNvPr id="709684" name="AutoShape 52">
            <a:extLst>
              <a:ext uri="{FF2B5EF4-FFF2-40B4-BE49-F238E27FC236}">
                <a16:creationId xmlns:a16="http://schemas.microsoft.com/office/drawing/2014/main" id="{3C14DDB2-462B-E6A4-BC45-076151737A32}"/>
              </a:ext>
            </a:extLst>
          </p:cNvPr>
          <p:cNvSpPr>
            <a:spLocks noChangeArrowheads="1"/>
          </p:cNvSpPr>
          <p:nvPr/>
        </p:nvSpPr>
        <p:spPr bwMode="auto">
          <a:xfrm>
            <a:off x="6110288" y="5738813"/>
            <a:ext cx="1482725" cy="719137"/>
          </a:xfrm>
          <a:prstGeom prst="wedgeRoundRectCallout">
            <a:avLst>
              <a:gd name="adj1" fmla="val 42185"/>
              <a:gd name="adj2" fmla="val -128366"/>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r>
              <a:rPr lang="en-US" altLang="ja-JP" sz="1600" b="0">
                <a:latin typeface="ＭＳ ゴシック" panose="020B0609070205080204" pitchFamily="49" charset="-128"/>
                <a:ea typeface="ＭＳ ゴシック" panose="020B0609070205080204" pitchFamily="49" charset="-128"/>
              </a:rPr>
              <a:t> ans += cnt;</a:t>
            </a:r>
          </a:p>
          <a:p>
            <a:r>
              <a:rPr lang="en-US" altLang="ja-JP" sz="1600" b="0">
                <a:latin typeface="ＭＳ ゴシック" panose="020B0609070205080204" pitchFamily="49" charset="-128"/>
                <a:ea typeface="ＭＳ ゴシック" panose="020B0609070205080204" pitchFamily="49" charset="-128"/>
              </a:rPr>
              <a:t> cnt++;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165CA9BA-96DF-4FB9-016D-5464C02D9338}"/>
              </a:ext>
            </a:extLst>
          </p:cNvPr>
          <p:cNvSpPr>
            <a:spLocks noGrp="1"/>
          </p:cNvSpPr>
          <p:nvPr>
            <p:ph type="sldNum" sz="quarter" idx="10"/>
          </p:nvPr>
        </p:nvSpPr>
        <p:spPr/>
        <p:txBody>
          <a:bodyPr/>
          <a:lstStyle/>
          <a:p>
            <a:fld id="{72B81A60-A450-4947-933F-942AE7CB21DA}" type="slidenum">
              <a:rPr lang="en-US" altLang="ja-JP"/>
              <a:pPr/>
              <a:t>35</a:t>
            </a:fld>
            <a:endParaRPr lang="en-US" altLang="ja-JP"/>
          </a:p>
        </p:txBody>
      </p:sp>
      <p:sp>
        <p:nvSpPr>
          <p:cNvPr id="751618" name="Rectangle 2">
            <a:extLst>
              <a:ext uri="{FF2B5EF4-FFF2-40B4-BE49-F238E27FC236}">
                <a16:creationId xmlns:a16="http://schemas.microsoft.com/office/drawing/2014/main" id="{5637A467-C32C-995E-3D7E-5683B881899B}"/>
              </a:ext>
            </a:extLst>
          </p:cNvPr>
          <p:cNvSpPr>
            <a:spLocks noGrp="1" noChangeArrowheads="1"/>
          </p:cNvSpPr>
          <p:nvPr>
            <p:ph type="title"/>
          </p:nvPr>
        </p:nvSpPr>
        <p:spPr>
          <a:xfrm>
            <a:off x="315819" y="296069"/>
            <a:ext cx="9217025" cy="490537"/>
          </a:xfrm>
        </p:spPr>
        <p:txBody>
          <a:bodyPr>
            <a:normAutofit fontScale="90000"/>
          </a:bodyPr>
          <a:lstStyle/>
          <a:p>
            <a:r>
              <a:rPr lang="en-US" altLang="ja-JP" dirty="0" err="1">
                <a:latin typeface="MS UI Gothic" panose="020B0600070205080204" pitchFamily="50" charset="-128"/>
                <a:ea typeface="MS UI Gothic" panose="020B0600070205080204" pitchFamily="50" charset="-128"/>
              </a:rPr>
              <a:t>Câu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lệnh</a:t>
            </a:r>
            <a:r>
              <a:rPr lang="en-US" altLang="ja-JP" dirty="0">
                <a:latin typeface="MS UI Gothic" panose="020B0600070205080204" pitchFamily="50" charset="-128"/>
                <a:ea typeface="MS UI Gothic" panose="020B0600070205080204" pitchFamily="50" charset="-128"/>
              </a:rPr>
              <a:t> </a:t>
            </a:r>
            <a:r>
              <a:rPr lang="en-US" altLang="ja-JP" dirty="0">
                <a:latin typeface="ＭＳ ゴシック" panose="020B0609070205080204" pitchFamily="49" charset="-128"/>
                <a:ea typeface="ＭＳ ゴシック" panose="020B0609070205080204" pitchFamily="49" charset="-128"/>
              </a:rPr>
              <a:t>do-while</a:t>
            </a:r>
            <a:endParaRPr lang="en-US" altLang="ja-JP" dirty="0">
              <a:latin typeface="MS UI Gothic" panose="020B0600070205080204" pitchFamily="50" charset="-128"/>
              <a:ea typeface="MS UI Gothic" panose="020B0600070205080204" pitchFamily="50" charset="-128"/>
            </a:endParaRPr>
          </a:p>
        </p:txBody>
      </p:sp>
      <p:sp>
        <p:nvSpPr>
          <p:cNvPr id="751619" name="Rectangle 3">
            <a:extLst>
              <a:ext uri="{FF2B5EF4-FFF2-40B4-BE49-F238E27FC236}">
                <a16:creationId xmlns:a16="http://schemas.microsoft.com/office/drawing/2014/main" id="{2A874FEA-029C-E4C5-42FE-5B3E5677FAE3}"/>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51620" name="Rectangle 4">
            <a:extLst>
              <a:ext uri="{FF2B5EF4-FFF2-40B4-BE49-F238E27FC236}">
                <a16:creationId xmlns:a16="http://schemas.microsoft.com/office/drawing/2014/main" id="{42C70C82-86C2-4C4B-C6FE-14F84F8F5E05}"/>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ＭＳ ゴシック" panose="020B0609070205080204" pitchFamily="49" charset="-128"/>
                <a:ea typeface="ＭＳ ゴシック" panose="020B0609070205080204" pitchFamily="49" charset="-128"/>
              </a:rPr>
              <a:t>Câu lệnh do-while</a:t>
            </a:r>
            <a:endParaRPr lang="en-US" altLang="ja-JP" sz="2400" b="0"/>
          </a:p>
          <a:p>
            <a:pPr>
              <a:spcBef>
                <a:spcPct val="50000"/>
              </a:spcBef>
              <a:buFont typeface="Wingdings" panose="05000000000000000000" pitchFamily="2" charset="2"/>
              <a:buNone/>
            </a:pPr>
            <a:r>
              <a:rPr lang="en-US" altLang="ja-JP" sz="2000" b="0"/>
              <a:t>●Cú pháp  cơ bản</a:t>
            </a:r>
            <a:endParaRPr lang="en-US" altLang="ja-JP" sz="2400" b="0"/>
          </a:p>
          <a:p>
            <a:pPr lvl="1"/>
            <a:endParaRPr lang="en-US" altLang="ja-JP" sz="2400" b="0"/>
          </a:p>
        </p:txBody>
      </p:sp>
      <p:sp>
        <p:nvSpPr>
          <p:cNvPr id="751622" name="Rectangle 6">
            <a:extLst>
              <a:ext uri="{FF2B5EF4-FFF2-40B4-BE49-F238E27FC236}">
                <a16:creationId xmlns:a16="http://schemas.microsoft.com/office/drawing/2014/main" id="{6C0BB8D3-32C2-31BC-155D-1C92C422A439}"/>
              </a:ext>
            </a:extLst>
          </p:cNvPr>
          <p:cNvSpPr>
            <a:spLocks noChangeArrowheads="1"/>
          </p:cNvSpPr>
          <p:nvPr/>
        </p:nvSpPr>
        <p:spPr bwMode="auto">
          <a:xfrm>
            <a:off x="344488" y="32099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●Ví dụ</a:t>
            </a:r>
            <a:endParaRPr lang="en-US" altLang="ja-JP" sz="2400" b="0"/>
          </a:p>
        </p:txBody>
      </p:sp>
      <p:grpSp>
        <p:nvGrpSpPr>
          <p:cNvPr id="751647" name="Group 31">
            <a:extLst>
              <a:ext uri="{FF2B5EF4-FFF2-40B4-BE49-F238E27FC236}">
                <a16:creationId xmlns:a16="http://schemas.microsoft.com/office/drawing/2014/main" id="{57A58848-76D6-AFAE-A3AB-5D7B32052754}"/>
              </a:ext>
            </a:extLst>
          </p:cNvPr>
          <p:cNvGrpSpPr>
            <a:grpSpLocks/>
          </p:cNvGrpSpPr>
          <p:nvPr/>
        </p:nvGrpSpPr>
        <p:grpSpPr bwMode="auto">
          <a:xfrm>
            <a:off x="6094413" y="3305175"/>
            <a:ext cx="3370262" cy="3082925"/>
            <a:chOff x="3839" y="2082"/>
            <a:chExt cx="2123" cy="1942"/>
          </a:xfrm>
        </p:grpSpPr>
        <p:sp>
          <p:nvSpPr>
            <p:cNvPr id="751625" name="Rectangle 9">
              <a:extLst>
                <a:ext uri="{FF2B5EF4-FFF2-40B4-BE49-F238E27FC236}">
                  <a16:creationId xmlns:a16="http://schemas.microsoft.com/office/drawing/2014/main" id="{71CA3F0A-7742-17C1-52BA-EE5F4A2B2473}"/>
                </a:ext>
              </a:extLst>
            </p:cNvPr>
            <p:cNvSpPr>
              <a:spLocks noChangeArrowheads="1"/>
            </p:cNvSpPr>
            <p:nvPr/>
          </p:nvSpPr>
          <p:spPr bwMode="auto">
            <a:xfrm>
              <a:off x="3839" y="2082"/>
              <a:ext cx="2123" cy="19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51626" name="Line 10">
              <a:extLst>
                <a:ext uri="{FF2B5EF4-FFF2-40B4-BE49-F238E27FC236}">
                  <a16:creationId xmlns:a16="http://schemas.microsoft.com/office/drawing/2014/main" id="{A613DE7C-96C5-6317-30E5-16CE8D902AB6}"/>
                </a:ext>
              </a:extLst>
            </p:cNvPr>
            <p:cNvSpPr>
              <a:spLocks noChangeShapeType="1"/>
            </p:cNvSpPr>
            <p:nvPr/>
          </p:nvSpPr>
          <p:spPr bwMode="auto">
            <a:xfrm>
              <a:off x="4873" y="2755"/>
              <a:ext cx="0" cy="771"/>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1627" name="AutoShape 11">
              <a:extLst>
                <a:ext uri="{FF2B5EF4-FFF2-40B4-BE49-F238E27FC236}">
                  <a16:creationId xmlns:a16="http://schemas.microsoft.com/office/drawing/2014/main" id="{9CC76E93-0F8F-F03B-660E-B63958D078BC}"/>
                </a:ext>
              </a:extLst>
            </p:cNvPr>
            <p:cNvSpPr>
              <a:spLocks noChangeArrowheads="1"/>
            </p:cNvSpPr>
            <p:nvPr/>
          </p:nvSpPr>
          <p:spPr bwMode="auto">
            <a:xfrm>
              <a:off x="4159" y="2875"/>
              <a:ext cx="1424" cy="472"/>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nchor="ctr"/>
            <a:lstStyle/>
            <a:p>
              <a:pPr>
                <a:lnSpc>
                  <a:spcPct val="96000"/>
                </a:lnSpc>
              </a:pPr>
              <a:r>
                <a:rPr lang="en-US" altLang="ja-JP" sz="1800" b="0">
                  <a:latin typeface="MS UI Gothic" panose="020B0600070205080204" pitchFamily="50" charset="-128"/>
                </a:rPr>
                <a:t>Cnt&lt;=10 ?</a:t>
              </a:r>
              <a:endParaRPr lang="en-US" altLang="ja-JP" sz="1800">
                <a:latin typeface="MS UI Gothic" panose="020B0600070205080204" pitchFamily="50" charset="-128"/>
              </a:endParaRPr>
            </a:p>
          </p:txBody>
        </p:sp>
        <p:sp>
          <p:nvSpPr>
            <p:cNvPr id="751628" name="AutoShape 12">
              <a:extLst>
                <a:ext uri="{FF2B5EF4-FFF2-40B4-BE49-F238E27FC236}">
                  <a16:creationId xmlns:a16="http://schemas.microsoft.com/office/drawing/2014/main" id="{A604B8BD-0D23-5C35-157A-6FCBF09F12A1}"/>
                </a:ext>
              </a:extLst>
            </p:cNvPr>
            <p:cNvSpPr>
              <a:spLocks noChangeArrowheads="1"/>
            </p:cNvSpPr>
            <p:nvPr/>
          </p:nvSpPr>
          <p:spPr bwMode="auto">
            <a:xfrm>
              <a:off x="4323" y="2515"/>
              <a:ext cx="1057" cy="258"/>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b="0"/>
                <a:t>Xử l</a:t>
              </a:r>
              <a:r>
                <a:rPr lang="en-US" altLang="ja-JP" sz="1800" b="0">
                  <a:latin typeface="MS UI Gothic" panose="020B0600070205080204" pitchFamily="50" charset="-128"/>
                </a:rPr>
                <a:t>í</a:t>
              </a:r>
              <a:r>
                <a:rPr lang="en-US" altLang="ja-JP" sz="1800" b="0"/>
                <a:t> lặp</a:t>
              </a:r>
            </a:p>
          </p:txBody>
        </p:sp>
        <p:sp>
          <p:nvSpPr>
            <p:cNvPr id="751629" name="Line 13">
              <a:extLst>
                <a:ext uri="{FF2B5EF4-FFF2-40B4-BE49-F238E27FC236}">
                  <a16:creationId xmlns:a16="http://schemas.microsoft.com/office/drawing/2014/main" id="{03796D0A-0531-FB3E-97D4-FBFC85A05B3C}"/>
                </a:ext>
              </a:extLst>
            </p:cNvPr>
            <p:cNvSpPr>
              <a:spLocks noChangeShapeType="1"/>
            </p:cNvSpPr>
            <p:nvPr/>
          </p:nvSpPr>
          <p:spPr bwMode="auto">
            <a:xfrm flipV="1">
              <a:off x="5571" y="3110"/>
              <a:ext cx="21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1630" name="Line 14">
              <a:extLst>
                <a:ext uri="{FF2B5EF4-FFF2-40B4-BE49-F238E27FC236}">
                  <a16:creationId xmlns:a16="http://schemas.microsoft.com/office/drawing/2014/main" id="{04112E8D-5F80-BFF9-BDE5-2D233D2FE5D2}"/>
                </a:ext>
              </a:extLst>
            </p:cNvPr>
            <p:cNvSpPr>
              <a:spLocks noChangeShapeType="1"/>
            </p:cNvSpPr>
            <p:nvPr/>
          </p:nvSpPr>
          <p:spPr bwMode="auto">
            <a:xfrm>
              <a:off x="4098" y="2330"/>
              <a:ext cx="0" cy="1195"/>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1631" name="Text Box 15">
              <a:extLst>
                <a:ext uri="{FF2B5EF4-FFF2-40B4-BE49-F238E27FC236}">
                  <a16:creationId xmlns:a16="http://schemas.microsoft.com/office/drawing/2014/main" id="{8C0E1260-7C68-5F4D-4B84-5711F0EE817D}"/>
                </a:ext>
              </a:extLst>
            </p:cNvPr>
            <p:cNvSpPr txBox="1">
              <a:spLocks noChangeArrowheads="1"/>
            </p:cNvSpPr>
            <p:nvPr/>
          </p:nvSpPr>
          <p:spPr bwMode="auto">
            <a:xfrm>
              <a:off x="4597" y="3310"/>
              <a:ext cx="424" cy="1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b="0">
                  <a:latin typeface="MS UI Gothic" panose="020B0600070205080204" pitchFamily="50" charset="-128"/>
                </a:rPr>
                <a:t>true</a:t>
              </a:r>
              <a:endParaRPr lang="en-US" altLang="ja-JP" sz="1800">
                <a:latin typeface="MS UI Gothic" panose="020B0600070205080204" pitchFamily="50" charset="-128"/>
              </a:endParaRPr>
            </a:p>
          </p:txBody>
        </p:sp>
        <p:sp>
          <p:nvSpPr>
            <p:cNvPr id="751632" name="Text Box 16">
              <a:extLst>
                <a:ext uri="{FF2B5EF4-FFF2-40B4-BE49-F238E27FC236}">
                  <a16:creationId xmlns:a16="http://schemas.microsoft.com/office/drawing/2014/main" id="{C25A60E0-D906-CED8-CF86-8BB5716BBDBC}"/>
                </a:ext>
              </a:extLst>
            </p:cNvPr>
            <p:cNvSpPr txBox="1">
              <a:spLocks noChangeArrowheads="1"/>
            </p:cNvSpPr>
            <p:nvPr/>
          </p:nvSpPr>
          <p:spPr bwMode="auto">
            <a:xfrm>
              <a:off x="5464" y="2860"/>
              <a:ext cx="422" cy="1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800" b="0">
                  <a:latin typeface="MS UI Gothic" panose="020B0600070205080204" pitchFamily="50" charset="-128"/>
                </a:rPr>
                <a:t>false</a:t>
              </a:r>
              <a:endParaRPr lang="en-US" altLang="ja-JP" sz="1800">
                <a:latin typeface="MS UI Gothic" panose="020B0600070205080204" pitchFamily="50" charset="-128"/>
              </a:endParaRPr>
            </a:p>
          </p:txBody>
        </p:sp>
        <p:sp>
          <p:nvSpPr>
            <p:cNvPr id="751633" name="Line 17">
              <a:extLst>
                <a:ext uri="{FF2B5EF4-FFF2-40B4-BE49-F238E27FC236}">
                  <a16:creationId xmlns:a16="http://schemas.microsoft.com/office/drawing/2014/main" id="{C7C9158C-B91D-FF3C-7923-D46F9A704CAA}"/>
                </a:ext>
              </a:extLst>
            </p:cNvPr>
            <p:cNvSpPr>
              <a:spLocks noChangeShapeType="1"/>
            </p:cNvSpPr>
            <p:nvPr/>
          </p:nvSpPr>
          <p:spPr bwMode="auto">
            <a:xfrm>
              <a:off x="5781" y="3104"/>
              <a:ext cx="0" cy="551"/>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1634" name="Line 18">
              <a:extLst>
                <a:ext uri="{FF2B5EF4-FFF2-40B4-BE49-F238E27FC236}">
                  <a16:creationId xmlns:a16="http://schemas.microsoft.com/office/drawing/2014/main" id="{C691B0EE-EE31-E7A5-0436-B88DC65C0009}"/>
                </a:ext>
              </a:extLst>
            </p:cNvPr>
            <p:cNvSpPr>
              <a:spLocks noChangeShapeType="1"/>
            </p:cNvSpPr>
            <p:nvPr/>
          </p:nvSpPr>
          <p:spPr bwMode="auto">
            <a:xfrm>
              <a:off x="4884" y="3649"/>
              <a:ext cx="902"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1635" name="Line 19">
              <a:extLst>
                <a:ext uri="{FF2B5EF4-FFF2-40B4-BE49-F238E27FC236}">
                  <a16:creationId xmlns:a16="http://schemas.microsoft.com/office/drawing/2014/main" id="{48B610D7-1114-1FE6-B85D-9D4A8431F046}"/>
                </a:ext>
              </a:extLst>
            </p:cNvPr>
            <p:cNvSpPr>
              <a:spLocks noChangeShapeType="1"/>
            </p:cNvSpPr>
            <p:nvPr/>
          </p:nvSpPr>
          <p:spPr bwMode="auto">
            <a:xfrm>
              <a:off x="4884" y="3644"/>
              <a:ext cx="0" cy="270"/>
            </a:xfrm>
            <a:prstGeom prst="line">
              <a:avLst/>
            </a:prstGeom>
            <a:noFill/>
            <a:ln w="19050">
              <a:solidFill>
                <a:srgbClr val="00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1636" name="Line 20">
              <a:extLst>
                <a:ext uri="{FF2B5EF4-FFF2-40B4-BE49-F238E27FC236}">
                  <a16:creationId xmlns:a16="http://schemas.microsoft.com/office/drawing/2014/main" id="{9EC0D148-537B-C664-202A-F323AF03C0C3}"/>
                </a:ext>
              </a:extLst>
            </p:cNvPr>
            <p:cNvSpPr>
              <a:spLocks noChangeShapeType="1"/>
            </p:cNvSpPr>
            <p:nvPr/>
          </p:nvSpPr>
          <p:spPr bwMode="auto">
            <a:xfrm>
              <a:off x="4871" y="2194"/>
              <a:ext cx="0" cy="314"/>
            </a:xfrm>
            <a:prstGeom prst="line">
              <a:avLst/>
            </a:prstGeom>
            <a:noFill/>
            <a:ln w="19050">
              <a:solidFill>
                <a:srgbClr val="00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1637" name="Line 21">
              <a:extLst>
                <a:ext uri="{FF2B5EF4-FFF2-40B4-BE49-F238E27FC236}">
                  <a16:creationId xmlns:a16="http://schemas.microsoft.com/office/drawing/2014/main" id="{283F3754-F8D6-2199-DEED-586F10383151}"/>
                </a:ext>
              </a:extLst>
            </p:cNvPr>
            <p:cNvSpPr>
              <a:spLocks noChangeShapeType="1"/>
            </p:cNvSpPr>
            <p:nvPr/>
          </p:nvSpPr>
          <p:spPr bwMode="auto">
            <a:xfrm flipV="1">
              <a:off x="4093" y="3520"/>
              <a:ext cx="778"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1638" name="Line 22">
              <a:extLst>
                <a:ext uri="{FF2B5EF4-FFF2-40B4-BE49-F238E27FC236}">
                  <a16:creationId xmlns:a16="http://schemas.microsoft.com/office/drawing/2014/main" id="{A050BC1A-2470-BEA6-CEEC-3B5BFD2048BA}"/>
                </a:ext>
              </a:extLst>
            </p:cNvPr>
            <p:cNvSpPr>
              <a:spLocks noChangeShapeType="1"/>
            </p:cNvSpPr>
            <p:nvPr/>
          </p:nvSpPr>
          <p:spPr bwMode="auto">
            <a:xfrm flipV="1">
              <a:off x="4095" y="2336"/>
              <a:ext cx="778" cy="0"/>
            </a:xfrm>
            <a:prstGeom prst="line">
              <a:avLst/>
            </a:prstGeom>
            <a:noFill/>
            <a:ln w="19050">
              <a:solidFill>
                <a:srgbClr val="00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grpSp>
        <p:nvGrpSpPr>
          <p:cNvPr id="751648" name="Group 32">
            <a:extLst>
              <a:ext uri="{FF2B5EF4-FFF2-40B4-BE49-F238E27FC236}">
                <a16:creationId xmlns:a16="http://schemas.microsoft.com/office/drawing/2014/main" id="{8FC7DEF9-CB3E-10A3-7010-B201D0C3EDE1}"/>
              </a:ext>
            </a:extLst>
          </p:cNvPr>
          <p:cNvGrpSpPr>
            <a:grpSpLocks/>
          </p:cNvGrpSpPr>
          <p:nvPr/>
        </p:nvGrpSpPr>
        <p:grpSpPr bwMode="auto">
          <a:xfrm>
            <a:off x="344488" y="3709988"/>
            <a:ext cx="5538787" cy="2678112"/>
            <a:chOff x="217" y="2337"/>
            <a:chExt cx="3489" cy="1687"/>
          </a:xfrm>
        </p:grpSpPr>
        <p:sp>
          <p:nvSpPr>
            <p:cNvPr id="751640" name="Rectangle 24">
              <a:extLst>
                <a:ext uri="{FF2B5EF4-FFF2-40B4-BE49-F238E27FC236}">
                  <a16:creationId xmlns:a16="http://schemas.microsoft.com/office/drawing/2014/main" id="{2ED17937-860C-2213-3F10-D750A43B4B2F}"/>
                </a:ext>
              </a:extLst>
            </p:cNvPr>
            <p:cNvSpPr>
              <a:spLocks noChangeArrowheads="1"/>
            </p:cNvSpPr>
            <p:nvPr/>
          </p:nvSpPr>
          <p:spPr bwMode="auto">
            <a:xfrm>
              <a:off x="217" y="2337"/>
              <a:ext cx="3489" cy="168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int cnt = 1;</a:t>
              </a:r>
            </a:p>
            <a:p>
              <a:pPr lvl="1"/>
              <a:r>
                <a:rPr lang="en-US" altLang="ja-JP" sz="1800" b="0">
                  <a:latin typeface="ＭＳ ゴシック" panose="020B0609070205080204" pitchFamily="49" charset="-128"/>
                  <a:ea typeface="ＭＳ ゴシック" panose="020B0609070205080204" pitchFamily="49" charset="-128"/>
                </a:rPr>
                <a:t>int ans = 0;</a:t>
              </a:r>
            </a:p>
            <a:p>
              <a:pPr lvl="1"/>
              <a:r>
                <a:rPr lang="en-US" altLang="ja-JP" sz="1800" b="0">
                  <a:latin typeface="ＭＳ ゴシック" panose="020B0609070205080204" pitchFamily="49" charset="-128"/>
                  <a:ea typeface="ＭＳ ゴシック" panose="020B0609070205080204" pitchFamily="49" charset="-128"/>
                </a:rPr>
                <a:t>do {</a:t>
              </a:r>
            </a:p>
            <a:p>
              <a:pPr lvl="1"/>
              <a:r>
                <a:rPr lang="en-US" altLang="ja-JP" sz="1800" b="0">
                  <a:latin typeface="ＭＳ ゴシック" panose="020B0609070205080204" pitchFamily="49" charset="-128"/>
                  <a:ea typeface="ＭＳ ゴシック" panose="020B0609070205080204" pitchFamily="49" charset="-128"/>
                </a:rPr>
                <a:t>    ans += cnt;</a:t>
              </a:r>
            </a:p>
            <a:p>
              <a:pPr lvl="1"/>
              <a:r>
                <a:rPr lang="en-US" altLang="ja-JP" sz="1800" b="0">
                  <a:latin typeface="ＭＳ ゴシック" panose="020B0609070205080204" pitchFamily="49" charset="-128"/>
                  <a:ea typeface="ＭＳ ゴシック" panose="020B0609070205080204" pitchFamily="49" charset="-128"/>
                </a:rPr>
                <a:t>    cnt++;</a:t>
              </a:r>
            </a:p>
            <a:p>
              <a:pPr lvl="1"/>
              <a:r>
                <a:rPr lang="en-US" altLang="ja-JP" sz="1800" b="0">
                  <a:latin typeface="ＭＳ ゴシック" panose="020B0609070205080204" pitchFamily="49" charset="-128"/>
                  <a:ea typeface="ＭＳ ゴシック" panose="020B0609070205080204" pitchFamily="49" charset="-128"/>
                </a:rPr>
                <a:t>} while (cnt &lt;= 10);</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System.out.println(cnt + "," + ans);	</a:t>
              </a:r>
            </a:p>
          </p:txBody>
        </p:sp>
        <p:sp>
          <p:nvSpPr>
            <p:cNvPr id="751641" name="Rectangle 25">
              <a:extLst>
                <a:ext uri="{FF2B5EF4-FFF2-40B4-BE49-F238E27FC236}">
                  <a16:creationId xmlns:a16="http://schemas.microsoft.com/office/drawing/2014/main" id="{9F56BA6C-A9F2-1387-363B-67316AB27E84}"/>
                </a:ext>
              </a:extLst>
            </p:cNvPr>
            <p:cNvSpPr>
              <a:spLocks noChangeArrowheads="1"/>
            </p:cNvSpPr>
            <p:nvPr/>
          </p:nvSpPr>
          <p:spPr bwMode="auto">
            <a:xfrm>
              <a:off x="623" y="3112"/>
              <a:ext cx="610" cy="218"/>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51642" name="AutoShape 26">
              <a:extLst>
                <a:ext uri="{FF2B5EF4-FFF2-40B4-BE49-F238E27FC236}">
                  <a16:creationId xmlns:a16="http://schemas.microsoft.com/office/drawing/2014/main" id="{45569CC2-4AE8-2BFA-E1AB-74DD7EBCE26E}"/>
                </a:ext>
              </a:extLst>
            </p:cNvPr>
            <p:cNvSpPr>
              <a:spLocks noChangeArrowheads="1"/>
            </p:cNvSpPr>
            <p:nvPr/>
          </p:nvSpPr>
          <p:spPr bwMode="auto">
            <a:xfrm>
              <a:off x="1650" y="2792"/>
              <a:ext cx="1930" cy="465"/>
            </a:xfrm>
            <a:prstGeom prst="wedgeRoundRectCallout">
              <a:avLst>
                <a:gd name="adj1" fmla="val -71708"/>
                <a:gd name="adj2" fmla="val 51292"/>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600" dirty="0" err="1">
                  <a:latin typeface="+mj-lt"/>
                </a:rPr>
                <a:t>Xử</a:t>
              </a:r>
              <a:r>
                <a:rPr lang="en-US" altLang="ja-JP" sz="1600" dirty="0">
                  <a:latin typeface="+mj-lt"/>
                </a:rPr>
                <a:t> </a:t>
              </a:r>
              <a:r>
                <a:rPr lang="en-US" altLang="ja-JP" sz="1600" dirty="0" err="1">
                  <a:latin typeface="+mj-lt"/>
                </a:rPr>
                <a:t>lí</a:t>
              </a:r>
              <a:r>
                <a:rPr lang="en-US" altLang="ja-JP" sz="1600" dirty="0">
                  <a:latin typeface="+mj-lt"/>
                </a:rPr>
                <a:t> </a:t>
              </a:r>
              <a:r>
                <a:rPr lang="en-US" altLang="ja-JP" sz="1600" dirty="0" err="1">
                  <a:latin typeface="+mj-lt"/>
                </a:rPr>
                <a:t>để</a:t>
              </a:r>
              <a:r>
                <a:rPr lang="en-US" altLang="ja-JP" sz="1600" dirty="0">
                  <a:latin typeface="+mj-lt"/>
                </a:rPr>
                <a:t> </a:t>
              </a:r>
              <a:r>
                <a:rPr lang="en-US" altLang="ja-JP" sz="1600" dirty="0" err="1">
                  <a:latin typeface="+mj-lt"/>
                </a:rPr>
                <a:t>thay</a:t>
              </a:r>
              <a:r>
                <a:rPr lang="en-US" altLang="ja-JP" sz="1600" dirty="0">
                  <a:latin typeface="+mj-lt"/>
                </a:rPr>
                <a:t> </a:t>
              </a:r>
              <a:r>
                <a:rPr lang="en-US" altLang="ja-JP" sz="1600" dirty="0" err="1">
                  <a:latin typeface="+mj-lt"/>
                </a:rPr>
                <a:t>đổi</a:t>
              </a:r>
              <a:r>
                <a:rPr lang="en-US" altLang="ja-JP" sz="1600" dirty="0">
                  <a:latin typeface="+mj-lt"/>
                </a:rPr>
                <a:t> </a:t>
              </a:r>
              <a:r>
                <a:rPr lang="en-US" altLang="ja-JP" sz="1600" dirty="0" err="1">
                  <a:latin typeface="+mj-lt"/>
                </a:rPr>
                <a:t>điều</a:t>
              </a:r>
              <a:r>
                <a:rPr lang="en-US" altLang="ja-JP" sz="1600" dirty="0">
                  <a:latin typeface="+mj-lt"/>
                </a:rPr>
                <a:t> </a:t>
              </a:r>
              <a:r>
                <a:rPr lang="en-US" altLang="ja-JP" sz="1600" dirty="0" err="1">
                  <a:latin typeface="+mj-lt"/>
                </a:rPr>
                <a:t>kiện</a:t>
              </a:r>
              <a:r>
                <a:rPr lang="en-US" altLang="ja-JP" sz="1600" dirty="0">
                  <a:latin typeface="+mj-lt"/>
                </a:rPr>
                <a:t> </a:t>
              </a:r>
              <a:r>
                <a:rPr lang="en-US" altLang="ja-JP" sz="1600" dirty="0" err="1">
                  <a:latin typeface="+mj-lt"/>
                </a:rPr>
                <a:t>lặp</a:t>
              </a:r>
              <a:r>
                <a:rPr lang="en-US" altLang="ja-JP" sz="1600" dirty="0">
                  <a:latin typeface="+mj-lt"/>
                </a:rPr>
                <a:t> </a:t>
              </a:r>
              <a:r>
                <a:rPr lang="en-US" altLang="ja-JP" sz="1600" dirty="0" err="1">
                  <a:latin typeface="+mj-lt"/>
                </a:rPr>
                <a:t>từ</a:t>
              </a:r>
              <a:r>
                <a:rPr lang="en-US" altLang="ja-JP" sz="1600" dirty="0">
                  <a:latin typeface="+mj-lt"/>
                </a:rPr>
                <a:t> true sang false</a:t>
              </a:r>
            </a:p>
          </p:txBody>
        </p:sp>
      </p:grpSp>
      <p:sp>
        <p:nvSpPr>
          <p:cNvPr id="751621" name="Text Box 5">
            <a:extLst>
              <a:ext uri="{FF2B5EF4-FFF2-40B4-BE49-F238E27FC236}">
                <a16:creationId xmlns:a16="http://schemas.microsoft.com/office/drawing/2014/main" id="{84679633-32DD-EF48-2608-E061AF4F5F43}"/>
              </a:ext>
            </a:extLst>
          </p:cNvPr>
          <p:cNvSpPr txBox="1">
            <a:spLocks noChangeArrowheads="1"/>
          </p:cNvSpPr>
          <p:nvPr/>
        </p:nvSpPr>
        <p:spPr bwMode="auto">
          <a:xfrm>
            <a:off x="344488" y="1751013"/>
            <a:ext cx="9120187" cy="12763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latin typeface="ＭＳ ゴシック" panose="020B0609070205080204" pitchFamily="49" charset="-128"/>
                <a:ea typeface="ＭＳ ゴシック" panose="020B0609070205080204" pitchFamily="49" charset="-128"/>
              </a:rPr>
              <a:t>do {</a:t>
            </a:r>
          </a:p>
          <a:p>
            <a:pPr lvl="1" algn="just">
              <a:lnSpc>
                <a:spcPct val="112000"/>
              </a:lnSpc>
            </a:pPr>
            <a:r>
              <a:rPr lang="en-US" altLang="ja-JP" sz="2000">
                <a:latin typeface="MS UI Gothic" panose="020B0600070205080204" pitchFamily="50" charset="-128"/>
                <a:ea typeface="MS UI Gothic" panose="020B0600070205080204" pitchFamily="50" charset="-128"/>
              </a:rPr>
              <a:t> </a:t>
            </a:r>
            <a:r>
              <a:rPr lang="en-US" altLang="ja-JP" sz="2000">
                <a:ea typeface="MS UI Gothic" panose="020B0600070205080204" pitchFamily="50" charset="-128"/>
              </a:rPr>
              <a:t>Xử l</a:t>
            </a:r>
            <a:r>
              <a:rPr lang="en-US" altLang="ja-JP" sz="2000">
                <a:latin typeface="MS UI Gothic" panose="020B0600070205080204" pitchFamily="50" charset="-128"/>
                <a:ea typeface="MS UI Gothic" panose="020B0600070205080204" pitchFamily="50" charset="-128"/>
              </a:rPr>
              <a:t>í</a:t>
            </a:r>
            <a:r>
              <a:rPr lang="en-US" altLang="ja-JP" sz="2000">
                <a:ea typeface="MS UI Gothic" panose="020B0600070205080204" pitchFamily="50" charset="-128"/>
              </a:rPr>
              <a:t> muốn lặp khi điều kiện l</a:t>
            </a:r>
            <a:r>
              <a:rPr lang="en-US" altLang="ja-JP" sz="2000">
                <a:latin typeface="MS UI Gothic" panose="020B0600070205080204" pitchFamily="50" charset="-128"/>
                <a:ea typeface="MS UI Gothic" panose="020B0600070205080204" pitchFamily="50" charset="-128"/>
              </a:rPr>
              <a:t>à</a:t>
            </a:r>
            <a:r>
              <a:rPr lang="en-US" altLang="ja-JP" sz="2000">
                <a:ea typeface="MS UI Gothic" panose="020B0600070205080204" pitchFamily="50" charset="-128"/>
              </a:rPr>
              <a:t> true</a:t>
            </a:r>
            <a:endParaRPr lang="en-US" altLang="ja-JP" sz="2000">
              <a:latin typeface="MS UI Gothic" panose="020B0600070205080204" pitchFamily="50" charset="-128"/>
              <a:ea typeface="MS UI Gothic" panose="020B0600070205080204" pitchFamily="50" charset="-128"/>
            </a:endParaRPr>
          </a:p>
          <a:p>
            <a:pPr lvl="1" algn="just">
              <a:lnSpc>
                <a:spcPct val="112000"/>
              </a:lnSpc>
            </a:pPr>
            <a:r>
              <a:rPr lang="en-US" altLang="ja-JP" sz="2000">
                <a:latin typeface="ＭＳ ゴシック" panose="020B0609070205080204" pitchFamily="49" charset="-128"/>
                <a:ea typeface="ＭＳ ゴシック" panose="020B0609070205080204" pitchFamily="49" charset="-128"/>
              </a:rPr>
              <a:t>} while (</a:t>
            </a:r>
            <a:r>
              <a:rPr lang="en-US" altLang="ja-JP" sz="2000">
                <a:ea typeface="MS UI Gothic" panose="020B0600070205080204" pitchFamily="50" charset="-128"/>
              </a:rPr>
              <a:t>Điều kiện lặp</a:t>
            </a:r>
            <a:r>
              <a:rPr lang="en-US" altLang="ja-JP" sz="2000">
                <a:latin typeface="ＭＳ ゴシック" panose="020B0609070205080204" pitchFamily="49" charset="-128"/>
                <a:ea typeface="ＭＳ ゴシック" panose="020B0609070205080204" pitchFamily="49" charset="-128"/>
              </a:rPr>
              <a:t>);</a:t>
            </a:r>
          </a:p>
        </p:txBody>
      </p:sp>
      <p:sp>
        <p:nvSpPr>
          <p:cNvPr id="751623" name="AutoShape 7">
            <a:extLst>
              <a:ext uri="{FF2B5EF4-FFF2-40B4-BE49-F238E27FC236}">
                <a16:creationId xmlns:a16="http://schemas.microsoft.com/office/drawing/2014/main" id="{4018F07F-F76C-184A-5768-2D347A439274}"/>
              </a:ext>
            </a:extLst>
          </p:cNvPr>
          <p:cNvSpPr>
            <a:spLocks noChangeArrowheads="1"/>
          </p:cNvSpPr>
          <p:nvPr/>
        </p:nvSpPr>
        <p:spPr bwMode="auto">
          <a:xfrm>
            <a:off x="4632325" y="2540000"/>
            <a:ext cx="4706938" cy="401638"/>
          </a:xfrm>
          <a:prstGeom prst="wedgeRoundRectCallout">
            <a:avLst>
              <a:gd name="adj1" fmla="val -72935"/>
              <a:gd name="adj2" fmla="val -13241"/>
              <a:gd name="adj3" fmla="val 16667"/>
            </a:avLst>
          </a:prstGeom>
          <a:solidFill>
            <a:srgbClr val="CCFFCC"/>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dirty="0" err="1">
                <a:latin typeface="+mj-lt"/>
                <a:ea typeface="ＭＳ ゴシック" panose="020B0609070205080204" pitchFamily="49" charset="-128"/>
              </a:rPr>
              <a:t>Cần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có</a:t>
            </a:r>
            <a:r>
              <a:rPr lang="en-US" altLang="ja-JP" sz="1800" dirty="0">
                <a:latin typeface="+mj-lt"/>
                <a:ea typeface="ＭＳ ゴシック" panose="020B0609070205080204" pitchFamily="49" charset="-128"/>
              </a:rPr>
              <a:t> ; ở </a:t>
            </a:r>
            <a:r>
              <a:rPr lang="en-US" altLang="ja-JP" sz="1800" dirty="0" err="1">
                <a:latin typeface="+mj-lt"/>
                <a:ea typeface="ＭＳ ゴシック" panose="020B0609070205080204" pitchFamily="49" charset="-128"/>
              </a:rPr>
              <a:t>cuối</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cùng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của</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câu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lệnh</a:t>
            </a:r>
            <a:r>
              <a:rPr lang="en-US" altLang="ja-JP" sz="1800" dirty="0">
                <a:latin typeface="+mj-lt"/>
                <a:ea typeface="ＭＳ ゴシック" panose="020B0609070205080204" pitchFamily="49" charset="-128"/>
              </a:rPr>
              <a:t> do-while</a:t>
            </a:r>
            <a:endParaRPr lang="en-US" altLang="ja-JP" sz="1800" dirty="0">
              <a:latin typeface="+mj-lt"/>
            </a:endParaRPr>
          </a:p>
        </p:txBody>
      </p:sp>
      <p:sp>
        <p:nvSpPr>
          <p:cNvPr id="751643" name="AutoShape 27">
            <a:extLst>
              <a:ext uri="{FF2B5EF4-FFF2-40B4-BE49-F238E27FC236}">
                <a16:creationId xmlns:a16="http://schemas.microsoft.com/office/drawing/2014/main" id="{E2EA4B03-BF25-6B8C-A3C0-BA7E9E18341C}"/>
              </a:ext>
            </a:extLst>
          </p:cNvPr>
          <p:cNvSpPr>
            <a:spLocks noChangeArrowheads="1"/>
          </p:cNvSpPr>
          <p:nvPr/>
        </p:nvSpPr>
        <p:spPr bwMode="auto">
          <a:xfrm>
            <a:off x="1266825" y="3065463"/>
            <a:ext cx="2989263" cy="401637"/>
          </a:xfrm>
          <a:prstGeom prst="wedgeRoundRectCallout">
            <a:avLst>
              <a:gd name="adj1" fmla="val -20843"/>
              <a:gd name="adj2" fmla="val -107310"/>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a:latin typeface="ＭＳ ゴシック" panose="020B0609070205080204" pitchFamily="49" charset="-128"/>
                <a:ea typeface="ＭＳ ゴシック" panose="020B0609070205080204" pitchFamily="49" charset="-128"/>
              </a:rPr>
              <a:t>Phán đoán sau điều kiện</a:t>
            </a:r>
            <a:endParaRPr lang="en-US" altLang="ja-JP" sz="1800">
              <a:latin typeface="MS UI Gothic" panose="020B0600070205080204" pitchFamily="50" charset="-128"/>
            </a:endParaRPr>
          </a:p>
        </p:txBody>
      </p:sp>
      <p:sp>
        <p:nvSpPr>
          <p:cNvPr id="751646" name="Rectangle 30">
            <a:extLst>
              <a:ext uri="{FF2B5EF4-FFF2-40B4-BE49-F238E27FC236}">
                <a16:creationId xmlns:a16="http://schemas.microsoft.com/office/drawing/2014/main" id="{D49A2939-5892-28F1-3B48-95EF43F6E0EE}"/>
              </a:ext>
            </a:extLst>
          </p:cNvPr>
          <p:cNvSpPr>
            <a:spLocks noChangeArrowheads="1"/>
          </p:cNvSpPr>
          <p:nvPr/>
        </p:nvSpPr>
        <p:spPr bwMode="auto">
          <a:xfrm>
            <a:off x="3395663" y="2484438"/>
            <a:ext cx="166687" cy="341312"/>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51649" name="AutoShape 33">
            <a:extLst>
              <a:ext uri="{FF2B5EF4-FFF2-40B4-BE49-F238E27FC236}">
                <a16:creationId xmlns:a16="http://schemas.microsoft.com/office/drawing/2014/main" id="{E872DBAE-74D2-4CDA-3871-02FA2A5D7CCF}"/>
              </a:ext>
            </a:extLst>
          </p:cNvPr>
          <p:cNvSpPr>
            <a:spLocks noChangeArrowheads="1"/>
          </p:cNvSpPr>
          <p:nvPr/>
        </p:nvSpPr>
        <p:spPr bwMode="auto">
          <a:xfrm>
            <a:off x="8180388" y="3276600"/>
            <a:ext cx="1482725" cy="719138"/>
          </a:xfrm>
          <a:prstGeom prst="wedgeRoundRectCallout">
            <a:avLst>
              <a:gd name="adj1" fmla="val -39185"/>
              <a:gd name="adj2" fmla="val 72736"/>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r>
              <a:rPr lang="en-US" altLang="ja-JP" sz="1600" b="0">
                <a:latin typeface="ＭＳ ゴシック" panose="020B0609070205080204" pitchFamily="49" charset="-128"/>
                <a:ea typeface="ＭＳ ゴシック" panose="020B0609070205080204" pitchFamily="49" charset="-128"/>
              </a:rPr>
              <a:t> ans += cnt;</a:t>
            </a:r>
          </a:p>
          <a:p>
            <a:r>
              <a:rPr lang="en-US" altLang="ja-JP" sz="1600" b="0">
                <a:latin typeface="ＭＳ ゴシック" panose="020B0609070205080204" pitchFamily="49" charset="-128"/>
                <a:ea typeface="ＭＳ ゴシック" panose="020B0609070205080204" pitchFamily="49" charset="-128"/>
              </a:rPr>
              <a:t> cnt++;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EAFB2961-60E6-096E-A183-1375B37E209E}"/>
              </a:ext>
            </a:extLst>
          </p:cNvPr>
          <p:cNvSpPr>
            <a:spLocks noGrp="1"/>
          </p:cNvSpPr>
          <p:nvPr>
            <p:ph type="sldNum" sz="quarter" idx="10"/>
          </p:nvPr>
        </p:nvSpPr>
        <p:spPr/>
        <p:txBody>
          <a:bodyPr/>
          <a:lstStyle/>
          <a:p>
            <a:fld id="{C018E519-3229-4446-9EA1-F18F1C06EC11}" type="slidenum">
              <a:rPr lang="en-US" altLang="ja-JP"/>
              <a:pPr/>
              <a:t>36</a:t>
            </a:fld>
            <a:endParaRPr lang="en-US" altLang="ja-JP"/>
          </a:p>
        </p:txBody>
      </p:sp>
      <p:sp>
        <p:nvSpPr>
          <p:cNvPr id="757762" name="Rectangle 2">
            <a:extLst>
              <a:ext uri="{FF2B5EF4-FFF2-40B4-BE49-F238E27FC236}">
                <a16:creationId xmlns:a16="http://schemas.microsoft.com/office/drawing/2014/main" id="{E21163A0-59CB-71E0-C638-7EC79D8B70EB}"/>
              </a:ext>
            </a:extLst>
          </p:cNvPr>
          <p:cNvSpPr>
            <a:spLocks noGrp="1" noChangeArrowheads="1"/>
          </p:cNvSpPr>
          <p:nvPr>
            <p:ph type="title"/>
          </p:nvPr>
        </p:nvSpPr>
        <p:spPr>
          <a:xfrm>
            <a:off x="344488" y="301106"/>
            <a:ext cx="9217025" cy="490537"/>
          </a:xfrm>
        </p:spPr>
        <p:txBody>
          <a:bodyPr>
            <a:normAutofit fontScale="90000"/>
          </a:bodyPr>
          <a:lstStyle/>
          <a:p>
            <a:r>
              <a:rPr lang="en-US" altLang="ja-JP" dirty="0" err="1">
                <a:latin typeface="+mj-lt"/>
                <a:ea typeface="MS UI Gothic" panose="020B0600070205080204" pitchFamily="50" charset="-128"/>
              </a:rPr>
              <a:t>Câu</a:t>
            </a:r>
            <a:r>
              <a:rPr lang="en-US" altLang="ja-JP" dirty="0">
                <a:latin typeface="+mj-lt"/>
                <a:ea typeface="MS UI Gothic" panose="020B0600070205080204" pitchFamily="50" charset="-128"/>
              </a:rPr>
              <a:t> </a:t>
            </a:r>
            <a:r>
              <a:rPr lang="en-US" altLang="ja-JP" dirty="0" err="1">
                <a:latin typeface="+mj-lt"/>
                <a:ea typeface="MS UI Gothic" panose="020B0600070205080204" pitchFamily="50" charset="-128"/>
              </a:rPr>
              <a:t>lệnh</a:t>
            </a:r>
            <a:r>
              <a:rPr lang="en-US" altLang="ja-JP" dirty="0">
                <a:latin typeface="+mj-lt"/>
                <a:ea typeface="MS UI Gothic" panose="020B0600070205080204" pitchFamily="50" charset="-128"/>
              </a:rPr>
              <a:t> </a:t>
            </a:r>
            <a:r>
              <a:rPr lang="en-US" altLang="ja-JP" dirty="0">
                <a:latin typeface="+mj-lt"/>
                <a:ea typeface="ＭＳ ゴシック" panose="020B0609070205080204" pitchFamily="49" charset="-128"/>
              </a:rPr>
              <a:t>for</a:t>
            </a:r>
            <a:r>
              <a:rPr lang="ja-JP" altLang="en-US" dirty="0">
                <a:latin typeface="+mj-lt"/>
                <a:ea typeface="MS UI Gothic" panose="020B0600070205080204" pitchFamily="50" charset="-128"/>
              </a:rPr>
              <a:t>（</a:t>
            </a:r>
            <a:r>
              <a:rPr lang="en-US" altLang="ja-JP" dirty="0">
                <a:latin typeface="+mj-lt"/>
                <a:ea typeface="MS UI Gothic" panose="020B0600070205080204" pitchFamily="50" charset="-128"/>
              </a:rPr>
              <a:t>1</a:t>
            </a:r>
            <a:r>
              <a:rPr lang="ja-JP" altLang="en-US" dirty="0">
                <a:latin typeface="+mj-lt"/>
                <a:ea typeface="MS UI Gothic" panose="020B0600070205080204" pitchFamily="50" charset="-128"/>
              </a:rPr>
              <a:t>）</a:t>
            </a:r>
          </a:p>
        </p:txBody>
      </p:sp>
      <p:sp>
        <p:nvSpPr>
          <p:cNvPr id="757763" name="Rectangle 3">
            <a:extLst>
              <a:ext uri="{FF2B5EF4-FFF2-40B4-BE49-F238E27FC236}">
                <a16:creationId xmlns:a16="http://schemas.microsoft.com/office/drawing/2014/main" id="{FBC39620-BE30-B0BA-82BD-933F566DB00C}"/>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57764" name="Rectangle 4">
            <a:extLst>
              <a:ext uri="{FF2B5EF4-FFF2-40B4-BE49-F238E27FC236}">
                <a16:creationId xmlns:a16="http://schemas.microsoft.com/office/drawing/2014/main" id="{FAA82BE0-3925-2820-437B-DCE344AE24E3}"/>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ＭＳ ゴシック" panose="020B0609070205080204" pitchFamily="49" charset="-128"/>
                <a:ea typeface="ＭＳ ゴシック" panose="020B0609070205080204" pitchFamily="49" charset="-128"/>
              </a:rPr>
              <a:t>Câu lệnh for</a:t>
            </a:r>
            <a:endParaRPr lang="en-US" altLang="ja-JP" sz="2400" b="0"/>
          </a:p>
          <a:p>
            <a:pPr>
              <a:spcBef>
                <a:spcPct val="50000"/>
              </a:spcBef>
              <a:buFont typeface="Wingdings" panose="05000000000000000000" pitchFamily="2" charset="2"/>
              <a:buNone/>
            </a:pPr>
            <a:r>
              <a:rPr lang="en-US" altLang="ja-JP" sz="2000" b="0"/>
              <a:t>●Cú pháp  cơ bản</a:t>
            </a:r>
            <a:endParaRPr lang="en-US" altLang="ja-JP" sz="2400" b="0"/>
          </a:p>
          <a:p>
            <a:pPr lvl="1"/>
            <a:endParaRPr lang="en-US" altLang="ja-JP" sz="2400" b="0"/>
          </a:p>
        </p:txBody>
      </p:sp>
      <p:sp>
        <p:nvSpPr>
          <p:cNvPr id="757765" name="Text Box 5">
            <a:extLst>
              <a:ext uri="{FF2B5EF4-FFF2-40B4-BE49-F238E27FC236}">
                <a16:creationId xmlns:a16="http://schemas.microsoft.com/office/drawing/2014/main" id="{8C8CD342-313D-6D00-ADB0-4C571610621F}"/>
              </a:ext>
            </a:extLst>
          </p:cNvPr>
          <p:cNvSpPr txBox="1">
            <a:spLocks noChangeArrowheads="1"/>
          </p:cNvSpPr>
          <p:nvPr/>
        </p:nvSpPr>
        <p:spPr bwMode="auto">
          <a:xfrm>
            <a:off x="344488" y="1751013"/>
            <a:ext cx="9120187" cy="11493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latin typeface="ＭＳ ゴシック" panose="020B0609070205080204" pitchFamily="49" charset="-128"/>
                <a:ea typeface="ＭＳ ゴシック" panose="020B0609070205080204" pitchFamily="49" charset="-128"/>
              </a:rPr>
              <a:t>for (setting giá trị khởi tạo của biến số counter; </a:t>
            </a:r>
            <a:r>
              <a:rPr lang="en-US" altLang="ja-JP" sz="2000">
                <a:latin typeface="MS UI Gothic" panose="020B0600070205080204" pitchFamily="50" charset="-128"/>
                <a:ea typeface="MS UI Gothic" panose="020B0600070205080204" pitchFamily="50" charset="-128"/>
              </a:rPr>
              <a:t>Biểu thức điều kiện</a:t>
            </a:r>
            <a:r>
              <a:rPr lang="en-US" altLang="ja-JP" sz="2000">
                <a:latin typeface="ＭＳ ゴシック" panose="020B0609070205080204" pitchFamily="49" charset="-128"/>
                <a:ea typeface="ＭＳ ゴシック" panose="020B0609070205080204" pitchFamily="49" charset="-128"/>
              </a:rPr>
              <a:t>; tăng giảm biến số counter) {</a:t>
            </a:r>
          </a:p>
          <a:p>
            <a:pPr lvl="1" algn="just">
              <a:lnSpc>
                <a:spcPct val="112000"/>
              </a:lnSpc>
            </a:pPr>
            <a:r>
              <a:rPr lang="en-US" altLang="ja-JP" sz="2000">
                <a:latin typeface="ＭＳ ゴシック" panose="020B0609070205080204" pitchFamily="49" charset="-128"/>
                <a:ea typeface="ＭＳ ゴシック" panose="020B0609070205080204" pitchFamily="49" charset="-128"/>
              </a:rPr>
              <a:t> </a:t>
            </a:r>
            <a:r>
              <a:rPr lang="en-US" altLang="ja-JP" sz="2000">
                <a:ea typeface="MS UI Gothic" panose="020B0600070205080204" pitchFamily="50" charset="-128"/>
              </a:rPr>
              <a:t>Xử l</a:t>
            </a:r>
            <a:r>
              <a:rPr lang="en-US" altLang="ja-JP" sz="2000">
                <a:latin typeface="MS UI Gothic" panose="020B0600070205080204" pitchFamily="50" charset="-128"/>
                <a:ea typeface="MS UI Gothic" panose="020B0600070205080204" pitchFamily="50" charset="-128"/>
              </a:rPr>
              <a:t>í</a:t>
            </a:r>
            <a:r>
              <a:rPr lang="en-US" altLang="ja-JP" sz="2000">
                <a:ea typeface="MS UI Gothic" panose="020B0600070205080204" pitchFamily="50" charset="-128"/>
              </a:rPr>
              <a:t> muốn lặp khi điều kiện l</a:t>
            </a:r>
            <a:r>
              <a:rPr lang="en-US" altLang="ja-JP" sz="2000">
                <a:latin typeface="MS UI Gothic" panose="020B0600070205080204" pitchFamily="50" charset="-128"/>
                <a:ea typeface="MS UI Gothic" panose="020B0600070205080204" pitchFamily="50" charset="-128"/>
              </a:rPr>
              <a:t>à</a:t>
            </a:r>
            <a:r>
              <a:rPr lang="en-US" altLang="ja-JP" sz="2000">
                <a:ea typeface="MS UI Gothic" panose="020B0600070205080204" pitchFamily="50" charset="-128"/>
              </a:rPr>
              <a:t> true</a:t>
            </a:r>
            <a:endParaRPr lang="en-US" altLang="ja-JP" sz="2000">
              <a:latin typeface="MS UI Gothic" panose="020B0600070205080204" pitchFamily="50" charset="-128"/>
              <a:ea typeface="MS UI Gothic" panose="020B0600070205080204" pitchFamily="50" charset="-128"/>
            </a:endParaRPr>
          </a:p>
          <a:p>
            <a:pPr lvl="1" algn="just">
              <a:lnSpc>
                <a:spcPct val="112000"/>
              </a:lnSpc>
            </a:pPr>
            <a:r>
              <a:rPr lang="en-US" altLang="ja-JP" sz="2000">
                <a:latin typeface="ＭＳ ゴシック" panose="020B0609070205080204" pitchFamily="49" charset="-128"/>
                <a:ea typeface="ＭＳ ゴシック" panose="020B0609070205080204" pitchFamily="49" charset="-128"/>
              </a:rPr>
              <a:t>}</a:t>
            </a:r>
          </a:p>
        </p:txBody>
      </p:sp>
      <p:sp>
        <p:nvSpPr>
          <p:cNvPr id="757766" name="Rectangle 6">
            <a:extLst>
              <a:ext uri="{FF2B5EF4-FFF2-40B4-BE49-F238E27FC236}">
                <a16:creationId xmlns:a16="http://schemas.microsoft.com/office/drawing/2014/main" id="{61C46E17-7198-9EDF-D506-657F74E44ABE}"/>
              </a:ext>
            </a:extLst>
          </p:cNvPr>
          <p:cNvSpPr>
            <a:spLocks noChangeArrowheads="1"/>
          </p:cNvSpPr>
          <p:nvPr/>
        </p:nvSpPr>
        <p:spPr bwMode="auto">
          <a:xfrm>
            <a:off x="344488" y="30956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●Ví dụ</a:t>
            </a:r>
            <a:endParaRPr lang="en-US" altLang="ja-JP" sz="2400" b="0"/>
          </a:p>
        </p:txBody>
      </p:sp>
      <p:sp>
        <p:nvSpPr>
          <p:cNvPr id="757785" name="Rectangle 25">
            <a:extLst>
              <a:ext uri="{FF2B5EF4-FFF2-40B4-BE49-F238E27FC236}">
                <a16:creationId xmlns:a16="http://schemas.microsoft.com/office/drawing/2014/main" id="{E9E0C402-6BA3-819F-8006-7812BD6D2C38}"/>
              </a:ext>
            </a:extLst>
          </p:cNvPr>
          <p:cNvSpPr>
            <a:spLocks noChangeArrowheads="1"/>
          </p:cNvSpPr>
          <p:nvPr/>
        </p:nvSpPr>
        <p:spPr bwMode="auto">
          <a:xfrm>
            <a:off x="498475" y="2105025"/>
            <a:ext cx="3254375" cy="3460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57787" name="AutoShape 27">
            <a:extLst>
              <a:ext uri="{FF2B5EF4-FFF2-40B4-BE49-F238E27FC236}">
                <a16:creationId xmlns:a16="http://schemas.microsoft.com/office/drawing/2014/main" id="{AB131E3E-C214-7AF8-04D5-8E5B8B1D2F4F}"/>
              </a:ext>
            </a:extLst>
          </p:cNvPr>
          <p:cNvSpPr>
            <a:spLocks noChangeArrowheads="1"/>
          </p:cNvSpPr>
          <p:nvPr/>
        </p:nvSpPr>
        <p:spPr bwMode="auto">
          <a:xfrm>
            <a:off x="2768600" y="688975"/>
            <a:ext cx="6240463" cy="735013"/>
          </a:xfrm>
          <a:prstGeom prst="wedgeRoundRectCallout">
            <a:avLst>
              <a:gd name="adj1" fmla="val -34789"/>
              <a:gd name="adj2" fmla="val 96961"/>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dirty="0" err="1">
                <a:latin typeface="+mj-lt"/>
                <a:ea typeface="MS UI Gothic" panose="020B0600070205080204" pitchFamily="50" charset="-128"/>
              </a:rPr>
              <a:t>Nếu</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xử</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lí</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lặp</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được</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thực</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hiện</a:t>
            </a:r>
            <a:r>
              <a:rPr lang="en-US" altLang="ja-JP" sz="1800" dirty="0">
                <a:latin typeface="+mj-lt"/>
                <a:ea typeface="MS UI Gothic" panose="020B0600070205080204" pitchFamily="50" charset="-128"/>
              </a:rPr>
              <a:t> 1 </a:t>
            </a:r>
            <a:r>
              <a:rPr lang="en-US" altLang="ja-JP" sz="1800" dirty="0" err="1">
                <a:latin typeface="+mj-lt"/>
                <a:ea typeface="MS UI Gothic" panose="020B0600070205080204" pitchFamily="50" charset="-128"/>
              </a:rPr>
              <a:t>lần</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thì</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sẽ</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tự</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động</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tăng</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giảm</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biến</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số</a:t>
            </a:r>
            <a:r>
              <a:rPr lang="en-US" altLang="ja-JP" sz="1800" dirty="0">
                <a:latin typeface="+mj-lt"/>
                <a:ea typeface="MS UI Gothic" panose="020B0600070205080204" pitchFamily="50" charset="-128"/>
              </a:rPr>
              <a:t> counter </a:t>
            </a:r>
            <a:r>
              <a:rPr lang="en-US" altLang="ja-JP" sz="1800" dirty="0" err="1">
                <a:latin typeface="+mj-lt"/>
                <a:ea typeface="MS UI Gothic" panose="020B0600070205080204" pitchFamily="50" charset="-128"/>
              </a:rPr>
              <a:t>với</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số</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đã</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được</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chỉ</a:t>
            </a:r>
            <a:r>
              <a:rPr lang="en-US" altLang="ja-JP" sz="1800" dirty="0">
                <a:latin typeface="+mj-lt"/>
                <a:ea typeface="MS UI Gothic" panose="020B0600070205080204" pitchFamily="50" charset="-128"/>
              </a:rPr>
              <a:t> </a:t>
            </a:r>
            <a:r>
              <a:rPr lang="en-US" altLang="ja-JP" sz="1800" dirty="0" err="1">
                <a:latin typeface="+mj-lt"/>
                <a:ea typeface="MS UI Gothic" panose="020B0600070205080204" pitchFamily="50" charset="-128"/>
              </a:rPr>
              <a:t>định</a:t>
            </a:r>
            <a:endParaRPr lang="en-US" altLang="ja-JP" sz="1800" dirty="0">
              <a:latin typeface="+mj-lt"/>
              <a:ea typeface="MS UI Gothic" panose="020B0600070205080204" pitchFamily="50" charset="-128"/>
            </a:endParaRPr>
          </a:p>
        </p:txBody>
      </p:sp>
      <p:grpSp>
        <p:nvGrpSpPr>
          <p:cNvPr id="757808" name="Group 48">
            <a:extLst>
              <a:ext uri="{FF2B5EF4-FFF2-40B4-BE49-F238E27FC236}">
                <a16:creationId xmlns:a16="http://schemas.microsoft.com/office/drawing/2014/main" id="{6E41A6DE-66E5-DCAE-21A4-DC5E67446B45}"/>
              </a:ext>
            </a:extLst>
          </p:cNvPr>
          <p:cNvGrpSpPr>
            <a:grpSpLocks/>
          </p:cNvGrpSpPr>
          <p:nvPr/>
        </p:nvGrpSpPr>
        <p:grpSpPr bwMode="auto">
          <a:xfrm>
            <a:off x="5395913" y="3032125"/>
            <a:ext cx="4068762" cy="3335338"/>
            <a:chOff x="3399" y="1910"/>
            <a:chExt cx="2563" cy="2101"/>
          </a:xfrm>
        </p:grpSpPr>
        <p:grpSp>
          <p:nvGrpSpPr>
            <p:cNvPr id="757809" name="Group 49">
              <a:extLst>
                <a:ext uri="{FF2B5EF4-FFF2-40B4-BE49-F238E27FC236}">
                  <a16:creationId xmlns:a16="http://schemas.microsoft.com/office/drawing/2014/main" id="{D0BB617D-6B14-700C-DC94-83C6C3214ECA}"/>
                </a:ext>
              </a:extLst>
            </p:cNvPr>
            <p:cNvGrpSpPr>
              <a:grpSpLocks/>
            </p:cNvGrpSpPr>
            <p:nvPr/>
          </p:nvGrpSpPr>
          <p:grpSpPr bwMode="auto">
            <a:xfrm>
              <a:off x="3399" y="1910"/>
              <a:ext cx="2563" cy="2101"/>
              <a:chOff x="3399" y="1910"/>
              <a:chExt cx="2563" cy="2101"/>
            </a:xfrm>
          </p:grpSpPr>
          <p:sp>
            <p:nvSpPr>
              <p:cNvPr id="757810" name="Rectangle 50">
                <a:extLst>
                  <a:ext uri="{FF2B5EF4-FFF2-40B4-BE49-F238E27FC236}">
                    <a16:creationId xmlns:a16="http://schemas.microsoft.com/office/drawing/2014/main" id="{31DF6324-2A7A-DF7C-4ED9-FCA21EAF7212}"/>
                  </a:ext>
                </a:extLst>
              </p:cNvPr>
              <p:cNvSpPr>
                <a:spLocks noChangeArrowheads="1"/>
              </p:cNvSpPr>
              <p:nvPr/>
            </p:nvSpPr>
            <p:spPr bwMode="auto">
              <a:xfrm>
                <a:off x="3399" y="1910"/>
                <a:ext cx="2563" cy="2101"/>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nvGrpSpPr>
              <p:cNvPr id="757811" name="Group 51">
                <a:extLst>
                  <a:ext uri="{FF2B5EF4-FFF2-40B4-BE49-F238E27FC236}">
                    <a16:creationId xmlns:a16="http://schemas.microsoft.com/office/drawing/2014/main" id="{F62385D8-8CB6-8EF8-5514-E6EA08B13139}"/>
                  </a:ext>
                </a:extLst>
              </p:cNvPr>
              <p:cNvGrpSpPr>
                <a:grpSpLocks/>
              </p:cNvGrpSpPr>
              <p:nvPr/>
            </p:nvGrpSpPr>
            <p:grpSpPr bwMode="auto">
              <a:xfrm>
                <a:off x="3569" y="1944"/>
                <a:ext cx="2180" cy="2023"/>
                <a:chOff x="3569" y="1944"/>
                <a:chExt cx="2180" cy="2023"/>
              </a:xfrm>
            </p:grpSpPr>
            <p:sp>
              <p:nvSpPr>
                <p:cNvPr id="757812" name="Line 52">
                  <a:extLst>
                    <a:ext uri="{FF2B5EF4-FFF2-40B4-BE49-F238E27FC236}">
                      <a16:creationId xmlns:a16="http://schemas.microsoft.com/office/drawing/2014/main" id="{CD5278A6-48A2-D309-6EED-7EEC50480AA3}"/>
                    </a:ext>
                  </a:extLst>
                </p:cNvPr>
                <p:cNvSpPr>
                  <a:spLocks noChangeShapeType="1"/>
                </p:cNvSpPr>
                <p:nvPr/>
              </p:nvSpPr>
              <p:spPr bwMode="auto">
                <a:xfrm>
                  <a:off x="4542" y="2653"/>
                  <a:ext cx="0" cy="104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13" name="AutoShape 53">
                  <a:extLst>
                    <a:ext uri="{FF2B5EF4-FFF2-40B4-BE49-F238E27FC236}">
                      <a16:creationId xmlns:a16="http://schemas.microsoft.com/office/drawing/2014/main" id="{3718210A-55ED-234C-68FC-EC20D1A74AC4}"/>
                    </a:ext>
                  </a:extLst>
                </p:cNvPr>
                <p:cNvSpPr>
                  <a:spLocks noChangeArrowheads="1"/>
                </p:cNvSpPr>
                <p:nvPr/>
              </p:nvSpPr>
              <p:spPr bwMode="auto">
                <a:xfrm>
                  <a:off x="3771" y="2530"/>
                  <a:ext cx="1531" cy="358"/>
                </a:xfrm>
                <a:prstGeom prst="flowChartDecision">
                  <a:avLst/>
                </a:prstGeom>
                <a:solidFill>
                  <a:srgbClr val="CCFFCC"/>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nchor="ctr" anchorCtr="1"/>
                <a:lstStyle/>
                <a:p>
                  <a:pPr algn="ctr"/>
                  <a:r>
                    <a:rPr lang="en-US" altLang="ja-JP" sz="1600" b="0">
                      <a:latin typeface="MS UI Gothic" panose="020B0600070205080204" pitchFamily="50" charset="-128"/>
                    </a:rPr>
                    <a:t>Cnt&lt;=10</a:t>
                  </a:r>
                  <a:r>
                    <a:rPr lang="ja-JP" altLang="en-US" sz="1600" b="0">
                      <a:latin typeface="MS UI Gothic" panose="020B0600070205080204" pitchFamily="50" charset="-128"/>
                    </a:rPr>
                    <a:t>？（②）</a:t>
                  </a:r>
                  <a:endParaRPr lang="ja-JP" altLang="en-US" sz="1600">
                    <a:latin typeface="MS UI Gothic" panose="020B0600070205080204" pitchFamily="50" charset="-128"/>
                  </a:endParaRPr>
                </a:p>
              </p:txBody>
            </p:sp>
            <p:sp>
              <p:nvSpPr>
                <p:cNvPr id="757814" name="AutoShape 54">
                  <a:extLst>
                    <a:ext uri="{FF2B5EF4-FFF2-40B4-BE49-F238E27FC236}">
                      <a16:creationId xmlns:a16="http://schemas.microsoft.com/office/drawing/2014/main" id="{5CE79083-0CC7-A59E-773C-1760BF8ECBD0}"/>
                    </a:ext>
                  </a:extLst>
                </p:cNvPr>
                <p:cNvSpPr>
                  <a:spLocks noChangeArrowheads="1"/>
                </p:cNvSpPr>
                <p:nvPr/>
              </p:nvSpPr>
              <p:spPr bwMode="auto">
                <a:xfrm>
                  <a:off x="3769" y="3068"/>
                  <a:ext cx="1558" cy="211"/>
                </a:xfrm>
                <a:prstGeom prst="flowChartProcess">
                  <a:avLst/>
                </a:prstGeom>
                <a:solidFill>
                  <a:srgbClr val="FFCC99"/>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600" b="0">
                      <a:latin typeface="MS UI Gothic" panose="020B0600070205080204" pitchFamily="50" charset="-128"/>
                    </a:rPr>
                    <a:t>Xử lí lặp</a:t>
                  </a:r>
                  <a:r>
                    <a:rPr lang="ja-JP" altLang="en-US" sz="1600" b="0">
                      <a:latin typeface="MS UI Gothic" panose="020B0600070205080204" pitchFamily="50" charset="-128"/>
                    </a:rPr>
                    <a:t>（④）</a:t>
                  </a:r>
                  <a:endParaRPr lang="ja-JP" altLang="en-US" sz="1600">
                    <a:latin typeface="MS UI Gothic" panose="020B0600070205080204" pitchFamily="50" charset="-128"/>
                  </a:endParaRPr>
                </a:p>
              </p:txBody>
            </p:sp>
            <p:sp>
              <p:nvSpPr>
                <p:cNvPr id="757815" name="Line 55">
                  <a:extLst>
                    <a:ext uri="{FF2B5EF4-FFF2-40B4-BE49-F238E27FC236}">
                      <a16:creationId xmlns:a16="http://schemas.microsoft.com/office/drawing/2014/main" id="{E56AB72F-8C9C-3BFB-23D3-0CF9F1D2C260}"/>
                    </a:ext>
                  </a:extLst>
                </p:cNvPr>
                <p:cNvSpPr>
                  <a:spLocks noChangeShapeType="1"/>
                </p:cNvSpPr>
                <p:nvPr/>
              </p:nvSpPr>
              <p:spPr bwMode="auto">
                <a:xfrm flipV="1">
                  <a:off x="5319" y="2706"/>
                  <a:ext cx="219"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16" name="Line 56">
                  <a:extLst>
                    <a:ext uri="{FF2B5EF4-FFF2-40B4-BE49-F238E27FC236}">
                      <a16:creationId xmlns:a16="http://schemas.microsoft.com/office/drawing/2014/main" id="{D375F08D-83F3-B364-38C5-DE87B2312776}"/>
                    </a:ext>
                  </a:extLst>
                </p:cNvPr>
                <p:cNvSpPr>
                  <a:spLocks noChangeShapeType="1"/>
                </p:cNvSpPr>
                <p:nvPr/>
              </p:nvSpPr>
              <p:spPr bwMode="auto">
                <a:xfrm flipH="1">
                  <a:off x="3571" y="2389"/>
                  <a:ext cx="9" cy="1314"/>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17" name="Text Box 57">
                  <a:extLst>
                    <a:ext uri="{FF2B5EF4-FFF2-40B4-BE49-F238E27FC236}">
                      <a16:creationId xmlns:a16="http://schemas.microsoft.com/office/drawing/2014/main" id="{51B01802-A9A5-117F-7B33-D98988A81E0D}"/>
                    </a:ext>
                  </a:extLst>
                </p:cNvPr>
                <p:cNvSpPr txBox="1">
                  <a:spLocks noChangeArrowheads="1"/>
                </p:cNvSpPr>
                <p:nvPr/>
              </p:nvSpPr>
              <p:spPr bwMode="auto">
                <a:xfrm>
                  <a:off x="4608" y="2879"/>
                  <a:ext cx="468" cy="10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600" b="0">
                      <a:latin typeface="MS UI Gothic" panose="020B0600070205080204" pitchFamily="50" charset="-128"/>
                    </a:rPr>
                    <a:t>true</a:t>
                  </a:r>
                  <a:endParaRPr lang="en-US" altLang="ja-JP" sz="1600">
                    <a:latin typeface="MS UI Gothic" panose="020B0600070205080204" pitchFamily="50" charset="-128"/>
                  </a:endParaRPr>
                </a:p>
              </p:txBody>
            </p:sp>
            <p:sp>
              <p:nvSpPr>
                <p:cNvPr id="757818" name="Text Box 58">
                  <a:extLst>
                    <a:ext uri="{FF2B5EF4-FFF2-40B4-BE49-F238E27FC236}">
                      <a16:creationId xmlns:a16="http://schemas.microsoft.com/office/drawing/2014/main" id="{4BEE95E0-F8B9-D74E-3812-3FBB7B0E046D}"/>
                    </a:ext>
                  </a:extLst>
                </p:cNvPr>
                <p:cNvSpPr txBox="1">
                  <a:spLocks noChangeArrowheads="1"/>
                </p:cNvSpPr>
                <p:nvPr/>
              </p:nvSpPr>
              <p:spPr bwMode="auto">
                <a:xfrm>
                  <a:off x="5282" y="2507"/>
                  <a:ext cx="467" cy="1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lnSpc>
                      <a:spcPct val="96000"/>
                    </a:lnSpc>
                  </a:pPr>
                  <a:r>
                    <a:rPr lang="en-US" altLang="ja-JP" sz="1600" b="0">
                      <a:latin typeface="MS UI Gothic" panose="020B0600070205080204" pitchFamily="50" charset="-128"/>
                    </a:rPr>
                    <a:t>false</a:t>
                  </a:r>
                  <a:endParaRPr lang="en-US" altLang="ja-JP" sz="1600">
                    <a:latin typeface="MS UI Gothic" panose="020B0600070205080204" pitchFamily="50" charset="-128"/>
                  </a:endParaRPr>
                </a:p>
              </p:txBody>
            </p:sp>
            <p:sp>
              <p:nvSpPr>
                <p:cNvPr id="757819" name="Line 59">
                  <a:extLst>
                    <a:ext uri="{FF2B5EF4-FFF2-40B4-BE49-F238E27FC236}">
                      <a16:creationId xmlns:a16="http://schemas.microsoft.com/office/drawing/2014/main" id="{8AAEE207-D97A-9C54-7EC6-78F79F3A4294}"/>
                    </a:ext>
                  </a:extLst>
                </p:cNvPr>
                <p:cNvSpPr>
                  <a:spLocks noChangeShapeType="1"/>
                </p:cNvSpPr>
                <p:nvPr/>
              </p:nvSpPr>
              <p:spPr bwMode="auto">
                <a:xfrm>
                  <a:off x="5542" y="2701"/>
                  <a:ext cx="0" cy="1122"/>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20" name="Line 60">
                  <a:extLst>
                    <a:ext uri="{FF2B5EF4-FFF2-40B4-BE49-F238E27FC236}">
                      <a16:creationId xmlns:a16="http://schemas.microsoft.com/office/drawing/2014/main" id="{BE7B6DD4-9CBE-83FB-3054-AA5F55330B60}"/>
                    </a:ext>
                  </a:extLst>
                </p:cNvPr>
                <p:cNvSpPr>
                  <a:spLocks noChangeShapeType="1"/>
                </p:cNvSpPr>
                <p:nvPr/>
              </p:nvSpPr>
              <p:spPr bwMode="auto">
                <a:xfrm>
                  <a:off x="4552" y="3819"/>
                  <a:ext cx="995"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21" name="Line 61">
                  <a:extLst>
                    <a:ext uri="{FF2B5EF4-FFF2-40B4-BE49-F238E27FC236}">
                      <a16:creationId xmlns:a16="http://schemas.microsoft.com/office/drawing/2014/main" id="{B4313EE5-F4F2-2674-444D-9FB0DD54ABD1}"/>
                    </a:ext>
                  </a:extLst>
                </p:cNvPr>
                <p:cNvSpPr>
                  <a:spLocks noChangeShapeType="1"/>
                </p:cNvSpPr>
                <p:nvPr/>
              </p:nvSpPr>
              <p:spPr bwMode="auto">
                <a:xfrm>
                  <a:off x="4555" y="3813"/>
                  <a:ext cx="0" cy="154"/>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22" name="Line 62">
                  <a:extLst>
                    <a:ext uri="{FF2B5EF4-FFF2-40B4-BE49-F238E27FC236}">
                      <a16:creationId xmlns:a16="http://schemas.microsoft.com/office/drawing/2014/main" id="{7B215AEC-0177-6C7F-959F-2D147637F13B}"/>
                    </a:ext>
                  </a:extLst>
                </p:cNvPr>
                <p:cNvSpPr>
                  <a:spLocks noChangeShapeType="1"/>
                </p:cNvSpPr>
                <p:nvPr/>
              </p:nvSpPr>
              <p:spPr bwMode="auto">
                <a:xfrm>
                  <a:off x="4539" y="1944"/>
                  <a:ext cx="0" cy="596"/>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23" name="Line 63">
                  <a:extLst>
                    <a:ext uri="{FF2B5EF4-FFF2-40B4-BE49-F238E27FC236}">
                      <a16:creationId xmlns:a16="http://schemas.microsoft.com/office/drawing/2014/main" id="{35ACD119-F229-5317-E03B-618DEB0467B2}"/>
                    </a:ext>
                  </a:extLst>
                </p:cNvPr>
                <p:cNvSpPr>
                  <a:spLocks noChangeShapeType="1"/>
                </p:cNvSpPr>
                <p:nvPr/>
              </p:nvSpPr>
              <p:spPr bwMode="auto">
                <a:xfrm flipV="1">
                  <a:off x="3569" y="3699"/>
                  <a:ext cx="979"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24" name="Line 64">
                  <a:extLst>
                    <a:ext uri="{FF2B5EF4-FFF2-40B4-BE49-F238E27FC236}">
                      <a16:creationId xmlns:a16="http://schemas.microsoft.com/office/drawing/2014/main" id="{27B4C617-C156-6F02-DE86-55F7659580A0}"/>
                    </a:ext>
                  </a:extLst>
                </p:cNvPr>
                <p:cNvSpPr>
                  <a:spLocks noChangeShapeType="1"/>
                </p:cNvSpPr>
                <p:nvPr/>
              </p:nvSpPr>
              <p:spPr bwMode="auto">
                <a:xfrm flipV="1">
                  <a:off x="3580" y="2392"/>
                  <a:ext cx="962" cy="0"/>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57825" name="AutoShape 65">
                  <a:extLst>
                    <a:ext uri="{FF2B5EF4-FFF2-40B4-BE49-F238E27FC236}">
                      <a16:creationId xmlns:a16="http://schemas.microsoft.com/office/drawing/2014/main" id="{6EB3F5F7-F1EC-5BD2-DE4E-2AACFE7CA943}"/>
                    </a:ext>
                  </a:extLst>
                </p:cNvPr>
                <p:cNvSpPr>
                  <a:spLocks noChangeArrowheads="1"/>
                </p:cNvSpPr>
                <p:nvPr/>
              </p:nvSpPr>
              <p:spPr bwMode="auto">
                <a:xfrm>
                  <a:off x="3769" y="3384"/>
                  <a:ext cx="1538" cy="211"/>
                </a:xfrm>
                <a:prstGeom prst="flowChartProcess">
                  <a:avLst/>
                </a:prstGeom>
                <a:solidFill>
                  <a:srgbClr val="CCFFCC"/>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600" b="0">
                      <a:latin typeface="MS UI Gothic" panose="020B0600070205080204" pitchFamily="50" charset="-128"/>
                    </a:rPr>
                    <a:t>Tăng giảm biến số counter</a:t>
                  </a:r>
                  <a:r>
                    <a:rPr lang="ja-JP" altLang="en-US" sz="1600" b="0">
                      <a:latin typeface="MS UI Gothic" panose="020B0600070205080204" pitchFamily="50" charset="-128"/>
                    </a:rPr>
                    <a:t>（③）</a:t>
                  </a:r>
                  <a:endParaRPr lang="ja-JP" altLang="en-US" sz="1600">
                    <a:latin typeface="MS UI Gothic" panose="020B0600070205080204" pitchFamily="50" charset="-128"/>
                  </a:endParaRPr>
                </a:p>
              </p:txBody>
            </p:sp>
            <p:sp>
              <p:nvSpPr>
                <p:cNvPr id="757826" name="AutoShape 66">
                  <a:extLst>
                    <a:ext uri="{FF2B5EF4-FFF2-40B4-BE49-F238E27FC236}">
                      <a16:creationId xmlns:a16="http://schemas.microsoft.com/office/drawing/2014/main" id="{C0C3AB58-CFDF-425C-C1C2-CEA1258DADD2}"/>
                    </a:ext>
                  </a:extLst>
                </p:cNvPr>
                <p:cNvSpPr>
                  <a:spLocks noChangeArrowheads="1"/>
                </p:cNvSpPr>
                <p:nvPr/>
              </p:nvSpPr>
              <p:spPr bwMode="auto">
                <a:xfrm>
                  <a:off x="3622" y="2064"/>
                  <a:ext cx="1819" cy="211"/>
                </a:xfrm>
                <a:prstGeom prst="flowChartProcess">
                  <a:avLst/>
                </a:prstGeom>
                <a:solidFill>
                  <a:srgbClr val="CCFFCC"/>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200" b="0" dirty="0">
                      <a:latin typeface="+mj-lt"/>
                    </a:rPr>
                    <a:t>Setting </a:t>
                  </a:r>
                  <a:r>
                    <a:rPr lang="en-US" altLang="ja-JP" sz="1200" b="0" dirty="0" err="1">
                      <a:latin typeface="+mj-lt"/>
                    </a:rPr>
                    <a:t>giá</a:t>
                  </a:r>
                  <a:r>
                    <a:rPr lang="en-US" altLang="ja-JP" sz="1200" b="0" dirty="0">
                      <a:latin typeface="+mj-lt"/>
                    </a:rPr>
                    <a:t> </a:t>
                  </a:r>
                  <a:r>
                    <a:rPr lang="en-US" altLang="ja-JP" sz="1200" b="0" dirty="0" err="1">
                      <a:latin typeface="+mj-lt"/>
                    </a:rPr>
                    <a:t>trị</a:t>
                  </a:r>
                  <a:r>
                    <a:rPr lang="en-US" altLang="ja-JP" sz="1200" b="0" dirty="0">
                      <a:latin typeface="+mj-lt"/>
                    </a:rPr>
                    <a:t> </a:t>
                  </a:r>
                  <a:r>
                    <a:rPr lang="en-US" altLang="ja-JP" sz="1200" b="0" dirty="0" err="1">
                      <a:latin typeface="+mj-lt"/>
                    </a:rPr>
                    <a:t>khởi</a:t>
                  </a:r>
                  <a:r>
                    <a:rPr lang="en-US" altLang="ja-JP" sz="1200" b="0" dirty="0">
                      <a:latin typeface="+mj-lt"/>
                    </a:rPr>
                    <a:t> </a:t>
                  </a:r>
                  <a:r>
                    <a:rPr lang="en-US" altLang="ja-JP" sz="1200" b="0" dirty="0" err="1">
                      <a:latin typeface="+mj-lt"/>
                    </a:rPr>
                    <a:t>tạo</a:t>
                  </a:r>
                  <a:r>
                    <a:rPr lang="en-US" altLang="ja-JP" sz="1200" b="0" dirty="0">
                      <a:latin typeface="+mj-lt"/>
                    </a:rPr>
                    <a:t> </a:t>
                  </a:r>
                  <a:r>
                    <a:rPr lang="en-US" altLang="ja-JP" sz="1200" b="0" dirty="0" err="1">
                      <a:latin typeface="+mj-lt"/>
                    </a:rPr>
                    <a:t>của</a:t>
                  </a:r>
                  <a:r>
                    <a:rPr lang="en-US" altLang="ja-JP" sz="1200" b="0" dirty="0">
                      <a:latin typeface="+mj-lt"/>
                    </a:rPr>
                    <a:t> </a:t>
                  </a:r>
                  <a:r>
                    <a:rPr lang="en-US" altLang="ja-JP" sz="1200" b="0" dirty="0" err="1">
                      <a:latin typeface="+mj-lt"/>
                    </a:rPr>
                    <a:t>biến</a:t>
                  </a:r>
                  <a:r>
                    <a:rPr lang="en-US" altLang="ja-JP" sz="1200" b="0" dirty="0">
                      <a:latin typeface="+mj-lt"/>
                    </a:rPr>
                    <a:t> </a:t>
                  </a:r>
                  <a:r>
                    <a:rPr lang="en-US" altLang="ja-JP" sz="1200" b="0" dirty="0" err="1">
                      <a:latin typeface="+mj-lt"/>
                    </a:rPr>
                    <a:t>số</a:t>
                  </a:r>
                  <a:r>
                    <a:rPr lang="en-US" altLang="ja-JP" sz="1200" b="0" dirty="0">
                      <a:latin typeface="+mj-lt"/>
                    </a:rPr>
                    <a:t> counter</a:t>
                  </a:r>
                  <a:r>
                    <a:rPr lang="ja-JP" altLang="en-US" sz="1200" b="0" dirty="0">
                      <a:latin typeface="+mj-lt"/>
                    </a:rPr>
                    <a:t>（①）</a:t>
                  </a:r>
                  <a:endParaRPr lang="ja-JP" altLang="en-US" sz="1200" dirty="0">
                    <a:latin typeface="+mj-lt"/>
                  </a:endParaRPr>
                </a:p>
              </p:txBody>
            </p:sp>
          </p:grpSp>
        </p:grpSp>
        <p:sp>
          <p:nvSpPr>
            <p:cNvPr id="757827" name="AutoShape 67">
              <a:extLst>
                <a:ext uri="{FF2B5EF4-FFF2-40B4-BE49-F238E27FC236}">
                  <a16:creationId xmlns:a16="http://schemas.microsoft.com/office/drawing/2014/main" id="{919D25EF-D5CC-A450-0919-6005A631D729}"/>
                </a:ext>
              </a:extLst>
            </p:cNvPr>
            <p:cNvSpPr>
              <a:spLocks noChangeArrowheads="1"/>
            </p:cNvSpPr>
            <p:nvPr/>
          </p:nvSpPr>
          <p:spPr bwMode="auto">
            <a:xfrm>
              <a:off x="5221" y="3315"/>
              <a:ext cx="496" cy="202"/>
            </a:xfrm>
            <a:prstGeom prst="wedgeRoundRectCallout">
              <a:avLst>
                <a:gd name="adj1" fmla="val -65926"/>
                <a:gd name="adj2" fmla="val 59407"/>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r>
                <a:rPr lang="en-US" altLang="ja-JP" sz="1600" b="0">
                  <a:latin typeface="ＭＳ ゴシック" panose="020B0609070205080204" pitchFamily="49" charset="-128"/>
                  <a:ea typeface="ＭＳ ゴシック" panose="020B0609070205080204" pitchFamily="49" charset="-128"/>
                </a:rPr>
                <a:t>cnt++;</a:t>
              </a:r>
            </a:p>
          </p:txBody>
        </p:sp>
        <p:sp>
          <p:nvSpPr>
            <p:cNvPr id="757828" name="AutoShape 68">
              <a:extLst>
                <a:ext uri="{FF2B5EF4-FFF2-40B4-BE49-F238E27FC236}">
                  <a16:creationId xmlns:a16="http://schemas.microsoft.com/office/drawing/2014/main" id="{51AD2D0A-EF62-2919-46BD-761EB08FD164}"/>
                </a:ext>
              </a:extLst>
            </p:cNvPr>
            <p:cNvSpPr>
              <a:spLocks noChangeArrowheads="1"/>
            </p:cNvSpPr>
            <p:nvPr/>
          </p:nvSpPr>
          <p:spPr bwMode="auto">
            <a:xfrm>
              <a:off x="4977" y="2834"/>
              <a:ext cx="875" cy="202"/>
            </a:xfrm>
            <a:prstGeom prst="wedgeRoundRectCallout">
              <a:avLst>
                <a:gd name="adj1" fmla="val -33657"/>
                <a:gd name="adj2" fmla="val 99505"/>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r>
                <a:rPr lang="en-US" altLang="ja-JP" sz="1600" b="0">
                  <a:latin typeface="ＭＳ ゴシック" panose="020B0609070205080204" pitchFamily="49" charset="-128"/>
                  <a:ea typeface="ＭＳ ゴシック" panose="020B0609070205080204" pitchFamily="49" charset="-128"/>
                </a:rPr>
                <a:t> ans += cnt;</a:t>
              </a:r>
            </a:p>
          </p:txBody>
        </p:sp>
      </p:grpSp>
      <p:sp>
        <p:nvSpPr>
          <p:cNvPr id="757829" name="Rectangle 69">
            <a:extLst>
              <a:ext uri="{FF2B5EF4-FFF2-40B4-BE49-F238E27FC236}">
                <a16:creationId xmlns:a16="http://schemas.microsoft.com/office/drawing/2014/main" id="{DB6F724D-625E-ED4F-3508-D1C012D0189F}"/>
              </a:ext>
            </a:extLst>
          </p:cNvPr>
          <p:cNvSpPr>
            <a:spLocks noChangeArrowheads="1"/>
          </p:cNvSpPr>
          <p:nvPr/>
        </p:nvSpPr>
        <p:spPr bwMode="auto">
          <a:xfrm>
            <a:off x="344488" y="3709988"/>
            <a:ext cx="4862512" cy="26781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int ans = 0;</a:t>
            </a:r>
          </a:p>
          <a:p>
            <a:pPr lvl="1"/>
            <a:endParaRPr lang="en-US" altLang="ja-JP" sz="1800" b="0">
              <a:latin typeface="ＭＳ ゴシック" panose="020B0609070205080204" pitchFamily="49" charset="-128"/>
              <a:ea typeface="ＭＳ ゴシック" panose="020B0609070205080204" pitchFamily="49" charset="-128"/>
            </a:endParaRP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for ( int cnt=1;   cnt&lt;=10;   cnt++ ) {</a:t>
            </a:r>
          </a:p>
          <a:p>
            <a:pPr lvl="1">
              <a:spcBef>
                <a:spcPct val="50000"/>
              </a:spcBef>
              <a:spcAft>
                <a:spcPct val="50000"/>
              </a:spcAft>
            </a:pPr>
            <a:r>
              <a:rPr lang="en-US" altLang="ja-JP" sz="1800" b="0">
                <a:latin typeface="ＭＳ ゴシック" panose="020B0609070205080204" pitchFamily="49" charset="-128"/>
                <a:ea typeface="ＭＳ ゴシック" panose="020B0609070205080204" pitchFamily="49" charset="-128"/>
              </a:rPr>
              <a:t>    ans += cnt;</a:t>
            </a:r>
          </a:p>
          <a:p>
            <a:pPr lvl="1"/>
            <a:r>
              <a:rPr lang="en-US" altLang="ja-JP" sz="1800" b="0">
                <a:latin typeface="ＭＳ ゴシック" panose="020B0609070205080204" pitchFamily="49" charset="-128"/>
                <a:ea typeface="ＭＳ ゴシック" panose="020B0609070205080204" pitchFamily="49" charset="-128"/>
              </a:rPr>
              <a:t>}</a:t>
            </a:r>
          </a:p>
          <a:p>
            <a:pPr lvl="1"/>
            <a:r>
              <a:rPr lang="en-US" altLang="ja-JP" sz="1800" b="0">
                <a:latin typeface="ＭＳ ゴシック" panose="020B0609070205080204" pitchFamily="49" charset="-128"/>
                <a:ea typeface="ＭＳ ゴシック" panose="020B0609070205080204" pitchFamily="49" charset="-128"/>
              </a:rPr>
              <a:t>System.out.println(ans);</a:t>
            </a:r>
          </a:p>
        </p:txBody>
      </p:sp>
      <p:sp>
        <p:nvSpPr>
          <p:cNvPr id="757830" name="Rectangle 70">
            <a:extLst>
              <a:ext uri="{FF2B5EF4-FFF2-40B4-BE49-F238E27FC236}">
                <a16:creationId xmlns:a16="http://schemas.microsoft.com/office/drawing/2014/main" id="{553293B2-B699-4302-4191-D49184D91951}"/>
              </a:ext>
            </a:extLst>
          </p:cNvPr>
          <p:cNvSpPr>
            <a:spLocks noChangeArrowheads="1"/>
          </p:cNvSpPr>
          <p:nvPr/>
        </p:nvSpPr>
        <p:spPr bwMode="auto">
          <a:xfrm>
            <a:off x="1268413" y="4635500"/>
            <a:ext cx="1209675" cy="3206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57831" name="Rectangle 71">
            <a:extLst>
              <a:ext uri="{FF2B5EF4-FFF2-40B4-BE49-F238E27FC236}">
                <a16:creationId xmlns:a16="http://schemas.microsoft.com/office/drawing/2014/main" id="{39B8BB09-6BE2-EC57-C6A9-516D99F51E99}"/>
              </a:ext>
            </a:extLst>
          </p:cNvPr>
          <p:cNvSpPr>
            <a:spLocks noChangeArrowheads="1"/>
          </p:cNvSpPr>
          <p:nvPr/>
        </p:nvSpPr>
        <p:spPr bwMode="auto">
          <a:xfrm>
            <a:off x="2640013" y="4635500"/>
            <a:ext cx="1209675" cy="3206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57832" name="Rectangle 72">
            <a:extLst>
              <a:ext uri="{FF2B5EF4-FFF2-40B4-BE49-F238E27FC236}">
                <a16:creationId xmlns:a16="http://schemas.microsoft.com/office/drawing/2014/main" id="{89D6005A-7CAF-40E2-EC26-2F81F7D635DA}"/>
              </a:ext>
            </a:extLst>
          </p:cNvPr>
          <p:cNvSpPr>
            <a:spLocks noChangeArrowheads="1"/>
          </p:cNvSpPr>
          <p:nvPr/>
        </p:nvSpPr>
        <p:spPr bwMode="auto">
          <a:xfrm>
            <a:off x="3973513" y="4635500"/>
            <a:ext cx="696912" cy="3206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57833" name="Text Box 73">
            <a:extLst>
              <a:ext uri="{FF2B5EF4-FFF2-40B4-BE49-F238E27FC236}">
                <a16:creationId xmlns:a16="http://schemas.microsoft.com/office/drawing/2014/main" id="{86C0EFF5-651E-B78C-4A72-98A26E3FCF46}"/>
              </a:ext>
            </a:extLst>
          </p:cNvPr>
          <p:cNvSpPr txBox="1">
            <a:spLocks noChangeArrowheads="1"/>
          </p:cNvSpPr>
          <p:nvPr/>
        </p:nvSpPr>
        <p:spPr bwMode="auto">
          <a:xfrm>
            <a:off x="1657350" y="4090988"/>
            <a:ext cx="431800" cy="3619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r>
              <a:rPr lang="en-US" altLang="ja-JP" sz="1600" b="0">
                <a:latin typeface="MS UI Gothic" panose="020B0600070205080204" pitchFamily="50" charset="-128"/>
              </a:rPr>
              <a:t>①</a:t>
            </a:r>
          </a:p>
        </p:txBody>
      </p:sp>
      <p:cxnSp>
        <p:nvCxnSpPr>
          <p:cNvPr id="757834" name="AutoShape 74">
            <a:extLst>
              <a:ext uri="{FF2B5EF4-FFF2-40B4-BE49-F238E27FC236}">
                <a16:creationId xmlns:a16="http://schemas.microsoft.com/office/drawing/2014/main" id="{FF7DF22B-6C1D-550E-1D72-4E301EB533A6}"/>
              </a:ext>
            </a:extLst>
          </p:cNvPr>
          <p:cNvCxnSpPr>
            <a:cxnSpLocks noChangeShapeType="1"/>
            <a:stCxn id="757833" idx="2"/>
            <a:endCxn id="757830" idx="0"/>
          </p:cNvCxnSpPr>
          <p:nvPr/>
        </p:nvCxnSpPr>
        <p:spPr bwMode="auto">
          <a:xfrm>
            <a:off x="1873250" y="4465638"/>
            <a:ext cx="0" cy="150812"/>
          </a:xfrm>
          <a:prstGeom prst="straightConnector1">
            <a:avLst/>
          </a:prstGeom>
          <a:noFill/>
          <a:ln w="2540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7835" name="Text Box 75">
            <a:extLst>
              <a:ext uri="{FF2B5EF4-FFF2-40B4-BE49-F238E27FC236}">
                <a16:creationId xmlns:a16="http://schemas.microsoft.com/office/drawing/2014/main" id="{67EE3828-B5D5-7F5E-6D71-C60435EEC7ED}"/>
              </a:ext>
            </a:extLst>
          </p:cNvPr>
          <p:cNvSpPr txBox="1">
            <a:spLocks noChangeArrowheads="1"/>
          </p:cNvSpPr>
          <p:nvPr/>
        </p:nvSpPr>
        <p:spPr bwMode="auto">
          <a:xfrm>
            <a:off x="3028950" y="4090988"/>
            <a:ext cx="431800" cy="3619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r>
              <a:rPr lang="en-US" altLang="ja-JP" sz="1600" b="0">
                <a:latin typeface="MS UI Gothic" panose="020B0600070205080204" pitchFamily="50" charset="-128"/>
              </a:rPr>
              <a:t>②</a:t>
            </a:r>
          </a:p>
        </p:txBody>
      </p:sp>
      <p:cxnSp>
        <p:nvCxnSpPr>
          <p:cNvPr id="757836" name="AutoShape 76">
            <a:extLst>
              <a:ext uri="{FF2B5EF4-FFF2-40B4-BE49-F238E27FC236}">
                <a16:creationId xmlns:a16="http://schemas.microsoft.com/office/drawing/2014/main" id="{C815B42E-9079-3091-679F-1B6AB1307A4B}"/>
              </a:ext>
            </a:extLst>
          </p:cNvPr>
          <p:cNvCxnSpPr>
            <a:cxnSpLocks noChangeShapeType="1"/>
            <a:stCxn id="757835" idx="2"/>
            <a:endCxn id="757831" idx="0"/>
          </p:cNvCxnSpPr>
          <p:nvPr/>
        </p:nvCxnSpPr>
        <p:spPr bwMode="auto">
          <a:xfrm>
            <a:off x="3244850" y="4465638"/>
            <a:ext cx="0" cy="150812"/>
          </a:xfrm>
          <a:prstGeom prst="straightConnector1">
            <a:avLst/>
          </a:prstGeom>
          <a:noFill/>
          <a:ln w="2540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7837" name="Text Box 77">
            <a:extLst>
              <a:ext uri="{FF2B5EF4-FFF2-40B4-BE49-F238E27FC236}">
                <a16:creationId xmlns:a16="http://schemas.microsoft.com/office/drawing/2014/main" id="{0A2A7771-D68B-4E1D-BA16-844EBC3AC3C9}"/>
              </a:ext>
            </a:extLst>
          </p:cNvPr>
          <p:cNvSpPr txBox="1">
            <a:spLocks noChangeArrowheads="1"/>
          </p:cNvSpPr>
          <p:nvPr/>
        </p:nvSpPr>
        <p:spPr bwMode="auto">
          <a:xfrm>
            <a:off x="4105275" y="4090988"/>
            <a:ext cx="431800" cy="3619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r>
              <a:rPr lang="en-US" altLang="ja-JP" sz="1600" b="0">
                <a:latin typeface="MS UI Gothic" panose="020B0600070205080204" pitchFamily="50" charset="-128"/>
              </a:rPr>
              <a:t>③</a:t>
            </a:r>
          </a:p>
        </p:txBody>
      </p:sp>
      <p:cxnSp>
        <p:nvCxnSpPr>
          <p:cNvPr id="757838" name="AutoShape 78">
            <a:extLst>
              <a:ext uri="{FF2B5EF4-FFF2-40B4-BE49-F238E27FC236}">
                <a16:creationId xmlns:a16="http://schemas.microsoft.com/office/drawing/2014/main" id="{5CE3D146-2442-1B65-BD9F-1A76FF0600F5}"/>
              </a:ext>
            </a:extLst>
          </p:cNvPr>
          <p:cNvCxnSpPr>
            <a:cxnSpLocks noChangeShapeType="1"/>
            <a:stCxn id="757837" idx="2"/>
            <a:endCxn id="757832" idx="0"/>
          </p:cNvCxnSpPr>
          <p:nvPr/>
        </p:nvCxnSpPr>
        <p:spPr bwMode="auto">
          <a:xfrm>
            <a:off x="4321175" y="4465638"/>
            <a:ext cx="1588" cy="150812"/>
          </a:xfrm>
          <a:prstGeom prst="straightConnector1">
            <a:avLst/>
          </a:prstGeom>
          <a:noFill/>
          <a:ln w="2540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7839" name="Rectangle 79">
            <a:extLst>
              <a:ext uri="{FF2B5EF4-FFF2-40B4-BE49-F238E27FC236}">
                <a16:creationId xmlns:a16="http://schemas.microsoft.com/office/drawing/2014/main" id="{3D8E9BE2-8ED3-04E8-4676-6D9F350A645F}"/>
              </a:ext>
            </a:extLst>
          </p:cNvPr>
          <p:cNvSpPr>
            <a:spLocks noChangeArrowheads="1"/>
          </p:cNvSpPr>
          <p:nvPr/>
        </p:nvSpPr>
        <p:spPr bwMode="auto">
          <a:xfrm>
            <a:off x="817563" y="5075238"/>
            <a:ext cx="3290887" cy="366712"/>
          </a:xfrm>
          <a:prstGeom prst="rect">
            <a:avLst/>
          </a:prstGeom>
          <a:noFill/>
          <a:ln w="2540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57840" name="Text Box 80">
            <a:extLst>
              <a:ext uri="{FF2B5EF4-FFF2-40B4-BE49-F238E27FC236}">
                <a16:creationId xmlns:a16="http://schemas.microsoft.com/office/drawing/2014/main" id="{CAED798B-3378-09AB-3672-4654C4872C9D}"/>
              </a:ext>
            </a:extLst>
          </p:cNvPr>
          <p:cNvSpPr txBox="1">
            <a:spLocks noChangeArrowheads="1"/>
          </p:cNvSpPr>
          <p:nvPr/>
        </p:nvSpPr>
        <p:spPr bwMode="auto">
          <a:xfrm>
            <a:off x="4433888" y="5087938"/>
            <a:ext cx="500062" cy="361950"/>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600" b="0">
                <a:latin typeface="MS UI Gothic" panose="020B0600070205080204" pitchFamily="50" charset="-128"/>
              </a:rPr>
              <a:t>④</a:t>
            </a:r>
          </a:p>
        </p:txBody>
      </p:sp>
      <p:cxnSp>
        <p:nvCxnSpPr>
          <p:cNvPr id="757841" name="AutoShape 81">
            <a:extLst>
              <a:ext uri="{FF2B5EF4-FFF2-40B4-BE49-F238E27FC236}">
                <a16:creationId xmlns:a16="http://schemas.microsoft.com/office/drawing/2014/main" id="{897A061A-0E20-F33E-4124-D0F367A4239D}"/>
              </a:ext>
            </a:extLst>
          </p:cNvPr>
          <p:cNvCxnSpPr>
            <a:cxnSpLocks noChangeShapeType="1"/>
            <a:stCxn id="757840" idx="1"/>
            <a:endCxn id="757839" idx="3"/>
          </p:cNvCxnSpPr>
          <p:nvPr/>
        </p:nvCxnSpPr>
        <p:spPr bwMode="auto">
          <a:xfrm flipH="1" flipV="1">
            <a:off x="4121150" y="5259388"/>
            <a:ext cx="300038" cy="9525"/>
          </a:xfrm>
          <a:prstGeom prst="straightConnector1">
            <a:avLst/>
          </a:prstGeom>
          <a:noFill/>
          <a:ln w="25400">
            <a:solidFill>
              <a:srgbClr val="FF6600"/>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57807" name="AutoShape 47">
            <a:extLst>
              <a:ext uri="{FF2B5EF4-FFF2-40B4-BE49-F238E27FC236}">
                <a16:creationId xmlns:a16="http://schemas.microsoft.com/office/drawing/2014/main" id="{EFBABDCD-942C-3815-0A28-F14BD8F9D20F}"/>
              </a:ext>
            </a:extLst>
          </p:cNvPr>
          <p:cNvSpPr>
            <a:spLocks noChangeArrowheads="1"/>
          </p:cNvSpPr>
          <p:nvPr/>
        </p:nvSpPr>
        <p:spPr bwMode="auto">
          <a:xfrm>
            <a:off x="2020888" y="3060700"/>
            <a:ext cx="3098800" cy="787400"/>
          </a:xfrm>
          <a:prstGeom prst="wedgeRoundRectCallout">
            <a:avLst>
              <a:gd name="adj1" fmla="val 22949"/>
              <a:gd name="adj2" fmla="val 77421"/>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dirty="0" err="1">
                <a:latin typeface="+mj-lt"/>
              </a:rPr>
              <a:t>Xử</a:t>
            </a:r>
            <a:r>
              <a:rPr lang="en-US" altLang="ja-JP" sz="1800" dirty="0">
                <a:latin typeface="+mj-lt"/>
              </a:rPr>
              <a:t> </a:t>
            </a:r>
            <a:r>
              <a:rPr lang="en-US" altLang="ja-JP" sz="1800" dirty="0" err="1">
                <a:latin typeface="+mj-lt"/>
              </a:rPr>
              <a:t>lí</a:t>
            </a:r>
            <a:r>
              <a:rPr lang="en-US" altLang="ja-JP" sz="1800" dirty="0">
                <a:latin typeface="+mj-lt"/>
              </a:rPr>
              <a:t> </a:t>
            </a:r>
            <a:r>
              <a:rPr lang="en-US" altLang="ja-JP" sz="1800" dirty="0" err="1">
                <a:latin typeface="+mj-lt"/>
              </a:rPr>
              <a:t>để</a:t>
            </a:r>
            <a:r>
              <a:rPr lang="en-US" altLang="ja-JP" sz="1800" dirty="0">
                <a:latin typeface="+mj-lt"/>
              </a:rPr>
              <a:t> </a:t>
            </a:r>
            <a:r>
              <a:rPr lang="en-US" altLang="ja-JP" sz="1800" dirty="0" err="1">
                <a:latin typeface="+mj-lt"/>
              </a:rPr>
              <a:t>thay</a:t>
            </a:r>
            <a:r>
              <a:rPr lang="en-US" altLang="ja-JP" sz="1800" dirty="0">
                <a:latin typeface="+mj-lt"/>
              </a:rPr>
              <a:t> </a:t>
            </a:r>
            <a:r>
              <a:rPr lang="en-US" altLang="ja-JP" sz="1800" dirty="0" err="1">
                <a:latin typeface="+mj-lt"/>
              </a:rPr>
              <a:t>đổi</a:t>
            </a:r>
            <a:r>
              <a:rPr lang="en-US" altLang="ja-JP" sz="1800" dirty="0">
                <a:latin typeface="+mj-lt"/>
              </a:rPr>
              <a:t> </a:t>
            </a:r>
            <a:r>
              <a:rPr lang="en-US" altLang="ja-JP" sz="1800" dirty="0" err="1">
                <a:latin typeface="+mj-lt"/>
              </a:rPr>
              <a:t>điều</a:t>
            </a:r>
            <a:r>
              <a:rPr lang="en-US" altLang="ja-JP" sz="1800" dirty="0">
                <a:latin typeface="+mj-lt"/>
              </a:rPr>
              <a:t> </a:t>
            </a:r>
            <a:r>
              <a:rPr lang="en-US" altLang="ja-JP" sz="1800" dirty="0" err="1">
                <a:latin typeface="+mj-lt"/>
              </a:rPr>
              <a:t>kiện</a:t>
            </a:r>
            <a:r>
              <a:rPr lang="en-US" altLang="ja-JP" sz="1800" dirty="0">
                <a:latin typeface="+mj-lt"/>
              </a:rPr>
              <a:t> </a:t>
            </a:r>
            <a:r>
              <a:rPr lang="en-US" altLang="ja-JP" sz="1800" dirty="0" err="1">
                <a:latin typeface="+mj-lt"/>
              </a:rPr>
              <a:t>lặp</a:t>
            </a:r>
            <a:r>
              <a:rPr lang="en-US" altLang="ja-JP" sz="1800" dirty="0">
                <a:latin typeface="+mj-lt"/>
              </a:rPr>
              <a:t> </a:t>
            </a:r>
            <a:r>
              <a:rPr lang="en-US" altLang="ja-JP" sz="1800" dirty="0" err="1">
                <a:latin typeface="+mj-lt"/>
              </a:rPr>
              <a:t>từ</a:t>
            </a:r>
            <a:r>
              <a:rPr lang="en-US" altLang="ja-JP" sz="1800" dirty="0">
                <a:latin typeface="+mj-lt"/>
              </a:rPr>
              <a:t> true sang false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F2712081-BF6F-3184-A3D5-9B537C05B1C1}"/>
              </a:ext>
            </a:extLst>
          </p:cNvPr>
          <p:cNvSpPr>
            <a:spLocks noGrp="1"/>
          </p:cNvSpPr>
          <p:nvPr>
            <p:ph type="sldNum" sz="quarter" idx="10"/>
          </p:nvPr>
        </p:nvSpPr>
        <p:spPr/>
        <p:txBody>
          <a:bodyPr/>
          <a:lstStyle/>
          <a:p>
            <a:fld id="{9D06E5B3-15C0-45B7-B905-1196B144588E}" type="slidenum">
              <a:rPr lang="en-US" altLang="ja-JP"/>
              <a:pPr/>
              <a:t>37</a:t>
            </a:fld>
            <a:endParaRPr lang="en-US" altLang="ja-JP"/>
          </a:p>
        </p:txBody>
      </p:sp>
      <p:sp>
        <p:nvSpPr>
          <p:cNvPr id="763906" name="Rectangle 2">
            <a:extLst>
              <a:ext uri="{FF2B5EF4-FFF2-40B4-BE49-F238E27FC236}">
                <a16:creationId xmlns:a16="http://schemas.microsoft.com/office/drawing/2014/main" id="{11F85580-AFE0-467F-C4D9-8B857CD6F661}"/>
              </a:ext>
            </a:extLst>
          </p:cNvPr>
          <p:cNvSpPr>
            <a:spLocks noGrp="1" noChangeArrowheads="1"/>
          </p:cNvSpPr>
          <p:nvPr>
            <p:ph type="title"/>
          </p:nvPr>
        </p:nvSpPr>
        <p:spPr>
          <a:xfrm>
            <a:off x="330892" y="311151"/>
            <a:ext cx="9217025" cy="490537"/>
          </a:xfrm>
        </p:spPr>
        <p:txBody>
          <a:bodyPr>
            <a:normAutofit fontScale="90000"/>
          </a:bodyPr>
          <a:lstStyle/>
          <a:p>
            <a:r>
              <a:rPr lang="en-US" altLang="ja-JP" dirty="0" err="1">
                <a:solidFill>
                  <a:srgbClr val="FF00FF"/>
                </a:solidFill>
                <a:latin typeface="+mj-lt"/>
                <a:ea typeface="MS UI Gothic" panose="020B0600070205080204" pitchFamily="50" charset="-128"/>
              </a:rPr>
              <a:t>Câu</a:t>
            </a:r>
            <a:r>
              <a:rPr lang="en-US" altLang="ja-JP" dirty="0">
                <a:solidFill>
                  <a:srgbClr val="FF00FF"/>
                </a:solidFill>
                <a:latin typeface="+mj-lt"/>
                <a:ea typeface="MS UI Gothic" panose="020B0600070205080204" pitchFamily="50" charset="-128"/>
              </a:rPr>
              <a:t> </a:t>
            </a:r>
            <a:r>
              <a:rPr lang="en-US" altLang="ja-JP" dirty="0" err="1">
                <a:solidFill>
                  <a:srgbClr val="FF00FF"/>
                </a:solidFill>
                <a:latin typeface="+mj-lt"/>
                <a:ea typeface="MS UI Gothic" panose="020B0600070205080204" pitchFamily="50" charset="-128"/>
              </a:rPr>
              <a:t>lệnh</a:t>
            </a:r>
            <a:r>
              <a:rPr lang="en-US" altLang="ja-JP" dirty="0">
                <a:solidFill>
                  <a:srgbClr val="FF00FF"/>
                </a:solidFill>
                <a:latin typeface="+mj-lt"/>
                <a:ea typeface="MS UI Gothic" panose="020B0600070205080204" pitchFamily="50" charset="-128"/>
              </a:rPr>
              <a:t> </a:t>
            </a:r>
            <a:r>
              <a:rPr lang="en-US" altLang="ja-JP" dirty="0">
                <a:solidFill>
                  <a:srgbClr val="FF00FF"/>
                </a:solidFill>
                <a:latin typeface="+mj-lt"/>
                <a:ea typeface="ＭＳ ゴシック" panose="020B0609070205080204" pitchFamily="49" charset="-128"/>
              </a:rPr>
              <a:t>for</a:t>
            </a:r>
            <a:r>
              <a:rPr lang="ja-JP" altLang="en-US" dirty="0">
                <a:solidFill>
                  <a:srgbClr val="FF00FF"/>
                </a:solidFill>
                <a:latin typeface="+mj-lt"/>
                <a:ea typeface="MS UI Gothic" panose="020B0600070205080204" pitchFamily="50" charset="-128"/>
              </a:rPr>
              <a:t>（</a:t>
            </a:r>
            <a:r>
              <a:rPr lang="en-US" altLang="ja-JP" dirty="0">
                <a:solidFill>
                  <a:srgbClr val="FF00FF"/>
                </a:solidFill>
                <a:latin typeface="+mj-lt"/>
                <a:ea typeface="MS UI Gothic" panose="020B0600070205080204" pitchFamily="50" charset="-128"/>
              </a:rPr>
              <a:t>2</a:t>
            </a:r>
            <a:r>
              <a:rPr lang="ja-JP" altLang="en-US" dirty="0">
                <a:solidFill>
                  <a:srgbClr val="FF00FF"/>
                </a:solidFill>
                <a:latin typeface="+mj-lt"/>
                <a:ea typeface="MS UI Gothic" panose="020B0600070205080204" pitchFamily="50" charset="-128"/>
              </a:rPr>
              <a:t>）</a:t>
            </a:r>
          </a:p>
        </p:txBody>
      </p:sp>
      <p:sp>
        <p:nvSpPr>
          <p:cNvPr id="763907" name="Rectangle 3">
            <a:extLst>
              <a:ext uri="{FF2B5EF4-FFF2-40B4-BE49-F238E27FC236}">
                <a16:creationId xmlns:a16="http://schemas.microsoft.com/office/drawing/2014/main" id="{FE33B80F-380C-CD2E-D52B-1DF70E9ED232}"/>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63908" name="Rectangle 4">
            <a:extLst>
              <a:ext uri="{FF2B5EF4-FFF2-40B4-BE49-F238E27FC236}">
                <a16:creationId xmlns:a16="http://schemas.microsoft.com/office/drawing/2014/main" id="{62233276-76FF-F47A-5CCD-DC16F60089D4}"/>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Câu lệnh </a:t>
            </a:r>
            <a:r>
              <a:rPr lang="en-US" altLang="ja-JP" sz="2400" b="0">
                <a:latin typeface="ＭＳ ゴシック" panose="020B0609070205080204" pitchFamily="49" charset="-128"/>
                <a:ea typeface="ＭＳ ゴシック" panose="020B0609070205080204" pitchFamily="49" charset="-128"/>
              </a:rPr>
              <a:t>foreach</a:t>
            </a:r>
            <a:endParaRPr lang="en-US" altLang="ja-JP" sz="2400" b="0"/>
          </a:p>
          <a:p>
            <a:pPr>
              <a:spcBef>
                <a:spcPct val="50000"/>
              </a:spcBef>
              <a:buFont typeface="Wingdings" panose="05000000000000000000" pitchFamily="2" charset="2"/>
              <a:buNone/>
            </a:pPr>
            <a:r>
              <a:rPr lang="en-US" altLang="ja-JP" sz="2000" b="0"/>
              <a:t>●Cú pháp  cơ bản</a:t>
            </a:r>
            <a:endParaRPr lang="en-US" altLang="ja-JP" sz="2400" b="0"/>
          </a:p>
          <a:p>
            <a:pPr lvl="1"/>
            <a:endParaRPr lang="en-US" altLang="ja-JP" sz="2400" b="0"/>
          </a:p>
        </p:txBody>
      </p:sp>
      <p:sp>
        <p:nvSpPr>
          <p:cNvPr id="763909" name="Text Box 5">
            <a:extLst>
              <a:ext uri="{FF2B5EF4-FFF2-40B4-BE49-F238E27FC236}">
                <a16:creationId xmlns:a16="http://schemas.microsoft.com/office/drawing/2014/main" id="{1579C2B2-426D-1F79-D9D2-D114E0A93220}"/>
              </a:ext>
            </a:extLst>
          </p:cNvPr>
          <p:cNvSpPr txBox="1">
            <a:spLocks noChangeArrowheads="1"/>
          </p:cNvSpPr>
          <p:nvPr/>
        </p:nvSpPr>
        <p:spPr bwMode="auto">
          <a:xfrm>
            <a:off x="344488" y="1751013"/>
            <a:ext cx="9120187" cy="11493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latin typeface="ＭＳ ゴシック" panose="020B0609070205080204" pitchFamily="49" charset="-128"/>
                <a:ea typeface="ＭＳ ゴシック" panose="020B0609070205080204" pitchFamily="49" charset="-128"/>
              </a:rPr>
              <a:t>for (Kiểu của element mảng </a:t>
            </a:r>
            <a:r>
              <a:rPr lang="en-US" altLang="ja-JP" sz="2000">
                <a:latin typeface="MS UI Gothic" panose="020B0600070205080204" pitchFamily="50" charset="-128"/>
                <a:ea typeface="MS UI Gothic" panose="020B0600070205080204" pitchFamily="50" charset="-128"/>
              </a:rPr>
              <a:t>tên biến số</a:t>
            </a:r>
            <a:r>
              <a:rPr lang="en-US" altLang="ja-JP" sz="2000">
                <a:latin typeface="ＭＳ ゴシック" panose="020B0609070205080204" pitchFamily="49" charset="-128"/>
                <a:ea typeface="ＭＳ ゴシック" panose="020B0609070205080204" pitchFamily="49" charset="-128"/>
              </a:rPr>
              <a:t> : mảng hoặc collection) {</a:t>
            </a:r>
          </a:p>
          <a:p>
            <a:pPr lvl="1" algn="just">
              <a:lnSpc>
                <a:spcPct val="112000"/>
              </a:lnSpc>
            </a:pPr>
            <a:r>
              <a:rPr lang="en-US" altLang="ja-JP" sz="2000">
                <a:latin typeface="ＭＳ ゴシック" panose="020B0609070205080204" pitchFamily="49" charset="-128"/>
                <a:ea typeface="ＭＳ ゴシック" panose="020B0609070205080204" pitchFamily="49" charset="-128"/>
              </a:rPr>
              <a:t>    xử lí muốn lặp đối với các element</a:t>
            </a:r>
            <a:endParaRPr lang="en-US" altLang="ja-JP" sz="2000">
              <a:latin typeface="MS UI Gothic" panose="020B0600070205080204" pitchFamily="50" charset="-128"/>
              <a:ea typeface="MS UI Gothic" panose="020B0600070205080204" pitchFamily="50" charset="-128"/>
            </a:endParaRPr>
          </a:p>
          <a:p>
            <a:pPr lvl="1" algn="just">
              <a:lnSpc>
                <a:spcPct val="112000"/>
              </a:lnSpc>
            </a:pPr>
            <a:r>
              <a:rPr lang="en-US" altLang="ja-JP" sz="2000">
                <a:latin typeface="ＭＳ ゴシック" panose="020B0609070205080204" pitchFamily="49" charset="-128"/>
                <a:ea typeface="ＭＳ ゴシック" panose="020B0609070205080204" pitchFamily="49" charset="-128"/>
              </a:rPr>
              <a:t>}</a:t>
            </a:r>
          </a:p>
        </p:txBody>
      </p:sp>
      <p:sp>
        <p:nvSpPr>
          <p:cNvPr id="763910" name="Rectangle 6">
            <a:extLst>
              <a:ext uri="{FF2B5EF4-FFF2-40B4-BE49-F238E27FC236}">
                <a16:creationId xmlns:a16="http://schemas.microsoft.com/office/drawing/2014/main" id="{16CFF9CE-E74A-7553-4461-71E639EFE0A2}"/>
              </a:ext>
            </a:extLst>
          </p:cNvPr>
          <p:cNvSpPr>
            <a:spLocks noChangeArrowheads="1"/>
          </p:cNvSpPr>
          <p:nvPr/>
        </p:nvSpPr>
        <p:spPr bwMode="auto">
          <a:xfrm>
            <a:off x="344488" y="31051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●Ví dụ</a:t>
            </a:r>
            <a:endParaRPr lang="en-US" altLang="ja-JP" sz="2400" b="0"/>
          </a:p>
        </p:txBody>
      </p:sp>
      <p:sp>
        <p:nvSpPr>
          <p:cNvPr id="763911" name="Rectangle 7">
            <a:extLst>
              <a:ext uri="{FF2B5EF4-FFF2-40B4-BE49-F238E27FC236}">
                <a16:creationId xmlns:a16="http://schemas.microsoft.com/office/drawing/2014/main" id="{99F03A12-3FF4-8CE6-36BA-DCB82F0FB196}"/>
              </a:ext>
            </a:extLst>
          </p:cNvPr>
          <p:cNvSpPr>
            <a:spLocks noChangeArrowheads="1"/>
          </p:cNvSpPr>
          <p:nvPr/>
        </p:nvSpPr>
        <p:spPr bwMode="auto">
          <a:xfrm>
            <a:off x="344488" y="3586163"/>
            <a:ext cx="4852987" cy="28781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String[] strArray = </a:t>
            </a:r>
          </a:p>
          <a:p>
            <a:pPr lvl="1"/>
            <a:r>
              <a:rPr lang="en-US" altLang="ja-JP" sz="1800" b="0">
                <a:latin typeface="ＭＳ ゴシック" panose="020B0609070205080204" pitchFamily="49" charset="-128"/>
                <a:ea typeface="ＭＳ ゴシック" panose="020B0609070205080204" pitchFamily="49" charset="-128"/>
              </a:rPr>
              <a:t>         {"Smith", "Brown", "Allen"};</a:t>
            </a:r>
          </a:p>
          <a:p>
            <a:pPr lvl="1"/>
            <a:endParaRPr lang="en-US" altLang="ja-JP" sz="1800" b="0">
              <a:latin typeface="ＭＳ ゴシック" panose="020B0609070205080204" pitchFamily="49" charset="-128"/>
              <a:ea typeface="ＭＳ ゴシック" panose="020B0609070205080204" pitchFamily="49" charset="-128"/>
            </a:endParaRPr>
          </a:p>
          <a:p>
            <a:pPr lvl="1"/>
            <a:endParaRPr lang="en-US" altLang="ja-JP" sz="1800" b="0">
              <a:latin typeface="ＭＳ ゴシック" panose="020B0609070205080204" pitchFamily="49" charset="-128"/>
              <a:ea typeface="ＭＳ ゴシック" panose="020B0609070205080204" pitchFamily="49" charset="-128"/>
            </a:endParaRP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for (String str : strArray ) {</a:t>
            </a:r>
          </a:p>
          <a:p>
            <a:pPr lvl="1"/>
            <a:r>
              <a:rPr lang="en-US" altLang="ja-JP" sz="1800" b="0">
                <a:latin typeface="ＭＳ ゴシック" panose="020B0609070205080204" pitchFamily="49" charset="-128"/>
                <a:ea typeface="ＭＳ ゴシック" panose="020B0609070205080204" pitchFamily="49" charset="-128"/>
              </a:rPr>
              <a:t>    System.out.println(str);</a:t>
            </a:r>
          </a:p>
          <a:p>
            <a:pPr lvl="1"/>
            <a:r>
              <a:rPr lang="en-US" altLang="ja-JP" sz="1800" b="0">
                <a:latin typeface="ＭＳ ゴシック" panose="020B0609070205080204" pitchFamily="49" charset="-128"/>
                <a:ea typeface="ＭＳ ゴシック" panose="020B0609070205080204" pitchFamily="49" charset="-128"/>
              </a:rPr>
              <a:t>}</a:t>
            </a:r>
          </a:p>
        </p:txBody>
      </p:sp>
      <p:sp>
        <p:nvSpPr>
          <p:cNvPr id="763912" name="Rectangle 8">
            <a:extLst>
              <a:ext uri="{FF2B5EF4-FFF2-40B4-BE49-F238E27FC236}">
                <a16:creationId xmlns:a16="http://schemas.microsoft.com/office/drawing/2014/main" id="{3A3D8C65-960E-D329-0F38-0ED13A29E3A1}"/>
              </a:ext>
            </a:extLst>
          </p:cNvPr>
          <p:cNvSpPr>
            <a:spLocks noChangeArrowheads="1"/>
          </p:cNvSpPr>
          <p:nvPr/>
        </p:nvSpPr>
        <p:spPr bwMode="auto">
          <a:xfrm>
            <a:off x="5603875" y="1816100"/>
            <a:ext cx="2724150" cy="3460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63913" name="AutoShape 9">
            <a:extLst>
              <a:ext uri="{FF2B5EF4-FFF2-40B4-BE49-F238E27FC236}">
                <a16:creationId xmlns:a16="http://schemas.microsoft.com/office/drawing/2014/main" id="{1F083CE1-CCFC-F133-13FC-3126DEA35E6D}"/>
              </a:ext>
            </a:extLst>
          </p:cNvPr>
          <p:cNvSpPr>
            <a:spLocks noChangeArrowheads="1"/>
          </p:cNvSpPr>
          <p:nvPr/>
        </p:nvSpPr>
        <p:spPr bwMode="auto">
          <a:xfrm>
            <a:off x="3532188" y="808038"/>
            <a:ext cx="6105525" cy="819150"/>
          </a:xfrm>
          <a:prstGeom prst="wedgeRoundRectCallout">
            <a:avLst>
              <a:gd name="adj1" fmla="val -389"/>
              <a:gd name="adj2" fmla="val 73449"/>
              <a:gd name="adj3" fmla="val 16667"/>
            </a:avLst>
          </a:prstGeom>
          <a:solidFill>
            <a:srgbClr val="FFCC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dirty="0" err="1">
                <a:latin typeface="MS UI Gothic" panose="020B0600070205080204" pitchFamily="50" charset="-128"/>
                <a:ea typeface="MS UI Gothic" panose="020B0600070205080204" pitchFamily="50" charset="-128"/>
              </a:rPr>
              <a:t>Đưa</a:t>
            </a:r>
            <a:r>
              <a:rPr lang="en-US" altLang="ja-JP" sz="1800" dirty="0">
                <a:latin typeface="MS UI Gothic" panose="020B0600070205080204" pitchFamily="50" charset="-128"/>
                <a:ea typeface="MS UI Gothic" panose="020B0600070205080204" pitchFamily="50" charset="-128"/>
              </a:rPr>
              <a:t> </a:t>
            </a:r>
            <a:r>
              <a:rPr lang="en-US" altLang="ja-JP" sz="1800" dirty="0" err="1">
                <a:latin typeface="MS UI Gothic" panose="020B0600070205080204" pitchFamily="50" charset="-128"/>
                <a:ea typeface="MS UI Gothic" panose="020B0600070205080204" pitchFamily="50" charset="-128"/>
              </a:rPr>
              <a:t>ra</a:t>
            </a:r>
            <a:r>
              <a:rPr lang="en-US" altLang="ja-JP" sz="1800" dirty="0">
                <a:latin typeface="MS UI Gothic" panose="020B0600070205080204" pitchFamily="50" charset="-128"/>
                <a:ea typeface="MS UI Gothic" panose="020B0600070205080204" pitchFamily="50" charset="-128"/>
              </a:rPr>
              <a:t> element </a:t>
            </a:r>
            <a:r>
              <a:rPr lang="en-US" altLang="ja-JP" sz="1800" dirty="0" err="1">
                <a:latin typeface="MS UI Gothic" panose="020B0600070205080204" pitchFamily="50" charset="-128"/>
                <a:ea typeface="MS UI Gothic" panose="020B0600070205080204" pitchFamily="50" charset="-128"/>
              </a:rPr>
              <a:t>của</a:t>
            </a:r>
            <a:r>
              <a:rPr lang="en-US" altLang="ja-JP" sz="1800" dirty="0">
                <a:latin typeface="MS UI Gothic" panose="020B0600070205080204" pitchFamily="50" charset="-128"/>
                <a:ea typeface="MS UI Gothic" panose="020B0600070205080204" pitchFamily="50" charset="-128"/>
              </a:rPr>
              <a:t> </a:t>
            </a:r>
            <a:r>
              <a:rPr lang="en-US" altLang="ja-JP" sz="1800" dirty="0" err="1">
                <a:latin typeface="MS UI Gothic" panose="020B0600070205080204" pitchFamily="50" charset="-128"/>
                <a:ea typeface="MS UI Gothic" panose="020B0600070205080204" pitchFamily="50" charset="-128"/>
              </a:rPr>
              <a:t>mảng</a:t>
            </a:r>
            <a:r>
              <a:rPr lang="en-US" altLang="ja-JP" sz="1800" dirty="0">
                <a:latin typeface="MS UI Gothic" panose="020B0600070205080204" pitchFamily="50" charset="-128"/>
                <a:ea typeface="MS UI Gothic" panose="020B0600070205080204" pitchFamily="50" charset="-128"/>
              </a:rPr>
              <a:t> or collection </a:t>
            </a:r>
            <a:r>
              <a:rPr lang="en-US" altLang="ja-JP" sz="1800" dirty="0" err="1">
                <a:latin typeface="MS UI Gothic" panose="020B0600070205080204" pitchFamily="50" charset="-128"/>
                <a:ea typeface="MS UI Gothic" panose="020B0600070205080204" pitchFamily="50" charset="-128"/>
              </a:rPr>
              <a:t>vào</a:t>
            </a:r>
            <a:r>
              <a:rPr lang="en-US" altLang="ja-JP" sz="1800" dirty="0">
                <a:latin typeface="MS UI Gothic" panose="020B0600070205080204" pitchFamily="50" charset="-128"/>
                <a:ea typeface="MS UI Gothic" panose="020B0600070205080204" pitchFamily="50" charset="-128"/>
              </a:rPr>
              <a:t> </a:t>
            </a:r>
            <a:r>
              <a:rPr lang="en-US" altLang="ja-JP" sz="1800" dirty="0" err="1">
                <a:latin typeface="MS UI Gothic" panose="020B0600070205080204" pitchFamily="50" charset="-128"/>
                <a:ea typeface="MS UI Gothic" panose="020B0600070205080204" pitchFamily="50" charset="-128"/>
              </a:rPr>
              <a:t>từng</a:t>
            </a:r>
            <a:r>
              <a:rPr lang="en-US" altLang="ja-JP" sz="1800" dirty="0">
                <a:latin typeface="MS UI Gothic" panose="020B0600070205080204" pitchFamily="50" charset="-128"/>
                <a:ea typeface="MS UI Gothic" panose="020B0600070205080204" pitchFamily="50" charset="-128"/>
              </a:rPr>
              <a:t> </a:t>
            </a:r>
            <a:r>
              <a:rPr lang="en-US" altLang="ja-JP" sz="1800" dirty="0" err="1">
                <a:latin typeface="MS UI Gothic" panose="020B0600070205080204" pitchFamily="50" charset="-128"/>
                <a:ea typeface="MS UI Gothic" panose="020B0600070205080204" pitchFamily="50" charset="-128"/>
              </a:rPr>
              <a:t>biến</a:t>
            </a:r>
            <a:r>
              <a:rPr lang="en-US" altLang="ja-JP" sz="1800" dirty="0">
                <a:latin typeface="MS UI Gothic" panose="020B0600070205080204" pitchFamily="50" charset="-128"/>
                <a:ea typeface="MS UI Gothic" panose="020B0600070205080204" pitchFamily="50" charset="-128"/>
              </a:rPr>
              <a:t> </a:t>
            </a:r>
            <a:r>
              <a:rPr lang="en-US" altLang="ja-JP" sz="1800" dirty="0" err="1">
                <a:latin typeface="MS UI Gothic" panose="020B0600070205080204" pitchFamily="50" charset="-128"/>
                <a:ea typeface="MS UI Gothic" panose="020B0600070205080204" pitchFamily="50" charset="-128"/>
              </a:rPr>
              <a:t>số</a:t>
            </a:r>
            <a:r>
              <a:rPr lang="en-US" altLang="ja-JP" sz="1800" dirty="0">
                <a:latin typeface="MS UI Gothic" panose="020B0600070205080204" pitchFamily="50" charset="-128"/>
                <a:ea typeface="MS UI Gothic" panose="020B0600070205080204" pitchFamily="50" charset="-128"/>
              </a:rPr>
              <a:t> </a:t>
            </a:r>
            <a:r>
              <a:rPr lang="en-US" altLang="ja-JP" sz="1800" dirty="0" err="1">
                <a:latin typeface="MS UI Gothic" panose="020B0600070205080204" pitchFamily="50" charset="-128"/>
                <a:ea typeface="MS UI Gothic" panose="020B0600070205080204" pitchFamily="50" charset="-128"/>
              </a:rPr>
              <a:t>một</a:t>
            </a:r>
            <a:r>
              <a:rPr lang="en-US" altLang="ja-JP" sz="1800" dirty="0">
                <a:latin typeface="MS UI Gothic" panose="020B0600070205080204" pitchFamily="50" charset="-128"/>
                <a:ea typeface="MS UI Gothic" panose="020B0600070205080204" pitchFamily="50" charset="-128"/>
              </a:rPr>
              <a:t> </a:t>
            </a:r>
            <a:r>
              <a:rPr lang="en-US" altLang="ja-JP" sz="1800" dirty="0" err="1">
                <a:latin typeface="MS UI Gothic" panose="020B0600070205080204" pitchFamily="50" charset="-128"/>
                <a:ea typeface="MS UI Gothic" panose="020B0600070205080204" pitchFamily="50" charset="-128"/>
              </a:rPr>
              <a:t>trong</a:t>
            </a:r>
            <a:r>
              <a:rPr lang="en-US" altLang="ja-JP" sz="1800" dirty="0">
                <a:latin typeface="MS UI Gothic" panose="020B0600070205080204" pitchFamily="50" charset="-128"/>
                <a:ea typeface="MS UI Gothic" panose="020B0600070205080204" pitchFamily="50" charset="-128"/>
              </a:rPr>
              <a:t> </a:t>
            </a:r>
            <a:r>
              <a:rPr lang="en-US" altLang="ja-JP" sz="1800" dirty="0" err="1">
                <a:latin typeface="MS UI Gothic" panose="020B0600070205080204" pitchFamily="50" charset="-128"/>
                <a:ea typeface="MS UI Gothic" panose="020B0600070205080204" pitchFamily="50" charset="-128"/>
              </a:rPr>
              <a:t>mỗi</a:t>
            </a:r>
            <a:r>
              <a:rPr lang="en-US" altLang="ja-JP" sz="1800" dirty="0">
                <a:latin typeface="MS UI Gothic" panose="020B0600070205080204" pitchFamily="50" charset="-128"/>
                <a:ea typeface="MS UI Gothic" panose="020B0600070205080204" pitchFamily="50" charset="-128"/>
              </a:rPr>
              <a:t> </a:t>
            </a:r>
            <a:r>
              <a:rPr lang="en-US" altLang="ja-JP" sz="1800" dirty="0" err="1">
                <a:latin typeface="MS UI Gothic" panose="020B0600070205080204" pitchFamily="50" charset="-128"/>
                <a:ea typeface="MS UI Gothic" panose="020B0600070205080204" pitchFamily="50" charset="-128"/>
              </a:rPr>
              <a:t>lần</a:t>
            </a:r>
            <a:r>
              <a:rPr lang="en-US" altLang="ja-JP" sz="1800" dirty="0">
                <a:latin typeface="MS UI Gothic" panose="020B0600070205080204" pitchFamily="50" charset="-128"/>
                <a:ea typeface="MS UI Gothic" panose="020B0600070205080204" pitchFamily="50" charset="-128"/>
              </a:rPr>
              <a:t> loop </a:t>
            </a:r>
            <a:r>
              <a:rPr lang="en-US" altLang="ja-JP" sz="1800" dirty="0" err="1">
                <a:latin typeface="MS UI Gothic" panose="020B0600070205080204" pitchFamily="50" charset="-128"/>
                <a:ea typeface="MS UI Gothic" panose="020B0600070205080204" pitchFamily="50" charset="-128"/>
              </a:rPr>
              <a:t>và</a:t>
            </a:r>
            <a:r>
              <a:rPr lang="en-US" altLang="ja-JP" sz="1800" dirty="0">
                <a:latin typeface="MS UI Gothic" panose="020B0600070205080204" pitchFamily="50" charset="-128"/>
                <a:ea typeface="MS UI Gothic" panose="020B0600070205080204" pitchFamily="50" charset="-128"/>
              </a:rPr>
              <a:t> </a:t>
            </a:r>
            <a:r>
              <a:rPr lang="en-US" altLang="ja-JP" sz="1800" dirty="0" err="1">
                <a:latin typeface="MS UI Gothic" panose="020B0600070205080204" pitchFamily="50" charset="-128"/>
                <a:ea typeface="MS UI Gothic" panose="020B0600070205080204" pitchFamily="50" charset="-128"/>
              </a:rPr>
              <a:t>thực</a:t>
            </a:r>
            <a:r>
              <a:rPr lang="en-US" altLang="ja-JP" sz="1800" dirty="0">
                <a:latin typeface="MS UI Gothic" panose="020B0600070205080204" pitchFamily="50" charset="-128"/>
                <a:ea typeface="MS UI Gothic" panose="020B0600070205080204" pitchFamily="50" charset="-128"/>
              </a:rPr>
              <a:t> </a:t>
            </a:r>
            <a:r>
              <a:rPr lang="en-US" altLang="ja-JP" sz="1800" dirty="0" err="1">
                <a:latin typeface="MS UI Gothic" panose="020B0600070205080204" pitchFamily="50" charset="-128"/>
                <a:ea typeface="MS UI Gothic" panose="020B0600070205080204" pitchFamily="50" charset="-128"/>
              </a:rPr>
              <a:t>hiện</a:t>
            </a:r>
            <a:r>
              <a:rPr lang="en-US" altLang="ja-JP" sz="1800" dirty="0">
                <a:latin typeface="MS UI Gothic" panose="020B0600070205080204" pitchFamily="50" charset="-128"/>
                <a:ea typeface="MS UI Gothic" panose="020B0600070205080204" pitchFamily="50" charset="-128"/>
              </a:rPr>
              <a:t> </a:t>
            </a:r>
            <a:r>
              <a:rPr lang="en-US" altLang="ja-JP" sz="1800" dirty="0" err="1">
                <a:latin typeface="MS UI Gothic" panose="020B0600070205080204" pitchFamily="50" charset="-128"/>
                <a:ea typeface="MS UI Gothic" panose="020B0600070205080204" pitchFamily="50" charset="-128"/>
              </a:rPr>
              <a:t>xử</a:t>
            </a:r>
            <a:r>
              <a:rPr lang="en-US" altLang="ja-JP" sz="1800" dirty="0">
                <a:latin typeface="MS UI Gothic" panose="020B0600070205080204" pitchFamily="50" charset="-128"/>
                <a:ea typeface="MS UI Gothic" panose="020B0600070205080204" pitchFamily="50" charset="-128"/>
              </a:rPr>
              <a:t> </a:t>
            </a:r>
            <a:r>
              <a:rPr lang="en-US" altLang="ja-JP" sz="1800" dirty="0" err="1">
                <a:latin typeface="MS UI Gothic" panose="020B0600070205080204" pitchFamily="50" charset="-128"/>
                <a:ea typeface="MS UI Gothic" panose="020B0600070205080204" pitchFamily="50" charset="-128"/>
              </a:rPr>
              <a:t>lí</a:t>
            </a:r>
            <a:endParaRPr lang="en-US" altLang="ja-JP" sz="1800" dirty="0">
              <a:latin typeface="MS UI Gothic" panose="020B0600070205080204" pitchFamily="50" charset="-128"/>
              <a:ea typeface="MS UI Gothic" panose="020B0600070205080204" pitchFamily="50" charset="-128"/>
            </a:endParaRPr>
          </a:p>
        </p:txBody>
      </p:sp>
      <p:sp>
        <p:nvSpPr>
          <p:cNvPr id="763934" name="Rectangle 30">
            <a:extLst>
              <a:ext uri="{FF2B5EF4-FFF2-40B4-BE49-F238E27FC236}">
                <a16:creationId xmlns:a16="http://schemas.microsoft.com/office/drawing/2014/main" id="{ECC2ADAF-7E7A-C5B9-B11F-757315D24A67}"/>
              </a:ext>
            </a:extLst>
          </p:cNvPr>
          <p:cNvSpPr>
            <a:spLocks noChangeArrowheads="1"/>
          </p:cNvSpPr>
          <p:nvPr/>
        </p:nvSpPr>
        <p:spPr bwMode="auto">
          <a:xfrm>
            <a:off x="1944688" y="5114925"/>
            <a:ext cx="463550" cy="3460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63935" name="Rectangle 31">
            <a:extLst>
              <a:ext uri="{FF2B5EF4-FFF2-40B4-BE49-F238E27FC236}">
                <a16:creationId xmlns:a16="http://schemas.microsoft.com/office/drawing/2014/main" id="{573459E9-539A-F2B3-5A4F-08068427E74B}"/>
              </a:ext>
            </a:extLst>
          </p:cNvPr>
          <p:cNvSpPr>
            <a:spLocks noChangeArrowheads="1"/>
          </p:cNvSpPr>
          <p:nvPr/>
        </p:nvSpPr>
        <p:spPr bwMode="auto">
          <a:xfrm>
            <a:off x="2620963" y="5114925"/>
            <a:ext cx="1035050" cy="3460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cxnSp>
        <p:nvCxnSpPr>
          <p:cNvPr id="763937" name="AutoShape 33">
            <a:extLst>
              <a:ext uri="{FF2B5EF4-FFF2-40B4-BE49-F238E27FC236}">
                <a16:creationId xmlns:a16="http://schemas.microsoft.com/office/drawing/2014/main" id="{4BAF0C7F-4E7E-CF30-1664-28961BA966C2}"/>
              </a:ext>
            </a:extLst>
          </p:cNvPr>
          <p:cNvCxnSpPr>
            <a:cxnSpLocks noChangeShapeType="1"/>
            <a:stCxn id="763934" idx="0"/>
            <a:endCxn id="763935" idx="0"/>
          </p:cNvCxnSpPr>
          <p:nvPr/>
        </p:nvCxnSpPr>
        <p:spPr bwMode="auto">
          <a:xfrm rot="5400000" flipV="1">
            <a:off x="2656682" y="4615656"/>
            <a:ext cx="1588" cy="962025"/>
          </a:xfrm>
          <a:prstGeom prst="bentConnector3">
            <a:avLst>
              <a:gd name="adj1" fmla="val -13200000"/>
            </a:avLst>
          </a:prstGeom>
          <a:noFill/>
          <a:ln w="38100">
            <a:solidFill>
              <a:srgbClr val="3FB007"/>
            </a:solidFill>
            <a:miter lim="800000"/>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63938" name="AutoShape 34">
            <a:extLst>
              <a:ext uri="{FF2B5EF4-FFF2-40B4-BE49-F238E27FC236}">
                <a16:creationId xmlns:a16="http://schemas.microsoft.com/office/drawing/2014/main" id="{69F91E73-5BFA-F5CA-0996-DCB3EA5EABC8}"/>
              </a:ext>
            </a:extLst>
          </p:cNvPr>
          <p:cNvSpPr>
            <a:spLocks noChangeArrowheads="1"/>
          </p:cNvSpPr>
          <p:nvPr/>
        </p:nvSpPr>
        <p:spPr bwMode="auto">
          <a:xfrm>
            <a:off x="681038" y="4295775"/>
            <a:ext cx="4462462" cy="373063"/>
          </a:xfrm>
          <a:prstGeom prst="wedgeRoundRectCallout">
            <a:avLst>
              <a:gd name="adj1" fmla="val -7560"/>
              <a:gd name="adj2" fmla="val 87870"/>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600">
                <a:latin typeface="MS UI Gothic" panose="020B0600070205080204" pitchFamily="50" charset="-128"/>
                <a:ea typeface="MS UI Gothic" panose="020B0600070205080204" pitchFamily="50" charset="-128"/>
              </a:rPr>
              <a:t>Đưa ra element của mảng vào từng str một</a:t>
            </a:r>
          </a:p>
        </p:txBody>
      </p:sp>
      <p:grpSp>
        <p:nvGrpSpPr>
          <p:cNvPr id="763959" name="Group 55">
            <a:extLst>
              <a:ext uri="{FF2B5EF4-FFF2-40B4-BE49-F238E27FC236}">
                <a16:creationId xmlns:a16="http://schemas.microsoft.com/office/drawing/2014/main" id="{A01DA084-7B5A-7EE2-D449-BF25B7C692F1}"/>
              </a:ext>
            </a:extLst>
          </p:cNvPr>
          <p:cNvGrpSpPr>
            <a:grpSpLocks/>
          </p:cNvGrpSpPr>
          <p:nvPr/>
        </p:nvGrpSpPr>
        <p:grpSpPr bwMode="auto">
          <a:xfrm>
            <a:off x="5370513" y="3013075"/>
            <a:ext cx="4094162" cy="3451225"/>
            <a:chOff x="3383" y="1898"/>
            <a:chExt cx="2579" cy="2174"/>
          </a:xfrm>
        </p:grpSpPr>
        <p:sp>
          <p:nvSpPr>
            <p:cNvPr id="763915" name="Rectangle 11">
              <a:extLst>
                <a:ext uri="{FF2B5EF4-FFF2-40B4-BE49-F238E27FC236}">
                  <a16:creationId xmlns:a16="http://schemas.microsoft.com/office/drawing/2014/main" id="{DE5EC1EE-B165-E89A-6A5E-F90FB97B6DDC}"/>
                </a:ext>
              </a:extLst>
            </p:cNvPr>
            <p:cNvSpPr>
              <a:spLocks noChangeArrowheads="1"/>
            </p:cNvSpPr>
            <p:nvPr/>
          </p:nvSpPr>
          <p:spPr bwMode="auto">
            <a:xfrm>
              <a:off x="3383" y="1898"/>
              <a:ext cx="2579" cy="2174"/>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63949" name="Line 45">
              <a:extLst>
                <a:ext uri="{FF2B5EF4-FFF2-40B4-BE49-F238E27FC236}">
                  <a16:creationId xmlns:a16="http://schemas.microsoft.com/office/drawing/2014/main" id="{C7508818-627A-8F5A-96A6-CB5D32F5FC35}"/>
                </a:ext>
              </a:extLst>
            </p:cNvPr>
            <p:cNvSpPr>
              <a:spLocks noChangeShapeType="1"/>
            </p:cNvSpPr>
            <p:nvPr/>
          </p:nvSpPr>
          <p:spPr bwMode="auto">
            <a:xfrm>
              <a:off x="4662" y="1968"/>
              <a:ext cx="12" cy="2032"/>
            </a:xfrm>
            <a:prstGeom prst="line">
              <a:avLst/>
            </a:prstGeom>
            <a:noFill/>
            <a:ln w="9525">
              <a:solidFill>
                <a:srgbClr val="00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ja-JP" altLang="en-US"/>
            </a:p>
          </p:txBody>
        </p:sp>
        <p:sp>
          <p:nvSpPr>
            <p:cNvPr id="763954" name="Freeform 50">
              <a:extLst>
                <a:ext uri="{FF2B5EF4-FFF2-40B4-BE49-F238E27FC236}">
                  <a16:creationId xmlns:a16="http://schemas.microsoft.com/office/drawing/2014/main" id="{0818CD5C-915F-C8AA-2EFE-9F2EEBCE7AD9}"/>
                </a:ext>
              </a:extLst>
            </p:cNvPr>
            <p:cNvSpPr>
              <a:spLocks/>
            </p:cNvSpPr>
            <p:nvPr/>
          </p:nvSpPr>
          <p:spPr bwMode="auto">
            <a:xfrm>
              <a:off x="3594" y="2573"/>
              <a:ext cx="2179" cy="399"/>
            </a:xfrm>
            <a:custGeom>
              <a:avLst/>
              <a:gdLst>
                <a:gd name="T0" fmla="*/ 0 w 1417"/>
                <a:gd name="T1" fmla="*/ 567 h 567"/>
                <a:gd name="T2" fmla="*/ 1417 w 1417"/>
                <a:gd name="T3" fmla="*/ 567 h 567"/>
                <a:gd name="T4" fmla="*/ 1417 w 1417"/>
                <a:gd name="T5" fmla="*/ 139 h 567"/>
                <a:gd name="T6" fmla="*/ 1278 w 1417"/>
                <a:gd name="T7" fmla="*/ 0 h 567"/>
                <a:gd name="T8" fmla="*/ 144 w 1417"/>
                <a:gd name="T9" fmla="*/ 0 h 567"/>
                <a:gd name="T10" fmla="*/ 0 w 1417"/>
                <a:gd name="T11" fmla="*/ 139 h 567"/>
                <a:gd name="T12" fmla="*/ 0 w 1417"/>
                <a:gd name="T13" fmla="*/ 567 h 567"/>
              </a:gdLst>
              <a:ahLst/>
              <a:cxnLst>
                <a:cxn ang="0">
                  <a:pos x="T0" y="T1"/>
                </a:cxn>
                <a:cxn ang="0">
                  <a:pos x="T2" y="T3"/>
                </a:cxn>
                <a:cxn ang="0">
                  <a:pos x="T4" y="T5"/>
                </a:cxn>
                <a:cxn ang="0">
                  <a:pos x="T6" y="T7"/>
                </a:cxn>
                <a:cxn ang="0">
                  <a:pos x="T8" y="T9"/>
                </a:cxn>
                <a:cxn ang="0">
                  <a:pos x="T10" y="T11"/>
                </a:cxn>
                <a:cxn ang="0">
                  <a:pos x="T12" y="T13"/>
                </a:cxn>
              </a:cxnLst>
              <a:rect l="0" t="0" r="r" b="b"/>
              <a:pathLst>
                <a:path w="1417" h="567">
                  <a:moveTo>
                    <a:pt x="0" y="567"/>
                  </a:moveTo>
                  <a:lnTo>
                    <a:pt x="1417" y="567"/>
                  </a:lnTo>
                  <a:lnTo>
                    <a:pt x="1417" y="139"/>
                  </a:lnTo>
                  <a:lnTo>
                    <a:pt x="1278" y="0"/>
                  </a:lnTo>
                  <a:lnTo>
                    <a:pt x="144" y="0"/>
                  </a:lnTo>
                  <a:lnTo>
                    <a:pt x="0" y="139"/>
                  </a:lnTo>
                  <a:lnTo>
                    <a:pt x="0" y="567"/>
                  </a:lnTo>
                  <a:close/>
                </a:path>
              </a:pathLst>
            </a:custGeom>
            <a:solidFill>
              <a:srgbClr val="FFFFFF"/>
            </a:solidFill>
            <a:ln w="8890">
              <a:solidFill>
                <a:srgbClr val="000000"/>
              </a:solidFill>
              <a:prstDash val="solid"/>
              <a:round/>
              <a:headEnd/>
              <a:tailEnd/>
            </a:ln>
          </p:spPr>
          <p:txBody>
            <a:bodyPr/>
            <a:lstStyle/>
            <a:p>
              <a:endParaRPr lang="ja-JP" altLang="en-US"/>
            </a:p>
          </p:txBody>
        </p:sp>
        <p:sp>
          <p:nvSpPr>
            <p:cNvPr id="763955" name="Text Box 51">
              <a:extLst>
                <a:ext uri="{FF2B5EF4-FFF2-40B4-BE49-F238E27FC236}">
                  <a16:creationId xmlns:a16="http://schemas.microsoft.com/office/drawing/2014/main" id="{5309D9B9-A225-F32A-14D6-5BD2789CD3A5}"/>
                </a:ext>
              </a:extLst>
            </p:cNvPr>
            <p:cNvSpPr txBox="1">
              <a:spLocks noChangeArrowheads="1"/>
            </p:cNvSpPr>
            <p:nvPr/>
          </p:nvSpPr>
          <p:spPr bwMode="auto">
            <a:xfrm>
              <a:off x="3538" y="2592"/>
              <a:ext cx="2288" cy="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lstStyle/>
            <a:p>
              <a:pPr algn="ctr"/>
              <a:r>
                <a:rPr lang="en-US" altLang="ja-JP" sz="1600">
                  <a:latin typeface="MS UI Gothic" panose="020B0600070205080204" pitchFamily="50" charset="-128"/>
                </a:rPr>
                <a:t>Loop hiển thị</a:t>
              </a:r>
            </a:p>
            <a:p>
              <a:pPr algn="ctr">
                <a:spcBef>
                  <a:spcPts val="350"/>
                </a:spcBef>
              </a:pPr>
              <a:r>
                <a:rPr lang="en-US" altLang="ja-JP" sz="1600">
                  <a:latin typeface="ＭＳ ゴシック" panose="020B0609070205080204" pitchFamily="49" charset="-128"/>
                  <a:ea typeface="ＭＳ ゴシック" panose="020B0609070205080204" pitchFamily="49" charset="-128"/>
                </a:rPr>
                <a:t>str = "Smith", "Brown", "Allen"</a:t>
              </a:r>
            </a:p>
          </p:txBody>
        </p:sp>
        <p:sp>
          <p:nvSpPr>
            <p:cNvPr id="763950" name="Text Box 46">
              <a:extLst>
                <a:ext uri="{FF2B5EF4-FFF2-40B4-BE49-F238E27FC236}">
                  <a16:creationId xmlns:a16="http://schemas.microsoft.com/office/drawing/2014/main" id="{D8A29688-9F53-65E6-4B76-D44A3B3C33A0}"/>
                </a:ext>
              </a:extLst>
            </p:cNvPr>
            <p:cNvSpPr txBox="1">
              <a:spLocks noChangeArrowheads="1"/>
            </p:cNvSpPr>
            <p:nvPr/>
          </p:nvSpPr>
          <p:spPr bwMode="auto">
            <a:xfrm>
              <a:off x="3594" y="3128"/>
              <a:ext cx="2179" cy="240"/>
            </a:xfrm>
            <a:prstGeom prst="rect">
              <a:avLst/>
            </a:prstGeom>
            <a:solidFill>
              <a:srgbClr val="FF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algn="ctr"/>
              <a:r>
                <a:rPr lang="en-US" altLang="ja-JP" sz="1800" b="0">
                  <a:latin typeface="MS UI Gothic" panose="020B0600070205080204" pitchFamily="50" charset="-128"/>
                </a:rPr>
                <a:t>Hiển thị str</a:t>
              </a:r>
            </a:p>
          </p:txBody>
        </p:sp>
        <p:sp>
          <p:nvSpPr>
            <p:cNvPr id="763952" name="Freeform 48">
              <a:extLst>
                <a:ext uri="{FF2B5EF4-FFF2-40B4-BE49-F238E27FC236}">
                  <a16:creationId xmlns:a16="http://schemas.microsoft.com/office/drawing/2014/main" id="{BA452B0C-9D21-A04C-687A-1C60B3903B74}"/>
                </a:ext>
              </a:extLst>
            </p:cNvPr>
            <p:cNvSpPr>
              <a:spLocks/>
            </p:cNvSpPr>
            <p:nvPr/>
          </p:nvSpPr>
          <p:spPr bwMode="auto">
            <a:xfrm>
              <a:off x="3594" y="3486"/>
              <a:ext cx="2179" cy="333"/>
            </a:xfrm>
            <a:custGeom>
              <a:avLst/>
              <a:gdLst>
                <a:gd name="T0" fmla="*/ 0 w 1417"/>
                <a:gd name="T1" fmla="*/ 0 h 567"/>
                <a:gd name="T2" fmla="*/ 1417 w 1417"/>
                <a:gd name="T3" fmla="*/ 0 h 567"/>
                <a:gd name="T4" fmla="*/ 1417 w 1417"/>
                <a:gd name="T5" fmla="*/ 423 h 567"/>
                <a:gd name="T6" fmla="*/ 1278 w 1417"/>
                <a:gd name="T7" fmla="*/ 567 h 567"/>
                <a:gd name="T8" fmla="*/ 144 w 1417"/>
                <a:gd name="T9" fmla="*/ 567 h 567"/>
                <a:gd name="T10" fmla="*/ 0 w 1417"/>
                <a:gd name="T11" fmla="*/ 423 h 567"/>
                <a:gd name="T12" fmla="*/ 0 w 1417"/>
                <a:gd name="T13" fmla="*/ 0 h 567"/>
              </a:gdLst>
              <a:ahLst/>
              <a:cxnLst>
                <a:cxn ang="0">
                  <a:pos x="T0" y="T1"/>
                </a:cxn>
                <a:cxn ang="0">
                  <a:pos x="T2" y="T3"/>
                </a:cxn>
                <a:cxn ang="0">
                  <a:pos x="T4" y="T5"/>
                </a:cxn>
                <a:cxn ang="0">
                  <a:pos x="T6" y="T7"/>
                </a:cxn>
                <a:cxn ang="0">
                  <a:pos x="T8" y="T9"/>
                </a:cxn>
                <a:cxn ang="0">
                  <a:pos x="T10" y="T11"/>
                </a:cxn>
                <a:cxn ang="0">
                  <a:pos x="T12" y="T13"/>
                </a:cxn>
              </a:cxnLst>
              <a:rect l="0" t="0" r="r" b="b"/>
              <a:pathLst>
                <a:path w="1417" h="567">
                  <a:moveTo>
                    <a:pt x="0" y="0"/>
                  </a:moveTo>
                  <a:lnTo>
                    <a:pt x="1417" y="0"/>
                  </a:lnTo>
                  <a:lnTo>
                    <a:pt x="1417" y="423"/>
                  </a:lnTo>
                  <a:lnTo>
                    <a:pt x="1278" y="567"/>
                  </a:lnTo>
                  <a:lnTo>
                    <a:pt x="144" y="567"/>
                  </a:lnTo>
                  <a:lnTo>
                    <a:pt x="0" y="423"/>
                  </a:lnTo>
                  <a:lnTo>
                    <a:pt x="0" y="0"/>
                  </a:lnTo>
                  <a:close/>
                </a:path>
              </a:pathLst>
            </a:custGeom>
            <a:solidFill>
              <a:srgbClr val="FFFFFF"/>
            </a:solidFill>
            <a:ln w="8890">
              <a:solidFill>
                <a:srgbClr val="000000"/>
              </a:solidFill>
              <a:prstDash val="solid"/>
              <a:round/>
              <a:headEnd/>
              <a:tailEnd/>
            </a:ln>
          </p:spPr>
          <p:txBody>
            <a:bodyPr/>
            <a:lstStyle/>
            <a:p>
              <a:endParaRPr lang="ja-JP" altLang="en-US"/>
            </a:p>
          </p:txBody>
        </p:sp>
        <p:sp>
          <p:nvSpPr>
            <p:cNvPr id="763953" name="Text Box 49">
              <a:extLst>
                <a:ext uri="{FF2B5EF4-FFF2-40B4-BE49-F238E27FC236}">
                  <a16:creationId xmlns:a16="http://schemas.microsoft.com/office/drawing/2014/main" id="{89917E31-B4B5-E375-2359-5C4F32D5C323}"/>
                </a:ext>
              </a:extLst>
            </p:cNvPr>
            <p:cNvSpPr txBox="1">
              <a:spLocks noChangeArrowheads="1"/>
            </p:cNvSpPr>
            <p:nvPr/>
          </p:nvSpPr>
          <p:spPr bwMode="auto">
            <a:xfrm>
              <a:off x="3594" y="3567"/>
              <a:ext cx="2179" cy="19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algn="ctr"/>
              <a:r>
                <a:rPr lang="en-US" altLang="ja-JP" sz="1600"/>
                <a:t>Loop hiển thị</a:t>
              </a:r>
            </a:p>
          </p:txBody>
        </p:sp>
        <p:sp>
          <p:nvSpPr>
            <p:cNvPr id="763956" name="Text Box 52">
              <a:extLst>
                <a:ext uri="{FF2B5EF4-FFF2-40B4-BE49-F238E27FC236}">
                  <a16:creationId xmlns:a16="http://schemas.microsoft.com/office/drawing/2014/main" id="{032E1AE7-6A5A-07CC-2914-C5E8F02D143D}"/>
                </a:ext>
              </a:extLst>
            </p:cNvPr>
            <p:cNvSpPr txBox="1">
              <a:spLocks noChangeArrowheads="1"/>
            </p:cNvSpPr>
            <p:nvPr/>
          </p:nvSpPr>
          <p:spPr bwMode="auto">
            <a:xfrm>
              <a:off x="3594" y="2178"/>
              <a:ext cx="2179" cy="240"/>
            </a:xfrm>
            <a:prstGeom prst="rect">
              <a:avLst/>
            </a:prstGeom>
            <a:solidFill>
              <a:srgbClr val="FF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algn="ctr"/>
              <a:r>
                <a:rPr lang="en-US" altLang="ja-JP" sz="1500" b="0">
                  <a:latin typeface="MS UI Gothic" panose="020B0600070205080204" pitchFamily="50" charset="-128"/>
                </a:rPr>
                <a:t>Khai báo mảng </a:t>
              </a:r>
              <a:r>
                <a:rPr lang="en-US" altLang="ja-JP" sz="1500" b="0">
                  <a:latin typeface="ＭＳ ゴシック" panose="020B0609070205080204" pitchFamily="49" charset="-128"/>
                  <a:ea typeface="ＭＳ ゴシック" panose="020B0609070205080204" pitchFamily="49" charset="-128"/>
                </a:rPr>
                <a:t>strArray</a:t>
              </a:r>
              <a:r>
                <a:rPr lang="en-US" altLang="ja-JP" sz="1500" b="0">
                  <a:latin typeface="MS UI Gothic" panose="020B0600070205080204" pitchFamily="50" charset="-128"/>
                </a:rPr>
                <a:t>và khởi tạo hóa</a:t>
              </a: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11A8A904-41BB-FB5C-06D2-DD20A3B1A87F}"/>
              </a:ext>
            </a:extLst>
          </p:cNvPr>
          <p:cNvSpPr>
            <a:spLocks noGrp="1"/>
          </p:cNvSpPr>
          <p:nvPr>
            <p:ph type="sldNum" sz="quarter" idx="10"/>
          </p:nvPr>
        </p:nvSpPr>
        <p:spPr/>
        <p:txBody>
          <a:bodyPr/>
          <a:lstStyle/>
          <a:p>
            <a:fld id="{13C565F4-6F0D-4F8F-9477-5C35C53320E3}" type="slidenum">
              <a:rPr lang="en-US" altLang="ja-JP"/>
              <a:pPr/>
              <a:t>38</a:t>
            </a:fld>
            <a:endParaRPr lang="en-US" altLang="ja-JP"/>
          </a:p>
        </p:txBody>
      </p:sp>
      <p:sp>
        <p:nvSpPr>
          <p:cNvPr id="768002" name="Rectangle 2">
            <a:extLst>
              <a:ext uri="{FF2B5EF4-FFF2-40B4-BE49-F238E27FC236}">
                <a16:creationId xmlns:a16="http://schemas.microsoft.com/office/drawing/2014/main" id="{0767DDBB-65D0-4188-2784-9A5647A73B1F}"/>
              </a:ext>
            </a:extLst>
          </p:cNvPr>
          <p:cNvSpPr>
            <a:spLocks noGrp="1" noChangeArrowheads="1"/>
          </p:cNvSpPr>
          <p:nvPr>
            <p:ph type="title"/>
          </p:nvPr>
        </p:nvSpPr>
        <p:spPr>
          <a:xfrm>
            <a:off x="330782" y="323803"/>
            <a:ext cx="9217025" cy="490537"/>
          </a:xfrm>
        </p:spPr>
        <p:txBody>
          <a:bodyPr>
            <a:normAutofit fontScale="90000"/>
          </a:bodyPr>
          <a:lstStyle/>
          <a:p>
            <a:r>
              <a:rPr lang="en-US" altLang="ja-JP" dirty="0">
                <a:latin typeface="MS UI Gothic" panose="020B0600070205080204" pitchFamily="50" charset="-128"/>
                <a:ea typeface="MS UI Gothic" panose="020B0600070205080204" pitchFamily="50" charset="-128"/>
              </a:rPr>
              <a:t>Control </a:t>
            </a:r>
            <a:r>
              <a:rPr lang="en-US" altLang="ja-JP" dirty="0" err="1">
                <a:latin typeface="MS UI Gothic" panose="020B0600070205080204" pitchFamily="50" charset="-128"/>
                <a:ea typeface="MS UI Gothic" panose="020B0600070205080204" pitchFamily="50" charset="-128"/>
              </a:rPr>
              <a:t>lặp</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và</a:t>
            </a:r>
            <a:r>
              <a:rPr lang="en-US" altLang="ja-JP" dirty="0">
                <a:latin typeface="MS UI Gothic" panose="020B0600070205080204" pitchFamily="50" charset="-128"/>
                <a:ea typeface="MS UI Gothic" panose="020B0600070205080204" pitchFamily="50" charset="-128"/>
              </a:rPr>
              <a:t> nest</a:t>
            </a:r>
            <a:endParaRPr lang="en-US" altLang="ja-JP" dirty="0">
              <a:latin typeface="ＭＳ ゴシック" panose="020B0609070205080204" pitchFamily="49" charset="-128"/>
              <a:ea typeface="ＭＳ ゴシック" panose="020B0609070205080204" pitchFamily="49" charset="-128"/>
            </a:endParaRPr>
          </a:p>
        </p:txBody>
      </p:sp>
      <p:sp>
        <p:nvSpPr>
          <p:cNvPr id="768004" name="Rectangle 4">
            <a:extLst>
              <a:ext uri="{FF2B5EF4-FFF2-40B4-BE49-F238E27FC236}">
                <a16:creationId xmlns:a16="http://schemas.microsoft.com/office/drawing/2014/main" id="{B45E89A5-F0F5-4C11-332E-F495A9307BFC}"/>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Control lặp và nest</a:t>
            </a:r>
            <a:endParaRPr lang="en-US" altLang="ja-JP" sz="2400" b="0">
              <a:latin typeface="ＭＳ ゴシック" panose="020B0609070205080204" pitchFamily="49" charset="-128"/>
              <a:ea typeface="ＭＳ ゴシック" panose="020B0609070205080204" pitchFamily="49" charset="-128"/>
            </a:endParaRPr>
          </a:p>
          <a:p>
            <a:pPr>
              <a:spcBef>
                <a:spcPct val="50000"/>
              </a:spcBef>
              <a:buFont typeface="Wingdings" panose="05000000000000000000" pitchFamily="2" charset="2"/>
              <a:buNone/>
            </a:pPr>
            <a:r>
              <a:rPr lang="en-US" altLang="ja-JP" sz="2000" b="0"/>
              <a:t>●Ví dụ </a:t>
            </a:r>
            <a:r>
              <a:rPr lang="ja-JP" altLang="en-US" sz="2000" b="0"/>
              <a:t>： </a:t>
            </a:r>
            <a:r>
              <a:rPr lang="en-US" altLang="ja-JP" sz="2000" b="0"/>
              <a:t>Hiển thị tổ hợp giá trị x và y đã sử dụng từ 1 đến 3</a:t>
            </a:r>
          </a:p>
        </p:txBody>
      </p:sp>
      <p:sp>
        <p:nvSpPr>
          <p:cNvPr id="768016" name="Rectangle 16">
            <a:extLst>
              <a:ext uri="{FF2B5EF4-FFF2-40B4-BE49-F238E27FC236}">
                <a16:creationId xmlns:a16="http://schemas.microsoft.com/office/drawing/2014/main" id="{0AEA9D25-7F6F-FF36-BD32-7CB588417387}"/>
              </a:ext>
            </a:extLst>
          </p:cNvPr>
          <p:cNvSpPr>
            <a:spLocks noChangeArrowheads="1"/>
          </p:cNvSpPr>
          <p:nvPr/>
        </p:nvSpPr>
        <p:spPr bwMode="auto">
          <a:xfrm>
            <a:off x="357188" y="1881188"/>
            <a:ext cx="9040812" cy="35036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endParaRPr lang="en-US" altLang="ja-JP" sz="1800" b="0">
              <a:latin typeface="ＭＳ ゴシック" panose="020B0609070205080204" pitchFamily="49" charset="-128"/>
              <a:ea typeface="ＭＳ ゴシック" panose="020B0609070205080204" pitchFamily="49" charset="-128"/>
            </a:endParaRP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for (int x = 1; x &lt;= 3; x++) {</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    for (int y = 1; y &lt;= 3; y++) {</a:t>
            </a:r>
          </a:p>
          <a:p>
            <a:pPr lvl="1"/>
            <a:r>
              <a:rPr lang="en-US" altLang="ja-JP" sz="1800" b="0">
                <a:latin typeface="ＭＳ ゴシック" panose="020B0609070205080204" pitchFamily="49" charset="-128"/>
                <a:ea typeface="ＭＳ ゴシック" panose="020B0609070205080204" pitchFamily="49" charset="-128"/>
              </a:rPr>
              <a:t>        System.out.println("(x,y):" + x + "," + y);</a:t>
            </a:r>
          </a:p>
          <a:p>
            <a:pPr lvl="1"/>
            <a:r>
              <a:rPr lang="en-US" altLang="ja-JP" sz="1800" b="0">
                <a:latin typeface="ＭＳ ゴシック" panose="020B0609070205080204" pitchFamily="49" charset="-128"/>
                <a:ea typeface="ＭＳ ゴシック" panose="020B0609070205080204" pitchFamily="49" charset="-128"/>
              </a:rPr>
              <a:t>    }</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    System.out.println("----------------");</a:t>
            </a:r>
          </a:p>
          <a:p>
            <a:pPr lvl="1"/>
            <a:r>
              <a:rPr lang="en-US" altLang="ja-JP" sz="1800" b="0">
                <a:latin typeface="ＭＳ ゴシック" panose="020B0609070205080204" pitchFamily="49" charset="-128"/>
                <a:ea typeface="ＭＳ ゴシック" panose="020B0609070205080204" pitchFamily="49" charset="-128"/>
              </a:rPr>
              <a:t>}</a:t>
            </a:r>
          </a:p>
        </p:txBody>
      </p:sp>
      <p:sp>
        <p:nvSpPr>
          <p:cNvPr id="768013" name="AutoShape 13">
            <a:extLst>
              <a:ext uri="{FF2B5EF4-FFF2-40B4-BE49-F238E27FC236}">
                <a16:creationId xmlns:a16="http://schemas.microsoft.com/office/drawing/2014/main" id="{FE239492-557C-408D-475D-05DCEE82D28E}"/>
              </a:ext>
            </a:extLst>
          </p:cNvPr>
          <p:cNvSpPr>
            <a:spLocks noChangeArrowheads="1"/>
          </p:cNvSpPr>
          <p:nvPr/>
        </p:nvSpPr>
        <p:spPr bwMode="auto">
          <a:xfrm>
            <a:off x="873125" y="5740400"/>
            <a:ext cx="7185025" cy="566738"/>
          </a:xfrm>
          <a:prstGeom prst="wedgeRoundRectCallout">
            <a:avLst>
              <a:gd name="adj1" fmla="val 9148"/>
              <a:gd name="adj2" fmla="val -151120"/>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a:latin typeface="MS UI Gothic" panose="020B0600070205080204" pitchFamily="50" charset="-128"/>
              </a:rPr>
              <a:t>Trường hợp block là nest, nếu thực hiện indent thì code dễ đọc hơn</a:t>
            </a:r>
          </a:p>
        </p:txBody>
      </p:sp>
      <p:sp>
        <p:nvSpPr>
          <p:cNvPr id="768017" name="Rectangle 17">
            <a:extLst>
              <a:ext uri="{FF2B5EF4-FFF2-40B4-BE49-F238E27FC236}">
                <a16:creationId xmlns:a16="http://schemas.microsoft.com/office/drawing/2014/main" id="{91DE9CEC-BF19-F77C-B803-CF372F8CEB5F}"/>
              </a:ext>
            </a:extLst>
          </p:cNvPr>
          <p:cNvSpPr>
            <a:spLocks noChangeArrowheads="1"/>
          </p:cNvSpPr>
          <p:nvPr/>
        </p:nvSpPr>
        <p:spPr bwMode="auto">
          <a:xfrm>
            <a:off x="563563" y="2506663"/>
            <a:ext cx="8535987" cy="2486025"/>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68010" name="Rectangle 10">
            <a:extLst>
              <a:ext uri="{FF2B5EF4-FFF2-40B4-BE49-F238E27FC236}">
                <a16:creationId xmlns:a16="http://schemas.microsoft.com/office/drawing/2014/main" id="{8B5C59AD-9AD5-932B-1C97-96181C2AEE41}"/>
              </a:ext>
            </a:extLst>
          </p:cNvPr>
          <p:cNvSpPr>
            <a:spLocks noChangeArrowheads="1"/>
          </p:cNvSpPr>
          <p:nvPr/>
        </p:nvSpPr>
        <p:spPr bwMode="auto">
          <a:xfrm>
            <a:off x="7123113" y="3421063"/>
            <a:ext cx="1879600" cy="392112"/>
          </a:xfrm>
          <a:prstGeom prst="rect">
            <a:avLst/>
          </a:prstGeom>
          <a:solidFill>
            <a:schemeClr val="bg1"/>
          </a:solidFill>
          <a:ln w="25400" algn="ctr">
            <a:solidFill>
              <a:srgbClr val="FF6600"/>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latin typeface="ＭＳ ゴシック" panose="020B0609070205080204" pitchFamily="49" charset="-128"/>
                <a:ea typeface="ＭＳ ゴシック" panose="020B0609070205080204" pitchFamily="49" charset="-128"/>
              </a:rPr>
              <a:t>Loop bên trong</a:t>
            </a:r>
            <a:endParaRPr lang="en-US" altLang="ja-JP" sz="1800" b="0">
              <a:latin typeface="MS UI Gothic" panose="020B0600070205080204" pitchFamily="50" charset="-128"/>
              <a:ea typeface="MS UI Gothic" panose="020B0600070205080204" pitchFamily="50" charset="-128"/>
            </a:endParaRPr>
          </a:p>
        </p:txBody>
      </p:sp>
      <p:sp>
        <p:nvSpPr>
          <p:cNvPr id="768019" name="Rectangle 19">
            <a:extLst>
              <a:ext uri="{FF2B5EF4-FFF2-40B4-BE49-F238E27FC236}">
                <a16:creationId xmlns:a16="http://schemas.microsoft.com/office/drawing/2014/main" id="{6156236E-AF87-3FE7-0594-5A7994AF4BD6}"/>
              </a:ext>
            </a:extLst>
          </p:cNvPr>
          <p:cNvSpPr>
            <a:spLocks noChangeArrowheads="1"/>
          </p:cNvSpPr>
          <p:nvPr/>
        </p:nvSpPr>
        <p:spPr bwMode="auto">
          <a:xfrm>
            <a:off x="7119938" y="2008188"/>
            <a:ext cx="1958975" cy="392112"/>
          </a:xfrm>
          <a:prstGeom prst="rect">
            <a:avLst/>
          </a:prstGeom>
          <a:solidFill>
            <a:schemeClr val="bg1"/>
          </a:solidFill>
          <a:ln w="25400" algn="ctr">
            <a:solidFill>
              <a:srgbClr val="3FB007"/>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latin typeface="ＭＳ ゴシック" panose="020B0609070205080204" pitchFamily="49" charset="-128"/>
                <a:ea typeface="ＭＳ ゴシック" panose="020B0609070205080204" pitchFamily="49" charset="-128"/>
              </a:rPr>
              <a:t>Loop phía ngoài</a:t>
            </a:r>
            <a:endParaRPr lang="en-US" altLang="ja-JP" sz="1800" b="0">
              <a:latin typeface="MS UI Gothic" panose="020B0600070205080204" pitchFamily="50" charset="-128"/>
              <a:ea typeface="MS UI Gothic" panose="020B0600070205080204" pitchFamily="50" charset="-128"/>
            </a:endParaRPr>
          </a:p>
        </p:txBody>
      </p:sp>
      <p:cxnSp>
        <p:nvCxnSpPr>
          <p:cNvPr id="768021" name="AutoShape 21">
            <a:extLst>
              <a:ext uri="{FF2B5EF4-FFF2-40B4-BE49-F238E27FC236}">
                <a16:creationId xmlns:a16="http://schemas.microsoft.com/office/drawing/2014/main" id="{25725ED2-859F-BA72-BC16-9A80983393AD}"/>
              </a:ext>
            </a:extLst>
          </p:cNvPr>
          <p:cNvCxnSpPr>
            <a:cxnSpLocks noChangeShapeType="1"/>
            <a:stCxn id="768010" idx="1"/>
            <a:endCxn id="768007" idx="3"/>
          </p:cNvCxnSpPr>
          <p:nvPr/>
        </p:nvCxnSpPr>
        <p:spPr bwMode="auto">
          <a:xfrm flipH="1">
            <a:off x="6780213" y="3617913"/>
            <a:ext cx="330200" cy="46037"/>
          </a:xfrm>
          <a:prstGeom prst="straightConnector1">
            <a:avLst/>
          </a:prstGeom>
          <a:noFill/>
          <a:ln w="25400">
            <a:solidFill>
              <a:srgbClr val="FF6600"/>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68007" name="Rectangle 7">
            <a:extLst>
              <a:ext uri="{FF2B5EF4-FFF2-40B4-BE49-F238E27FC236}">
                <a16:creationId xmlns:a16="http://schemas.microsoft.com/office/drawing/2014/main" id="{7D78B4E5-158C-731C-0862-5E7AB0F28F1F}"/>
              </a:ext>
            </a:extLst>
          </p:cNvPr>
          <p:cNvSpPr>
            <a:spLocks noChangeArrowheads="1"/>
          </p:cNvSpPr>
          <p:nvPr/>
        </p:nvSpPr>
        <p:spPr bwMode="auto">
          <a:xfrm>
            <a:off x="931863" y="3109913"/>
            <a:ext cx="5835650" cy="1108075"/>
          </a:xfrm>
          <a:prstGeom prst="rect">
            <a:avLst/>
          </a:prstGeom>
          <a:noFill/>
          <a:ln w="25400" algn="ctr">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768022" name="AutoShape 22">
            <a:extLst>
              <a:ext uri="{FF2B5EF4-FFF2-40B4-BE49-F238E27FC236}">
                <a16:creationId xmlns:a16="http://schemas.microsoft.com/office/drawing/2014/main" id="{D7B2427D-6E8B-85B3-893C-3B9F0C4A13FA}"/>
              </a:ext>
            </a:extLst>
          </p:cNvPr>
          <p:cNvCxnSpPr>
            <a:cxnSpLocks noChangeShapeType="1"/>
            <a:stCxn id="768019" idx="1"/>
            <a:endCxn id="768017" idx="0"/>
          </p:cNvCxnSpPr>
          <p:nvPr/>
        </p:nvCxnSpPr>
        <p:spPr bwMode="auto">
          <a:xfrm rot="10800000" flipV="1">
            <a:off x="4832350" y="2205038"/>
            <a:ext cx="2274888" cy="288925"/>
          </a:xfrm>
          <a:prstGeom prst="bentConnector2">
            <a:avLst/>
          </a:prstGeom>
          <a:noFill/>
          <a:ln w="254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E0FC74F4-8018-DC57-B73A-2A8C82A0EAD0}"/>
              </a:ext>
            </a:extLst>
          </p:cNvPr>
          <p:cNvSpPr>
            <a:spLocks noGrp="1"/>
          </p:cNvSpPr>
          <p:nvPr>
            <p:ph type="sldNum" sz="quarter" idx="10"/>
          </p:nvPr>
        </p:nvSpPr>
        <p:spPr/>
        <p:txBody>
          <a:bodyPr/>
          <a:lstStyle/>
          <a:p>
            <a:fld id="{22B6C207-C43F-4FB6-BE9D-59A2717C17EA}" type="slidenum">
              <a:rPr lang="en-US" altLang="ja-JP"/>
              <a:pPr/>
              <a:t>39</a:t>
            </a:fld>
            <a:endParaRPr lang="en-US" altLang="ja-JP"/>
          </a:p>
        </p:txBody>
      </p:sp>
      <p:sp>
        <p:nvSpPr>
          <p:cNvPr id="774155" name="Rectangle 11">
            <a:extLst>
              <a:ext uri="{FF2B5EF4-FFF2-40B4-BE49-F238E27FC236}">
                <a16:creationId xmlns:a16="http://schemas.microsoft.com/office/drawing/2014/main" id="{FD42A5B7-C456-83A5-55B2-DFFD00AFEEE8}"/>
              </a:ext>
            </a:extLst>
          </p:cNvPr>
          <p:cNvSpPr>
            <a:spLocks noChangeArrowheads="1"/>
          </p:cNvSpPr>
          <p:nvPr/>
        </p:nvSpPr>
        <p:spPr bwMode="auto">
          <a:xfrm>
            <a:off x="5005388" y="2339975"/>
            <a:ext cx="4329112" cy="425132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p>
        </p:txBody>
      </p:sp>
      <p:grpSp>
        <p:nvGrpSpPr>
          <p:cNvPr id="774226" name="Group 82">
            <a:extLst>
              <a:ext uri="{FF2B5EF4-FFF2-40B4-BE49-F238E27FC236}">
                <a16:creationId xmlns:a16="http://schemas.microsoft.com/office/drawing/2014/main" id="{D37E2E77-4F94-F0FD-4AF7-90F1087ADCED}"/>
              </a:ext>
            </a:extLst>
          </p:cNvPr>
          <p:cNvGrpSpPr>
            <a:grpSpLocks/>
          </p:cNvGrpSpPr>
          <p:nvPr/>
        </p:nvGrpSpPr>
        <p:grpSpPr bwMode="auto">
          <a:xfrm>
            <a:off x="5400675" y="2368550"/>
            <a:ext cx="3551238" cy="4141788"/>
            <a:chOff x="3402" y="1492"/>
            <a:chExt cx="2237" cy="2609"/>
          </a:xfrm>
        </p:grpSpPr>
        <p:sp>
          <p:nvSpPr>
            <p:cNvPr id="774194" name="Rectangle 50">
              <a:extLst>
                <a:ext uri="{FF2B5EF4-FFF2-40B4-BE49-F238E27FC236}">
                  <a16:creationId xmlns:a16="http://schemas.microsoft.com/office/drawing/2014/main" id="{E4EA819D-992B-1A3A-B2EE-0CA657402CE8}"/>
                </a:ext>
              </a:extLst>
            </p:cNvPr>
            <p:cNvSpPr>
              <a:spLocks noChangeArrowheads="1"/>
            </p:cNvSpPr>
            <p:nvPr/>
          </p:nvSpPr>
          <p:spPr bwMode="auto">
            <a:xfrm>
              <a:off x="3487" y="2415"/>
              <a:ext cx="1869" cy="1167"/>
            </a:xfrm>
            <a:prstGeom prst="rect">
              <a:avLst/>
            </a:prstGeom>
            <a:solidFill>
              <a:srgbClr val="FFFFCC"/>
            </a:solidFill>
            <a:ln w="9525" cap="rnd">
              <a:solidFill>
                <a:srgbClr val="FF6600"/>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74185" name="Line 41">
              <a:extLst>
                <a:ext uri="{FF2B5EF4-FFF2-40B4-BE49-F238E27FC236}">
                  <a16:creationId xmlns:a16="http://schemas.microsoft.com/office/drawing/2014/main" id="{E9EDEA0A-FFED-25AC-5087-CC07F15B0E67}"/>
                </a:ext>
              </a:extLst>
            </p:cNvPr>
            <p:cNvSpPr>
              <a:spLocks noChangeShapeType="1"/>
            </p:cNvSpPr>
            <p:nvPr/>
          </p:nvSpPr>
          <p:spPr bwMode="auto">
            <a:xfrm>
              <a:off x="5040" y="3004"/>
              <a:ext cx="599" cy="0"/>
            </a:xfrm>
            <a:prstGeom prst="line">
              <a:avLst/>
            </a:prstGeom>
            <a:noFill/>
            <a:ln w="444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74" name="Line 30">
              <a:extLst>
                <a:ext uri="{FF2B5EF4-FFF2-40B4-BE49-F238E27FC236}">
                  <a16:creationId xmlns:a16="http://schemas.microsoft.com/office/drawing/2014/main" id="{98E914C4-A1D4-02E2-9D3F-87B1965AAB6C}"/>
                </a:ext>
              </a:extLst>
            </p:cNvPr>
            <p:cNvSpPr>
              <a:spLocks noChangeShapeType="1"/>
            </p:cNvSpPr>
            <p:nvPr/>
          </p:nvSpPr>
          <p:spPr bwMode="auto">
            <a:xfrm>
              <a:off x="4976" y="2209"/>
              <a:ext cx="658"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88" name="Line 44">
              <a:extLst>
                <a:ext uri="{FF2B5EF4-FFF2-40B4-BE49-F238E27FC236}">
                  <a16:creationId xmlns:a16="http://schemas.microsoft.com/office/drawing/2014/main" id="{A6A05C4C-1C73-DB05-DC16-A0EA0D6DE6C4}"/>
                </a:ext>
              </a:extLst>
            </p:cNvPr>
            <p:cNvSpPr>
              <a:spLocks noChangeShapeType="1"/>
            </p:cNvSpPr>
            <p:nvPr/>
          </p:nvSpPr>
          <p:spPr bwMode="auto">
            <a:xfrm>
              <a:off x="4392" y="2333"/>
              <a:ext cx="20" cy="1323"/>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72" name="AutoShape 28">
              <a:extLst>
                <a:ext uri="{FF2B5EF4-FFF2-40B4-BE49-F238E27FC236}">
                  <a16:creationId xmlns:a16="http://schemas.microsoft.com/office/drawing/2014/main" id="{759FB31F-0997-CAC7-EB08-903016F7974A}"/>
                </a:ext>
              </a:extLst>
            </p:cNvPr>
            <p:cNvSpPr>
              <a:spLocks noChangeArrowheads="1"/>
            </p:cNvSpPr>
            <p:nvPr/>
          </p:nvSpPr>
          <p:spPr bwMode="auto">
            <a:xfrm>
              <a:off x="3680" y="2038"/>
              <a:ext cx="1408" cy="342"/>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ＭＳ ゴシック" panose="020B0609070205080204" pitchFamily="49" charset="-128"/>
                  <a:ea typeface="ＭＳ ゴシック" panose="020B0609070205080204" pitchFamily="49" charset="-128"/>
                </a:rPr>
                <a:t>cnt &lt;= 10</a:t>
              </a:r>
              <a:endParaRPr lang="en-US" altLang="ja-JP" sz="1600">
                <a:latin typeface="ＭＳ ゴシック" panose="020B0609070205080204" pitchFamily="49" charset="-128"/>
                <a:ea typeface="ＭＳ ゴシック" panose="020B0609070205080204" pitchFamily="49" charset="-128"/>
              </a:endParaRPr>
            </a:p>
          </p:txBody>
        </p:sp>
        <p:sp>
          <p:nvSpPr>
            <p:cNvPr id="774175" name="Line 31">
              <a:extLst>
                <a:ext uri="{FF2B5EF4-FFF2-40B4-BE49-F238E27FC236}">
                  <a16:creationId xmlns:a16="http://schemas.microsoft.com/office/drawing/2014/main" id="{D620E66E-85D8-D953-97D3-FAE41AA5427D}"/>
                </a:ext>
              </a:extLst>
            </p:cNvPr>
            <p:cNvSpPr>
              <a:spLocks noChangeShapeType="1"/>
            </p:cNvSpPr>
            <p:nvPr/>
          </p:nvSpPr>
          <p:spPr bwMode="auto">
            <a:xfrm>
              <a:off x="3408" y="1887"/>
              <a:ext cx="0" cy="1768"/>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76" name="Line 32">
              <a:extLst>
                <a:ext uri="{FF2B5EF4-FFF2-40B4-BE49-F238E27FC236}">
                  <a16:creationId xmlns:a16="http://schemas.microsoft.com/office/drawing/2014/main" id="{CFDCB8A7-4099-7380-3ADF-08DFF0733D5E}"/>
                </a:ext>
              </a:extLst>
            </p:cNvPr>
            <p:cNvSpPr>
              <a:spLocks noChangeShapeType="1"/>
            </p:cNvSpPr>
            <p:nvPr/>
          </p:nvSpPr>
          <p:spPr bwMode="auto">
            <a:xfrm flipH="1">
              <a:off x="3402" y="1893"/>
              <a:ext cx="979"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78" name="Text Box 34">
              <a:extLst>
                <a:ext uri="{FF2B5EF4-FFF2-40B4-BE49-F238E27FC236}">
                  <a16:creationId xmlns:a16="http://schemas.microsoft.com/office/drawing/2014/main" id="{7E52D02F-AFD1-BFC5-F378-15090BB0BEFB}"/>
                </a:ext>
              </a:extLst>
            </p:cNvPr>
            <p:cNvSpPr txBox="1">
              <a:spLocks noChangeArrowheads="1"/>
            </p:cNvSpPr>
            <p:nvPr/>
          </p:nvSpPr>
          <p:spPr bwMode="auto">
            <a:xfrm>
              <a:off x="4951" y="2000"/>
              <a:ext cx="377" cy="1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false</a:t>
              </a:r>
              <a:endParaRPr lang="en-US" altLang="ja-JP" sz="1600">
                <a:latin typeface="MS UI Gothic" panose="020B0600070205080204" pitchFamily="50" charset="-128"/>
              </a:endParaRPr>
            </a:p>
          </p:txBody>
        </p:sp>
        <p:sp>
          <p:nvSpPr>
            <p:cNvPr id="774179" name="Line 35">
              <a:extLst>
                <a:ext uri="{FF2B5EF4-FFF2-40B4-BE49-F238E27FC236}">
                  <a16:creationId xmlns:a16="http://schemas.microsoft.com/office/drawing/2014/main" id="{89466BC5-E7C4-2F62-783A-6FBC00B7F968}"/>
                </a:ext>
              </a:extLst>
            </p:cNvPr>
            <p:cNvSpPr>
              <a:spLocks noChangeShapeType="1"/>
            </p:cNvSpPr>
            <p:nvPr/>
          </p:nvSpPr>
          <p:spPr bwMode="auto">
            <a:xfrm>
              <a:off x="3404" y="3650"/>
              <a:ext cx="1013"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80" name="Line 36">
              <a:extLst>
                <a:ext uri="{FF2B5EF4-FFF2-40B4-BE49-F238E27FC236}">
                  <a16:creationId xmlns:a16="http://schemas.microsoft.com/office/drawing/2014/main" id="{A6D84E3E-2EE2-0D04-B2F1-0F4297E2290C}"/>
                </a:ext>
              </a:extLst>
            </p:cNvPr>
            <p:cNvSpPr>
              <a:spLocks noChangeShapeType="1"/>
            </p:cNvSpPr>
            <p:nvPr/>
          </p:nvSpPr>
          <p:spPr bwMode="auto">
            <a:xfrm>
              <a:off x="5629" y="2204"/>
              <a:ext cx="0" cy="1632"/>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81" name="Line 37">
              <a:extLst>
                <a:ext uri="{FF2B5EF4-FFF2-40B4-BE49-F238E27FC236}">
                  <a16:creationId xmlns:a16="http://schemas.microsoft.com/office/drawing/2014/main" id="{E7DDE84C-3FC0-2485-3CC2-87FADE7817EE}"/>
                </a:ext>
              </a:extLst>
            </p:cNvPr>
            <p:cNvSpPr>
              <a:spLocks noChangeShapeType="1"/>
            </p:cNvSpPr>
            <p:nvPr/>
          </p:nvSpPr>
          <p:spPr bwMode="auto">
            <a:xfrm>
              <a:off x="4409" y="3832"/>
              <a:ext cx="1227"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82" name="Line 38">
              <a:extLst>
                <a:ext uri="{FF2B5EF4-FFF2-40B4-BE49-F238E27FC236}">
                  <a16:creationId xmlns:a16="http://schemas.microsoft.com/office/drawing/2014/main" id="{40D51F89-704B-4904-FB4C-B86FE257A998}"/>
                </a:ext>
              </a:extLst>
            </p:cNvPr>
            <p:cNvSpPr>
              <a:spLocks noChangeShapeType="1"/>
            </p:cNvSpPr>
            <p:nvPr/>
          </p:nvSpPr>
          <p:spPr bwMode="auto">
            <a:xfrm>
              <a:off x="4408" y="3826"/>
              <a:ext cx="0" cy="275"/>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4183" name="Line 39">
              <a:extLst>
                <a:ext uri="{FF2B5EF4-FFF2-40B4-BE49-F238E27FC236}">
                  <a16:creationId xmlns:a16="http://schemas.microsoft.com/office/drawing/2014/main" id="{FCC5F78D-B869-384E-B655-6CAA0C4028A8}"/>
                </a:ext>
              </a:extLst>
            </p:cNvPr>
            <p:cNvSpPr>
              <a:spLocks noChangeShapeType="1"/>
            </p:cNvSpPr>
            <p:nvPr/>
          </p:nvSpPr>
          <p:spPr bwMode="auto">
            <a:xfrm>
              <a:off x="4381" y="1492"/>
              <a:ext cx="0" cy="544"/>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74184" name="AutoShape 40">
              <a:extLst>
                <a:ext uri="{FF2B5EF4-FFF2-40B4-BE49-F238E27FC236}">
                  <a16:creationId xmlns:a16="http://schemas.microsoft.com/office/drawing/2014/main" id="{F34FFD6A-7A86-F1A2-A218-B88AD4F2E832}"/>
                </a:ext>
              </a:extLst>
            </p:cNvPr>
            <p:cNvSpPr>
              <a:spLocks noChangeArrowheads="1"/>
            </p:cNvSpPr>
            <p:nvPr/>
          </p:nvSpPr>
          <p:spPr bwMode="auto">
            <a:xfrm>
              <a:off x="3858" y="1614"/>
              <a:ext cx="1140" cy="191"/>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r>
                <a:rPr lang="en-US" altLang="ja-JP" sz="1600" b="0">
                  <a:latin typeface="ＭＳ ゴシック" panose="020B0609070205080204" pitchFamily="49" charset="-128"/>
                  <a:ea typeface="ＭＳ ゴシック" panose="020B0609070205080204" pitchFamily="49" charset="-128"/>
                </a:rPr>
                <a:t>cnt ← 1</a:t>
              </a:r>
              <a:endParaRPr lang="en-US" altLang="ja-JP" sz="1600">
                <a:latin typeface="ＭＳ ゴシック" panose="020B0609070205080204" pitchFamily="49" charset="-128"/>
                <a:ea typeface="ＭＳ ゴシック" panose="020B0609070205080204" pitchFamily="49" charset="-128"/>
              </a:endParaRPr>
            </a:p>
          </p:txBody>
        </p:sp>
        <p:sp>
          <p:nvSpPr>
            <p:cNvPr id="774186" name="Text Box 42">
              <a:extLst>
                <a:ext uri="{FF2B5EF4-FFF2-40B4-BE49-F238E27FC236}">
                  <a16:creationId xmlns:a16="http://schemas.microsoft.com/office/drawing/2014/main" id="{DB1F2689-8E08-E543-A131-1E5432FF6E81}"/>
                </a:ext>
              </a:extLst>
            </p:cNvPr>
            <p:cNvSpPr txBox="1">
              <a:spLocks noChangeArrowheads="1"/>
            </p:cNvSpPr>
            <p:nvPr/>
          </p:nvSpPr>
          <p:spPr bwMode="auto">
            <a:xfrm>
              <a:off x="4949" y="2794"/>
              <a:ext cx="377" cy="1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true</a:t>
              </a:r>
              <a:endParaRPr lang="en-US" altLang="ja-JP" sz="1600">
                <a:latin typeface="MS UI Gothic" panose="020B0600070205080204" pitchFamily="50" charset="-128"/>
              </a:endParaRPr>
            </a:p>
          </p:txBody>
        </p:sp>
        <p:sp>
          <p:nvSpPr>
            <p:cNvPr id="774187" name="Text Box 43">
              <a:extLst>
                <a:ext uri="{FF2B5EF4-FFF2-40B4-BE49-F238E27FC236}">
                  <a16:creationId xmlns:a16="http://schemas.microsoft.com/office/drawing/2014/main" id="{5CCA27FF-9E04-6686-5825-C90E39ED5072}"/>
                </a:ext>
              </a:extLst>
            </p:cNvPr>
            <p:cNvSpPr txBox="1">
              <a:spLocks noChangeArrowheads="1"/>
            </p:cNvSpPr>
            <p:nvPr/>
          </p:nvSpPr>
          <p:spPr bwMode="auto">
            <a:xfrm>
              <a:off x="4474" y="3133"/>
              <a:ext cx="377" cy="1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false</a:t>
              </a:r>
              <a:endParaRPr lang="en-US" altLang="ja-JP" sz="1600">
                <a:latin typeface="MS UI Gothic" panose="020B0600070205080204" pitchFamily="50" charset="-128"/>
              </a:endParaRPr>
            </a:p>
          </p:txBody>
        </p:sp>
        <p:sp>
          <p:nvSpPr>
            <p:cNvPr id="774189" name="AutoShape 45">
              <a:extLst>
                <a:ext uri="{FF2B5EF4-FFF2-40B4-BE49-F238E27FC236}">
                  <a16:creationId xmlns:a16="http://schemas.microsoft.com/office/drawing/2014/main" id="{9CB5DE04-1075-BA46-F61E-47E5E37B54EB}"/>
                </a:ext>
              </a:extLst>
            </p:cNvPr>
            <p:cNvSpPr>
              <a:spLocks noChangeArrowheads="1"/>
            </p:cNvSpPr>
            <p:nvPr/>
          </p:nvSpPr>
          <p:spPr bwMode="auto">
            <a:xfrm>
              <a:off x="3705" y="2857"/>
              <a:ext cx="1374" cy="294"/>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ＭＳ ゴシック" panose="020B0609070205080204" pitchFamily="49" charset="-128"/>
                  <a:ea typeface="ＭＳ ゴシック" panose="020B0609070205080204" pitchFamily="49" charset="-128"/>
                </a:rPr>
                <a:t>ans &gt; 10</a:t>
              </a:r>
              <a:endParaRPr lang="en-US" altLang="ja-JP" sz="1600">
                <a:latin typeface="ＭＳ ゴシック" panose="020B0609070205080204" pitchFamily="49" charset="-128"/>
                <a:ea typeface="ＭＳ ゴシック" panose="020B0609070205080204" pitchFamily="49" charset="-128"/>
              </a:endParaRPr>
            </a:p>
          </p:txBody>
        </p:sp>
        <p:sp>
          <p:nvSpPr>
            <p:cNvPr id="774190" name="AutoShape 46">
              <a:extLst>
                <a:ext uri="{FF2B5EF4-FFF2-40B4-BE49-F238E27FC236}">
                  <a16:creationId xmlns:a16="http://schemas.microsoft.com/office/drawing/2014/main" id="{C564AE30-74E9-C472-FA72-7143135E4E0F}"/>
                </a:ext>
              </a:extLst>
            </p:cNvPr>
            <p:cNvSpPr>
              <a:spLocks noChangeArrowheads="1"/>
            </p:cNvSpPr>
            <p:nvPr/>
          </p:nvSpPr>
          <p:spPr bwMode="auto">
            <a:xfrm>
              <a:off x="3858" y="2537"/>
              <a:ext cx="1141" cy="201"/>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r>
                <a:rPr lang="en-US" altLang="ja-JP" sz="1600" b="0">
                  <a:latin typeface="ＭＳ ゴシック" panose="020B0609070205080204" pitchFamily="49" charset="-128"/>
                  <a:ea typeface="ＭＳ ゴシック" panose="020B0609070205080204" pitchFamily="49" charset="-128"/>
                </a:rPr>
                <a:t>ans ← ans + cnt</a:t>
              </a:r>
              <a:endParaRPr lang="en-US" altLang="ja-JP" sz="1600">
                <a:latin typeface="ＭＳ ゴシック" panose="020B0609070205080204" pitchFamily="49" charset="-128"/>
                <a:ea typeface="ＭＳ ゴシック" panose="020B0609070205080204" pitchFamily="49" charset="-128"/>
              </a:endParaRPr>
            </a:p>
          </p:txBody>
        </p:sp>
        <p:sp>
          <p:nvSpPr>
            <p:cNvPr id="774191" name="AutoShape 47">
              <a:extLst>
                <a:ext uri="{FF2B5EF4-FFF2-40B4-BE49-F238E27FC236}">
                  <a16:creationId xmlns:a16="http://schemas.microsoft.com/office/drawing/2014/main" id="{DE9AAF66-50F4-9453-8737-2E40386D95C4}"/>
                </a:ext>
              </a:extLst>
            </p:cNvPr>
            <p:cNvSpPr>
              <a:spLocks noChangeArrowheads="1"/>
            </p:cNvSpPr>
            <p:nvPr/>
          </p:nvSpPr>
          <p:spPr bwMode="auto">
            <a:xfrm>
              <a:off x="3858" y="3306"/>
              <a:ext cx="1140" cy="216"/>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r>
                <a:rPr lang="en-US" altLang="ja-JP" sz="1600" b="0">
                  <a:latin typeface="ＭＳ ゴシック" panose="020B0609070205080204" pitchFamily="49" charset="-128"/>
                  <a:ea typeface="ＭＳ ゴシック" panose="020B0609070205080204" pitchFamily="49" charset="-128"/>
                </a:rPr>
                <a:t>cnt ← cnt + 1</a:t>
              </a:r>
              <a:endParaRPr lang="en-US" altLang="ja-JP" sz="1600">
                <a:latin typeface="ＭＳ ゴシック" panose="020B0609070205080204" pitchFamily="49" charset="-128"/>
                <a:ea typeface="ＭＳ ゴシック" panose="020B0609070205080204" pitchFamily="49" charset="-128"/>
              </a:endParaRPr>
            </a:p>
          </p:txBody>
        </p:sp>
        <p:sp>
          <p:nvSpPr>
            <p:cNvPr id="774199" name="Text Box 55">
              <a:extLst>
                <a:ext uri="{FF2B5EF4-FFF2-40B4-BE49-F238E27FC236}">
                  <a16:creationId xmlns:a16="http://schemas.microsoft.com/office/drawing/2014/main" id="{B6F2561E-17E4-B7BB-66C5-D64310926A0E}"/>
                </a:ext>
              </a:extLst>
            </p:cNvPr>
            <p:cNvSpPr txBox="1">
              <a:spLocks noChangeArrowheads="1"/>
            </p:cNvSpPr>
            <p:nvPr/>
          </p:nvSpPr>
          <p:spPr bwMode="auto">
            <a:xfrm>
              <a:off x="3456" y="2500"/>
              <a:ext cx="308" cy="52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spcBef>
                  <a:spcPct val="50000"/>
                </a:spcBef>
              </a:pPr>
              <a:r>
                <a:rPr lang="en-US" altLang="ja-JP" sz="1600" b="0" dirty="0" err="1"/>
                <a:t>Xử</a:t>
              </a:r>
              <a:r>
                <a:rPr lang="en-US" altLang="ja-JP" sz="1600" b="0" dirty="0"/>
                <a:t> </a:t>
              </a:r>
              <a:r>
                <a:rPr lang="en-US" altLang="ja-JP" sz="1600" b="0" dirty="0" err="1"/>
                <a:t>l</a:t>
              </a:r>
              <a:r>
                <a:rPr lang="en-US" altLang="ja-JP" sz="1600" b="0" dirty="0" err="1">
                  <a:latin typeface="MS UI Gothic" panose="020B0600070205080204" pitchFamily="50" charset="-128"/>
                </a:rPr>
                <a:t>í</a:t>
              </a:r>
              <a:r>
                <a:rPr lang="en-US" altLang="ja-JP" sz="1600" b="0" dirty="0"/>
                <a:t> </a:t>
              </a:r>
              <a:r>
                <a:rPr lang="en-US" altLang="ja-JP" sz="1600" b="0" dirty="0" err="1"/>
                <a:t>lặp</a:t>
              </a:r>
              <a:endParaRPr lang="en-US" altLang="ja-JP" sz="1600" b="0" dirty="0"/>
            </a:p>
          </p:txBody>
        </p:sp>
        <p:sp>
          <p:nvSpPr>
            <p:cNvPr id="774177" name="Text Box 33">
              <a:extLst>
                <a:ext uri="{FF2B5EF4-FFF2-40B4-BE49-F238E27FC236}">
                  <a16:creationId xmlns:a16="http://schemas.microsoft.com/office/drawing/2014/main" id="{CC76C783-02D7-ABC1-8065-A683E949EC61}"/>
                </a:ext>
              </a:extLst>
            </p:cNvPr>
            <p:cNvSpPr txBox="1">
              <a:spLocks noChangeArrowheads="1"/>
            </p:cNvSpPr>
            <p:nvPr/>
          </p:nvSpPr>
          <p:spPr bwMode="auto">
            <a:xfrm>
              <a:off x="4482" y="2286"/>
              <a:ext cx="377" cy="1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true</a:t>
              </a:r>
              <a:endParaRPr lang="en-US" altLang="ja-JP" sz="1600">
                <a:latin typeface="MS UI Gothic" panose="020B0600070205080204" pitchFamily="50" charset="-128"/>
              </a:endParaRPr>
            </a:p>
          </p:txBody>
        </p:sp>
      </p:grpSp>
      <p:sp>
        <p:nvSpPr>
          <p:cNvPr id="774146" name="Rectangle 2">
            <a:extLst>
              <a:ext uri="{FF2B5EF4-FFF2-40B4-BE49-F238E27FC236}">
                <a16:creationId xmlns:a16="http://schemas.microsoft.com/office/drawing/2014/main" id="{E93B20B1-D74A-D640-4AB8-80E69D6E96AA}"/>
              </a:ext>
            </a:extLst>
          </p:cNvPr>
          <p:cNvSpPr>
            <a:spLocks noGrp="1" noChangeArrowheads="1"/>
          </p:cNvSpPr>
          <p:nvPr>
            <p:ph type="title"/>
          </p:nvPr>
        </p:nvSpPr>
        <p:spPr>
          <a:xfrm>
            <a:off x="344488" y="256012"/>
            <a:ext cx="9217025" cy="490537"/>
          </a:xfrm>
        </p:spPr>
        <p:txBody>
          <a:bodyPr>
            <a:normAutofit fontScale="90000"/>
          </a:bodyPr>
          <a:lstStyle/>
          <a:p>
            <a:r>
              <a:rPr lang="en-US" altLang="ja-JP" dirty="0">
                <a:latin typeface="MS UI Gothic" panose="020B0600070205080204" pitchFamily="50" charset="-128"/>
                <a:ea typeface="MS UI Gothic" panose="020B0600070205080204" pitchFamily="50" charset="-128"/>
              </a:rPr>
              <a:t>Control </a:t>
            </a:r>
            <a:r>
              <a:rPr lang="en-US" altLang="ja-JP" dirty="0" err="1">
                <a:latin typeface="MS UI Gothic" panose="020B0600070205080204" pitchFamily="50" charset="-128"/>
                <a:ea typeface="MS UI Gothic" panose="020B0600070205080204" pitchFamily="50" charset="-128"/>
              </a:rPr>
              <a:t>lặp</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và</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câu</a:t>
            </a:r>
            <a:r>
              <a:rPr lang="en-US" altLang="ja-JP" dirty="0">
                <a:latin typeface="MS UI Gothic" panose="020B0600070205080204" pitchFamily="50" charset="-128"/>
                <a:ea typeface="MS UI Gothic" panose="020B0600070205080204" pitchFamily="50" charset="-128"/>
              </a:rPr>
              <a:t> </a:t>
            </a:r>
            <a:r>
              <a:rPr lang="en-US" altLang="ja-JP" dirty="0" err="1">
                <a:latin typeface="MS UI Gothic" panose="020B0600070205080204" pitchFamily="50" charset="-128"/>
                <a:ea typeface="MS UI Gothic" panose="020B0600070205080204" pitchFamily="50" charset="-128"/>
              </a:rPr>
              <a:t>lệnh</a:t>
            </a:r>
            <a:r>
              <a:rPr lang="en-US" altLang="ja-JP" dirty="0">
                <a:latin typeface="MS UI Gothic" panose="020B0600070205080204" pitchFamily="50" charset="-128"/>
                <a:ea typeface="MS UI Gothic" panose="020B0600070205080204" pitchFamily="50" charset="-128"/>
              </a:rPr>
              <a:t> </a:t>
            </a:r>
            <a:r>
              <a:rPr lang="en-US" altLang="ja-JP" dirty="0">
                <a:latin typeface="ＭＳ ゴシック" panose="020B0609070205080204" pitchFamily="49" charset="-128"/>
                <a:ea typeface="ＭＳ ゴシック" panose="020B0609070205080204" pitchFamily="49" charset="-128"/>
              </a:rPr>
              <a:t>break</a:t>
            </a:r>
            <a:endParaRPr lang="en-US" altLang="ja-JP" dirty="0">
              <a:latin typeface="MS UI Gothic" panose="020B0600070205080204" pitchFamily="50" charset="-128"/>
              <a:ea typeface="MS UI Gothic" panose="020B0600070205080204" pitchFamily="50" charset="-128"/>
            </a:endParaRPr>
          </a:p>
        </p:txBody>
      </p:sp>
      <p:sp>
        <p:nvSpPr>
          <p:cNvPr id="774147" name="Rectangle 3">
            <a:extLst>
              <a:ext uri="{FF2B5EF4-FFF2-40B4-BE49-F238E27FC236}">
                <a16:creationId xmlns:a16="http://schemas.microsoft.com/office/drawing/2014/main" id="{C49BD1F8-8AC5-1AA1-2F8E-37B949A99616}"/>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74148" name="Rectangle 4">
            <a:extLst>
              <a:ext uri="{FF2B5EF4-FFF2-40B4-BE49-F238E27FC236}">
                <a16:creationId xmlns:a16="http://schemas.microsoft.com/office/drawing/2014/main" id="{742806EA-0AD1-6662-7D53-A727527AB49B}"/>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Control lặp và câu lệnh </a:t>
            </a:r>
            <a:r>
              <a:rPr lang="en-US" altLang="ja-JP" sz="2400" b="0">
                <a:latin typeface="ＭＳ ゴシック" panose="020B0609070205080204" pitchFamily="49" charset="-128"/>
                <a:ea typeface="ＭＳ ゴシック" panose="020B0609070205080204" pitchFamily="49" charset="-128"/>
              </a:rPr>
              <a:t>break</a:t>
            </a:r>
            <a:endParaRPr lang="en-US" altLang="ja-JP" sz="2400" b="0"/>
          </a:p>
          <a:p>
            <a:pPr>
              <a:spcBef>
                <a:spcPct val="50000"/>
              </a:spcBef>
              <a:buFont typeface="Wingdings" panose="05000000000000000000" pitchFamily="2" charset="2"/>
              <a:buNone/>
            </a:pPr>
            <a:r>
              <a:rPr lang="en-US" altLang="ja-JP" sz="2000" b="0"/>
              <a:t>●Cú pháp  cơ bản</a:t>
            </a:r>
            <a:endParaRPr lang="en-US" altLang="ja-JP" sz="2400" b="0"/>
          </a:p>
          <a:p>
            <a:pPr lvl="1"/>
            <a:endParaRPr lang="en-US" altLang="ja-JP" sz="2400" b="0"/>
          </a:p>
        </p:txBody>
      </p:sp>
      <p:sp>
        <p:nvSpPr>
          <p:cNvPr id="774149" name="Text Box 5">
            <a:extLst>
              <a:ext uri="{FF2B5EF4-FFF2-40B4-BE49-F238E27FC236}">
                <a16:creationId xmlns:a16="http://schemas.microsoft.com/office/drawing/2014/main" id="{CAE7212C-0198-69BD-5EC4-D976FDB92807}"/>
              </a:ext>
            </a:extLst>
          </p:cNvPr>
          <p:cNvSpPr txBox="1">
            <a:spLocks noChangeArrowheads="1"/>
          </p:cNvSpPr>
          <p:nvPr/>
        </p:nvSpPr>
        <p:spPr bwMode="auto">
          <a:xfrm>
            <a:off x="344488" y="1751013"/>
            <a:ext cx="9120187" cy="4635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latin typeface="ＭＳ ゴシック" panose="020B0609070205080204" pitchFamily="49" charset="-128"/>
                <a:ea typeface="ＭＳ ゴシック" panose="020B0609070205080204" pitchFamily="49" charset="-128"/>
              </a:rPr>
              <a:t>break;</a:t>
            </a:r>
          </a:p>
        </p:txBody>
      </p:sp>
      <p:sp>
        <p:nvSpPr>
          <p:cNvPr id="774150" name="Rectangle 6">
            <a:extLst>
              <a:ext uri="{FF2B5EF4-FFF2-40B4-BE49-F238E27FC236}">
                <a16:creationId xmlns:a16="http://schemas.microsoft.com/office/drawing/2014/main" id="{EA9B0D36-52D9-CBAD-0F2D-162653580346}"/>
              </a:ext>
            </a:extLst>
          </p:cNvPr>
          <p:cNvSpPr>
            <a:spLocks noChangeArrowheads="1"/>
          </p:cNvSpPr>
          <p:nvPr/>
        </p:nvSpPr>
        <p:spPr bwMode="auto">
          <a:xfrm>
            <a:off x="344488" y="22955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●Ví dụ</a:t>
            </a:r>
            <a:endParaRPr lang="en-US" altLang="ja-JP" sz="2400" b="0"/>
          </a:p>
        </p:txBody>
      </p:sp>
      <p:sp>
        <p:nvSpPr>
          <p:cNvPr id="774196" name="AutoShape 52">
            <a:extLst>
              <a:ext uri="{FF2B5EF4-FFF2-40B4-BE49-F238E27FC236}">
                <a16:creationId xmlns:a16="http://schemas.microsoft.com/office/drawing/2014/main" id="{8BB29F54-0722-25A4-79D6-BC0FFEDDC53C}"/>
              </a:ext>
            </a:extLst>
          </p:cNvPr>
          <p:cNvSpPr>
            <a:spLocks noChangeArrowheads="1"/>
          </p:cNvSpPr>
          <p:nvPr/>
        </p:nvSpPr>
        <p:spPr bwMode="auto">
          <a:xfrm>
            <a:off x="3517900" y="1339850"/>
            <a:ext cx="5815013" cy="601663"/>
          </a:xfrm>
          <a:prstGeom prst="wedgeRoundRectCallout">
            <a:avLst>
              <a:gd name="adj1" fmla="val -53523"/>
              <a:gd name="adj2" fmla="val 65569"/>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latin typeface="ＭＳ ゴシック" panose="020B0609070205080204" pitchFamily="49" charset="-128"/>
                <a:ea typeface="ＭＳ ゴシック" panose="020B0609070205080204" pitchFamily="49" charset="-128"/>
              </a:rPr>
              <a:t>Câu lệnh break sẽ dùng trong trường hợp muốn thoát ra khỏi xử lí lặp</a:t>
            </a:r>
            <a:endParaRPr lang="en-US" altLang="ja-JP" sz="1800">
              <a:latin typeface="MS UI Gothic" panose="020B0600070205080204" pitchFamily="50" charset="-128"/>
            </a:endParaRPr>
          </a:p>
        </p:txBody>
      </p:sp>
      <p:grpSp>
        <p:nvGrpSpPr>
          <p:cNvPr id="774225" name="Group 81">
            <a:extLst>
              <a:ext uri="{FF2B5EF4-FFF2-40B4-BE49-F238E27FC236}">
                <a16:creationId xmlns:a16="http://schemas.microsoft.com/office/drawing/2014/main" id="{9E839656-8872-E76D-85B5-49ED7C5CC0B2}"/>
              </a:ext>
            </a:extLst>
          </p:cNvPr>
          <p:cNvGrpSpPr>
            <a:grpSpLocks/>
          </p:cNvGrpSpPr>
          <p:nvPr/>
        </p:nvGrpSpPr>
        <p:grpSpPr bwMode="auto">
          <a:xfrm>
            <a:off x="344488" y="2744788"/>
            <a:ext cx="4560887" cy="3287712"/>
            <a:chOff x="217" y="1729"/>
            <a:chExt cx="2873" cy="2071"/>
          </a:xfrm>
        </p:grpSpPr>
        <p:sp>
          <p:nvSpPr>
            <p:cNvPr id="774151" name="Rectangle 7">
              <a:extLst>
                <a:ext uri="{FF2B5EF4-FFF2-40B4-BE49-F238E27FC236}">
                  <a16:creationId xmlns:a16="http://schemas.microsoft.com/office/drawing/2014/main" id="{96A3F1D0-4EB2-2DD0-F471-59816BE682E3}"/>
                </a:ext>
              </a:extLst>
            </p:cNvPr>
            <p:cNvSpPr>
              <a:spLocks noChangeArrowheads="1"/>
            </p:cNvSpPr>
            <p:nvPr/>
          </p:nvSpPr>
          <p:spPr bwMode="auto">
            <a:xfrm>
              <a:off x="217" y="1729"/>
              <a:ext cx="2873" cy="2071"/>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int ans = 0;</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for (int cnt = 1;cnt &lt;= 10; cnt++) {</a:t>
              </a:r>
            </a:p>
            <a:p>
              <a:pPr lvl="1"/>
              <a:r>
                <a:rPr lang="en-US" altLang="ja-JP" sz="1800" b="0">
                  <a:latin typeface="ＭＳ ゴシック" panose="020B0609070205080204" pitchFamily="49" charset="-128"/>
                  <a:ea typeface="ＭＳ ゴシック" panose="020B0609070205080204" pitchFamily="49" charset="-128"/>
                </a:rPr>
                <a:t>   ans += cnt;</a:t>
              </a:r>
            </a:p>
            <a:p>
              <a:pPr lvl="1"/>
              <a:r>
                <a:rPr lang="en-US" altLang="ja-JP" sz="1800" b="0">
                  <a:latin typeface="ＭＳ ゴシック" panose="020B0609070205080204" pitchFamily="49" charset="-128"/>
                  <a:ea typeface="ＭＳ ゴシック" panose="020B0609070205080204" pitchFamily="49" charset="-128"/>
                </a:rPr>
                <a:t>   if (ans &gt; 10){</a:t>
              </a:r>
            </a:p>
            <a:p>
              <a:pPr lvl="1"/>
              <a:r>
                <a:rPr lang="en-US" altLang="ja-JP" sz="1800" b="0">
                  <a:latin typeface="ＭＳ ゴシック" panose="020B0609070205080204" pitchFamily="49" charset="-128"/>
                  <a:ea typeface="ＭＳ ゴシック" panose="020B0609070205080204" pitchFamily="49" charset="-128"/>
                </a:rPr>
                <a:t>       break;</a:t>
              </a:r>
            </a:p>
            <a:p>
              <a:pPr lvl="1"/>
              <a:r>
                <a:rPr lang="en-US" altLang="ja-JP" sz="1800" b="0">
                  <a:latin typeface="ＭＳ ゴシック" panose="020B0609070205080204" pitchFamily="49" charset="-128"/>
                  <a:ea typeface="ＭＳ ゴシック" panose="020B0609070205080204" pitchFamily="49" charset="-128"/>
                </a:rPr>
                <a:t>   }</a:t>
              </a:r>
            </a:p>
            <a:p>
              <a:pPr lvl="1"/>
              <a:r>
                <a:rPr lang="en-US" altLang="ja-JP" sz="1800" b="0">
                  <a:latin typeface="ＭＳ ゴシック" panose="020B0609070205080204" pitchFamily="49" charset="-128"/>
                  <a:ea typeface="ＭＳ ゴシック" panose="020B0609070205080204" pitchFamily="49" charset="-128"/>
                </a:rPr>
                <a:t>}</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System.out.println(ans);</a:t>
              </a:r>
            </a:p>
          </p:txBody>
        </p:sp>
        <p:sp>
          <p:nvSpPr>
            <p:cNvPr id="774201" name="Rectangle 57">
              <a:extLst>
                <a:ext uri="{FF2B5EF4-FFF2-40B4-BE49-F238E27FC236}">
                  <a16:creationId xmlns:a16="http://schemas.microsoft.com/office/drawing/2014/main" id="{7AE3AE0D-58AD-FF03-52D5-89CD3A8C26EE}"/>
                </a:ext>
              </a:extLst>
            </p:cNvPr>
            <p:cNvSpPr>
              <a:spLocks noChangeArrowheads="1"/>
            </p:cNvSpPr>
            <p:nvPr/>
          </p:nvSpPr>
          <p:spPr bwMode="auto">
            <a:xfrm>
              <a:off x="230" y="3460"/>
              <a:ext cx="432" cy="12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74210" name="Rectangle 66">
              <a:extLst>
                <a:ext uri="{FF2B5EF4-FFF2-40B4-BE49-F238E27FC236}">
                  <a16:creationId xmlns:a16="http://schemas.microsoft.com/office/drawing/2014/main" id="{6BAED118-7A4B-29E8-6E6C-4A104DA78C6E}"/>
                </a:ext>
              </a:extLst>
            </p:cNvPr>
            <p:cNvSpPr>
              <a:spLocks noChangeArrowheads="1"/>
            </p:cNvSpPr>
            <p:nvPr/>
          </p:nvSpPr>
          <p:spPr bwMode="auto">
            <a:xfrm>
              <a:off x="1024" y="1984"/>
              <a:ext cx="528" cy="20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774211" name="AutoShape 67">
              <a:extLst>
                <a:ext uri="{FF2B5EF4-FFF2-40B4-BE49-F238E27FC236}">
                  <a16:creationId xmlns:a16="http://schemas.microsoft.com/office/drawing/2014/main" id="{24C39C9F-EBDC-C008-36B8-7D3E5ECEE065}"/>
                </a:ext>
              </a:extLst>
            </p:cNvPr>
            <p:cNvCxnSpPr>
              <a:cxnSpLocks noChangeShapeType="1"/>
              <a:stCxn id="774152" idx="3"/>
              <a:endCxn id="774201" idx="0"/>
            </p:cNvCxnSpPr>
            <p:nvPr/>
          </p:nvCxnSpPr>
          <p:spPr bwMode="auto">
            <a:xfrm flipH="1">
              <a:off x="446" y="2821"/>
              <a:ext cx="959" cy="639"/>
            </a:xfrm>
            <a:prstGeom prst="curvedConnector4">
              <a:avLst>
                <a:gd name="adj1" fmla="val -13764"/>
                <a:gd name="adj2" fmla="val 58528"/>
              </a:avLst>
            </a:prstGeom>
            <a:noFill/>
            <a:ln w="25400">
              <a:solidFill>
                <a:srgbClr val="3FB007"/>
              </a:solidFill>
              <a:prstDash val="sysDot"/>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74212" name="Rectangle 68">
              <a:extLst>
                <a:ext uri="{FF2B5EF4-FFF2-40B4-BE49-F238E27FC236}">
                  <a16:creationId xmlns:a16="http://schemas.microsoft.com/office/drawing/2014/main" id="{38A67441-65CD-D583-2C79-A68DC22544F4}"/>
                </a:ext>
              </a:extLst>
            </p:cNvPr>
            <p:cNvSpPr>
              <a:spLocks noChangeArrowheads="1"/>
            </p:cNvSpPr>
            <p:nvPr/>
          </p:nvSpPr>
          <p:spPr bwMode="auto">
            <a:xfrm>
              <a:off x="335" y="2064"/>
              <a:ext cx="2682" cy="1234"/>
            </a:xfrm>
            <a:prstGeom prst="rect">
              <a:avLst/>
            </a:prstGeom>
            <a:noFill/>
            <a:ln w="25400">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74152" name="Rectangle 8">
              <a:extLst>
                <a:ext uri="{FF2B5EF4-FFF2-40B4-BE49-F238E27FC236}">
                  <a16:creationId xmlns:a16="http://schemas.microsoft.com/office/drawing/2014/main" id="{2F3F641F-90FB-DE1E-ACDE-C90896162513}"/>
                </a:ext>
              </a:extLst>
            </p:cNvPr>
            <p:cNvSpPr>
              <a:spLocks noChangeArrowheads="1"/>
            </p:cNvSpPr>
            <p:nvPr/>
          </p:nvSpPr>
          <p:spPr bwMode="auto">
            <a:xfrm>
              <a:off x="831" y="2712"/>
              <a:ext cx="562" cy="218"/>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74213" name="AutoShape 69">
              <a:extLst>
                <a:ext uri="{FF2B5EF4-FFF2-40B4-BE49-F238E27FC236}">
                  <a16:creationId xmlns:a16="http://schemas.microsoft.com/office/drawing/2014/main" id="{FA481327-5635-2B65-518F-7D0B51AFE5B1}"/>
                </a:ext>
              </a:extLst>
            </p:cNvPr>
            <p:cNvSpPr>
              <a:spLocks noChangeArrowheads="1"/>
            </p:cNvSpPr>
            <p:nvPr/>
          </p:nvSpPr>
          <p:spPr bwMode="auto">
            <a:xfrm>
              <a:off x="1687" y="2680"/>
              <a:ext cx="1099" cy="277"/>
            </a:xfrm>
            <a:prstGeom prst="wedgeRoundRectCallout">
              <a:avLst>
                <a:gd name="adj1" fmla="val -62829"/>
                <a:gd name="adj2" fmla="val 81046"/>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a:latin typeface="ＭＳ ゴシック" panose="020B0609070205080204" pitchFamily="49" charset="-128"/>
                  <a:ea typeface="ＭＳ ゴシック" panose="020B0609070205080204" pitchFamily="49" charset="-128"/>
                </a:rPr>
                <a:t>Thoát câu lệnh for</a:t>
              </a:r>
              <a:endParaRPr lang="en-US" altLang="ja-JP" sz="1400">
                <a:latin typeface="MS UI Gothic" panose="020B0600070205080204" pitchFamily="50" charset="-128"/>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70323F0E-0FE1-F378-EF1E-C7F8DDB61107}"/>
              </a:ext>
            </a:extLst>
          </p:cNvPr>
          <p:cNvSpPr>
            <a:spLocks noGrp="1"/>
          </p:cNvSpPr>
          <p:nvPr>
            <p:ph type="sldNum" sz="quarter" idx="10"/>
          </p:nvPr>
        </p:nvSpPr>
        <p:spPr/>
        <p:txBody>
          <a:bodyPr/>
          <a:lstStyle/>
          <a:p>
            <a:fld id="{C309DBCF-571B-42C9-BE10-73667D62E5FE}" type="slidenum">
              <a:rPr lang="en-US" altLang="ja-JP"/>
              <a:pPr/>
              <a:t>40</a:t>
            </a:fld>
            <a:endParaRPr lang="en-US" altLang="ja-JP"/>
          </a:p>
        </p:txBody>
      </p:sp>
      <p:sp>
        <p:nvSpPr>
          <p:cNvPr id="778242" name="Rectangle 2">
            <a:extLst>
              <a:ext uri="{FF2B5EF4-FFF2-40B4-BE49-F238E27FC236}">
                <a16:creationId xmlns:a16="http://schemas.microsoft.com/office/drawing/2014/main" id="{D0EBA60E-8DD1-EEB6-8DFE-04EDE3169C06}"/>
              </a:ext>
            </a:extLst>
          </p:cNvPr>
          <p:cNvSpPr>
            <a:spLocks noGrp="1" noChangeArrowheads="1"/>
          </p:cNvSpPr>
          <p:nvPr>
            <p:ph type="title"/>
          </p:nvPr>
        </p:nvSpPr>
        <p:spPr>
          <a:xfrm>
            <a:off x="354013" y="282057"/>
            <a:ext cx="9217025" cy="490537"/>
          </a:xfrm>
        </p:spPr>
        <p:txBody>
          <a:bodyPr>
            <a:normAutofit fontScale="90000"/>
          </a:bodyPr>
          <a:lstStyle/>
          <a:p>
            <a:r>
              <a:rPr lang="en-US" altLang="ja-JP" dirty="0">
                <a:latin typeface="+mj-lt"/>
                <a:ea typeface="MS UI Gothic" panose="020B0600070205080204" pitchFamily="50" charset="-128"/>
              </a:rPr>
              <a:t>Control </a:t>
            </a:r>
            <a:r>
              <a:rPr lang="en-US" altLang="ja-JP" dirty="0" err="1">
                <a:latin typeface="+mj-lt"/>
                <a:ea typeface="MS UI Gothic" panose="020B0600070205080204" pitchFamily="50" charset="-128"/>
              </a:rPr>
              <a:t>lặp</a:t>
            </a:r>
            <a:r>
              <a:rPr lang="en-US" altLang="ja-JP" dirty="0">
                <a:latin typeface="+mj-lt"/>
                <a:ea typeface="MS UI Gothic" panose="020B0600070205080204" pitchFamily="50" charset="-128"/>
              </a:rPr>
              <a:t> </a:t>
            </a:r>
            <a:r>
              <a:rPr lang="en-US" altLang="ja-JP" dirty="0" err="1">
                <a:latin typeface="+mj-lt"/>
                <a:ea typeface="MS UI Gothic" panose="020B0600070205080204" pitchFamily="50" charset="-128"/>
              </a:rPr>
              <a:t>và</a:t>
            </a:r>
            <a:r>
              <a:rPr lang="en-US" altLang="ja-JP" dirty="0">
                <a:latin typeface="+mj-lt"/>
                <a:ea typeface="MS UI Gothic" panose="020B0600070205080204" pitchFamily="50" charset="-128"/>
              </a:rPr>
              <a:t> </a:t>
            </a:r>
            <a:r>
              <a:rPr lang="en-US" altLang="ja-JP" dirty="0" err="1">
                <a:latin typeface="+mj-lt"/>
                <a:ea typeface="MS UI Gothic" panose="020B0600070205080204" pitchFamily="50" charset="-128"/>
              </a:rPr>
              <a:t>câu</a:t>
            </a:r>
            <a:r>
              <a:rPr lang="en-US" altLang="ja-JP" dirty="0">
                <a:latin typeface="+mj-lt"/>
                <a:ea typeface="MS UI Gothic" panose="020B0600070205080204" pitchFamily="50" charset="-128"/>
              </a:rPr>
              <a:t> </a:t>
            </a:r>
            <a:r>
              <a:rPr lang="en-US" altLang="ja-JP" dirty="0" err="1">
                <a:latin typeface="+mj-lt"/>
                <a:ea typeface="MS UI Gothic" panose="020B0600070205080204" pitchFamily="50" charset="-128"/>
              </a:rPr>
              <a:t>lệnh</a:t>
            </a:r>
            <a:r>
              <a:rPr lang="en-US" altLang="ja-JP" dirty="0">
                <a:latin typeface="+mj-lt"/>
                <a:ea typeface="MS UI Gothic" panose="020B0600070205080204" pitchFamily="50" charset="-128"/>
              </a:rPr>
              <a:t> </a:t>
            </a:r>
            <a:r>
              <a:rPr lang="en-US" altLang="ja-JP" dirty="0">
                <a:latin typeface="+mj-lt"/>
                <a:ea typeface="ＭＳ ゴシック" panose="020B0609070205080204" pitchFamily="49" charset="-128"/>
              </a:rPr>
              <a:t>continue</a:t>
            </a:r>
            <a:endParaRPr lang="en-US" altLang="ja-JP" dirty="0">
              <a:latin typeface="+mj-lt"/>
              <a:ea typeface="MS UI Gothic" panose="020B0600070205080204" pitchFamily="50" charset="-128"/>
            </a:endParaRPr>
          </a:p>
        </p:txBody>
      </p:sp>
      <p:sp>
        <p:nvSpPr>
          <p:cNvPr id="778243" name="Rectangle 3">
            <a:extLst>
              <a:ext uri="{FF2B5EF4-FFF2-40B4-BE49-F238E27FC236}">
                <a16:creationId xmlns:a16="http://schemas.microsoft.com/office/drawing/2014/main" id="{E5BD3583-67BD-2DED-B0D1-401990A4E7B8}"/>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778244" name="Rectangle 4">
            <a:extLst>
              <a:ext uri="{FF2B5EF4-FFF2-40B4-BE49-F238E27FC236}">
                <a16:creationId xmlns:a16="http://schemas.microsoft.com/office/drawing/2014/main" id="{DF2A3A05-7009-07A9-C71B-5B9EEB26DB6C}"/>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Control lặp và câu lệnh </a:t>
            </a:r>
            <a:r>
              <a:rPr lang="en-US" altLang="ja-JP" sz="2400" b="0">
                <a:latin typeface="ＭＳ ゴシック" panose="020B0609070205080204" pitchFamily="49" charset="-128"/>
                <a:ea typeface="ＭＳ ゴシック" panose="020B0609070205080204" pitchFamily="49" charset="-128"/>
              </a:rPr>
              <a:t>continue</a:t>
            </a:r>
            <a:endParaRPr lang="en-US" altLang="ja-JP" sz="2400" b="0"/>
          </a:p>
          <a:p>
            <a:pPr>
              <a:spcBef>
                <a:spcPct val="50000"/>
              </a:spcBef>
              <a:buFont typeface="Wingdings" panose="05000000000000000000" pitchFamily="2" charset="2"/>
              <a:buNone/>
            </a:pPr>
            <a:r>
              <a:rPr lang="en-US" altLang="ja-JP" sz="2000" b="0"/>
              <a:t>●Cú pháp  cơ bản</a:t>
            </a:r>
            <a:endParaRPr lang="en-US" altLang="ja-JP" sz="2400" b="0"/>
          </a:p>
          <a:p>
            <a:pPr lvl="1"/>
            <a:endParaRPr lang="en-US" altLang="ja-JP" sz="2400" b="0"/>
          </a:p>
        </p:txBody>
      </p:sp>
      <p:sp>
        <p:nvSpPr>
          <p:cNvPr id="778245" name="Text Box 5">
            <a:extLst>
              <a:ext uri="{FF2B5EF4-FFF2-40B4-BE49-F238E27FC236}">
                <a16:creationId xmlns:a16="http://schemas.microsoft.com/office/drawing/2014/main" id="{B276224F-48E2-CC95-FCB3-9B33D26C4761}"/>
              </a:ext>
            </a:extLst>
          </p:cNvPr>
          <p:cNvSpPr txBox="1">
            <a:spLocks noChangeArrowheads="1"/>
          </p:cNvSpPr>
          <p:nvPr/>
        </p:nvSpPr>
        <p:spPr bwMode="auto">
          <a:xfrm>
            <a:off x="344488" y="1751013"/>
            <a:ext cx="9120187" cy="4635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latin typeface="ＭＳ ゴシック" panose="020B0609070205080204" pitchFamily="49" charset="-128"/>
                <a:ea typeface="ＭＳ ゴシック" panose="020B0609070205080204" pitchFamily="49" charset="-128"/>
              </a:rPr>
              <a:t>continue;</a:t>
            </a:r>
          </a:p>
        </p:txBody>
      </p:sp>
      <p:sp>
        <p:nvSpPr>
          <p:cNvPr id="778246" name="Rectangle 6">
            <a:extLst>
              <a:ext uri="{FF2B5EF4-FFF2-40B4-BE49-F238E27FC236}">
                <a16:creationId xmlns:a16="http://schemas.microsoft.com/office/drawing/2014/main" id="{11D8C995-4EC4-1959-00A2-BC554BFD4745}"/>
              </a:ext>
            </a:extLst>
          </p:cNvPr>
          <p:cNvSpPr>
            <a:spLocks noChangeArrowheads="1"/>
          </p:cNvSpPr>
          <p:nvPr/>
        </p:nvSpPr>
        <p:spPr bwMode="auto">
          <a:xfrm>
            <a:off x="344488" y="22955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●Ví dụ</a:t>
            </a:r>
            <a:endParaRPr lang="en-US" altLang="ja-JP" sz="2400" b="0"/>
          </a:p>
        </p:txBody>
      </p:sp>
      <p:sp>
        <p:nvSpPr>
          <p:cNvPr id="778272" name="AutoShape 32">
            <a:extLst>
              <a:ext uri="{FF2B5EF4-FFF2-40B4-BE49-F238E27FC236}">
                <a16:creationId xmlns:a16="http://schemas.microsoft.com/office/drawing/2014/main" id="{C8303673-C0C6-655A-654D-759A22E59A7D}"/>
              </a:ext>
            </a:extLst>
          </p:cNvPr>
          <p:cNvSpPr>
            <a:spLocks noChangeArrowheads="1"/>
          </p:cNvSpPr>
          <p:nvPr/>
        </p:nvSpPr>
        <p:spPr bwMode="auto">
          <a:xfrm>
            <a:off x="3659188" y="1319213"/>
            <a:ext cx="5911850" cy="477837"/>
          </a:xfrm>
          <a:prstGeom prst="wedgeRoundRectCallout">
            <a:avLst>
              <a:gd name="adj1" fmla="val -65949"/>
              <a:gd name="adj2" fmla="val 111463"/>
              <a:gd name="adj3" fmla="val 16667"/>
            </a:avLst>
          </a:prstGeom>
          <a:solidFill>
            <a:srgbClr val="FFCC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nchor="ctr"/>
          <a:lstStyle/>
          <a:p>
            <a:pPr algn="ctr"/>
            <a:r>
              <a:rPr lang="en-US" altLang="ja-JP" sz="1800" dirty="0" err="1">
                <a:latin typeface="+mj-lt"/>
                <a:ea typeface="ＭＳ ゴシック" panose="020B0609070205080204" pitchFamily="49" charset="-128"/>
              </a:rPr>
              <a:t>Câu</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lệnh</a:t>
            </a:r>
            <a:r>
              <a:rPr lang="en-US" altLang="ja-JP" sz="1800" dirty="0">
                <a:latin typeface="+mj-lt"/>
                <a:ea typeface="ＭＳ ゴシック" panose="020B0609070205080204" pitchFamily="49" charset="-128"/>
              </a:rPr>
              <a:t> continue, </a:t>
            </a:r>
            <a:r>
              <a:rPr lang="en-US" altLang="ja-JP" sz="1800" dirty="0" err="1">
                <a:latin typeface="+mj-lt"/>
                <a:ea typeface="ＭＳ ゴシック" panose="020B0609070205080204" pitchFamily="49" charset="-128"/>
              </a:rPr>
              <a:t>sẽ</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dùng</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khi</a:t>
            </a:r>
            <a:r>
              <a:rPr lang="en-US" altLang="ja-JP" sz="1800" dirty="0">
                <a:latin typeface="+mj-lt"/>
                <a:ea typeface="ＭＳ ゴシック" panose="020B0609070205080204" pitchFamily="49" charset="-128"/>
              </a:rPr>
              <a:t> skip </a:t>
            </a:r>
            <a:r>
              <a:rPr lang="en-US" altLang="ja-JP" sz="1800" dirty="0" err="1">
                <a:latin typeface="+mj-lt"/>
                <a:ea typeface="ＭＳ ゴシック" panose="020B0609070205080204" pitchFamily="49" charset="-128"/>
              </a:rPr>
              <a:t>xử</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lí</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còn</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lại</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của</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xử</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lí</a:t>
            </a:r>
            <a:r>
              <a:rPr lang="en-US" altLang="ja-JP" sz="1800" dirty="0">
                <a:latin typeface="+mj-lt"/>
                <a:ea typeface="ＭＳ ゴシック" panose="020B0609070205080204" pitchFamily="49" charset="-128"/>
              </a:rPr>
              <a:t> </a:t>
            </a:r>
            <a:r>
              <a:rPr lang="en-US" altLang="ja-JP" sz="1800" dirty="0" err="1">
                <a:latin typeface="+mj-lt"/>
                <a:ea typeface="ＭＳ ゴシック" panose="020B0609070205080204" pitchFamily="49" charset="-128"/>
              </a:rPr>
              <a:t>lặp</a:t>
            </a:r>
            <a:endParaRPr lang="en-US" altLang="ja-JP" sz="1800" dirty="0">
              <a:latin typeface="+mj-lt"/>
            </a:endParaRPr>
          </a:p>
        </p:txBody>
      </p:sp>
      <p:grpSp>
        <p:nvGrpSpPr>
          <p:cNvPr id="778288" name="Group 48">
            <a:extLst>
              <a:ext uri="{FF2B5EF4-FFF2-40B4-BE49-F238E27FC236}">
                <a16:creationId xmlns:a16="http://schemas.microsoft.com/office/drawing/2014/main" id="{16A52F66-C12C-5C7C-13F7-71D765EB9354}"/>
              </a:ext>
            </a:extLst>
          </p:cNvPr>
          <p:cNvGrpSpPr>
            <a:grpSpLocks/>
          </p:cNvGrpSpPr>
          <p:nvPr/>
        </p:nvGrpSpPr>
        <p:grpSpPr bwMode="auto">
          <a:xfrm>
            <a:off x="5186363" y="2339975"/>
            <a:ext cx="4208462" cy="4194175"/>
            <a:chOff x="3303" y="1474"/>
            <a:chExt cx="2651" cy="2642"/>
          </a:xfrm>
        </p:grpSpPr>
        <p:sp>
          <p:nvSpPr>
            <p:cNvPr id="778250" name="Rectangle 10">
              <a:extLst>
                <a:ext uri="{FF2B5EF4-FFF2-40B4-BE49-F238E27FC236}">
                  <a16:creationId xmlns:a16="http://schemas.microsoft.com/office/drawing/2014/main" id="{73477DC9-57F6-2FED-5711-B64595FD1B94}"/>
                </a:ext>
              </a:extLst>
            </p:cNvPr>
            <p:cNvSpPr>
              <a:spLocks noChangeArrowheads="1"/>
            </p:cNvSpPr>
            <p:nvPr/>
          </p:nvSpPr>
          <p:spPr bwMode="auto">
            <a:xfrm>
              <a:off x="3303" y="1474"/>
              <a:ext cx="2651" cy="264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78286" name="Rectangle 46">
              <a:extLst>
                <a:ext uri="{FF2B5EF4-FFF2-40B4-BE49-F238E27FC236}">
                  <a16:creationId xmlns:a16="http://schemas.microsoft.com/office/drawing/2014/main" id="{55B550FB-67B1-7393-E2DF-1B9C280DFF72}"/>
                </a:ext>
              </a:extLst>
            </p:cNvPr>
            <p:cNvSpPr>
              <a:spLocks noChangeArrowheads="1"/>
            </p:cNvSpPr>
            <p:nvPr/>
          </p:nvSpPr>
          <p:spPr bwMode="auto">
            <a:xfrm>
              <a:off x="3561" y="2425"/>
              <a:ext cx="1944" cy="965"/>
            </a:xfrm>
            <a:prstGeom prst="rect">
              <a:avLst/>
            </a:prstGeom>
            <a:solidFill>
              <a:srgbClr val="FFFFCC"/>
            </a:solidFill>
            <a:ln w="9525" cap="rnd">
              <a:solidFill>
                <a:srgbClr val="FF6600"/>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78251" name="Line 11">
              <a:extLst>
                <a:ext uri="{FF2B5EF4-FFF2-40B4-BE49-F238E27FC236}">
                  <a16:creationId xmlns:a16="http://schemas.microsoft.com/office/drawing/2014/main" id="{ECB75331-5DB0-82C5-92B1-CC0F96FACC6A}"/>
                </a:ext>
              </a:extLst>
            </p:cNvPr>
            <p:cNvSpPr>
              <a:spLocks noChangeShapeType="1"/>
            </p:cNvSpPr>
            <p:nvPr/>
          </p:nvSpPr>
          <p:spPr bwMode="auto">
            <a:xfrm>
              <a:off x="5124" y="2676"/>
              <a:ext cx="512" cy="0"/>
            </a:xfrm>
            <a:prstGeom prst="line">
              <a:avLst/>
            </a:prstGeom>
            <a:noFill/>
            <a:ln w="444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52" name="Line 12">
              <a:extLst>
                <a:ext uri="{FF2B5EF4-FFF2-40B4-BE49-F238E27FC236}">
                  <a16:creationId xmlns:a16="http://schemas.microsoft.com/office/drawing/2014/main" id="{7F94FB64-58AA-C405-4010-CC75F0A884F2}"/>
                </a:ext>
              </a:extLst>
            </p:cNvPr>
            <p:cNvSpPr>
              <a:spLocks noChangeShapeType="1"/>
            </p:cNvSpPr>
            <p:nvPr/>
          </p:nvSpPr>
          <p:spPr bwMode="auto">
            <a:xfrm>
              <a:off x="5080" y="2209"/>
              <a:ext cx="719"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53" name="Line 13">
              <a:extLst>
                <a:ext uri="{FF2B5EF4-FFF2-40B4-BE49-F238E27FC236}">
                  <a16:creationId xmlns:a16="http://schemas.microsoft.com/office/drawing/2014/main" id="{392B9C8A-C211-EB28-0F36-A6618C2AE1CA}"/>
                </a:ext>
              </a:extLst>
            </p:cNvPr>
            <p:cNvSpPr>
              <a:spLocks noChangeShapeType="1"/>
            </p:cNvSpPr>
            <p:nvPr/>
          </p:nvSpPr>
          <p:spPr bwMode="auto">
            <a:xfrm>
              <a:off x="4476" y="2375"/>
              <a:ext cx="5" cy="1509"/>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54" name="AutoShape 14">
              <a:extLst>
                <a:ext uri="{FF2B5EF4-FFF2-40B4-BE49-F238E27FC236}">
                  <a16:creationId xmlns:a16="http://schemas.microsoft.com/office/drawing/2014/main" id="{22148609-6EA5-23F6-7C42-73DE5B26886E}"/>
                </a:ext>
              </a:extLst>
            </p:cNvPr>
            <p:cNvSpPr>
              <a:spLocks noChangeArrowheads="1"/>
            </p:cNvSpPr>
            <p:nvPr/>
          </p:nvSpPr>
          <p:spPr bwMode="auto">
            <a:xfrm>
              <a:off x="3764" y="2038"/>
              <a:ext cx="1408" cy="342"/>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cnt &lt;= 10</a:t>
              </a:r>
              <a:endParaRPr lang="en-US" altLang="ja-JP" sz="1600">
                <a:latin typeface="MS UI Gothic" panose="020B0600070205080204" pitchFamily="50" charset="-128"/>
              </a:endParaRPr>
            </a:p>
          </p:txBody>
        </p:sp>
        <p:sp>
          <p:nvSpPr>
            <p:cNvPr id="778255" name="Line 15">
              <a:extLst>
                <a:ext uri="{FF2B5EF4-FFF2-40B4-BE49-F238E27FC236}">
                  <a16:creationId xmlns:a16="http://schemas.microsoft.com/office/drawing/2014/main" id="{FD731540-85FD-7A81-CD45-E2761C608E1F}"/>
                </a:ext>
              </a:extLst>
            </p:cNvPr>
            <p:cNvSpPr>
              <a:spLocks noChangeShapeType="1"/>
            </p:cNvSpPr>
            <p:nvPr/>
          </p:nvSpPr>
          <p:spPr bwMode="auto">
            <a:xfrm>
              <a:off x="3420" y="1887"/>
              <a:ext cx="0" cy="1993"/>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56" name="Line 16">
              <a:extLst>
                <a:ext uri="{FF2B5EF4-FFF2-40B4-BE49-F238E27FC236}">
                  <a16:creationId xmlns:a16="http://schemas.microsoft.com/office/drawing/2014/main" id="{FB607475-0C7F-4F61-FFEC-20978281DAE2}"/>
                </a:ext>
              </a:extLst>
            </p:cNvPr>
            <p:cNvSpPr>
              <a:spLocks noChangeShapeType="1"/>
            </p:cNvSpPr>
            <p:nvPr/>
          </p:nvSpPr>
          <p:spPr bwMode="auto">
            <a:xfrm flipH="1">
              <a:off x="3423" y="1887"/>
              <a:ext cx="1048" cy="0"/>
            </a:xfrm>
            <a:prstGeom prst="line">
              <a:avLst/>
            </a:prstGeom>
            <a:noFill/>
            <a:ln w="1905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57" name="Text Box 17">
              <a:extLst>
                <a:ext uri="{FF2B5EF4-FFF2-40B4-BE49-F238E27FC236}">
                  <a16:creationId xmlns:a16="http://schemas.microsoft.com/office/drawing/2014/main" id="{BAA76E26-6038-7325-C713-6AA6D89BACF1}"/>
                </a:ext>
              </a:extLst>
            </p:cNvPr>
            <p:cNvSpPr txBox="1">
              <a:spLocks noChangeArrowheads="1"/>
            </p:cNvSpPr>
            <p:nvPr/>
          </p:nvSpPr>
          <p:spPr bwMode="auto">
            <a:xfrm>
              <a:off x="4558" y="2294"/>
              <a:ext cx="377" cy="1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true</a:t>
              </a:r>
              <a:endParaRPr lang="en-US" altLang="ja-JP" sz="1600">
                <a:latin typeface="MS UI Gothic" panose="020B0600070205080204" pitchFamily="50" charset="-128"/>
              </a:endParaRPr>
            </a:p>
          </p:txBody>
        </p:sp>
        <p:sp>
          <p:nvSpPr>
            <p:cNvPr id="778258" name="Text Box 18">
              <a:extLst>
                <a:ext uri="{FF2B5EF4-FFF2-40B4-BE49-F238E27FC236}">
                  <a16:creationId xmlns:a16="http://schemas.microsoft.com/office/drawing/2014/main" id="{02DF27A8-AB56-6DEC-66CE-3FE9B71D91A5}"/>
                </a:ext>
              </a:extLst>
            </p:cNvPr>
            <p:cNvSpPr txBox="1">
              <a:spLocks noChangeArrowheads="1"/>
            </p:cNvSpPr>
            <p:nvPr/>
          </p:nvSpPr>
          <p:spPr bwMode="auto">
            <a:xfrm>
              <a:off x="5035" y="2000"/>
              <a:ext cx="377" cy="1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false</a:t>
              </a:r>
              <a:endParaRPr lang="en-US" altLang="ja-JP" sz="1600">
                <a:latin typeface="MS UI Gothic" panose="020B0600070205080204" pitchFamily="50" charset="-128"/>
              </a:endParaRPr>
            </a:p>
          </p:txBody>
        </p:sp>
        <p:sp>
          <p:nvSpPr>
            <p:cNvPr id="778259" name="Line 19">
              <a:extLst>
                <a:ext uri="{FF2B5EF4-FFF2-40B4-BE49-F238E27FC236}">
                  <a16:creationId xmlns:a16="http://schemas.microsoft.com/office/drawing/2014/main" id="{782D3CDE-F92E-5E0E-EC01-E28EC927AC2B}"/>
                </a:ext>
              </a:extLst>
            </p:cNvPr>
            <p:cNvSpPr>
              <a:spLocks noChangeShapeType="1"/>
            </p:cNvSpPr>
            <p:nvPr/>
          </p:nvSpPr>
          <p:spPr bwMode="auto">
            <a:xfrm>
              <a:off x="3423" y="3878"/>
              <a:ext cx="105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60" name="Line 20">
              <a:extLst>
                <a:ext uri="{FF2B5EF4-FFF2-40B4-BE49-F238E27FC236}">
                  <a16:creationId xmlns:a16="http://schemas.microsoft.com/office/drawing/2014/main" id="{0B6366A7-6167-C5F9-ADE3-4D29C094DE64}"/>
                </a:ext>
              </a:extLst>
            </p:cNvPr>
            <p:cNvSpPr>
              <a:spLocks noChangeShapeType="1"/>
            </p:cNvSpPr>
            <p:nvPr/>
          </p:nvSpPr>
          <p:spPr bwMode="auto">
            <a:xfrm>
              <a:off x="5800" y="2204"/>
              <a:ext cx="0" cy="1763"/>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61" name="Line 21">
              <a:extLst>
                <a:ext uri="{FF2B5EF4-FFF2-40B4-BE49-F238E27FC236}">
                  <a16:creationId xmlns:a16="http://schemas.microsoft.com/office/drawing/2014/main" id="{C5E6CD57-796A-4854-62F8-2CD9B8E17D86}"/>
                </a:ext>
              </a:extLst>
            </p:cNvPr>
            <p:cNvSpPr>
              <a:spLocks noChangeShapeType="1"/>
            </p:cNvSpPr>
            <p:nvPr/>
          </p:nvSpPr>
          <p:spPr bwMode="auto">
            <a:xfrm>
              <a:off x="4489" y="3970"/>
              <a:ext cx="1315"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62" name="Line 22">
              <a:extLst>
                <a:ext uri="{FF2B5EF4-FFF2-40B4-BE49-F238E27FC236}">
                  <a16:creationId xmlns:a16="http://schemas.microsoft.com/office/drawing/2014/main" id="{35F21961-39FD-56AE-7AB7-AAA7DDC8D98B}"/>
                </a:ext>
              </a:extLst>
            </p:cNvPr>
            <p:cNvSpPr>
              <a:spLocks noChangeShapeType="1"/>
            </p:cNvSpPr>
            <p:nvPr/>
          </p:nvSpPr>
          <p:spPr bwMode="auto">
            <a:xfrm>
              <a:off x="4492" y="3967"/>
              <a:ext cx="0" cy="134"/>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63" name="Line 23">
              <a:extLst>
                <a:ext uri="{FF2B5EF4-FFF2-40B4-BE49-F238E27FC236}">
                  <a16:creationId xmlns:a16="http://schemas.microsoft.com/office/drawing/2014/main" id="{D46CAF38-B2B7-44B2-A44A-33ED15BA25C0}"/>
                </a:ext>
              </a:extLst>
            </p:cNvPr>
            <p:cNvSpPr>
              <a:spLocks noChangeShapeType="1"/>
            </p:cNvSpPr>
            <p:nvPr/>
          </p:nvSpPr>
          <p:spPr bwMode="auto">
            <a:xfrm>
              <a:off x="4465" y="1492"/>
              <a:ext cx="0" cy="544"/>
            </a:xfrm>
            <a:prstGeom prst="line">
              <a:avLst/>
            </a:prstGeom>
            <a:noFill/>
            <a:ln w="1905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778264" name="AutoShape 24">
              <a:extLst>
                <a:ext uri="{FF2B5EF4-FFF2-40B4-BE49-F238E27FC236}">
                  <a16:creationId xmlns:a16="http://schemas.microsoft.com/office/drawing/2014/main" id="{5064806F-B967-261B-13B0-B33261D81C48}"/>
                </a:ext>
              </a:extLst>
            </p:cNvPr>
            <p:cNvSpPr>
              <a:spLocks noChangeArrowheads="1"/>
            </p:cNvSpPr>
            <p:nvPr/>
          </p:nvSpPr>
          <p:spPr bwMode="auto">
            <a:xfrm>
              <a:off x="3977" y="1584"/>
              <a:ext cx="982" cy="191"/>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r>
                <a:rPr lang="en-US" altLang="ja-JP" sz="1600" b="0">
                  <a:latin typeface="MS UI Gothic" panose="020B0600070205080204" pitchFamily="50" charset="-128"/>
                </a:rPr>
                <a:t>cnt ← 1</a:t>
              </a:r>
              <a:endParaRPr lang="en-US" altLang="ja-JP" sz="1600">
                <a:latin typeface="MS UI Gothic" panose="020B0600070205080204" pitchFamily="50" charset="-128"/>
              </a:endParaRPr>
            </a:p>
          </p:txBody>
        </p:sp>
        <p:sp>
          <p:nvSpPr>
            <p:cNvPr id="778265" name="Text Box 25">
              <a:extLst>
                <a:ext uri="{FF2B5EF4-FFF2-40B4-BE49-F238E27FC236}">
                  <a16:creationId xmlns:a16="http://schemas.microsoft.com/office/drawing/2014/main" id="{4B168A97-67F7-2146-8308-527A5F3F8953}"/>
                </a:ext>
              </a:extLst>
            </p:cNvPr>
            <p:cNvSpPr txBox="1">
              <a:spLocks noChangeArrowheads="1"/>
            </p:cNvSpPr>
            <p:nvPr/>
          </p:nvSpPr>
          <p:spPr bwMode="auto">
            <a:xfrm>
              <a:off x="5025" y="2442"/>
              <a:ext cx="377" cy="1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true</a:t>
              </a:r>
              <a:endParaRPr lang="en-US" altLang="ja-JP" sz="1600">
                <a:latin typeface="MS UI Gothic" panose="020B0600070205080204" pitchFamily="50" charset="-128"/>
              </a:endParaRPr>
            </a:p>
          </p:txBody>
        </p:sp>
        <p:sp>
          <p:nvSpPr>
            <p:cNvPr id="778266" name="Text Box 26">
              <a:extLst>
                <a:ext uri="{FF2B5EF4-FFF2-40B4-BE49-F238E27FC236}">
                  <a16:creationId xmlns:a16="http://schemas.microsoft.com/office/drawing/2014/main" id="{C1DA0BAF-70F5-B891-CD89-4D4B437DAAD8}"/>
                </a:ext>
              </a:extLst>
            </p:cNvPr>
            <p:cNvSpPr txBox="1">
              <a:spLocks noChangeArrowheads="1"/>
            </p:cNvSpPr>
            <p:nvPr/>
          </p:nvSpPr>
          <p:spPr bwMode="auto">
            <a:xfrm>
              <a:off x="4550" y="2823"/>
              <a:ext cx="377" cy="1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false</a:t>
              </a:r>
              <a:endParaRPr lang="en-US" altLang="ja-JP" sz="1600">
                <a:latin typeface="MS UI Gothic" panose="020B0600070205080204" pitchFamily="50" charset="-128"/>
              </a:endParaRPr>
            </a:p>
          </p:txBody>
        </p:sp>
        <p:sp>
          <p:nvSpPr>
            <p:cNvPr id="778267" name="AutoShape 27">
              <a:extLst>
                <a:ext uri="{FF2B5EF4-FFF2-40B4-BE49-F238E27FC236}">
                  <a16:creationId xmlns:a16="http://schemas.microsoft.com/office/drawing/2014/main" id="{ED023FCA-D990-D63E-F7C6-C2E53A78C436}"/>
                </a:ext>
              </a:extLst>
            </p:cNvPr>
            <p:cNvSpPr>
              <a:spLocks noChangeArrowheads="1"/>
            </p:cNvSpPr>
            <p:nvPr/>
          </p:nvSpPr>
          <p:spPr bwMode="auto">
            <a:xfrm>
              <a:off x="3789" y="2513"/>
              <a:ext cx="1374" cy="318"/>
            </a:xfrm>
            <a:prstGeom prst="flowChartDecision">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lnSpc>
                  <a:spcPct val="96000"/>
                </a:lnSpc>
              </a:pPr>
              <a:r>
                <a:rPr lang="en-US" altLang="ja-JP" sz="1600" b="0">
                  <a:latin typeface="MS UI Gothic" panose="020B0600070205080204" pitchFamily="50" charset="-128"/>
                </a:rPr>
                <a:t>cnt ≠ bội số của 3</a:t>
              </a:r>
              <a:endParaRPr lang="en-US" altLang="ja-JP" sz="1600">
                <a:latin typeface="MS UI Gothic" panose="020B0600070205080204" pitchFamily="50" charset="-128"/>
              </a:endParaRPr>
            </a:p>
          </p:txBody>
        </p:sp>
        <p:sp>
          <p:nvSpPr>
            <p:cNvPr id="778268" name="AutoShape 28">
              <a:extLst>
                <a:ext uri="{FF2B5EF4-FFF2-40B4-BE49-F238E27FC236}">
                  <a16:creationId xmlns:a16="http://schemas.microsoft.com/office/drawing/2014/main" id="{00613328-BA00-24BB-7E1D-FF897C28A774}"/>
                </a:ext>
              </a:extLst>
            </p:cNvPr>
            <p:cNvSpPr>
              <a:spLocks noChangeArrowheads="1"/>
            </p:cNvSpPr>
            <p:nvPr/>
          </p:nvSpPr>
          <p:spPr bwMode="auto">
            <a:xfrm>
              <a:off x="3989" y="3027"/>
              <a:ext cx="981" cy="201"/>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r>
                <a:rPr lang="en-US" altLang="ja-JP" sz="1400" b="0">
                  <a:latin typeface="MS UI Gothic" panose="020B0600070205080204" pitchFamily="50" charset="-128"/>
                </a:rPr>
                <a:t>Hiển thị giá trị cnt</a:t>
              </a:r>
            </a:p>
          </p:txBody>
        </p:sp>
        <p:sp>
          <p:nvSpPr>
            <p:cNvPr id="778269" name="AutoShape 29">
              <a:extLst>
                <a:ext uri="{FF2B5EF4-FFF2-40B4-BE49-F238E27FC236}">
                  <a16:creationId xmlns:a16="http://schemas.microsoft.com/office/drawing/2014/main" id="{910FE228-C70A-6270-D823-41D31227245C}"/>
                </a:ext>
              </a:extLst>
            </p:cNvPr>
            <p:cNvSpPr>
              <a:spLocks noChangeArrowheads="1"/>
            </p:cNvSpPr>
            <p:nvPr/>
          </p:nvSpPr>
          <p:spPr bwMode="auto">
            <a:xfrm>
              <a:off x="3984" y="3576"/>
              <a:ext cx="1003" cy="216"/>
            </a:xfrm>
            <a:prstGeom prst="flowChartProcess">
              <a:avLst/>
            </a:prstGeom>
            <a:solidFill>
              <a:srgbClr val="FFFFFF"/>
            </a:solidFill>
            <a:ln w="1905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pPr algn="ctr"/>
              <a:r>
                <a:rPr lang="en-US" altLang="ja-JP" sz="1600" b="0">
                  <a:latin typeface="MS UI Gothic" panose="020B0600070205080204" pitchFamily="50" charset="-128"/>
                </a:rPr>
                <a:t>cnt</a:t>
              </a:r>
              <a:r>
                <a:rPr lang="ja-JP" altLang="en-US" sz="1600" b="0">
                  <a:latin typeface="MS UI Gothic" panose="020B0600070205080204" pitchFamily="50" charset="-128"/>
                </a:rPr>
                <a:t>　←　</a:t>
              </a:r>
              <a:r>
                <a:rPr lang="en-US" altLang="ja-JP" sz="1600" b="0">
                  <a:latin typeface="MS UI Gothic" panose="020B0600070205080204" pitchFamily="50" charset="-128"/>
                </a:rPr>
                <a:t>cnt + 1</a:t>
              </a:r>
              <a:endParaRPr lang="en-US" altLang="ja-JP" sz="1600">
                <a:latin typeface="MS UI Gothic" panose="020B0600070205080204" pitchFamily="50" charset="-128"/>
              </a:endParaRPr>
            </a:p>
          </p:txBody>
        </p:sp>
        <p:sp>
          <p:nvSpPr>
            <p:cNvPr id="778273" name="Line 33">
              <a:extLst>
                <a:ext uri="{FF2B5EF4-FFF2-40B4-BE49-F238E27FC236}">
                  <a16:creationId xmlns:a16="http://schemas.microsoft.com/office/drawing/2014/main" id="{4C9B420A-F04B-E5B0-59B4-B50E5530D706}"/>
                </a:ext>
              </a:extLst>
            </p:cNvPr>
            <p:cNvSpPr>
              <a:spLocks noChangeShapeType="1"/>
            </p:cNvSpPr>
            <p:nvPr/>
          </p:nvSpPr>
          <p:spPr bwMode="auto">
            <a:xfrm flipH="1">
              <a:off x="4495" y="3478"/>
              <a:ext cx="1132" cy="0"/>
            </a:xfrm>
            <a:prstGeom prst="line">
              <a:avLst/>
            </a:prstGeom>
            <a:noFill/>
            <a:ln w="444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74" name="Line 34">
              <a:extLst>
                <a:ext uri="{FF2B5EF4-FFF2-40B4-BE49-F238E27FC236}">
                  <a16:creationId xmlns:a16="http://schemas.microsoft.com/office/drawing/2014/main" id="{1AF2A8BD-A877-FDF9-FBF8-9C11D8E800D2}"/>
                </a:ext>
              </a:extLst>
            </p:cNvPr>
            <p:cNvSpPr>
              <a:spLocks noChangeShapeType="1"/>
            </p:cNvSpPr>
            <p:nvPr/>
          </p:nvSpPr>
          <p:spPr bwMode="auto">
            <a:xfrm flipH="1">
              <a:off x="5624" y="2667"/>
              <a:ext cx="4" cy="817"/>
            </a:xfrm>
            <a:prstGeom prst="line">
              <a:avLst/>
            </a:prstGeom>
            <a:noFill/>
            <a:ln w="3810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wrap="none" lIns="9525" tIns="19050" rIns="9525" bIns="9525"/>
            <a:lstStyle/>
            <a:p>
              <a:endParaRPr lang="ja-JP" altLang="en-US"/>
            </a:p>
          </p:txBody>
        </p:sp>
        <p:sp>
          <p:nvSpPr>
            <p:cNvPr id="778277" name="Text Box 37">
              <a:extLst>
                <a:ext uri="{FF2B5EF4-FFF2-40B4-BE49-F238E27FC236}">
                  <a16:creationId xmlns:a16="http://schemas.microsoft.com/office/drawing/2014/main" id="{92791ACB-8312-6EF2-5E7B-B983364FB79B}"/>
                </a:ext>
              </a:extLst>
            </p:cNvPr>
            <p:cNvSpPr txBox="1">
              <a:spLocks noChangeArrowheads="1"/>
            </p:cNvSpPr>
            <p:nvPr/>
          </p:nvSpPr>
          <p:spPr bwMode="auto">
            <a:xfrm>
              <a:off x="3514" y="2416"/>
              <a:ext cx="308" cy="523"/>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spcBef>
                  <a:spcPct val="50000"/>
                </a:spcBef>
              </a:pPr>
              <a:r>
                <a:rPr lang="en-US" altLang="ja-JP" sz="1600" b="0" dirty="0" err="1"/>
                <a:t>Xử</a:t>
              </a:r>
              <a:r>
                <a:rPr lang="en-US" altLang="ja-JP" sz="1600" b="0" dirty="0"/>
                <a:t> </a:t>
              </a:r>
              <a:r>
                <a:rPr lang="en-US" altLang="ja-JP" sz="1600" b="0" dirty="0" err="1"/>
                <a:t>l</a:t>
              </a:r>
              <a:r>
                <a:rPr lang="en-US" altLang="ja-JP" sz="1600" b="0" dirty="0" err="1">
                  <a:latin typeface="MS UI Gothic" panose="020B0600070205080204" pitchFamily="50" charset="-128"/>
                </a:rPr>
                <a:t>í</a:t>
              </a:r>
              <a:r>
                <a:rPr lang="en-US" altLang="ja-JP" sz="1600" b="0" dirty="0"/>
                <a:t> </a:t>
              </a:r>
              <a:r>
                <a:rPr lang="en-US" altLang="ja-JP" sz="1600" b="0" dirty="0" err="1"/>
                <a:t>lặp</a:t>
              </a:r>
              <a:endParaRPr lang="en-US" altLang="ja-JP" sz="1600" b="0" dirty="0"/>
            </a:p>
          </p:txBody>
        </p:sp>
      </p:grpSp>
      <p:sp>
        <p:nvSpPr>
          <p:cNvPr id="778247" name="Rectangle 7">
            <a:extLst>
              <a:ext uri="{FF2B5EF4-FFF2-40B4-BE49-F238E27FC236}">
                <a16:creationId xmlns:a16="http://schemas.microsoft.com/office/drawing/2014/main" id="{4D4DDCF1-F80A-808C-FBB7-7892EE9AFE78}"/>
              </a:ext>
            </a:extLst>
          </p:cNvPr>
          <p:cNvSpPr>
            <a:spLocks noChangeArrowheads="1"/>
          </p:cNvSpPr>
          <p:nvPr/>
        </p:nvSpPr>
        <p:spPr bwMode="auto">
          <a:xfrm>
            <a:off x="344488" y="2770188"/>
            <a:ext cx="4764087" cy="28940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for (int cnt = 1; cnt &lt;= 10; cnt++) {</a:t>
            </a:r>
          </a:p>
          <a:p>
            <a:pPr lvl="1"/>
            <a:r>
              <a:rPr lang="en-US" altLang="ja-JP" sz="1800" b="0">
                <a:latin typeface="ＭＳ ゴシック" panose="020B0609070205080204" pitchFamily="49" charset="-128"/>
                <a:ea typeface="ＭＳ ゴシック" panose="020B0609070205080204" pitchFamily="49" charset="-128"/>
              </a:rPr>
              <a:t>    if ((cnt % 3) != 0) {</a:t>
            </a:r>
          </a:p>
          <a:p>
            <a:pPr lvl="1"/>
            <a:r>
              <a:rPr lang="en-US" altLang="ja-JP" sz="1800" b="0">
                <a:latin typeface="ＭＳ ゴシック" panose="020B0609070205080204" pitchFamily="49" charset="-128"/>
                <a:ea typeface="ＭＳ ゴシック" panose="020B0609070205080204" pitchFamily="49" charset="-128"/>
              </a:rPr>
              <a:t>        continue;</a:t>
            </a:r>
          </a:p>
          <a:p>
            <a:pPr lvl="1"/>
            <a:r>
              <a:rPr lang="en-US" altLang="ja-JP" sz="1800" b="0">
                <a:latin typeface="ＭＳ ゴシック" panose="020B0609070205080204" pitchFamily="49" charset="-128"/>
                <a:ea typeface="ＭＳ ゴシック" panose="020B0609070205080204" pitchFamily="49" charset="-128"/>
              </a:rPr>
              <a:t>    }</a:t>
            </a:r>
          </a:p>
          <a:p>
            <a:pPr lvl="1"/>
            <a:r>
              <a:rPr lang="en-US" altLang="ja-JP" sz="1800" b="0">
                <a:latin typeface="ＭＳ ゴシック" panose="020B0609070205080204" pitchFamily="49" charset="-128"/>
                <a:ea typeface="ＭＳ ゴシック" panose="020B0609070205080204" pitchFamily="49" charset="-128"/>
              </a:rPr>
              <a:t>    System.out.println</a:t>
            </a:r>
          </a:p>
          <a:p>
            <a:pPr lvl="1"/>
            <a:r>
              <a:rPr lang="en-US" altLang="ja-JP" sz="1800" b="0">
                <a:latin typeface="ＭＳ ゴシック" panose="020B0609070205080204" pitchFamily="49" charset="-128"/>
                <a:ea typeface="ＭＳ ゴシック" panose="020B0609070205080204" pitchFamily="49" charset="-128"/>
              </a:rPr>
              <a:t>           (“Bội số của 3</a:t>
            </a:r>
            <a:r>
              <a:rPr lang="ja-JP" altLang="en-US" sz="1800" b="0">
                <a:latin typeface="ＭＳ ゴシック" panose="020B0609070205080204" pitchFamily="49" charset="-128"/>
                <a:ea typeface="ＭＳ ゴシック" panose="020B0609070205080204" pitchFamily="49" charset="-128"/>
              </a:rPr>
              <a:t>：</a:t>
            </a:r>
            <a:r>
              <a:rPr lang="en-US" altLang="ja-JP" sz="1800" b="0">
                <a:latin typeface="ＭＳ ゴシック" panose="020B0609070205080204" pitchFamily="49" charset="-128"/>
                <a:ea typeface="ＭＳ ゴシック" panose="020B0609070205080204" pitchFamily="49" charset="-128"/>
              </a:rPr>
              <a:t>" + cnt);</a:t>
            </a:r>
          </a:p>
          <a:p>
            <a:pPr lvl="1"/>
            <a:r>
              <a:rPr lang="en-US" altLang="ja-JP" sz="1800" b="0">
                <a:latin typeface="ＭＳ ゴシック" panose="020B0609070205080204" pitchFamily="49" charset="-128"/>
                <a:ea typeface="ＭＳ ゴシック" panose="020B0609070205080204" pitchFamily="49" charset="-128"/>
              </a:rPr>
              <a:t>}</a:t>
            </a:r>
          </a:p>
        </p:txBody>
      </p:sp>
      <p:sp>
        <p:nvSpPr>
          <p:cNvPr id="778278" name="Rectangle 38">
            <a:extLst>
              <a:ext uri="{FF2B5EF4-FFF2-40B4-BE49-F238E27FC236}">
                <a16:creationId xmlns:a16="http://schemas.microsoft.com/office/drawing/2014/main" id="{EEA3B851-9115-2276-0B30-21ED43EEBE7F}"/>
              </a:ext>
            </a:extLst>
          </p:cNvPr>
          <p:cNvSpPr>
            <a:spLocks noChangeArrowheads="1"/>
          </p:cNvSpPr>
          <p:nvPr/>
        </p:nvSpPr>
        <p:spPr bwMode="auto">
          <a:xfrm>
            <a:off x="584200" y="3200400"/>
            <a:ext cx="342900" cy="1651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78283" name="Rectangle 43">
            <a:extLst>
              <a:ext uri="{FF2B5EF4-FFF2-40B4-BE49-F238E27FC236}">
                <a16:creationId xmlns:a16="http://schemas.microsoft.com/office/drawing/2014/main" id="{374FD4DC-6E25-5ED7-A020-7F453A016FFE}"/>
              </a:ext>
            </a:extLst>
          </p:cNvPr>
          <p:cNvSpPr>
            <a:spLocks noChangeArrowheads="1"/>
          </p:cNvSpPr>
          <p:nvPr/>
        </p:nvSpPr>
        <p:spPr bwMode="auto">
          <a:xfrm>
            <a:off x="531813" y="3138488"/>
            <a:ext cx="4376737" cy="2097087"/>
          </a:xfrm>
          <a:prstGeom prst="rect">
            <a:avLst/>
          </a:prstGeom>
          <a:noFill/>
          <a:ln w="25400">
            <a:solidFill>
              <a:srgbClr val="FF6600"/>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78284" name="Rectangle 44">
            <a:extLst>
              <a:ext uri="{FF2B5EF4-FFF2-40B4-BE49-F238E27FC236}">
                <a16:creationId xmlns:a16="http://schemas.microsoft.com/office/drawing/2014/main" id="{51357D7A-7737-121D-EE5B-3334F0ADB184}"/>
              </a:ext>
            </a:extLst>
          </p:cNvPr>
          <p:cNvSpPr>
            <a:spLocks noChangeArrowheads="1"/>
          </p:cNvSpPr>
          <p:nvPr/>
        </p:nvSpPr>
        <p:spPr bwMode="auto">
          <a:xfrm>
            <a:off x="1492250" y="3748088"/>
            <a:ext cx="1147763" cy="346075"/>
          </a:xfrm>
          <a:prstGeom prst="rect">
            <a:avLst/>
          </a:prstGeom>
          <a:noFill/>
          <a:ln w="317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778285" name="AutoShape 45">
            <a:extLst>
              <a:ext uri="{FF2B5EF4-FFF2-40B4-BE49-F238E27FC236}">
                <a16:creationId xmlns:a16="http://schemas.microsoft.com/office/drawing/2014/main" id="{77533B07-7B8C-4428-61D4-46B0C9CA28B7}"/>
              </a:ext>
            </a:extLst>
          </p:cNvPr>
          <p:cNvSpPr>
            <a:spLocks noChangeArrowheads="1"/>
          </p:cNvSpPr>
          <p:nvPr/>
        </p:nvSpPr>
        <p:spPr bwMode="auto">
          <a:xfrm>
            <a:off x="3052763" y="3779838"/>
            <a:ext cx="1735137" cy="649287"/>
          </a:xfrm>
          <a:prstGeom prst="wedgeRoundRectCallout">
            <a:avLst>
              <a:gd name="adj1" fmla="val -69764"/>
              <a:gd name="adj2" fmla="val -21884"/>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latin typeface="ＭＳ ゴシック" panose="020B0609070205080204" pitchFamily="49" charset="-128"/>
                <a:ea typeface="ＭＳ ゴシック" panose="020B0609070205080204" pitchFamily="49" charset="-128"/>
              </a:rPr>
              <a:t>Skip xử lí còn lại</a:t>
            </a:r>
          </a:p>
        </p:txBody>
      </p:sp>
      <p:cxnSp>
        <p:nvCxnSpPr>
          <p:cNvPr id="778279" name="AutoShape 39">
            <a:extLst>
              <a:ext uri="{FF2B5EF4-FFF2-40B4-BE49-F238E27FC236}">
                <a16:creationId xmlns:a16="http://schemas.microsoft.com/office/drawing/2014/main" id="{6B247558-FD7C-2C3D-A26D-69AA5831EF67}"/>
              </a:ext>
            </a:extLst>
          </p:cNvPr>
          <p:cNvCxnSpPr>
            <a:cxnSpLocks noChangeShapeType="1"/>
            <a:endCxn id="778278" idx="1"/>
          </p:cNvCxnSpPr>
          <p:nvPr/>
        </p:nvCxnSpPr>
        <p:spPr bwMode="auto">
          <a:xfrm rot="10800000">
            <a:off x="584200" y="3282950"/>
            <a:ext cx="836613" cy="623888"/>
          </a:xfrm>
          <a:prstGeom prst="curvedConnector3">
            <a:avLst>
              <a:gd name="adj1" fmla="val 127324"/>
            </a:avLst>
          </a:prstGeom>
          <a:noFill/>
          <a:ln w="25400">
            <a:solidFill>
              <a:srgbClr val="3FB007"/>
            </a:solidFill>
            <a:prstDash val="sysDot"/>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22291</TotalTime>
  <Words>10131</Words>
  <Application>Microsoft Office PowerPoint</Application>
  <PresentationFormat>A4 Paper (210x297 mm)</PresentationFormat>
  <Paragraphs>1589</Paragraphs>
  <Slides>40</Slides>
  <Notes>39</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40</vt:i4>
      </vt:variant>
    </vt:vector>
  </HeadingPairs>
  <TitlesOfParts>
    <vt:vector size="53" baseType="lpstr">
      <vt:lpstr>HG丸ｺﾞｼｯｸM-PRO</vt:lpstr>
      <vt:lpstr>Meiryo UI</vt:lpstr>
      <vt:lpstr>ＭＳ Ｐゴシック</vt:lpstr>
      <vt:lpstr>MS UI Gothic</vt:lpstr>
      <vt:lpstr>ＭＳ ゴシック</vt:lpstr>
      <vt:lpstr>ヒラギノ明朝 Pro W6</vt:lpstr>
      <vt:lpstr>ADLaM Display</vt:lpstr>
      <vt:lpstr>Arial</vt:lpstr>
      <vt:lpstr>Segoe Script</vt:lpstr>
      <vt:lpstr>Times New Roman</vt:lpstr>
      <vt:lpstr>Wingdings</vt:lpstr>
      <vt:lpstr>標準デザイン</vt:lpstr>
      <vt:lpstr>デザインの設定</vt:lpstr>
      <vt:lpstr>Java Programming  </vt:lpstr>
      <vt:lpstr>PowerPoint Presentation</vt:lpstr>
      <vt:lpstr>Convert kiểu là gì</vt:lpstr>
      <vt:lpstr>Convert kiểu không tường minh（1）</vt:lpstr>
      <vt:lpstr>Convert kiểu không tường minh（2）</vt:lpstr>
      <vt:lpstr>Convert kiểu tường minh（Cast）（1）</vt:lpstr>
      <vt:lpstr>Convert kiểu tường minh（Cast）（2）</vt:lpstr>
      <vt:lpstr>Convert từ chuỗi ký tự thành giá trị số（1）</vt:lpstr>
      <vt:lpstr>Convert từ chuỗi ký tự thành giá trị số（2）</vt:lpstr>
      <vt:lpstr>Convert từ giá trị số thành chuỗi ký tư（1）</vt:lpstr>
      <vt:lpstr>Convert từ giá trị số thành chuỗi ký tự（2）</vt:lpstr>
      <vt:lpstr>PowerPoint Presentation</vt:lpstr>
      <vt:lpstr>Câu lệnh control là gì</vt:lpstr>
      <vt:lpstr>Biểu thức điều kiện</vt:lpstr>
      <vt:lpstr>Toán tử quan hệ và biểu thức điều kiện.</vt:lpstr>
      <vt:lpstr>Toán tử logic và biểu thức điều kiện</vt:lpstr>
      <vt:lpstr>Câu lệnh control và phạm vi valid của biến số</vt:lpstr>
      <vt:lpstr>PowerPoint Presentation</vt:lpstr>
      <vt:lpstr>Kiểm soát phân nhánh điều kiện là gì</vt:lpstr>
      <vt:lpstr>Câu lệnh if</vt:lpstr>
      <vt:lpstr>Câu lệnh if-else</vt:lpstr>
      <vt:lpstr>Câu lệnh if-else if-else（1）</vt:lpstr>
      <vt:lpstr>Câu lệnh if-else if-else（2）</vt:lpstr>
      <vt:lpstr>Nesting của câu lệnh if (Lồng)（1）</vt:lpstr>
      <vt:lpstr>Nest của câu lệnh if (lồng)（2）</vt:lpstr>
      <vt:lpstr>Câu lệnh switch</vt:lpstr>
      <vt:lpstr>7.7　Câu lệnh switch có chứa câu lệnh break</vt:lpstr>
      <vt:lpstr>Câu lệnh switch không chứa câu lệnh break（1）</vt:lpstr>
      <vt:lpstr>Câu lệnh switch  không chứa câu lệnh break （2）</vt:lpstr>
      <vt:lpstr>Điều kiện OR và câu lệnh switch （1）</vt:lpstr>
      <vt:lpstr>Điều kiện OR và câu switch （2）</vt:lpstr>
      <vt:lpstr>PowerPoint Presentation</vt:lpstr>
      <vt:lpstr>Control lặp là gì</vt:lpstr>
      <vt:lpstr>Câu lệnh while</vt:lpstr>
      <vt:lpstr>Câu lệnh do-while</vt:lpstr>
      <vt:lpstr>Câu lệnh for（1）</vt:lpstr>
      <vt:lpstr>Câu lệnh for（2）</vt:lpstr>
      <vt:lpstr>Control lặp và nest</vt:lpstr>
      <vt:lpstr>Control lặp và câu lệnh break</vt:lpstr>
      <vt:lpstr>Control lặp và câu lệnh continue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543</cp:revision>
  <cp:lastPrinted>2018-04-10T08:59:30Z</cp:lastPrinted>
  <dcterms:created xsi:type="dcterms:W3CDTF">2025-05-21T02:38:07Z</dcterms:created>
  <dcterms:modified xsi:type="dcterms:W3CDTF">2026-08-03T07:42:32Z</dcterms:modified>
</cp:coreProperties>
</file>